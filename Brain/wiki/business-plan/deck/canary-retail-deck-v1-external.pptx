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9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clyle/GrowDirect/CanaryGo/internal/web/static/img/canary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50292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299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600" kern="0" dirty="0">
                <a:solidFill>
                  <a:srgbClr val="F5C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CANARY RETAIL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761488"/>
            <a:ext cx="2743200" cy="2743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Intelligence Layer for Independent Retail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2552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&amp; Investment Overview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64592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9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LLC  ·  Strictly Confidential  ·  Not for External Distribution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936992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clyle/GrowDirect/CanaryGo/internal/web/static/img/canary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91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RETAIL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292608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Store Is the Agent's Environment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64592" y="658368"/>
            <a:ext cx="8814816" cy="228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LLC  ·  Strictly Confidential  ·  Not for External Distribution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936992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64592" y="804672"/>
            <a:ext cx="3977640" cy="237744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4592" y="804672"/>
            <a:ext cx="54864" cy="2377440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" y="859536"/>
            <a:ext cx="3785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92608" y="1069848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Square · Clover · Toast · Lightspeed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92608" y="1344168"/>
            <a:ext cx="3785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4A5568"/>
                </a:solidFill>
              </a:rPr>
              <a:t>"Log in to see what happened"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Retrospective  ·  Dashboard-mediated  ·  Data as destination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Merchant goes TO the platform to learn what occurred after the fact. Reports export data. Intelligence is asynchronous. The store operates independently of the platform.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25112" y="804672"/>
            <a:ext cx="4489704" cy="2377440"/>
          </a:xfrm>
          <a:prstGeom prst="rect">
            <a:avLst/>
          </a:prstGeom>
          <a:solidFill>
            <a:srgbClr val="1C2951"/>
          </a:solidFill>
          <a:ln w="12700">
            <a:solidFill>
              <a:srgbClr val="2D4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25112" y="804672"/>
            <a:ext cx="54864" cy="23774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62272" y="859536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LAYER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462272" y="1069848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Canary Retail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462272" y="1344168"/>
            <a:ext cx="4279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5C518"/>
                </a:solidFill>
              </a:rPr>
              <a:t>"Agent in the store while it's happening"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BACC8"/>
                </a:solidFill>
              </a:rPr>
              <a:t>Simultaneous  ·  Event-driven  ·  Data as operating infrastructure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The store IS the agent's environment. 166 MCP service junctions let agents reach physical store operations at packet-layer speed. The platform operates — it doesn't observe.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3246120"/>
          <a:ext cx="8650224" cy="1536192"/>
        </p:xfrm>
        <a:graphic>
          <a:graphicData uri="http://schemas.openxmlformats.org/drawingml/2006/table">
            <a:tbl>
              <a:tblPr/>
              <a:tblGrid>
                <a:gridCol w="1737360"/>
                <a:gridCol w="3255264"/>
                <a:gridCol w="36576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Canary Operating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Retrospective — after events occur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Simultaneous — at the speed of events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 reviews dashboards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executes in the store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show what happened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measurable rails (Ops · Financial · Evidentiary · Vendor)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$25/seat subscription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Satoshi per-junction — aligned with merchant value 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164592" y="480974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Brain/wiki/cards/platform-thesis.md v3  ·  docs/sdds/go-handoff/mcp-service-junctions.md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clyle/GrowDirect/CanaryGo/internal/web/static/img/canary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91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RETAIL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292608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 Are: Built at the Physical Layer Before It Was a Thesis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64592" y="658368"/>
            <a:ext cx="8814816" cy="228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LLC  ·  Strictly Confidential  ·  Not for External Distribution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936992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4592" y="749808"/>
            <a:ext cx="8814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Quarter-century of canonical retail data model lineage, from global tier-1 production systems to today's SMB intelligence layer.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64592" y="1188720"/>
            <a:ext cx="2121408" cy="2980944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64592" y="1188720"/>
            <a:ext cx="2121408" cy="54864"/>
          </a:xfrm>
          <a:prstGeom prst="rect">
            <a:avLst/>
          </a:prstGeom>
          <a:solidFill>
            <a:srgbClr val="2D4A8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2984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 – 2013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74320" y="151790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US Specialty Grocer  ·  In-Store Operating Model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4320" y="2084832"/>
            <a:ext cx="19202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of the in-store operating model: planogram, shelf edge, and back-end systems integrated as a single operating substrate inside production grocery stores. Physical-layer-meets-backend at tier-1 scale.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395728" y="1188720"/>
            <a:ext cx="2121408" cy="2980944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395728" y="1188720"/>
            <a:ext cx="2121408" cy="54864"/>
          </a:xfrm>
          <a:prstGeom prst="rect">
            <a:avLst/>
          </a:prstGeom>
          <a:solidFill>
            <a:srgbClr val="2D4A8A"/>
          </a:solidFill>
          <a:ln/>
        </p:spPr>
      </p:sp>
      <p:sp>
        <p:nvSpPr>
          <p:cNvPr id="16" name="Text 13"/>
          <p:cNvSpPr/>
          <p:nvPr/>
        </p:nvSpPr>
        <p:spPr>
          <a:xfrm>
            <a:off x="2505456" y="12984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505456" y="151790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Tier-1 Retailer  ·  Canonical Data Model (GSLM)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505456" y="2084832"/>
            <a:ext cx="19202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canonical retail data model rolled out across multiple acquired international banners. Nine-domain completeness framework reused as the completeness checklist in Canary Go's 13-module spine.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26864" y="1188720"/>
            <a:ext cx="2121408" cy="2980944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26864" y="1188720"/>
            <a:ext cx="2121408" cy="54864"/>
          </a:xfrm>
          <a:prstGeom prst="rect">
            <a:avLst/>
          </a:prstGeom>
          <a:solidFill>
            <a:srgbClr val="2D4A8A"/>
          </a:solidFill>
          <a:ln/>
        </p:spPr>
      </p:sp>
      <p:sp>
        <p:nvSpPr>
          <p:cNvPr id="21" name="Text 18"/>
          <p:cNvSpPr/>
          <p:nvPr/>
        </p:nvSpPr>
        <p:spPr>
          <a:xfrm>
            <a:off x="4736592" y="12984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736592" y="151790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Specialty Retailer  ·  Data Integration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736592" y="2084832"/>
            <a:ext cx="19202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the canonical model framework for a national specialty retailer's integration program. Domain continuity across 20 years and three tier-1 retail engagements.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858000" y="1188720"/>
            <a:ext cx="2121408" cy="2980944"/>
          </a:xfrm>
          <a:prstGeom prst="rect">
            <a:avLst/>
          </a:prstGeom>
          <a:solidFill>
            <a:srgbClr val="1C2951"/>
          </a:solidFill>
          <a:ln w="12700">
            <a:solidFill>
              <a:srgbClr val="2D4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858000" y="1188720"/>
            <a:ext cx="2121408" cy="5486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6" name="Text 23"/>
          <p:cNvSpPr/>
          <p:nvPr/>
        </p:nvSpPr>
        <p:spPr>
          <a:xfrm>
            <a:off x="6967728" y="12984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→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967728" y="151790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Retail  ·  RapidPOS Proof Case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967728" y="2084832"/>
            <a:ext cx="19202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SMB: 13-module retail spine, 65-entity canonical data model, 166-junction MCP service architecture. Channel delivery via RapidPOS VAR ecosystem. First customer proof case in progress.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64592" y="4261104"/>
            <a:ext cx="8814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the physical operating layer at tier-1 scale. Now applying that model at SMB scale, agent-native and cost-transparent.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clyle/GrowDirect/CanaryGo/internal/web/static/img/canary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91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RETAIL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292608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Layer vs. Operating Layer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64592" y="658368"/>
            <a:ext cx="8814816" cy="228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LLC  ·  Strictly Confidential  ·  Not for External Distribution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936992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64592" y="777240"/>
            <a:ext cx="4206240" cy="393192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" y="8412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6032" y="10332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Square  ·  Clover  ·  Toast  ·  Lightspeed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56032" y="13716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371600" y="1371600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— reports generated after events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6032" y="16459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Role: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371600" y="1645920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merchant pulls data on demand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56032" y="19202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371600" y="1920240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transaction log; no canonical domain coverage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56032" y="21945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Billing: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371600" y="2194560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$25–$200/seat/month — flat, regardless of value delivered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56032" y="2468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Accountability: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371600" y="2468880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what happened — no rails, no enforcement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56032" y="27432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LP: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371600" y="2743200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module or separate vendor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56032" y="30175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371600" y="3017520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CSV — no cryptographic chain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56032" y="3291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SLA: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371600" y="3291840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measurement, no recourse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56032" y="3566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Arc: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371600" y="3566160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vendor with analytics add-on — ecosystem closed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617720" y="777240"/>
            <a:ext cx="4361688" cy="3931920"/>
          </a:xfrm>
          <a:prstGeom prst="rect">
            <a:avLst/>
          </a:prstGeom>
          <a:solidFill>
            <a:srgbClr val="1C2951"/>
          </a:solidFill>
          <a:ln w="12700">
            <a:solidFill>
              <a:srgbClr val="2D4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709160" y="841248"/>
            <a:ext cx="4178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LAYER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709160" y="103327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Canary Retail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709160" y="13716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824728" y="137160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— agent operates at the speed of events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709160" y="16459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Role: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824728" y="164592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participants — they observe AND operate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709160" y="19202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Model: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824728" y="192024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65-entity canonical model, 13 modules, 9 domains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709160" y="21945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Billing: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824728" y="219456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 per-junction — aligned with actual value delivered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709160" y="2468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Accountability: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824728" y="246888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rails: Ops / Financial / Evidentiary / Vendor — all measurable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709160" y="27432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LP: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824728" y="274320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1 — built into the spine, not bolted on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709160" y="30175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5824728" y="301752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blockchain hash per event — public, non-repudiable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709160" y="3291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SLA: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824728" y="329184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OpenTelemetry-measured, disputed automatically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4709160" y="3566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Arc: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5824728" y="356616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1→4: intelligence layer → full POS replacement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4133088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180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clyle/GrowDirect/CanaryGo/internal/web/static/img/canary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91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RETAIL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292608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Accountability Rails: The Graph Is Closed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64592" y="658368"/>
            <a:ext cx="8814816" cy="228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LLC  ·  Strictly Confidential  ·  Not for External Distribution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936992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4592" y="749808"/>
            <a:ext cx="8814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escape route retailers have relied on — unknown loss, unauthorized spend, contested evidence, unmet SLA — is structurally closed.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64592" y="1133856"/>
            <a:ext cx="4315968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64592" y="1133856"/>
            <a:ext cx="4315968" cy="54864"/>
          </a:xfrm>
          <a:prstGeom prst="rect">
            <a:avLst/>
          </a:prstGeom>
          <a:solidFill>
            <a:srgbClr val="2D4A8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22529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OPERATIONAL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74320" y="14081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Unknown Loss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74320" y="1664208"/>
            <a:ext cx="4114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13-module spine is a closed graph. Every unit of inventory, labor, price, space, and transaction has a measurement contract. Shrink has a Fox case, a forecast variance, or a receiving discrepancy — or the absence is itself a signal. The local market layer eliminates the last external alibi.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74320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happened in the store, it is in the model. If it is in the model, someone is accountable for it.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63440" y="1133856"/>
            <a:ext cx="4315968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1133856"/>
            <a:ext cx="4315968" cy="54864"/>
          </a:xfrm>
          <a:prstGeom prst="rect">
            <a:avLst/>
          </a:prstGeom>
          <a:solidFill>
            <a:srgbClr val="1A7A5E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22529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FINANCIAL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773168" y="14081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Unauthorized Spend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773168" y="1664208"/>
            <a:ext cx="4114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OTB is not a number in a spreadsheet — it is a funded Lightning wallet. A commercial agent commits spend by calling an L402-gated MCP tool. The payment is the authorization. The agent cannot overspend because it cannot pay for the tool call that would authorize it.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73168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spend is a settled payment. Every approval is a funded wallet. Every variance is owned.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64592" y="3035808"/>
            <a:ext cx="4315968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64592" y="3035808"/>
            <a:ext cx="4315968" cy="54864"/>
          </a:xfrm>
          <a:prstGeom prst="rect">
            <a:avLst/>
          </a:prstGeom>
          <a:solidFill>
            <a:srgbClr val="1C2951"/>
          </a:solidFill>
          <a:ln/>
        </p:spPr>
      </p:sp>
      <p:sp>
        <p:nvSpPr>
          <p:cNvPr id="23" name="Text 20"/>
          <p:cNvSpPr/>
          <p:nvPr/>
        </p:nvSpPr>
        <p:spPr>
          <a:xfrm>
            <a:off x="274320" y="31272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EVIDENTIARY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74320" y="33101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Unanchored Record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74320" y="3566160"/>
            <a:ext cx="4114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Fox case card generation and status transition publishes a cryptographic hash to a public L2 blockchain. The record is timestamped and non-repudiable — not by GrowDirect, not by the retailer, not by the VAR. A court, an insurer, or a regulatory auditor can verify the chain of custody without trusting any party.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274320" y="44622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chain is public. The timeline is immutable. LP is provable to anyone.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663440" y="3035808"/>
            <a:ext cx="4315968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63440" y="3035808"/>
            <a:ext cx="4315968" cy="54864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29" name="Text 26"/>
          <p:cNvSpPr/>
          <p:nvPr/>
        </p:nvSpPr>
        <p:spPr>
          <a:xfrm>
            <a:off x="4773168" y="31272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VENDOR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773168" y="33101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Unmet SLA Paid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773168" y="3566160"/>
            <a:ext cx="4114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providers oversell capacity structurally — power generation is the binding constraint. SMB workloads get throttled first. Every MCP junction is OpenTelemetry-instrumented against published SLAs. Variances accumulate in an append-only ledger, anchored on L2 alongside LP evidence. Dispute automation files SLA credits automatically.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773168" y="44622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dollar paid to a cloud provider is paid for SLA-met service. Migration capability is real, not theoretical.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64592" y="480974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Brain/wiki/cards/platform-thesis.md v3  ·  project_cloud_provider_accountability_stance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clyle/GrowDirect/CanaryGo/internal/web/static/img/canary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91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RETAIL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292608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Virtual USB-C Plug: 166 Junctions, 13 Spine Modules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64592" y="658368"/>
            <a:ext cx="8814816" cy="228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LLC  ·  Strictly Confidential  ·  Not for External Distribution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936992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4592" y="7498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USB-C did in hardware — Canary does for retail ops: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042416"/>
          <a:ext cx="4846320" cy="2633472"/>
        </p:xfrm>
        <a:graphic>
          <a:graphicData uri="http://schemas.openxmlformats.org/drawingml/2006/table">
            <a:tbl>
              <a:tblPr/>
              <a:tblGrid>
                <a:gridCol w="2423160"/>
                <a:gridCol w="2423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USB-C in Hardware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MCP-Native in Retail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port: power + data + display + periph.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junction: query + write + event + decision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Replaces 6 different connectors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Replaces REST + webhook + ETL + dashboard + report +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Bidirectional — power flows either 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Bidirectional — agent observes AND operates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— every vendor speaks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ARTS-compliant + open MCP — every POS can plug 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Invisible to user — just plug 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Invisible to operator — platform tracks, decides, acts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577840" y="1097280"/>
            <a:ext cx="3200400" cy="2286000"/>
          </a:xfrm>
          <a:prstGeom prst="rect">
            <a:avLst/>
          </a:prstGeom>
          <a:solidFill>
            <a:srgbClr val="1C2951"/>
          </a:solidFill>
          <a:ln w="12700">
            <a:solidFill>
              <a:srgbClr val="2D4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870448" y="1463040"/>
            <a:ext cx="2615184" cy="1572768"/>
          </a:xfrm>
          <a:prstGeom prst="rect">
            <a:avLst/>
          </a:prstGeom>
          <a:solidFill>
            <a:srgbClr val="162140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80176" y="1536192"/>
            <a:ext cx="2395728" cy="14630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007608" y="1545336"/>
            <a:ext cx="2340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5980176" y="1755648"/>
            <a:ext cx="2395728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007608" y="1764792"/>
            <a:ext cx="2340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5980176" y="1975104"/>
            <a:ext cx="2395728" cy="146304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007608" y="1984248"/>
            <a:ext cx="2340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5980176" y="2194560"/>
            <a:ext cx="2395728" cy="146304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007608" y="2203704"/>
            <a:ext cx="2340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5980176" y="2414016"/>
            <a:ext cx="2395728" cy="1463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007608" y="2423160"/>
            <a:ext cx="2340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5980176" y="2633472"/>
            <a:ext cx="2395728" cy="1463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007608" y="2642616"/>
            <a:ext cx="2340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5577840" y="341985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Service Junction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64592" y="37307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166 junctions across 10 archetypes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64592" y="4005072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junction is the billing record and the evidentiary record — the satoshi toll IS the audit entry. No separate billing system. No separate compliance module.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164592" y="480974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docs/sdds/go-handoff/mcp-service-junctions.md  ·  project_mcp_native_virtual_usbc_plug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clyle/GrowDirect/CanaryGo/internal/web/static/img/canary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91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RETAIL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292608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Trajectory: Intelligence Layer → Full POS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64592" y="658368"/>
            <a:ext cx="8814816" cy="228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LLC  ·  Strictly Confidential  ·  Not for External Distribution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936992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4592" y="749808"/>
            <a:ext cx="881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earns the right to replace Counterpoint by proving value at each phase, not by demanding rip-and-replace.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64592" y="1115568"/>
            <a:ext cx="8814816" cy="54864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88136" y="969264"/>
            <a:ext cx="256032" cy="25603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C49B0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4592" y="1316736"/>
            <a:ext cx="2103120" cy="3291840"/>
          </a:xfrm>
          <a:prstGeom prst="rect">
            <a:avLst/>
          </a:prstGeom>
          <a:solidFill>
            <a:srgbClr val="1C2951"/>
          </a:solidFill>
          <a:ln w="12700">
            <a:solidFill>
              <a:srgbClr val="2D4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64592" y="1316736"/>
            <a:ext cx="2103120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3" name="Text 10"/>
          <p:cNvSpPr/>
          <p:nvPr/>
        </p:nvSpPr>
        <p:spPr>
          <a:xfrm>
            <a:off x="256032" y="1389888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56032" y="158191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2027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56032" y="178308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Layer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56032" y="2176272"/>
            <a:ext cx="1938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runs alongside Counterpoint/RapidPOS. 13-module spine, 166-junction MCP architecture, four accountability rails. Sells on operational + financial + evidentiary value.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56032" y="404164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Channel: RapidPOS VAR ecosystem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56032" y="4334256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TODAY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337560" y="969264"/>
            <a:ext cx="256032" cy="256032"/>
          </a:xfrm>
          <a:prstGeom prst="ellipse">
            <a:avLst/>
          </a:prstGeom>
          <a:solidFill>
            <a:srgbClr val="1C2951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414016" y="1316736"/>
            <a:ext cx="2103120" cy="32918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414016" y="1316736"/>
            <a:ext cx="2103120" cy="45720"/>
          </a:xfrm>
          <a:prstGeom prst="rect">
            <a:avLst/>
          </a:prstGeom>
          <a:solidFill>
            <a:srgbClr val="2D4A8A"/>
          </a:solidFill>
          <a:ln/>
        </p:spPr>
      </p:sp>
      <p:sp>
        <p:nvSpPr>
          <p:cNvPr id="22" name="Text 19"/>
          <p:cNvSpPr/>
          <p:nvPr/>
        </p:nvSpPr>
        <p:spPr>
          <a:xfrm>
            <a:off x="2505456" y="1389888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505456" y="158191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– 2028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505456" y="178308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Absorption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505456" y="2176272"/>
            <a:ext cx="1938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absorbs workflows Counterpoint does badly or not at all — LP, OTB, distribution, multi-tier assortment, labor, advanced merchandising. Counterpoint usage narrows.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505456" y="404164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Channel: Expanded VAR + direct enterprise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586984" y="969264"/>
            <a:ext cx="256032" cy="256032"/>
          </a:xfrm>
          <a:prstGeom prst="ellipse">
            <a:avLst/>
          </a:prstGeom>
          <a:solidFill>
            <a:srgbClr val="1C2951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63440" y="1316736"/>
            <a:ext cx="2103120" cy="32918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63440" y="1316736"/>
            <a:ext cx="2103120" cy="45720"/>
          </a:xfrm>
          <a:prstGeom prst="rect">
            <a:avLst/>
          </a:prstGeom>
          <a:solidFill>
            <a:srgbClr val="2D4A8A"/>
          </a:solidFill>
          <a:ln/>
        </p:spPr>
      </p:sp>
      <p:sp>
        <p:nvSpPr>
          <p:cNvPr id="30" name="Text 27"/>
          <p:cNvSpPr/>
          <p:nvPr/>
        </p:nvSpPr>
        <p:spPr>
          <a:xfrm>
            <a:off x="4754880" y="1389888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754880" y="158191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754880" y="178308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Register-Adjacent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754880" y="2176272"/>
            <a:ext cx="1938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runs the register-adjacent experience (companion tablet, capture-augmented register, or full register). Counterpoint becomes a back-office residual.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754880" y="404164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Channel: Platform-native + POS hardware partnerships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836408" y="969264"/>
            <a:ext cx="256032" cy="256032"/>
          </a:xfrm>
          <a:prstGeom prst="ellipse">
            <a:avLst/>
          </a:prstGeom>
          <a:solidFill>
            <a:srgbClr val="1C2951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912864" y="1316736"/>
            <a:ext cx="2103120" cy="32918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912864" y="1316736"/>
            <a:ext cx="2103120" cy="45720"/>
          </a:xfrm>
          <a:prstGeom prst="rect">
            <a:avLst/>
          </a:prstGeom>
          <a:solidFill>
            <a:srgbClr val="2D4A8A"/>
          </a:solidFill>
          <a:ln/>
        </p:spPr>
      </p:sp>
      <p:sp>
        <p:nvSpPr>
          <p:cNvPr id="38" name="Text 35"/>
          <p:cNvSpPr/>
          <p:nvPr/>
        </p:nvSpPr>
        <p:spPr>
          <a:xfrm>
            <a:off x="7004304" y="1389888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004304" y="158191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 – 30+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7004304" y="178308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POS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7004304" y="2176272"/>
            <a:ext cx="1938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IS the POS. Counterpoint can be turned off. Merchant runs on Canary end-to-end. The merchant data asset is fully owned by the platform.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004304" y="404164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 vendor of choice for SMB retail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164592" y="4809744"/>
            <a:ext cx="8814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framing: Phase 1 only — intelligence layer alongside existing POS. Phases 2–4 are internal roadmap only.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clyle/GrowDirect/CanaryGo/internal/web/static/img/canary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91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RETAIL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292608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ICP: SMB Retailer Wearing Every Hat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64592" y="658368"/>
            <a:ext cx="8814816" cy="228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LLC  ·  Strictly Confidential  ·  Not for External Distribution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936992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4592" y="749808"/>
            <a:ext cx="881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retail, $10M–$50M revenue, one to a few people making every decision simultaneously.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64592" y="1078992"/>
            <a:ext cx="4297680" cy="347472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4592" y="1078992"/>
            <a:ext cx="4297680" cy="45720"/>
          </a:xfrm>
          <a:prstGeom prst="rect">
            <a:avLst/>
          </a:prstGeom>
          <a:solidFill>
            <a:srgbClr val="2D4A8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152144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DISPLACEMENT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74320" y="137160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$10M–$50M retailer is almost always running a server room nobody talks about.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4320" y="1792224"/>
            <a:ext cx="4096512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 server eliminated — event log lives in the platform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license eliminated — cloud-native append-only event storage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contract scope reduced — the complexity that required managed IT no longer exists on-premise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refresh cycle ends — POS endpoint becomes a thin client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 eliminated — no 'guy who knows how it works'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63440" y="1280160"/>
            <a:ext cx="347472" cy="34747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C49B0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02352" y="1243584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you on track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102352" y="1499616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model provides accountability without overhead. Every entity operates under a performance contract that runs without anyone watching it.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63440" y="2157984"/>
            <a:ext cx="347472" cy="34747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C49B0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6344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102352" y="2121408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your customers where they're going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102352" y="2377440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market intelligence layer: seasonality curves, weather shifts, community events — same signals you sense, now confirmed and quantified.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63440" y="3035808"/>
            <a:ext cx="347472" cy="34747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C49B0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3440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102352" y="2999232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above your weight class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102352" y="3255264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monitoring, forecast adjustment, commercial signal surfacing, compliance tracking, evidence anchoring — agents handle these continuously.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63440" y="3913632"/>
            <a:ext cx="347472" cy="34747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C49B0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63440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102352" y="3877056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you back the power to serve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102352" y="4133088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agents carry the operational weight, you walk the floor instead of running reports. You're a merchant again.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64592" y="4617720"/>
            <a:ext cx="8814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model keeps you on track, meets your customers where they're going, and gives you back the power to actually serve them."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clyle/GrowDirect/CanaryGo/internal/web/static/img/canary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91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RETAIL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292608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Model: Satoshi Cost-to-Serve Replaces $25/Seat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64592" y="658368"/>
            <a:ext cx="8814816" cy="228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LLC  ·  Strictly Confidential  ·  Not for External Distribution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936992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4592" y="749808"/>
            <a:ext cx="881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is denominated in satoshis — transparent, per-junction, aligned with merchant value. No seat, no retainer, no scope creep.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64592" y="1078992"/>
            <a:ext cx="4114800" cy="3621024"/>
          </a:xfrm>
          <a:prstGeom prst="rect">
            <a:avLst/>
          </a:prstGeom>
          <a:solidFill>
            <a:srgbClr val="1C2951"/>
          </a:solidFill>
          <a:ln w="12700">
            <a:solidFill>
              <a:srgbClr val="2D4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64592" y="1078992"/>
            <a:ext cx="4114800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152144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74320" y="1389888"/>
            <a:ext cx="39136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× tier_weight × service_cost + storage + decisions + passthroughs + anchor share + floor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weights: stream 10× · change-feed 4× · daily-batch 1.5× · reference 0.2×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Patent-protected services (ILDWAC, L402-OTB, blockchain-anchor) charge moat premium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Settlement: pre-funded OTB → per-call gating → period-end with L2 anchor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rev-share by SourceCode — RapidPOS/NCR VARs earn proportional to data flow, settled via Lightning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74320" y="3474720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74320" y="3675888"/>
            <a:ext cx="3913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billing against Bitcoin L2 — no competitor can claim this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Microservice-level cost transparency — Square/Lightspeed/Toast hide cost-to-serve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rev-share as architecture, not contract — settled in Lightning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17136" y="1042416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Competitor Pricing Models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17136" y="1316736"/>
          <a:ext cx="4462272" cy="3291840"/>
        </p:xfrm>
        <a:graphic>
          <a:graphicData uri="http://schemas.openxmlformats.org/drawingml/2006/table">
            <a:tbl>
              <a:tblPr/>
              <a:tblGrid>
                <a:gridCol w="1243584"/>
                <a:gridCol w="1609344"/>
                <a:gridCol w="1609344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 / Toast / Lightspeed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Canary Retail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$25–200/seat/month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Satoshi per-junction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— no value linkage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Aligned with actual data + decision 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Opaque cost-to-serve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Microservice-level cost breakdown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to CSV — no 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blockchain anchor — non-repudiable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Quota-based VAR contract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Rev-share by SourceCode, Lightning-settled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volume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cost regardless of efficiency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5–10× cheaper as merchant efficiency improves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164592" y="4809744"/>
            <a:ext cx="8814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project_satoshi_cost_model  ·  Brain/wiki/canary-go-satoshi-cost-model.md  ·  docs/sdds/go-handoff/satoshi-cost-rollup.md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clyle/GrowDirect/CanaryGo/internal/web/static/img/canary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91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RETAIL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292608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Divisions, One Thesis: Services Dissolution at Every Layer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64592" y="658368"/>
            <a:ext cx="8814816" cy="228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LLC  ·  Strictly Confidential  ·  Not for External Distribution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936992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4592" y="749808"/>
            <a:ext cx="8814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structurally close the four gaps that justify professional services firms. NewCo proves this at the application layer (Canary) and the infrastructure layer (CompanyX Division).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64592" y="1170432"/>
            <a:ext cx="4023360" cy="3346704"/>
          </a:xfrm>
          <a:prstGeom prst="rect">
            <a:avLst/>
          </a:prstGeom>
          <a:solidFill>
            <a:srgbClr val="1C2951"/>
          </a:solidFill>
          <a:ln w="12700">
            <a:solidFill>
              <a:srgbClr val="2D4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64592" y="1170432"/>
            <a:ext cx="4023360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23444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74320" y="1435608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Canary Retail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74320" y="1764792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" y="1993392"/>
            <a:ext cx="3822192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13-module retail spine (inventory, labor, LP, merchandising, ordering, etc.)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65-entity canonical data model — ARTS-native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166-junction MCP service architecture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accountability rails: Ops / Financial / Evidentiary / Vendor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 per-junction billing — verifiable against Bitcoin L2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ICP: SMB private retail, $10M–$50M, wearing every hat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Channel: RapidPOS VAR ecosystem + direct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70832" y="1170432"/>
            <a:ext cx="4608576" cy="3346704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70832" y="1170432"/>
            <a:ext cx="4608576" cy="45720"/>
          </a:xfrm>
          <a:prstGeom prst="rect">
            <a:avLst/>
          </a:prstGeom>
          <a:solidFill>
            <a:srgbClr val="2D4A8A"/>
          </a:solidFill>
          <a:ln/>
        </p:spPr>
      </p:sp>
      <p:sp>
        <p:nvSpPr>
          <p:cNvPr id="17" name="Text 14"/>
          <p:cNvSpPr/>
          <p:nvPr/>
        </p:nvSpPr>
        <p:spPr>
          <a:xfrm>
            <a:off x="4480560" y="1234440"/>
            <a:ext cx="4407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B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480560" y="1435608"/>
            <a:ext cx="4407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CompanyX Cloud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480560" y="1764792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 (Partner-Contributed)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480560" y="1993392"/>
            <a:ext cx="4407408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Terraform-as-code, drift detection, cost optimization, SRE automation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orchestration with vendor SLA accountability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Agent-native infrastructure management (parallel canonical spec exercise)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cost-to-serve in satoshis — same billing substrate as Canary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ICP: SMB and lower mid-market (existing install base from partner)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services dissolution at the infrastructure layer below applications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profile: existing cloud/devops/MSP book of business to modernize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4592" y="4581144"/>
            <a:ext cx="8814816" cy="256032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56032" y="460857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SUBSTRATE  ·  Agent runtime  ·  MCP service framework  ·  Satoshi billing (ILDWAC)  ·  L402 settlement  ·  Blockchain anchoring  ·  Vendor SLA ledger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clyle/GrowDirect/CanaryGo/internal/web/static/img/canary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91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RETAIL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292608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Framing: Risks &amp; Open Questions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64592" y="658368"/>
            <a:ext cx="8814816" cy="228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LLC  ·  Strictly Confidential  ·  Not for External Distribution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936992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4592" y="749808"/>
            <a:ext cx="8814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pre-revenue, pre-formation. These are the real open questions — not glossed over.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64592" y="1060704"/>
            <a:ext cx="4315968" cy="1133856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4592" y="1060704"/>
            <a:ext cx="45720" cy="113385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1338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CompanyX?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4320" y="1353312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NewCo thesis requires a cloud/devops partner with an existing install base. Profile: devops consultancy, infrastructure platform, cloud cost-optimization firm, or modernizing MSP. Partner selection is the critical path item for Division B. Not yet identified.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63440" y="1060704"/>
            <a:ext cx="4315968" cy="1133856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1060704"/>
            <a:ext cx="45720" cy="113385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5" name="Text 12"/>
          <p:cNvSpPr/>
          <p:nvPr/>
        </p:nvSpPr>
        <p:spPr>
          <a:xfrm>
            <a:off x="4773168" y="11338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exposure for agentic services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73168" y="1353312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executing on behalf of merchants (financial commitments, LP evidence, vendor disputes) enters novel legal territory, especially when PE portfolio companies are involved. Fiduciary implications unclear at scale. SOC 2 / ISO 27001 scope is pre-Phase 4 delivery — see GRO-686–699.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64592" y="2286000"/>
            <a:ext cx="4315968" cy="1133856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64592" y="2286000"/>
            <a:ext cx="45720" cy="113385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9" name="Text 16"/>
          <p:cNvSpPr/>
          <p:nvPr/>
        </p:nvSpPr>
        <p:spPr>
          <a:xfrm>
            <a:off x="274320" y="23591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scope at Phase 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74320" y="2578608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(full POS) brings PCI Service Provider scope. Card data flows pinpad→processor, never through Canary. Architecture must honor this boundary from Phase 3. ~$500K–$1M launch investment when scope opens.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663440" y="2286000"/>
            <a:ext cx="4315968" cy="1133856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63440" y="2286000"/>
            <a:ext cx="45720" cy="113385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3" name="Text 20"/>
          <p:cNvSpPr/>
          <p:nvPr/>
        </p:nvSpPr>
        <p:spPr>
          <a:xfrm>
            <a:off x="4773168" y="23591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73168" y="2578608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NewCo a single brand (one holding company) or two operating brands under a holding entity? The Canary brand is already in motion. CompanyX brand is the founder's or partner's call. Not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164592" y="3511296"/>
            <a:ext cx="4315968" cy="1133856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64592" y="3511296"/>
            <a:ext cx="45720" cy="113385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7" name="Text 24"/>
          <p:cNvSpPr/>
          <p:nvPr/>
        </p:nvSpPr>
        <p:spPr>
          <a:xfrm>
            <a:off x="274320" y="35844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Talent: who needs to be on the team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74320" y="3803904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Solo-founder + AI agent delivery works through proof-of-concept phase. Phase 2 forward requires at minimum a VP Sales / channel lead and a compliance officer. Capital requirements are modest (low headcount, agent-driven) but Phase 3 register-side has hardware dependencies.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63440" y="3511296"/>
            <a:ext cx="4315968" cy="1133856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63440" y="3511296"/>
            <a:ext cx="45720" cy="113385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1" name="Text 28"/>
          <p:cNvSpPr/>
          <p:nvPr/>
        </p:nvSpPr>
        <p:spPr>
          <a:xfrm>
            <a:off x="4773168" y="35844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defense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773168" y="3803904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 Counterpoint / RapidPOS are upstream data sources in Phase 1. Phase 2+ narrowing of their workflow surface will trigger incumbent defense. Canary must be deeply installed and evidence-rich before Phase 2 begins. The CATz method (channel-friendly, cross-vendor) is the shield.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9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9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LLC  ·  Strictly Confidential  ·  Not for External Distribution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936992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</p:txBody>
      </p:sp>
      <p:pic>
        <p:nvPicPr>
          <p:cNvPr id="4" name="Image 0" descr="/Users/gclyle/GrowDirect/CanaryGo/internal/web/static/img/canary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384048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38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PATHS FORWARD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21792" y="2304288"/>
            <a:ext cx="2468880" cy="2340864"/>
          </a:xfrm>
          <a:prstGeom prst="rect">
            <a:avLst/>
          </a:prstGeom>
          <a:solidFill>
            <a:srgbClr val="162140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1792" y="2304288"/>
            <a:ext cx="2468880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23957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9808" y="2706624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an install base of retailers or SMB clients. Canary's intelligence layer and channel rev-share model makes your product more valuable without replacing it. The CATz method is the delivery vehicle.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46704" y="2304288"/>
            <a:ext cx="2468880" cy="2340864"/>
          </a:xfrm>
          <a:prstGeom prst="rect">
            <a:avLst/>
          </a:prstGeom>
          <a:solidFill>
            <a:srgbClr val="162140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46704" y="2304288"/>
            <a:ext cx="2468880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0" y="23957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474720" y="2706624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Pre-revenue, self-funding through proof-of-concept. Seeking strategic capital aligned with the agentic-services thesis — not PE management fees, but growth capital that accelerates Phase 2 channel expansion.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71616" y="2304288"/>
            <a:ext cx="2468880" cy="2340864"/>
          </a:xfrm>
          <a:prstGeom prst="rect">
            <a:avLst/>
          </a:prstGeom>
          <a:solidFill>
            <a:srgbClr val="162140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71616" y="2304288"/>
            <a:ext cx="2468880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6" name="Text 13"/>
          <p:cNvSpPr/>
          <p:nvPr/>
        </p:nvSpPr>
        <p:spPr>
          <a:xfrm>
            <a:off x="6199632" y="23957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Canary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199632" y="2706624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$10M–$50M independent retailer on NCR Counterpoint or RapidPOS. You are wearing every hat. The first customer proof case is the most important conversation we are having right now.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4736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GrowDirect LLC  ·  hello@growdirect.io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Canary Retail — Partnership &amp; Investment Overview</dc:title>
  <dc:subject>PptxGenJS Presentation</dc:subject>
  <dc:creator>GrowDirect LLC</dc:creator>
  <cp:lastModifiedBy>GrowDirect LLC</cp:lastModifiedBy>
  <cp:revision>1</cp:revision>
  <dcterms:created xsi:type="dcterms:W3CDTF">2026-05-05T01:13:56Z</dcterms:created>
  <dcterms:modified xsi:type="dcterms:W3CDTF">2026-05-05T01:13:56Z</dcterms:modified>
</cp:coreProperties>
</file>