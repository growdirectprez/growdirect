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7FFFD0C2_8F0C3030.xml" ContentType="application/vnd.ms-powerpoint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2147471519" r:id="rId5"/>
    <p:sldId id="2147471571" r:id="rId6"/>
    <p:sldId id="2147471554" r:id="rId7"/>
    <p:sldId id="2147471839" r:id="rId8"/>
    <p:sldId id="2147471565" r:id="rId9"/>
    <p:sldId id="2147471843" r:id="rId10"/>
    <p:sldId id="2147469309" r:id="rId11"/>
    <p:sldId id="2147471840" r:id="rId12"/>
    <p:sldId id="214747184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" id="{9C367AFF-54D4-4D31-BA0F-598023CCCAA6}">
          <p14:sldIdLst>
            <p14:sldId id="2147471519"/>
            <p14:sldId id="2147471571"/>
            <p14:sldId id="2147471554"/>
            <p14:sldId id="2147471839"/>
            <p14:sldId id="2147471565"/>
            <p14:sldId id="2147471843"/>
            <p14:sldId id="2147469309"/>
          </p14:sldIdLst>
        </p14:section>
        <p14:section name="Appendix" id="{2FA3578D-BE6E-4467-A447-4663A5F94EA8}">
          <p14:sldIdLst>
            <p14:sldId id="2147471840"/>
            <p14:sldId id="214747184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B19AC32-CB29-CAE2-EF41-1FD7F1E2D89C}" name="Srinivasan, Shankaran" initials="SS" userId="S::shsrinivasan@deloitte.com::0941a90f-ef28-4c8a-9127-c1af9b5efe8c" providerId="AD"/>
  <p188:author id="{9E4EDB4E-6C97-15EB-8326-0997FBFE3596}" name="Thakkar, Devangkumar" initials="TD" userId="S::dethakkar@deloitte.com::4ac1fb3a-77d4-44bc-b091-8bb958f67a41" providerId="AD"/>
  <p188:author id="{E86378A0-5BE7-10A3-0164-7F368022F5BA}" name="Khalsa, Sonia Khalsa" initials="KSK" userId="S::sokhalsa@deloitte.com::c636f597-9ace-42ab-a72f-7a1818fda409" providerId="AD"/>
  <p188:author id="{E1CC64A4-B7E8-0D93-1FE7-45F5DE6026B0}" name="Somaiyya, Jigar" initials="SJ" userId="S::jsomaiyya@deloitte.com::b98d3bb1-3b0d-46b9-b0c5-bd0e9d7b2fdd" providerId="AD"/>
  <p188:author id="{C7ECB3A7-604A-C96A-29FE-A23DC3099577}" name="Zaidi, Hasan" initials="ZH" userId="S::hazaidi@deloitte.com::ef35c43a-c6b7-4983-91af-e5db0e3d74e6" providerId="AD"/>
  <p188:author id="{0C1B9EF0-4B57-91A2-AF19-BA5C5240E9FB}" name="Arya, Poojaa" initials="AP" userId="S::phassani@deloitte.com::ad2c5045-d41e-4df5-9fe8-8ebc8620945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B02A"/>
    <a:srgbClr val="007CB0"/>
    <a:srgbClr val="FFCD00"/>
    <a:srgbClr val="7F7F7F"/>
    <a:srgbClr val="046A38"/>
    <a:srgbClr val="0076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92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omments/modernComment_7FFFD0C2_8F0C303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330317E-7F23-4BA9-ADB0-5AB892AD3DAE}" authorId="{E86378A0-5BE7-10A3-0164-7F368022F5BA}" created="2023-03-30T10:58:01.536">
    <pc:sldMkLst xmlns:pc="http://schemas.microsoft.com/office/powerpoint/2013/main/command">
      <pc:docMk/>
      <pc:sldMk cId="2399940656" sldId="2147471554"/>
    </pc:sldMkLst>
    <p188:txBody>
      <a:bodyPr/>
      <a:lstStyle/>
      <a:p>
        <a:r>
          <a:rPr lang="en-US"/>
          <a:t>Checking if BIP needs to be added for Outbound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D17F6-ECE8-4493-ABFB-C4D8ED953670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105186-EE54-4CC4-BEBC-7E32B9314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393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1647ED-6139-4AD4-9755-EEB7F9EB06E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4083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1647ED-6139-4AD4-9755-EEB7F9EB06E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0158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1647ED-6139-4AD4-9755-EEB7F9EB06E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922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1647ED-6139-4AD4-9755-EEB7F9EB06E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441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4975" y="709613"/>
            <a:ext cx="6307138" cy="35480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Geoff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C3FEC4-AAB4-49BF-A958-3731A457D87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3163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1647ED-6139-4AD4-9755-EEB7F9EB06E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821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ACA25-0E36-4900-A84F-24D14939DC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E4828B-C77A-4839-8958-D55552E53A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865EA-37AB-46BE-8F3E-A4CA8BA69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D056-0C17-4F13-92C7-4B4EBBA459AF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2EDFB-388F-4B50-95F5-4EDCC4F5B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7744-C64A-42F5-9E28-6DB5542FA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169B-71D3-417C-B033-13F48CE18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337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C8F5E-9E4B-4C12-AAD5-87245380C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2D447-D0F1-41D1-9C4E-F433564DA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4E46E-5D06-4275-BD5C-CD6578D9A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D056-0C17-4F13-92C7-4B4EBBA459AF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F252E-F8D8-4026-B97D-0A820B36D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6C006-1A65-4B05-A485-01C145DB8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169B-71D3-417C-B033-13F48CE18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112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015C4-F6EC-4AD5-BA12-6478DC61C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F92A54-52E9-46DF-A0B8-5ADE0716E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E38C6-05B8-42FF-B59E-A4D016607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D056-0C17-4F13-92C7-4B4EBBA459AF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C3929-C20F-4B68-ACF8-C358FB370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76949-DF2A-4BFD-BD95-9B35E9FD2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169B-71D3-417C-B033-13F48CE18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389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A1F6C-82FE-4270-91A8-B1F7A45EE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C09D1-6000-41A4-B146-E8B0FAB09C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DA3D11-87B2-412B-9D77-B1F94D3F0C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CAEEE-2CF9-4689-BE7A-A166F27E0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D056-0C17-4F13-92C7-4B4EBBA459AF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20FD71-2655-4B2F-BC4E-29FADCF24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05B7EB-9939-44A0-9B5D-8310CA4BD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169B-71D3-417C-B033-13F48CE18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847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73C3C-BF77-4332-A7AB-64D313D23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682AA-11D7-4AF1-A300-95D513B539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897624-0139-47FA-8889-197546FB05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C8F22C-D0C4-4AC6-9DDE-759AEE59FE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56F6FA-4467-4016-A054-1CFB4045A9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993C9A-2AAB-4B21-9F6B-550C83F41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D056-0C17-4F13-92C7-4B4EBBA459AF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0CDFBB-E61E-4A98-A515-3E8355887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E8A7AC-12A3-4941-BFE8-A7E016732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169B-71D3-417C-B033-13F48CE18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582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7824C-AC1B-4EA4-8EF0-6821BD524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6F6C41-97DB-4C43-B659-659C1D8B2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D056-0C17-4F13-92C7-4B4EBBA459AF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4559E7-3A6E-4B91-954E-C12821A88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BB992D-72BF-4572-BA64-BD5B72EBD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169B-71D3-417C-B033-13F48CE18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374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045F0B-91B1-4D5E-9210-6F953808A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D056-0C17-4F13-92C7-4B4EBBA459AF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2AA9EA-759A-4A49-800A-0FBAA21E3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6AE87-062D-443A-838F-C6A8EB3C7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169B-71D3-417C-B033-13F48CE18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557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5D714-30F7-4D1C-86B6-008B7AA88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F727D-800A-4114-9013-596805FD7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4C9204-DB20-44A6-8513-C1DE67893B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CE2724-99F9-45E0-98F1-1379CDA84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D056-0C17-4F13-92C7-4B4EBBA459AF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4C21BF-408E-4442-A264-032B081A9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27628B-B9E0-4B6C-939E-062F6DEDF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169B-71D3-417C-B033-13F48CE18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575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E9F70-1CCB-4B48-99BB-3827A9C18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3A6982-54DD-4AD6-8174-0BF34D4A34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A1D05A-8245-4112-98D3-45A91E3E41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A0F16D-4C80-4D82-84D5-E8D2D49EE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D056-0C17-4F13-92C7-4B4EBBA459AF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D8E81B-EE01-4EF7-8B5C-02D6469A0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7D9CDD-B73E-4236-B008-0803B85B5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169B-71D3-417C-B033-13F48CE18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402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F763D-1AD1-4169-9F56-D9457711F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F6CC31-F312-4E35-A7C4-039FF64C2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7C22F-9ACF-4750-8762-5250ED745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D056-0C17-4F13-92C7-4B4EBBA459AF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BBFB0-C456-48E1-8CDF-DF43F0C78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06A636-98E7-4095-B088-0645A4181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169B-71D3-417C-B033-13F48CE18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666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1B88A1-631B-4AF2-94E0-9C58E77897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09E3C7-C1A9-4CDA-A5D9-65A441E5AD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A0DE3-E226-4A64-900B-FBFE471B8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D056-0C17-4F13-92C7-4B4EBBA459AF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2917A-6753-426C-A341-5BB1C6924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A66ADA-6ED2-4FD4-A456-F3BA46D65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3169B-71D3-417C-B033-13F48CE18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068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-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5070EDC-AD72-4D14-AA99-A68687567A84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US" sz="1600" b="1">
              <a:solidFill>
                <a:schemeClr val="bg1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01EE57E-4C1B-4ECF-94C5-14A453751EA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60541" y="344137"/>
            <a:ext cx="1819109" cy="345828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8" name="Oval 5">
              <a:extLst>
                <a:ext uri="{FF2B5EF4-FFF2-40B4-BE49-F238E27FC236}">
                  <a16:creationId xmlns:a16="http://schemas.microsoft.com/office/drawing/2014/main" id="{848B10DB-7BA0-47A6-A2BF-E43FDE32532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29" name="Freeform 6">
              <a:extLst>
                <a:ext uri="{FF2B5EF4-FFF2-40B4-BE49-F238E27FC236}">
                  <a16:creationId xmlns:a16="http://schemas.microsoft.com/office/drawing/2014/main" id="{B690FCB5-02B0-42C1-A71D-2F5ABCA25F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33" name="Rectangle 7">
              <a:extLst>
                <a:ext uri="{FF2B5EF4-FFF2-40B4-BE49-F238E27FC236}">
                  <a16:creationId xmlns:a16="http://schemas.microsoft.com/office/drawing/2014/main" id="{358223E3-2772-41EC-BDC5-F0327F14B28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60E75CE7-1268-47E9-A585-16E350CB09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BF8B8A80-FD9A-43B9-A936-A0BE1CAD803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36" name="Rectangle 10">
              <a:extLst>
                <a:ext uri="{FF2B5EF4-FFF2-40B4-BE49-F238E27FC236}">
                  <a16:creationId xmlns:a16="http://schemas.microsoft.com/office/drawing/2014/main" id="{5DA18E48-2689-422E-A84C-ECB5B61A0D2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D9316E24-7A8A-4FCF-B2C4-4EE40E3BA99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76354CE9-D577-46E8-886D-1BBB079BE4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2232419E-4011-4B15-A744-7F8FCDD1F5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2F957E66-C402-4A51-A806-6052AEAFC8F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33225338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6E8C76-D59B-4A4D-B875-69CC39593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40E68-46A6-4050-9435-1865FD9234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E95B5-1303-4F48-BEE3-2F4666CB83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EED056-0C17-4F13-92C7-4B4EBBA459AF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37B21-698B-416E-930C-F44484A355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45F67-3427-4DBF-979A-4218C2677D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3169B-71D3-417C-B033-13F48CE18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024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FFFD0C2_8F0C303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8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ubtitle 2">
            <a:extLst>
              <a:ext uri="{FF2B5EF4-FFF2-40B4-BE49-F238E27FC236}">
                <a16:creationId xmlns:a16="http://schemas.microsoft.com/office/drawing/2014/main" id="{96ED46D4-BCBC-4B77-B588-6CC265BB5385}"/>
              </a:ext>
            </a:extLst>
          </p:cNvPr>
          <p:cNvSpPr txBox="1">
            <a:spLocks/>
          </p:cNvSpPr>
          <p:nvPr/>
        </p:nvSpPr>
        <p:spPr bwMode="gray">
          <a:xfrm>
            <a:off x="463297" y="2857501"/>
            <a:ext cx="5785104" cy="2322095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None/>
              <a:defRPr lang="en-US" sz="4800" b="1" kern="1200" noProof="0" dirty="0">
                <a:ln w="25400">
                  <a:solidFill>
                    <a:schemeClr val="bg1"/>
                  </a:solidFill>
                </a:ln>
                <a:noFill/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  <a:lvl2pPr marL="0" indent="0" algn="l" defTabSz="914400" rtl="0" eaLnBrk="1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 lang="en-US" sz="3600" b="1" i="0" kern="1200" spc="-120" baseline="0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2pPr>
            <a:lvl3pPr marL="1219170" indent="0" algn="ctr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None/>
              <a:def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indent="0" algn="ctr" defTabSz="914400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Verdana" panose="020B0604030504040204" pitchFamily="34" charset="0"/>
              <a:buNone/>
              <a:defRPr lang="en-US" sz="2133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indent="0" algn="ctr" defTabSz="798513" rtl="0" eaLnBrk="1" latinLnBrk="0" hangingPunct="1">
              <a:spcBef>
                <a:spcPts val="0"/>
              </a:spcBef>
              <a:spcAft>
                <a:spcPts val="1000"/>
              </a:spcAft>
              <a:buClrTx/>
              <a:buSzPct val="100000"/>
              <a:buFont typeface="Verdana" panose="020B0604030504040204" pitchFamily="34" charset="0"/>
              <a:buNone/>
              <a:tabLst/>
              <a:defRPr lang="en-US" sz="2133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indent="0" algn="ctr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None/>
              <a:defRPr sz="2133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indent="0" algn="ctr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None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indent="0" algn="ctr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None/>
              <a:defRPr sz="2133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indent="0" algn="ctr" defTabSz="914400" rtl="0" eaLnBrk="1" latinLnBrk="0" hangingPunct="1">
              <a:spcBef>
                <a:spcPts val="0"/>
              </a:spcBef>
              <a:spcAft>
                <a:spcPts val="1000"/>
              </a:spcAft>
              <a:buFont typeface="Verdana" panose="020B0604030504040204" pitchFamily="34" charset="0"/>
              <a:buNone/>
              <a:defRPr sz="2133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800" dirty="0">
                <a:ln w="25400">
                  <a:noFill/>
                </a:ln>
                <a:solidFill>
                  <a:srgbClr val="046A38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IPG Introduction Session</a:t>
            </a:r>
          </a:p>
          <a:p>
            <a:endParaRPr lang="en-US" sz="3800" dirty="0">
              <a:ln w="25400">
                <a:noFill/>
              </a:ln>
              <a:solidFill>
                <a:srgbClr val="046A38"/>
              </a:solidFill>
              <a:latin typeface="Open Sans Extrabold" panose="020B0906030804020204" pitchFamily="34" charset="0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  <a:p>
            <a:r>
              <a:rPr lang="en-US" sz="3800" dirty="0">
                <a:ln w="25400">
                  <a:noFill/>
                </a:ln>
                <a:solidFill>
                  <a:srgbClr val="046A38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April 6, 2023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6A4A4C22-F29A-4CEA-846B-2A938EC79D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297" y="1714500"/>
            <a:ext cx="1930400" cy="649838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676E89B0-91AB-4ABD-9D95-1299270CB1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48401" y="1021104"/>
            <a:ext cx="5407390" cy="5393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23081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 descr="A picture containing text&#10;&#10;Description automatically generated">
            <a:extLst>
              <a:ext uri="{FF2B5EF4-FFF2-40B4-BE49-F238E27FC236}">
                <a16:creationId xmlns:a16="http://schemas.microsoft.com/office/drawing/2014/main" id="{B84760FD-ED11-447A-98DC-B14AB67BF5B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2253" r="32706" b="-593"/>
          <a:stretch/>
        </p:blipFill>
        <p:spPr>
          <a:xfrm>
            <a:off x="0" y="5388711"/>
            <a:ext cx="6372225" cy="1509109"/>
          </a:xfrm>
          <a:prstGeom prst="rect">
            <a:avLst/>
          </a:prstGeom>
        </p:spPr>
      </p:pic>
      <p:pic>
        <p:nvPicPr>
          <p:cNvPr id="32" name="Picture 31" descr="A picture containing text&#10;&#10;Description automatically generated">
            <a:extLst>
              <a:ext uri="{FF2B5EF4-FFF2-40B4-BE49-F238E27FC236}">
                <a16:creationId xmlns:a16="http://schemas.microsoft.com/office/drawing/2014/main" id="{E6557336-DE31-4356-A2FB-52C80125FB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6960" r="37534" b="-593"/>
          <a:stretch/>
        </p:blipFill>
        <p:spPr>
          <a:xfrm flipH="1">
            <a:off x="7072311" y="6269474"/>
            <a:ext cx="5119687" cy="628346"/>
          </a:xfrm>
          <a:prstGeom prst="rect">
            <a:avLst/>
          </a:prstGeom>
        </p:spPr>
      </p:pic>
      <p:sp>
        <p:nvSpPr>
          <p:cNvPr id="37" name="Title 1">
            <a:extLst>
              <a:ext uri="{FF2B5EF4-FFF2-40B4-BE49-F238E27FC236}">
                <a16:creationId xmlns:a16="http://schemas.microsoft.com/office/drawing/2014/main" id="{A6816D6F-3C93-4D13-B12A-55BE78879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27" y="-40817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Meeting Objectives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09A5B88-FE0C-4D0F-9137-97A16F25C18D}"/>
              </a:ext>
            </a:extLst>
          </p:cNvPr>
          <p:cNvSpPr txBox="1"/>
          <p:nvPr/>
        </p:nvSpPr>
        <p:spPr>
          <a:xfrm>
            <a:off x="357627" y="1284746"/>
            <a:ext cx="868327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IPG Key Responsibilities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Work in Progress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Oracle MVP Scope and Key Milestones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Immediate Next Steps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380640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0A035558-2D3A-47B8-BC09-8C000AAA5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95" y="212763"/>
            <a:ext cx="11277600" cy="443198"/>
          </a:xfrm>
        </p:spPr>
        <p:txBody>
          <a:bodyPr>
            <a:normAutofit fontScale="90000"/>
          </a:bodyPr>
          <a:lstStyle/>
          <a:p>
            <a:pPr>
              <a:spcBef>
                <a:spcPct val="0"/>
              </a:spcBef>
            </a:pPr>
            <a:r>
              <a:rPr lang="en-US" sz="3200" dirty="0"/>
              <a:t>IPG Key Responsibilities</a:t>
            </a:r>
          </a:p>
        </p:txBody>
      </p:sp>
      <p:cxnSp>
        <p:nvCxnSpPr>
          <p:cNvPr id="74" name="Elbow Connector 61">
            <a:extLst>
              <a:ext uri="{FF2B5EF4-FFF2-40B4-BE49-F238E27FC236}">
                <a16:creationId xmlns:a16="http://schemas.microsoft.com/office/drawing/2014/main" id="{63B8CB95-A5FE-4EFF-B1CA-7F6CAE7A8EE4}"/>
              </a:ext>
            </a:extLst>
          </p:cNvPr>
          <p:cNvCxnSpPr>
            <a:cxnSpLocks/>
          </p:cNvCxnSpPr>
          <p:nvPr/>
        </p:nvCxnSpPr>
        <p:spPr>
          <a:xfrm flipH="1">
            <a:off x="448075" y="4933786"/>
            <a:ext cx="3116" cy="1187440"/>
          </a:xfrm>
          <a:prstGeom prst="straightConnector1">
            <a:avLst/>
          </a:prstGeom>
          <a:ln w="3175">
            <a:solidFill>
              <a:schemeClr val="bg1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Elbow Connector 61">
            <a:extLst>
              <a:ext uri="{FF2B5EF4-FFF2-40B4-BE49-F238E27FC236}">
                <a16:creationId xmlns:a16="http://schemas.microsoft.com/office/drawing/2014/main" id="{4922BC87-6BE8-474F-B1E3-0D247DA20EB8}"/>
              </a:ext>
            </a:extLst>
          </p:cNvPr>
          <p:cNvCxnSpPr>
            <a:cxnSpLocks/>
          </p:cNvCxnSpPr>
          <p:nvPr/>
        </p:nvCxnSpPr>
        <p:spPr>
          <a:xfrm flipH="1">
            <a:off x="448075" y="3240112"/>
            <a:ext cx="3116" cy="1187440"/>
          </a:xfrm>
          <a:prstGeom prst="straightConnector1">
            <a:avLst/>
          </a:prstGeom>
          <a:ln w="3175">
            <a:solidFill>
              <a:schemeClr val="bg1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Elbow Connector 61">
            <a:extLst>
              <a:ext uri="{FF2B5EF4-FFF2-40B4-BE49-F238E27FC236}">
                <a16:creationId xmlns:a16="http://schemas.microsoft.com/office/drawing/2014/main" id="{7A4DFCC8-9311-4A3C-B283-62AFDDEAFFBA}"/>
              </a:ext>
            </a:extLst>
          </p:cNvPr>
          <p:cNvCxnSpPr>
            <a:cxnSpLocks/>
          </p:cNvCxnSpPr>
          <p:nvPr/>
        </p:nvCxnSpPr>
        <p:spPr>
          <a:xfrm flipH="1">
            <a:off x="448075" y="3790088"/>
            <a:ext cx="3116" cy="1187440"/>
          </a:xfrm>
          <a:prstGeom prst="straightConnector1">
            <a:avLst/>
          </a:prstGeom>
          <a:ln w="3175">
            <a:solidFill>
              <a:schemeClr val="bg1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1" name="Picture 130" descr="A picture containing text&#10;&#10;Description automatically generated">
            <a:extLst>
              <a:ext uri="{FF2B5EF4-FFF2-40B4-BE49-F238E27FC236}">
                <a16:creationId xmlns:a16="http://schemas.microsoft.com/office/drawing/2014/main" id="{47DDA282-20BF-4057-9F64-9251A15AA72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5762" r="32706" b="-593"/>
          <a:stretch/>
        </p:blipFill>
        <p:spPr>
          <a:xfrm>
            <a:off x="0" y="6028065"/>
            <a:ext cx="6372225" cy="789742"/>
          </a:xfrm>
          <a:prstGeom prst="rect">
            <a:avLst/>
          </a:prstGeom>
        </p:spPr>
      </p:pic>
      <p:pic>
        <p:nvPicPr>
          <p:cNvPr id="132" name="Picture 131" descr="A picture containing text&#10;&#10;Description automatically generated">
            <a:extLst>
              <a:ext uri="{FF2B5EF4-FFF2-40B4-BE49-F238E27FC236}">
                <a16:creationId xmlns:a16="http://schemas.microsoft.com/office/drawing/2014/main" id="{636D4D7B-34D9-46D3-A67E-EDC6F15C516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6960" r="37534" b="-593"/>
          <a:stretch/>
        </p:blipFill>
        <p:spPr>
          <a:xfrm flipH="1">
            <a:off x="7508246" y="8473106"/>
            <a:ext cx="5119687" cy="628346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C65F73CC-4D31-E2D5-1DD7-DD359514DCAD}"/>
              </a:ext>
            </a:extLst>
          </p:cNvPr>
          <p:cNvGrpSpPr/>
          <p:nvPr/>
        </p:nvGrpSpPr>
        <p:grpSpPr>
          <a:xfrm>
            <a:off x="426242" y="911640"/>
            <a:ext cx="11350749" cy="1187440"/>
            <a:chOff x="411979" y="1012662"/>
            <a:chExt cx="11350749" cy="118744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52F680F-3A32-DAF4-6ACB-DE0418F4A76D}"/>
                </a:ext>
              </a:extLst>
            </p:cNvPr>
            <p:cNvSpPr/>
            <p:nvPr/>
          </p:nvSpPr>
          <p:spPr>
            <a:xfrm>
              <a:off x="411979" y="1012662"/>
              <a:ext cx="2253248" cy="1187440"/>
            </a:xfrm>
            <a:prstGeom prst="rect">
              <a:avLst/>
            </a:prstGeom>
            <a:solidFill>
              <a:srgbClr val="43B02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Project Portfolio Discovery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E82A727-FD5D-B0B8-1EF2-9E8F85D55FCD}"/>
                </a:ext>
              </a:extLst>
            </p:cNvPr>
            <p:cNvSpPr/>
            <p:nvPr/>
          </p:nvSpPr>
          <p:spPr>
            <a:xfrm>
              <a:off x="2665227" y="1012662"/>
              <a:ext cx="9097501" cy="11874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74320" rIns="274320" rtlCol="0" anchor="ctr"/>
            <a:lstStyle/>
            <a:p>
              <a:r>
                <a:rPr lang="en-US" sz="1800" dirty="0">
                  <a:solidFill>
                    <a:schemeClr val="tx2"/>
                  </a:solidFill>
                  <a:latin typeface="Arial"/>
                </a:rPr>
                <a:t>Work with EA and Project Teams to capture the NextGen projects and key sequence of events being undertaken and ESL dependencies / touch points.</a:t>
              </a:r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AED39CE-536C-7B3F-B277-93CFA787D123}"/>
              </a:ext>
            </a:extLst>
          </p:cNvPr>
          <p:cNvGrpSpPr/>
          <p:nvPr/>
        </p:nvGrpSpPr>
        <p:grpSpPr>
          <a:xfrm>
            <a:off x="426242" y="2306030"/>
            <a:ext cx="11350749" cy="1187440"/>
            <a:chOff x="411979" y="1012662"/>
            <a:chExt cx="11350749" cy="118744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DC19B92-0926-CED9-3EFE-9E33126BB13E}"/>
                </a:ext>
              </a:extLst>
            </p:cNvPr>
            <p:cNvSpPr/>
            <p:nvPr/>
          </p:nvSpPr>
          <p:spPr>
            <a:xfrm>
              <a:off x="411979" y="1012662"/>
              <a:ext cx="2253248" cy="1187440"/>
            </a:xfrm>
            <a:prstGeom prst="rect">
              <a:avLst/>
            </a:prstGeom>
            <a:solidFill>
              <a:srgbClr val="43B02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0" eaLnBrk="1" latinLnBrk="0" hangingPunct="1"/>
              <a:r>
                <a:rPr lang="en-US" sz="2000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Canonical Model Governance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442A271-9890-63EA-BD6C-37C73CA895BE}"/>
                </a:ext>
              </a:extLst>
            </p:cNvPr>
            <p:cNvSpPr/>
            <p:nvPr/>
          </p:nvSpPr>
          <p:spPr>
            <a:xfrm>
              <a:off x="2665227" y="1012662"/>
              <a:ext cx="9097501" cy="11874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74320" rIns="2743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US" sz="1800" kern="1200" dirty="0">
                  <a:solidFill>
                    <a:schemeClr val="tx2"/>
                  </a:solidFill>
                  <a:latin typeface="Arial"/>
                  <a:ea typeface="+mn-ea"/>
                  <a:cs typeface="+mn-cs"/>
                </a:rPr>
                <a:t>Define the library of Canonical Data Models that describe the entity relationships, data specification, endpoints and standards to be provided by the ESL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B284728-D870-68C0-5DF6-A4E9E1388D54}"/>
              </a:ext>
            </a:extLst>
          </p:cNvPr>
          <p:cNvGrpSpPr/>
          <p:nvPr/>
        </p:nvGrpSpPr>
        <p:grpSpPr>
          <a:xfrm>
            <a:off x="426242" y="3683395"/>
            <a:ext cx="11350749" cy="1187440"/>
            <a:chOff x="411979" y="1012662"/>
            <a:chExt cx="11350749" cy="118744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0C51547-93B1-943C-9B6D-8F717FF24AE0}"/>
                </a:ext>
              </a:extLst>
            </p:cNvPr>
            <p:cNvSpPr/>
            <p:nvPr/>
          </p:nvSpPr>
          <p:spPr>
            <a:xfrm>
              <a:off x="411979" y="1012662"/>
              <a:ext cx="2253248" cy="1187440"/>
            </a:xfrm>
            <a:prstGeom prst="rect">
              <a:avLst/>
            </a:prstGeom>
            <a:solidFill>
              <a:srgbClr val="43B02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0" eaLnBrk="1" latinLnBrk="0" hangingPunct="1"/>
              <a:r>
                <a:rPr lang="en-US" sz="2000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Integration Use Cases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BFEEDD6-3EA8-9599-D5BE-E0002C06AE28}"/>
                </a:ext>
              </a:extLst>
            </p:cNvPr>
            <p:cNvSpPr/>
            <p:nvPr/>
          </p:nvSpPr>
          <p:spPr>
            <a:xfrm>
              <a:off x="2665227" y="1012662"/>
              <a:ext cx="9097501" cy="11874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74320" rIns="2743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US" sz="1800" kern="1200" dirty="0">
                  <a:solidFill>
                    <a:schemeClr val="tx2"/>
                  </a:solidFill>
                  <a:latin typeface="Arial"/>
                  <a:ea typeface="+mn-ea"/>
                  <a:cs typeface="+mn-cs"/>
                </a:rPr>
                <a:t>What Integration use cases are being considered and where does it fit in the overall capability model.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9234AF8-7196-506E-58D3-DE61505C9995}"/>
              </a:ext>
            </a:extLst>
          </p:cNvPr>
          <p:cNvGrpSpPr/>
          <p:nvPr/>
        </p:nvGrpSpPr>
        <p:grpSpPr>
          <a:xfrm>
            <a:off x="426242" y="5077785"/>
            <a:ext cx="11350749" cy="1187440"/>
            <a:chOff x="411979" y="1012662"/>
            <a:chExt cx="11350749" cy="118744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F04F01C-E34E-B614-0074-BEB4FA21AAF6}"/>
                </a:ext>
              </a:extLst>
            </p:cNvPr>
            <p:cNvSpPr/>
            <p:nvPr/>
          </p:nvSpPr>
          <p:spPr>
            <a:xfrm>
              <a:off x="411979" y="1012662"/>
              <a:ext cx="2253248" cy="1187440"/>
            </a:xfrm>
            <a:prstGeom prst="rect">
              <a:avLst/>
            </a:prstGeom>
            <a:solidFill>
              <a:srgbClr val="43B02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0" eaLnBrk="1" latinLnBrk="0" hangingPunct="1"/>
              <a:r>
                <a:rPr lang="en-US" sz="2000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Release </a:t>
              </a:r>
            </a:p>
            <a:p>
              <a:pPr marL="0" algn="ctr" defTabSz="914400" rtl="0" eaLnBrk="1" latinLnBrk="0" hangingPunct="1"/>
              <a:r>
                <a:rPr lang="en-US" sz="2000" b="1" kern="1200" dirty="0">
                  <a:solidFill>
                    <a:schemeClr val="bg1"/>
                  </a:solidFill>
                  <a:latin typeface="+mn-lt"/>
                  <a:ea typeface="+mn-ea"/>
                  <a:cs typeface="+mn-cs"/>
                </a:rPr>
                <a:t>Schedule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40802A2-F7A3-68A4-980E-3D01FDAE1C94}"/>
                </a:ext>
              </a:extLst>
            </p:cNvPr>
            <p:cNvSpPr/>
            <p:nvPr/>
          </p:nvSpPr>
          <p:spPr>
            <a:xfrm>
              <a:off x="2665227" y="1012662"/>
              <a:ext cx="9097501" cy="11874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74320" rIns="2743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US" sz="1800" kern="1200" dirty="0">
                  <a:solidFill>
                    <a:schemeClr val="tx2"/>
                  </a:solidFill>
                  <a:latin typeface="Arial"/>
                  <a:ea typeface="+mn-ea"/>
                  <a:cs typeface="+mn-cs"/>
                </a:rPr>
                <a:t>Manage integration dependencies and </a:t>
              </a:r>
              <a:r>
                <a:rPr lang="en-US" dirty="0">
                  <a:solidFill>
                    <a:schemeClr val="tx2"/>
                  </a:solidFill>
                  <a:latin typeface="Arial"/>
                </a:rPr>
                <a:t>development capacity </a:t>
              </a:r>
              <a:r>
                <a:rPr lang="en-US" sz="1800" kern="1200" dirty="0">
                  <a:solidFill>
                    <a:schemeClr val="tx2"/>
                  </a:solidFill>
                  <a:latin typeface="Arial"/>
                  <a:ea typeface="+mn-ea"/>
                  <a:cs typeface="+mn-cs"/>
                </a:rPr>
                <a:t>across ESL projects to support the transformation program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9994065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 descr="A picture containing text&#10;&#10;Description automatically generated">
            <a:extLst>
              <a:ext uri="{FF2B5EF4-FFF2-40B4-BE49-F238E27FC236}">
                <a16:creationId xmlns:a16="http://schemas.microsoft.com/office/drawing/2014/main" id="{B84760FD-ED11-447A-98DC-B14AB67BF5B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2253" r="32706" b="-593"/>
          <a:stretch/>
        </p:blipFill>
        <p:spPr>
          <a:xfrm>
            <a:off x="0" y="5388711"/>
            <a:ext cx="6372225" cy="1509109"/>
          </a:xfrm>
          <a:prstGeom prst="rect">
            <a:avLst/>
          </a:prstGeom>
        </p:spPr>
      </p:pic>
      <p:pic>
        <p:nvPicPr>
          <p:cNvPr id="32" name="Picture 31" descr="A picture containing text&#10;&#10;Description automatically generated">
            <a:extLst>
              <a:ext uri="{FF2B5EF4-FFF2-40B4-BE49-F238E27FC236}">
                <a16:creationId xmlns:a16="http://schemas.microsoft.com/office/drawing/2014/main" id="{E6557336-DE31-4356-A2FB-52C80125FB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6960" r="37534" b="-593"/>
          <a:stretch/>
        </p:blipFill>
        <p:spPr>
          <a:xfrm flipH="1">
            <a:off x="7072311" y="6269474"/>
            <a:ext cx="5119687" cy="628346"/>
          </a:xfrm>
          <a:prstGeom prst="rect">
            <a:avLst/>
          </a:prstGeom>
        </p:spPr>
      </p:pic>
      <p:sp>
        <p:nvSpPr>
          <p:cNvPr id="37" name="Title 1">
            <a:extLst>
              <a:ext uri="{FF2B5EF4-FFF2-40B4-BE49-F238E27FC236}">
                <a16:creationId xmlns:a16="http://schemas.microsoft.com/office/drawing/2014/main" id="{A6816D6F-3C93-4D13-B12A-55BE78879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27" y="-40817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Work in Progress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09A5B88-FE0C-4D0F-9137-97A16F25C18D}"/>
              </a:ext>
            </a:extLst>
          </p:cNvPr>
          <p:cNvSpPr txBox="1"/>
          <p:nvPr/>
        </p:nvSpPr>
        <p:spPr>
          <a:xfrm>
            <a:off x="357627" y="951336"/>
            <a:ext cx="11476746" cy="507831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Understanding timelines for ongoing NextGen Initiatives: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B050"/>
                </a:solidFill>
              </a:rPr>
              <a:t>Reviewing Merchandise, Store, Supply Chain program plans and scheduling sessions with owners week of 4/10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B050"/>
                </a:solidFill>
              </a:rPr>
              <a:t>What documentation is in place for the Legacy landscape, data models, ongoing workstreams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Initial Domain Canonical Data Models for MVP based on Industry Standards (ARTS) to support the release strategy and extend as needed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B050"/>
                </a:solidFill>
              </a:rPr>
              <a:t>Integration Strategy Session being scheduled, and progress being made towards establishing the OCI environment and have decisions in place to begin integration design week of 4/28.</a:t>
            </a:r>
            <a:endParaRPr lang="en-US" sz="2400" dirty="0">
              <a:solidFill>
                <a:srgbClr val="00B05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B050"/>
                </a:solidFill>
              </a:rPr>
              <a:t>Base generic entity relationship models are identified for MVP, working on starting the definition of core Canonical models and JSON representation required for initial MVP scope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Reviewing cross program dependencies for inflight initiatives to identify opportunities for expediting value delivery.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B050"/>
                </a:solidFill>
              </a:rPr>
              <a:t>Sessions scheduled with MMS and Retek Legacy application teams to understand requirements for MVP.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B050"/>
                </a:solidFill>
              </a:rPr>
              <a:t>Are there other projects in flight using foundation data from legacy that we should align with to demonstrate this opportunity as we get started?</a:t>
            </a:r>
          </a:p>
        </p:txBody>
      </p:sp>
    </p:spTree>
    <p:extLst>
      <p:ext uri="{BB962C8B-B14F-4D97-AF65-F5344CB8AC3E}">
        <p14:creationId xmlns:p14="http://schemas.microsoft.com/office/powerpoint/2010/main" val="2079041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22663F-9049-62FA-FA99-99315E360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944"/>
            <a:ext cx="12192000" cy="676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470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 descr="A picture containing text&#10;&#10;Description automatically generated">
            <a:extLst>
              <a:ext uri="{FF2B5EF4-FFF2-40B4-BE49-F238E27FC236}">
                <a16:creationId xmlns:a16="http://schemas.microsoft.com/office/drawing/2014/main" id="{B84760FD-ED11-447A-98DC-B14AB67BF5B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2253" r="32706" b="-593"/>
          <a:stretch/>
        </p:blipFill>
        <p:spPr>
          <a:xfrm>
            <a:off x="0" y="5388711"/>
            <a:ext cx="6372225" cy="1509109"/>
          </a:xfrm>
          <a:prstGeom prst="rect">
            <a:avLst/>
          </a:prstGeom>
        </p:spPr>
      </p:pic>
      <p:pic>
        <p:nvPicPr>
          <p:cNvPr id="32" name="Picture 31" descr="A picture containing text&#10;&#10;Description automatically generated">
            <a:extLst>
              <a:ext uri="{FF2B5EF4-FFF2-40B4-BE49-F238E27FC236}">
                <a16:creationId xmlns:a16="http://schemas.microsoft.com/office/drawing/2014/main" id="{E6557336-DE31-4356-A2FB-52C80125FB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6960" r="37534" b="-593"/>
          <a:stretch/>
        </p:blipFill>
        <p:spPr>
          <a:xfrm flipH="1">
            <a:off x="7072311" y="6269474"/>
            <a:ext cx="5119687" cy="628346"/>
          </a:xfrm>
          <a:prstGeom prst="rect">
            <a:avLst/>
          </a:prstGeom>
        </p:spPr>
      </p:pic>
      <p:sp>
        <p:nvSpPr>
          <p:cNvPr id="37" name="Title 1">
            <a:extLst>
              <a:ext uri="{FF2B5EF4-FFF2-40B4-BE49-F238E27FC236}">
                <a16:creationId xmlns:a16="http://schemas.microsoft.com/office/drawing/2014/main" id="{A6816D6F-3C93-4D13-B12A-55BE78879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27" y="-40817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Immediate Next Steps week of 4/10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09A5B88-FE0C-4D0F-9137-97A16F25C18D}"/>
              </a:ext>
            </a:extLst>
          </p:cNvPr>
          <p:cNvSpPr txBox="1"/>
          <p:nvPr/>
        </p:nvSpPr>
        <p:spPr>
          <a:xfrm>
            <a:off x="357627" y="1284746"/>
            <a:ext cx="11476746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1" algn="l">
              <a:spcAft>
                <a:spcPts val="0"/>
              </a:spcAft>
            </a:pPr>
            <a:r>
              <a:rPr lang="en-US" sz="1600" b="1" i="0" u="none" strike="noStrike" dirty="0">
                <a:solidFill>
                  <a:srgbClr val="21212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1) ATS Integration Session 1: </a:t>
            </a:r>
            <a:r>
              <a:rPr lang="en-US" sz="1600" b="0" i="0" u="none" strike="noStrike" dirty="0">
                <a:solidFill>
                  <a:srgbClr val="21212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Wednesday 4/12 @ 11am, agenda will be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1212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Review PaaS components, answer any questions from OCI foundation workshop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1212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Oracle Application Integration (OIC) explained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1212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Integration strategy (OIC specific) 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1212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QA/open forum</a:t>
            </a:r>
            <a:br>
              <a:rPr lang="en-US" sz="1600" b="0" i="0" u="none" strike="noStrike" dirty="0">
                <a:solidFill>
                  <a:srgbClr val="21212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en-US" sz="1600" b="0" i="0" u="none" strike="noStrike" dirty="0">
              <a:solidFill>
                <a:srgbClr val="21212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R="0" lvl="1" algn="l">
              <a:spcAft>
                <a:spcPts val="0"/>
              </a:spcAft>
            </a:pPr>
            <a:r>
              <a:rPr lang="en-US" sz="1600" b="1" i="0" u="none" strike="noStrike" dirty="0">
                <a:solidFill>
                  <a:srgbClr val="21212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2) ATS Integration Session 2:</a:t>
            </a:r>
            <a:r>
              <a:rPr lang="en-US" sz="1600" b="0" i="0" u="none" strike="noStrike" dirty="0">
                <a:solidFill>
                  <a:srgbClr val="21212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 Thursday 4/13 @ 1pm, agenda will be</a:t>
            </a:r>
          </a:p>
          <a:p>
            <a:pPr marL="1084263" lvl="2" indent="-169863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1212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RICS overview</a:t>
            </a:r>
          </a:p>
          <a:p>
            <a:pPr marL="1085850" marR="0" lvl="2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1212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Integration use cases</a:t>
            </a:r>
          </a:p>
          <a:p>
            <a:pPr marL="1085850" marR="0" lvl="2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1212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Integrations targeted for this phase</a:t>
            </a:r>
          </a:p>
          <a:p>
            <a:pPr marL="1085850" marR="0" lvl="2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1212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Where Talend ETL fits in this implementation (?)</a:t>
            </a:r>
          </a:p>
          <a:p>
            <a:pPr marL="1085850" marR="0" lvl="2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1212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QA/open forum</a:t>
            </a:r>
          </a:p>
          <a:p>
            <a:pPr marR="0" algn="l"/>
            <a:endParaRPr lang="en-US" sz="1600" dirty="0">
              <a:solidFill>
                <a:srgbClr val="21212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/>
            <a:r>
              <a:rPr lang="en-US" sz="1600" b="1" i="0" u="none" strike="noStrike" dirty="0">
                <a:solidFill>
                  <a:srgbClr val="21212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3) NextGen Program Discovery: </a:t>
            </a:r>
            <a:r>
              <a:rPr lang="en-US" sz="1600" i="0" u="none" strike="noStrike" dirty="0">
                <a:solidFill>
                  <a:srgbClr val="21212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Meetings and Attendees TBC (Abhay assisting)</a:t>
            </a:r>
          </a:p>
          <a:p>
            <a:pPr marL="1084263" lvl="2" indent="-169863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1212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Supply Chain OMS</a:t>
            </a:r>
          </a:p>
          <a:p>
            <a:pPr marL="1085850" marR="0" lvl="2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1212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POS	</a:t>
            </a:r>
            <a:br>
              <a:rPr lang="en-US" sz="1600" dirty="0">
                <a:solidFill>
                  <a:srgbClr val="21212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en-US" sz="1600" dirty="0">
              <a:solidFill>
                <a:srgbClr val="21212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/>
            <a:r>
              <a:rPr lang="en-US" sz="1600" b="1" i="0" u="none" strike="noStrike" dirty="0">
                <a:solidFill>
                  <a:srgbClr val="21212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4) IPG / EA schedule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21212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</a:t>
            </a:r>
            <a:r>
              <a:rPr lang="en-US" sz="1600" dirty="0">
                <a:solidFill>
                  <a:srgbClr val="21212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Agree cadence and status review ongoing (Geoff / </a:t>
            </a:r>
            <a:r>
              <a:rPr lang="en-US" sz="1600" dirty="0" err="1">
                <a:solidFill>
                  <a:srgbClr val="21212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Yughandar</a:t>
            </a:r>
            <a:r>
              <a:rPr lang="en-US" sz="1600" dirty="0">
                <a:solidFill>
                  <a:srgbClr val="21212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  <a:endParaRPr lang="en-US" sz="1600" i="0" u="none" strike="noStrike" dirty="0">
              <a:solidFill>
                <a:srgbClr val="21212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R="0" algn="l"/>
            <a:endParaRPr lang="en-US" sz="1600" dirty="0">
              <a:solidFill>
                <a:srgbClr val="21212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742739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" name="Table 79">
            <a:extLst>
              <a:ext uri="{FF2B5EF4-FFF2-40B4-BE49-F238E27FC236}">
                <a16:creationId xmlns:a16="http://schemas.microsoft.com/office/drawing/2014/main" id="{281D647E-AB06-4503-91E1-9D2E663A4F94}"/>
              </a:ext>
            </a:extLst>
          </p:cNvPr>
          <p:cNvGraphicFramePr>
            <a:graphicFrameLocks noGrp="1"/>
          </p:cNvGraphicFramePr>
          <p:nvPr/>
        </p:nvGraphicFramePr>
        <p:xfrm>
          <a:off x="353676" y="4711535"/>
          <a:ext cx="3551879" cy="14408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518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20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Path to Green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5661"/>
                  </a:ext>
                </a:extLst>
              </a:tr>
              <a:tr h="1080612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i="0" u="none" strike="noStrike" kern="1200" noProof="0"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0238529"/>
                  </a:ext>
                </a:extLst>
              </a:tr>
            </a:tbl>
          </a:graphicData>
        </a:graphic>
      </p:graphicFrame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2700D2D8-F279-4BD0-AE75-A35824C62EF6}"/>
              </a:ext>
            </a:extLst>
          </p:cNvPr>
          <p:cNvGraphicFramePr>
            <a:graphicFrameLocks noGrp="1"/>
          </p:cNvGraphicFramePr>
          <p:nvPr/>
        </p:nvGraphicFramePr>
        <p:xfrm>
          <a:off x="353676" y="6152759"/>
          <a:ext cx="3553246" cy="63963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766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6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5240"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SCOPE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RESOURCES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5661"/>
                  </a:ext>
                </a:extLst>
              </a:tr>
              <a:tr h="314399"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SCHEDULE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1000" b="1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BUDGET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238529"/>
                  </a:ext>
                </a:extLst>
              </a:tr>
            </a:tbl>
          </a:graphicData>
        </a:graphic>
      </p:graphicFrame>
      <p:graphicFrame>
        <p:nvGraphicFramePr>
          <p:cNvPr id="20" name="Object 19" hidden="1">
            <a:extLst>
              <a:ext uri="{FF2B5EF4-FFF2-40B4-BE49-F238E27FC236}">
                <a16:creationId xmlns:a16="http://schemas.microsoft.com/office/drawing/2014/main" id="{E4F9061D-66F6-46F5-A528-2CAD67D6D03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3" imgH="473" progId="TCLayout.ActiveDocument.1">
                  <p:embed/>
                </p:oleObj>
              </mc:Choice>
              <mc:Fallback>
                <p:oleObj name="think-cell Slide" r:id="rId5" imgW="473" imgH="473" progId="TCLayout.ActiveDocument.1">
                  <p:embed/>
                  <p:pic>
                    <p:nvPicPr>
                      <p:cNvPr id="20" name="Object 19" hidden="1">
                        <a:extLst>
                          <a:ext uri="{FF2B5EF4-FFF2-40B4-BE49-F238E27FC236}">
                            <a16:creationId xmlns:a16="http://schemas.microsoft.com/office/drawing/2014/main" id="{E4F9061D-66F6-46F5-A528-2CAD67D6D0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 hidden="1">
            <a:extLst>
              <a:ext uri="{FF2B5EF4-FFF2-40B4-BE49-F238E27FC236}">
                <a16:creationId xmlns:a16="http://schemas.microsoft.com/office/drawing/2014/main" id="{71A01C71-E6B9-4439-A77C-C8D429F5E00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  <a:sym typeface="Arial Black" panose="020B0A04020102020204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6077763" y="1335973"/>
            <a:ext cx="5867677" cy="279218"/>
            <a:chOff x="-1977497" y="6479196"/>
            <a:chExt cx="5867677" cy="279218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198A3D2-2955-47A3-A45F-954E71C3A29B}"/>
                </a:ext>
              </a:extLst>
            </p:cNvPr>
            <p:cNvSpPr/>
            <p:nvPr/>
          </p:nvSpPr>
          <p:spPr>
            <a:xfrm>
              <a:off x="2622702" y="6529323"/>
              <a:ext cx="517585" cy="15527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236A68D8-F079-49D7-B3EE-3ED56FC5754C}"/>
                </a:ext>
              </a:extLst>
            </p:cNvPr>
            <p:cNvSpPr/>
            <p:nvPr/>
          </p:nvSpPr>
          <p:spPr>
            <a:xfrm>
              <a:off x="-672926" y="6533734"/>
              <a:ext cx="517585" cy="15527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1402094A-7919-4D9B-8D13-EFC68E877178}"/>
                </a:ext>
              </a:extLst>
            </p:cNvPr>
            <p:cNvSpPr/>
            <p:nvPr/>
          </p:nvSpPr>
          <p:spPr>
            <a:xfrm>
              <a:off x="-1901217" y="6537025"/>
              <a:ext cx="517585" cy="155276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FEF15C40-2AB1-4FD2-91AB-74F497DDCBD9}"/>
                </a:ext>
              </a:extLst>
            </p:cNvPr>
            <p:cNvSpPr/>
            <p:nvPr/>
          </p:nvSpPr>
          <p:spPr>
            <a:xfrm>
              <a:off x="762747" y="6537025"/>
              <a:ext cx="517585" cy="15527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10B7D58-6D5D-42E5-930B-7972EE66EF4B}"/>
                </a:ext>
              </a:extLst>
            </p:cNvPr>
            <p:cNvSpPr txBox="1"/>
            <p:nvPr/>
          </p:nvSpPr>
          <p:spPr>
            <a:xfrm>
              <a:off x="3235114" y="6529323"/>
              <a:ext cx="655066" cy="154232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Completed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7B0633D-8BD0-4BA8-B93C-F8A7F2588FBF}"/>
                </a:ext>
              </a:extLst>
            </p:cNvPr>
            <p:cNvSpPr txBox="1"/>
            <p:nvPr/>
          </p:nvSpPr>
          <p:spPr>
            <a:xfrm>
              <a:off x="-1323456" y="6522648"/>
              <a:ext cx="555825" cy="169653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On-track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B3C59F7-6B3A-4EF8-BD04-E23EF4982980}"/>
                </a:ext>
              </a:extLst>
            </p:cNvPr>
            <p:cNvSpPr txBox="1"/>
            <p:nvPr/>
          </p:nvSpPr>
          <p:spPr>
            <a:xfrm>
              <a:off x="-66324" y="6528815"/>
              <a:ext cx="732664" cy="154740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Risk or delay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8C42740-DEF9-4138-9AC9-F6A6A5B73E3A}"/>
                </a:ext>
              </a:extLst>
            </p:cNvPr>
            <p:cNvSpPr txBox="1"/>
            <p:nvPr/>
          </p:nvSpPr>
          <p:spPr>
            <a:xfrm>
              <a:off x="1340508" y="6527100"/>
              <a:ext cx="1222018" cy="83458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Critical issue or delay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6C01C49-4DF8-404E-A676-F50C124A6CB7}"/>
                </a:ext>
              </a:extLst>
            </p:cNvPr>
            <p:cNvSpPr/>
            <p:nvPr/>
          </p:nvSpPr>
          <p:spPr>
            <a:xfrm>
              <a:off x="-1977497" y="6479196"/>
              <a:ext cx="5867677" cy="279218"/>
            </a:xfrm>
            <a:prstGeom prst="rect">
              <a:avLst/>
            </a:prstGeom>
            <a:noFill/>
            <a:ln w="12700">
              <a:solidFill>
                <a:schemeClr val="tx2">
                  <a:lumMod val="40000"/>
                  <a:lumOff val="6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</p:grpSp>
      <p:sp>
        <p:nvSpPr>
          <p:cNvPr id="44" name="Title 30">
            <a:extLst>
              <a:ext uri="{FF2B5EF4-FFF2-40B4-BE49-F238E27FC236}">
                <a16:creationId xmlns:a16="http://schemas.microsoft.com/office/drawing/2014/main" id="{236596C2-8276-4E0D-8650-486674635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05" y="160431"/>
            <a:ext cx="11491383" cy="648404"/>
          </a:xfrm>
        </p:spPr>
        <p:txBody>
          <a:bodyPr vert="horz">
            <a:normAutofit/>
          </a:bodyPr>
          <a:lstStyle/>
          <a:p>
            <a:r>
              <a:rPr lang="en-US" sz="2000">
                <a:latin typeface="Arial Black"/>
              </a:rPr>
              <a:t>PROJECT WEEKLY STATUS: IPG</a:t>
            </a:r>
            <a:br>
              <a:rPr lang="en-US" sz="2000" b="1" cap="all">
                <a:highlight>
                  <a:srgbClr val="FFFF00"/>
                </a:highlight>
                <a:latin typeface="Calibri"/>
              </a:rPr>
            </a:br>
            <a:r>
              <a:rPr lang="en-US" sz="2000" b="1" cap="all">
                <a:latin typeface="Arial Black"/>
              </a:rPr>
              <a:t>MARCH 31</a:t>
            </a:r>
            <a:r>
              <a:rPr lang="en-US" sz="2000">
                <a:latin typeface="Arial Black"/>
              </a:rPr>
              <a:t>, 2023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B30764F-3742-49CF-A60A-6961F7F54D67}"/>
              </a:ext>
            </a:extLst>
          </p:cNvPr>
          <p:cNvSpPr txBox="1"/>
          <p:nvPr/>
        </p:nvSpPr>
        <p:spPr>
          <a:xfrm>
            <a:off x="2880361" y="445736"/>
            <a:ext cx="91585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EXECUTIVE SPONSOR: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rPr>
              <a:t>Bobby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rPr>
              <a:t>Aflatooni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rPr>
              <a:t>, Larry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rPr>
              <a:t>Gatta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rPr>
              <a:t>, Rick McNeely 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PROGRAM LEADER: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rPr>
              <a:t>Abhay Shetty / Bryan Byrd  </a:t>
            </a:r>
            <a:r>
              <a:rPr kumimoji="0" lang="en-US" sz="1200" b="1" i="0" u="none" strike="noStrike" kern="1200" cap="all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/>
                <a:cs typeface="Calibri"/>
              </a:rPr>
              <a:t>PM/lead: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rPr>
              <a:t>Rajesh Thukral </a:t>
            </a:r>
          </a:p>
        </p:txBody>
      </p:sp>
      <p:pic>
        <p:nvPicPr>
          <p:cNvPr id="39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4582" y="6462"/>
            <a:ext cx="1980004" cy="313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7" name="Table 2">
            <a:extLst>
              <a:ext uri="{FF2B5EF4-FFF2-40B4-BE49-F238E27FC236}">
                <a16:creationId xmlns:a16="http://schemas.microsoft.com/office/drawing/2014/main" id="{2852C303-53E8-434F-AAB5-EB07D4B0DD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7637255"/>
              </p:ext>
            </p:extLst>
          </p:nvPr>
        </p:nvGraphicFramePr>
        <p:xfrm>
          <a:off x="353676" y="3360374"/>
          <a:ext cx="3553246" cy="13049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835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9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222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0">
                          <a:solidFill>
                            <a:schemeClr val="tx1"/>
                          </a:solidFill>
                          <a:latin typeface="+mn-lt"/>
                          <a:ea typeface="ＭＳ Ｐゴシック"/>
                          <a:cs typeface="Calibri" panose="020F0502020204030204" pitchFamily="34" charset="0"/>
                        </a:rPr>
                        <a:t>DELIVERABLES &amp; KEY MILESTONES</a:t>
                      </a:r>
                      <a:endParaRPr lang="en-US" sz="1200" b="1">
                        <a:solidFill>
                          <a:schemeClr val="tx1"/>
                        </a:solidFill>
                        <a:latin typeface="+mn-lt"/>
                        <a:ea typeface="ＭＳ Ｐゴシック"/>
                        <a:cs typeface="Calibri" panose="020F0502020204030204" pitchFamily="34" charset="0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DUE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621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</a:rPr>
                        <a:t>NextGen Discovery Sessions (SC/POS)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4/14</a:t>
                      </a: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111224"/>
                  </a:ext>
                </a:extLst>
              </a:tr>
              <a:tr h="30005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</a:rPr>
                        <a:t>IPG Kickoff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4/21</a:t>
                      </a: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4502677"/>
                  </a:ext>
                </a:extLst>
              </a:tr>
              <a:tr h="30005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</a:rPr>
                        <a:t>Approved Integration Strategy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4/28</a:t>
                      </a: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946269"/>
                  </a:ext>
                </a:extLst>
              </a:tr>
            </a:tbl>
          </a:graphicData>
        </a:graphic>
      </p:graphicFrame>
      <p:sp>
        <p:nvSpPr>
          <p:cNvPr id="70" name="Freeform 25">
            <a:extLst>
              <a:ext uri="{FF2B5EF4-FFF2-40B4-BE49-F238E27FC236}">
                <a16:creationId xmlns:a16="http://schemas.microsoft.com/office/drawing/2014/main" id="{C5D33FCC-FDF7-4224-9E4B-38B41F1E9470}"/>
              </a:ext>
            </a:extLst>
          </p:cNvPr>
          <p:cNvSpPr>
            <a:spLocks noEditPoints="1"/>
          </p:cNvSpPr>
          <p:nvPr/>
        </p:nvSpPr>
        <p:spPr bwMode="auto">
          <a:xfrm>
            <a:off x="2256035" y="6187757"/>
            <a:ext cx="274050" cy="252680"/>
          </a:xfrm>
          <a:custGeom>
            <a:avLst/>
            <a:gdLst>
              <a:gd name="T0" fmla="*/ 259 w 288"/>
              <a:gd name="T1" fmla="*/ 0 h 288"/>
              <a:gd name="T2" fmla="*/ 29 w 288"/>
              <a:gd name="T3" fmla="*/ 0 h 288"/>
              <a:gd name="T4" fmla="*/ 0 w 288"/>
              <a:gd name="T5" fmla="*/ 29 h 288"/>
              <a:gd name="T6" fmla="*/ 0 w 288"/>
              <a:gd name="T7" fmla="*/ 260 h 288"/>
              <a:gd name="T8" fmla="*/ 29 w 288"/>
              <a:gd name="T9" fmla="*/ 288 h 288"/>
              <a:gd name="T10" fmla="*/ 48 w 288"/>
              <a:gd name="T11" fmla="*/ 288 h 288"/>
              <a:gd name="T12" fmla="*/ 48 w 288"/>
              <a:gd name="T13" fmla="*/ 224 h 288"/>
              <a:gd name="T14" fmla="*/ 108 w 288"/>
              <a:gd name="T15" fmla="*/ 164 h 288"/>
              <a:gd name="T16" fmla="*/ 183 w 288"/>
              <a:gd name="T17" fmla="*/ 164 h 288"/>
              <a:gd name="T18" fmla="*/ 244 w 288"/>
              <a:gd name="T19" fmla="*/ 224 h 288"/>
              <a:gd name="T20" fmla="*/ 244 w 288"/>
              <a:gd name="T21" fmla="*/ 288 h 288"/>
              <a:gd name="T22" fmla="*/ 259 w 288"/>
              <a:gd name="T23" fmla="*/ 288 h 288"/>
              <a:gd name="T24" fmla="*/ 288 w 288"/>
              <a:gd name="T25" fmla="*/ 260 h 288"/>
              <a:gd name="T26" fmla="*/ 288 w 288"/>
              <a:gd name="T27" fmla="*/ 29 h 288"/>
              <a:gd name="T28" fmla="*/ 259 w 288"/>
              <a:gd name="T29" fmla="*/ 0 h 288"/>
              <a:gd name="T30" fmla="*/ 144 w 288"/>
              <a:gd name="T31" fmla="*/ 135 h 288"/>
              <a:gd name="T32" fmla="*/ 93 w 288"/>
              <a:gd name="T33" fmla="*/ 84 h 288"/>
              <a:gd name="T34" fmla="*/ 144 w 288"/>
              <a:gd name="T35" fmla="*/ 33 h 288"/>
              <a:gd name="T36" fmla="*/ 195 w 288"/>
              <a:gd name="T37" fmla="*/ 84 h 288"/>
              <a:gd name="T38" fmla="*/ 144 w 288"/>
              <a:gd name="T39" fmla="*/ 135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88" h="288">
                <a:moveTo>
                  <a:pt x="259" y="0"/>
                </a:moveTo>
                <a:cubicBezTo>
                  <a:pt x="29" y="0"/>
                  <a:pt x="29" y="0"/>
                  <a:pt x="29" y="0"/>
                </a:cubicBezTo>
                <a:cubicBezTo>
                  <a:pt x="13" y="0"/>
                  <a:pt x="0" y="13"/>
                  <a:pt x="0" y="29"/>
                </a:cubicBezTo>
                <a:cubicBezTo>
                  <a:pt x="0" y="260"/>
                  <a:pt x="0" y="260"/>
                  <a:pt x="0" y="260"/>
                </a:cubicBezTo>
                <a:cubicBezTo>
                  <a:pt x="0" y="275"/>
                  <a:pt x="13" y="288"/>
                  <a:pt x="29" y="288"/>
                </a:cubicBezTo>
                <a:cubicBezTo>
                  <a:pt x="48" y="288"/>
                  <a:pt x="48" y="288"/>
                  <a:pt x="48" y="288"/>
                </a:cubicBezTo>
                <a:cubicBezTo>
                  <a:pt x="48" y="224"/>
                  <a:pt x="48" y="224"/>
                  <a:pt x="48" y="224"/>
                </a:cubicBezTo>
                <a:cubicBezTo>
                  <a:pt x="48" y="191"/>
                  <a:pt x="75" y="164"/>
                  <a:pt x="108" y="164"/>
                </a:cubicBezTo>
                <a:cubicBezTo>
                  <a:pt x="183" y="164"/>
                  <a:pt x="183" y="164"/>
                  <a:pt x="183" y="164"/>
                </a:cubicBezTo>
                <a:cubicBezTo>
                  <a:pt x="216" y="164"/>
                  <a:pt x="244" y="191"/>
                  <a:pt x="244" y="224"/>
                </a:cubicBezTo>
                <a:cubicBezTo>
                  <a:pt x="244" y="288"/>
                  <a:pt x="244" y="288"/>
                  <a:pt x="244" y="288"/>
                </a:cubicBezTo>
                <a:cubicBezTo>
                  <a:pt x="259" y="288"/>
                  <a:pt x="259" y="288"/>
                  <a:pt x="259" y="288"/>
                </a:cubicBezTo>
                <a:cubicBezTo>
                  <a:pt x="275" y="288"/>
                  <a:pt x="288" y="275"/>
                  <a:pt x="288" y="260"/>
                </a:cubicBezTo>
                <a:cubicBezTo>
                  <a:pt x="288" y="29"/>
                  <a:pt x="288" y="29"/>
                  <a:pt x="288" y="29"/>
                </a:cubicBezTo>
                <a:cubicBezTo>
                  <a:pt x="288" y="13"/>
                  <a:pt x="275" y="0"/>
                  <a:pt x="259" y="0"/>
                </a:cubicBezTo>
                <a:close/>
                <a:moveTo>
                  <a:pt x="144" y="135"/>
                </a:moveTo>
                <a:cubicBezTo>
                  <a:pt x="116" y="135"/>
                  <a:pt x="93" y="112"/>
                  <a:pt x="93" y="84"/>
                </a:cubicBezTo>
                <a:cubicBezTo>
                  <a:pt x="93" y="56"/>
                  <a:pt x="116" y="33"/>
                  <a:pt x="144" y="33"/>
                </a:cubicBezTo>
                <a:cubicBezTo>
                  <a:pt x="172" y="33"/>
                  <a:pt x="195" y="56"/>
                  <a:pt x="195" y="84"/>
                </a:cubicBezTo>
                <a:cubicBezTo>
                  <a:pt x="195" y="112"/>
                  <a:pt x="172" y="135"/>
                  <a:pt x="144" y="135"/>
                </a:cubicBezTo>
                <a:close/>
              </a:path>
            </a:pathLst>
          </a:custGeom>
          <a:solidFill>
            <a:srgbClr val="008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2" rIns="91422" bIns="4571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alibri" panose="020F0502020204030204" pitchFamily="34" charset="0"/>
            </a:endParaRPr>
          </a:p>
        </p:txBody>
      </p:sp>
      <p:sp>
        <p:nvSpPr>
          <p:cNvPr id="71" name="Freeform 19">
            <a:extLst>
              <a:ext uri="{FF2B5EF4-FFF2-40B4-BE49-F238E27FC236}">
                <a16:creationId xmlns:a16="http://schemas.microsoft.com/office/drawing/2014/main" id="{64948846-B5AF-48EF-A542-0EB74288CF7B}"/>
              </a:ext>
            </a:extLst>
          </p:cNvPr>
          <p:cNvSpPr>
            <a:spLocks noEditPoints="1"/>
          </p:cNvSpPr>
          <p:nvPr/>
        </p:nvSpPr>
        <p:spPr bwMode="auto">
          <a:xfrm>
            <a:off x="460612" y="6507987"/>
            <a:ext cx="273648" cy="259045"/>
          </a:xfrm>
          <a:custGeom>
            <a:avLst/>
            <a:gdLst>
              <a:gd name="T0" fmla="*/ 288 w 288"/>
              <a:gd name="T1" fmla="*/ 144 h 288"/>
              <a:gd name="T2" fmla="*/ 234 w 288"/>
              <a:gd name="T3" fmla="*/ 31 h 288"/>
              <a:gd name="T4" fmla="*/ 234 w 288"/>
              <a:gd name="T5" fmla="*/ 31 h 288"/>
              <a:gd name="T6" fmla="*/ 233 w 288"/>
              <a:gd name="T7" fmla="*/ 31 h 288"/>
              <a:gd name="T8" fmla="*/ 144 w 288"/>
              <a:gd name="T9" fmla="*/ 0 h 288"/>
              <a:gd name="T10" fmla="*/ 0 w 288"/>
              <a:gd name="T11" fmla="*/ 144 h 288"/>
              <a:gd name="T12" fmla="*/ 144 w 288"/>
              <a:gd name="T13" fmla="*/ 288 h 288"/>
              <a:gd name="T14" fmla="*/ 287 w 288"/>
              <a:gd name="T15" fmla="*/ 156 h 288"/>
              <a:gd name="T16" fmla="*/ 287 w 288"/>
              <a:gd name="T17" fmla="*/ 156 h 288"/>
              <a:gd name="T18" fmla="*/ 287 w 288"/>
              <a:gd name="T19" fmla="*/ 156 h 288"/>
              <a:gd name="T20" fmla="*/ 288 w 288"/>
              <a:gd name="T21" fmla="*/ 144 h 288"/>
              <a:gd name="T22" fmla="*/ 247 w 288"/>
              <a:gd name="T23" fmla="*/ 79 h 288"/>
              <a:gd name="T24" fmla="*/ 251 w 288"/>
              <a:gd name="T25" fmla="*/ 87 h 288"/>
              <a:gd name="T26" fmla="*/ 220 w 288"/>
              <a:gd name="T27" fmla="*/ 105 h 288"/>
              <a:gd name="T28" fmla="*/ 215 w 288"/>
              <a:gd name="T29" fmla="*/ 97 h 288"/>
              <a:gd name="T30" fmla="*/ 247 w 288"/>
              <a:gd name="T31" fmla="*/ 79 h 288"/>
              <a:gd name="T32" fmla="*/ 201 w 288"/>
              <a:gd name="T33" fmla="*/ 36 h 288"/>
              <a:gd name="T34" fmla="*/ 208 w 288"/>
              <a:gd name="T35" fmla="*/ 41 h 288"/>
              <a:gd name="T36" fmla="*/ 190 w 288"/>
              <a:gd name="T37" fmla="*/ 73 h 288"/>
              <a:gd name="T38" fmla="*/ 182 w 288"/>
              <a:gd name="T39" fmla="*/ 68 h 288"/>
              <a:gd name="T40" fmla="*/ 201 w 288"/>
              <a:gd name="T41" fmla="*/ 36 h 288"/>
              <a:gd name="T42" fmla="*/ 208 w 288"/>
              <a:gd name="T43" fmla="*/ 246 h 288"/>
              <a:gd name="T44" fmla="*/ 191 w 288"/>
              <a:gd name="T45" fmla="*/ 215 h 288"/>
              <a:gd name="T46" fmla="*/ 183 w 288"/>
              <a:gd name="T47" fmla="*/ 220 h 288"/>
              <a:gd name="T48" fmla="*/ 201 w 288"/>
              <a:gd name="T49" fmla="*/ 250 h 288"/>
              <a:gd name="T50" fmla="*/ 149 w 288"/>
              <a:gd name="T51" fmla="*/ 264 h 288"/>
              <a:gd name="T52" fmla="*/ 149 w 288"/>
              <a:gd name="T53" fmla="*/ 229 h 288"/>
              <a:gd name="T54" fmla="*/ 140 w 288"/>
              <a:gd name="T55" fmla="*/ 229 h 288"/>
              <a:gd name="T56" fmla="*/ 140 w 288"/>
              <a:gd name="T57" fmla="*/ 265 h 288"/>
              <a:gd name="T58" fmla="*/ 88 w 288"/>
              <a:gd name="T59" fmla="*/ 251 h 288"/>
              <a:gd name="T60" fmla="*/ 106 w 288"/>
              <a:gd name="T61" fmla="*/ 220 h 288"/>
              <a:gd name="T62" fmla="*/ 98 w 288"/>
              <a:gd name="T63" fmla="*/ 216 h 288"/>
              <a:gd name="T64" fmla="*/ 80 w 288"/>
              <a:gd name="T65" fmla="*/ 247 h 288"/>
              <a:gd name="T66" fmla="*/ 42 w 288"/>
              <a:gd name="T67" fmla="*/ 209 h 288"/>
              <a:gd name="T68" fmla="*/ 73 w 288"/>
              <a:gd name="T69" fmla="*/ 191 h 288"/>
              <a:gd name="T70" fmla="*/ 68 w 288"/>
              <a:gd name="T71" fmla="*/ 183 h 288"/>
              <a:gd name="T72" fmla="*/ 37 w 288"/>
              <a:gd name="T73" fmla="*/ 201 h 288"/>
              <a:gd name="T74" fmla="*/ 23 w 288"/>
              <a:gd name="T75" fmla="*/ 149 h 288"/>
              <a:gd name="T76" fmla="*/ 59 w 288"/>
              <a:gd name="T77" fmla="*/ 149 h 288"/>
              <a:gd name="T78" fmla="*/ 59 w 288"/>
              <a:gd name="T79" fmla="*/ 140 h 288"/>
              <a:gd name="T80" fmla="*/ 23 w 288"/>
              <a:gd name="T81" fmla="*/ 140 h 288"/>
              <a:gd name="T82" fmla="*/ 36 w 288"/>
              <a:gd name="T83" fmla="*/ 88 h 288"/>
              <a:gd name="T84" fmla="*/ 68 w 288"/>
              <a:gd name="T85" fmla="*/ 106 h 288"/>
              <a:gd name="T86" fmla="*/ 72 w 288"/>
              <a:gd name="T87" fmla="*/ 98 h 288"/>
              <a:gd name="T88" fmla="*/ 41 w 288"/>
              <a:gd name="T89" fmla="*/ 80 h 288"/>
              <a:gd name="T90" fmla="*/ 36 w 288"/>
              <a:gd name="T91" fmla="*/ 88 h 288"/>
              <a:gd name="T92" fmla="*/ 79 w 288"/>
              <a:gd name="T93" fmla="*/ 41 h 288"/>
              <a:gd name="T94" fmla="*/ 97 w 288"/>
              <a:gd name="T95" fmla="*/ 72 h 288"/>
              <a:gd name="T96" fmla="*/ 105 w 288"/>
              <a:gd name="T97" fmla="*/ 68 h 288"/>
              <a:gd name="T98" fmla="*/ 87 w 288"/>
              <a:gd name="T99" fmla="*/ 36 h 288"/>
              <a:gd name="T100" fmla="*/ 144 w 288"/>
              <a:gd name="T101" fmla="*/ 22 h 288"/>
              <a:gd name="T102" fmla="*/ 144 w 288"/>
              <a:gd name="T103" fmla="*/ 147 h 288"/>
              <a:gd name="T104" fmla="*/ 241 w 288"/>
              <a:gd name="T105" fmla="*/ 216 h 288"/>
              <a:gd name="T106" fmla="*/ 208 w 288"/>
              <a:gd name="T107" fmla="*/ 246 h 288"/>
              <a:gd name="T108" fmla="*/ 266 w 288"/>
              <a:gd name="T109" fmla="*/ 148 h 288"/>
              <a:gd name="T110" fmla="*/ 229 w 288"/>
              <a:gd name="T111" fmla="*/ 148 h 288"/>
              <a:gd name="T112" fmla="*/ 229 w 288"/>
              <a:gd name="T113" fmla="*/ 139 h 288"/>
              <a:gd name="T114" fmla="*/ 266 w 288"/>
              <a:gd name="T115" fmla="*/ 139 h 288"/>
              <a:gd name="T116" fmla="*/ 266 w 288"/>
              <a:gd name="T117" fmla="*/ 148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88" h="288">
                <a:moveTo>
                  <a:pt x="288" y="144"/>
                </a:moveTo>
                <a:cubicBezTo>
                  <a:pt x="288" y="98"/>
                  <a:pt x="266" y="58"/>
                  <a:pt x="234" y="31"/>
                </a:cubicBezTo>
                <a:cubicBezTo>
                  <a:pt x="234" y="31"/>
                  <a:pt x="234" y="31"/>
                  <a:pt x="234" y="31"/>
                </a:cubicBezTo>
                <a:cubicBezTo>
                  <a:pt x="233" y="31"/>
                  <a:pt x="233" y="31"/>
                  <a:pt x="233" y="31"/>
                </a:cubicBezTo>
                <a:cubicBezTo>
                  <a:pt x="209" y="11"/>
                  <a:pt x="178" y="0"/>
                  <a:pt x="144" y="0"/>
                </a:cubicBezTo>
                <a:cubicBezTo>
                  <a:pt x="64" y="0"/>
                  <a:pt x="0" y="64"/>
                  <a:pt x="0" y="144"/>
                </a:cubicBezTo>
                <a:cubicBezTo>
                  <a:pt x="0" y="223"/>
                  <a:pt x="64" y="288"/>
                  <a:pt x="144" y="288"/>
                </a:cubicBezTo>
                <a:cubicBezTo>
                  <a:pt x="219" y="288"/>
                  <a:pt x="281" y="230"/>
                  <a:pt x="287" y="156"/>
                </a:cubicBezTo>
                <a:cubicBezTo>
                  <a:pt x="287" y="156"/>
                  <a:pt x="287" y="156"/>
                  <a:pt x="287" y="156"/>
                </a:cubicBezTo>
                <a:cubicBezTo>
                  <a:pt x="287" y="156"/>
                  <a:pt x="287" y="156"/>
                  <a:pt x="287" y="156"/>
                </a:cubicBezTo>
                <a:cubicBezTo>
                  <a:pt x="287" y="152"/>
                  <a:pt x="288" y="148"/>
                  <a:pt x="288" y="144"/>
                </a:cubicBezTo>
                <a:close/>
                <a:moveTo>
                  <a:pt x="247" y="79"/>
                </a:moveTo>
                <a:cubicBezTo>
                  <a:pt x="251" y="87"/>
                  <a:pt x="251" y="87"/>
                  <a:pt x="251" y="87"/>
                </a:cubicBezTo>
                <a:cubicBezTo>
                  <a:pt x="220" y="105"/>
                  <a:pt x="220" y="105"/>
                  <a:pt x="220" y="105"/>
                </a:cubicBezTo>
                <a:cubicBezTo>
                  <a:pt x="215" y="97"/>
                  <a:pt x="215" y="97"/>
                  <a:pt x="215" y="97"/>
                </a:cubicBezTo>
                <a:lnTo>
                  <a:pt x="247" y="79"/>
                </a:lnTo>
                <a:close/>
                <a:moveTo>
                  <a:pt x="201" y="36"/>
                </a:moveTo>
                <a:cubicBezTo>
                  <a:pt x="208" y="41"/>
                  <a:pt x="208" y="41"/>
                  <a:pt x="208" y="41"/>
                </a:cubicBezTo>
                <a:cubicBezTo>
                  <a:pt x="190" y="73"/>
                  <a:pt x="190" y="73"/>
                  <a:pt x="190" y="73"/>
                </a:cubicBezTo>
                <a:cubicBezTo>
                  <a:pt x="182" y="68"/>
                  <a:pt x="182" y="68"/>
                  <a:pt x="182" y="68"/>
                </a:cubicBezTo>
                <a:lnTo>
                  <a:pt x="201" y="36"/>
                </a:lnTo>
                <a:close/>
                <a:moveTo>
                  <a:pt x="208" y="246"/>
                </a:moveTo>
                <a:cubicBezTo>
                  <a:pt x="191" y="215"/>
                  <a:pt x="191" y="215"/>
                  <a:pt x="191" y="215"/>
                </a:cubicBezTo>
                <a:cubicBezTo>
                  <a:pt x="183" y="220"/>
                  <a:pt x="183" y="220"/>
                  <a:pt x="183" y="220"/>
                </a:cubicBezTo>
                <a:cubicBezTo>
                  <a:pt x="201" y="250"/>
                  <a:pt x="201" y="250"/>
                  <a:pt x="201" y="250"/>
                </a:cubicBezTo>
                <a:cubicBezTo>
                  <a:pt x="185" y="259"/>
                  <a:pt x="168" y="264"/>
                  <a:pt x="149" y="264"/>
                </a:cubicBezTo>
                <a:cubicBezTo>
                  <a:pt x="149" y="229"/>
                  <a:pt x="149" y="229"/>
                  <a:pt x="149" y="229"/>
                </a:cubicBezTo>
                <a:cubicBezTo>
                  <a:pt x="140" y="229"/>
                  <a:pt x="140" y="229"/>
                  <a:pt x="140" y="229"/>
                </a:cubicBezTo>
                <a:cubicBezTo>
                  <a:pt x="140" y="265"/>
                  <a:pt x="140" y="265"/>
                  <a:pt x="140" y="265"/>
                </a:cubicBezTo>
                <a:cubicBezTo>
                  <a:pt x="121" y="264"/>
                  <a:pt x="104" y="259"/>
                  <a:pt x="88" y="251"/>
                </a:cubicBezTo>
                <a:cubicBezTo>
                  <a:pt x="106" y="220"/>
                  <a:pt x="106" y="220"/>
                  <a:pt x="106" y="220"/>
                </a:cubicBezTo>
                <a:cubicBezTo>
                  <a:pt x="98" y="216"/>
                  <a:pt x="98" y="216"/>
                  <a:pt x="98" y="216"/>
                </a:cubicBezTo>
                <a:cubicBezTo>
                  <a:pt x="80" y="247"/>
                  <a:pt x="80" y="247"/>
                  <a:pt x="80" y="247"/>
                </a:cubicBezTo>
                <a:cubicBezTo>
                  <a:pt x="65" y="237"/>
                  <a:pt x="52" y="224"/>
                  <a:pt x="42" y="209"/>
                </a:cubicBezTo>
                <a:cubicBezTo>
                  <a:pt x="73" y="191"/>
                  <a:pt x="73" y="191"/>
                  <a:pt x="73" y="191"/>
                </a:cubicBezTo>
                <a:cubicBezTo>
                  <a:pt x="68" y="183"/>
                  <a:pt x="68" y="183"/>
                  <a:pt x="68" y="183"/>
                </a:cubicBezTo>
                <a:cubicBezTo>
                  <a:pt x="37" y="201"/>
                  <a:pt x="37" y="201"/>
                  <a:pt x="37" y="201"/>
                </a:cubicBezTo>
                <a:cubicBezTo>
                  <a:pt x="29" y="186"/>
                  <a:pt x="23" y="168"/>
                  <a:pt x="23" y="149"/>
                </a:cubicBezTo>
                <a:cubicBezTo>
                  <a:pt x="59" y="149"/>
                  <a:pt x="59" y="149"/>
                  <a:pt x="59" y="149"/>
                </a:cubicBezTo>
                <a:cubicBezTo>
                  <a:pt x="59" y="140"/>
                  <a:pt x="59" y="140"/>
                  <a:pt x="59" y="140"/>
                </a:cubicBezTo>
                <a:cubicBezTo>
                  <a:pt x="23" y="140"/>
                  <a:pt x="23" y="140"/>
                  <a:pt x="23" y="140"/>
                </a:cubicBezTo>
                <a:cubicBezTo>
                  <a:pt x="23" y="121"/>
                  <a:pt x="28" y="104"/>
                  <a:pt x="36" y="88"/>
                </a:cubicBezTo>
                <a:cubicBezTo>
                  <a:pt x="68" y="106"/>
                  <a:pt x="68" y="106"/>
                  <a:pt x="68" y="106"/>
                </a:cubicBezTo>
                <a:cubicBezTo>
                  <a:pt x="72" y="98"/>
                  <a:pt x="72" y="98"/>
                  <a:pt x="72" y="98"/>
                </a:cubicBezTo>
                <a:cubicBezTo>
                  <a:pt x="41" y="80"/>
                  <a:pt x="41" y="80"/>
                  <a:pt x="41" y="80"/>
                </a:cubicBezTo>
                <a:cubicBezTo>
                  <a:pt x="36" y="88"/>
                  <a:pt x="36" y="88"/>
                  <a:pt x="36" y="88"/>
                </a:cubicBezTo>
                <a:cubicBezTo>
                  <a:pt x="46" y="69"/>
                  <a:pt x="61" y="52"/>
                  <a:pt x="79" y="41"/>
                </a:cubicBezTo>
                <a:cubicBezTo>
                  <a:pt x="97" y="72"/>
                  <a:pt x="97" y="72"/>
                  <a:pt x="97" y="72"/>
                </a:cubicBezTo>
                <a:cubicBezTo>
                  <a:pt x="105" y="68"/>
                  <a:pt x="105" y="68"/>
                  <a:pt x="105" y="68"/>
                </a:cubicBezTo>
                <a:cubicBezTo>
                  <a:pt x="87" y="36"/>
                  <a:pt x="87" y="36"/>
                  <a:pt x="87" y="36"/>
                </a:cubicBezTo>
                <a:cubicBezTo>
                  <a:pt x="104" y="28"/>
                  <a:pt x="123" y="22"/>
                  <a:pt x="144" y="22"/>
                </a:cubicBezTo>
                <a:cubicBezTo>
                  <a:pt x="144" y="147"/>
                  <a:pt x="144" y="147"/>
                  <a:pt x="144" y="147"/>
                </a:cubicBezTo>
                <a:cubicBezTo>
                  <a:pt x="241" y="216"/>
                  <a:pt x="241" y="216"/>
                  <a:pt x="241" y="216"/>
                </a:cubicBezTo>
                <a:cubicBezTo>
                  <a:pt x="232" y="228"/>
                  <a:pt x="221" y="238"/>
                  <a:pt x="208" y="246"/>
                </a:cubicBezTo>
                <a:close/>
                <a:moveTo>
                  <a:pt x="266" y="148"/>
                </a:moveTo>
                <a:cubicBezTo>
                  <a:pt x="229" y="148"/>
                  <a:pt x="229" y="148"/>
                  <a:pt x="229" y="148"/>
                </a:cubicBezTo>
                <a:cubicBezTo>
                  <a:pt x="229" y="139"/>
                  <a:pt x="229" y="139"/>
                  <a:pt x="229" y="139"/>
                </a:cubicBezTo>
                <a:cubicBezTo>
                  <a:pt x="266" y="139"/>
                  <a:pt x="266" y="139"/>
                  <a:pt x="266" y="139"/>
                </a:cubicBezTo>
                <a:lnTo>
                  <a:pt x="266" y="148"/>
                </a:lnTo>
                <a:close/>
              </a:path>
            </a:pathLst>
          </a:custGeom>
          <a:solidFill>
            <a:srgbClr val="008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2" rIns="91422" bIns="4571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alibri" panose="020F0502020204030204" pitchFamily="34" charset="0"/>
            </a:endParaRPr>
          </a:p>
        </p:txBody>
      </p:sp>
      <p:sp>
        <p:nvSpPr>
          <p:cNvPr id="72" name="Freeform 18">
            <a:extLst>
              <a:ext uri="{FF2B5EF4-FFF2-40B4-BE49-F238E27FC236}">
                <a16:creationId xmlns:a16="http://schemas.microsoft.com/office/drawing/2014/main" id="{A85B0944-CED0-4864-92D3-39B40785AA9C}"/>
              </a:ext>
            </a:extLst>
          </p:cNvPr>
          <p:cNvSpPr>
            <a:spLocks noEditPoints="1"/>
          </p:cNvSpPr>
          <p:nvPr/>
        </p:nvSpPr>
        <p:spPr bwMode="auto">
          <a:xfrm>
            <a:off x="2256035" y="6500484"/>
            <a:ext cx="274050" cy="274050"/>
          </a:xfrm>
          <a:custGeom>
            <a:avLst/>
            <a:gdLst>
              <a:gd name="T0" fmla="*/ 144 w 288"/>
              <a:gd name="T1" fmla="*/ 0 h 288"/>
              <a:gd name="T2" fmla="*/ 0 w 288"/>
              <a:gd name="T3" fmla="*/ 144 h 288"/>
              <a:gd name="T4" fmla="*/ 144 w 288"/>
              <a:gd name="T5" fmla="*/ 288 h 288"/>
              <a:gd name="T6" fmla="*/ 288 w 288"/>
              <a:gd name="T7" fmla="*/ 144 h 288"/>
              <a:gd name="T8" fmla="*/ 144 w 288"/>
              <a:gd name="T9" fmla="*/ 0 h 288"/>
              <a:gd name="T10" fmla="*/ 196 w 288"/>
              <a:gd name="T11" fmla="*/ 211 h 288"/>
              <a:gd name="T12" fmla="*/ 162 w 288"/>
              <a:gd name="T13" fmla="*/ 227 h 288"/>
              <a:gd name="T14" fmla="*/ 162 w 288"/>
              <a:gd name="T15" fmla="*/ 245 h 288"/>
              <a:gd name="T16" fmla="*/ 131 w 288"/>
              <a:gd name="T17" fmla="*/ 245 h 288"/>
              <a:gd name="T18" fmla="*/ 131 w 288"/>
              <a:gd name="T19" fmla="*/ 228 h 288"/>
              <a:gd name="T20" fmla="*/ 84 w 288"/>
              <a:gd name="T21" fmla="*/ 211 h 288"/>
              <a:gd name="T22" fmla="*/ 84 w 288"/>
              <a:gd name="T23" fmla="*/ 173 h 288"/>
              <a:gd name="T24" fmla="*/ 111 w 288"/>
              <a:gd name="T25" fmla="*/ 191 h 288"/>
              <a:gd name="T26" fmla="*/ 143 w 288"/>
              <a:gd name="T27" fmla="*/ 198 h 288"/>
              <a:gd name="T28" fmla="*/ 164 w 288"/>
              <a:gd name="T29" fmla="*/ 194 h 288"/>
              <a:gd name="T30" fmla="*/ 176 w 288"/>
              <a:gd name="T31" fmla="*/ 177 h 288"/>
              <a:gd name="T32" fmla="*/ 152 w 288"/>
              <a:gd name="T33" fmla="*/ 155 h 288"/>
              <a:gd name="T34" fmla="*/ 107 w 288"/>
              <a:gd name="T35" fmla="*/ 139 h 288"/>
              <a:gd name="T36" fmla="*/ 83 w 288"/>
              <a:gd name="T37" fmla="*/ 103 h 288"/>
              <a:gd name="T38" fmla="*/ 98 w 288"/>
              <a:gd name="T39" fmla="*/ 70 h 288"/>
              <a:gd name="T40" fmla="*/ 131 w 288"/>
              <a:gd name="T41" fmla="*/ 55 h 288"/>
              <a:gd name="T42" fmla="*/ 131 w 288"/>
              <a:gd name="T43" fmla="*/ 37 h 288"/>
              <a:gd name="T44" fmla="*/ 162 w 288"/>
              <a:gd name="T45" fmla="*/ 37 h 288"/>
              <a:gd name="T46" fmla="*/ 162 w 288"/>
              <a:gd name="T47" fmla="*/ 56 h 288"/>
              <a:gd name="T48" fmla="*/ 202 w 288"/>
              <a:gd name="T49" fmla="*/ 70 h 288"/>
              <a:gd name="T50" fmla="*/ 202 w 288"/>
              <a:gd name="T51" fmla="*/ 106 h 288"/>
              <a:gd name="T52" fmla="*/ 175 w 288"/>
              <a:gd name="T53" fmla="*/ 90 h 288"/>
              <a:gd name="T54" fmla="*/ 144 w 288"/>
              <a:gd name="T55" fmla="*/ 83 h 288"/>
              <a:gd name="T56" fmla="*/ 127 w 288"/>
              <a:gd name="T57" fmla="*/ 88 h 288"/>
              <a:gd name="T58" fmla="*/ 117 w 288"/>
              <a:gd name="T59" fmla="*/ 101 h 288"/>
              <a:gd name="T60" fmla="*/ 141 w 288"/>
              <a:gd name="T61" fmla="*/ 121 h 288"/>
              <a:gd name="T62" fmla="*/ 186 w 288"/>
              <a:gd name="T63" fmla="*/ 137 h 288"/>
              <a:gd name="T64" fmla="*/ 210 w 288"/>
              <a:gd name="T65" fmla="*/ 175 h 288"/>
              <a:gd name="T66" fmla="*/ 196 w 288"/>
              <a:gd name="T67" fmla="*/ 211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88" h="288">
                <a:moveTo>
                  <a:pt x="144" y="0"/>
                </a:moveTo>
                <a:cubicBezTo>
                  <a:pt x="64" y="0"/>
                  <a:pt x="0" y="64"/>
                  <a:pt x="0" y="144"/>
                </a:cubicBezTo>
                <a:cubicBezTo>
                  <a:pt x="0" y="223"/>
                  <a:pt x="64" y="288"/>
                  <a:pt x="144" y="288"/>
                </a:cubicBezTo>
                <a:cubicBezTo>
                  <a:pt x="223" y="288"/>
                  <a:pt x="288" y="223"/>
                  <a:pt x="288" y="144"/>
                </a:cubicBezTo>
                <a:cubicBezTo>
                  <a:pt x="288" y="64"/>
                  <a:pt x="223" y="0"/>
                  <a:pt x="144" y="0"/>
                </a:cubicBezTo>
                <a:close/>
                <a:moveTo>
                  <a:pt x="196" y="211"/>
                </a:moveTo>
                <a:cubicBezTo>
                  <a:pt x="188" y="219"/>
                  <a:pt x="176" y="224"/>
                  <a:pt x="162" y="227"/>
                </a:cubicBezTo>
                <a:cubicBezTo>
                  <a:pt x="162" y="245"/>
                  <a:pt x="162" y="245"/>
                  <a:pt x="162" y="245"/>
                </a:cubicBezTo>
                <a:cubicBezTo>
                  <a:pt x="131" y="245"/>
                  <a:pt x="131" y="245"/>
                  <a:pt x="131" y="245"/>
                </a:cubicBezTo>
                <a:cubicBezTo>
                  <a:pt x="131" y="228"/>
                  <a:pt x="131" y="228"/>
                  <a:pt x="131" y="228"/>
                </a:cubicBezTo>
                <a:cubicBezTo>
                  <a:pt x="116" y="227"/>
                  <a:pt x="101" y="221"/>
                  <a:pt x="84" y="211"/>
                </a:cubicBezTo>
                <a:cubicBezTo>
                  <a:pt x="84" y="173"/>
                  <a:pt x="84" y="173"/>
                  <a:pt x="84" y="173"/>
                </a:cubicBezTo>
                <a:cubicBezTo>
                  <a:pt x="95" y="181"/>
                  <a:pt x="104" y="187"/>
                  <a:pt x="111" y="191"/>
                </a:cubicBezTo>
                <a:cubicBezTo>
                  <a:pt x="121" y="196"/>
                  <a:pt x="132" y="198"/>
                  <a:pt x="143" y="198"/>
                </a:cubicBezTo>
                <a:cubicBezTo>
                  <a:pt x="152" y="198"/>
                  <a:pt x="159" y="197"/>
                  <a:pt x="164" y="194"/>
                </a:cubicBezTo>
                <a:cubicBezTo>
                  <a:pt x="172" y="190"/>
                  <a:pt x="176" y="184"/>
                  <a:pt x="176" y="177"/>
                </a:cubicBezTo>
                <a:cubicBezTo>
                  <a:pt x="176" y="168"/>
                  <a:pt x="168" y="161"/>
                  <a:pt x="152" y="155"/>
                </a:cubicBezTo>
                <a:cubicBezTo>
                  <a:pt x="123" y="145"/>
                  <a:pt x="109" y="140"/>
                  <a:pt x="107" y="139"/>
                </a:cubicBezTo>
                <a:cubicBezTo>
                  <a:pt x="91" y="131"/>
                  <a:pt x="83" y="119"/>
                  <a:pt x="83" y="103"/>
                </a:cubicBezTo>
                <a:cubicBezTo>
                  <a:pt x="83" y="89"/>
                  <a:pt x="88" y="78"/>
                  <a:pt x="98" y="70"/>
                </a:cubicBezTo>
                <a:cubicBezTo>
                  <a:pt x="107" y="62"/>
                  <a:pt x="118" y="57"/>
                  <a:pt x="131" y="55"/>
                </a:cubicBezTo>
                <a:cubicBezTo>
                  <a:pt x="131" y="37"/>
                  <a:pt x="131" y="37"/>
                  <a:pt x="131" y="37"/>
                </a:cubicBezTo>
                <a:cubicBezTo>
                  <a:pt x="162" y="37"/>
                  <a:pt x="162" y="37"/>
                  <a:pt x="162" y="37"/>
                </a:cubicBezTo>
                <a:cubicBezTo>
                  <a:pt x="162" y="56"/>
                  <a:pt x="162" y="56"/>
                  <a:pt x="162" y="56"/>
                </a:cubicBezTo>
                <a:cubicBezTo>
                  <a:pt x="176" y="58"/>
                  <a:pt x="189" y="62"/>
                  <a:pt x="202" y="70"/>
                </a:cubicBezTo>
                <a:cubicBezTo>
                  <a:pt x="202" y="106"/>
                  <a:pt x="202" y="106"/>
                  <a:pt x="202" y="106"/>
                </a:cubicBezTo>
                <a:cubicBezTo>
                  <a:pt x="190" y="98"/>
                  <a:pt x="181" y="92"/>
                  <a:pt x="175" y="90"/>
                </a:cubicBezTo>
                <a:cubicBezTo>
                  <a:pt x="165" y="85"/>
                  <a:pt x="155" y="83"/>
                  <a:pt x="144" y="83"/>
                </a:cubicBezTo>
                <a:cubicBezTo>
                  <a:pt x="138" y="83"/>
                  <a:pt x="132" y="85"/>
                  <a:pt x="127" y="88"/>
                </a:cubicBezTo>
                <a:cubicBezTo>
                  <a:pt x="120" y="91"/>
                  <a:pt x="117" y="95"/>
                  <a:pt x="117" y="101"/>
                </a:cubicBezTo>
                <a:cubicBezTo>
                  <a:pt x="117" y="109"/>
                  <a:pt x="125" y="116"/>
                  <a:pt x="141" y="121"/>
                </a:cubicBezTo>
                <a:cubicBezTo>
                  <a:pt x="167" y="129"/>
                  <a:pt x="182" y="135"/>
                  <a:pt x="186" y="137"/>
                </a:cubicBezTo>
                <a:cubicBezTo>
                  <a:pt x="202" y="146"/>
                  <a:pt x="210" y="159"/>
                  <a:pt x="210" y="175"/>
                </a:cubicBezTo>
                <a:cubicBezTo>
                  <a:pt x="210" y="190"/>
                  <a:pt x="205" y="202"/>
                  <a:pt x="196" y="211"/>
                </a:cubicBezTo>
                <a:close/>
              </a:path>
            </a:pathLst>
          </a:custGeom>
          <a:solidFill>
            <a:srgbClr val="008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73" name="Table 6">
            <a:extLst>
              <a:ext uri="{FF2B5EF4-FFF2-40B4-BE49-F238E27FC236}">
                <a16:creationId xmlns:a16="http://schemas.microsoft.com/office/drawing/2014/main" id="{901A9D8C-C4BB-436A-9323-1CFEBD9F8B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3177427"/>
              </p:ext>
            </p:extLst>
          </p:nvPr>
        </p:nvGraphicFramePr>
        <p:xfrm>
          <a:off x="4001197" y="3360374"/>
          <a:ext cx="7955775" cy="22084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94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20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0">
                          <a:solidFill>
                            <a:schemeClr val="tx1"/>
                          </a:solidFill>
                          <a:latin typeface="+mn-lt"/>
                          <a:ea typeface="ＭＳ Ｐゴシック"/>
                          <a:cs typeface="Calibri"/>
                        </a:rPr>
                        <a:t>PLANNED ACTIVITIES FOR NEXT FEW WEEKS</a:t>
                      </a:r>
                      <a:endParaRPr lang="en-US" sz="1200" b="1">
                        <a:solidFill>
                          <a:schemeClr val="tx1"/>
                        </a:solidFill>
                        <a:latin typeface="+mn-lt"/>
                        <a:ea typeface="ＭＳ Ｐゴシック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DUE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504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Integration Portfolio Governance Introduction with Enterprise Architecture team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4/7</a:t>
                      </a: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673461"/>
                  </a:ext>
                </a:extLst>
              </a:tr>
              <a:tr h="28085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Engage with APP owners to understand priorities, work streams in progress and landscape for NextGen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4/14</a:t>
                      </a: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196980"/>
                  </a:ext>
                </a:extLst>
              </a:tr>
              <a:tr h="28085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Prepare draft Canonical Models and Release Priority for MVP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4/14</a:t>
                      </a: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6093032"/>
                  </a:ext>
                </a:extLst>
              </a:tr>
              <a:tr h="28085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Prepare MVP impacted Application integration strategy  - DRAFT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4/21</a:t>
                      </a: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2332924"/>
                  </a:ext>
                </a:extLst>
              </a:tr>
              <a:tr h="280853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Prepare Integration Strategy document, ready be presented with DT integration team by 4/12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WIP</a:t>
                      </a: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081497"/>
                  </a:ext>
                </a:extLst>
              </a:tr>
              <a:tr h="213777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strike="noStrike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8286047"/>
                  </a:ext>
                </a:extLst>
              </a:tr>
              <a:tr h="213777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strike="noStrike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45720"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4596285"/>
                  </a:ext>
                </a:extLst>
              </a:tr>
            </a:tbl>
          </a:graphicData>
        </a:graphic>
      </p:graphicFrame>
      <p:graphicFrame>
        <p:nvGraphicFramePr>
          <p:cNvPr id="74" name="Table 4">
            <a:extLst>
              <a:ext uri="{FF2B5EF4-FFF2-40B4-BE49-F238E27FC236}">
                <a16:creationId xmlns:a16="http://schemas.microsoft.com/office/drawing/2014/main" id="{EBF72164-D44B-4AB2-93B0-8CDC112F89F2}"/>
              </a:ext>
            </a:extLst>
          </p:cNvPr>
          <p:cNvGraphicFramePr>
            <a:graphicFrameLocks noGrp="1"/>
          </p:cNvGraphicFramePr>
          <p:nvPr/>
        </p:nvGraphicFramePr>
        <p:xfrm>
          <a:off x="4001197" y="1670960"/>
          <a:ext cx="7955775" cy="15195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45">
                  <a:extLst>
                    <a:ext uri="{9D8B030D-6E8A-4147-A177-3AD203B41FA5}">
                      <a16:colId xmlns:a16="http://schemas.microsoft.com/office/drawing/2014/main" val="3395070529"/>
                    </a:ext>
                  </a:extLst>
                </a:gridCol>
                <a:gridCol w="4044588">
                  <a:extLst>
                    <a:ext uri="{9D8B030D-6E8A-4147-A177-3AD203B41FA5}">
                      <a16:colId xmlns:a16="http://schemas.microsoft.com/office/drawing/2014/main" val="3864803265"/>
                    </a:ext>
                  </a:extLst>
                </a:gridCol>
                <a:gridCol w="745724">
                  <a:extLst>
                    <a:ext uri="{9D8B030D-6E8A-4147-A177-3AD203B41FA5}">
                      <a16:colId xmlns:a16="http://schemas.microsoft.com/office/drawing/2014/main" val="3027399220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3085072682"/>
                    </a:ext>
                  </a:extLst>
                </a:gridCol>
                <a:gridCol w="994299">
                  <a:extLst>
                    <a:ext uri="{9D8B030D-6E8A-4147-A177-3AD203B41FA5}">
                      <a16:colId xmlns:a16="http://schemas.microsoft.com/office/drawing/2014/main" val="4151964516"/>
                    </a:ext>
                  </a:extLst>
                </a:gridCol>
                <a:gridCol w="1099583">
                  <a:extLst>
                    <a:ext uri="{9D8B030D-6E8A-4147-A177-3AD203B41FA5}">
                      <a16:colId xmlns:a16="http://schemas.microsoft.com/office/drawing/2014/main" val="1508659131"/>
                    </a:ext>
                  </a:extLst>
                </a:gridCol>
              </a:tblGrid>
              <a:tr h="378497">
                <a:tc gridSpan="2">
                  <a:txBody>
                    <a:bodyPr/>
                    <a:lstStyle/>
                    <a:p>
                      <a:pPr marL="0" marR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1" kern="0">
                          <a:solidFill>
                            <a:schemeClr val="tx1"/>
                          </a:solidFill>
                          <a:latin typeface="+mn-lt"/>
                          <a:ea typeface="ＭＳ Ｐゴシック"/>
                          <a:cs typeface="Calibri"/>
                        </a:rPr>
                        <a:t>KEY</a:t>
                      </a:r>
                      <a:r>
                        <a:rPr lang="en-US" sz="1200" b="1" kern="0" baseline="0">
                          <a:solidFill>
                            <a:schemeClr val="tx1"/>
                          </a:solidFill>
                          <a:latin typeface="+mn-lt"/>
                          <a:ea typeface="ＭＳ Ｐゴシック"/>
                          <a:cs typeface="Calibri"/>
                        </a:rPr>
                        <a:t> CHALLENGES </a:t>
                      </a:r>
                      <a:endParaRPr lang="en-US" sz="1200" b="1" kern="0" baseline="0">
                        <a:solidFill>
                          <a:schemeClr val="tx1"/>
                        </a:solidFill>
                        <a:latin typeface="+mn-lt"/>
                        <a:ea typeface="ＭＳ Ｐゴシック" charset="0"/>
                        <a:cs typeface="Calibri" panose="020F050202020403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0" baseline="0">
                          <a:solidFill>
                            <a:schemeClr val="tx1"/>
                          </a:solidFill>
                          <a:latin typeface="+mn-lt"/>
                          <a:ea typeface="ＭＳ Ｐゴシック"/>
                          <a:cs typeface="Calibri"/>
                        </a:rPr>
                        <a:t>(R = Risk, I = Issue, A = Action, D = Decision)</a:t>
                      </a:r>
                      <a:endParaRPr lang="en-US" sz="900" b="1">
                        <a:solidFill>
                          <a:schemeClr val="tx1"/>
                        </a:solidFill>
                        <a:latin typeface="+mn-lt"/>
                        <a:ea typeface="ＭＳ Ｐゴシック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OPEN </a:t>
                      </a:r>
                    </a:p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DATE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OWNER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PLAN TO</a:t>
                      </a:r>
                    </a:p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 CLOSE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HELP </a:t>
                      </a:r>
                    </a:p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NEEDED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8944806"/>
                  </a:ext>
                </a:extLst>
              </a:tr>
              <a:tr h="32542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A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noProof="0" dirty="0">
                          <a:effectLst/>
                        </a:rPr>
                        <a:t>Need to set regular cadence with the core IPG team to understand other ongoing initiatives – By 4/14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/>
                        </a:rPr>
                        <a:t>4/6</a:t>
                      </a: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94362562"/>
                  </a:ext>
                </a:extLst>
              </a:tr>
              <a:tr h="32542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58722463"/>
                  </a:ext>
                </a:extLst>
              </a:tr>
              <a:tr h="32542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T="34290" marB="3429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46212416"/>
                  </a:ext>
                </a:extLst>
              </a:tr>
            </a:tbl>
          </a:graphicData>
        </a:graphic>
      </p:graphicFrame>
      <p:grpSp>
        <p:nvGrpSpPr>
          <p:cNvPr id="75" name="Group 74">
            <a:extLst>
              <a:ext uri="{FF2B5EF4-FFF2-40B4-BE49-F238E27FC236}">
                <a16:creationId xmlns:a16="http://schemas.microsoft.com/office/drawing/2014/main" id="{6D1D85A7-FFBE-4B56-BDE1-6B68796E4F46}"/>
              </a:ext>
            </a:extLst>
          </p:cNvPr>
          <p:cNvGrpSpPr/>
          <p:nvPr/>
        </p:nvGrpSpPr>
        <p:grpSpPr>
          <a:xfrm>
            <a:off x="453690" y="6183677"/>
            <a:ext cx="287492" cy="260840"/>
            <a:chOff x="6361113" y="2438400"/>
            <a:chExt cx="1192213" cy="1084263"/>
          </a:xfrm>
          <a:solidFill>
            <a:srgbClr val="008000"/>
          </a:solidFill>
        </p:grpSpPr>
        <p:sp>
          <p:nvSpPr>
            <p:cNvPr id="76" name="Freeform 21">
              <a:extLst>
                <a:ext uri="{FF2B5EF4-FFF2-40B4-BE49-F238E27FC236}">
                  <a16:creationId xmlns:a16="http://schemas.microsoft.com/office/drawing/2014/main" id="{07F99712-2C68-4FD8-93E9-C94BE92E6E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61113" y="2706688"/>
              <a:ext cx="1192213" cy="560388"/>
            </a:xfrm>
            <a:custGeom>
              <a:avLst/>
              <a:gdLst>
                <a:gd name="T0" fmla="*/ 751 w 751"/>
                <a:gd name="T1" fmla="*/ 0 h 353"/>
                <a:gd name="T2" fmla="*/ 0 w 751"/>
                <a:gd name="T3" fmla="*/ 0 h 353"/>
                <a:gd name="T4" fmla="*/ 0 w 751"/>
                <a:gd name="T5" fmla="*/ 353 h 353"/>
                <a:gd name="T6" fmla="*/ 751 w 751"/>
                <a:gd name="T7" fmla="*/ 353 h 353"/>
                <a:gd name="T8" fmla="*/ 751 w 751"/>
                <a:gd name="T9" fmla="*/ 0 h 353"/>
                <a:gd name="T10" fmla="*/ 232 w 751"/>
                <a:gd name="T11" fmla="*/ 173 h 353"/>
                <a:gd name="T12" fmla="*/ 232 w 751"/>
                <a:gd name="T13" fmla="*/ 265 h 353"/>
                <a:gd name="T14" fmla="*/ 69 w 751"/>
                <a:gd name="T15" fmla="*/ 161 h 353"/>
                <a:gd name="T16" fmla="*/ 232 w 751"/>
                <a:gd name="T17" fmla="*/ 57 h 353"/>
                <a:gd name="T18" fmla="*/ 232 w 751"/>
                <a:gd name="T19" fmla="*/ 149 h 353"/>
                <a:gd name="T20" fmla="*/ 523 w 751"/>
                <a:gd name="T21" fmla="*/ 149 h 353"/>
                <a:gd name="T22" fmla="*/ 523 w 751"/>
                <a:gd name="T23" fmla="*/ 57 h 353"/>
                <a:gd name="T24" fmla="*/ 687 w 751"/>
                <a:gd name="T25" fmla="*/ 161 h 353"/>
                <a:gd name="T26" fmla="*/ 523 w 751"/>
                <a:gd name="T27" fmla="*/ 265 h 353"/>
                <a:gd name="T28" fmla="*/ 523 w 751"/>
                <a:gd name="T29" fmla="*/ 173 h 353"/>
                <a:gd name="T30" fmla="*/ 232 w 751"/>
                <a:gd name="T31" fmla="*/ 173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51" h="353">
                  <a:moveTo>
                    <a:pt x="751" y="0"/>
                  </a:moveTo>
                  <a:lnTo>
                    <a:pt x="0" y="0"/>
                  </a:lnTo>
                  <a:lnTo>
                    <a:pt x="0" y="353"/>
                  </a:lnTo>
                  <a:lnTo>
                    <a:pt x="751" y="353"/>
                  </a:lnTo>
                  <a:lnTo>
                    <a:pt x="751" y="0"/>
                  </a:lnTo>
                  <a:close/>
                  <a:moveTo>
                    <a:pt x="232" y="173"/>
                  </a:moveTo>
                  <a:lnTo>
                    <a:pt x="232" y="265"/>
                  </a:lnTo>
                  <a:lnTo>
                    <a:pt x="69" y="161"/>
                  </a:lnTo>
                  <a:lnTo>
                    <a:pt x="232" y="57"/>
                  </a:lnTo>
                  <a:lnTo>
                    <a:pt x="232" y="149"/>
                  </a:lnTo>
                  <a:lnTo>
                    <a:pt x="523" y="149"/>
                  </a:lnTo>
                  <a:lnTo>
                    <a:pt x="523" y="57"/>
                  </a:lnTo>
                  <a:lnTo>
                    <a:pt x="687" y="161"/>
                  </a:lnTo>
                  <a:lnTo>
                    <a:pt x="523" y="265"/>
                  </a:lnTo>
                  <a:lnTo>
                    <a:pt x="523" y="173"/>
                  </a:lnTo>
                  <a:lnTo>
                    <a:pt x="232" y="17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2" tIns="45712" rIns="91422" bIns="45712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77" name="Freeform 22">
              <a:extLst>
                <a:ext uri="{FF2B5EF4-FFF2-40B4-BE49-F238E27FC236}">
                  <a16:creationId xmlns:a16="http://schemas.microsoft.com/office/drawing/2014/main" id="{35FD81B7-4D87-44FD-8156-5C1D8FE7C5C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1113" y="2438400"/>
              <a:ext cx="1192213" cy="230188"/>
            </a:xfrm>
            <a:custGeom>
              <a:avLst/>
              <a:gdLst>
                <a:gd name="T0" fmla="*/ 751 w 751"/>
                <a:gd name="T1" fmla="*/ 0 h 145"/>
                <a:gd name="T2" fmla="*/ 599 w 751"/>
                <a:gd name="T3" fmla="*/ 0 h 145"/>
                <a:gd name="T4" fmla="*/ 599 w 751"/>
                <a:gd name="T5" fmla="*/ 83 h 145"/>
                <a:gd name="T6" fmla="*/ 576 w 751"/>
                <a:gd name="T7" fmla="*/ 83 h 145"/>
                <a:gd name="T8" fmla="*/ 576 w 751"/>
                <a:gd name="T9" fmla="*/ 0 h 145"/>
                <a:gd name="T10" fmla="*/ 393 w 751"/>
                <a:gd name="T11" fmla="*/ 0 h 145"/>
                <a:gd name="T12" fmla="*/ 393 w 751"/>
                <a:gd name="T13" fmla="*/ 83 h 145"/>
                <a:gd name="T14" fmla="*/ 370 w 751"/>
                <a:gd name="T15" fmla="*/ 83 h 145"/>
                <a:gd name="T16" fmla="*/ 370 w 751"/>
                <a:gd name="T17" fmla="*/ 0 h 145"/>
                <a:gd name="T18" fmla="*/ 161 w 751"/>
                <a:gd name="T19" fmla="*/ 0 h 145"/>
                <a:gd name="T20" fmla="*/ 161 w 751"/>
                <a:gd name="T21" fmla="*/ 83 h 145"/>
                <a:gd name="T22" fmla="*/ 137 w 751"/>
                <a:gd name="T23" fmla="*/ 83 h 145"/>
                <a:gd name="T24" fmla="*/ 137 w 751"/>
                <a:gd name="T25" fmla="*/ 0 h 145"/>
                <a:gd name="T26" fmla="*/ 0 w 751"/>
                <a:gd name="T27" fmla="*/ 0 h 145"/>
                <a:gd name="T28" fmla="*/ 0 w 751"/>
                <a:gd name="T29" fmla="*/ 145 h 145"/>
                <a:gd name="T30" fmla="*/ 751 w 751"/>
                <a:gd name="T31" fmla="*/ 145 h 145"/>
                <a:gd name="T32" fmla="*/ 751 w 751"/>
                <a:gd name="T33" fmla="*/ 0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51" h="145">
                  <a:moveTo>
                    <a:pt x="751" y="0"/>
                  </a:moveTo>
                  <a:lnTo>
                    <a:pt x="599" y="0"/>
                  </a:lnTo>
                  <a:lnTo>
                    <a:pt x="599" y="83"/>
                  </a:lnTo>
                  <a:lnTo>
                    <a:pt x="576" y="83"/>
                  </a:lnTo>
                  <a:lnTo>
                    <a:pt x="576" y="0"/>
                  </a:lnTo>
                  <a:lnTo>
                    <a:pt x="393" y="0"/>
                  </a:lnTo>
                  <a:lnTo>
                    <a:pt x="393" y="83"/>
                  </a:lnTo>
                  <a:lnTo>
                    <a:pt x="370" y="83"/>
                  </a:lnTo>
                  <a:lnTo>
                    <a:pt x="370" y="0"/>
                  </a:lnTo>
                  <a:lnTo>
                    <a:pt x="161" y="0"/>
                  </a:lnTo>
                  <a:lnTo>
                    <a:pt x="161" y="83"/>
                  </a:lnTo>
                  <a:lnTo>
                    <a:pt x="137" y="83"/>
                  </a:lnTo>
                  <a:lnTo>
                    <a:pt x="137" y="0"/>
                  </a:lnTo>
                  <a:lnTo>
                    <a:pt x="0" y="0"/>
                  </a:lnTo>
                  <a:lnTo>
                    <a:pt x="0" y="145"/>
                  </a:lnTo>
                  <a:lnTo>
                    <a:pt x="751" y="145"/>
                  </a:lnTo>
                  <a:lnTo>
                    <a:pt x="7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2" tIns="45712" rIns="91422" bIns="45712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78" name="Freeform 23">
              <a:extLst>
                <a:ext uri="{FF2B5EF4-FFF2-40B4-BE49-F238E27FC236}">
                  <a16:creationId xmlns:a16="http://schemas.microsoft.com/office/drawing/2014/main" id="{EDCE3E85-1643-4F8A-AED7-2920DD7A56F1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1113" y="3305175"/>
              <a:ext cx="1192213" cy="217488"/>
            </a:xfrm>
            <a:custGeom>
              <a:avLst/>
              <a:gdLst>
                <a:gd name="T0" fmla="*/ 0 w 751"/>
                <a:gd name="T1" fmla="*/ 137 h 137"/>
                <a:gd name="T2" fmla="*/ 137 w 751"/>
                <a:gd name="T3" fmla="*/ 137 h 137"/>
                <a:gd name="T4" fmla="*/ 137 w 751"/>
                <a:gd name="T5" fmla="*/ 54 h 137"/>
                <a:gd name="T6" fmla="*/ 161 w 751"/>
                <a:gd name="T7" fmla="*/ 54 h 137"/>
                <a:gd name="T8" fmla="*/ 161 w 751"/>
                <a:gd name="T9" fmla="*/ 137 h 137"/>
                <a:gd name="T10" fmla="*/ 370 w 751"/>
                <a:gd name="T11" fmla="*/ 137 h 137"/>
                <a:gd name="T12" fmla="*/ 370 w 751"/>
                <a:gd name="T13" fmla="*/ 54 h 137"/>
                <a:gd name="T14" fmla="*/ 393 w 751"/>
                <a:gd name="T15" fmla="*/ 54 h 137"/>
                <a:gd name="T16" fmla="*/ 393 w 751"/>
                <a:gd name="T17" fmla="*/ 137 h 137"/>
                <a:gd name="T18" fmla="*/ 576 w 751"/>
                <a:gd name="T19" fmla="*/ 137 h 137"/>
                <a:gd name="T20" fmla="*/ 576 w 751"/>
                <a:gd name="T21" fmla="*/ 54 h 137"/>
                <a:gd name="T22" fmla="*/ 599 w 751"/>
                <a:gd name="T23" fmla="*/ 54 h 137"/>
                <a:gd name="T24" fmla="*/ 599 w 751"/>
                <a:gd name="T25" fmla="*/ 137 h 137"/>
                <a:gd name="T26" fmla="*/ 751 w 751"/>
                <a:gd name="T27" fmla="*/ 137 h 137"/>
                <a:gd name="T28" fmla="*/ 751 w 751"/>
                <a:gd name="T29" fmla="*/ 0 h 137"/>
                <a:gd name="T30" fmla="*/ 0 w 751"/>
                <a:gd name="T31" fmla="*/ 0 h 137"/>
                <a:gd name="T32" fmla="*/ 0 w 751"/>
                <a:gd name="T33" fmla="*/ 13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51" h="137">
                  <a:moveTo>
                    <a:pt x="0" y="137"/>
                  </a:moveTo>
                  <a:lnTo>
                    <a:pt x="137" y="137"/>
                  </a:lnTo>
                  <a:lnTo>
                    <a:pt x="137" y="54"/>
                  </a:lnTo>
                  <a:lnTo>
                    <a:pt x="161" y="54"/>
                  </a:lnTo>
                  <a:lnTo>
                    <a:pt x="161" y="137"/>
                  </a:lnTo>
                  <a:lnTo>
                    <a:pt x="370" y="137"/>
                  </a:lnTo>
                  <a:lnTo>
                    <a:pt x="370" y="54"/>
                  </a:lnTo>
                  <a:lnTo>
                    <a:pt x="393" y="54"/>
                  </a:lnTo>
                  <a:lnTo>
                    <a:pt x="393" y="137"/>
                  </a:lnTo>
                  <a:lnTo>
                    <a:pt x="576" y="137"/>
                  </a:lnTo>
                  <a:lnTo>
                    <a:pt x="576" y="54"/>
                  </a:lnTo>
                  <a:lnTo>
                    <a:pt x="599" y="54"/>
                  </a:lnTo>
                  <a:lnTo>
                    <a:pt x="599" y="137"/>
                  </a:lnTo>
                  <a:lnTo>
                    <a:pt x="751" y="137"/>
                  </a:lnTo>
                  <a:lnTo>
                    <a:pt x="751" y="0"/>
                  </a:lnTo>
                  <a:lnTo>
                    <a:pt x="0" y="0"/>
                  </a:lnTo>
                  <a:lnTo>
                    <a:pt x="0" y="137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2" tIns="45712" rIns="91422" bIns="45712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endParaRPr>
            </a:p>
          </p:txBody>
        </p:sp>
      </p:grpSp>
      <p:graphicFrame>
        <p:nvGraphicFramePr>
          <p:cNvPr id="79" name="Table 78">
            <a:extLst>
              <a:ext uri="{FF2B5EF4-FFF2-40B4-BE49-F238E27FC236}">
                <a16:creationId xmlns:a16="http://schemas.microsoft.com/office/drawing/2014/main" id="{DBE5DBDB-7191-423C-A7BA-1D06B26A7EEC}"/>
              </a:ext>
            </a:extLst>
          </p:cNvPr>
          <p:cNvGraphicFramePr>
            <a:graphicFrameLocks noGrp="1"/>
          </p:cNvGraphicFramePr>
          <p:nvPr/>
        </p:nvGraphicFramePr>
        <p:xfrm>
          <a:off x="4001197" y="5694644"/>
          <a:ext cx="7955774" cy="10977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350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0747">
                  <a:extLst>
                    <a:ext uri="{9D8B030D-6E8A-4147-A177-3AD203B41FA5}">
                      <a16:colId xmlns:a16="http://schemas.microsoft.com/office/drawing/2014/main" val="109970816"/>
                    </a:ext>
                  </a:extLst>
                </a:gridCol>
              </a:tblGrid>
              <a:tr h="27455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</a:rPr>
                        <a:t>KEY ACCOMPLISHMENTS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</a:rPr>
                        <a:t>COMPLETED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5661"/>
                  </a:ext>
                </a:extLst>
              </a:tr>
              <a:tr h="27455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0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Base generic entity relationship models have been identified for MVP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None/>
                        <a:tabLst/>
                        <a:defRPr/>
                      </a:pPr>
                      <a:r>
                        <a:rPr lang="en-US" sz="1200" b="0" i="0" u="none" strike="noStrike" kern="1200" baseline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623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None/>
                        <a:tabLst/>
                        <a:defRPr/>
                      </a:pPr>
                      <a:endParaRPr lang="en-US" sz="1200" b="0" i="0" u="none" strike="noStrike" kern="1200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None/>
                        <a:tabLst/>
                        <a:defRPr/>
                      </a:pPr>
                      <a:endParaRPr lang="en-US" sz="1200" b="0" i="0" u="none" strike="noStrike" kern="1200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316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None/>
                        <a:tabLst/>
                        <a:defRPr/>
                      </a:pPr>
                      <a:endParaRPr lang="en-US" sz="1200" b="0" i="0" u="none" strike="noStrike" kern="1200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None/>
                        <a:tabLst/>
                        <a:defRPr/>
                      </a:pPr>
                      <a:endParaRPr lang="en-US" sz="1200" b="0" i="0" u="none" strike="noStrike" kern="1200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3126255"/>
                  </a:ext>
                </a:extLst>
              </a:tr>
            </a:tbl>
          </a:graphicData>
        </a:graphic>
      </p:graphicFrame>
      <p:graphicFrame>
        <p:nvGraphicFramePr>
          <p:cNvPr id="81" name="Table 80">
            <a:extLst>
              <a:ext uri="{FF2B5EF4-FFF2-40B4-BE49-F238E27FC236}">
                <a16:creationId xmlns:a16="http://schemas.microsoft.com/office/drawing/2014/main" id="{73DE2A73-F124-49CE-A59E-E8FEE3C3DFDD}"/>
              </a:ext>
            </a:extLst>
          </p:cNvPr>
          <p:cNvGraphicFramePr>
            <a:graphicFrameLocks noGrp="1"/>
          </p:cNvGraphicFramePr>
          <p:nvPr/>
        </p:nvGraphicFramePr>
        <p:xfrm>
          <a:off x="353676" y="1670960"/>
          <a:ext cx="3551879" cy="162755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518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883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kern="12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Calibri"/>
                        </a:rPr>
                        <a:t>HEADLINES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5661"/>
                  </a:ext>
                </a:extLst>
              </a:tr>
              <a:tr h="1115643">
                <a:tc>
                  <a:txBody>
                    <a:bodyPr/>
                    <a:lstStyle/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Char char="•"/>
                      </a:pPr>
                      <a:r>
                        <a:rPr lang="en-US" sz="1200" b="0" i="0" u="none" strike="noStrike" kern="1200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Engaged with Enterprise Architecture team</a:t>
                      </a:r>
                    </a:p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Char char="•"/>
                      </a:pPr>
                      <a:r>
                        <a:rPr lang="en-US" sz="1200" b="0" i="0" u="none" strike="noStrike" kern="1200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Participated in project kickoff sessions, oracle foundation session and MVP breakout planning</a:t>
                      </a:r>
                    </a:p>
                    <a:p>
                      <a:pPr marL="171450" marR="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Char char="•"/>
                      </a:pPr>
                      <a:r>
                        <a:rPr lang="en-US" sz="1200" b="0" i="0" u="none" strike="noStrike" kern="1200" baseline="0" noProof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Integration strategy and portfolio governance planning in progress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 panose="020B0604020202020204" pitchFamily="34" charset="0"/>
                        <a:buNone/>
                      </a:pPr>
                      <a:endParaRPr lang="en-US" sz="1200" b="0" i="0" u="none" strike="noStrike" kern="1200" baseline="0" noProof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0238529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F764E9-397A-4FEE-BE8F-0A55A10FA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45439" y="6461653"/>
            <a:ext cx="220453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3792D4-8FCB-4391-8F5D-038B8C6DF52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3263039-D033-DE38-765A-DE209481C485}"/>
              </a:ext>
            </a:extLst>
          </p:cNvPr>
          <p:cNvGraphicFramePr>
            <a:graphicFrameLocks noGrp="1"/>
          </p:cNvGraphicFramePr>
          <p:nvPr/>
        </p:nvGraphicFramePr>
        <p:xfrm>
          <a:off x="353675" y="763141"/>
          <a:ext cx="11591756" cy="42670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81868">
                  <a:extLst>
                    <a:ext uri="{9D8B030D-6E8A-4147-A177-3AD203B41FA5}">
                      <a16:colId xmlns:a16="http://schemas.microsoft.com/office/drawing/2014/main" val="2898324739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3275364168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207057190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1111045007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2372449577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4029764863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889824718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3981899127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922606471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2064739150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2725813581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1730589314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65324447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481295919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1412010560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915115077"/>
                    </a:ext>
                  </a:extLst>
                </a:gridCol>
                <a:gridCol w="681868">
                  <a:extLst>
                    <a:ext uri="{9D8B030D-6E8A-4147-A177-3AD203B41FA5}">
                      <a16:colId xmlns:a16="http://schemas.microsoft.com/office/drawing/2014/main" val="251029071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Period 2 Q1</a:t>
                      </a:r>
                      <a:endParaRPr sz="1000" b="1" u="none" strike="noStrike" cap="none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Period 3 Q1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1" u="none" strike="noStrike" cap="none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Period 4 Q2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lang="en-US"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lang="en-US"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lang="en-US"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1" u="none" strike="noStrike" cap="none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Period 5 Q2</a:t>
                      </a:r>
                      <a:endParaRPr sz="1000" b="1" u="none" strike="noStrike" cap="none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1" u="none" strike="noStrike" cap="none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Period 5 Q2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1" u="none" strike="noStrike" cap="none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Period 6 Q2</a:t>
                      </a:r>
                      <a:endParaRPr sz="1000" b="1" u="none" strike="noStrike" cap="none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endParaRPr sz="1000" b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177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cap="none" dirty="0">
                          <a:solidFill>
                            <a:schemeClr val="bg1"/>
                          </a:solidFill>
                          <a:latin typeface="Calibri"/>
                          <a:cs typeface="Calibri"/>
                        </a:rPr>
                        <a:t>03/20</a:t>
                      </a:r>
                    </a:p>
                  </a:txBody>
                  <a:tcPr marL="162515" marR="162515" marT="60953" marB="60953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 dirty="0">
                          <a:solidFill>
                            <a:schemeClr val="bg1"/>
                          </a:solidFill>
                          <a:latin typeface="Calibri"/>
                          <a:ea typeface="+mn-ea"/>
                          <a:cs typeface="Calibri"/>
                        </a:rPr>
                        <a:t>03/27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 dirty="0">
                          <a:solidFill>
                            <a:schemeClr val="bg1"/>
                          </a:solidFill>
                          <a:latin typeface="Calibri"/>
                          <a:ea typeface="+mn-ea"/>
                          <a:cs typeface="Calibri"/>
                        </a:rPr>
                        <a:t>4/3</a:t>
                      </a:r>
                    </a:p>
                  </a:txBody>
                  <a:tcPr marL="162515" marR="162515" marT="60953" marB="6095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cap="none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04/10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cap="none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04/17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04/24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05/01</a:t>
                      </a:r>
                    </a:p>
                  </a:txBody>
                  <a:tcPr marL="162515" marR="162515" marT="60953" marB="60953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05/08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05/15</a:t>
                      </a:r>
                      <a:endParaRPr sz="1000" b="0" u="none" strike="noStrike" kern="1200" cap="none" dirty="0">
                        <a:solidFill>
                          <a:schemeClr val="tx1"/>
                        </a:solidFill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05/22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5/29</a:t>
                      </a:r>
                    </a:p>
                  </a:txBody>
                  <a:tcPr marL="162515" marR="162515" marT="60953" marB="60953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06/05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06/12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0" u="none" strike="noStrike" kern="1200" cap="none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06/19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06/26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07/03</a:t>
                      </a:r>
                    </a:p>
                  </a:txBody>
                  <a:tcPr marL="162515" marR="162515" marT="60953" marB="60953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ct val="25000"/>
                        <a:buFont typeface="Arial"/>
                        <a:buNone/>
                      </a:pPr>
                      <a:r>
                        <a:rPr lang="en-US" sz="1000" b="0" u="none" strike="noStrike" kern="1200" cap="none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07/10</a:t>
                      </a:r>
                    </a:p>
                  </a:txBody>
                  <a:tcPr marL="162515" marR="162515" marT="60953" marB="60953" anchor="ctr">
                    <a:lnL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7218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3267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A7025D3E-CA90-0A8B-472F-91D159D546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000" y="691772"/>
            <a:ext cx="10687313" cy="5701077"/>
          </a:xfrm>
          <a:prstGeom prst="rect">
            <a:avLst/>
          </a:prstGeom>
        </p:spPr>
      </p:pic>
      <p:pic>
        <p:nvPicPr>
          <p:cNvPr id="31" name="Picture 30" descr="A picture containing text&#10;&#10;Description automatically generated">
            <a:extLst>
              <a:ext uri="{FF2B5EF4-FFF2-40B4-BE49-F238E27FC236}">
                <a16:creationId xmlns:a16="http://schemas.microsoft.com/office/drawing/2014/main" id="{B84760FD-ED11-447A-98DC-B14AB67BF5B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2253" r="32706" b="-593"/>
          <a:stretch/>
        </p:blipFill>
        <p:spPr>
          <a:xfrm>
            <a:off x="0" y="5388711"/>
            <a:ext cx="6372225" cy="1509109"/>
          </a:xfrm>
          <a:prstGeom prst="rect">
            <a:avLst/>
          </a:prstGeom>
        </p:spPr>
      </p:pic>
      <p:pic>
        <p:nvPicPr>
          <p:cNvPr id="32" name="Picture 31" descr="A picture containing text&#10;&#10;Description automatically generated">
            <a:extLst>
              <a:ext uri="{FF2B5EF4-FFF2-40B4-BE49-F238E27FC236}">
                <a16:creationId xmlns:a16="http://schemas.microsoft.com/office/drawing/2014/main" id="{E6557336-DE31-4356-A2FB-52C80125FB4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6960" r="37534" b="-593"/>
          <a:stretch/>
        </p:blipFill>
        <p:spPr>
          <a:xfrm flipH="1">
            <a:off x="7072311" y="6269474"/>
            <a:ext cx="5119687" cy="628346"/>
          </a:xfrm>
          <a:prstGeom prst="rect">
            <a:avLst/>
          </a:prstGeom>
        </p:spPr>
      </p:pic>
      <p:sp>
        <p:nvSpPr>
          <p:cNvPr id="37" name="Title 1">
            <a:extLst>
              <a:ext uri="{FF2B5EF4-FFF2-40B4-BE49-F238E27FC236}">
                <a16:creationId xmlns:a16="http://schemas.microsoft.com/office/drawing/2014/main" id="{A6816D6F-3C93-4D13-B12A-55BE78879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27" y="-40817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Enterprise Service Layer </a:t>
            </a:r>
          </a:p>
        </p:txBody>
      </p:sp>
    </p:spTree>
    <p:extLst>
      <p:ext uri="{BB962C8B-B14F-4D97-AF65-F5344CB8AC3E}">
        <p14:creationId xmlns:p14="http://schemas.microsoft.com/office/powerpoint/2010/main" val="3000285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31170B-AA13-DA87-B1EB-2E44E96D4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44"/>
            <a:ext cx="12192000" cy="6837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00219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J.5IAAuyGoKwpBDiQ5R9w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89B22BE06811840A13B8778E93A5EB1" ma:contentTypeVersion="6" ma:contentTypeDescription="Create a new document." ma:contentTypeScope="" ma:versionID="e6bb28ec8651c068d8d863d80df6bcd3">
  <xsd:schema xmlns:xsd="http://www.w3.org/2001/XMLSchema" xmlns:xs="http://www.w3.org/2001/XMLSchema" xmlns:p="http://schemas.microsoft.com/office/2006/metadata/properties" xmlns:ns2="60abb974-290a-4d2d-a7d7-9131eff0095d" xmlns:ns3="5f71fc39-fc89-4395-9438-cea9f45828f0" targetNamespace="http://schemas.microsoft.com/office/2006/metadata/properties" ma:root="true" ma:fieldsID="8a2dda2680ab78bb2d82e23db40a902c" ns2:_="" ns3:_="">
    <xsd:import namespace="60abb974-290a-4d2d-a7d7-9131eff0095d"/>
    <xsd:import namespace="5f71fc39-fc89-4395-9438-cea9f45828f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abb974-290a-4d2d-a7d7-9131eff009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71fc39-fc89-4395-9438-cea9f45828f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3C0B813-B48B-41B5-BE72-CC76D4D292FA}">
  <ds:schemaRefs>
    <ds:schemaRef ds:uri="5f71fc39-fc89-4395-9438-cea9f45828f0"/>
    <ds:schemaRef ds:uri="60abb974-290a-4d2d-a7d7-9131eff0095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5586B7F-1F04-4CB1-ADB6-84562D97203E}">
  <ds:schemaRefs>
    <ds:schemaRef ds:uri="5f71fc39-fc89-4395-9438-cea9f45828f0"/>
    <ds:schemaRef ds:uri="60abb974-290a-4d2d-a7d7-9131eff0095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D397B7F-F298-466F-9FFE-9E81B6E444C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2969</TotalTime>
  <Words>692</Words>
  <Application>Microsoft Office PowerPoint</Application>
  <PresentationFormat>Widescreen</PresentationFormat>
  <Paragraphs>133</Paragraphs>
  <Slides>9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Arial</vt:lpstr>
      <vt:lpstr>Arial Black</vt:lpstr>
      <vt:lpstr>Arial,Sans-Serif</vt:lpstr>
      <vt:lpstr>Calibri</vt:lpstr>
      <vt:lpstr>Calibri Light</vt:lpstr>
      <vt:lpstr>Open Sans</vt:lpstr>
      <vt:lpstr>Open Sans Extrabold</vt:lpstr>
      <vt:lpstr>Wingdings 2</vt:lpstr>
      <vt:lpstr>Office Theme</vt:lpstr>
      <vt:lpstr>think-cell Slide</vt:lpstr>
      <vt:lpstr>PowerPoint Presentation</vt:lpstr>
      <vt:lpstr>Meeting Objectives</vt:lpstr>
      <vt:lpstr>IPG Key Responsibilities</vt:lpstr>
      <vt:lpstr>Work in Progress</vt:lpstr>
      <vt:lpstr>PowerPoint Presentation</vt:lpstr>
      <vt:lpstr>Immediate Next Steps week of 4/10</vt:lpstr>
      <vt:lpstr>PROJECT WEEKLY STATUS: IPG MARCH 31, 2023</vt:lpstr>
      <vt:lpstr>Enterprise Service Layer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jsomaiyya@deloitte.com</dc:creator>
  <cp:lastModifiedBy>Geoff Lyle</cp:lastModifiedBy>
  <cp:revision>5</cp:revision>
  <dcterms:created xsi:type="dcterms:W3CDTF">2023-03-07T14:03:00Z</dcterms:created>
  <dcterms:modified xsi:type="dcterms:W3CDTF">2023-04-06T17:18:31Z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a60d57e-af5b-4752-ac57-3e4f28ca11dc_Enabled">
    <vt:lpwstr>true</vt:lpwstr>
  </property>
  <property fmtid="{D5CDD505-2E9C-101B-9397-08002B2CF9AE}" pid="3" name="MSIP_Label_ea60d57e-af5b-4752-ac57-3e4f28ca11dc_SetDate">
    <vt:lpwstr>2023-03-07T14:03:00Z</vt:lpwstr>
  </property>
  <property fmtid="{D5CDD505-2E9C-101B-9397-08002B2CF9AE}" pid="4" name="MSIP_Label_ea60d57e-af5b-4752-ac57-3e4f28ca11dc_Method">
    <vt:lpwstr>Standard</vt:lpwstr>
  </property>
  <property fmtid="{D5CDD505-2E9C-101B-9397-08002B2CF9AE}" pid="5" name="MSIP_Label_ea60d57e-af5b-4752-ac57-3e4f28ca11dc_Name">
    <vt:lpwstr>ea60d57e-af5b-4752-ac57-3e4f28ca11dc</vt:lpwstr>
  </property>
  <property fmtid="{D5CDD505-2E9C-101B-9397-08002B2CF9AE}" pid="6" name="MSIP_Label_ea60d57e-af5b-4752-ac57-3e4f28ca11dc_SiteId">
    <vt:lpwstr>36da45f1-dd2c-4d1f-af13-5abe46b99921</vt:lpwstr>
  </property>
  <property fmtid="{D5CDD505-2E9C-101B-9397-08002B2CF9AE}" pid="7" name="MSIP_Label_ea60d57e-af5b-4752-ac57-3e4f28ca11dc_ActionId">
    <vt:lpwstr>9cac7322-65e2-45c4-b567-6e48e752951e</vt:lpwstr>
  </property>
  <property fmtid="{D5CDD505-2E9C-101B-9397-08002B2CF9AE}" pid="8" name="MSIP_Label_ea60d57e-af5b-4752-ac57-3e4f28ca11dc_ContentBits">
    <vt:lpwstr>0</vt:lpwstr>
  </property>
  <property fmtid="{D5CDD505-2E9C-101B-9397-08002B2CF9AE}" pid="9" name="ContentTypeId">
    <vt:lpwstr>0x010100789B22BE06811840A13B8778E93A5EB1</vt:lpwstr>
  </property>
</Properties>
</file>