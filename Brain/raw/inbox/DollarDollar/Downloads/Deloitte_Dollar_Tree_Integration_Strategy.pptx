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D0AB_34F83D49.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FFFD0BF_283BEE96.xml" ContentType="application/vnd.ms-powerpoint.comments+xml"/>
  <Override PartName="/ppt/notesSlides/notesSlide6.xml" ContentType="application/vnd.openxmlformats-officedocument.presentationml.notesSlide+xml"/>
  <Override PartName="/ppt/comments/modernComment_7FFFD0C2_8F0C303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FFD0AD_F93FEEDD.xml" ContentType="application/vnd.ms-powerpoint.comments+xml"/>
  <Override PartName="/ppt/comments/modernComment_7FFFD0AF_C532DB4E.xml" ContentType="application/vnd.ms-powerpoint.comments+xml"/>
  <Override PartName="/ppt/comments/modernComment_7FFFD0B1_2439E3C5.xml" ContentType="application/vnd.ms-powerpoint.comments+xml"/>
  <Override PartName="/ppt/comments/modernComment_7FFFD0B8_958E54EC.xml" ContentType="application/vnd.ms-powerpoint.comments+xml"/>
  <Override PartName="/ppt/comments/modernComment_7FFFD0B6_636E0FD3.xml" ContentType="application/vnd.ms-powerpoint.comments+xml"/>
  <Override PartName="/ppt/notesSlides/notesSlide9.xml" ContentType="application/vnd.openxmlformats-officedocument.presentationml.notesSlide+xml"/>
  <Override PartName="/ppt/comments/modernComment_7FE4DBC3_72A01B5D.xml" ContentType="application/vnd.ms-powerpoint.comments+xml"/>
  <Override PartName="/ppt/notesSlides/notesSlide10.xml" ContentType="application/vnd.openxmlformats-officedocument.presentationml.notesSlide+xml"/>
  <Override PartName="/ppt/comments/modernComment_7FE4DBC4_5F7CFE9D.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7FFFD0CC_2EEA13E6.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7FFFD0CB_B3960DF0.xml" ContentType="application/vnd.ms-powerpoint.comments+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sldIdLst>
    <p:sldId id="2147471519" r:id="rId5"/>
    <p:sldId id="2147471522" r:id="rId6"/>
    <p:sldId id="2147471530" r:id="rId7"/>
    <p:sldId id="2147471547" r:id="rId8"/>
    <p:sldId id="2147471531" r:id="rId9"/>
    <p:sldId id="2147471548" r:id="rId10"/>
    <p:sldId id="2147471549" r:id="rId11"/>
    <p:sldId id="2147471551" r:id="rId12"/>
    <p:sldId id="2147471565" r:id="rId13"/>
    <p:sldId id="2147471524" r:id="rId14"/>
    <p:sldId id="2147471554" r:id="rId15"/>
    <p:sldId id="2147471566" r:id="rId16"/>
    <p:sldId id="2147471533" r:id="rId17"/>
    <p:sldId id="2147471535" r:id="rId18"/>
    <p:sldId id="2147471537" r:id="rId19"/>
    <p:sldId id="2147471536" r:id="rId20"/>
    <p:sldId id="2147471538" r:id="rId21"/>
    <p:sldId id="2147471544" r:id="rId22"/>
    <p:sldId id="2147471555" r:id="rId23"/>
    <p:sldId id="2147471556" r:id="rId24"/>
    <p:sldId id="2147471542" r:id="rId25"/>
    <p:sldId id="2145704899" r:id="rId26"/>
    <p:sldId id="2145704900" r:id="rId27"/>
    <p:sldId id="2145704754" r:id="rId28"/>
    <p:sldId id="2147471540" r:id="rId29"/>
    <p:sldId id="2147471564" r:id="rId30"/>
    <p:sldId id="2147471541" r:id="rId31"/>
    <p:sldId id="2147471561" r:id="rId32"/>
    <p:sldId id="2147471545" r:id="rId33"/>
    <p:sldId id="2147471563" r:id="rId34"/>
    <p:sldId id="2147471553" r:id="rId35"/>
    <p:sldId id="2147471534" r:id="rId36"/>
    <p:sldId id="214747151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9C367AFF-54D4-4D31-BA0F-598023CCCAA6}">
          <p14:sldIdLst>
            <p14:sldId id="2147471519"/>
            <p14:sldId id="2147471522"/>
            <p14:sldId id="2147471530"/>
            <p14:sldId id="2147471547"/>
            <p14:sldId id="2147471531"/>
            <p14:sldId id="2147471548"/>
            <p14:sldId id="2147471549"/>
            <p14:sldId id="2147471551"/>
            <p14:sldId id="2147471565"/>
            <p14:sldId id="2147471524"/>
            <p14:sldId id="2147471554"/>
            <p14:sldId id="2147471566"/>
            <p14:sldId id="2147471533"/>
            <p14:sldId id="2147471535"/>
            <p14:sldId id="2147471537"/>
            <p14:sldId id="2147471536"/>
            <p14:sldId id="2147471538"/>
            <p14:sldId id="2147471544"/>
            <p14:sldId id="2147471555"/>
            <p14:sldId id="2147471556"/>
            <p14:sldId id="2147471542"/>
            <p14:sldId id="2145704899"/>
            <p14:sldId id="2145704900"/>
            <p14:sldId id="2145704754"/>
            <p14:sldId id="2147471540"/>
            <p14:sldId id="2147471564"/>
            <p14:sldId id="2147471541"/>
            <p14:sldId id="2147471561"/>
            <p14:sldId id="2147471545"/>
            <p14:sldId id="2147471563"/>
          </p14:sldIdLst>
        </p14:section>
        <p14:section name="Appendix" id="{2FA3578D-BE6E-4467-A447-4663A5F94EA8}">
          <p14:sldIdLst>
            <p14:sldId id="2147471553"/>
            <p14:sldId id="2147471534"/>
            <p14:sldId id="214747151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B19AC32-CB29-CAE2-EF41-1FD7F1E2D89C}" name="Srinivasan, Shankaran" initials="SS" userId="S::shsrinivasan@deloitte.com::0941a90f-ef28-4c8a-9127-c1af9b5efe8c" providerId="AD"/>
  <p188:author id="{9E4EDB4E-6C97-15EB-8326-0997FBFE3596}" name="Thakkar, Devangkumar" initials="TD" userId="S::dethakkar@deloitte.com::4ac1fb3a-77d4-44bc-b091-8bb958f67a41" providerId="AD"/>
  <p188:author id="{E86378A0-5BE7-10A3-0164-7F368022F5BA}" name="Khalsa, Sonia Khalsa" initials="KSK" userId="S::sokhalsa@deloitte.com::c636f597-9ace-42ab-a72f-7a1818fda409" providerId="AD"/>
  <p188:author id="{E1CC64A4-B7E8-0D93-1FE7-45F5DE6026B0}" name="Somaiyya, Jigar" initials="SJ" userId="S::jsomaiyya@deloitte.com::b98d3bb1-3b0d-46b9-b0c5-bd0e9d7b2fdd" providerId="AD"/>
  <p188:author id="{C7ECB3A7-604A-C96A-29FE-A23DC3099577}" name="Zaidi, Hasan" initials="ZH" userId="S::hazaidi@deloitte.com::ef35c43a-c6b7-4983-91af-e5db0e3d74e6" providerId="AD"/>
  <p188:author id="{0C1B9EF0-4B57-91A2-AF19-BA5C5240E9FB}" name="Arya, Poojaa" initials="AP" userId="S::phassani@deloitte.com::ad2c5045-d41e-4df5-9fe8-8ebc8620945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CB0"/>
    <a:srgbClr val="FFCD00"/>
    <a:srgbClr val="7F7F7F"/>
    <a:srgbClr val="43B02A"/>
    <a:srgbClr val="046A38"/>
    <a:srgbClr val="0076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1F30BB-F188-4003-962B-667D03A84FAF}" v="1" dt="2023-03-30T09:08:17.901"/>
    <p1510:client id="{6CD16BC9-44EA-44E8-87E4-CF6386EC4A08}" v="693" dt="2023-03-30T11:47:21.113"/>
    <p1510:client id="{7FBDF2D9-8285-9646-A200-2C90B3595556}" v="56" dt="2023-03-30T09:36:46.926"/>
    <p1510:client id="{A6EFEA14-7A9F-4CBF-A5D4-E0FF1020BCBF}" v="1" dt="2023-03-30T13:09:14.316"/>
    <p1510:client id="{D2755A1D-13FF-4E0B-8994-4CE4C0662D0B}" v="112" dt="2023-03-30T11:09:22.459"/>
    <p1510:client id="{F31402E4-2DA1-432C-A782-FE53F7C24D05}" v="1793" dt="2023-03-30T13:15:25.740"/>
  </p1510:revLst>
</p1510:revInfo>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8"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nivasan, Shankaran" userId="0941a90f-ef28-4c8a-9127-c1af9b5efe8c" providerId="ADAL" clId="{7E2ABECA-B3B6-C64A-B766-EC00A5B39DCB}"/>
    <pc:docChg chg="modSld">
      <pc:chgData name="Srinivasan, Shankaran" userId="0941a90f-ef28-4c8a-9127-c1af9b5efe8c" providerId="ADAL" clId="{7E2ABECA-B3B6-C64A-B766-EC00A5B39DCB}" dt="2023-03-29T18:40:21.866" v="19"/>
      <pc:docMkLst>
        <pc:docMk/>
      </pc:docMkLst>
      <pc:sldChg chg="addCm modNotesTx">
        <pc:chgData name="Srinivasan, Shankaran" userId="0941a90f-ef28-4c8a-9127-c1af9b5efe8c" providerId="ADAL" clId="{7E2ABECA-B3B6-C64A-B766-EC00A5B39DCB}" dt="2023-03-29T18:38:56.695" v="18"/>
        <pc:sldMkLst>
          <pc:docMk/>
          <pc:sldMk cId="4181716701" sldId="2147471533"/>
        </pc:sldMkLst>
        <pc:extLst>
          <p:ext xmlns:p="http://schemas.openxmlformats.org/presentationml/2006/main" uri="{D6D511B9-2390-475A-947B-AFAB55BFBCF1}">
            <pc226:cmChg xmlns:pc226="http://schemas.microsoft.com/office/powerpoint/2022/06/main/command" chg="add">
              <pc226:chgData name="Srinivasan, Shankaran" userId="0941a90f-ef28-4c8a-9127-c1af9b5efe8c" providerId="ADAL" clId="{7E2ABECA-B3B6-C64A-B766-EC00A5B39DCB}" dt="2023-03-29T18:38:56.695" v="18"/>
              <pc2:cmMkLst xmlns:pc2="http://schemas.microsoft.com/office/powerpoint/2019/9/main/command">
                <pc:docMk/>
                <pc:sldMk cId="4181716701" sldId="2147471533"/>
                <pc2:cmMk id="{68A20FFE-41F6-2C47-9C50-7541C63795AA}"/>
              </pc2:cmMkLst>
            </pc226:cmChg>
          </p:ext>
        </pc:extLst>
      </pc:sldChg>
      <pc:sldChg chg="addCm">
        <pc:chgData name="Srinivasan, Shankaran" userId="0941a90f-ef28-4c8a-9127-c1af9b5efe8c" providerId="ADAL" clId="{7E2ABECA-B3B6-C64A-B766-EC00A5B39DCB}" dt="2023-03-29T18:40:21.866" v="19"/>
        <pc:sldMkLst>
          <pc:docMk/>
          <pc:sldMk cId="3308444494" sldId="2147471535"/>
        </pc:sldMkLst>
        <pc:extLst>
          <p:ext xmlns:p="http://schemas.openxmlformats.org/presentationml/2006/main" uri="{D6D511B9-2390-475A-947B-AFAB55BFBCF1}">
            <pc226:cmChg xmlns:pc226="http://schemas.microsoft.com/office/powerpoint/2022/06/main/command" chg="add">
              <pc226:chgData name="Srinivasan, Shankaran" userId="0941a90f-ef28-4c8a-9127-c1af9b5efe8c" providerId="ADAL" clId="{7E2ABECA-B3B6-C64A-B766-EC00A5B39DCB}" dt="2023-03-29T18:40:21.866" v="19"/>
              <pc2:cmMkLst xmlns:pc2="http://schemas.microsoft.com/office/powerpoint/2019/9/main/command">
                <pc:docMk/>
                <pc:sldMk cId="3308444494" sldId="2147471535"/>
                <pc2:cmMk id="{9686B6F6-2A48-7146-B21C-3EF63EE4D7E6}"/>
              </pc2:cmMkLst>
            </pc226:cmChg>
          </p:ext>
        </pc:extLst>
      </pc:sldChg>
    </pc:docChg>
  </pc:docChgLst>
  <pc:docChgLst>
    <pc:chgData name="Somaiyya, Jigar" userId="b98d3bb1-3b0d-46b9-b0c5-bd0e9d7b2fdd" providerId="ADAL" clId="{F31402E4-2DA1-432C-A782-FE53F7C24D05}"/>
    <pc:docChg chg="undo custSel addSld delSld modSld sldOrd addSection modSection">
      <pc:chgData name="Somaiyya, Jigar" userId="b98d3bb1-3b0d-46b9-b0c5-bd0e9d7b2fdd" providerId="ADAL" clId="{F31402E4-2DA1-432C-A782-FE53F7C24D05}" dt="2023-03-30T13:15:25.740" v="1847"/>
      <pc:docMkLst>
        <pc:docMk/>
      </pc:docMkLst>
      <pc:sldChg chg="addSp modSp mod">
        <pc:chgData name="Somaiyya, Jigar" userId="b98d3bb1-3b0d-46b9-b0c5-bd0e9d7b2fdd" providerId="ADAL" clId="{F31402E4-2DA1-432C-A782-FE53F7C24D05}" dt="2023-03-30T08:59:43.014" v="1740" actId="3062"/>
        <pc:sldMkLst>
          <pc:docMk/>
          <pc:sldMk cId="2207324743" sldId="2145704756"/>
        </pc:sldMkLst>
        <pc:spChg chg="add mod">
          <ac:chgData name="Somaiyya, Jigar" userId="b98d3bb1-3b0d-46b9-b0c5-bd0e9d7b2fdd" providerId="ADAL" clId="{F31402E4-2DA1-432C-A782-FE53F7C24D05}" dt="2023-03-30T08:59:43.014" v="1740" actId="3062"/>
          <ac:spMkLst>
            <pc:docMk/>
            <pc:sldMk cId="2207324743" sldId="2145704756"/>
            <ac:spMk id="2" creationId="{BB2DF6D0-5B03-4264-B3F1-9FF398808207}"/>
          </ac:spMkLst>
        </pc:spChg>
      </pc:sldChg>
      <pc:sldChg chg="modCm">
        <pc:chgData name="Somaiyya, Jigar" userId="b98d3bb1-3b0d-46b9-b0c5-bd0e9d7b2fdd" providerId="ADAL" clId="{F31402E4-2DA1-432C-A782-FE53F7C24D05}" dt="2023-03-30T09:59:38.468" v="1843"/>
        <pc:sldMkLst>
          <pc:docMk/>
          <pc:sldMk cId="888683849" sldId="2147471531"/>
        </pc:sldMkLst>
      </pc:sldChg>
      <pc:sldChg chg="modCm">
        <pc:chgData name="Somaiyya, Jigar" userId="b98d3bb1-3b0d-46b9-b0c5-bd0e9d7b2fdd" providerId="ADAL" clId="{F31402E4-2DA1-432C-A782-FE53F7C24D05}" dt="2023-03-30T06:13:01.252" v="1714"/>
        <pc:sldMkLst>
          <pc:docMk/>
          <pc:sldMk cId="4181716701" sldId="2147471533"/>
        </pc:sldMkLst>
      </pc:sldChg>
      <pc:sldChg chg="ord">
        <pc:chgData name="Somaiyya, Jigar" userId="b98d3bb1-3b0d-46b9-b0c5-bd0e9d7b2fdd" providerId="ADAL" clId="{F31402E4-2DA1-432C-A782-FE53F7C24D05}" dt="2023-03-29T15:49:24.600" v="1676"/>
        <pc:sldMkLst>
          <pc:docMk/>
          <pc:sldMk cId="1655414247" sldId="2147471534"/>
        </pc:sldMkLst>
      </pc:sldChg>
      <pc:sldChg chg="modSp mod modCm">
        <pc:chgData name="Somaiyya, Jigar" userId="b98d3bb1-3b0d-46b9-b0c5-bd0e9d7b2fdd" providerId="ADAL" clId="{F31402E4-2DA1-432C-A782-FE53F7C24D05}" dt="2023-03-30T10:18:17.790" v="1846"/>
        <pc:sldMkLst>
          <pc:docMk/>
          <pc:sldMk cId="3308444494" sldId="2147471535"/>
        </pc:sldMkLst>
        <pc:spChg chg="mod">
          <ac:chgData name="Somaiyya, Jigar" userId="b98d3bb1-3b0d-46b9-b0c5-bd0e9d7b2fdd" providerId="ADAL" clId="{F31402E4-2DA1-432C-A782-FE53F7C24D05}" dt="2023-03-29T15:49:36.067" v="1677" actId="20577"/>
          <ac:spMkLst>
            <pc:docMk/>
            <pc:sldMk cId="3308444494" sldId="2147471535"/>
            <ac:spMk id="48" creationId="{48543941-42D5-439E-A8F0-961E3ACC8A59}"/>
          </ac:spMkLst>
        </pc:spChg>
      </pc:sldChg>
      <pc:sldChg chg="modSp mod">
        <pc:chgData name="Somaiyya, Jigar" userId="b98d3bb1-3b0d-46b9-b0c5-bd0e9d7b2fdd" providerId="ADAL" clId="{F31402E4-2DA1-432C-A782-FE53F7C24D05}" dt="2023-03-29T14:53:26.303" v="14" actId="732"/>
        <pc:sldMkLst>
          <pc:docMk/>
          <pc:sldMk cId="2654740515" sldId="2147471536"/>
        </pc:sldMkLst>
        <pc:picChg chg="mod modCrop">
          <ac:chgData name="Somaiyya, Jigar" userId="b98d3bb1-3b0d-46b9-b0c5-bd0e9d7b2fdd" providerId="ADAL" clId="{F31402E4-2DA1-432C-A782-FE53F7C24D05}" dt="2023-03-29T14:53:26.303" v="14" actId="732"/>
          <ac:picMkLst>
            <pc:docMk/>
            <pc:sldMk cId="2654740515" sldId="2147471536"/>
            <ac:picMk id="45" creationId="{FB215D96-5DC3-4342-A6E2-F358AD7A50FA}"/>
          </ac:picMkLst>
        </pc:picChg>
      </pc:sldChg>
      <pc:sldChg chg="modSp mod ord">
        <pc:chgData name="Somaiyya, Jigar" userId="b98d3bb1-3b0d-46b9-b0c5-bd0e9d7b2fdd" providerId="ADAL" clId="{F31402E4-2DA1-432C-A782-FE53F7C24D05}" dt="2023-03-29T15:49:53.856" v="1680"/>
        <pc:sldMkLst>
          <pc:docMk/>
          <pc:sldMk cId="607773637" sldId="2147471537"/>
        </pc:sldMkLst>
        <pc:spChg chg="mod">
          <ac:chgData name="Somaiyya, Jigar" userId="b98d3bb1-3b0d-46b9-b0c5-bd0e9d7b2fdd" providerId="ADAL" clId="{F31402E4-2DA1-432C-A782-FE53F7C24D05}" dt="2023-03-29T15:49:48.461" v="1678" actId="20577"/>
          <ac:spMkLst>
            <pc:docMk/>
            <pc:sldMk cId="607773637" sldId="2147471537"/>
            <ac:spMk id="52" creationId="{E988DC02-0488-45CA-862E-2F9E0517B4D5}"/>
          </ac:spMkLst>
        </pc:spChg>
      </pc:sldChg>
      <pc:sldChg chg="modSp mod">
        <pc:chgData name="Somaiyya, Jigar" userId="b98d3bb1-3b0d-46b9-b0c5-bd0e9d7b2fdd" providerId="ADAL" clId="{F31402E4-2DA1-432C-A782-FE53F7C24D05}" dt="2023-03-29T15:50:01.966" v="1681" actId="20577"/>
        <pc:sldMkLst>
          <pc:docMk/>
          <pc:sldMk cId="365313977" sldId="2147471538"/>
        </pc:sldMkLst>
        <pc:spChg chg="mod">
          <ac:chgData name="Somaiyya, Jigar" userId="b98d3bb1-3b0d-46b9-b0c5-bd0e9d7b2fdd" providerId="ADAL" clId="{F31402E4-2DA1-432C-A782-FE53F7C24D05}" dt="2023-03-29T15:50:01.966" v="1681" actId="20577"/>
          <ac:spMkLst>
            <pc:docMk/>
            <pc:sldMk cId="365313977" sldId="2147471538"/>
            <ac:spMk id="81" creationId="{E85E204F-DF18-436D-A87D-00D14F6ED6E9}"/>
          </ac:spMkLst>
        </pc:spChg>
        <pc:picChg chg="mod modCrop">
          <ac:chgData name="Somaiyya, Jigar" userId="b98d3bb1-3b0d-46b9-b0c5-bd0e9d7b2fdd" providerId="ADAL" clId="{F31402E4-2DA1-432C-A782-FE53F7C24D05}" dt="2023-03-29T14:53:49.331" v="15" actId="732"/>
          <ac:picMkLst>
            <pc:docMk/>
            <pc:sldMk cId="365313977" sldId="2147471538"/>
            <ac:picMk id="82" creationId="{47A0871B-1D39-4F4F-8ABA-7589084CDD04}"/>
          </ac:picMkLst>
        </pc:picChg>
      </pc:sldChg>
      <pc:sldChg chg="modCm">
        <pc:chgData name="Somaiyya, Jigar" userId="b98d3bb1-3b0d-46b9-b0c5-bd0e9d7b2fdd" providerId="ADAL" clId="{F31402E4-2DA1-432C-A782-FE53F7C24D05}" dt="2023-03-30T10:12:02.264" v="1845"/>
        <pc:sldMkLst>
          <pc:docMk/>
          <pc:sldMk cId="1668157395" sldId="2147471542"/>
        </pc:sldMkLst>
      </pc:sldChg>
      <pc:sldChg chg="modSp mod modCm">
        <pc:chgData name="Somaiyya, Jigar" userId="b98d3bb1-3b0d-46b9-b0c5-bd0e9d7b2fdd" providerId="ADAL" clId="{F31402E4-2DA1-432C-A782-FE53F7C24D05}" dt="2023-03-30T13:15:25.740" v="1847"/>
        <pc:sldMkLst>
          <pc:docMk/>
          <pc:sldMk cId="2509133036" sldId="2147471544"/>
        </pc:sldMkLst>
        <pc:graphicFrameChg chg="mod modGraphic">
          <ac:chgData name="Somaiyya, Jigar" userId="b98d3bb1-3b0d-46b9-b0c5-bd0e9d7b2fdd" providerId="ADAL" clId="{F31402E4-2DA1-432C-A782-FE53F7C24D05}" dt="2023-03-29T15:51:50.498" v="1713"/>
          <ac:graphicFrameMkLst>
            <pc:docMk/>
            <pc:sldMk cId="2509133036" sldId="2147471544"/>
            <ac:graphicFrameMk id="3" creationId="{1EADC82A-C410-4AEA-B450-78315EEE69C6}"/>
          </ac:graphicFrameMkLst>
        </pc:graphicFrameChg>
      </pc:sldChg>
      <pc:sldChg chg="addCm">
        <pc:chgData name="Somaiyya, Jigar" userId="b98d3bb1-3b0d-46b9-b0c5-bd0e9d7b2fdd" providerId="ADAL" clId="{F31402E4-2DA1-432C-A782-FE53F7C24D05}" dt="2023-03-30T09:58:07.139" v="1842"/>
        <pc:sldMkLst>
          <pc:docMk/>
          <pc:sldMk cId="675016342" sldId="2147471551"/>
        </pc:sldMkLst>
      </pc:sldChg>
      <pc:sldChg chg="modSp mod ord">
        <pc:chgData name="Somaiyya, Jigar" userId="b98d3bb1-3b0d-46b9-b0c5-bd0e9d7b2fdd" providerId="ADAL" clId="{F31402E4-2DA1-432C-A782-FE53F7C24D05}" dt="2023-03-29T15:45:40.301" v="1614"/>
        <pc:sldMkLst>
          <pc:docMk/>
          <pc:sldMk cId="2627495597" sldId="2147471553"/>
        </pc:sldMkLst>
        <pc:graphicFrameChg chg="modGraphic">
          <ac:chgData name="Somaiyya, Jigar" userId="b98d3bb1-3b0d-46b9-b0c5-bd0e9d7b2fdd" providerId="ADAL" clId="{F31402E4-2DA1-432C-A782-FE53F7C24D05}" dt="2023-03-29T14:54:50.668" v="69" actId="207"/>
          <ac:graphicFrameMkLst>
            <pc:docMk/>
            <pc:sldMk cId="2627495597" sldId="2147471553"/>
            <ac:graphicFrameMk id="28" creationId="{58FF1D86-9FC9-4DC5-A2F4-BD7B04567964}"/>
          </ac:graphicFrameMkLst>
        </pc:graphicFrameChg>
      </pc:sldChg>
      <pc:sldChg chg="addSp delSp modSp add mod">
        <pc:chgData name="Somaiyya, Jigar" userId="b98d3bb1-3b0d-46b9-b0c5-bd0e9d7b2fdd" providerId="ADAL" clId="{F31402E4-2DA1-432C-A782-FE53F7C24D05}" dt="2023-03-30T09:02:54.698" v="1841" actId="20577"/>
        <pc:sldMkLst>
          <pc:docMk/>
          <pc:sldMk cId="2399940656" sldId="2147471554"/>
        </pc:sldMkLst>
        <pc:spChg chg="mod ord">
          <ac:chgData name="Somaiyya, Jigar" userId="b98d3bb1-3b0d-46b9-b0c5-bd0e9d7b2fdd" providerId="ADAL" clId="{F31402E4-2DA1-432C-A782-FE53F7C24D05}" dt="2023-03-29T15:48:35.725" v="1672" actId="1036"/>
          <ac:spMkLst>
            <pc:docMk/>
            <pc:sldMk cId="2399940656" sldId="2147471554"/>
            <ac:spMk id="6" creationId="{4D84CB40-694C-482A-8E4D-3267DF465507}"/>
          </ac:spMkLst>
        </pc:spChg>
        <pc:spChg chg="mod">
          <ac:chgData name="Somaiyya, Jigar" userId="b98d3bb1-3b0d-46b9-b0c5-bd0e9d7b2fdd" providerId="ADAL" clId="{F31402E4-2DA1-432C-A782-FE53F7C24D05}" dt="2023-03-29T15:48:35.725" v="1672" actId="1036"/>
          <ac:spMkLst>
            <pc:docMk/>
            <pc:sldMk cId="2399940656" sldId="2147471554"/>
            <ac:spMk id="7" creationId="{7D479EFB-EB5E-42C9-A32F-C7C92904BA1C}"/>
          </ac:spMkLst>
        </pc:spChg>
        <pc:spChg chg="mod">
          <ac:chgData name="Somaiyya, Jigar" userId="b98d3bb1-3b0d-46b9-b0c5-bd0e9d7b2fdd" providerId="ADAL" clId="{F31402E4-2DA1-432C-A782-FE53F7C24D05}" dt="2023-03-29T15:48:35.725" v="1672" actId="1036"/>
          <ac:spMkLst>
            <pc:docMk/>
            <pc:sldMk cId="2399940656" sldId="2147471554"/>
            <ac:spMk id="10" creationId="{A542ABFA-E2A9-4069-8644-738408ED7593}"/>
          </ac:spMkLst>
        </pc:spChg>
        <pc:spChg chg="mod">
          <ac:chgData name="Somaiyya, Jigar" userId="b98d3bb1-3b0d-46b9-b0c5-bd0e9d7b2fdd" providerId="ADAL" clId="{F31402E4-2DA1-432C-A782-FE53F7C24D05}" dt="2023-03-29T15:09:33.003" v="154" actId="20577"/>
          <ac:spMkLst>
            <pc:docMk/>
            <pc:sldMk cId="2399940656" sldId="2147471554"/>
            <ac:spMk id="11" creationId="{0A035558-2D3A-47B8-BC09-8C000AAA5FE8}"/>
          </ac:spMkLst>
        </pc:spChg>
        <pc:spChg chg="mod">
          <ac:chgData name="Somaiyya, Jigar" userId="b98d3bb1-3b0d-46b9-b0c5-bd0e9d7b2fdd" providerId="ADAL" clId="{F31402E4-2DA1-432C-A782-FE53F7C24D05}" dt="2023-03-29T15:48:35.725" v="1672" actId="1036"/>
          <ac:spMkLst>
            <pc:docMk/>
            <pc:sldMk cId="2399940656" sldId="2147471554"/>
            <ac:spMk id="12" creationId="{AE50A5C7-628F-4B30-BF94-4D9D761E8B7E}"/>
          </ac:spMkLst>
        </pc:spChg>
        <pc:spChg chg="mod">
          <ac:chgData name="Somaiyya, Jigar" userId="b98d3bb1-3b0d-46b9-b0c5-bd0e9d7b2fdd" providerId="ADAL" clId="{F31402E4-2DA1-432C-A782-FE53F7C24D05}" dt="2023-03-29T15:48:35.725" v="1672" actId="1036"/>
          <ac:spMkLst>
            <pc:docMk/>
            <pc:sldMk cId="2399940656" sldId="2147471554"/>
            <ac:spMk id="17" creationId="{30D54ED4-AAEE-4BCF-92B9-21A0698E6D77}"/>
          </ac:spMkLst>
        </pc:spChg>
        <pc:spChg chg="del">
          <ac:chgData name="Somaiyya, Jigar" userId="b98d3bb1-3b0d-46b9-b0c5-bd0e9d7b2fdd" providerId="ADAL" clId="{F31402E4-2DA1-432C-A782-FE53F7C24D05}" dt="2023-03-29T15:09:39.769" v="155" actId="478"/>
          <ac:spMkLst>
            <pc:docMk/>
            <pc:sldMk cId="2399940656" sldId="2147471554"/>
            <ac:spMk id="29" creationId="{D9AE55B9-6E6C-457D-96D9-34978E3D8649}"/>
          </ac:spMkLst>
        </pc:spChg>
        <pc:spChg chg="del mod">
          <ac:chgData name="Somaiyya, Jigar" userId="b98d3bb1-3b0d-46b9-b0c5-bd0e9d7b2fdd" providerId="ADAL" clId="{F31402E4-2DA1-432C-A782-FE53F7C24D05}" dt="2023-03-29T15:21:48.618" v="860" actId="478"/>
          <ac:spMkLst>
            <pc:docMk/>
            <pc:sldMk cId="2399940656" sldId="2147471554"/>
            <ac:spMk id="30" creationId="{B5F028E2-2C80-4270-9170-79DEC6599250}"/>
          </ac:spMkLst>
        </pc:spChg>
        <pc:spChg chg="mod">
          <ac:chgData name="Somaiyya, Jigar" userId="b98d3bb1-3b0d-46b9-b0c5-bd0e9d7b2fdd" providerId="ADAL" clId="{F31402E4-2DA1-432C-A782-FE53F7C24D05}" dt="2023-03-29T15:48:35.725" v="1672" actId="1036"/>
          <ac:spMkLst>
            <pc:docMk/>
            <pc:sldMk cId="2399940656" sldId="2147471554"/>
            <ac:spMk id="33" creationId="{C567CB16-569B-4627-8198-77422C0F682C}"/>
          </ac:spMkLst>
        </pc:spChg>
        <pc:spChg chg="del mod">
          <ac:chgData name="Somaiyya, Jigar" userId="b98d3bb1-3b0d-46b9-b0c5-bd0e9d7b2fdd" providerId="ADAL" clId="{F31402E4-2DA1-432C-A782-FE53F7C24D05}" dt="2023-03-29T15:23:27.255" v="950" actId="478"/>
          <ac:spMkLst>
            <pc:docMk/>
            <pc:sldMk cId="2399940656" sldId="2147471554"/>
            <ac:spMk id="34" creationId="{F949A4E7-5034-4CB5-95B0-F07365CD663E}"/>
          </ac:spMkLst>
        </pc:spChg>
        <pc:spChg chg="del mod">
          <ac:chgData name="Somaiyya, Jigar" userId="b98d3bb1-3b0d-46b9-b0c5-bd0e9d7b2fdd" providerId="ADAL" clId="{F31402E4-2DA1-432C-A782-FE53F7C24D05}" dt="2023-03-29T15:33:11.996" v="1248" actId="478"/>
          <ac:spMkLst>
            <pc:docMk/>
            <pc:sldMk cId="2399940656" sldId="2147471554"/>
            <ac:spMk id="38" creationId="{3F608045-0961-4EE9-9FED-13E3148107FB}"/>
          </ac:spMkLst>
        </pc:spChg>
        <pc:spChg chg="del mod">
          <ac:chgData name="Somaiyya, Jigar" userId="b98d3bb1-3b0d-46b9-b0c5-bd0e9d7b2fdd" providerId="ADAL" clId="{F31402E4-2DA1-432C-A782-FE53F7C24D05}" dt="2023-03-29T15:31:46.815" v="1177" actId="478"/>
          <ac:spMkLst>
            <pc:docMk/>
            <pc:sldMk cId="2399940656" sldId="2147471554"/>
            <ac:spMk id="39" creationId="{C009554A-A86D-4F40-8D2F-B169B9100FD9}"/>
          </ac:spMkLst>
        </pc:spChg>
        <pc:spChg chg="del">
          <ac:chgData name="Somaiyya, Jigar" userId="b98d3bb1-3b0d-46b9-b0c5-bd0e9d7b2fdd" providerId="ADAL" clId="{F31402E4-2DA1-432C-A782-FE53F7C24D05}" dt="2023-03-29T15:35:25.932" v="1390" actId="478"/>
          <ac:spMkLst>
            <pc:docMk/>
            <pc:sldMk cId="2399940656" sldId="2147471554"/>
            <ac:spMk id="56" creationId="{766E307E-6C01-48DF-B9BE-333A124BB3B7}"/>
          </ac:spMkLst>
        </pc:spChg>
        <pc:spChg chg="add mod">
          <ac:chgData name="Somaiyya, Jigar" userId="b98d3bb1-3b0d-46b9-b0c5-bd0e9d7b2fdd" providerId="ADAL" clId="{F31402E4-2DA1-432C-A782-FE53F7C24D05}" dt="2023-03-29T15:48:35.725" v="1672" actId="1036"/>
          <ac:spMkLst>
            <pc:docMk/>
            <pc:sldMk cId="2399940656" sldId="2147471554"/>
            <ac:spMk id="78" creationId="{852437C0-E844-4C7F-B499-A26EF9AE6A32}"/>
          </ac:spMkLst>
        </pc:spChg>
        <pc:spChg chg="add mod">
          <ac:chgData name="Somaiyya, Jigar" userId="b98d3bb1-3b0d-46b9-b0c5-bd0e9d7b2fdd" providerId="ADAL" clId="{F31402E4-2DA1-432C-A782-FE53F7C24D05}" dt="2023-03-29T15:48:35.725" v="1672" actId="1036"/>
          <ac:spMkLst>
            <pc:docMk/>
            <pc:sldMk cId="2399940656" sldId="2147471554"/>
            <ac:spMk id="83" creationId="{09F37C7E-3015-41B7-AEFF-0958A0959358}"/>
          </ac:spMkLst>
        </pc:spChg>
        <pc:spChg chg="add mod">
          <ac:chgData name="Somaiyya, Jigar" userId="b98d3bb1-3b0d-46b9-b0c5-bd0e9d7b2fdd" providerId="ADAL" clId="{F31402E4-2DA1-432C-A782-FE53F7C24D05}" dt="2023-03-29T15:48:35.725" v="1672" actId="1036"/>
          <ac:spMkLst>
            <pc:docMk/>
            <pc:sldMk cId="2399940656" sldId="2147471554"/>
            <ac:spMk id="93" creationId="{7697B334-0A6D-44A3-BF25-72E77E40937F}"/>
          </ac:spMkLst>
        </pc:spChg>
        <pc:spChg chg="add mod">
          <ac:chgData name="Somaiyya, Jigar" userId="b98d3bb1-3b0d-46b9-b0c5-bd0e9d7b2fdd" providerId="ADAL" clId="{F31402E4-2DA1-432C-A782-FE53F7C24D05}" dt="2023-03-29T15:48:35.725" v="1672" actId="1036"/>
          <ac:spMkLst>
            <pc:docMk/>
            <pc:sldMk cId="2399940656" sldId="2147471554"/>
            <ac:spMk id="98" creationId="{A0E29A19-889C-4E9E-A9AD-847650901504}"/>
          </ac:spMkLst>
        </pc:spChg>
        <pc:graphicFrameChg chg="del mod">
          <ac:chgData name="Somaiyya, Jigar" userId="b98d3bb1-3b0d-46b9-b0c5-bd0e9d7b2fdd" providerId="ADAL" clId="{F31402E4-2DA1-432C-A782-FE53F7C24D05}" dt="2023-03-29T15:21:48.618" v="860" actId="478"/>
          <ac:graphicFrameMkLst>
            <pc:docMk/>
            <pc:sldMk cId="2399940656" sldId="2147471554"/>
            <ac:graphicFrameMk id="13" creationId="{27F3C735-1D6B-491C-83BD-0B558E721398}"/>
          </ac:graphicFrameMkLst>
        </pc:graphicFrameChg>
        <pc:graphicFrameChg chg="del">
          <ac:chgData name="Somaiyya, Jigar" userId="b98d3bb1-3b0d-46b9-b0c5-bd0e9d7b2fdd" providerId="ADAL" clId="{F31402E4-2DA1-432C-A782-FE53F7C24D05}" dt="2023-03-29T15:09:39.769" v="155" actId="478"/>
          <ac:graphicFrameMkLst>
            <pc:docMk/>
            <pc:sldMk cId="2399940656" sldId="2147471554"/>
            <ac:graphicFrameMk id="14" creationId="{AF247EF8-0EDA-4F1A-99AC-31691432A8AB}"/>
          </ac:graphicFrameMkLst>
        </pc:graphicFrameChg>
        <pc:graphicFrameChg chg="del mod">
          <ac:chgData name="Somaiyya, Jigar" userId="b98d3bb1-3b0d-46b9-b0c5-bd0e9d7b2fdd" providerId="ADAL" clId="{F31402E4-2DA1-432C-A782-FE53F7C24D05}" dt="2023-03-29T15:21:48.618" v="860" actId="478"/>
          <ac:graphicFrameMkLst>
            <pc:docMk/>
            <pc:sldMk cId="2399940656" sldId="2147471554"/>
            <ac:graphicFrameMk id="15" creationId="{BB3E8749-43A0-4968-A540-949E84913F8A}"/>
          </ac:graphicFrameMkLst>
        </pc:graphicFrameChg>
        <pc:graphicFrameChg chg="del mod">
          <ac:chgData name="Somaiyya, Jigar" userId="b98d3bb1-3b0d-46b9-b0c5-bd0e9d7b2fdd" providerId="ADAL" clId="{F31402E4-2DA1-432C-A782-FE53F7C24D05}" dt="2023-03-29T15:33:05.873" v="1244" actId="478"/>
          <ac:graphicFrameMkLst>
            <pc:docMk/>
            <pc:sldMk cId="2399940656" sldId="2147471554"/>
            <ac:graphicFrameMk id="16" creationId="{9F368B60-D54F-4982-99DC-6194CCBFEE6F}"/>
          </ac:graphicFrameMkLst>
        </pc:graphicFrameChg>
        <pc:graphicFrameChg chg="mod modGraphic">
          <ac:chgData name="Somaiyya, Jigar" userId="b98d3bb1-3b0d-46b9-b0c5-bd0e9d7b2fdd" providerId="ADAL" clId="{F31402E4-2DA1-432C-A782-FE53F7C24D05}" dt="2023-03-29T15:48:35.725" v="1672" actId="1036"/>
          <ac:graphicFrameMkLst>
            <pc:docMk/>
            <pc:sldMk cId="2399940656" sldId="2147471554"/>
            <ac:graphicFrameMk id="18" creationId="{D19EB11A-5345-4957-BC78-BF77D347219B}"/>
          </ac:graphicFrameMkLst>
        </pc:graphicFrameChg>
        <pc:graphicFrameChg chg="del mod">
          <ac:chgData name="Somaiyya, Jigar" userId="b98d3bb1-3b0d-46b9-b0c5-bd0e9d7b2fdd" providerId="ADAL" clId="{F31402E4-2DA1-432C-A782-FE53F7C24D05}" dt="2023-03-29T15:31:46.815" v="1177" actId="478"/>
          <ac:graphicFrameMkLst>
            <pc:docMk/>
            <pc:sldMk cId="2399940656" sldId="2147471554"/>
            <ac:graphicFrameMk id="19" creationId="{FBE3C08A-183B-491F-9ACD-636F3B8EAD34}"/>
          </ac:graphicFrameMkLst>
        </pc:graphicFrameChg>
        <pc:graphicFrameChg chg="del mod modGraphic">
          <ac:chgData name="Somaiyya, Jigar" userId="b98d3bb1-3b0d-46b9-b0c5-bd0e9d7b2fdd" providerId="ADAL" clId="{F31402E4-2DA1-432C-A782-FE53F7C24D05}" dt="2023-03-29T15:33:09.631" v="1246" actId="478"/>
          <ac:graphicFrameMkLst>
            <pc:docMk/>
            <pc:sldMk cId="2399940656" sldId="2147471554"/>
            <ac:graphicFrameMk id="20" creationId="{7F8BFD7E-B642-4EEA-9E0F-1CABFB69B4EA}"/>
          </ac:graphicFrameMkLst>
        </pc:graphicFrameChg>
        <pc:graphicFrameChg chg="del mod">
          <ac:chgData name="Somaiyya, Jigar" userId="b98d3bb1-3b0d-46b9-b0c5-bd0e9d7b2fdd" providerId="ADAL" clId="{F31402E4-2DA1-432C-A782-FE53F7C24D05}" dt="2023-03-29T15:31:46.815" v="1177" actId="478"/>
          <ac:graphicFrameMkLst>
            <pc:docMk/>
            <pc:sldMk cId="2399940656" sldId="2147471554"/>
            <ac:graphicFrameMk id="21" creationId="{8505761D-D48E-4F01-8F37-ED5E1C9D3294}"/>
          </ac:graphicFrameMkLst>
        </pc:graphicFrameChg>
        <pc:graphicFrameChg chg="mod modGraphic">
          <ac:chgData name="Somaiyya, Jigar" userId="b98d3bb1-3b0d-46b9-b0c5-bd0e9d7b2fdd" providerId="ADAL" clId="{F31402E4-2DA1-432C-A782-FE53F7C24D05}" dt="2023-03-29T15:48:35.725" v="1672" actId="1036"/>
          <ac:graphicFrameMkLst>
            <pc:docMk/>
            <pc:sldMk cId="2399940656" sldId="2147471554"/>
            <ac:graphicFrameMk id="22" creationId="{A31C2D47-539F-4F20-8692-40799FE76989}"/>
          </ac:graphicFrameMkLst>
        </pc:graphicFrameChg>
        <pc:graphicFrameChg chg="del mod">
          <ac:chgData name="Somaiyya, Jigar" userId="b98d3bb1-3b0d-46b9-b0c5-bd0e9d7b2fdd" providerId="ADAL" clId="{F31402E4-2DA1-432C-A782-FE53F7C24D05}" dt="2023-03-29T15:23:09.189" v="945" actId="478"/>
          <ac:graphicFrameMkLst>
            <pc:docMk/>
            <pc:sldMk cId="2399940656" sldId="2147471554"/>
            <ac:graphicFrameMk id="23" creationId="{B10E6DA4-B3BC-46D5-BC3C-00FDD44E3ABE}"/>
          </ac:graphicFrameMkLst>
        </pc:graphicFrameChg>
        <pc:graphicFrameChg chg="del mod">
          <ac:chgData name="Somaiyya, Jigar" userId="b98d3bb1-3b0d-46b9-b0c5-bd0e9d7b2fdd" providerId="ADAL" clId="{F31402E4-2DA1-432C-A782-FE53F7C24D05}" dt="2023-03-29T15:33:05.873" v="1244" actId="478"/>
          <ac:graphicFrameMkLst>
            <pc:docMk/>
            <pc:sldMk cId="2399940656" sldId="2147471554"/>
            <ac:graphicFrameMk id="24" creationId="{E2A86A3C-0CFA-4FE2-A0D6-C5C8807E9B96}"/>
          </ac:graphicFrameMkLst>
        </pc:graphicFrameChg>
        <pc:graphicFrameChg chg="mod modGraphic">
          <ac:chgData name="Somaiyya, Jigar" userId="b98d3bb1-3b0d-46b9-b0c5-bd0e9d7b2fdd" providerId="ADAL" clId="{F31402E4-2DA1-432C-A782-FE53F7C24D05}" dt="2023-03-29T15:48:35.725" v="1672" actId="1036"/>
          <ac:graphicFrameMkLst>
            <pc:docMk/>
            <pc:sldMk cId="2399940656" sldId="2147471554"/>
            <ac:graphicFrameMk id="25" creationId="{6553365F-67CB-457D-8CA1-DDA46D69C4D5}"/>
          </ac:graphicFrameMkLst>
        </pc:graphicFrameChg>
        <pc:graphicFrameChg chg="del mod">
          <ac:chgData name="Somaiyya, Jigar" userId="b98d3bb1-3b0d-46b9-b0c5-bd0e9d7b2fdd" providerId="ADAL" clId="{F31402E4-2DA1-432C-A782-FE53F7C24D05}" dt="2023-03-29T15:31:46.815" v="1177" actId="478"/>
          <ac:graphicFrameMkLst>
            <pc:docMk/>
            <pc:sldMk cId="2399940656" sldId="2147471554"/>
            <ac:graphicFrameMk id="26" creationId="{80FD5E6C-9E6B-4451-8DDB-A309EE6FCAE3}"/>
          </ac:graphicFrameMkLst>
        </pc:graphicFrameChg>
        <pc:graphicFrameChg chg="del mod modGraphic">
          <ac:chgData name="Somaiyya, Jigar" userId="b98d3bb1-3b0d-46b9-b0c5-bd0e9d7b2fdd" providerId="ADAL" clId="{F31402E4-2DA1-432C-A782-FE53F7C24D05}" dt="2023-03-29T15:23:09.189" v="945" actId="478"/>
          <ac:graphicFrameMkLst>
            <pc:docMk/>
            <pc:sldMk cId="2399940656" sldId="2147471554"/>
            <ac:graphicFrameMk id="27" creationId="{38F02C7B-7D83-48D0-95D6-C641A5F71319}"/>
          </ac:graphicFrameMkLst>
        </pc:graphicFrameChg>
        <pc:graphicFrameChg chg="del">
          <ac:chgData name="Somaiyya, Jigar" userId="b98d3bb1-3b0d-46b9-b0c5-bd0e9d7b2fdd" providerId="ADAL" clId="{F31402E4-2DA1-432C-A782-FE53F7C24D05}" dt="2023-03-29T15:09:39.769" v="155" actId="478"/>
          <ac:graphicFrameMkLst>
            <pc:docMk/>
            <pc:sldMk cId="2399940656" sldId="2147471554"/>
            <ac:graphicFrameMk id="28" creationId="{58FF1D86-9FC9-4DC5-A2F4-BD7B04567964}"/>
          </ac:graphicFrameMkLst>
        </pc:graphicFrameChg>
        <pc:graphicFrameChg chg="del mod modGraphic">
          <ac:chgData name="Somaiyya, Jigar" userId="b98d3bb1-3b0d-46b9-b0c5-bd0e9d7b2fdd" providerId="ADAL" clId="{F31402E4-2DA1-432C-A782-FE53F7C24D05}" dt="2023-03-29T15:23:12.252" v="947" actId="478"/>
          <ac:graphicFrameMkLst>
            <pc:docMk/>
            <pc:sldMk cId="2399940656" sldId="2147471554"/>
            <ac:graphicFrameMk id="35" creationId="{40F0BD07-7003-4076-B538-94F1370D60F5}"/>
          </ac:graphicFrameMkLst>
        </pc:graphicFrameChg>
        <pc:graphicFrameChg chg="del">
          <ac:chgData name="Somaiyya, Jigar" userId="b98d3bb1-3b0d-46b9-b0c5-bd0e9d7b2fdd" providerId="ADAL" clId="{F31402E4-2DA1-432C-A782-FE53F7C24D05}" dt="2023-03-29T15:09:39.769" v="155" actId="478"/>
          <ac:graphicFrameMkLst>
            <pc:docMk/>
            <pc:sldMk cId="2399940656" sldId="2147471554"/>
            <ac:graphicFrameMk id="36" creationId="{31DFD1E5-43C4-4BBA-BC16-BA188B451833}"/>
          </ac:graphicFrameMkLst>
        </pc:graphicFrameChg>
        <pc:graphicFrameChg chg="del mod">
          <ac:chgData name="Somaiyya, Jigar" userId="b98d3bb1-3b0d-46b9-b0c5-bd0e9d7b2fdd" providerId="ADAL" clId="{F31402E4-2DA1-432C-A782-FE53F7C24D05}" dt="2023-03-29T15:21:48.618" v="860" actId="478"/>
          <ac:graphicFrameMkLst>
            <pc:docMk/>
            <pc:sldMk cId="2399940656" sldId="2147471554"/>
            <ac:graphicFrameMk id="37" creationId="{C5AD6854-3E8B-495D-8FD4-6FFAC3139458}"/>
          </ac:graphicFrameMkLst>
        </pc:graphicFrameChg>
        <pc:graphicFrameChg chg="mod modGraphic">
          <ac:chgData name="Somaiyya, Jigar" userId="b98d3bb1-3b0d-46b9-b0c5-bd0e9d7b2fdd" providerId="ADAL" clId="{F31402E4-2DA1-432C-A782-FE53F7C24D05}" dt="2023-03-29T15:48:35.725" v="1672" actId="1036"/>
          <ac:graphicFrameMkLst>
            <pc:docMk/>
            <pc:sldMk cId="2399940656" sldId="2147471554"/>
            <ac:graphicFrameMk id="40" creationId="{9A263181-610F-4489-9FAB-9F827670AA5C}"/>
          </ac:graphicFrameMkLst>
        </pc:graphicFrameChg>
        <pc:graphicFrameChg chg="mod modGraphic">
          <ac:chgData name="Somaiyya, Jigar" userId="b98d3bb1-3b0d-46b9-b0c5-bd0e9d7b2fdd" providerId="ADAL" clId="{F31402E4-2DA1-432C-A782-FE53F7C24D05}" dt="2023-03-29T15:48:35.725" v="1672" actId="1036"/>
          <ac:graphicFrameMkLst>
            <pc:docMk/>
            <pc:sldMk cId="2399940656" sldId="2147471554"/>
            <ac:graphicFrameMk id="41" creationId="{33FF24EB-B3C7-4AEA-B58C-F2FE0C3EE6DC}"/>
          </ac:graphicFrameMkLst>
        </pc:graphicFrameChg>
        <pc:graphicFrameChg chg="del mod modGraphic">
          <ac:chgData name="Somaiyya, Jigar" userId="b98d3bb1-3b0d-46b9-b0c5-bd0e9d7b2fdd" providerId="ADAL" clId="{F31402E4-2DA1-432C-A782-FE53F7C24D05}" dt="2023-03-29T15:34:40.654" v="1342" actId="478"/>
          <ac:graphicFrameMkLst>
            <pc:docMk/>
            <pc:sldMk cId="2399940656" sldId="2147471554"/>
            <ac:graphicFrameMk id="42" creationId="{553B242A-AEB9-4EE4-8EB0-58FD421504BF}"/>
          </ac:graphicFrameMkLst>
        </pc:graphicFrameChg>
        <pc:graphicFrameChg chg="mod">
          <ac:chgData name="Somaiyya, Jigar" userId="b98d3bb1-3b0d-46b9-b0c5-bd0e9d7b2fdd" providerId="ADAL" clId="{F31402E4-2DA1-432C-A782-FE53F7C24D05}" dt="2023-03-29T15:48:35.725" v="1672" actId="1036"/>
          <ac:graphicFrameMkLst>
            <pc:docMk/>
            <pc:sldMk cId="2399940656" sldId="2147471554"/>
            <ac:graphicFrameMk id="43" creationId="{B4ED029C-4981-47C3-88B7-36FCC111FC79}"/>
          </ac:graphicFrameMkLst>
        </pc:graphicFrameChg>
        <pc:graphicFrameChg chg="mod">
          <ac:chgData name="Somaiyya, Jigar" userId="b98d3bb1-3b0d-46b9-b0c5-bd0e9d7b2fdd" providerId="ADAL" clId="{F31402E4-2DA1-432C-A782-FE53F7C24D05}" dt="2023-03-29T15:48:35.725" v="1672" actId="1036"/>
          <ac:graphicFrameMkLst>
            <pc:docMk/>
            <pc:sldMk cId="2399940656" sldId="2147471554"/>
            <ac:graphicFrameMk id="53" creationId="{F647EF4C-61C7-4B22-B260-A38A4011846D}"/>
          </ac:graphicFrameMkLst>
        </pc:graphicFrameChg>
        <pc:graphicFrameChg chg="add del mod">
          <ac:chgData name="Somaiyya, Jigar" userId="b98d3bb1-3b0d-46b9-b0c5-bd0e9d7b2fdd" providerId="ADAL" clId="{F31402E4-2DA1-432C-A782-FE53F7C24D05}" dt="2023-03-29T15:48:35.725" v="1672" actId="1036"/>
          <ac:graphicFrameMkLst>
            <pc:docMk/>
            <pc:sldMk cId="2399940656" sldId="2147471554"/>
            <ac:graphicFrameMk id="55" creationId="{7B2F5DC3-E4CD-4B18-958B-7ADCB3759A87}"/>
          </ac:graphicFrameMkLst>
        </pc:graphicFrameChg>
        <pc:graphicFrameChg chg="add mod modGraphic">
          <ac:chgData name="Somaiyya, Jigar" userId="b98d3bb1-3b0d-46b9-b0c5-bd0e9d7b2fdd" providerId="ADAL" clId="{F31402E4-2DA1-432C-A782-FE53F7C24D05}" dt="2023-03-29T15:48:35.725" v="1672" actId="1036"/>
          <ac:graphicFrameMkLst>
            <pc:docMk/>
            <pc:sldMk cId="2399940656" sldId="2147471554"/>
            <ac:graphicFrameMk id="75" creationId="{D6C5410A-E3E4-40E2-8668-DF00424667BC}"/>
          </ac:graphicFrameMkLst>
        </pc:graphicFrameChg>
        <pc:graphicFrameChg chg="add mod modGraphic">
          <ac:chgData name="Somaiyya, Jigar" userId="b98d3bb1-3b0d-46b9-b0c5-bd0e9d7b2fdd" providerId="ADAL" clId="{F31402E4-2DA1-432C-A782-FE53F7C24D05}" dt="2023-03-29T15:48:35.725" v="1672" actId="1036"/>
          <ac:graphicFrameMkLst>
            <pc:docMk/>
            <pc:sldMk cId="2399940656" sldId="2147471554"/>
            <ac:graphicFrameMk id="76" creationId="{0512F951-CBFF-441E-B38C-3C3E48D12628}"/>
          </ac:graphicFrameMkLst>
        </pc:graphicFrameChg>
        <pc:graphicFrameChg chg="add mod modGraphic">
          <ac:chgData name="Somaiyya, Jigar" userId="b98d3bb1-3b0d-46b9-b0c5-bd0e9d7b2fdd" providerId="ADAL" clId="{F31402E4-2DA1-432C-A782-FE53F7C24D05}" dt="2023-03-29T15:48:35.725" v="1672" actId="1036"/>
          <ac:graphicFrameMkLst>
            <pc:docMk/>
            <pc:sldMk cId="2399940656" sldId="2147471554"/>
            <ac:graphicFrameMk id="77" creationId="{E87F7B9D-817B-4C8D-B5B1-3BB0F5BD2A0D}"/>
          </ac:graphicFrameMkLst>
        </pc:graphicFrameChg>
        <pc:graphicFrameChg chg="add mod modGraphic">
          <ac:chgData name="Somaiyya, Jigar" userId="b98d3bb1-3b0d-46b9-b0c5-bd0e9d7b2fdd" providerId="ADAL" clId="{F31402E4-2DA1-432C-A782-FE53F7C24D05}" dt="2023-03-29T15:48:35.725" v="1672" actId="1036"/>
          <ac:graphicFrameMkLst>
            <pc:docMk/>
            <pc:sldMk cId="2399940656" sldId="2147471554"/>
            <ac:graphicFrameMk id="80" creationId="{515F118C-0B5F-4CD8-8BFA-17F98C0174A9}"/>
          </ac:graphicFrameMkLst>
        </pc:graphicFrameChg>
        <pc:graphicFrameChg chg="add mod modGraphic">
          <ac:chgData name="Somaiyya, Jigar" userId="b98d3bb1-3b0d-46b9-b0c5-bd0e9d7b2fdd" providerId="ADAL" clId="{F31402E4-2DA1-432C-A782-FE53F7C24D05}" dt="2023-03-29T15:48:35.725" v="1672" actId="1036"/>
          <ac:graphicFrameMkLst>
            <pc:docMk/>
            <pc:sldMk cId="2399940656" sldId="2147471554"/>
            <ac:graphicFrameMk id="81" creationId="{A917D8D4-D11D-4310-932C-835CAA22E57D}"/>
          </ac:graphicFrameMkLst>
        </pc:graphicFrameChg>
        <pc:graphicFrameChg chg="add mod modGraphic">
          <ac:chgData name="Somaiyya, Jigar" userId="b98d3bb1-3b0d-46b9-b0c5-bd0e9d7b2fdd" providerId="ADAL" clId="{F31402E4-2DA1-432C-A782-FE53F7C24D05}" dt="2023-03-29T15:48:35.725" v="1672" actId="1036"/>
          <ac:graphicFrameMkLst>
            <pc:docMk/>
            <pc:sldMk cId="2399940656" sldId="2147471554"/>
            <ac:graphicFrameMk id="82" creationId="{4365BA0C-2588-45EA-91CD-FB290E17334B}"/>
          </ac:graphicFrameMkLst>
        </pc:graphicFrameChg>
        <pc:graphicFrameChg chg="add mod">
          <ac:chgData name="Somaiyya, Jigar" userId="b98d3bb1-3b0d-46b9-b0c5-bd0e9d7b2fdd" providerId="ADAL" clId="{F31402E4-2DA1-432C-A782-FE53F7C24D05}" dt="2023-03-29T15:48:35.725" v="1672" actId="1036"/>
          <ac:graphicFrameMkLst>
            <pc:docMk/>
            <pc:sldMk cId="2399940656" sldId="2147471554"/>
            <ac:graphicFrameMk id="90" creationId="{A4236DBA-09A4-4931-A30F-A622FB348851}"/>
          </ac:graphicFrameMkLst>
        </pc:graphicFrameChg>
        <pc:graphicFrameChg chg="add mod modGraphic">
          <ac:chgData name="Somaiyya, Jigar" userId="b98d3bb1-3b0d-46b9-b0c5-bd0e9d7b2fdd" providerId="ADAL" clId="{F31402E4-2DA1-432C-A782-FE53F7C24D05}" dt="2023-03-30T09:02:54.698" v="1841" actId="20577"/>
          <ac:graphicFrameMkLst>
            <pc:docMk/>
            <pc:sldMk cId="2399940656" sldId="2147471554"/>
            <ac:graphicFrameMk id="91" creationId="{0DFD0AAB-F730-4D1F-8BC3-987BC484CC59}"/>
          </ac:graphicFrameMkLst>
        </pc:graphicFrameChg>
        <pc:graphicFrameChg chg="add mod">
          <ac:chgData name="Somaiyya, Jigar" userId="b98d3bb1-3b0d-46b9-b0c5-bd0e9d7b2fdd" providerId="ADAL" clId="{F31402E4-2DA1-432C-A782-FE53F7C24D05}" dt="2023-03-29T15:48:35.725" v="1672" actId="1036"/>
          <ac:graphicFrameMkLst>
            <pc:docMk/>
            <pc:sldMk cId="2399940656" sldId="2147471554"/>
            <ac:graphicFrameMk id="92" creationId="{6A044830-219C-477A-8E5A-4ABFB87E2C2D}"/>
          </ac:graphicFrameMkLst>
        </pc:graphicFrameChg>
        <pc:graphicFrameChg chg="add mod">
          <ac:chgData name="Somaiyya, Jigar" userId="b98d3bb1-3b0d-46b9-b0c5-bd0e9d7b2fdd" providerId="ADAL" clId="{F31402E4-2DA1-432C-A782-FE53F7C24D05}" dt="2023-03-29T15:48:35.725" v="1672" actId="1036"/>
          <ac:graphicFrameMkLst>
            <pc:docMk/>
            <pc:sldMk cId="2399940656" sldId="2147471554"/>
            <ac:graphicFrameMk id="95" creationId="{EE5C9FD2-A65C-48D4-A9F4-422CC4C0DB41}"/>
          </ac:graphicFrameMkLst>
        </pc:graphicFrameChg>
        <pc:graphicFrameChg chg="add mod modGraphic">
          <ac:chgData name="Somaiyya, Jigar" userId="b98d3bb1-3b0d-46b9-b0c5-bd0e9d7b2fdd" providerId="ADAL" clId="{F31402E4-2DA1-432C-A782-FE53F7C24D05}" dt="2023-03-29T15:48:35.725" v="1672" actId="1036"/>
          <ac:graphicFrameMkLst>
            <pc:docMk/>
            <pc:sldMk cId="2399940656" sldId="2147471554"/>
            <ac:graphicFrameMk id="96" creationId="{0291748B-FF2B-443F-8797-8BF770AE5A2A}"/>
          </ac:graphicFrameMkLst>
        </pc:graphicFrameChg>
        <pc:graphicFrameChg chg="add mod">
          <ac:chgData name="Somaiyya, Jigar" userId="b98d3bb1-3b0d-46b9-b0c5-bd0e9d7b2fdd" providerId="ADAL" clId="{F31402E4-2DA1-432C-A782-FE53F7C24D05}" dt="2023-03-29T15:48:35.725" v="1672" actId="1036"/>
          <ac:graphicFrameMkLst>
            <pc:docMk/>
            <pc:sldMk cId="2399940656" sldId="2147471554"/>
            <ac:graphicFrameMk id="97" creationId="{FE02B970-46D1-4F74-840F-E2D61DC7BBF3}"/>
          </ac:graphicFrameMkLst>
        </pc:graphicFrameChg>
        <pc:picChg chg="add mod modCrop">
          <ac:chgData name="Somaiyya, Jigar" userId="b98d3bb1-3b0d-46b9-b0c5-bd0e9d7b2fdd" providerId="ADAL" clId="{F31402E4-2DA1-432C-A782-FE53F7C24D05}" dt="2023-03-29T15:49:03" v="1674" actId="732"/>
          <ac:picMkLst>
            <pc:docMk/>
            <pc:sldMk cId="2399940656" sldId="2147471554"/>
            <ac:picMk id="131" creationId="{47DDA282-20BF-4057-9F64-9251A15AA72A}"/>
          </ac:picMkLst>
        </pc:picChg>
        <pc:picChg chg="add mod">
          <ac:chgData name="Somaiyya, Jigar" userId="b98d3bb1-3b0d-46b9-b0c5-bd0e9d7b2fdd" providerId="ADAL" clId="{F31402E4-2DA1-432C-A782-FE53F7C24D05}" dt="2023-03-29T15:48:46.243" v="1673"/>
          <ac:picMkLst>
            <pc:docMk/>
            <pc:sldMk cId="2399940656" sldId="2147471554"/>
            <ac:picMk id="132" creationId="{636D4D7B-34D9-46D3-A67E-EDC6F15C516E}"/>
          </ac:picMkLst>
        </pc:picChg>
        <pc:cxnChg chg="add del mod">
          <ac:chgData name="Somaiyya, Jigar" userId="b98d3bb1-3b0d-46b9-b0c5-bd0e9d7b2fdd" providerId="ADAL" clId="{F31402E4-2DA1-432C-A782-FE53F7C24D05}" dt="2023-03-29T15:13:23.845" v="322" actId="11529"/>
          <ac:cxnSpMkLst>
            <pc:docMk/>
            <pc:sldMk cId="2399940656" sldId="2147471554"/>
            <ac:cxnSpMk id="4" creationId="{F240C9C9-3A29-44A6-8CB9-A272ECFB2982}"/>
          </ac:cxnSpMkLst>
        </pc:cxnChg>
        <pc:cxnChg chg="add del mod">
          <ac:chgData name="Somaiyya, Jigar" userId="b98d3bb1-3b0d-46b9-b0c5-bd0e9d7b2fdd" providerId="ADAL" clId="{F31402E4-2DA1-432C-A782-FE53F7C24D05}" dt="2023-03-29T15:13:45.516" v="328" actId="11529"/>
          <ac:cxnSpMkLst>
            <pc:docMk/>
            <pc:sldMk cId="2399940656" sldId="2147471554"/>
            <ac:cxnSpMk id="8" creationId="{4FCEB19E-7E3C-44E6-94CB-1866A1D7852F}"/>
          </ac:cxnSpMkLst>
        </pc:cxnChg>
        <pc:cxnChg chg="mod">
          <ac:chgData name="Somaiyya, Jigar" userId="b98d3bb1-3b0d-46b9-b0c5-bd0e9d7b2fdd" providerId="ADAL" clId="{F31402E4-2DA1-432C-A782-FE53F7C24D05}" dt="2023-03-29T15:48:35.725" v="1672" actId="1036"/>
          <ac:cxnSpMkLst>
            <pc:docMk/>
            <pc:sldMk cId="2399940656" sldId="2147471554"/>
            <ac:cxnSpMk id="9" creationId="{979D6133-E94C-47D8-970C-84CB2A4F04CE}"/>
          </ac:cxnSpMkLst>
        </pc:cxnChg>
        <pc:cxnChg chg="add del mod">
          <ac:chgData name="Somaiyya, Jigar" userId="b98d3bb1-3b0d-46b9-b0c5-bd0e9d7b2fdd" providerId="ADAL" clId="{F31402E4-2DA1-432C-A782-FE53F7C24D05}" dt="2023-03-29T15:34:44.578" v="1343" actId="478"/>
          <ac:cxnSpMkLst>
            <pc:docMk/>
            <pc:sldMk cId="2399940656" sldId="2147471554"/>
            <ac:cxnSpMk id="32" creationId="{D4F0B860-9D74-4183-AF53-DB2B6414F324}"/>
          </ac:cxnSpMkLst>
        </pc:cxnChg>
        <pc:cxnChg chg="del mod">
          <ac:chgData name="Somaiyya, Jigar" userId="b98d3bb1-3b0d-46b9-b0c5-bd0e9d7b2fdd" providerId="ADAL" clId="{F31402E4-2DA1-432C-A782-FE53F7C24D05}" dt="2023-03-29T15:10:15.411" v="182" actId="478"/>
          <ac:cxnSpMkLst>
            <pc:docMk/>
            <pc:sldMk cId="2399940656" sldId="2147471554"/>
            <ac:cxnSpMk id="44" creationId="{A207C6CE-65ED-493F-9BC6-9A0A69CCF065}"/>
          </ac:cxnSpMkLst>
        </pc:cxnChg>
        <pc:cxnChg chg="del mod">
          <ac:chgData name="Somaiyya, Jigar" userId="b98d3bb1-3b0d-46b9-b0c5-bd0e9d7b2fdd" providerId="ADAL" clId="{F31402E4-2DA1-432C-A782-FE53F7C24D05}" dt="2023-03-29T15:26:05.161" v="1013" actId="478"/>
          <ac:cxnSpMkLst>
            <pc:docMk/>
            <pc:sldMk cId="2399940656" sldId="2147471554"/>
            <ac:cxnSpMk id="45" creationId="{A2183618-D5D1-4C62-89F5-C9803C79644A}"/>
          </ac:cxnSpMkLst>
        </pc:cxnChg>
        <pc:cxnChg chg="del mod">
          <ac:chgData name="Somaiyya, Jigar" userId="b98d3bb1-3b0d-46b9-b0c5-bd0e9d7b2fdd" providerId="ADAL" clId="{F31402E4-2DA1-432C-A782-FE53F7C24D05}" dt="2023-03-29T15:35:10.531" v="1386" actId="478"/>
          <ac:cxnSpMkLst>
            <pc:docMk/>
            <pc:sldMk cId="2399940656" sldId="2147471554"/>
            <ac:cxnSpMk id="46" creationId="{9F82364F-9103-4999-A215-77F03196E9CC}"/>
          </ac:cxnSpMkLst>
        </pc:cxnChg>
        <pc:cxnChg chg="del mod">
          <ac:chgData name="Somaiyya, Jigar" userId="b98d3bb1-3b0d-46b9-b0c5-bd0e9d7b2fdd" providerId="ADAL" clId="{F31402E4-2DA1-432C-A782-FE53F7C24D05}" dt="2023-03-29T15:11:33.194" v="316" actId="478"/>
          <ac:cxnSpMkLst>
            <pc:docMk/>
            <pc:sldMk cId="2399940656" sldId="2147471554"/>
            <ac:cxnSpMk id="47" creationId="{35518061-27C5-4D7C-B673-BF984681C5FC}"/>
          </ac:cxnSpMkLst>
        </pc:cxnChg>
        <pc:cxnChg chg="del mod">
          <ac:chgData name="Somaiyya, Jigar" userId="b98d3bb1-3b0d-46b9-b0c5-bd0e9d7b2fdd" providerId="ADAL" clId="{F31402E4-2DA1-432C-A782-FE53F7C24D05}" dt="2023-03-29T15:16:33.400" v="415" actId="478"/>
          <ac:cxnSpMkLst>
            <pc:docMk/>
            <pc:sldMk cId="2399940656" sldId="2147471554"/>
            <ac:cxnSpMk id="48" creationId="{13715E33-2883-45E4-96F6-F1FF40788D31}"/>
          </ac:cxnSpMkLst>
        </pc:cxnChg>
        <pc:cxnChg chg="del">
          <ac:chgData name="Somaiyya, Jigar" userId="b98d3bb1-3b0d-46b9-b0c5-bd0e9d7b2fdd" providerId="ADAL" clId="{F31402E4-2DA1-432C-A782-FE53F7C24D05}" dt="2023-03-29T15:35:16.024" v="1387" actId="478"/>
          <ac:cxnSpMkLst>
            <pc:docMk/>
            <pc:sldMk cId="2399940656" sldId="2147471554"/>
            <ac:cxnSpMk id="49" creationId="{F87A22AD-A073-4F83-A86E-E82989074004}"/>
          </ac:cxnSpMkLst>
        </pc:cxnChg>
        <pc:cxnChg chg="del">
          <ac:chgData name="Somaiyya, Jigar" userId="b98d3bb1-3b0d-46b9-b0c5-bd0e9d7b2fdd" providerId="ADAL" clId="{F31402E4-2DA1-432C-A782-FE53F7C24D05}" dt="2023-03-29T15:15:51.226" v="409" actId="478"/>
          <ac:cxnSpMkLst>
            <pc:docMk/>
            <pc:sldMk cId="2399940656" sldId="2147471554"/>
            <ac:cxnSpMk id="50" creationId="{89789969-4D89-404C-8776-3AA10E1E5A92}"/>
          </ac:cxnSpMkLst>
        </pc:cxnChg>
        <pc:cxnChg chg="mod">
          <ac:chgData name="Somaiyya, Jigar" userId="b98d3bb1-3b0d-46b9-b0c5-bd0e9d7b2fdd" providerId="ADAL" clId="{F31402E4-2DA1-432C-A782-FE53F7C24D05}" dt="2023-03-29T15:48:35.725" v="1672" actId="1036"/>
          <ac:cxnSpMkLst>
            <pc:docMk/>
            <pc:sldMk cId="2399940656" sldId="2147471554"/>
            <ac:cxnSpMk id="51" creationId="{743C395F-9087-4161-B86F-C8F596C427C1}"/>
          </ac:cxnSpMkLst>
        </pc:cxnChg>
        <pc:cxnChg chg="mod">
          <ac:chgData name="Somaiyya, Jigar" userId="b98d3bb1-3b0d-46b9-b0c5-bd0e9d7b2fdd" providerId="ADAL" clId="{F31402E4-2DA1-432C-A782-FE53F7C24D05}" dt="2023-03-29T15:48:35.725" v="1672" actId="1036"/>
          <ac:cxnSpMkLst>
            <pc:docMk/>
            <pc:sldMk cId="2399940656" sldId="2147471554"/>
            <ac:cxnSpMk id="52" creationId="{723C018D-82B8-4016-8FB2-4E8DF3FC4B71}"/>
          </ac:cxnSpMkLst>
        </pc:cxnChg>
        <pc:cxnChg chg="del mod">
          <ac:chgData name="Somaiyya, Jigar" userId="b98d3bb1-3b0d-46b9-b0c5-bd0e9d7b2fdd" providerId="ADAL" clId="{F31402E4-2DA1-432C-A782-FE53F7C24D05}" dt="2023-03-29T15:35:08.565" v="1385" actId="478"/>
          <ac:cxnSpMkLst>
            <pc:docMk/>
            <pc:sldMk cId="2399940656" sldId="2147471554"/>
            <ac:cxnSpMk id="54" creationId="{E8D4D504-35C9-4820-941D-1B0810D69C17}"/>
          </ac:cxnSpMkLst>
        </pc:cxnChg>
        <pc:cxnChg chg="mod">
          <ac:chgData name="Somaiyya, Jigar" userId="b98d3bb1-3b0d-46b9-b0c5-bd0e9d7b2fdd" providerId="ADAL" clId="{F31402E4-2DA1-432C-A782-FE53F7C24D05}" dt="2023-03-29T15:48:35.725" v="1672" actId="1036"/>
          <ac:cxnSpMkLst>
            <pc:docMk/>
            <pc:sldMk cId="2399940656" sldId="2147471554"/>
            <ac:cxnSpMk id="57" creationId="{33B85C7D-337B-4718-9BF1-ADE93B240464}"/>
          </ac:cxnSpMkLst>
        </pc:cxnChg>
        <pc:cxnChg chg="add del mod">
          <ac:chgData name="Somaiyya, Jigar" userId="b98d3bb1-3b0d-46b9-b0c5-bd0e9d7b2fdd" providerId="ADAL" clId="{F31402E4-2DA1-432C-A782-FE53F7C24D05}" dt="2023-03-29T15:19:37.372" v="686" actId="478"/>
          <ac:cxnSpMkLst>
            <pc:docMk/>
            <pc:sldMk cId="2399940656" sldId="2147471554"/>
            <ac:cxnSpMk id="69" creationId="{54BB4D4E-C251-46A4-B37B-8B7F0AF884DE}"/>
          </ac:cxnSpMkLst>
        </pc:cxnChg>
        <pc:cxnChg chg="add mod">
          <ac:chgData name="Somaiyya, Jigar" userId="b98d3bb1-3b0d-46b9-b0c5-bd0e9d7b2fdd" providerId="ADAL" clId="{F31402E4-2DA1-432C-A782-FE53F7C24D05}" dt="2023-03-29T15:48:35.725" v="1672" actId="1036"/>
          <ac:cxnSpMkLst>
            <pc:docMk/>
            <pc:sldMk cId="2399940656" sldId="2147471554"/>
            <ac:cxnSpMk id="74" creationId="{63B8CB95-A5FE-4EFF-B1CA-7F6CAE7A8EE4}"/>
          </ac:cxnSpMkLst>
        </pc:cxnChg>
        <pc:cxnChg chg="add mod">
          <ac:chgData name="Somaiyya, Jigar" userId="b98d3bb1-3b0d-46b9-b0c5-bd0e9d7b2fdd" providerId="ADAL" clId="{F31402E4-2DA1-432C-A782-FE53F7C24D05}" dt="2023-03-29T15:48:35.725" v="1672" actId="1036"/>
          <ac:cxnSpMkLst>
            <pc:docMk/>
            <pc:sldMk cId="2399940656" sldId="2147471554"/>
            <ac:cxnSpMk id="79" creationId="{F3376938-A1CC-420B-A15C-CD5AF5E2B483}"/>
          </ac:cxnSpMkLst>
        </pc:cxnChg>
        <pc:cxnChg chg="add mod">
          <ac:chgData name="Somaiyya, Jigar" userId="b98d3bb1-3b0d-46b9-b0c5-bd0e9d7b2fdd" providerId="ADAL" clId="{F31402E4-2DA1-432C-A782-FE53F7C24D05}" dt="2023-03-29T15:48:35.725" v="1672" actId="1036"/>
          <ac:cxnSpMkLst>
            <pc:docMk/>
            <pc:sldMk cId="2399940656" sldId="2147471554"/>
            <ac:cxnSpMk id="89" creationId="{4922BC87-6BE8-474F-B1E3-0D247DA20EB8}"/>
          </ac:cxnSpMkLst>
        </pc:cxnChg>
        <pc:cxnChg chg="add mod">
          <ac:chgData name="Somaiyya, Jigar" userId="b98d3bb1-3b0d-46b9-b0c5-bd0e9d7b2fdd" providerId="ADAL" clId="{F31402E4-2DA1-432C-A782-FE53F7C24D05}" dt="2023-03-29T15:48:35.725" v="1672" actId="1036"/>
          <ac:cxnSpMkLst>
            <pc:docMk/>
            <pc:sldMk cId="2399940656" sldId="2147471554"/>
            <ac:cxnSpMk id="94" creationId="{7A4DFCC8-9311-4A3C-B283-62AFDDEAFFBA}"/>
          </ac:cxnSpMkLst>
        </pc:cxnChg>
        <pc:cxnChg chg="add del mod">
          <ac:chgData name="Somaiyya, Jigar" userId="b98d3bb1-3b0d-46b9-b0c5-bd0e9d7b2fdd" providerId="ADAL" clId="{F31402E4-2DA1-432C-A782-FE53F7C24D05}" dt="2023-03-29T15:36:55.833" v="1410" actId="478"/>
          <ac:cxnSpMkLst>
            <pc:docMk/>
            <pc:sldMk cId="2399940656" sldId="2147471554"/>
            <ac:cxnSpMk id="101" creationId="{7EF0D6D4-2C0C-4006-B61F-7AB669044F44}"/>
          </ac:cxnSpMkLst>
        </pc:cxnChg>
        <pc:cxnChg chg="add del mod">
          <ac:chgData name="Somaiyya, Jigar" userId="b98d3bb1-3b0d-46b9-b0c5-bd0e9d7b2fdd" providerId="ADAL" clId="{F31402E4-2DA1-432C-A782-FE53F7C24D05}" dt="2023-03-29T15:37:33.786" v="1432" actId="478"/>
          <ac:cxnSpMkLst>
            <pc:docMk/>
            <pc:sldMk cId="2399940656" sldId="2147471554"/>
            <ac:cxnSpMk id="103" creationId="{AC15DAF9-C133-4426-AE2E-199051903D64}"/>
          </ac:cxnSpMkLst>
        </pc:cxnChg>
        <pc:cxnChg chg="add mod">
          <ac:chgData name="Somaiyya, Jigar" userId="b98d3bb1-3b0d-46b9-b0c5-bd0e9d7b2fdd" providerId="ADAL" clId="{F31402E4-2DA1-432C-A782-FE53F7C24D05}" dt="2023-03-29T15:48:35.725" v="1672" actId="1036"/>
          <ac:cxnSpMkLst>
            <pc:docMk/>
            <pc:sldMk cId="2399940656" sldId="2147471554"/>
            <ac:cxnSpMk id="104" creationId="{E5BFFDA8-1E6F-48EE-9EF8-3EACE1663133}"/>
          </ac:cxnSpMkLst>
        </pc:cxnChg>
        <pc:cxnChg chg="add mod">
          <ac:chgData name="Somaiyya, Jigar" userId="b98d3bb1-3b0d-46b9-b0c5-bd0e9d7b2fdd" providerId="ADAL" clId="{F31402E4-2DA1-432C-A782-FE53F7C24D05}" dt="2023-03-29T15:48:35.725" v="1672" actId="1036"/>
          <ac:cxnSpMkLst>
            <pc:docMk/>
            <pc:sldMk cId="2399940656" sldId="2147471554"/>
            <ac:cxnSpMk id="107" creationId="{6200C40D-1DAB-4744-96FA-47D6FD36CDE4}"/>
          </ac:cxnSpMkLst>
        </pc:cxnChg>
        <pc:cxnChg chg="add del mod">
          <ac:chgData name="Somaiyya, Jigar" userId="b98d3bb1-3b0d-46b9-b0c5-bd0e9d7b2fdd" providerId="ADAL" clId="{F31402E4-2DA1-432C-A782-FE53F7C24D05}" dt="2023-03-29T15:40:07.144" v="1541"/>
          <ac:cxnSpMkLst>
            <pc:docMk/>
            <pc:sldMk cId="2399940656" sldId="2147471554"/>
            <ac:cxnSpMk id="112" creationId="{48C50B04-6766-4E3A-A97E-36491E3D2701}"/>
          </ac:cxnSpMkLst>
        </pc:cxnChg>
        <pc:cxnChg chg="add mod">
          <ac:chgData name="Somaiyya, Jigar" userId="b98d3bb1-3b0d-46b9-b0c5-bd0e9d7b2fdd" providerId="ADAL" clId="{F31402E4-2DA1-432C-A782-FE53F7C24D05}" dt="2023-03-29T15:48:35.725" v="1672" actId="1036"/>
          <ac:cxnSpMkLst>
            <pc:docMk/>
            <pc:sldMk cId="2399940656" sldId="2147471554"/>
            <ac:cxnSpMk id="117" creationId="{F6E5DC04-6881-4946-BB02-6DD95D35DDF5}"/>
          </ac:cxnSpMkLst>
        </pc:cxnChg>
        <pc:cxnChg chg="add mod">
          <ac:chgData name="Somaiyya, Jigar" userId="b98d3bb1-3b0d-46b9-b0c5-bd0e9d7b2fdd" providerId="ADAL" clId="{F31402E4-2DA1-432C-A782-FE53F7C24D05}" dt="2023-03-29T15:48:35.725" v="1672" actId="1036"/>
          <ac:cxnSpMkLst>
            <pc:docMk/>
            <pc:sldMk cId="2399940656" sldId="2147471554"/>
            <ac:cxnSpMk id="121" creationId="{0351E31A-6037-4622-AB19-61881DEFFD0F}"/>
          </ac:cxnSpMkLst>
        </pc:cxnChg>
        <pc:cxnChg chg="add mod">
          <ac:chgData name="Somaiyya, Jigar" userId="b98d3bb1-3b0d-46b9-b0c5-bd0e9d7b2fdd" providerId="ADAL" clId="{F31402E4-2DA1-432C-A782-FE53F7C24D05}" dt="2023-03-29T15:48:35.725" v="1672" actId="1036"/>
          <ac:cxnSpMkLst>
            <pc:docMk/>
            <pc:sldMk cId="2399940656" sldId="2147471554"/>
            <ac:cxnSpMk id="126" creationId="{C7D52583-D033-4CF5-944E-4BBE6097205E}"/>
          </ac:cxnSpMkLst>
        </pc:cxnChg>
      </pc:sldChg>
      <pc:sldChg chg="add del">
        <pc:chgData name="Somaiyya, Jigar" userId="b98d3bb1-3b0d-46b9-b0c5-bd0e9d7b2fdd" providerId="ADAL" clId="{F31402E4-2DA1-432C-A782-FE53F7C24D05}" dt="2023-03-29T15:05:22.564" v="119" actId="47"/>
        <pc:sldMkLst>
          <pc:docMk/>
          <pc:sldMk cId="4173346794" sldId="2147471554"/>
        </pc:sldMkLst>
      </pc:sldChg>
      <pc:sldChg chg="modSp add mod">
        <pc:chgData name="Somaiyya, Jigar" userId="b98d3bb1-3b0d-46b9-b0c5-bd0e9d7b2fdd" providerId="ADAL" clId="{F31402E4-2DA1-432C-A782-FE53F7C24D05}" dt="2023-03-30T09:00:14.793" v="1769" actId="313"/>
        <pc:sldMkLst>
          <pc:docMk/>
          <pc:sldMk cId="1540072085" sldId="2147471555"/>
        </pc:sldMkLst>
        <pc:spChg chg="mod">
          <ac:chgData name="Somaiyya, Jigar" userId="b98d3bb1-3b0d-46b9-b0c5-bd0e9d7b2fdd" providerId="ADAL" clId="{F31402E4-2DA1-432C-A782-FE53F7C24D05}" dt="2023-03-30T09:00:14.793" v="1769" actId="313"/>
          <ac:spMkLst>
            <pc:docMk/>
            <pc:sldMk cId="1540072085" sldId="2147471555"/>
            <ac:spMk id="3" creationId="{F77BB212-173A-4CDC-BF56-27743CA9CFC2}"/>
          </ac:spMkLst>
        </pc:spChg>
      </pc:sldChg>
      <pc:sldChg chg="addSp delSp modSp add mod">
        <pc:chgData name="Somaiyya, Jigar" userId="b98d3bb1-3b0d-46b9-b0c5-bd0e9d7b2fdd" providerId="ADAL" clId="{F31402E4-2DA1-432C-A782-FE53F7C24D05}" dt="2023-03-30T09:01:15.168" v="1840" actId="14100"/>
        <pc:sldMkLst>
          <pc:docMk/>
          <pc:sldMk cId="2165145046" sldId="2147471556"/>
        </pc:sldMkLst>
        <pc:spChg chg="del">
          <ac:chgData name="Somaiyya, Jigar" userId="b98d3bb1-3b0d-46b9-b0c5-bd0e9d7b2fdd" providerId="ADAL" clId="{F31402E4-2DA1-432C-A782-FE53F7C24D05}" dt="2023-03-30T09:00:27.542" v="1771" actId="478"/>
          <ac:spMkLst>
            <pc:docMk/>
            <pc:sldMk cId="2165145046" sldId="2147471556"/>
            <ac:spMk id="2" creationId="{4094E618-9687-4B71-95C9-F7D2D7CB9F65}"/>
          </ac:spMkLst>
        </pc:spChg>
        <pc:spChg chg="del">
          <ac:chgData name="Somaiyya, Jigar" userId="b98d3bb1-3b0d-46b9-b0c5-bd0e9d7b2fdd" providerId="ADAL" clId="{F31402E4-2DA1-432C-A782-FE53F7C24D05}" dt="2023-03-30T09:00:27.542" v="1771" actId="478"/>
          <ac:spMkLst>
            <pc:docMk/>
            <pc:sldMk cId="2165145046" sldId="2147471556"/>
            <ac:spMk id="3" creationId="{8C7E80C1-4127-4C68-B8BC-987DB79DCD58}"/>
          </ac:spMkLst>
        </pc:spChg>
        <pc:spChg chg="del">
          <ac:chgData name="Somaiyya, Jigar" userId="b98d3bb1-3b0d-46b9-b0c5-bd0e9d7b2fdd" providerId="ADAL" clId="{F31402E4-2DA1-432C-A782-FE53F7C24D05}" dt="2023-03-30T09:00:29.861" v="1772" actId="478"/>
          <ac:spMkLst>
            <pc:docMk/>
            <pc:sldMk cId="2165145046" sldId="2147471556"/>
            <ac:spMk id="4" creationId="{4C8B0DE9-A37E-4279-8A30-28420DD89A74}"/>
          </ac:spMkLst>
        </pc:spChg>
        <pc:spChg chg="del">
          <ac:chgData name="Somaiyya, Jigar" userId="b98d3bb1-3b0d-46b9-b0c5-bd0e9d7b2fdd" providerId="ADAL" clId="{F31402E4-2DA1-432C-A782-FE53F7C24D05}" dt="2023-03-30T09:00:27.542" v="1771" actId="478"/>
          <ac:spMkLst>
            <pc:docMk/>
            <pc:sldMk cId="2165145046" sldId="2147471556"/>
            <ac:spMk id="5" creationId="{F74F1CC9-DDB7-4F4B-A0FD-426770C04F53}"/>
          </ac:spMkLst>
        </pc:spChg>
        <pc:spChg chg="del">
          <ac:chgData name="Somaiyya, Jigar" userId="b98d3bb1-3b0d-46b9-b0c5-bd0e9d7b2fdd" providerId="ADAL" clId="{F31402E4-2DA1-432C-A782-FE53F7C24D05}" dt="2023-03-30T09:00:27.542" v="1771" actId="478"/>
          <ac:spMkLst>
            <pc:docMk/>
            <pc:sldMk cId="2165145046" sldId="2147471556"/>
            <ac:spMk id="6" creationId="{1A3F34D7-323E-40AE-B3C7-A94A8EBBFED8}"/>
          </ac:spMkLst>
        </pc:spChg>
        <pc:spChg chg="del">
          <ac:chgData name="Somaiyya, Jigar" userId="b98d3bb1-3b0d-46b9-b0c5-bd0e9d7b2fdd" providerId="ADAL" clId="{F31402E4-2DA1-432C-A782-FE53F7C24D05}" dt="2023-03-30T09:00:27.542" v="1771" actId="478"/>
          <ac:spMkLst>
            <pc:docMk/>
            <pc:sldMk cId="2165145046" sldId="2147471556"/>
            <ac:spMk id="7" creationId="{41F14822-D193-46B8-B304-4CE8599C10A3}"/>
          </ac:spMkLst>
        </pc:spChg>
        <pc:spChg chg="del">
          <ac:chgData name="Somaiyya, Jigar" userId="b98d3bb1-3b0d-46b9-b0c5-bd0e9d7b2fdd" providerId="ADAL" clId="{F31402E4-2DA1-432C-A782-FE53F7C24D05}" dt="2023-03-30T09:00:27.542" v="1771" actId="478"/>
          <ac:spMkLst>
            <pc:docMk/>
            <pc:sldMk cId="2165145046" sldId="2147471556"/>
            <ac:spMk id="8" creationId="{641CF761-C791-4D14-AADA-ACAA4DFE1FD9}"/>
          </ac:spMkLst>
        </pc:spChg>
        <pc:spChg chg="del">
          <ac:chgData name="Somaiyya, Jigar" userId="b98d3bb1-3b0d-46b9-b0c5-bd0e9d7b2fdd" providerId="ADAL" clId="{F31402E4-2DA1-432C-A782-FE53F7C24D05}" dt="2023-03-30T09:00:27.542" v="1771" actId="478"/>
          <ac:spMkLst>
            <pc:docMk/>
            <pc:sldMk cId="2165145046" sldId="2147471556"/>
            <ac:spMk id="9" creationId="{CEB3FB32-69BC-4764-AAA5-DBB134B8254D}"/>
          </ac:spMkLst>
        </pc:spChg>
        <pc:spChg chg="del">
          <ac:chgData name="Somaiyya, Jigar" userId="b98d3bb1-3b0d-46b9-b0c5-bd0e9d7b2fdd" providerId="ADAL" clId="{F31402E4-2DA1-432C-A782-FE53F7C24D05}" dt="2023-03-30T09:00:27.542" v="1771" actId="478"/>
          <ac:spMkLst>
            <pc:docMk/>
            <pc:sldMk cId="2165145046" sldId="2147471556"/>
            <ac:spMk id="10" creationId="{1F05825D-D1EF-44E1-AAD7-679134028AFF}"/>
          </ac:spMkLst>
        </pc:spChg>
        <pc:spChg chg="del">
          <ac:chgData name="Somaiyya, Jigar" userId="b98d3bb1-3b0d-46b9-b0c5-bd0e9d7b2fdd" providerId="ADAL" clId="{F31402E4-2DA1-432C-A782-FE53F7C24D05}" dt="2023-03-30T09:00:27.542" v="1771" actId="478"/>
          <ac:spMkLst>
            <pc:docMk/>
            <pc:sldMk cId="2165145046" sldId="2147471556"/>
            <ac:spMk id="11" creationId="{60884BDF-D3C3-4B49-83C2-53033EBD7C36}"/>
          </ac:spMkLst>
        </pc:spChg>
        <pc:spChg chg="del">
          <ac:chgData name="Somaiyya, Jigar" userId="b98d3bb1-3b0d-46b9-b0c5-bd0e9d7b2fdd" providerId="ADAL" clId="{F31402E4-2DA1-432C-A782-FE53F7C24D05}" dt="2023-03-30T09:00:27.542" v="1771" actId="478"/>
          <ac:spMkLst>
            <pc:docMk/>
            <pc:sldMk cId="2165145046" sldId="2147471556"/>
            <ac:spMk id="12" creationId="{2E7F99A1-CA98-467A-8D6D-4F7D1DAAD05B}"/>
          </ac:spMkLst>
        </pc:spChg>
        <pc:spChg chg="del">
          <ac:chgData name="Somaiyya, Jigar" userId="b98d3bb1-3b0d-46b9-b0c5-bd0e9d7b2fdd" providerId="ADAL" clId="{F31402E4-2DA1-432C-A782-FE53F7C24D05}" dt="2023-03-30T09:00:27.542" v="1771" actId="478"/>
          <ac:spMkLst>
            <pc:docMk/>
            <pc:sldMk cId="2165145046" sldId="2147471556"/>
            <ac:spMk id="45" creationId="{DA2B35F0-BD8B-445A-8315-DCB1918FAD02}"/>
          </ac:spMkLst>
        </pc:spChg>
        <pc:spChg chg="del">
          <ac:chgData name="Somaiyya, Jigar" userId="b98d3bb1-3b0d-46b9-b0c5-bd0e9d7b2fdd" providerId="ADAL" clId="{F31402E4-2DA1-432C-A782-FE53F7C24D05}" dt="2023-03-30T09:00:27.542" v="1771" actId="478"/>
          <ac:spMkLst>
            <pc:docMk/>
            <pc:sldMk cId="2165145046" sldId="2147471556"/>
            <ac:spMk id="46" creationId="{4FE1D4B5-2BB1-4C08-8FE5-5C0A98BA09B2}"/>
          </ac:spMkLst>
        </pc:spChg>
        <pc:spChg chg="del">
          <ac:chgData name="Somaiyya, Jigar" userId="b98d3bb1-3b0d-46b9-b0c5-bd0e9d7b2fdd" providerId="ADAL" clId="{F31402E4-2DA1-432C-A782-FE53F7C24D05}" dt="2023-03-30T09:00:27.542" v="1771" actId="478"/>
          <ac:spMkLst>
            <pc:docMk/>
            <pc:sldMk cId="2165145046" sldId="2147471556"/>
            <ac:spMk id="47" creationId="{640E4B51-9C62-46AF-9AB1-6E0782800FBA}"/>
          </ac:spMkLst>
        </pc:spChg>
        <pc:spChg chg="del">
          <ac:chgData name="Somaiyya, Jigar" userId="b98d3bb1-3b0d-46b9-b0c5-bd0e9d7b2fdd" providerId="ADAL" clId="{F31402E4-2DA1-432C-A782-FE53F7C24D05}" dt="2023-03-30T09:00:27.542" v="1771" actId="478"/>
          <ac:spMkLst>
            <pc:docMk/>
            <pc:sldMk cId="2165145046" sldId="2147471556"/>
            <ac:spMk id="48" creationId="{17E8FFCB-01F6-484B-88DA-824A24FC3E88}"/>
          </ac:spMkLst>
        </pc:spChg>
        <pc:spChg chg="del">
          <ac:chgData name="Somaiyya, Jigar" userId="b98d3bb1-3b0d-46b9-b0c5-bd0e9d7b2fdd" providerId="ADAL" clId="{F31402E4-2DA1-432C-A782-FE53F7C24D05}" dt="2023-03-30T09:00:27.542" v="1771" actId="478"/>
          <ac:spMkLst>
            <pc:docMk/>
            <pc:sldMk cId="2165145046" sldId="2147471556"/>
            <ac:spMk id="49" creationId="{4E419A12-8B0A-4719-A295-83624345FBBC}"/>
          </ac:spMkLst>
        </pc:spChg>
        <pc:spChg chg="del">
          <ac:chgData name="Somaiyya, Jigar" userId="b98d3bb1-3b0d-46b9-b0c5-bd0e9d7b2fdd" providerId="ADAL" clId="{F31402E4-2DA1-432C-A782-FE53F7C24D05}" dt="2023-03-30T09:00:27.542" v="1771" actId="478"/>
          <ac:spMkLst>
            <pc:docMk/>
            <pc:sldMk cId="2165145046" sldId="2147471556"/>
            <ac:spMk id="50" creationId="{B7AD12A2-603A-411E-B1A1-07078073EACF}"/>
          </ac:spMkLst>
        </pc:spChg>
        <pc:spChg chg="del">
          <ac:chgData name="Somaiyya, Jigar" userId="b98d3bb1-3b0d-46b9-b0c5-bd0e9d7b2fdd" providerId="ADAL" clId="{F31402E4-2DA1-432C-A782-FE53F7C24D05}" dt="2023-03-30T09:00:27.542" v="1771" actId="478"/>
          <ac:spMkLst>
            <pc:docMk/>
            <pc:sldMk cId="2165145046" sldId="2147471556"/>
            <ac:spMk id="51" creationId="{A15C94A6-77C2-4E3E-A453-84C37621BB41}"/>
          </ac:spMkLst>
        </pc:spChg>
        <pc:spChg chg="del">
          <ac:chgData name="Somaiyya, Jigar" userId="b98d3bb1-3b0d-46b9-b0c5-bd0e9d7b2fdd" providerId="ADAL" clId="{F31402E4-2DA1-432C-A782-FE53F7C24D05}" dt="2023-03-30T09:00:27.542" v="1771" actId="478"/>
          <ac:spMkLst>
            <pc:docMk/>
            <pc:sldMk cId="2165145046" sldId="2147471556"/>
            <ac:spMk id="52" creationId="{8372ACBE-FD69-4121-81CC-0B52160CC04D}"/>
          </ac:spMkLst>
        </pc:spChg>
        <pc:spChg chg="del">
          <ac:chgData name="Somaiyya, Jigar" userId="b98d3bb1-3b0d-46b9-b0c5-bd0e9d7b2fdd" providerId="ADAL" clId="{F31402E4-2DA1-432C-A782-FE53F7C24D05}" dt="2023-03-30T09:00:27.542" v="1771" actId="478"/>
          <ac:spMkLst>
            <pc:docMk/>
            <pc:sldMk cId="2165145046" sldId="2147471556"/>
            <ac:spMk id="53" creationId="{9E989290-4EF0-4932-B046-B576FB2B5E4C}"/>
          </ac:spMkLst>
        </pc:spChg>
        <pc:spChg chg="del">
          <ac:chgData name="Somaiyya, Jigar" userId="b98d3bb1-3b0d-46b9-b0c5-bd0e9d7b2fdd" providerId="ADAL" clId="{F31402E4-2DA1-432C-A782-FE53F7C24D05}" dt="2023-03-30T09:00:27.542" v="1771" actId="478"/>
          <ac:spMkLst>
            <pc:docMk/>
            <pc:sldMk cId="2165145046" sldId="2147471556"/>
            <ac:spMk id="54" creationId="{A17A7974-FE68-4415-A23D-EE0658ABBE4F}"/>
          </ac:spMkLst>
        </pc:spChg>
        <pc:spChg chg="del">
          <ac:chgData name="Somaiyya, Jigar" userId="b98d3bb1-3b0d-46b9-b0c5-bd0e9d7b2fdd" providerId="ADAL" clId="{F31402E4-2DA1-432C-A782-FE53F7C24D05}" dt="2023-03-30T09:00:27.542" v="1771" actId="478"/>
          <ac:spMkLst>
            <pc:docMk/>
            <pc:sldMk cId="2165145046" sldId="2147471556"/>
            <ac:spMk id="55" creationId="{BF5C4BB7-C11F-4222-86DF-A2F3B6C594A1}"/>
          </ac:spMkLst>
        </pc:spChg>
        <pc:spChg chg="del">
          <ac:chgData name="Somaiyya, Jigar" userId="b98d3bb1-3b0d-46b9-b0c5-bd0e9d7b2fdd" providerId="ADAL" clId="{F31402E4-2DA1-432C-A782-FE53F7C24D05}" dt="2023-03-30T09:00:27.542" v="1771" actId="478"/>
          <ac:spMkLst>
            <pc:docMk/>
            <pc:sldMk cId="2165145046" sldId="2147471556"/>
            <ac:spMk id="56" creationId="{FD24D835-A3BF-4653-882E-8FA8B9DC06CA}"/>
          </ac:spMkLst>
        </pc:spChg>
        <pc:spChg chg="del">
          <ac:chgData name="Somaiyya, Jigar" userId="b98d3bb1-3b0d-46b9-b0c5-bd0e9d7b2fdd" providerId="ADAL" clId="{F31402E4-2DA1-432C-A782-FE53F7C24D05}" dt="2023-03-30T09:00:27.542" v="1771" actId="478"/>
          <ac:spMkLst>
            <pc:docMk/>
            <pc:sldMk cId="2165145046" sldId="2147471556"/>
            <ac:spMk id="57" creationId="{C4355762-97EE-47C9-958C-E9C2A2A8D315}"/>
          </ac:spMkLst>
        </pc:spChg>
        <pc:spChg chg="del">
          <ac:chgData name="Somaiyya, Jigar" userId="b98d3bb1-3b0d-46b9-b0c5-bd0e9d7b2fdd" providerId="ADAL" clId="{F31402E4-2DA1-432C-A782-FE53F7C24D05}" dt="2023-03-30T09:00:27.542" v="1771" actId="478"/>
          <ac:spMkLst>
            <pc:docMk/>
            <pc:sldMk cId="2165145046" sldId="2147471556"/>
            <ac:spMk id="58" creationId="{B4D7B7EE-6029-4ECE-9370-7347B40C73FF}"/>
          </ac:spMkLst>
        </pc:spChg>
        <pc:spChg chg="del">
          <ac:chgData name="Somaiyya, Jigar" userId="b98d3bb1-3b0d-46b9-b0c5-bd0e9d7b2fdd" providerId="ADAL" clId="{F31402E4-2DA1-432C-A782-FE53F7C24D05}" dt="2023-03-30T09:00:27.542" v="1771" actId="478"/>
          <ac:spMkLst>
            <pc:docMk/>
            <pc:sldMk cId="2165145046" sldId="2147471556"/>
            <ac:spMk id="59" creationId="{36EB5B6F-F114-45AF-8002-D698DC648ECF}"/>
          </ac:spMkLst>
        </pc:spChg>
        <pc:spChg chg="del">
          <ac:chgData name="Somaiyya, Jigar" userId="b98d3bb1-3b0d-46b9-b0c5-bd0e9d7b2fdd" providerId="ADAL" clId="{F31402E4-2DA1-432C-A782-FE53F7C24D05}" dt="2023-03-30T09:00:27.542" v="1771" actId="478"/>
          <ac:spMkLst>
            <pc:docMk/>
            <pc:sldMk cId="2165145046" sldId="2147471556"/>
            <ac:spMk id="60" creationId="{EE52C4D7-7840-4614-8FE3-6A6C955D72D6}"/>
          </ac:spMkLst>
        </pc:spChg>
        <pc:spChg chg="del">
          <ac:chgData name="Somaiyya, Jigar" userId="b98d3bb1-3b0d-46b9-b0c5-bd0e9d7b2fdd" providerId="ADAL" clId="{F31402E4-2DA1-432C-A782-FE53F7C24D05}" dt="2023-03-30T09:00:27.542" v="1771" actId="478"/>
          <ac:spMkLst>
            <pc:docMk/>
            <pc:sldMk cId="2165145046" sldId="2147471556"/>
            <ac:spMk id="61" creationId="{01F01CD8-7312-4FCD-8551-A87404A4D00A}"/>
          </ac:spMkLst>
        </pc:spChg>
        <pc:spChg chg="del">
          <ac:chgData name="Somaiyya, Jigar" userId="b98d3bb1-3b0d-46b9-b0c5-bd0e9d7b2fdd" providerId="ADAL" clId="{F31402E4-2DA1-432C-A782-FE53F7C24D05}" dt="2023-03-30T09:00:27.542" v="1771" actId="478"/>
          <ac:spMkLst>
            <pc:docMk/>
            <pc:sldMk cId="2165145046" sldId="2147471556"/>
            <ac:spMk id="62" creationId="{212281AE-E221-40E3-BB62-9B924CDF2DDE}"/>
          </ac:spMkLst>
        </pc:spChg>
        <pc:spChg chg="del">
          <ac:chgData name="Somaiyya, Jigar" userId="b98d3bb1-3b0d-46b9-b0c5-bd0e9d7b2fdd" providerId="ADAL" clId="{F31402E4-2DA1-432C-A782-FE53F7C24D05}" dt="2023-03-30T09:00:27.542" v="1771" actId="478"/>
          <ac:spMkLst>
            <pc:docMk/>
            <pc:sldMk cId="2165145046" sldId="2147471556"/>
            <ac:spMk id="63" creationId="{B964921D-A72A-40AB-8503-FACEA5A453F8}"/>
          </ac:spMkLst>
        </pc:spChg>
        <pc:spChg chg="del">
          <ac:chgData name="Somaiyya, Jigar" userId="b98d3bb1-3b0d-46b9-b0c5-bd0e9d7b2fdd" providerId="ADAL" clId="{F31402E4-2DA1-432C-A782-FE53F7C24D05}" dt="2023-03-30T09:00:27.542" v="1771" actId="478"/>
          <ac:spMkLst>
            <pc:docMk/>
            <pc:sldMk cId="2165145046" sldId="2147471556"/>
            <ac:spMk id="64" creationId="{6FF8D7AC-E411-42C5-B74B-F1C38C49543A}"/>
          </ac:spMkLst>
        </pc:spChg>
        <pc:spChg chg="del">
          <ac:chgData name="Somaiyya, Jigar" userId="b98d3bb1-3b0d-46b9-b0c5-bd0e9d7b2fdd" providerId="ADAL" clId="{F31402E4-2DA1-432C-A782-FE53F7C24D05}" dt="2023-03-30T09:00:27.542" v="1771" actId="478"/>
          <ac:spMkLst>
            <pc:docMk/>
            <pc:sldMk cId="2165145046" sldId="2147471556"/>
            <ac:spMk id="65" creationId="{502A2000-2DB5-467C-B4DC-74359D77B2B1}"/>
          </ac:spMkLst>
        </pc:spChg>
        <pc:spChg chg="del">
          <ac:chgData name="Somaiyya, Jigar" userId="b98d3bb1-3b0d-46b9-b0c5-bd0e9d7b2fdd" providerId="ADAL" clId="{F31402E4-2DA1-432C-A782-FE53F7C24D05}" dt="2023-03-30T09:00:27.542" v="1771" actId="478"/>
          <ac:spMkLst>
            <pc:docMk/>
            <pc:sldMk cId="2165145046" sldId="2147471556"/>
            <ac:spMk id="66" creationId="{F3CA276A-0923-4A88-AD89-87A58B7FB1F6}"/>
          </ac:spMkLst>
        </pc:spChg>
        <pc:spChg chg="del">
          <ac:chgData name="Somaiyya, Jigar" userId="b98d3bb1-3b0d-46b9-b0c5-bd0e9d7b2fdd" providerId="ADAL" clId="{F31402E4-2DA1-432C-A782-FE53F7C24D05}" dt="2023-03-30T09:00:27.542" v="1771" actId="478"/>
          <ac:spMkLst>
            <pc:docMk/>
            <pc:sldMk cId="2165145046" sldId="2147471556"/>
            <ac:spMk id="67" creationId="{983EFBBE-907C-4647-9992-509B1B4274D8}"/>
          </ac:spMkLst>
        </pc:spChg>
        <pc:spChg chg="del">
          <ac:chgData name="Somaiyya, Jigar" userId="b98d3bb1-3b0d-46b9-b0c5-bd0e9d7b2fdd" providerId="ADAL" clId="{F31402E4-2DA1-432C-A782-FE53F7C24D05}" dt="2023-03-30T09:00:27.542" v="1771" actId="478"/>
          <ac:spMkLst>
            <pc:docMk/>
            <pc:sldMk cId="2165145046" sldId="2147471556"/>
            <ac:spMk id="68" creationId="{439D017F-D607-48C7-8238-E48252CACD33}"/>
          </ac:spMkLst>
        </pc:spChg>
        <pc:spChg chg="del">
          <ac:chgData name="Somaiyya, Jigar" userId="b98d3bb1-3b0d-46b9-b0c5-bd0e9d7b2fdd" providerId="ADAL" clId="{F31402E4-2DA1-432C-A782-FE53F7C24D05}" dt="2023-03-30T09:00:27.542" v="1771" actId="478"/>
          <ac:spMkLst>
            <pc:docMk/>
            <pc:sldMk cId="2165145046" sldId="2147471556"/>
            <ac:spMk id="69" creationId="{8E337D7A-008C-4094-AAC0-F0753CA86EC9}"/>
          </ac:spMkLst>
        </pc:spChg>
        <pc:spChg chg="del">
          <ac:chgData name="Somaiyya, Jigar" userId="b98d3bb1-3b0d-46b9-b0c5-bd0e9d7b2fdd" providerId="ADAL" clId="{F31402E4-2DA1-432C-A782-FE53F7C24D05}" dt="2023-03-30T09:00:27.542" v="1771" actId="478"/>
          <ac:spMkLst>
            <pc:docMk/>
            <pc:sldMk cId="2165145046" sldId="2147471556"/>
            <ac:spMk id="70" creationId="{AE1DDB1D-2DBB-418A-9518-89FA7DF93F07}"/>
          </ac:spMkLst>
        </pc:spChg>
        <pc:spChg chg="del">
          <ac:chgData name="Somaiyya, Jigar" userId="b98d3bb1-3b0d-46b9-b0c5-bd0e9d7b2fdd" providerId="ADAL" clId="{F31402E4-2DA1-432C-A782-FE53F7C24D05}" dt="2023-03-30T09:00:27.542" v="1771" actId="478"/>
          <ac:spMkLst>
            <pc:docMk/>
            <pc:sldMk cId="2165145046" sldId="2147471556"/>
            <ac:spMk id="71" creationId="{414AF7F5-6A39-4CBE-B4E6-C72E639D4F3F}"/>
          </ac:spMkLst>
        </pc:spChg>
        <pc:spChg chg="del">
          <ac:chgData name="Somaiyya, Jigar" userId="b98d3bb1-3b0d-46b9-b0c5-bd0e9d7b2fdd" providerId="ADAL" clId="{F31402E4-2DA1-432C-A782-FE53F7C24D05}" dt="2023-03-30T09:00:27.542" v="1771" actId="478"/>
          <ac:spMkLst>
            <pc:docMk/>
            <pc:sldMk cId="2165145046" sldId="2147471556"/>
            <ac:spMk id="72" creationId="{AD99FA7B-2639-439C-BEAF-F8EC0019E1F9}"/>
          </ac:spMkLst>
        </pc:spChg>
        <pc:spChg chg="del">
          <ac:chgData name="Somaiyya, Jigar" userId="b98d3bb1-3b0d-46b9-b0c5-bd0e9d7b2fdd" providerId="ADAL" clId="{F31402E4-2DA1-432C-A782-FE53F7C24D05}" dt="2023-03-30T09:00:27.542" v="1771" actId="478"/>
          <ac:spMkLst>
            <pc:docMk/>
            <pc:sldMk cId="2165145046" sldId="2147471556"/>
            <ac:spMk id="73" creationId="{D568C296-0712-4645-BD30-1C2D27374E17}"/>
          </ac:spMkLst>
        </pc:spChg>
        <pc:spChg chg="del">
          <ac:chgData name="Somaiyya, Jigar" userId="b98d3bb1-3b0d-46b9-b0c5-bd0e9d7b2fdd" providerId="ADAL" clId="{F31402E4-2DA1-432C-A782-FE53F7C24D05}" dt="2023-03-30T09:00:27.542" v="1771" actId="478"/>
          <ac:spMkLst>
            <pc:docMk/>
            <pc:sldMk cId="2165145046" sldId="2147471556"/>
            <ac:spMk id="74" creationId="{C3FDF9F6-9C56-4421-B837-14B33359B0D9}"/>
          </ac:spMkLst>
        </pc:spChg>
        <pc:spChg chg="del">
          <ac:chgData name="Somaiyya, Jigar" userId="b98d3bb1-3b0d-46b9-b0c5-bd0e9d7b2fdd" providerId="ADAL" clId="{F31402E4-2DA1-432C-A782-FE53F7C24D05}" dt="2023-03-30T09:00:27.542" v="1771" actId="478"/>
          <ac:spMkLst>
            <pc:docMk/>
            <pc:sldMk cId="2165145046" sldId="2147471556"/>
            <ac:spMk id="75" creationId="{1D9CD869-6E26-4E6F-B210-E5D517113A93}"/>
          </ac:spMkLst>
        </pc:spChg>
        <pc:spChg chg="del">
          <ac:chgData name="Somaiyya, Jigar" userId="b98d3bb1-3b0d-46b9-b0c5-bd0e9d7b2fdd" providerId="ADAL" clId="{F31402E4-2DA1-432C-A782-FE53F7C24D05}" dt="2023-03-30T09:00:27.542" v="1771" actId="478"/>
          <ac:spMkLst>
            <pc:docMk/>
            <pc:sldMk cId="2165145046" sldId="2147471556"/>
            <ac:spMk id="76" creationId="{82DEE82C-F5B5-4CA5-8FAF-D5205ACB3CA8}"/>
          </ac:spMkLst>
        </pc:spChg>
        <pc:spChg chg="del">
          <ac:chgData name="Somaiyya, Jigar" userId="b98d3bb1-3b0d-46b9-b0c5-bd0e9d7b2fdd" providerId="ADAL" clId="{F31402E4-2DA1-432C-A782-FE53F7C24D05}" dt="2023-03-30T09:00:27.542" v="1771" actId="478"/>
          <ac:spMkLst>
            <pc:docMk/>
            <pc:sldMk cId="2165145046" sldId="2147471556"/>
            <ac:spMk id="77" creationId="{92B33745-6CED-4EC2-B097-7924BCF73B92}"/>
          </ac:spMkLst>
        </pc:spChg>
        <pc:spChg chg="del">
          <ac:chgData name="Somaiyya, Jigar" userId="b98d3bb1-3b0d-46b9-b0c5-bd0e9d7b2fdd" providerId="ADAL" clId="{F31402E4-2DA1-432C-A782-FE53F7C24D05}" dt="2023-03-30T09:00:27.542" v="1771" actId="478"/>
          <ac:spMkLst>
            <pc:docMk/>
            <pc:sldMk cId="2165145046" sldId="2147471556"/>
            <ac:spMk id="78" creationId="{7B645E09-DDA4-490F-8538-CA129AB4EB3A}"/>
          </ac:spMkLst>
        </pc:spChg>
        <pc:spChg chg="del">
          <ac:chgData name="Somaiyya, Jigar" userId="b98d3bb1-3b0d-46b9-b0c5-bd0e9d7b2fdd" providerId="ADAL" clId="{F31402E4-2DA1-432C-A782-FE53F7C24D05}" dt="2023-03-30T09:00:27.542" v="1771" actId="478"/>
          <ac:spMkLst>
            <pc:docMk/>
            <pc:sldMk cId="2165145046" sldId="2147471556"/>
            <ac:spMk id="80" creationId="{1962ADAD-F244-42F5-8603-8AA0C9F4DDE0}"/>
          </ac:spMkLst>
        </pc:spChg>
        <pc:spChg chg="del">
          <ac:chgData name="Somaiyya, Jigar" userId="b98d3bb1-3b0d-46b9-b0c5-bd0e9d7b2fdd" providerId="ADAL" clId="{F31402E4-2DA1-432C-A782-FE53F7C24D05}" dt="2023-03-30T09:00:27.542" v="1771" actId="478"/>
          <ac:spMkLst>
            <pc:docMk/>
            <pc:sldMk cId="2165145046" sldId="2147471556"/>
            <ac:spMk id="81" creationId="{E85E204F-DF18-436D-A87D-00D14F6ED6E9}"/>
          </ac:spMkLst>
        </pc:spChg>
        <pc:spChg chg="add mod">
          <ac:chgData name="Somaiyya, Jigar" userId="b98d3bb1-3b0d-46b9-b0c5-bd0e9d7b2fdd" providerId="ADAL" clId="{F31402E4-2DA1-432C-A782-FE53F7C24D05}" dt="2023-03-30T09:01:15.168" v="1840" actId="14100"/>
          <ac:spMkLst>
            <pc:docMk/>
            <pc:sldMk cId="2165145046" sldId="2147471556"/>
            <ac:spMk id="84" creationId="{5E9C80CE-4707-40E0-B110-5CF420701B78}"/>
          </ac:spMkLst>
        </pc:spChg>
        <pc:grpChg chg="del">
          <ac:chgData name="Somaiyya, Jigar" userId="b98d3bb1-3b0d-46b9-b0c5-bd0e9d7b2fdd" providerId="ADAL" clId="{F31402E4-2DA1-432C-A782-FE53F7C24D05}" dt="2023-03-30T09:00:27.542" v="1771" actId="478"/>
          <ac:grpSpMkLst>
            <pc:docMk/>
            <pc:sldMk cId="2165145046" sldId="2147471556"/>
            <ac:grpSpMk id="13" creationId="{2356E545-8ED9-4FCC-A023-B70ED1F06F80}"/>
          </ac:grpSpMkLst>
        </pc:grpChg>
      </pc:sldChg>
    </pc:docChg>
  </pc:docChgLst>
  <pc:docChgLst>
    <pc:chgData name="Arya, Poojaa" userId="S::phassani@deloitte.com::ad2c5045-d41e-4df5-9fe8-8ebc8620945c" providerId="AD" clId="Web-{201F30BB-F188-4003-962B-667D03A84FAF}"/>
    <pc:docChg chg="modSld">
      <pc:chgData name="Arya, Poojaa" userId="S::phassani@deloitte.com::ad2c5045-d41e-4df5-9fe8-8ebc8620945c" providerId="AD" clId="Web-{201F30BB-F188-4003-962B-667D03A84FAF}" dt="2023-03-30T09:08:17.901" v="0"/>
      <pc:docMkLst>
        <pc:docMk/>
      </pc:docMkLst>
      <pc:sldChg chg="delSp">
        <pc:chgData name="Arya, Poojaa" userId="S::phassani@deloitte.com::ad2c5045-d41e-4df5-9fe8-8ebc8620945c" providerId="AD" clId="Web-{201F30BB-F188-4003-962B-667D03A84FAF}" dt="2023-03-30T09:08:17.901" v="0"/>
        <pc:sldMkLst>
          <pc:docMk/>
          <pc:sldMk cId="2399940656" sldId="2147471554"/>
        </pc:sldMkLst>
        <pc:cxnChg chg="del">
          <ac:chgData name="Arya, Poojaa" userId="S::phassani@deloitte.com::ad2c5045-d41e-4df5-9fe8-8ebc8620945c" providerId="AD" clId="Web-{201F30BB-F188-4003-962B-667D03A84FAF}" dt="2023-03-30T09:08:17.901" v="0"/>
          <ac:cxnSpMkLst>
            <pc:docMk/>
            <pc:sldMk cId="2399940656" sldId="2147471554"/>
            <ac:cxnSpMk id="52" creationId="{723C018D-82B8-4016-8FB2-4E8DF3FC4B71}"/>
          </ac:cxnSpMkLst>
        </pc:cxnChg>
      </pc:sldChg>
    </pc:docChg>
  </pc:docChgLst>
  <pc:docChgLst>
    <pc:chgData name="Arya, Poojaa" userId="ad2c5045-d41e-4df5-9fe8-8ebc8620945c" providerId="ADAL" clId="{6CD16BC9-44EA-44E8-87E4-CF6386EC4A08}"/>
    <pc:docChg chg="undo redo custSel addSld delSld modSld modSection">
      <pc:chgData name="Arya, Poojaa" userId="ad2c5045-d41e-4df5-9fe8-8ebc8620945c" providerId="ADAL" clId="{6CD16BC9-44EA-44E8-87E4-CF6386EC4A08}" dt="2023-03-30T11:47:21.113" v="686"/>
      <pc:docMkLst>
        <pc:docMk/>
      </pc:docMkLst>
      <pc:sldChg chg="del">
        <pc:chgData name="Arya, Poojaa" userId="ad2c5045-d41e-4df5-9fe8-8ebc8620945c" providerId="ADAL" clId="{6CD16BC9-44EA-44E8-87E4-CF6386EC4A08}" dt="2023-03-30T11:45:58.404" v="685" actId="47"/>
        <pc:sldMkLst>
          <pc:docMk/>
          <pc:sldMk cId="1415846300" sldId="2145704748"/>
        </pc:sldMkLst>
      </pc:sldChg>
      <pc:sldChg chg="del">
        <pc:chgData name="Arya, Poojaa" userId="ad2c5045-d41e-4df5-9fe8-8ebc8620945c" providerId="ADAL" clId="{6CD16BC9-44EA-44E8-87E4-CF6386EC4A08}" dt="2023-03-30T11:31:36.255" v="588" actId="47"/>
        <pc:sldMkLst>
          <pc:docMk/>
          <pc:sldMk cId="2207324743" sldId="2145704756"/>
        </pc:sldMkLst>
      </pc:sldChg>
      <pc:sldChg chg="modSp mod">
        <pc:chgData name="Arya, Poojaa" userId="ad2c5045-d41e-4df5-9fe8-8ebc8620945c" providerId="ADAL" clId="{6CD16BC9-44EA-44E8-87E4-CF6386EC4A08}" dt="2023-03-30T10:41:24.485" v="49" actId="20577"/>
        <pc:sldMkLst>
          <pc:docMk/>
          <pc:sldMk cId="4181716701" sldId="2147471533"/>
        </pc:sldMkLst>
        <pc:spChg chg="mod">
          <ac:chgData name="Arya, Poojaa" userId="ad2c5045-d41e-4df5-9fe8-8ebc8620945c" providerId="ADAL" clId="{6CD16BC9-44EA-44E8-87E4-CF6386EC4A08}" dt="2023-03-30T10:41:24.485" v="49" actId="20577"/>
          <ac:spMkLst>
            <pc:docMk/>
            <pc:sldMk cId="4181716701" sldId="2147471533"/>
            <ac:spMk id="4" creationId="{BF4D705C-9B48-4B4B-87DE-BC459130558D}"/>
          </ac:spMkLst>
        </pc:spChg>
        <pc:spChg chg="mod">
          <ac:chgData name="Arya, Poojaa" userId="ad2c5045-d41e-4df5-9fe8-8ebc8620945c" providerId="ADAL" clId="{6CD16BC9-44EA-44E8-87E4-CF6386EC4A08}" dt="2023-03-30T10:41:05.123" v="21" actId="1036"/>
          <ac:spMkLst>
            <pc:docMk/>
            <pc:sldMk cId="4181716701" sldId="2147471533"/>
            <ac:spMk id="14" creationId="{CA4E8096-79F6-4E13-80FA-52FF50222350}"/>
          </ac:spMkLst>
        </pc:spChg>
        <pc:spChg chg="mod">
          <ac:chgData name="Arya, Poojaa" userId="ad2c5045-d41e-4df5-9fe8-8ebc8620945c" providerId="ADAL" clId="{6CD16BC9-44EA-44E8-87E4-CF6386EC4A08}" dt="2023-03-30T10:41:05.123" v="21" actId="1036"/>
          <ac:spMkLst>
            <pc:docMk/>
            <pc:sldMk cId="4181716701" sldId="2147471533"/>
            <ac:spMk id="15" creationId="{C370F9A2-63D6-43E6-BC08-BB19273F9C83}"/>
          </ac:spMkLst>
        </pc:spChg>
        <pc:spChg chg="mod">
          <ac:chgData name="Arya, Poojaa" userId="ad2c5045-d41e-4df5-9fe8-8ebc8620945c" providerId="ADAL" clId="{6CD16BC9-44EA-44E8-87E4-CF6386EC4A08}" dt="2023-03-30T10:40:20.821" v="17" actId="1037"/>
          <ac:spMkLst>
            <pc:docMk/>
            <pc:sldMk cId="4181716701" sldId="2147471533"/>
            <ac:spMk id="17" creationId="{9DF47345-698E-4E42-9CA5-44BBE6698776}"/>
          </ac:spMkLst>
        </pc:spChg>
        <pc:spChg chg="mod">
          <ac:chgData name="Arya, Poojaa" userId="ad2c5045-d41e-4df5-9fe8-8ebc8620945c" providerId="ADAL" clId="{6CD16BC9-44EA-44E8-87E4-CF6386EC4A08}" dt="2023-03-30T10:41:04.677" v="20" actId="14100"/>
          <ac:spMkLst>
            <pc:docMk/>
            <pc:sldMk cId="4181716701" sldId="2147471533"/>
            <ac:spMk id="21" creationId="{A7EB348C-56A5-463C-BBF2-2B2A20829CAF}"/>
          </ac:spMkLst>
        </pc:spChg>
        <pc:spChg chg="mod">
          <ac:chgData name="Arya, Poojaa" userId="ad2c5045-d41e-4df5-9fe8-8ebc8620945c" providerId="ADAL" clId="{6CD16BC9-44EA-44E8-87E4-CF6386EC4A08}" dt="2023-03-30T10:40:20.821" v="17" actId="1037"/>
          <ac:spMkLst>
            <pc:docMk/>
            <pc:sldMk cId="4181716701" sldId="2147471533"/>
            <ac:spMk id="23" creationId="{724EE1D8-2685-4823-93D1-8771B8E053CA}"/>
          </ac:spMkLst>
        </pc:spChg>
        <pc:grpChg chg="mod">
          <ac:chgData name="Arya, Poojaa" userId="ad2c5045-d41e-4df5-9fe8-8ebc8620945c" providerId="ADAL" clId="{6CD16BC9-44EA-44E8-87E4-CF6386EC4A08}" dt="2023-03-30T10:40:57.190" v="19" actId="1076"/>
          <ac:grpSpMkLst>
            <pc:docMk/>
            <pc:sldMk cId="4181716701" sldId="2147471533"/>
            <ac:grpSpMk id="16" creationId="{8CBCD295-5AAD-4E0A-91A8-E9C837B66B05}"/>
          </ac:grpSpMkLst>
        </pc:grpChg>
      </pc:sldChg>
      <pc:sldChg chg="del">
        <pc:chgData name="Arya, Poojaa" userId="ad2c5045-d41e-4df5-9fe8-8ebc8620945c" providerId="ADAL" clId="{6CD16BC9-44EA-44E8-87E4-CF6386EC4A08}" dt="2023-03-30T11:23:27.960" v="527" actId="47"/>
        <pc:sldMkLst>
          <pc:docMk/>
          <pc:sldMk cId="1418602530" sldId="2147471539"/>
        </pc:sldMkLst>
      </pc:sldChg>
      <pc:sldChg chg="add del">
        <pc:chgData name="Arya, Poojaa" userId="ad2c5045-d41e-4df5-9fe8-8ebc8620945c" providerId="ADAL" clId="{6CD16BC9-44EA-44E8-87E4-CF6386EC4A08}" dt="2023-03-30T11:26:15.901" v="530" actId="47"/>
        <pc:sldMkLst>
          <pc:docMk/>
          <pc:sldMk cId="301557523" sldId="2147471557"/>
        </pc:sldMkLst>
      </pc:sldChg>
      <pc:sldChg chg="del">
        <pc:chgData name="Arya, Poojaa" userId="ad2c5045-d41e-4df5-9fe8-8ebc8620945c" providerId="ADAL" clId="{6CD16BC9-44EA-44E8-87E4-CF6386EC4A08}" dt="2023-03-30T11:23:13.937" v="525" actId="47"/>
        <pc:sldMkLst>
          <pc:docMk/>
          <pc:sldMk cId="2804696795" sldId="2147471557"/>
        </pc:sldMkLst>
      </pc:sldChg>
      <pc:sldChg chg="modSp add del mod">
        <pc:chgData name="Arya, Poojaa" userId="ad2c5045-d41e-4df5-9fe8-8ebc8620945c" providerId="ADAL" clId="{6CD16BC9-44EA-44E8-87E4-CF6386EC4A08}" dt="2023-03-30T11:18:01.467" v="404" actId="47"/>
        <pc:sldMkLst>
          <pc:docMk/>
          <pc:sldMk cId="2010173971" sldId="2147471558"/>
        </pc:sldMkLst>
        <pc:spChg chg="mod">
          <ac:chgData name="Arya, Poojaa" userId="ad2c5045-d41e-4df5-9fe8-8ebc8620945c" providerId="ADAL" clId="{6CD16BC9-44EA-44E8-87E4-CF6386EC4A08}" dt="2023-03-30T11:16:03.853" v="375" actId="20577"/>
          <ac:spMkLst>
            <pc:docMk/>
            <pc:sldMk cId="2010173971" sldId="2147471558"/>
            <ac:spMk id="8" creationId="{2C068A77-31DB-4AA7-B002-C83033C0AB7F}"/>
          </ac:spMkLst>
        </pc:spChg>
        <pc:spChg chg="mod">
          <ac:chgData name="Arya, Poojaa" userId="ad2c5045-d41e-4df5-9fe8-8ebc8620945c" providerId="ADAL" clId="{6CD16BC9-44EA-44E8-87E4-CF6386EC4A08}" dt="2023-03-30T11:11:32.416" v="102"/>
          <ac:spMkLst>
            <pc:docMk/>
            <pc:sldMk cId="2010173971" sldId="2147471558"/>
            <ac:spMk id="11" creationId="{0A035558-2D3A-47B8-BC09-8C000AAA5FE8}"/>
          </ac:spMkLst>
        </pc:spChg>
      </pc:sldChg>
      <pc:sldChg chg="delSp modSp add del mod">
        <pc:chgData name="Arya, Poojaa" userId="ad2c5045-d41e-4df5-9fe8-8ebc8620945c" providerId="ADAL" clId="{6CD16BC9-44EA-44E8-87E4-CF6386EC4A08}" dt="2023-03-30T11:11:13.795" v="69" actId="47"/>
        <pc:sldMkLst>
          <pc:docMk/>
          <pc:sldMk cId="4075294788" sldId="2147471558"/>
        </pc:sldMkLst>
        <pc:spChg chg="mod">
          <ac:chgData name="Arya, Poojaa" userId="ad2c5045-d41e-4df5-9fe8-8ebc8620945c" providerId="ADAL" clId="{6CD16BC9-44EA-44E8-87E4-CF6386EC4A08}" dt="2023-03-30T11:10:18.229" v="64"/>
          <ac:spMkLst>
            <pc:docMk/>
            <pc:sldMk cId="4075294788" sldId="2147471558"/>
            <ac:spMk id="37" creationId="{A6816D6F-3C93-4D13-B12A-55BE788798F2}"/>
          </ac:spMkLst>
        </pc:spChg>
        <pc:spChg chg="mod">
          <ac:chgData name="Arya, Poojaa" userId="ad2c5045-d41e-4df5-9fe8-8ebc8620945c" providerId="ADAL" clId="{6CD16BC9-44EA-44E8-87E4-CF6386EC4A08}" dt="2023-03-30T11:10:51.585" v="68" actId="1076"/>
          <ac:spMkLst>
            <pc:docMk/>
            <pc:sldMk cId="4075294788" sldId="2147471558"/>
            <ac:spMk id="38" creationId="{E09A5B88-FE0C-4D0F-9137-97A16F25C18D}"/>
          </ac:spMkLst>
        </pc:spChg>
        <pc:spChg chg="del">
          <ac:chgData name="Arya, Poojaa" userId="ad2c5045-d41e-4df5-9fe8-8ebc8620945c" providerId="ADAL" clId="{6CD16BC9-44EA-44E8-87E4-CF6386EC4A08}" dt="2023-03-30T11:10:35.052" v="65" actId="478"/>
          <ac:spMkLst>
            <pc:docMk/>
            <pc:sldMk cId="4075294788" sldId="2147471558"/>
            <ac:spMk id="39" creationId="{ED7AE602-9F3C-4558-936E-5477D373F339}"/>
          </ac:spMkLst>
        </pc:spChg>
      </pc:sldChg>
      <pc:sldChg chg="modSp add del mod">
        <pc:chgData name="Arya, Poojaa" userId="ad2c5045-d41e-4df5-9fe8-8ebc8620945c" providerId="ADAL" clId="{6CD16BC9-44EA-44E8-87E4-CF6386EC4A08}" dt="2023-03-30T11:23:11.217" v="524" actId="47"/>
        <pc:sldMkLst>
          <pc:docMk/>
          <pc:sldMk cId="3955113410" sldId="2147471559"/>
        </pc:sldMkLst>
        <pc:spChg chg="mod">
          <ac:chgData name="Arya, Poojaa" userId="ad2c5045-d41e-4df5-9fe8-8ebc8620945c" providerId="ADAL" clId="{6CD16BC9-44EA-44E8-87E4-CF6386EC4A08}" dt="2023-03-30T11:18:50.019" v="408" actId="113"/>
          <ac:spMkLst>
            <pc:docMk/>
            <pc:sldMk cId="3955113410" sldId="2147471559"/>
            <ac:spMk id="9" creationId="{10D219DD-433F-461F-B2A0-BB80E1774372}"/>
          </ac:spMkLst>
        </pc:spChg>
        <pc:spChg chg="mod">
          <ac:chgData name="Arya, Poojaa" userId="ad2c5045-d41e-4df5-9fe8-8ebc8620945c" providerId="ADAL" clId="{6CD16BC9-44EA-44E8-87E4-CF6386EC4A08}" dt="2023-03-30T11:16:47.889" v="377"/>
          <ac:spMkLst>
            <pc:docMk/>
            <pc:sldMk cId="3955113410" sldId="2147471559"/>
            <ac:spMk id="10" creationId="{34D0BC7E-56CD-4654-89F0-74B2234F837E}"/>
          </ac:spMkLst>
        </pc:spChg>
      </pc:sldChg>
      <pc:sldChg chg="add del">
        <pc:chgData name="Arya, Poojaa" userId="ad2c5045-d41e-4df5-9fe8-8ebc8620945c" providerId="ADAL" clId="{6CD16BC9-44EA-44E8-87E4-CF6386EC4A08}" dt="2023-03-30T11:31:32.495" v="587" actId="47"/>
        <pc:sldMkLst>
          <pc:docMk/>
          <pc:sldMk cId="710800895" sldId="2147471560"/>
        </pc:sldMkLst>
      </pc:sldChg>
      <pc:sldChg chg="add del">
        <pc:chgData name="Arya, Poojaa" userId="ad2c5045-d41e-4df5-9fe8-8ebc8620945c" providerId="ADAL" clId="{6CD16BC9-44EA-44E8-87E4-CF6386EC4A08}" dt="2023-03-30T11:23:17.904" v="526" actId="47"/>
        <pc:sldMkLst>
          <pc:docMk/>
          <pc:sldMk cId="1258964060" sldId="2147471560"/>
        </pc:sldMkLst>
      </pc:sldChg>
      <pc:sldChg chg="modSp add mod">
        <pc:chgData name="Arya, Poojaa" userId="ad2c5045-d41e-4df5-9fe8-8ebc8620945c" providerId="ADAL" clId="{6CD16BC9-44EA-44E8-87E4-CF6386EC4A08}" dt="2023-03-30T11:43:32.547" v="668" actId="20577"/>
        <pc:sldMkLst>
          <pc:docMk/>
          <pc:sldMk cId="792571339" sldId="2147471561"/>
        </pc:sldMkLst>
        <pc:spChg chg="mod">
          <ac:chgData name="Arya, Poojaa" userId="ad2c5045-d41e-4df5-9fe8-8ebc8620945c" providerId="ADAL" clId="{6CD16BC9-44EA-44E8-87E4-CF6386EC4A08}" dt="2023-03-30T11:22:36.246" v="523" actId="113"/>
          <ac:spMkLst>
            <pc:docMk/>
            <pc:sldMk cId="792571339" sldId="2147471561"/>
            <ac:spMk id="9" creationId="{10D219DD-433F-461F-B2A0-BB80E1774372}"/>
          </ac:spMkLst>
        </pc:spChg>
        <pc:spChg chg="mod">
          <ac:chgData name="Arya, Poojaa" userId="ad2c5045-d41e-4df5-9fe8-8ebc8620945c" providerId="ADAL" clId="{6CD16BC9-44EA-44E8-87E4-CF6386EC4A08}" dt="2023-03-30T11:43:32.547" v="668" actId="20577"/>
          <ac:spMkLst>
            <pc:docMk/>
            <pc:sldMk cId="792571339" sldId="2147471561"/>
            <ac:spMk id="10" creationId="{34D0BC7E-56CD-4654-89F0-74B2234F837E}"/>
          </ac:spMkLst>
        </pc:spChg>
      </pc:sldChg>
      <pc:sldChg chg="modSp add del mod">
        <pc:chgData name="Arya, Poojaa" userId="ad2c5045-d41e-4df5-9fe8-8ebc8620945c" providerId="ADAL" clId="{6CD16BC9-44EA-44E8-87E4-CF6386EC4A08}" dt="2023-03-30T11:31:21.008" v="586" actId="47"/>
        <pc:sldMkLst>
          <pc:docMk/>
          <pc:sldMk cId="3517763524" sldId="2147471562"/>
        </pc:sldMkLst>
        <pc:spChg chg="mod">
          <ac:chgData name="Arya, Poojaa" userId="ad2c5045-d41e-4df5-9fe8-8ebc8620945c" providerId="ADAL" clId="{6CD16BC9-44EA-44E8-87E4-CF6386EC4A08}" dt="2023-03-30T11:27:04.305" v="536"/>
          <ac:spMkLst>
            <pc:docMk/>
            <pc:sldMk cId="3517763524" sldId="2147471562"/>
            <ac:spMk id="5" creationId="{628862C6-C5F2-4936-8EB0-C4D1E14D810C}"/>
          </ac:spMkLst>
        </pc:spChg>
        <pc:graphicFrameChg chg="mod modGraphic">
          <ac:chgData name="Arya, Poojaa" userId="ad2c5045-d41e-4df5-9fe8-8ebc8620945c" providerId="ADAL" clId="{6CD16BC9-44EA-44E8-87E4-CF6386EC4A08}" dt="2023-03-30T11:29:49.690" v="581" actId="2164"/>
          <ac:graphicFrameMkLst>
            <pc:docMk/>
            <pc:sldMk cId="3517763524" sldId="2147471562"/>
            <ac:graphicFrameMk id="2" creationId="{FE7FB61B-3FDA-4F1C-AFF9-A90D2032811B}"/>
          </ac:graphicFrameMkLst>
        </pc:graphicFrameChg>
        <pc:picChg chg="mod">
          <ac:chgData name="Arya, Poojaa" userId="ad2c5045-d41e-4df5-9fe8-8ebc8620945c" providerId="ADAL" clId="{6CD16BC9-44EA-44E8-87E4-CF6386EC4A08}" dt="2023-03-30T11:28:31.671" v="544" actId="1036"/>
          <ac:picMkLst>
            <pc:docMk/>
            <pc:sldMk cId="3517763524" sldId="2147471562"/>
            <ac:picMk id="6" creationId="{92B130F3-55FA-48A4-B7F6-F5CD44003AB8}"/>
          </ac:picMkLst>
        </pc:picChg>
      </pc:sldChg>
      <pc:sldChg chg="addSp delSp modSp add mod addCm">
        <pc:chgData name="Arya, Poojaa" userId="ad2c5045-d41e-4df5-9fe8-8ebc8620945c" providerId="ADAL" clId="{6CD16BC9-44EA-44E8-87E4-CF6386EC4A08}" dt="2023-03-30T11:41:54.213" v="609"/>
        <pc:sldMkLst>
          <pc:docMk/>
          <pc:sldMk cId="3012955632" sldId="2147471563"/>
        </pc:sldMkLst>
        <pc:spChg chg="add del">
          <ac:chgData name="Arya, Poojaa" userId="ad2c5045-d41e-4df5-9fe8-8ebc8620945c" providerId="ADAL" clId="{6CD16BC9-44EA-44E8-87E4-CF6386EC4A08}" dt="2023-03-30T11:30:22.830" v="583" actId="22"/>
          <ac:spMkLst>
            <pc:docMk/>
            <pc:sldMk cId="3012955632" sldId="2147471563"/>
            <ac:spMk id="7" creationId="{CD9953B6-4445-4EF8-9671-A45BE05555F5}"/>
          </ac:spMkLst>
        </pc:spChg>
        <pc:spChg chg="mod">
          <ac:chgData name="Arya, Poojaa" userId="ad2c5045-d41e-4df5-9fe8-8ebc8620945c" providerId="ADAL" clId="{6CD16BC9-44EA-44E8-87E4-CF6386EC4A08}" dt="2023-03-30T11:29:02.035" v="546" actId="20577"/>
          <ac:spMkLst>
            <pc:docMk/>
            <pc:sldMk cId="3012955632" sldId="2147471563"/>
            <ac:spMk id="8" creationId="{2C068A77-31DB-4AA7-B002-C83033C0AB7F}"/>
          </ac:spMkLst>
        </pc:spChg>
        <pc:spChg chg="mod">
          <ac:chgData name="Arya, Poojaa" userId="ad2c5045-d41e-4df5-9fe8-8ebc8620945c" providerId="ADAL" clId="{6CD16BC9-44EA-44E8-87E4-CF6386EC4A08}" dt="2023-03-30T11:29:31.092" v="579"/>
          <ac:spMkLst>
            <pc:docMk/>
            <pc:sldMk cId="3012955632" sldId="2147471563"/>
            <ac:spMk id="11" creationId="{0A035558-2D3A-47B8-BC09-8C000AAA5FE8}"/>
          </ac:spMkLst>
        </pc:spChg>
        <pc:graphicFrameChg chg="add mod modGraphic">
          <ac:chgData name="Arya, Poojaa" userId="ad2c5045-d41e-4df5-9fe8-8ebc8620945c" providerId="ADAL" clId="{6CD16BC9-44EA-44E8-87E4-CF6386EC4A08}" dt="2023-03-30T11:41:06.357" v="608" actId="313"/>
          <ac:graphicFrameMkLst>
            <pc:docMk/>
            <pc:sldMk cId="3012955632" sldId="2147471563"/>
            <ac:graphicFrameMk id="3" creationId="{7332F4A2-70E4-411B-9572-51FAB7B5DA4D}"/>
          </ac:graphicFrameMkLst>
        </pc:graphicFrameChg>
      </pc:sldChg>
      <pc:sldChg chg="modSp add mod addCm">
        <pc:chgData name="Arya, Poojaa" userId="ad2c5045-d41e-4df5-9fe8-8ebc8620945c" providerId="ADAL" clId="{6CD16BC9-44EA-44E8-87E4-CF6386EC4A08}" dt="2023-03-30T11:47:21.113" v="686"/>
        <pc:sldMkLst>
          <pc:docMk/>
          <pc:sldMk cId="787092454" sldId="2147471564"/>
        </pc:sldMkLst>
        <pc:spChg chg="mod">
          <ac:chgData name="Arya, Poojaa" userId="ad2c5045-d41e-4df5-9fe8-8ebc8620945c" providerId="ADAL" clId="{6CD16BC9-44EA-44E8-87E4-CF6386EC4A08}" dt="2023-03-30T11:45:13.413" v="684" actId="6549"/>
          <ac:spMkLst>
            <pc:docMk/>
            <pc:sldMk cId="787092454" sldId="2147471564"/>
            <ac:spMk id="9" creationId="{10D219DD-433F-461F-B2A0-BB80E1774372}"/>
          </ac:spMkLst>
        </pc:spChg>
        <pc:spChg chg="mod">
          <ac:chgData name="Arya, Poojaa" userId="ad2c5045-d41e-4df5-9fe8-8ebc8620945c" providerId="ADAL" clId="{6CD16BC9-44EA-44E8-87E4-CF6386EC4A08}" dt="2023-03-30T11:44:48.354" v="677"/>
          <ac:spMkLst>
            <pc:docMk/>
            <pc:sldMk cId="787092454" sldId="2147471564"/>
            <ac:spMk id="10" creationId="{34D0BC7E-56CD-4654-89F0-74B2234F837E}"/>
          </ac:spMkLst>
        </pc:spChg>
      </pc:sldChg>
      <pc:sldChg chg="add del">
        <pc:chgData name="Arya, Poojaa" userId="ad2c5045-d41e-4df5-9fe8-8ebc8620945c" providerId="ADAL" clId="{6CD16BC9-44EA-44E8-87E4-CF6386EC4A08}" dt="2023-03-30T11:44:30.030" v="670" actId="47"/>
        <pc:sldMkLst>
          <pc:docMk/>
          <pc:sldMk cId="2122028357" sldId="2147471564"/>
        </pc:sldMkLst>
      </pc:sldChg>
    </pc:docChg>
  </pc:docChgLst>
  <pc:docChgLst>
    <pc:chgData name="Zaidi, Hasan" userId="ef35c43a-c6b7-4983-91af-e5db0e3d74e6" providerId="ADAL" clId="{7FBDF2D9-8285-9646-A200-2C90B3595556}"/>
    <pc:docChg chg="undo redo custSel addSld delSld modSld modSection">
      <pc:chgData name="Zaidi, Hasan" userId="ef35c43a-c6b7-4983-91af-e5db0e3d74e6" providerId="ADAL" clId="{7FBDF2D9-8285-9646-A200-2C90B3595556}" dt="2023-03-30T09:36:46.926" v="53"/>
      <pc:docMkLst>
        <pc:docMk/>
      </pc:docMkLst>
      <pc:sldChg chg="modSp add del mod addCm delCm">
        <pc:chgData name="Zaidi, Hasan" userId="ef35c43a-c6b7-4983-91af-e5db0e3d74e6" providerId="ADAL" clId="{7FBDF2D9-8285-9646-A200-2C90B3595556}" dt="2023-03-30T09:34:31.731" v="52"/>
        <pc:sldMkLst>
          <pc:docMk/>
          <pc:sldMk cId="1923095389" sldId="2145704899"/>
        </pc:sldMkLst>
        <pc:spChg chg="mod">
          <ac:chgData name="Zaidi, Hasan" userId="ef35c43a-c6b7-4983-91af-e5db0e3d74e6" providerId="ADAL" clId="{7FBDF2D9-8285-9646-A200-2C90B3595556}" dt="2023-03-30T09:22:10.614" v="44" actId="1035"/>
          <ac:spMkLst>
            <pc:docMk/>
            <pc:sldMk cId="1923095389" sldId="2145704899"/>
            <ac:spMk id="4" creationId="{FC30E349-E947-4CDD-87BC-80C2FA74637F}"/>
          </ac:spMkLst>
        </pc:spChg>
        <pc:spChg chg="mod">
          <ac:chgData name="Zaidi, Hasan" userId="ef35c43a-c6b7-4983-91af-e5db0e3d74e6" providerId="ADAL" clId="{7FBDF2D9-8285-9646-A200-2C90B3595556}" dt="2023-03-30T09:22:10.614" v="44" actId="1035"/>
          <ac:spMkLst>
            <pc:docMk/>
            <pc:sldMk cId="1923095389" sldId="2145704899"/>
            <ac:spMk id="9" creationId="{43B27286-E3F2-47BF-89F8-FE81932DE7BA}"/>
          </ac:spMkLst>
        </pc:spChg>
        <pc:spChg chg="mod">
          <ac:chgData name="Zaidi, Hasan" userId="ef35c43a-c6b7-4983-91af-e5db0e3d74e6" providerId="ADAL" clId="{7FBDF2D9-8285-9646-A200-2C90B3595556}" dt="2023-03-30T09:22:10.614" v="44" actId="1035"/>
          <ac:spMkLst>
            <pc:docMk/>
            <pc:sldMk cId="1923095389" sldId="2145704899"/>
            <ac:spMk id="10" creationId="{E6E186E5-FD70-4CFB-907B-526A63296B11}"/>
          </ac:spMkLst>
        </pc:spChg>
        <pc:spChg chg="mod">
          <ac:chgData name="Zaidi, Hasan" userId="ef35c43a-c6b7-4983-91af-e5db0e3d74e6" providerId="ADAL" clId="{7FBDF2D9-8285-9646-A200-2C90B3595556}" dt="2023-03-30T09:22:10.614" v="44" actId="1035"/>
          <ac:spMkLst>
            <pc:docMk/>
            <pc:sldMk cId="1923095389" sldId="2145704899"/>
            <ac:spMk id="11" creationId="{669D8D37-B7C4-42A7-8E31-A07EC87D2684}"/>
          </ac:spMkLst>
        </pc:spChg>
        <pc:spChg chg="mod">
          <ac:chgData name="Zaidi, Hasan" userId="ef35c43a-c6b7-4983-91af-e5db0e3d74e6" providerId="ADAL" clId="{7FBDF2D9-8285-9646-A200-2C90B3595556}" dt="2023-03-30T09:22:10.614" v="44" actId="1035"/>
          <ac:spMkLst>
            <pc:docMk/>
            <pc:sldMk cId="1923095389" sldId="2145704899"/>
            <ac:spMk id="12" creationId="{653B0CE3-7410-46A6-B1EE-BC2F6F35ED4B}"/>
          </ac:spMkLst>
        </pc:spChg>
        <pc:spChg chg="mod">
          <ac:chgData name="Zaidi, Hasan" userId="ef35c43a-c6b7-4983-91af-e5db0e3d74e6" providerId="ADAL" clId="{7FBDF2D9-8285-9646-A200-2C90B3595556}" dt="2023-03-30T09:21:21.264" v="17" actId="1036"/>
          <ac:spMkLst>
            <pc:docMk/>
            <pc:sldMk cId="1923095389" sldId="2145704899"/>
            <ac:spMk id="13" creationId="{5518BB10-A487-4050-8A3B-EAF5946E2078}"/>
          </ac:spMkLst>
        </pc:spChg>
        <pc:spChg chg="mod">
          <ac:chgData name="Zaidi, Hasan" userId="ef35c43a-c6b7-4983-91af-e5db0e3d74e6" providerId="ADAL" clId="{7FBDF2D9-8285-9646-A200-2C90B3595556}" dt="2023-03-30T09:21:12.917" v="12" actId="1035"/>
          <ac:spMkLst>
            <pc:docMk/>
            <pc:sldMk cId="1923095389" sldId="2145704899"/>
            <ac:spMk id="14" creationId="{34B47DE4-CEB7-4BE9-82B2-1F57E9AC0626}"/>
          </ac:spMkLst>
        </pc:spChg>
        <pc:spChg chg="mod">
          <ac:chgData name="Zaidi, Hasan" userId="ef35c43a-c6b7-4983-91af-e5db0e3d74e6" providerId="ADAL" clId="{7FBDF2D9-8285-9646-A200-2C90B3595556}" dt="2023-03-30T09:21:21.264" v="17" actId="1036"/>
          <ac:spMkLst>
            <pc:docMk/>
            <pc:sldMk cId="1923095389" sldId="2145704899"/>
            <ac:spMk id="15" creationId="{EA59A3E5-1A81-41DF-A568-DC179EBDCA8D}"/>
          </ac:spMkLst>
        </pc:spChg>
        <pc:spChg chg="mod">
          <ac:chgData name="Zaidi, Hasan" userId="ef35c43a-c6b7-4983-91af-e5db0e3d74e6" providerId="ADAL" clId="{7FBDF2D9-8285-9646-A200-2C90B3595556}" dt="2023-03-30T09:22:10.614" v="44" actId="1035"/>
          <ac:spMkLst>
            <pc:docMk/>
            <pc:sldMk cId="1923095389" sldId="2145704899"/>
            <ac:spMk id="16" creationId="{102C066D-D638-4361-A58E-E1166A3E1FEF}"/>
          </ac:spMkLst>
        </pc:spChg>
        <pc:spChg chg="mod">
          <ac:chgData name="Zaidi, Hasan" userId="ef35c43a-c6b7-4983-91af-e5db0e3d74e6" providerId="ADAL" clId="{7FBDF2D9-8285-9646-A200-2C90B3595556}" dt="2023-03-30T09:21:21.264" v="17" actId="1036"/>
          <ac:spMkLst>
            <pc:docMk/>
            <pc:sldMk cId="1923095389" sldId="2145704899"/>
            <ac:spMk id="20" creationId="{41868ADE-3A91-46CF-BCB7-D40704BB0FE9}"/>
          </ac:spMkLst>
        </pc:spChg>
        <pc:spChg chg="mod">
          <ac:chgData name="Zaidi, Hasan" userId="ef35c43a-c6b7-4983-91af-e5db0e3d74e6" providerId="ADAL" clId="{7FBDF2D9-8285-9646-A200-2C90B3595556}" dt="2023-03-30T09:22:10.614" v="44" actId="1035"/>
          <ac:spMkLst>
            <pc:docMk/>
            <pc:sldMk cId="1923095389" sldId="2145704899"/>
            <ac:spMk id="22" creationId="{36B52654-B899-4089-B901-5584D0E9477D}"/>
          </ac:spMkLst>
        </pc:spChg>
        <pc:spChg chg="mod">
          <ac:chgData name="Zaidi, Hasan" userId="ef35c43a-c6b7-4983-91af-e5db0e3d74e6" providerId="ADAL" clId="{7FBDF2D9-8285-9646-A200-2C90B3595556}" dt="2023-03-30T09:21:21.264" v="17" actId="1036"/>
          <ac:spMkLst>
            <pc:docMk/>
            <pc:sldMk cId="1923095389" sldId="2145704899"/>
            <ac:spMk id="23" creationId="{0BE29A42-C090-4478-8DB3-08FD55A34B75}"/>
          </ac:spMkLst>
        </pc:spChg>
        <pc:grpChg chg="mod">
          <ac:chgData name="Zaidi, Hasan" userId="ef35c43a-c6b7-4983-91af-e5db0e3d74e6" providerId="ADAL" clId="{7FBDF2D9-8285-9646-A200-2C90B3595556}" dt="2023-03-30T09:22:10.614" v="44" actId="1035"/>
          <ac:grpSpMkLst>
            <pc:docMk/>
            <pc:sldMk cId="1923095389" sldId="2145704899"/>
            <ac:grpSpMk id="17" creationId="{0AC9FEED-B10D-45FA-B636-4FA7610D3AC0}"/>
          </ac:grpSpMkLst>
        </pc:grpChg>
        <pc:extLst>
          <p:ext xmlns:p="http://schemas.openxmlformats.org/presentationml/2006/main" uri="{D6D511B9-2390-475A-947B-AFAB55BFBCF1}">
            <pc226:cmChg xmlns:pc226="http://schemas.microsoft.com/office/powerpoint/2022/06/main/command" chg="add del">
              <pc226:chgData name="Zaidi, Hasan" userId="ef35c43a-c6b7-4983-91af-e5db0e3d74e6" providerId="ADAL" clId="{7FBDF2D9-8285-9646-A200-2C90B3595556}" dt="2023-03-30T09:34:31.731" v="52"/>
              <pc2:cmMkLst xmlns:pc2="http://schemas.microsoft.com/office/powerpoint/2019/9/main/command">
                <pc:docMk/>
                <pc:sldMk cId="1923095389" sldId="2145704899"/>
                <pc2:cmMk id="{25728A78-3F40-B441-AD3C-EAE113E95DCE}"/>
              </pc2:cmMkLst>
            </pc226:cmChg>
          </p:ext>
        </pc:extLst>
      </pc:sldChg>
      <pc:sldChg chg="add del">
        <pc:chgData name="Zaidi, Hasan" userId="ef35c43a-c6b7-4983-91af-e5db0e3d74e6" providerId="ADAL" clId="{7FBDF2D9-8285-9646-A200-2C90B3595556}" dt="2023-03-30T09:34:27.781" v="49" actId="2696"/>
        <pc:sldMkLst>
          <pc:docMk/>
          <pc:sldMk cId="1602027165" sldId="2145704900"/>
        </pc:sldMkLst>
      </pc:sldChg>
      <pc:sldChg chg="addCm">
        <pc:chgData name="Zaidi, Hasan" userId="ef35c43a-c6b7-4983-91af-e5db0e3d74e6" providerId="ADAL" clId="{7FBDF2D9-8285-9646-A200-2C90B3595556}" dt="2023-03-30T09:17:29.918" v="5"/>
        <pc:sldMkLst>
          <pc:docMk/>
          <pc:sldMk cId="888683849" sldId="2147471531"/>
        </pc:sldMkLst>
        <pc:extLst>
          <p:ext xmlns:p="http://schemas.openxmlformats.org/presentationml/2006/main" uri="{D6D511B9-2390-475A-947B-AFAB55BFBCF1}">
            <pc226:cmChg xmlns:pc226="http://schemas.microsoft.com/office/powerpoint/2022/06/main/command" chg="add">
              <pc226:chgData name="Zaidi, Hasan" userId="ef35c43a-c6b7-4983-91af-e5db0e3d74e6" providerId="ADAL" clId="{7FBDF2D9-8285-9646-A200-2C90B3595556}" dt="2023-03-30T09:17:29.918" v="5"/>
              <pc2:cmMkLst xmlns:pc2="http://schemas.microsoft.com/office/powerpoint/2019/9/main/command">
                <pc:docMk/>
                <pc:sldMk cId="888683849" sldId="2147471531"/>
                <pc2:cmMk id="{639FCC46-03D3-3F46-8DCC-AA9377E42DA1}"/>
              </pc2:cmMkLst>
            </pc226:cmChg>
          </p:ext>
        </pc:extLst>
      </pc:sldChg>
      <pc:sldChg chg="addCm">
        <pc:chgData name="Zaidi, Hasan" userId="ef35c43a-c6b7-4983-91af-e5db0e3d74e6" providerId="ADAL" clId="{7FBDF2D9-8285-9646-A200-2C90B3595556}" dt="2023-03-30T09:36:46.926" v="53"/>
        <pc:sldMkLst>
          <pc:docMk/>
          <pc:sldMk cId="1668157395" sldId="2147471542"/>
        </pc:sldMkLst>
        <pc:extLst>
          <p:ext xmlns:p="http://schemas.openxmlformats.org/presentationml/2006/main" uri="{D6D511B9-2390-475A-947B-AFAB55BFBCF1}">
            <pc226:cmChg xmlns:pc226="http://schemas.microsoft.com/office/powerpoint/2022/06/main/command" chg="add">
              <pc226:chgData name="Zaidi, Hasan" userId="ef35c43a-c6b7-4983-91af-e5db0e3d74e6" providerId="ADAL" clId="{7FBDF2D9-8285-9646-A200-2C90B3595556}" dt="2023-03-30T09:36:46.926" v="53"/>
              <pc2:cmMkLst xmlns:pc2="http://schemas.microsoft.com/office/powerpoint/2019/9/main/command">
                <pc:docMk/>
                <pc:sldMk cId="1668157395" sldId="2147471542"/>
                <pc2:cmMk id="{3F3027CA-E42B-B241-AEAC-C1B8079F1C20}"/>
              </pc2:cmMkLst>
            </pc226:cmChg>
          </p:ext>
        </pc:extLst>
      </pc:sldChg>
      <pc:sldChg chg="addCm">
        <pc:chgData name="Zaidi, Hasan" userId="ef35c43a-c6b7-4983-91af-e5db0e3d74e6" providerId="ADAL" clId="{7FBDF2D9-8285-9646-A200-2C90B3595556}" dt="2023-03-30T09:29:04.013" v="45"/>
        <pc:sldMkLst>
          <pc:docMk/>
          <pc:sldMk cId="2509133036" sldId="2147471544"/>
        </pc:sldMkLst>
        <pc:extLst>
          <p:ext xmlns:p="http://schemas.openxmlformats.org/presentationml/2006/main" uri="{D6D511B9-2390-475A-947B-AFAB55BFBCF1}">
            <pc226:cmChg xmlns:pc226="http://schemas.microsoft.com/office/powerpoint/2022/06/main/command" chg="add">
              <pc226:chgData name="Zaidi, Hasan" userId="ef35c43a-c6b7-4983-91af-e5db0e3d74e6" providerId="ADAL" clId="{7FBDF2D9-8285-9646-A200-2C90B3595556}" dt="2023-03-30T09:29:04.013" v="45"/>
              <pc2:cmMkLst xmlns:pc2="http://schemas.microsoft.com/office/powerpoint/2019/9/main/command">
                <pc:docMk/>
                <pc:sldMk cId="2509133036" sldId="2147471544"/>
                <pc2:cmMk id="{B0983464-AB32-0B47-845D-6DF6A2F9A0CA}"/>
              </pc2:cmMkLst>
            </pc226:cmChg>
          </p:ext>
        </pc:extLst>
      </pc:sldChg>
      <pc:sldChg chg="add del addCm delCm modCm">
        <pc:chgData name="Zaidi, Hasan" userId="ef35c43a-c6b7-4983-91af-e5db0e3d74e6" providerId="ADAL" clId="{7FBDF2D9-8285-9646-A200-2C90B3595556}" dt="2023-03-30T09:00:48.601" v="4"/>
        <pc:sldMkLst>
          <pc:docMk/>
          <pc:sldMk cId="2944504653" sldId="2147471545"/>
        </pc:sldMkLst>
        <pc:extLst>
          <p:ext xmlns:p="http://schemas.openxmlformats.org/presentationml/2006/main" uri="{D6D511B9-2390-475A-947B-AFAB55BFBCF1}">
            <pc226:cmChg xmlns:pc226="http://schemas.microsoft.com/office/powerpoint/2022/06/main/command" chg="add del mod">
              <pc226:chgData name="Zaidi, Hasan" userId="ef35c43a-c6b7-4983-91af-e5db0e3d74e6" providerId="ADAL" clId="{7FBDF2D9-8285-9646-A200-2C90B3595556}" dt="2023-03-30T09:00:48.601" v="4"/>
              <pc2:cmMkLst xmlns:pc2="http://schemas.microsoft.com/office/powerpoint/2019/9/main/command">
                <pc:docMk/>
                <pc:sldMk cId="2944504653" sldId="2147471545"/>
                <pc2:cmMk id="{910DD22F-E912-8440-8458-FEEACB11098B}"/>
              </pc2:cmMkLst>
            </pc226:cmChg>
          </p:ext>
        </pc:extLst>
      </pc:sldChg>
    </pc:docChg>
  </pc:docChgLst>
  <pc:docChgLst>
    <pc:chgData name="Thakkar, Devangkumar" userId="4ac1fb3a-77d4-44bc-b091-8bb958f67a41" providerId="ADAL" clId="{A6EFEA14-7A9F-4CBF-A5D4-E0FF1020BCBF}"/>
    <pc:docChg chg="">
      <pc:chgData name="Thakkar, Devangkumar" userId="4ac1fb3a-77d4-44bc-b091-8bb958f67a41" providerId="ADAL" clId="{A6EFEA14-7A9F-4CBF-A5D4-E0FF1020BCBF}" dt="2023-03-30T13:09:14.317" v="0"/>
      <pc:docMkLst>
        <pc:docMk/>
      </pc:docMkLst>
      <pc:sldChg chg="modCm">
        <pc:chgData name="Thakkar, Devangkumar" userId="4ac1fb3a-77d4-44bc-b091-8bb958f67a41" providerId="ADAL" clId="{A6EFEA14-7A9F-4CBF-A5D4-E0FF1020BCBF}" dt="2023-03-30T13:09:14.317" v="0"/>
        <pc:sldMkLst>
          <pc:docMk/>
          <pc:sldMk cId="2509133036" sldId="2147471544"/>
        </pc:sldMkLst>
      </pc:sldChg>
    </pc:docChg>
  </pc:docChgLst>
  <pc:docChgLst>
    <pc:chgData name="Khalsa, Sonia Khalsa" userId="c636f597-9ace-42ab-a72f-7a1818fda409" providerId="ADAL" clId="{D2755A1D-13FF-4E0B-8994-4CE4C0662D0B}"/>
    <pc:docChg chg="undo custSel addSld modSld sldOrd modSection">
      <pc:chgData name="Khalsa, Sonia Khalsa" userId="c636f597-9ace-42ab-a72f-7a1818fda409" providerId="ADAL" clId="{D2755A1D-13FF-4E0B-8994-4CE4C0662D0B}" dt="2023-03-30T11:09:22.459" v="106" actId="478"/>
      <pc:docMkLst>
        <pc:docMk/>
      </pc:docMkLst>
      <pc:sldChg chg="add">
        <pc:chgData name="Khalsa, Sonia Khalsa" userId="c636f597-9ace-42ab-a72f-7a1818fda409" providerId="ADAL" clId="{D2755A1D-13FF-4E0B-8994-4CE4C0662D0B}" dt="2023-03-29T16:27:24.934" v="2"/>
        <pc:sldMkLst>
          <pc:docMk/>
          <pc:sldMk cId="2207324743" sldId="2145704756"/>
        </pc:sldMkLst>
      </pc:sldChg>
      <pc:sldChg chg="addCm">
        <pc:chgData name="Khalsa, Sonia Khalsa" userId="c636f597-9ace-42ab-a72f-7a1818fda409" providerId="ADAL" clId="{D2755A1D-13FF-4E0B-8994-4CE4C0662D0B}" dt="2023-03-30T10:57:18.732" v="26"/>
        <pc:sldMkLst>
          <pc:docMk/>
          <pc:sldMk cId="1602027165" sldId="2145704900"/>
        </pc:sldMkLst>
      </pc:sldChg>
      <pc:sldChg chg="ord">
        <pc:chgData name="Khalsa, Sonia Khalsa" userId="c636f597-9ace-42ab-a72f-7a1818fda409" providerId="ADAL" clId="{D2755A1D-13FF-4E0B-8994-4CE4C0662D0B}" dt="2023-03-29T16:26:57.312" v="1"/>
        <pc:sldMkLst>
          <pc:docMk/>
          <pc:sldMk cId="2160829243" sldId="2147471514"/>
        </pc:sldMkLst>
      </pc:sldChg>
      <pc:sldChg chg="addSp delSp modSp mod">
        <pc:chgData name="Khalsa, Sonia Khalsa" userId="c636f597-9ace-42ab-a72f-7a1818fda409" providerId="ADAL" clId="{D2755A1D-13FF-4E0B-8994-4CE4C0662D0B}" dt="2023-03-29T16:29:39.896" v="22" actId="20577"/>
        <pc:sldMkLst>
          <pc:docMk/>
          <pc:sldMk cId="915411698" sldId="2147471522"/>
        </pc:sldMkLst>
        <pc:spChg chg="mod">
          <ac:chgData name="Khalsa, Sonia Khalsa" userId="c636f597-9ace-42ab-a72f-7a1818fda409" providerId="ADAL" clId="{D2755A1D-13FF-4E0B-8994-4CE4C0662D0B}" dt="2023-03-29T16:27:57.005" v="4" actId="20577"/>
          <ac:spMkLst>
            <pc:docMk/>
            <pc:sldMk cId="915411698" sldId="2147471522"/>
            <ac:spMk id="12" creationId="{E46E540B-5FDF-4793-A5D4-06386FE7982F}"/>
          </ac:spMkLst>
        </pc:spChg>
        <pc:spChg chg="mod">
          <ac:chgData name="Khalsa, Sonia Khalsa" userId="c636f597-9ace-42ab-a72f-7a1818fda409" providerId="ADAL" clId="{D2755A1D-13FF-4E0B-8994-4CE4C0662D0B}" dt="2023-03-29T16:28:20.199" v="6" actId="20577"/>
          <ac:spMkLst>
            <pc:docMk/>
            <pc:sldMk cId="915411698" sldId="2147471522"/>
            <ac:spMk id="15" creationId="{38F696E8-D463-4AFA-86A7-2AB7D1AFB85E}"/>
          </ac:spMkLst>
        </pc:spChg>
        <pc:spChg chg="mod">
          <ac:chgData name="Khalsa, Sonia Khalsa" userId="c636f597-9ace-42ab-a72f-7a1818fda409" providerId="ADAL" clId="{D2755A1D-13FF-4E0B-8994-4CE4C0662D0B}" dt="2023-03-29T16:28:23.294" v="8" actId="20577"/>
          <ac:spMkLst>
            <pc:docMk/>
            <pc:sldMk cId="915411698" sldId="2147471522"/>
            <ac:spMk id="16" creationId="{FAE40DE5-FE96-4169-809E-1C7E4738B3E7}"/>
          </ac:spMkLst>
        </pc:spChg>
        <pc:spChg chg="mod">
          <ac:chgData name="Khalsa, Sonia Khalsa" userId="c636f597-9ace-42ab-a72f-7a1818fda409" providerId="ADAL" clId="{D2755A1D-13FF-4E0B-8994-4CE4C0662D0B}" dt="2023-03-29T16:29:39.896" v="22" actId="20577"/>
          <ac:spMkLst>
            <pc:docMk/>
            <pc:sldMk cId="915411698" sldId="2147471522"/>
            <ac:spMk id="17" creationId="{CB9FD49F-AEBA-4E1F-8FDD-71EBF5CC24A6}"/>
          </ac:spMkLst>
        </pc:spChg>
        <pc:spChg chg="add del mod">
          <ac:chgData name="Khalsa, Sonia Khalsa" userId="c636f597-9ace-42ab-a72f-7a1818fda409" providerId="ADAL" clId="{D2755A1D-13FF-4E0B-8994-4CE4C0662D0B}" dt="2023-03-29T16:29:36.680" v="20" actId="22"/>
          <ac:spMkLst>
            <pc:docMk/>
            <pc:sldMk cId="915411698" sldId="2147471522"/>
            <ac:spMk id="18" creationId="{020A2282-E14A-4F62-9B00-0D3A30300754}"/>
          </ac:spMkLst>
        </pc:spChg>
      </pc:sldChg>
      <pc:sldChg chg="modSp mod modCm">
        <pc:chgData name="Khalsa, Sonia Khalsa" userId="c636f597-9ace-42ab-a72f-7a1818fda409" providerId="ADAL" clId="{D2755A1D-13FF-4E0B-8994-4CE4C0662D0B}" dt="2023-03-30T10:59:02.631" v="28"/>
        <pc:sldMkLst>
          <pc:docMk/>
          <pc:sldMk cId="4181716701" sldId="2147471533"/>
        </pc:sldMkLst>
        <pc:spChg chg="mod">
          <ac:chgData name="Khalsa, Sonia Khalsa" userId="c636f597-9ace-42ab-a72f-7a1818fda409" providerId="ADAL" clId="{D2755A1D-13FF-4E0B-8994-4CE4C0662D0B}" dt="2023-03-30T10:51:22.863" v="23" actId="6549"/>
          <ac:spMkLst>
            <pc:docMk/>
            <pc:sldMk cId="4181716701" sldId="2147471533"/>
            <ac:spMk id="4" creationId="{BF4D705C-9B48-4B4B-87DE-BC459130558D}"/>
          </ac:spMkLst>
        </pc:spChg>
        <pc:picChg chg="mod">
          <ac:chgData name="Khalsa, Sonia Khalsa" userId="c636f597-9ace-42ab-a72f-7a1818fda409" providerId="ADAL" clId="{D2755A1D-13FF-4E0B-8994-4CE4C0662D0B}" dt="2023-03-30T10:51:35.834" v="24" actId="1076"/>
          <ac:picMkLst>
            <pc:docMk/>
            <pc:sldMk cId="4181716701" sldId="2147471533"/>
            <ac:picMk id="47" creationId="{9DD8A0FC-E537-48AF-9B44-3880FD108EA3}"/>
          </ac:picMkLst>
        </pc:picChg>
      </pc:sldChg>
      <pc:sldChg chg="modSp mod addCm">
        <pc:chgData name="Khalsa, Sonia Khalsa" userId="c636f597-9ace-42ab-a72f-7a1818fda409" providerId="ADAL" clId="{D2755A1D-13FF-4E0B-8994-4CE4C0662D0B}" dt="2023-03-30T11:06:12.391" v="75" actId="1036"/>
        <pc:sldMkLst>
          <pc:docMk/>
          <pc:sldMk cId="607773637" sldId="2147471537"/>
        </pc:sldMkLst>
        <pc:spChg chg="mod">
          <ac:chgData name="Khalsa, Sonia Khalsa" userId="c636f597-9ace-42ab-a72f-7a1818fda409" providerId="ADAL" clId="{D2755A1D-13FF-4E0B-8994-4CE4C0662D0B}" dt="2023-03-30T11:01:22.008" v="33" actId="20577"/>
          <ac:spMkLst>
            <pc:docMk/>
            <pc:sldMk cId="607773637" sldId="2147471537"/>
            <ac:spMk id="44" creationId="{DA05FEC2-F957-4E35-A5C0-0D2F757B9D60}"/>
          </ac:spMkLst>
        </pc:spChg>
        <pc:spChg chg="mod">
          <ac:chgData name="Khalsa, Sonia Khalsa" userId="c636f597-9ace-42ab-a72f-7a1818fda409" providerId="ADAL" clId="{D2755A1D-13FF-4E0B-8994-4CE4C0662D0B}" dt="2023-03-30T11:01:10.790" v="30" actId="14100"/>
          <ac:spMkLst>
            <pc:docMk/>
            <pc:sldMk cId="607773637" sldId="2147471537"/>
            <ac:spMk id="45" creationId="{4CB38C02-2186-4ED5-8A17-7ABD0413F778}"/>
          </ac:spMkLst>
        </pc:spChg>
        <pc:spChg chg="mod">
          <ac:chgData name="Khalsa, Sonia Khalsa" userId="c636f597-9ace-42ab-a72f-7a1818fda409" providerId="ADAL" clId="{D2755A1D-13FF-4E0B-8994-4CE4C0662D0B}" dt="2023-03-30T11:01:55.986" v="73" actId="6549"/>
          <ac:spMkLst>
            <pc:docMk/>
            <pc:sldMk cId="607773637" sldId="2147471537"/>
            <ac:spMk id="50" creationId="{A114EF3E-0F88-413C-AF68-AC3BA2812BB3}"/>
          </ac:spMkLst>
        </pc:spChg>
        <pc:spChg chg="mod">
          <ac:chgData name="Khalsa, Sonia Khalsa" userId="c636f597-9ace-42ab-a72f-7a1818fda409" providerId="ADAL" clId="{D2755A1D-13FF-4E0B-8994-4CE4C0662D0B}" dt="2023-03-30T11:06:12.391" v="75" actId="1036"/>
          <ac:spMkLst>
            <pc:docMk/>
            <pc:sldMk cId="607773637" sldId="2147471537"/>
            <ac:spMk id="52" creationId="{E988DC02-0488-45CA-862E-2F9E0517B4D5}"/>
          </ac:spMkLst>
        </pc:spChg>
      </pc:sldChg>
      <pc:sldChg chg="modSp mod">
        <pc:chgData name="Khalsa, Sonia Khalsa" userId="c636f597-9ace-42ab-a72f-7a1818fda409" providerId="ADAL" clId="{D2755A1D-13FF-4E0B-8994-4CE4C0662D0B}" dt="2023-03-30T11:08:35.413" v="95" actId="14100"/>
        <pc:sldMkLst>
          <pc:docMk/>
          <pc:sldMk cId="1418602530" sldId="2147471539"/>
        </pc:sldMkLst>
        <pc:spChg chg="mod">
          <ac:chgData name="Khalsa, Sonia Khalsa" userId="c636f597-9ace-42ab-a72f-7a1818fda409" providerId="ADAL" clId="{D2755A1D-13FF-4E0B-8994-4CE4C0662D0B}" dt="2023-03-30T11:08:35.413" v="95" actId="14100"/>
          <ac:spMkLst>
            <pc:docMk/>
            <pc:sldMk cId="1418602530" sldId="2147471539"/>
            <ac:spMk id="117" creationId="{8F2F6053-F07B-4402-9178-E87268C11779}"/>
          </ac:spMkLst>
        </pc:spChg>
        <pc:picChg chg="mod">
          <ac:chgData name="Khalsa, Sonia Khalsa" userId="c636f597-9ace-42ab-a72f-7a1818fda409" providerId="ADAL" clId="{D2755A1D-13FF-4E0B-8994-4CE4C0662D0B}" dt="2023-03-30T11:06:41.695" v="76" actId="1076"/>
          <ac:picMkLst>
            <pc:docMk/>
            <pc:sldMk cId="1418602530" sldId="2147471539"/>
            <ac:picMk id="5" creationId="{2909BCF0-0A0A-47E8-97E8-6788C8990EBE}"/>
          </ac:picMkLst>
        </pc:picChg>
      </pc:sldChg>
      <pc:sldChg chg="add">
        <pc:chgData name="Khalsa, Sonia Khalsa" userId="c636f597-9ace-42ab-a72f-7a1818fda409" providerId="ADAL" clId="{D2755A1D-13FF-4E0B-8994-4CE4C0662D0B}" dt="2023-03-29T16:27:24.934" v="2"/>
        <pc:sldMkLst>
          <pc:docMk/>
          <pc:sldMk cId="2944504653" sldId="2147471545"/>
        </pc:sldMkLst>
      </pc:sldChg>
      <pc:sldChg chg="addCm">
        <pc:chgData name="Khalsa, Sonia Khalsa" userId="c636f597-9ace-42ab-a72f-7a1818fda409" providerId="ADAL" clId="{D2755A1D-13FF-4E0B-8994-4CE4C0662D0B}" dt="2023-03-30T10:58:01.630" v="27"/>
        <pc:sldMkLst>
          <pc:docMk/>
          <pc:sldMk cId="2399940656" sldId="2147471554"/>
        </pc:sldMkLst>
      </pc:sldChg>
      <pc:sldChg chg="addSp delSp modSp add mod">
        <pc:chgData name="Khalsa, Sonia Khalsa" userId="c636f597-9ace-42ab-a72f-7a1818fda409" providerId="ADAL" clId="{D2755A1D-13FF-4E0B-8994-4CE4C0662D0B}" dt="2023-03-30T11:09:22.459" v="106" actId="478"/>
        <pc:sldMkLst>
          <pc:docMk/>
          <pc:sldMk cId="2804696795" sldId="2147471557"/>
        </pc:sldMkLst>
        <pc:spChg chg="add del mod">
          <ac:chgData name="Khalsa, Sonia Khalsa" userId="c636f597-9ace-42ab-a72f-7a1818fda409" providerId="ADAL" clId="{D2755A1D-13FF-4E0B-8994-4CE4C0662D0B}" dt="2023-03-30T11:09:10.462" v="103" actId="478"/>
          <ac:spMkLst>
            <pc:docMk/>
            <pc:sldMk cId="2804696795" sldId="2147471557"/>
            <ac:spMk id="7" creationId="{80CC4D11-0499-4544-A5B4-F25180F07EE0}"/>
          </ac:spMkLst>
        </pc:spChg>
        <pc:spChg chg="add del mod">
          <ac:chgData name="Khalsa, Sonia Khalsa" userId="c636f597-9ace-42ab-a72f-7a1818fda409" providerId="ADAL" clId="{D2755A1D-13FF-4E0B-8994-4CE4C0662D0B}" dt="2023-03-30T11:09:22.459" v="106" actId="478"/>
          <ac:spMkLst>
            <pc:docMk/>
            <pc:sldMk cId="2804696795" sldId="2147471557"/>
            <ac:spMk id="9" creationId="{C3889D97-740D-40D4-9FEC-14D2ED580310}"/>
          </ac:spMkLst>
        </pc:spChg>
        <pc:spChg chg="mod">
          <ac:chgData name="Khalsa, Sonia Khalsa" userId="c636f597-9ace-42ab-a72f-7a1818fda409" providerId="ADAL" clId="{D2755A1D-13FF-4E0B-8994-4CE4C0662D0B}" dt="2023-03-30T11:08:29.881" v="94" actId="20577"/>
          <ac:spMkLst>
            <pc:docMk/>
            <pc:sldMk cId="2804696795" sldId="2147471557"/>
            <ac:spMk id="37" creationId="{A6816D6F-3C93-4D13-B12A-55BE788798F2}"/>
          </ac:spMkLst>
        </pc:spChg>
        <pc:spChg chg="del mod">
          <ac:chgData name="Khalsa, Sonia Khalsa" userId="c636f597-9ace-42ab-a72f-7a1818fda409" providerId="ADAL" clId="{D2755A1D-13FF-4E0B-8994-4CE4C0662D0B}" dt="2023-03-30T11:08:44.104" v="99" actId="478"/>
          <ac:spMkLst>
            <pc:docMk/>
            <pc:sldMk cId="2804696795" sldId="2147471557"/>
            <ac:spMk id="38" creationId="{E09A5B88-FE0C-4D0F-9137-97A16F25C18D}"/>
          </ac:spMkLst>
        </pc:spChg>
        <pc:spChg chg="del mod">
          <ac:chgData name="Khalsa, Sonia Khalsa" userId="c636f597-9ace-42ab-a72f-7a1818fda409" providerId="ADAL" clId="{D2755A1D-13FF-4E0B-8994-4CE4C0662D0B}" dt="2023-03-30T11:08:41.429" v="97" actId="478"/>
          <ac:spMkLst>
            <pc:docMk/>
            <pc:sldMk cId="2804696795" sldId="2147471557"/>
            <ac:spMk id="39" creationId="{ED7AE602-9F3C-4558-936E-5477D373F339}"/>
          </ac:spMkLst>
        </pc:spChg>
      </pc:sldChg>
    </pc:docChg>
  </pc:docChgLst>
</pc:chgInfo>
</file>

<file path=ppt/comments/modernComment_7FE4DBC3_72A01B5D.xml><?xml version="1.0" encoding="utf-8"?>
<p188:cmLst xmlns:a="http://schemas.openxmlformats.org/drawingml/2006/main" xmlns:r="http://schemas.openxmlformats.org/officeDocument/2006/relationships" xmlns:p188="http://schemas.microsoft.com/office/powerpoint/2018/8/main">
  <p188:cm id="{25728A78-3F40-B441-AD3C-EAE113E95DCE}" authorId="{C7ECB3A7-604A-C96A-29FE-A23DC3099577}" created="2023-03-30T09:34:14.011">
    <pc:sldMkLst xmlns:pc="http://schemas.microsoft.com/office/powerpoint/2013/main/command">
      <pc:docMk/>
      <pc:sldMk cId="1923095389" sldId="2145704899"/>
    </pc:sldMkLst>
    <p188:txBody>
      <a:bodyPr/>
      <a:lstStyle/>
      <a:p>
        <a:r>
          <a:rPr lang="en-US"/>
          <a:t>[@Somaiyya, Jigar] this should include all integration tools we will be using at DT, or if needed we should add slides for GG, ODI</a:t>
        </a:r>
      </a:p>
    </p188:txBody>
  </p188:cm>
</p188:cmLst>
</file>

<file path=ppt/comments/modernComment_7FE4DBC4_5F7CFE9D.xml><?xml version="1.0" encoding="utf-8"?>
<p188:cmLst xmlns:a="http://schemas.openxmlformats.org/drawingml/2006/main" xmlns:r="http://schemas.openxmlformats.org/officeDocument/2006/relationships" xmlns:p188="http://schemas.microsoft.com/office/powerpoint/2018/8/main">
  <p188:cm id="{9730C8F5-D3D5-4899-AB55-E658994EF1B2}" authorId="{E86378A0-5BE7-10A3-0164-7F368022F5BA}" created="2023-03-30T10:57:18.575">
    <pc:sldMkLst xmlns:pc="http://schemas.microsoft.com/office/powerpoint/2013/main/command">
      <pc:docMk/>
      <pc:sldMk cId="1602027165" sldId="2145704900"/>
    </pc:sldMkLst>
    <p188:txBody>
      <a:bodyPr/>
      <a:lstStyle/>
      <a:p>
        <a:r>
          <a:rPr lang="en-US"/>
          <a:t>Working on Error Handling specific to Retail. </a:t>
        </a:r>
      </a:p>
    </p188:txBody>
  </p188:cm>
</p188:cmLst>
</file>

<file path=ppt/comments/modernComment_7FFFD0AB_34F83D49.xml><?xml version="1.0" encoding="utf-8"?>
<p188:cmLst xmlns:a="http://schemas.openxmlformats.org/drawingml/2006/main" xmlns:r="http://schemas.openxmlformats.org/officeDocument/2006/relationships" xmlns:p188="http://schemas.microsoft.com/office/powerpoint/2018/8/main">
  <p188:cm id="{639FCC46-03D3-3F46-8DCC-AA9377E42DA1}" authorId="{C7ECB3A7-604A-C96A-29FE-A23DC3099577}" created="2023-03-30T09:17:29.859">
    <pc:sldMkLst xmlns:pc="http://schemas.microsoft.com/office/powerpoint/2013/main/command">
      <pc:docMk/>
      <pc:sldMk cId="888683849" sldId="2147471531"/>
    </pc:sldMkLst>
    <p188:replyLst>
      <p188:reply id="{DA6EE1BF-E63C-4BEC-8E34-AF0289C5279B}" authorId="{E1CC64A4-B7E8-0D93-1FE7-45F5DE6026B0}" created="2023-03-30T09:59:38.251">
        <p188:txBody>
          <a:bodyPr/>
          <a:lstStyle/>
          <a:p>
            <a:r>
              <a:rPr lang="en-US"/>
              <a:t>[@Zaidi, Hasan] - Sure we can add, do you have any pointers which I can reword or reuse.
</a:t>
            </a:r>
          </a:p>
        </p188:txBody>
      </p188:reply>
    </p188:replyLst>
    <p188:txBody>
      <a:bodyPr/>
      <a:lstStyle/>
      <a:p>
        <a:r>
          <a:rPr lang="en-US"/>
          <a:t>[@Somaiyya, Jigar] we will be using API GW at DT to expose integrations, FYI, please add it to architecture and design considerations. We should also include leading practices or guidelines for DB usage within integrations, when to use. We will be building an ODS, also use it for staging and canonical models. Details TBD.</a:t>
        </a:r>
      </a:p>
    </p188:txBody>
  </p188:cm>
</p188:cmLst>
</file>

<file path=ppt/comments/modernComment_7FFFD0AD_F93FEEDD.xml><?xml version="1.0" encoding="utf-8"?>
<p188:cmLst xmlns:a="http://schemas.openxmlformats.org/drawingml/2006/main" xmlns:r="http://schemas.openxmlformats.org/officeDocument/2006/relationships" xmlns:p188="http://schemas.microsoft.com/office/powerpoint/2018/8/main">
  <p188:cm id="{68A20FFE-41F6-2C47-9C50-7541C63795AA}" authorId="{0B19AC32-CB29-CAE2-EF41-1FD7F1E2D89C}" created="2023-03-29T18:38:56.448">
    <pc:sldMkLst xmlns:pc="http://schemas.microsoft.com/office/powerpoint/2013/main/command">
      <pc:docMk/>
      <pc:sldMk cId="4181716701" sldId="2147471533"/>
    </pc:sldMkLst>
    <p188:replyLst>
      <p188:reply id="{D2C45A66-1939-4F5D-9FAD-5729EBAC3008}" authorId="{E1CC64A4-B7E8-0D93-1FE7-45F5DE6026B0}" created="2023-03-30T06:13:01.038">
        <p188:txBody>
          <a:bodyPr/>
          <a:lstStyle/>
          <a:p>
            <a:r>
              <a:rPr lang="en-US"/>
              <a:t>Thanks for calling this out, the Numbers and steps needs to allign, we will work and get it corrected</a:t>
            </a:r>
          </a:p>
        </p188:txBody>
      </p188:reply>
      <p188:reply id="{C0F7A549-596B-46EA-A886-B065FA5B39BA}" authorId="{E86378A0-5BE7-10A3-0164-7F368022F5BA}" created="2023-03-30T10:59:02.549">
        <p188:txBody>
          <a:bodyPr/>
          <a:lstStyle/>
          <a:p>
            <a:r>
              <a:rPr lang="en-US"/>
              <a:t>WIP - Aligning the diagram and steps</a:t>
            </a:r>
          </a:p>
        </p188:txBody>
      </p188:reply>
    </p188:replyLst>
    <p188:txBody>
      <a:bodyPr/>
      <a:lstStyle/>
      <a:p>
        <a:r>
          <a:rPr lang="en-US"/>
          <a:t>[@Somaiyya, Jigar] what is the significance of numbering in this slide (1,2,3,4) the numbers on the diagram does not go hand in hand with the text</a:t>
        </a:r>
      </a:p>
    </p188:txBody>
  </p188:cm>
</p188:cmLst>
</file>

<file path=ppt/comments/modernComment_7FFFD0AF_C532DB4E.xml><?xml version="1.0" encoding="utf-8"?>
<p188:cmLst xmlns:a="http://schemas.openxmlformats.org/drawingml/2006/main" xmlns:r="http://schemas.openxmlformats.org/officeDocument/2006/relationships" xmlns:p188="http://schemas.microsoft.com/office/powerpoint/2018/8/main">
  <p188:cm id="{9686B6F6-2A48-7146-B21C-3EF63EE4D7E6}" authorId="{0B19AC32-CB29-CAE2-EF41-1FD7F1E2D89C}" created="2023-03-29T18:40:21.792">
    <pc:sldMkLst xmlns:pc="http://schemas.microsoft.com/office/powerpoint/2013/main/command">
      <pc:docMk/>
      <pc:sldMk cId="3308444494" sldId="2147471535"/>
    </pc:sldMkLst>
    <p188:replyLst>
      <p188:reply id="{5B42B28A-0E90-44E1-9BDA-88E6A320419F}" authorId="{E1CC64A4-B7E8-0D93-1FE7-45F5DE6026B0}" created="2023-03-30T06:14:11.804">
        <p188:txBody>
          <a:bodyPr/>
          <a:lstStyle/>
          <a:p>
            <a:r>
              <a:rPr lang="en-US"/>
              <a:t>I understand that RIB is not going to be continued, but there might be edge scenario where API is not released. If we find we will not use we can remove the pattern.
</a:t>
            </a:r>
          </a:p>
        </p188:txBody>
      </p188:reply>
    </p188:replyLst>
    <p188:txBody>
      <a:bodyPr/>
      <a:lstStyle/>
      <a:p>
        <a:r>
          <a:rPr lang="en-US"/>
          <a:t>[@Somaiyya, Jigar], if Oracle is not planning to use RIB will this be a valid pattern.</a:t>
        </a:r>
      </a:p>
    </p188:txBody>
  </p188:cm>
</p188:cmLst>
</file>

<file path=ppt/comments/modernComment_7FFFD0B1_2439E3C5.xml><?xml version="1.0" encoding="utf-8"?>
<p188:cmLst xmlns:a="http://schemas.openxmlformats.org/drawingml/2006/main" xmlns:r="http://schemas.openxmlformats.org/officeDocument/2006/relationships" xmlns:p188="http://schemas.microsoft.com/office/powerpoint/2018/8/main">
  <p188:cm id="{F5E32216-82DF-43A2-8A5D-5FDFC06DC57E}" authorId="{E86378A0-5BE7-10A3-0164-7F368022F5BA}" created="2023-03-30T11:00:37.204">
    <pc:sldMkLst xmlns:pc="http://schemas.microsoft.com/office/powerpoint/2013/main/command">
      <pc:docMk/>
      <pc:sldMk cId="607773637" sldId="2147471537"/>
    </pc:sldMkLst>
    <p188:txBody>
      <a:bodyPr/>
      <a:lstStyle/>
      <a:p>
        <a:r>
          <a:rPr lang="en-US"/>
          <a:t>WIP - Working on steps</a:t>
        </a:r>
      </a:p>
    </p188:txBody>
  </p188:cm>
</p188:cmLst>
</file>

<file path=ppt/comments/modernComment_7FFFD0B6_636E0FD3.xml><?xml version="1.0" encoding="utf-8"?>
<p188:cmLst xmlns:a="http://schemas.openxmlformats.org/drawingml/2006/main" xmlns:r="http://schemas.openxmlformats.org/officeDocument/2006/relationships" xmlns:p188="http://schemas.microsoft.com/office/powerpoint/2018/8/main">
  <p188:cm id="{3F3027CA-E42B-B241-AEAC-C1B8079F1C20}" authorId="{C7ECB3A7-604A-C96A-29FE-A23DC3099577}" created="2023-03-30T09:36:46.909">
    <pc:sldMkLst xmlns:pc="http://schemas.microsoft.com/office/powerpoint/2013/main/command">
      <pc:docMk/>
      <pc:sldMk cId="1668157395" sldId="2147471542"/>
    </pc:sldMkLst>
    <p188:replyLst>
      <p188:reply id="{3007E6E4-3C5F-4922-BCD1-01D9987B03A4}" authorId="{E1CC64A4-B7E8-0D93-1FE7-45F5DE6026B0}" created="2023-03-30T10:12:02.043">
        <p188:txBody>
          <a:bodyPr/>
          <a:lstStyle/>
          <a:p>
            <a:r>
              <a:rPr lang="en-US"/>
              <a:t>Alerts and Notification for Errors ? This will be covered in how Errors will be notified. </a:t>
            </a:r>
          </a:p>
        </p188:txBody>
      </p188:reply>
    </p188:replyLst>
    <p188:txBody>
      <a:bodyPr/>
      <a:lstStyle/>
      <a:p>
        <a:r>
          <a:rPr lang="en-US"/>
          <a:t>[@Somaiyya, Jigar] can we add a section for alerts and notifications?</a:t>
        </a:r>
      </a:p>
    </p188:txBody>
  </p188:cm>
</p188:cmLst>
</file>

<file path=ppt/comments/modernComment_7FFFD0B8_958E54EC.xml><?xml version="1.0" encoding="utf-8"?>
<p188:cmLst xmlns:a="http://schemas.openxmlformats.org/drawingml/2006/main" xmlns:r="http://schemas.openxmlformats.org/officeDocument/2006/relationships" xmlns:p188="http://schemas.microsoft.com/office/powerpoint/2018/8/main">
  <p188:cm id="{B0983464-AB32-0B47-845D-6DF6A2F9A0CA}" authorId="{C7ECB3A7-604A-C96A-29FE-A23DC3099577}" created="2023-03-30T09:29:03.814">
    <pc:sldMkLst xmlns:pc="http://schemas.microsoft.com/office/powerpoint/2013/main/command">
      <pc:docMk/>
      <pc:sldMk cId="2509133036" sldId="2147471544"/>
    </pc:sldMkLst>
    <p188:replyLst>
      <p188:reply id="{127B566D-DBA6-4484-9990-4F523268310D}" authorId="{E1CC64A4-B7E8-0D93-1FE7-45F5DE6026B0}" created="2023-03-30T10:08:29.323">
        <p188:txBody>
          <a:bodyPr/>
          <a:lstStyle/>
          <a:p>
            <a:r>
              <a:rPr lang="en-US"/>
              <a:t>[@Zaidi, Hasan] - We can discuss, how to call out usage of ODI Vs OIC and APIGW as technology options and where to place, May be the next section can be used. For this slide it talks about the patterns which Retail Supports. For Example POM is supported by Retail for File Movement if we use OIC or anything else is upto us. Likewise GG is used for DAS. DAS is method to get data using GG.  </a:t>
            </a:r>
          </a:p>
        </p188:txBody>
      </p188:reply>
      <p188:reply id="{0B9BDB20-7A1F-448F-A6C3-93AF0A9379E0}" authorId="{9E4EDB4E-6C97-15EB-8326-0997FBFE3596}" created="2023-03-30T13:09:14.079">
        <p188:txBody>
          <a:bodyPr/>
          <a:lstStyle/>
          <a:p>
            <a:r>
              <a:rPr lang="en-US"/>
              <a:t>Should we really add ODI? Is ODI included in the BOM? If we have to use ODI, we may also have to look at staffing as current understanding on the IPOD staffing is to have OIC tech resources. </a:t>
            </a:r>
          </a:p>
        </p188:txBody>
      </p188:reply>
      <p188:reply id="{A21BAEC2-8FE6-4198-B831-B64948BA1D04}" authorId="{E1CC64A4-B7E8-0D93-1FE7-45F5DE6026B0}" created="2023-03-30T13:15:25.542">
        <p188:txBody>
          <a:bodyPr/>
          <a:lstStyle/>
          <a:p>
            <a:r>
              <a:rPr lang="en-US"/>
              <a:t>[@Zaidi, Hasan] - Can we discuss this over some call. As I also feel only OIC is applicable. Still no impact to this slide. </a:t>
            </a:r>
          </a:p>
        </p188:txBody>
      </p188:reply>
    </p188:replyLst>
    <p188:txBody>
      <a:bodyPr/>
      <a:lstStyle/>
      <a:p>
        <a:r>
          <a:rPr lang="en-US"/>
          <a:t>[@Somaiyya, Jigar] OIC/APIGW, GG, and potentially ODI will be used at DT, these are the mechanisms by which, integrations, data replications/sync, ETL will be implemented. We should add guidelines for when to these tools, thoughts?</a:t>
        </a:r>
      </a:p>
    </p188:txBody>
  </p188:cm>
</p188:cmLst>
</file>

<file path=ppt/comments/modernComment_7FFFD0BF_283BEE96.xml><?xml version="1.0" encoding="utf-8"?>
<p188:cmLst xmlns:a="http://schemas.openxmlformats.org/drawingml/2006/main" xmlns:r="http://schemas.openxmlformats.org/officeDocument/2006/relationships" xmlns:p188="http://schemas.microsoft.com/office/powerpoint/2018/8/main">
  <p188:cm id="{45AE7DAB-7216-49D7-AA3D-F9398B09C30F}" authorId="{E1CC64A4-B7E8-0D93-1FE7-45F5DE6026B0}" created="2023-03-30T09:58:06.980">
    <pc:sldMkLst xmlns:pc="http://schemas.microsoft.com/office/powerpoint/2013/main/command">
      <pc:docMk/>
      <pc:sldMk cId="675016342" sldId="2147471551"/>
    </pc:sldMkLst>
    <p188:txBody>
      <a:bodyPr/>
      <a:lstStyle/>
      <a:p>
        <a:r>
          <a:rPr lang="en-US"/>
          <a:t>Need to update with exact relevant example</a:t>
        </a:r>
      </a:p>
    </p188:txBody>
  </p188:cm>
</p188:cmLst>
</file>

<file path=ppt/comments/modernComment_7FFFD0C2_8F0C3030.xml><?xml version="1.0" encoding="utf-8"?>
<p188:cmLst xmlns:a="http://schemas.openxmlformats.org/drawingml/2006/main" xmlns:r="http://schemas.openxmlformats.org/officeDocument/2006/relationships" xmlns:p188="http://schemas.microsoft.com/office/powerpoint/2018/8/main">
  <p188:cm id="{8330317E-7F23-4BA9-ADB0-5AB892AD3DAE}" authorId="{E86378A0-5BE7-10A3-0164-7F368022F5BA}" created="2023-03-30T10:58:01.536">
    <pc:sldMkLst xmlns:pc="http://schemas.microsoft.com/office/powerpoint/2013/main/command">
      <pc:docMk/>
      <pc:sldMk cId="2399940656" sldId="2147471554"/>
    </pc:sldMkLst>
    <p188:txBody>
      <a:bodyPr/>
      <a:lstStyle/>
      <a:p>
        <a:r>
          <a:rPr lang="en-US"/>
          <a:t>Checking if BIP needs to be added for Outbound</a:t>
        </a:r>
      </a:p>
    </p188:txBody>
  </p188:cm>
</p188:cmLst>
</file>

<file path=ppt/comments/modernComment_7FFFD0CB_B3960DF0.xml><?xml version="1.0" encoding="utf-8"?>
<p188:cmLst xmlns:a="http://schemas.openxmlformats.org/drawingml/2006/main" xmlns:r="http://schemas.openxmlformats.org/officeDocument/2006/relationships" xmlns:p188="http://schemas.microsoft.com/office/powerpoint/2018/8/main">
  <p188:cm id="{EF44A67A-E1A3-4DFD-A71D-F0F62EECB2F6}" authorId="{0C1B9EF0-4B57-91A2-AF19-BA5C5240E9FB}" created="2023-03-30T11:41:54.154">
    <ac:deMkLst xmlns:ac="http://schemas.microsoft.com/office/drawing/2013/main/command">
      <pc:docMk xmlns:pc="http://schemas.microsoft.com/office/powerpoint/2013/main/command"/>
      <pc:sldMk xmlns:pc="http://schemas.microsoft.com/office/powerpoint/2013/main/command" cId="3012955632" sldId="2147471563"/>
      <ac:graphicFrameMk id="3" creationId="{7332F4A2-70E4-411B-9572-51FAB7B5DA4D}"/>
    </ac:deMkLst>
    <p188:txBody>
      <a:bodyPr/>
      <a:lstStyle/>
      <a:p>
        <a:r>
          <a:rPr lang="en-US"/>
          <a:t>Need to verify with [@Somaiyya, Jigar] on the highlighted ones</a:t>
        </a:r>
      </a:p>
    </p188:txBody>
  </p188:cm>
</p188:cmLst>
</file>

<file path=ppt/comments/modernComment_7FFFD0CC_2EEA13E6.xml><?xml version="1.0" encoding="utf-8"?>
<p188:cmLst xmlns:a="http://schemas.openxmlformats.org/drawingml/2006/main" xmlns:r="http://schemas.openxmlformats.org/officeDocument/2006/relationships" xmlns:p188="http://schemas.microsoft.com/office/powerpoint/2018/8/main">
  <p188:cm id="{383FFF2B-6A4D-42CF-9E0C-661A51ADA06E}" authorId="{0C1B9EF0-4B57-91A2-AF19-BA5C5240E9FB}" created="2023-03-30T11:47:20.926">
    <ac:deMkLst xmlns:ac="http://schemas.microsoft.com/office/drawing/2013/main/command">
      <pc:docMk xmlns:pc="http://schemas.microsoft.com/office/powerpoint/2013/main/command"/>
      <pc:sldMk xmlns:pc="http://schemas.microsoft.com/office/powerpoint/2013/main/command" cId="787092454" sldId="2147471564"/>
      <ac:spMk id="9" creationId="{10D219DD-433F-461F-B2A0-BB80E1774372}"/>
    </ac:deMkLst>
    <p188:txBody>
      <a:bodyPr/>
      <a:lstStyle/>
      <a:p>
        <a:r>
          <a:rPr lang="en-US"/>
          <a:t>Need to review highlighted one with [@Meka, Murali Krishna]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8D17F6-ECE8-4493-ABFB-C4D8ED953670}" type="datetimeFigureOut">
              <a:rPr lang="en-US" smtClean="0"/>
              <a:t>3/30/2023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05186-EE54-4CC4-BEBC-7E32B9314DBC}" type="slidenum">
              <a:rPr lang="en-US" smtClean="0"/>
              <a:t>‹#›</a:t>
            </a:fld>
            <a:endParaRPr lang="en-US"/>
          </a:p>
        </p:txBody>
      </p:sp>
    </p:spTree>
    <p:extLst>
      <p:ext uri="{BB962C8B-B14F-4D97-AF65-F5344CB8AC3E}">
        <p14:creationId xmlns:p14="http://schemas.microsoft.com/office/powerpoint/2010/main" val="3777393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2</a:t>
            </a:fld>
            <a:endParaRPr lang="en-US"/>
          </a:p>
        </p:txBody>
      </p:sp>
    </p:spTree>
    <p:extLst>
      <p:ext uri="{BB962C8B-B14F-4D97-AF65-F5344CB8AC3E}">
        <p14:creationId xmlns:p14="http://schemas.microsoft.com/office/powerpoint/2010/main" val="2529502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4</a:t>
            </a:fld>
            <a:endParaRPr lang="en-US"/>
          </a:p>
        </p:txBody>
      </p:sp>
    </p:spTree>
    <p:extLst>
      <p:ext uri="{BB962C8B-B14F-4D97-AF65-F5344CB8AC3E}">
        <p14:creationId xmlns:p14="http://schemas.microsoft.com/office/powerpoint/2010/main" val="4078487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6</a:t>
            </a:fld>
            <a:endParaRPr lang="en-US"/>
          </a:p>
        </p:txBody>
      </p:sp>
    </p:spTree>
    <p:extLst>
      <p:ext uri="{BB962C8B-B14F-4D97-AF65-F5344CB8AC3E}">
        <p14:creationId xmlns:p14="http://schemas.microsoft.com/office/powerpoint/2010/main" val="655483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7</a:t>
            </a:fld>
            <a:endParaRPr lang="en-US"/>
          </a:p>
        </p:txBody>
      </p:sp>
    </p:spTree>
    <p:extLst>
      <p:ext uri="{BB962C8B-B14F-4D97-AF65-F5344CB8AC3E}">
        <p14:creationId xmlns:p14="http://schemas.microsoft.com/office/powerpoint/2010/main" val="3565724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8</a:t>
            </a:fld>
            <a:endParaRPr lang="en-US"/>
          </a:p>
        </p:txBody>
      </p:sp>
    </p:spTree>
    <p:extLst>
      <p:ext uri="{BB962C8B-B14F-4D97-AF65-F5344CB8AC3E}">
        <p14:creationId xmlns:p14="http://schemas.microsoft.com/office/powerpoint/2010/main" val="3635342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11</a:t>
            </a:fld>
            <a:endParaRPr lang="en-US"/>
          </a:p>
        </p:txBody>
      </p:sp>
    </p:spTree>
    <p:extLst>
      <p:ext uri="{BB962C8B-B14F-4D97-AF65-F5344CB8AC3E}">
        <p14:creationId xmlns:p14="http://schemas.microsoft.com/office/powerpoint/2010/main" val="1092015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12</a:t>
            </a:fld>
            <a:endParaRPr lang="en-US"/>
          </a:p>
        </p:txBody>
      </p:sp>
    </p:spTree>
    <p:extLst>
      <p:ext uri="{BB962C8B-B14F-4D97-AF65-F5344CB8AC3E}">
        <p14:creationId xmlns:p14="http://schemas.microsoft.com/office/powerpoint/2010/main" val="3544244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105186-EE54-4CC4-BEBC-7E32B9314DBC}" type="slidenum">
              <a:rPr lang="en-US" smtClean="0"/>
              <a:t>13</a:t>
            </a:fld>
            <a:endParaRPr lang="en-US"/>
          </a:p>
        </p:txBody>
      </p:sp>
    </p:spTree>
    <p:extLst>
      <p:ext uri="{BB962C8B-B14F-4D97-AF65-F5344CB8AC3E}">
        <p14:creationId xmlns:p14="http://schemas.microsoft.com/office/powerpoint/2010/main" val="344142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pPr marL="171450" indent="-171450">
              <a:buFontTx/>
              <a:buChar char="-"/>
            </a:pPr>
            <a:endParaRPr lang="en-US"/>
          </a:p>
        </p:txBody>
      </p:sp>
    </p:spTree>
    <p:extLst>
      <p:ext uri="{BB962C8B-B14F-4D97-AF65-F5344CB8AC3E}">
        <p14:creationId xmlns:p14="http://schemas.microsoft.com/office/powerpoint/2010/main" val="638757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pPr marL="171450" indent="-171450">
              <a:buFontTx/>
              <a:buChar char="-"/>
            </a:pPr>
            <a:endParaRPr lang="en-US"/>
          </a:p>
        </p:txBody>
      </p:sp>
    </p:spTree>
    <p:extLst>
      <p:ext uri="{BB962C8B-B14F-4D97-AF65-F5344CB8AC3E}">
        <p14:creationId xmlns:p14="http://schemas.microsoft.com/office/powerpoint/2010/main" val="3056339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24</a:t>
            </a:fld>
            <a:endParaRPr lang="en-US"/>
          </a:p>
        </p:txBody>
      </p:sp>
    </p:spTree>
    <p:extLst>
      <p:ext uri="{BB962C8B-B14F-4D97-AF65-F5344CB8AC3E}">
        <p14:creationId xmlns:p14="http://schemas.microsoft.com/office/powerpoint/2010/main" val="41717109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26</a:t>
            </a:fld>
            <a:endParaRPr lang="en-US"/>
          </a:p>
        </p:txBody>
      </p:sp>
    </p:spTree>
    <p:extLst>
      <p:ext uri="{BB962C8B-B14F-4D97-AF65-F5344CB8AC3E}">
        <p14:creationId xmlns:p14="http://schemas.microsoft.com/office/powerpoint/2010/main" val="1737179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28</a:t>
            </a:fld>
            <a:endParaRPr lang="en-US"/>
          </a:p>
        </p:txBody>
      </p:sp>
    </p:spTree>
    <p:extLst>
      <p:ext uri="{BB962C8B-B14F-4D97-AF65-F5344CB8AC3E}">
        <p14:creationId xmlns:p14="http://schemas.microsoft.com/office/powerpoint/2010/main" val="1344074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30</a:t>
            </a:fld>
            <a:endParaRPr lang="en-US"/>
          </a:p>
        </p:txBody>
      </p:sp>
    </p:spTree>
    <p:extLst>
      <p:ext uri="{BB962C8B-B14F-4D97-AF65-F5344CB8AC3E}">
        <p14:creationId xmlns:p14="http://schemas.microsoft.com/office/powerpoint/2010/main" val="2970250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31</a:t>
            </a:fld>
            <a:endParaRPr lang="en-US"/>
          </a:p>
        </p:txBody>
      </p:sp>
    </p:spTree>
    <p:extLst>
      <p:ext uri="{BB962C8B-B14F-4D97-AF65-F5344CB8AC3E}">
        <p14:creationId xmlns:p14="http://schemas.microsoft.com/office/powerpoint/2010/main" val="3980202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CA25-0E36-4900-A84F-24D14939DC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E4828B-C77A-4839-8958-D55552E53A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7865EA-37AB-46BE-8F3E-A4CA8BA69518}"/>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5" name="Footer Placeholder 4">
            <a:extLst>
              <a:ext uri="{FF2B5EF4-FFF2-40B4-BE49-F238E27FC236}">
                <a16:creationId xmlns:a16="http://schemas.microsoft.com/office/drawing/2014/main" id="{43B2EDFB-388F-4B50-95F5-4EDCC4F5B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D7744-C64A-42F5-9E28-6DB5542FA42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4208337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8F5E-9E4B-4C12-AAD5-87245380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F2D447-D0F1-41D1-9C4E-F433564DA4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4E46E-5D06-4275-BD5C-CD6578D9A8F9}"/>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5" name="Footer Placeholder 4">
            <a:extLst>
              <a:ext uri="{FF2B5EF4-FFF2-40B4-BE49-F238E27FC236}">
                <a16:creationId xmlns:a16="http://schemas.microsoft.com/office/drawing/2014/main" id="{646F252E-F8D8-4026-B97D-0A820B36D7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6C006-1A65-4B05-A485-01C145DB8D86}"/>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2887112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15C4-F6EC-4AD5-BA12-6478DC61CE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F92A54-52E9-46DF-A0B8-5ADE0716E6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9E38C6-05B8-42FF-B59E-A4D016607522}"/>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5" name="Footer Placeholder 4">
            <a:extLst>
              <a:ext uri="{FF2B5EF4-FFF2-40B4-BE49-F238E27FC236}">
                <a16:creationId xmlns:a16="http://schemas.microsoft.com/office/drawing/2014/main" id="{BC6C3929-C20F-4B68-ACF8-C358FB370A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676949-DF2A-4BFD-BD95-9B35E9FD2767}"/>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596389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A1F6C-82FE-4270-91A8-B1F7A45EE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C09D1-6000-41A4-B146-E8B0FAB09C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DA3D11-87B2-412B-9D77-B1F94D3F0C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ACAEEE-2CF9-4689-BE7A-A166F27E0F8A}"/>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6" name="Footer Placeholder 5">
            <a:extLst>
              <a:ext uri="{FF2B5EF4-FFF2-40B4-BE49-F238E27FC236}">
                <a16:creationId xmlns:a16="http://schemas.microsoft.com/office/drawing/2014/main" id="{CA20FD71-2655-4B2F-BC4E-29FADCF24E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05B7EB-9939-44A0-9B5D-8310CA4BD31E}"/>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057847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73C3C-BF77-4332-A7AB-64D313D23F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6682AA-11D7-4AF1-A300-95D513B539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897624-0139-47FA-8889-197546FB05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C8F22C-D0C4-4AC6-9DDE-759AEE59F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56F6FA-4467-4016-A054-1CFB4045A9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993C9A-2AAB-4B21-9F6B-550C83F412F4}"/>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8" name="Footer Placeholder 7">
            <a:extLst>
              <a:ext uri="{FF2B5EF4-FFF2-40B4-BE49-F238E27FC236}">
                <a16:creationId xmlns:a16="http://schemas.microsoft.com/office/drawing/2014/main" id="{940CDFBB-E61E-4A98-A515-3E83558870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E8A7AC-12A3-4941-BFE8-A7E016732DC0}"/>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3157582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824C-AC1B-4EA4-8EF0-6821BD5246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6F6C41-97DB-4C43-B659-659C1D8B2354}"/>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4" name="Footer Placeholder 3">
            <a:extLst>
              <a:ext uri="{FF2B5EF4-FFF2-40B4-BE49-F238E27FC236}">
                <a16:creationId xmlns:a16="http://schemas.microsoft.com/office/drawing/2014/main" id="{CA4559E7-3A6E-4B91-954E-C12821A88C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BB992D-72BF-4572-BA64-BD5B72EBD78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23537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045F0B-91B1-4D5E-9210-6F953808A178}"/>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3" name="Footer Placeholder 2">
            <a:extLst>
              <a:ext uri="{FF2B5EF4-FFF2-40B4-BE49-F238E27FC236}">
                <a16:creationId xmlns:a16="http://schemas.microsoft.com/office/drawing/2014/main" id="{B52AA9EA-759A-4A49-800A-0FBAA21E3A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B6AE87-062D-443A-838F-C6A8EB3C75B5}"/>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654557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D714-30F7-4D1C-86B6-008B7AA88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5F727D-800A-4114-9013-596805FD7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4C9204-DB20-44A6-8513-C1DE67893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E2724-99F9-45E0-98F1-1379CDA847E2}"/>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6" name="Footer Placeholder 5">
            <a:extLst>
              <a:ext uri="{FF2B5EF4-FFF2-40B4-BE49-F238E27FC236}">
                <a16:creationId xmlns:a16="http://schemas.microsoft.com/office/drawing/2014/main" id="{514C21BF-408E-4442-A264-032B081A9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27628B-B9E0-4B6C-939E-062F6DEDFFF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723575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E9F70-1CCB-4B48-99BB-3827A9C180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3A6982-54DD-4AD6-8174-0BF34D4A34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A1D05A-8245-4112-98D3-45A91E3E41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0F16D-4C80-4D82-84D5-E8D2D49EEEDC}"/>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6" name="Footer Placeholder 5">
            <a:extLst>
              <a:ext uri="{FF2B5EF4-FFF2-40B4-BE49-F238E27FC236}">
                <a16:creationId xmlns:a16="http://schemas.microsoft.com/office/drawing/2014/main" id="{6FD8E81B-EE01-4EF7-8B5C-02D6469A06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7D9CDD-B73E-4236-B008-0803B85B5BAA}"/>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4105402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F763D-1AD1-4169-9F56-D9457711F8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F6CC31-F312-4E35-A7C4-039FF64C2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7C22F-9ACF-4750-8762-5250ED745959}"/>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5" name="Footer Placeholder 4">
            <a:extLst>
              <a:ext uri="{FF2B5EF4-FFF2-40B4-BE49-F238E27FC236}">
                <a16:creationId xmlns:a16="http://schemas.microsoft.com/office/drawing/2014/main" id="{290BBFB0-C456-48E1-8CDF-DF43F0C78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6A636-98E7-4095-B088-0645A418150C}"/>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2207666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1B88A1-631B-4AF2-94E0-9C58E77897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09E3C7-C1A9-4CDA-A5D9-65A441E5AD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2A0DE3-E226-4A64-900B-FBFE471B8199}"/>
              </a:ext>
            </a:extLst>
          </p:cNvPr>
          <p:cNvSpPr>
            <a:spLocks noGrp="1"/>
          </p:cNvSpPr>
          <p:nvPr>
            <p:ph type="dt" sz="half" idx="10"/>
          </p:nvPr>
        </p:nvSpPr>
        <p:spPr/>
        <p:txBody>
          <a:bodyPr/>
          <a:lstStyle/>
          <a:p>
            <a:fld id="{1BEED056-0C17-4F13-92C7-4B4EBBA459AF}" type="datetimeFigureOut">
              <a:rPr lang="en-US" smtClean="0"/>
              <a:t>3/30/2023</a:t>
            </a:fld>
            <a:endParaRPr lang="en-US"/>
          </a:p>
        </p:txBody>
      </p:sp>
      <p:sp>
        <p:nvSpPr>
          <p:cNvPr id="5" name="Footer Placeholder 4">
            <a:extLst>
              <a:ext uri="{FF2B5EF4-FFF2-40B4-BE49-F238E27FC236}">
                <a16:creationId xmlns:a16="http://schemas.microsoft.com/office/drawing/2014/main" id="{BD22917A-6753-426C-A341-5BB1C6924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A66ADA-6ED2-4FD4-A456-F3BA46D6581F}"/>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38106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070EDC-AD72-4D14-AA99-A68687567A84}"/>
              </a:ext>
            </a:extLst>
          </p:cNvPr>
          <p:cNvSpPr/>
          <p:nvPr userDrawn="1"/>
        </p:nvSpPr>
        <p:spPr bwMode="gray">
          <a:xfrm>
            <a:off x="0" y="0"/>
            <a:ext cx="12192000" cy="6858000"/>
          </a:xfrm>
          <a:prstGeom prst="rect">
            <a:avLst/>
          </a:prstGeom>
          <a:gradFill flip="none" rotWithShape="1">
            <a:gsLst>
              <a:gs pos="0">
                <a:schemeClr val="bg1"/>
              </a:gs>
              <a:gs pos="100000">
                <a:schemeClr val="bg1">
                  <a:lumMod val="85000"/>
                </a:schemeClr>
              </a:gs>
            </a:gsLst>
            <a:path path="circle">
              <a:fillToRect l="100000" t="100000"/>
            </a:path>
            <a:tileRect r="-100000" b="-10000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353322533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vider">
    <p:bg>
      <p:bgPr>
        <a:gradFill>
          <a:gsLst>
            <a:gs pos="0">
              <a:schemeClr val="bg1">
                <a:lumMod val="75000"/>
              </a:schemeClr>
            </a:gs>
            <a:gs pos="100000">
              <a:schemeClr val="bg1">
                <a:lumMod val="95000"/>
              </a:schemeClr>
            </a:gs>
          </a:gsLst>
          <a:lin ang="2700000" scaled="1"/>
        </a:gra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8982B5D-013A-4631-A340-92E6F504C430}"/>
              </a:ext>
            </a:extLst>
          </p:cNvPr>
          <p:cNvSpPr>
            <a:spLocks noGrp="1"/>
          </p:cNvSpPr>
          <p:nvPr>
            <p:ph type="body" sz="quarter" idx="10" hasCustomPrompt="1"/>
          </p:nvPr>
        </p:nvSpPr>
        <p:spPr>
          <a:xfrm>
            <a:off x="457200" y="1714500"/>
            <a:ext cx="6934200" cy="2786063"/>
          </a:xfrm>
          <a:prstGeom prst="rect">
            <a:avLst/>
          </a:prstGeom>
        </p:spPr>
        <p:txBody>
          <a:bodyPr/>
          <a:lstStyle>
            <a:lvl1pPr>
              <a:defRPr sz="4000">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Divider Heading</a:t>
            </a:r>
          </a:p>
        </p:txBody>
      </p:sp>
    </p:spTree>
    <p:extLst>
      <p:ext uri="{BB962C8B-B14F-4D97-AF65-F5344CB8AC3E}">
        <p14:creationId xmlns:p14="http://schemas.microsoft.com/office/powerpoint/2010/main" val="179750505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hank you ">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56037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___AMEREN: Titl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5C4F3-8895-434C-9C22-6E76FBD4398C}"/>
              </a:ext>
            </a:extLst>
          </p:cNvPr>
          <p:cNvSpPr>
            <a:spLocks noGrp="1"/>
          </p:cNvSpPr>
          <p:nvPr>
            <p:ph type="title"/>
          </p:nvPr>
        </p:nvSpPr>
        <p:spPr>
          <a:xfrm>
            <a:off x="495299" y="429522"/>
            <a:ext cx="11201401" cy="515146"/>
          </a:xfrm>
        </p:spPr>
        <p:txBody>
          <a:bodyPr lIns="0">
            <a:noAutofit/>
          </a:bodyPr>
          <a:lstStyle>
            <a:lvl1pPr>
              <a:defRPr sz="2600"/>
            </a:lvl1pPr>
          </a:lstStyle>
          <a:p>
            <a:r>
              <a:rPr lang="en-US"/>
              <a:t>Click to edit Master title style</a:t>
            </a:r>
          </a:p>
        </p:txBody>
      </p:sp>
      <p:sp>
        <p:nvSpPr>
          <p:cNvPr id="6" name="Text Placeholder 8">
            <a:extLst>
              <a:ext uri="{FF2B5EF4-FFF2-40B4-BE49-F238E27FC236}">
                <a16:creationId xmlns:a16="http://schemas.microsoft.com/office/drawing/2014/main" id="{4E611BC5-483D-4A71-9B15-1E544C2B3B48}"/>
              </a:ext>
            </a:extLst>
          </p:cNvPr>
          <p:cNvSpPr>
            <a:spLocks noGrp="1"/>
          </p:cNvSpPr>
          <p:nvPr>
            <p:ph type="body" sz="quarter" idx="14"/>
          </p:nvPr>
        </p:nvSpPr>
        <p:spPr>
          <a:xfrm>
            <a:off x="495298" y="978798"/>
            <a:ext cx="11201401" cy="445944"/>
          </a:xfrm>
        </p:spPr>
        <p:txBody>
          <a:bodyPr vert="horz" lIns="0" tIns="0" rIns="0" bIns="0" rtlCol="0">
            <a:noAutofit/>
          </a:bodyPr>
          <a:lstStyle>
            <a:lvl1pPr marL="0" indent="0">
              <a:lnSpc>
                <a:spcPct val="100000"/>
              </a:lnSpc>
              <a:buNone/>
              <a:defRPr lang="en-US" sz="1200">
                <a:solidFill>
                  <a:schemeClr val="bg1">
                    <a:lumMod val="50000"/>
                  </a:schemeClr>
                </a:solidFill>
              </a:defRPr>
            </a:lvl1pPr>
          </a:lstStyle>
          <a:p>
            <a:pPr marL="228600" lvl="0" indent="-228600">
              <a:lnSpc>
                <a:spcPct val="130000"/>
              </a:lnSpc>
            </a:pPr>
            <a:r>
              <a:rPr lang="en-US"/>
              <a:t>Click to edit Master text styles</a:t>
            </a:r>
          </a:p>
        </p:txBody>
      </p:sp>
    </p:spTree>
    <p:extLst>
      <p:ext uri="{BB962C8B-B14F-4D97-AF65-F5344CB8AC3E}">
        <p14:creationId xmlns:p14="http://schemas.microsoft.com/office/powerpoint/2010/main" val="3192358999"/>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6E8C76-D59B-4A4D-B875-69CC395939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140E68-46A6-4050-9435-1865FD923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E95B5-1303-4F48-BEE3-2F4666CB83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EED056-0C17-4F13-92C7-4B4EBBA459AF}" type="datetimeFigureOut">
              <a:rPr lang="en-US" smtClean="0"/>
              <a:t>3/30/2023</a:t>
            </a:fld>
            <a:endParaRPr lang="en-US"/>
          </a:p>
        </p:txBody>
      </p:sp>
      <p:sp>
        <p:nvSpPr>
          <p:cNvPr id="5" name="Footer Placeholder 4">
            <a:extLst>
              <a:ext uri="{FF2B5EF4-FFF2-40B4-BE49-F238E27FC236}">
                <a16:creationId xmlns:a16="http://schemas.microsoft.com/office/drawing/2014/main" id="{4C437B21-698B-416E-930C-F44484A35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F45F67-3427-4DBF-979A-4218C2677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03169B-71D3-417C-B033-13F48CE18F9C}" type="slidenum">
              <a:rPr lang="en-US" smtClean="0"/>
              <a:t>‹#›</a:t>
            </a:fld>
            <a:endParaRPr lang="en-US"/>
          </a:p>
        </p:txBody>
      </p:sp>
    </p:spTree>
    <p:extLst>
      <p:ext uri="{BB962C8B-B14F-4D97-AF65-F5344CB8AC3E}">
        <p14:creationId xmlns:p14="http://schemas.microsoft.com/office/powerpoint/2010/main" val="2998024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4" r:id="rId14"/>
    <p:sldLayoutId id="214748366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7FFFD0AB_34F83D49.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microsoft.com/office/2018/10/relationships/comments" Target="../comments/modernComment_7FFFD0BF_283BEE96.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7FFFD0C2_8F0C3030.xm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7FFFD0AD_F93FEEDD.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7FFFD0AF_C532DB4E.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7FFFD0B1_2439E3C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7FFFD0B8_958E54EC.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7FFFD0B6_636E0FD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7FE4DBC3_72A01B5D.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18/10/relationships/comments" Target="../comments/modernComment_7FE4DBC4_5F7CFE9D.xml"/><Relationship Id="rId7"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7FFFD0CC_2EEA13E6.xml"/><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microsoft.com/office/2018/10/relationships/comments" Target="../comments/modernComment_7FFFD0CB_B3960DF0.xml"/><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www2.deloitte.com/us/en/legal/about-deloitte.html" TargetMode="External"/><Relationship Id="rId2" Type="http://schemas.openxmlformats.org/officeDocument/2006/relationships/image" Target="../media/image7.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2">
            <a:extLst>
              <a:ext uri="{FF2B5EF4-FFF2-40B4-BE49-F238E27FC236}">
                <a16:creationId xmlns:a16="http://schemas.microsoft.com/office/drawing/2014/main" id="{96ED46D4-BCBC-4B77-B588-6CC265BB5385}"/>
              </a:ext>
            </a:extLst>
          </p:cNvPr>
          <p:cNvSpPr txBox="1">
            <a:spLocks/>
          </p:cNvSpPr>
          <p:nvPr/>
        </p:nvSpPr>
        <p:spPr bwMode="gray">
          <a:xfrm>
            <a:off x="463297" y="2857501"/>
            <a:ext cx="5785104" cy="2322095"/>
          </a:xfrm>
          <a:prstGeom prst="rect">
            <a:avLst/>
          </a:prstGeom>
        </p:spPr>
        <p:txBody>
          <a:bodyPr lIns="0" tIns="0" rIns="0" bIns="0" anchor="ctr" anchorCtr="0">
            <a:noAutofit/>
          </a:bodyPr>
          <a:lstStyle>
            <a:lvl1pPr marL="0" indent="0" algn="l" defTabSz="914400" rtl="0" eaLnBrk="1" latinLnBrk="0" hangingPunct="1">
              <a:lnSpc>
                <a:spcPct val="110000"/>
              </a:lnSpc>
              <a:spcBef>
                <a:spcPts val="0"/>
              </a:spcBef>
              <a:spcAft>
                <a:spcPts val="0"/>
              </a:spcAft>
              <a:buSzPct val="100000"/>
              <a:buFont typeface="Arial" panose="020B0604020202020204" pitchFamily="34" charset="0"/>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defTabSz="914400" rtl="0" eaLnBrk="1" latinLnBrk="0" hangingPunct="1">
              <a:lnSpc>
                <a:spcPts val="3600"/>
              </a:lnSpc>
              <a:spcBef>
                <a:spcPts val="0"/>
              </a:spcBef>
              <a:spcAft>
                <a:spcPts val="0"/>
              </a:spcAft>
              <a:buClrTx/>
              <a:buSzPct val="100000"/>
              <a:buFont typeface="Arial"/>
              <a:buNone/>
              <a:defRPr lang="en-US" sz="3600" b="1" i="0" kern="1200" spc="-120" baseline="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defTabSz="914400" rtl="0" eaLnBrk="1" latinLnBrk="0" hangingPunct="1">
              <a:spcBef>
                <a:spcPts val="0"/>
              </a:spcBef>
              <a:spcAft>
                <a:spcPts val="1000"/>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914400" rtl="0" eaLnBrk="1" latinLnBrk="0" hangingPunct="1">
              <a:spcBef>
                <a:spcPts val="0"/>
              </a:spcBef>
              <a:spcAft>
                <a:spcPts val="1000"/>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798513" rtl="0" eaLnBrk="1" latinLnBrk="0" hangingPunct="1">
              <a:spcBef>
                <a:spcPts val="0"/>
              </a:spcBef>
              <a:spcAft>
                <a:spcPts val="1000"/>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914400" rtl="0" eaLnBrk="1" latinLnBrk="0" hangingPunct="1">
              <a:spcBef>
                <a:spcPts val="0"/>
              </a:spcBef>
              <a:spcAft>
                <a:spcPts val="1000"/>
              </a:spcAft>
              <a:buFont typeface="Verdana" panose="020B0604030504040204" pitchFamily="34" charset="0"/>
              <a:buNone/>
              <a:defRPr sz="2133" kern="1200">
                <a:solidFill>
                  <a:schemeClr val="tx1"/>
                </a:solidFill>
                <a:latin typeface="+mn-lt"/>
                <a:ea typeface="+mn-ea"/>
                <a:cs typeface="+mn-cs"/>
              </a:defRPr>
            </a:lvl7pPr>
            <a:lvl8pPr marL="4267093"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9pPr>
          </a:lstStyle>
          <a:p>
            <a: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Dollar Tree</a:t>
            </a:r>
            <a:b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br>
            <a: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Integration Strategy</a:t>
            </a:r>
          </a:p>
        </p:txBody>
      </p:sp>
      <p:pic>
        <p:nvPicPr>
          <p:cNvPr id="21" name="Graphic 20">
            <a:extLst>
              <a:ext uri="{FF2B5EF4-FFF2-40B4-BE49-F238E27FC236}">
                <a16:creationId xmlns:a16="http://schemas.microsoft.com/office/drawing/2014/main" id="{6A4A4C22-F29A-4CEA-846B-2A938EC79D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3297" y="1714500"/>
            <a:ext cx="1930400" cy="649838"/>
          </a:xfrm>
          <a:prstGeom prst="rect">
            <a:avLst/>
          </a:prstGeom>
        </p:spPr>
      </p:pic>
      <p:pic>
        <p:nvPicPr>
          <p:cNvPr id="5" name="Graphic 4">
            <a:extLst>
              <a:ext uri="{FF2B5EF4-FFF2-40B4-BE49-F238E27FC236}">
                <a16:creationId xmlns:a16="http://schemas.microsoft.com/office/drawing/2014/main" id="{676E89B0-91AB-4ABD-9D95-1299270CB10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401" y="1021104"/>
            <a:ext cx="5407390" cy="5393310"/>
          </a:xfrm>
          <a:prstGeom prst="rect">
            <a:avLst/>
          </a:prstGeom>
        </p:spPr>
      </p:pic>
    </p:spTree>
    <p:extLst>
      <p:ext uri="{BB962C8B-B14F-4D97-AF65-F5344CB8AC3E}">
        <p14:creationId xmlns:p14="http://schemas.microsoft.com/office/powerpoint/2010/main" val="155023081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1">
            <a:extLst>
              <a:ext uri="{FF2B5EF4-FFF2-40B4-BE49-F238E27FC236}">
                <a16:creationId xmlns:a16="http://schemas.microsoft.com/office/drawing/2014/main" id="{C7039BFA-E9FB-4D03-B3B0-1BD5E6BEB61D}"/>
              </a:ext>
            </a:extLst>
          </p:cNvPr>
          <p:cNvGraphicFramePr>
            <a:graphicFrameLocks noGrp="1"/>
          </p:cNvGraphicFramePr>
          <p:nvPr>
            <p:extLst>
              <p:ext uri="{D42A27DB-BD31-4B8C-83A1-F6EECF244321}">
                <p14:modId xmlns:p14="http://schemas.microsoft.com/office/powerpoint/2010/main" val="1067906371"/>
              </p:ext>
            </p:extLst>
          </p:nvPr>
        </p:nvGraphicFramePr>
        <p:xfrm>
          <a:off x="457199" y="918166"/>
          <a:ext cx="6467583" cy="4038779"/>
        </p:xfrm>
        <a:graphic>
          <a:graphicData uri="http://schemas.openxmlformats.org/drawingml/2006/table">
            <a:tbl>
              <a:tblPr firstRow="1" bandRow="1">
                <a:tableStyleId>{5C22544A-7EE6-4342-B048-85BDC9FD1C3A}</a:tableStyleId>
              </a:tblPr>
              <a:tblGrid>
                <a:gridCol w="6467583">
                  <a:extLst>
                    <a:ext uri="{9D8B030D-6E8A-4147-A177-3AD203B41FA5}">
                      <a16:colId xmlns:a16="http://schemas.microsoft.com/office/drawing/2014/main" val="1976473421"/>
                    </a:ext>
                  </a:extLst>
                </a:gridCol>
              </a:tblGrid>
              <a:tr h="6447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a:solidFill>
                            <a:schemeClr val="tx1"/>
                          </a:solidFill>
                          <a:ea typeface="Open Sans Light" panose="020B0306030504020204" pitchFamily="34" charset="0"/>
                          <a:cs typeface="Open Sans Light" panose="020B0306030504020204" pitchFamily="34" charset="0"/>
                        </a:rPr>
                        <a:t>Objective</a:t>
                      </a:r>
                    </a:p>
                  </a:txBody>
                  <a:tcPr anchor="ctr">
                    <a:lnT w="6350" cap="flat" cmpd="sng" algn="ctr">
                      <a:solidFill>
                        <a:srgbClr val="FFCD00"/>
                      </a:solidFill>
                      <a:prstDash val="solid"/>
                      <a:round/>
                      <a:headEnd type="none" w="med" len="med"/>
                      <a:tailEnd type="none" w="med" len="med"/>
                    </a:lnT>
                    <a:lnB w="6350" cap="flat" cmpd="sng" algn="ctr">
                      <a:solidFill>
                        <a:srgbClr val="FFCD00"/>
                      </a:solidFill>
                      <a:prstDash val="solid"/>
                      <a:round/>
                      <a:headEnd type="none" w="med" len="med"/>
                      <a:tailEnd type="none" w="med" len="med"/>
                    </a:lnB>
                    <a:noFill/>
                  </a:tcPr>
                </a:tc>
                <a:extLst>
                  <a:ext uri="{0D108BD9-81ED-4DB2-BD59-A6C34878D82A}">
                    <a16:rowId xmlns:a16="http://schemas.microsoft.com/office/drawing/2014/main" val="840564009"/>
                  </a:ext>
                </a:extLst>
              </a:tr>
              <a:tr h="5432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a:ea typeface="Open Sans Light" panose="020B0306030504020204" pitchFamily="34" charset="0"/>
                          <a:cs typeface="Open Sans Light" panose="020B0306030504020204" pitchFamily="34" charset="0"/>
                        </a:rPr>
                        <a:t>Guiding Principles</a:t>
                      </a:r>
                    </a:p>
                  </a:txBody>
                  <a:tcPr anchor="ctr">
                    <a:lnT w="6350" cap="flat" cmpd="sng" algn="ctr">
                      <a:solidFill>
                        <a:srgbClr val="FFCD00"/>
                      </a:solidFill>
                      <a:prstDash val="solid"/>
                      <a:round/>
                      <a:headEnd type="none" w="med" len="med"/>
                      <a:tailEnd type="none" w="med" len="med"/>
                    </a:lnT>
                    <a:lnB w="6350" cap="flat" cmpd="sng" algn="ctr">
                      <a:solidFill>
                        <a:srgbClr val="FFCD00"/>
                      </a:solidFill>
                      <a:prstDash val="solid"/>
                      <a:round/>
                      <a:headEnd type="none" w="med" len="med"/>
                      <a:tailEnd type="none" w="med" len="med"/>
                    </a:lnB>
                    <a:noFill/>
                  </a:tcPr>
                </a:tc>
                <a:extLst>
                  <a:ext uri="{0D108BD9-81ED-4DB2-BD59-A6C34878D82A}">
                    <a16:rowId xmlns:a16="http://schemas.microsoft.com/office/drawing/2014/main" val="3963240790"/>
                  </a:ext>
                </a:extLst>
              </a:tr>
              <a:tr h="57661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a:ea typeface="Open Sans Light" panose="020B0306030504020204" pitchFamily="34" charset="0"/>
                          <a:cs typeface="Open Sans Light" panose="020B0306030504020204" pitchFamily="34" charset="0"/>
                        </a:rPr>
                        <a:t>Retail Integration Patterns</a:t>
                      </a:r>
                    </a:p>
                  </a:txBody>
                  <a:tcPr anchor="ctr">
                    <a:lnT w="6350" cap="flat" cmpd="sng" algn="ctr">
                      <a:solidFill>
                        <a:srgbClr val="FFCD00"/>
                      </a:solidFill>
                      <a:prstDash val="solid"/>
                      <a:round/>
                      <a:headEnd type="none" w="med" len="med"/>
                      <a:tailEnd type="none" w="med" len="med"/>
                    </a:lnT>
                    <a:lnB w="6350" cap="flat" cmpd="sng" algn="ctr">
                      <a:solidFill>
                        <a:srgbClr val="FFCD00"/>
                      </a:solidFill>
                      <a:prstDash val="solid"/>
                      <a:round/>
                      <a:headEnd type="none" w="med" len="med"/>
                      <a:tailEnd type="none" w="med" len="med"/>
                    </a:lnB>
                    <a:noFill/>
                  </a:tcPr>
                </a:tc>
                <a:extLst>
                  <a:ext uri="{0D108BD9-81ED-4DB2-BD59-A6C34878D82A}">
                    <a16:rowId xmlns:a16="http://schemas.microsoft.com/office/drawing/2014/main" val="1268339920"/>
                  </a:ext>
                </a:extLst>
              </a:tr>
              <a:tr h="55480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a:ea typeface="Open Sans Light" panose="020B0306030504020204" pitchFamily="34" charset="0"/>
                          <a:cs typeface="Open Sans Light" panose="020B0306030504020204" pitchFamily="34" charset="0"/>
                        </a:rPr>
                        <a:t>Errors and Corrections</a:t>
                      </a:r>
                    </a:p>
                  </a:txBody>
                  <a:tcPr anchor="ctr">
                    <a:lnT w="6350" cap="flat" cmpd="sng" algn="ctr">
                      <a:solidFill>
                        <a:srgbClr val="FFCD00"/>
                      </a:solidFill>
                      <a:prstDash val="solid"/>
                      <a:round/>
                      <a:headEnd type="none" w="med" len="med"/>
                      <a:tailEnd type="none" w="med" len="med"/>
                    </a:lnT>
                    <a:lnB w="6350" cap="flat" cmpd="sng" algn="ctr">
                      <a:solidFill>
                        <a:srgbClr val="FFCD00"/>
                      </a:solidFill>
                      <a:prstDash val="solid"/>
                      <a:round/>
                      <a:headEnd type="none" w="med" len="med"/>
                      <a:tailEnd type="none" w="med" len="med"/>
                    </a:lnB>
                    <a:noFill/>
                  </a:tcPr>
                </a:tc>
                <a:extLst>
                  <a:ext uri="{0D108BD9-81ED-4DB2-BD59-A6C34878D82A}">
                    <a16:rowId xmlns:a16="http://schemas.microsoft.com/office/drawing/2014/main" val="152377217"/>
                  </a:ext>
                </a:extLst>
              </a:tr>
              <a:tr h="5470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a:ea typeface="Open Sans Light" panose="020B0306030504020204" pitchFamily="34" charset="0"/>
                          <a:cs typeface="Open Sans Light" panose="020B0306030504020204" pitchFamily="34" charset="0"/>
                        </a:rPr>
                        <a:t>Key Assumptions</a:t>
                      </a:r>
                    </a:p>
                  </a:txBody>
                  <a:tcPr anchor="ctr">
                    <a:lnT w="6350" cap="flat" cmpd="sng" algn="ctr">
                      <a:solidFill>
                        <a:srgbClr val="FFCD00"/>
                      </a:solidFill>
                      <a:prstDash val="solid"/>
                      <a:round/>
                      <a:headEnd type="none" w="med" len="med"/>
                      <a:tailEnd type="none" w="med" len="med"/>
                    </a:lnT>
                    <a:lnB w="6350" cap="flat" cmpd="sng" algn="ctr">
                      <a:solidFill>
                        <a:srgbClr val="FFCD00"/>
                      </a:solidFill>
                      <a:prstDash val="solid"/>
                      <a:round/>
                      <a:headEnd type="none" w="med" len="med"/>
                      <a:tailEnd type="none" w="med" len="med"/>
                    </a:lnB>
                    <a:noFill/>
                  </a:tcPr>
                </a:tc>
                <a:extLst>
                  <a:ext uri="{0D108BD9-81ED-4DB2-BD59-A6C34878D82A}">
                    <a16:rowId xmlns:a16="http://schemas.microsoft.com/office/drawing/2014/main" val="3129171859"/>
                  </a:ext>
                </a:extLst>
              </a:tr>
              <a:tr h="5650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a:ea typeface="Open Sans Light" panose="020B0306030504020204" pitchFamily="34" charset="0"/>
                          <a:cs typeface="Open Sans Light" panose="020B0306030504020204" pitchFamily="34" charset="0"/>
                        </a:rPr>
                        <a:t>Integration Security</a:t>
                      </a:r>
                    </a:p>
                  </a:txBody>
                  <a:tcPr anchor="ctr">
                    <a:lnT w="6350" cap="flat" cmpd="sng" algn="ctr">
                      <a:solidFill>
                        <a:srgbClr val="FFCD00"/>
                      </a:solidFill>
                      <a:prstDash val="solid"/>
                      <a:round/>
                      <a:headEnd type="none" w="med" len="med"/>
                      <a:tailEnd type="none" w="med" len="med"/>
                    </a:lnT>
                    <a:lnB w="6350" cap="flat" cmpd="sng" algn="ctr">
                      <a:solidFill>
                        <a:srgbClr val="FFCD00"/>
                      </a:solidFill>
                      <a:prstDash val="solid"/>
                      <a:round/>
                      <a:headEnd type="none" w="med" len="med"/>
                      <a:tailEnd type="none" w="med" len="med"/>
                    </a:lnB>
                    <a:noFill/>
                  </a:tcPr>
                </a:tc>
                <a:extLst>
                  <a:ext uri="{0D108BD9-81ED-4DB2-BD59-A6C34878D82A}">
                    <a16:rowId xmlns:a16="http://schemas.microsoft.com/office/drawing/2014/main" val="1048108949"/>
                  </a:ext>
                </a:extLst>
              </a:tr>
              <a:tr h="60720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a:ea typeface="Open Sans Light" panose="020B0306030504020204" pitchFamily="34" charset="0"/>
                          <a:cs typeface="Open Sans Light" panose="020B0306030504020204" pitchFamily="34" charset="0"/>
                        </a:rPr>
                        <a:t>Responsibilities</a:t>
                      </a:r>
                    </a:p>
                  </a:txBody>
                  <a:tcPr anchor="ctr">
                    <a:lnT w="6350" cap="flat" cmpd="sng" algn="ctr">
                      <a:solidFill>
                        <a:srgbClr val="FFCD00"/>
                      </a:solidFill>
                      <a:prstDash val="solid"/>
                      <a:round/>
                      <a:headEnd type="none" w="med" len="med"/>
                      <a:tailEnd type="none" w="med" len="med"/>
                    </a:lnT>
                    <a:lnB w="6350" cap="flat" cmpd="sng" algn="ctr">
                      <a:solidFill>
                        <a:srgbClr val="FFCD00"/>
                      </a:solidFill>
                      <a:prstDash val="solid"/>
                      <a:round/>
                      <a:headEnd type="none" w="med" len="med"/>
                      <a:tailEnd type="none" w="med" len="med"/>
                    </a:lnB>
                    <a:noFill/>
                  </a:tcPr>
                </a:tc>
                <a:extLst>
                  <a:ext uri="{0D108BD9-81ED-4DB2-BD59-A6C34878D82A}">
                    <a16:rowId xmlns:a16="http://schemas.microsoft.com/office/drawing/2014/main" val="3241942796"/>
                  </a:ext>
                </a:extLst>
              </a:tr>
            </a:tbl>
          </a:graphicData>
        </a:graphic>
      </p:graphicFrame>
      <p:sp>
        <p:nvSpPr>
          <p:cNvPr id="4" name="Title 3">
            <a:extLst>
              <a:ext uri="{FF2B5EF4-FFF2-40B4-BE49-F238E27FC236}">
                <a16:creationId xmlns:a16="http://schemas.microsoft.com/office/drawing/2014/main" id="{C606AA6B-F9E4-4C70-AFAB-45518F60828C}"/>
              </a:ext>
            </a:extLst>
          </p:cNvPr>
          <p:cNvSpPr>
            <a:spLocks noGrp="1"/>
          </p:cNvSpPr>
          <p:nvPr>
            <p:ph type="title"/>
          </p:nvPr>
        </p:nvSpPr>
        <p:spPr>
          <a:xfrm>
            <a:off x="457201" y="345992"/>
            <a:ext cx="11277600" cy="430887"/>
          </a:xfrm>
        </p:spPr>
        <p:txBody>
          <a:bodyPr>
            <a:noAutofit/>
          </a:bodyPr>
          <a:lstStyle/>
          <a:p>
            <a:r>
              <a:rPr lang="en-US"/>
              <a:t>Contents</a:t>
            </a:r>
          </a:p>
        </p:txBody>
      </p:sp>
      <p:sp>
        <p:nvSpPr>
          <p:cNvPr id="5" name="Oval 4">
            <a:extLst>
              <a:ext uri="{FF2B5EF4-FFF2-40B4-BE49-F238E27FC236}">
                <a16:creationId xmlns:a16="http://schemas.microsoft.com/office/drawing/2014/main" id="{97D1DA84-353A-4E2D-8F5D-37FCC3949B04}"/>
              </a:ext>
            </a:extLst>
          </p:cNvPr>
          <p:cNvSpPr/>
          <p:nvPr/>
        </p:nvSpPr>
        <p:spPr bwMode="gray">
          <a:xfrm>
            <a:off x="5449661" y="1044896"/>
            <a:ext cx="430887" cy="430887"/>
          </a:xfrm>
          <a:prstGeom prst="ellipse">
            <a:avLst/>
          </a:prstGeom>
          <a:solidFill>
            <a:schemeClr val="bg1">
              <a:lumMod val="65000"/>
            </a:schemeClr>
          </a:solidFill>
          <a:ln w="19050" algn="ctr">
            <a:noFill/>
            <a:miter lim="800000"/>
            <a:headEnd/>
            <a:tailEnd/>
          </a:ln>
        </p:spPr>
        <p:txBody>
          <a:bodyPr wrap="square" lIns="0" tIns="0" rIns="0" bIns="0" rtlCol="0" anchor="ctr"/>
          <a:lstStyle/>
          <a:p>
            <a:pPr algn="ctr">
              <a:lnSpc>
                <a:spcPct val="106000"/>
              </a:lnSpc>
              <a:buFont typeface="Wingdings 2" pitchFamily="18" charset="2"/>
              <a:buNone/>
            </a:pPr>
            <a:r>
              <a:rPr kumimoji="0" lang="en-US" sz="1200" b="0" i="0" u="none" strike="noStrike" kern="1200" cap="none" spc="0" normalizeH="0" baseline="0" noProof="0">
                <a:ln>
                  <a:noFill/>
                </a:ln>
                <a:solidFill>
                  <a:schemeClr val="bg1"/>
                </a:solidFill>
                <a:effectLst/>
                <a:uLnTx/>
                <a:uFillTx/>
                <a:latin typeface="Open Sans"/>
                <a:ea typeface="Open Sans Light" panose="020B0306030504020204" pitchFamily="34" charset="0"/>
                <a:cs typeface="Open Sans Light" panose="020B0306030504020204" pitchFamily="34" charset="0"/>
              </a:rPr>
              <a:t>3</a:t>
            </a:r>
            <a:endParaRPr lang="en-US" sz="1600" b="1">
              <a:solidFill>
                <a:schemeClr val="bg1"/>
              </a:solidFill>
            </a:endParaRPr>
          </a:p>
        </p:txBody>
      </p:sp>
      <p:sp>
        <p:nvSpPr>
          <p:cNvPr id="13" name="Oval 12">
            <a:extLst>
              <a:ext uri="{FF2B5EF4-FFF2-40B4-BE49-F238E27FC236}">
                <a16:creationId xmlns:a16="http://schemas.microsoft.com/office/drawing/2014/main" id="{3FB27C85-D5D1-4898-B0E4-569856937F64}"/>
              </a:ext>
            </a:extLst>
          </p:cNvPr>
          <p:cNvSpPr/>
          <p:nvPr/>
        </p:nvSpPr>
        <p:spPr bwMode="gray">
          <a:xfrm>
            <a:off x="5449649" y="1616196"/>
            <a:ext cx="430887" cy="430887"/>
          </a:xfrm>
          <a:prstGeom prst="ellipse">
            <a:avLst/>
          </a:prstGeom>
          <a:solidFill>
            <a:schemeClr val="bg1">
              <a:lumMod val="65000"/>
            </a:schemeClr>
          </a:solidFill>
          <a:ln w="19050" algn="ctr">
            <a:noFill/>
            <a:miter lim="800000"/>
            <a:headEnd/>
            <a:tailEnd/>
          </a:ln>
        </p:spPr>
        <p:txBody>
          <a:bodyPr wrap="square" lIns="0" tIns="0" rIns="0" bIns="0" rtlCol="0" anchor="ctr"/>
          <a:lstStyle/>
          <a:p>
            <a:pPr algn="ctr">
              <a:lnSpc>
                <a:spcPct val="106000"/>
              </a:lnSpc>
              <a:buFont typeface="Wingdings 2" pitchFamily="18" charset="2"/>
              <a:buNone/>
            </a:pPr>
            <a:r>
              <a:rPr kumimoji="0" lang="en-US" sz="1200" b="0" i="0" u="none" strike="noStrike" kern="1200" cap="none" spc="0" normalizeH="0" baseline="0" noProof="0">
                <a:ln>
                  <a:noFill/>
                </a:ln>
                <a:solidFill>
                  <a:schemeClr val="bg1"/>
                </a:solidFill>
                <a:effectLst/>
                <a:uLnTx/>
                <a:uFillTx/>
                <a:latin typeface="Open Sans"/>
                <a:ea typeface="Open Sans Light" panose="020B0306030504020204" pitchFamily="34" charset="0"/>
                <a:cs typeface="Open Sans Light" panose="020B0306030504020204" pitchFamily="34" charset="0"/>
              </a:rPr>
              <a:t>5</a:t>
            </a:r>
            <a:endParaRPr lang="en-US" sz="1600" b="1">
              <a:solidFill>
                <a:schemeClr val="bg1"/>
              </a:solidFill>
            </a:endParaRPr>
          </a:p>
        </p:txBody>
      </p:sp>
      <p:sp>
        <p:nvSpPr>
          <p:cNvPr id="14" name="Oval 13">
            <a:extLst>
              <a:ext uri="{FF2B5EF4-FFF2-40B4-BE49-F238E27FC236}">
                <a16:creationId xmlns:a16="http://schemas.microsoft.com/office/drawing/2014/main" id="{671CC87E-4C76-4CAB-8A8C-4BFA4838C9FE}"/>
              </a:ext>
            </a:extLst>
          </p:cNvPr>
          <p:cNvSpPr/>
          <p:nvPr/>
        </p:nvSpPr>
        <p:spPr bwMode="gray">
          <a:xfrm>
            <a:off x="5449648" y="2199634"/>
            <a:ext cx="430887" cy="430887"/>
          </a:xfrm>
          <a:prstGeom prst="ellipse">
            <a:avLst/>
          </a:prstGeom>
          <a:solidFill>
            <a:schemeClr val="bg1">
              <a:lumMod val="65000"/>
            </a:schemeClr>
          </a:solid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1200">
                <a:solidFill>
                  <a:schemeClr val="bg1"/>
                </a:solidFill>
                <a:latin typeface="Open Sans"/>
                <a:ea typeface="Open Sans Light" panose="020B0306030504020204" pitchFamily="34" charset="0"/>
                <a:cs typeface="Open Sans Light" panose="020B0306030504020204" pitchFamily="34" charset="0"/>
              </a:rPr>
              <a:t>9</a:t>
            </a:r>
            <a:endParaRPr lang="en-US" sz="1600" b="1">
              <a:solidFill>
                <a:schemeClr val="bg1"/>
              </a:solidFill>
            </a:endParaRPr>
          </a:p>
        </p:txBody>
      </p:sp>
      <p:sp>
        <p:nvSpPr>
          <p:cNvPr id="15" name="Oval 14">
            <a:extLst>
              <a:ext uri="{FF2B5EF4-FFF2-40B4-BE49-F238E27FC236}">
                <a16:creationId xmlns:a16="http://schemas.microsoft.com/office/drawing/2014/main" id="{38F696E8-D463-4AFA-86A7-2AB7D1AFB85E}"/>
              </a:ext>
            </a:extLst>
          </p:cNvPr>
          <p:cNvSpPr/>
          <p:nvPr/>
        </p:nvSpPr>
        <p:spPr bwMode="gray">
          <a:xfrm>
            <a:off x="5449647" y="2745113"/>
            <a:ext cx="430887" cy="430887"/>
          </a:xfrm>
          <a:prstGeom prst="ellipse">
            <a:avLst/>
          </a:prstGeom>
          <a:solidFill>
            <a:schemeClr val="bg1">
              <a:lumMod val="65000"/>
            </a:schemeClr>
          </a:solidFill>
          <a:ln w="19050" algn="ctr">
            <a:noFill/>
            <a:miter lim="800000"/>
            <a:headEnd/>
            <a:tailEnd/>
          </a:ln>
        </p:spPr>
        <p:txBody>
          <a:bodyPr wrap="square" lIns="0" tIns="0" rIns="0" bIns="0" rtlCol="0" anchor="ctr"/>
          <a:lstStyle/>
          <a:p>
            <a:pPr algn="ctr">
              <a:lnSpc>
                <a:spcPct val="106000"/>
              </a:lnSpc>
            </a:pPr>
            <a:r>
              <a:rPr lang="en-US" sz="1200">
                <a:solidFill>
                  <a:schemeClr val="bg1"/>
                </a:solidFill>
                <a:latin typeface="Open Sans"/>
                <a:ea typeface="Open Sans Light" panose="020B0306030504020204" pitchFamily="34" charset="0"/>
                <a:cs typeface="Open Sans Light" panose="020B0306030504020204" pitchFamily="34" charset="0"/>
              </a:rPr>
              <a:t>17</a:t>
            </a:r>
          </a:p>
        </p:txBody>
      </p:sp>
      <p:sp>
        <p:nvSpPr>
          <p:cNvPr id="16" name="Oval 15">
            <a:extLst>
              <a:ext uri="{FF2B5EF4-FFF2-40B4-BE49-F238E27FC236}">
                <a16:creationId xmlns:a16="http://schemas.microsoft.com/office/drawing/2014/main" id="{FAE40DE5-FE96-4169-809E-1C7E4738B3E7}"/>
              </a:ext>
            </a:extLst>
          </p:cNvPr>
          <p:cNvSpPr/>
          <p:nvPr/>
        </p:nvSpPr>
        <p:spPr bwMode="gray">
          <a:xfrm>
            <a:off x="5449646" y="3285318"/>
            <a:ext cx="430887" cy="430887"/>
          </a:xfrm>
          <a:prstGeom prst="ellipse">
            <a:avLst/>
          </a:prstGeom>
          <a:solidFill>
            <a:schemeClr val="bg1">
              <a:lumMod val="65000"/>
            </a:schemeClr>
          </a:solid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1200" b="1">
                <a:solidFill>
                  <a:schemeClr val="bg1"/>
                </a:solidFill>
                <a:latin typeface="Open Sans"/>
                <a:ea typeface="Open Sans Light" panose="020B0306030504020204" pitchFamily="34" charset="0"/>
                <a:cs typeface="Open Sans Light" panose="020B0306030504020204" pitchFamily="34" charset="0"/>
              </a:rPr>
              <a:t>21</a:t>
            </a:r>
            <a:endParaRPr lang="en-US" sz="1600" b="1">
              <a:solidFill>
                <a:schemeClr val="bg1"/>
              </a:solidFill>
            </a:endParaRPr>
          </a:p>
        </p:txBody>
      </p:sp>
      <p:sp>
        <p:nvSpPr>
          <p:cNvPr id="17" name="Oval 16">
            <a:extLst>
              <a:ext uri="{FF2B5EF4-FFF2-40B4-BE49-F238E27FC236}">
                <a16:creationId xmlns:a16="http://schemas.microsoft.com/office/drawing/2014/main" id="{CB9FD49F-AEBA-4E1F-8FDD-71EBF5CC24A6}"/>
              </a:ext>
            </a:extLst>
          </p:cNvPr>
          <p:cNvSpPr/>
          <p:nvPr/>
        </p:nvSpPr>
        <p:spPr bwMode="gray">
          <a:xfrm>
            <a:off x="5449645" y="3831342"/>
            <a:ext cx="430887" cy="430887"/>
          </a:xfrm>
          <a:prstGeom prst="ellipse">
            <a:avLst/>
          </a:prstGeom>
          <a:solidFill>
            <a:schemeClr val="bg1">
              <a:lumMod val="65000"/>
            </a:schemeClr>
          </a:solid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1200" b="1">
                <a:solidFill>
                  <a:schemeClr val="bg1"/>
                </a:solidFill>
                <a:latin typeface="Open Sans"/>
                <a:ea typeface="Open Sans Light" panose="020B0306030504020204" pitchFamily="34" charset="0"/>
                <a:cs typeface="Open Sans Light" panose="020B0306030504020204" pitchFamily="34" charset="0"/>
              </a:rPr>
              <a:t>23</a:t>
            </a:r>
            <a:endParaRPr lang="en-US" sz="1600" b="1">
              <a:solidFill>
                <a:schemeClr val="bg1"/>
              </a:solidFill>
            </a:endParaRPr>
          </a:p>
        </p:txBody>
      </p:sp>
      <p:pic>
        <p:nvPicPr>
          <p:cNvPr id="3" name="Graphic 2">
            <a:extLst>
              <a:ext uri="{FF2B5EF4-FFF2-40B4-BE49-F238E27FC236}">
                <a16:creationId xmlns:a16="http://schemas.microsoft.com/office/drawing/2014/main" id="{F1011B6A-7AA4-4579-8E8E-2203F8B80860}"/>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2361" t="46955" r="2553" b="32521"/>
          <a:stretch/>
        </p:blipFill>
        <p:spPr>
          <a:xfrm>
            <a:off x="0" y="5558067"/>
            <a:ext cx="12192000" cy="1392399"/>
          </a:xfrm>
          <a:prstGeom prst="rect">
            <a:avLst/>
          </a:prstGeom>
        </p:spPr>
      </p:pic>
      <p:sp>
        <p:nvSpPr>
          <p:cNvPr id="12" name="Oval 11">
            <a:extLst>
              <a:ext uri="{FF2B5EF4-FFF2-40B4-BE49-F238E27FC236}">
                <a16:creationId xmlns:a16="http://schemas.microsoft.com/office/drawing/2014/main" id="{E46E540B-5FDF-4793-A5D4-06386FE7982F}"/>
              </a:ext>
            </a:extLst>
          </p:cNvPr>
          <p:cNvSpPr/>
          <p:nvPr/>
        </p:nvSpPr>
        <p:spPr bwMode="gray">
          <a:xfrm>
            <a:off x="5449644" y="4414235"/>
            <a:ext cx="430887" cy="430887"/>
          </a:xfrm>
          <a:prstGeom prst="ellipse">
            <a:avLst/>
          </a:prstGeom>
          <a:solidFill>
            <a:schemeClr val="bg1">
              <a:lumMod val="65000"/>
            </a:schemeClr>
          </a:solid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1200" b="1">
                <a:solidFill>
                  <a:schemeClr val="bg1"/>
                </a:solidFill>
                <a:latin typeface="Open Sans"/>
                <a:ea typeface="Open Sans Light" panose="020B0306030504020204" pitchFamily="34" charset="0"/>
                <a:cs typeface="Open Sans Light" panose="020B0306030504020204" pitchFamily="34" charset="0"/>
              </a:rPr>
              <a:t>25</a:t>
            </a:r>
            <a:endParaRPr lang="en-US" sz="1600" b="1">
              <a:solidFill>
                <a:schemeClr val="bg1"/>
              </a:solidFill>
            </a:endParaRPr>
          </a:p>
        </p:txBody>
      </p:sp>
    </p:spTree>
    <p:extLst>
      <p:ext uri="{BB962C8B-B14F-4D97-AF65-F5344CB8AC3E}">
        <p14:creationId xmlns:p14="http://schemas.microsoft.com/office/powerpoint/2010/main" val="915411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b="1"/>
              <a:t>Integration Strategy</a:t>
            </a:r>
          </a:p>
          <a:p>
            <a:pPr marL="0" indent="0">
              <a:buNone/>
            </a:pPr>
            <a:r>
              <a:rPr lang="en-US" b="1"/>
              <a:t>Objective</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265423748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A picture containing text&#10;&#10;Description automatically generated">
            <a:extLst>
              <a:ext uri="{FF2B5EF4-FFF2-40B4-BE49-F238E27FC236}">
                <a16:creationId xmlns:a16="http://schemas.microsoft.com/office/drawing/2014/main" id="{B84760FD-ED11-447A-98DC-B14AB67BF5B1}"/>
              </a:ext>
            </a:extLst>
          </p:cNvPr>
          <p:cNvPicPr>
            <a:picLocks noChangeAspect="1"/>
          </p:cNvPicPr>
          <p:nvPr/>
        </p:nvPicPr>
        <p:blipFill rotWithShape="1">
          <a:blip r:embed="rId3"/>
          <a:srcRect t="72253" r="32706" b="-593"/>
          <a:stretch/>
        </p:blipFill>
        <p:spPr>
          <a:xfrm>
            <a:off x="0" y="5388711"/>
            <a:ext cx="6372225" cy="1509109"/>
          </a:xfrm>
          <a:prstGeom prst="rect">
            <a:avLst/>
          </a:prstGeom>
        </p:spPr>
      </p:pic>
      <p:pic>
        <p:nvPicPr>
          <p:cNvPr id="32" name="Picture 31" descr="A picture containing text&#10;&#10;Description automatically generated">
            <a:extLst>
              <a:ext uri="{FF2B5EF4-FFF2-40B4-BE49-F238E27FC236}">
                <a16:creationId xmlns:a16="http://schemas.microsoft.com/office/drawing/2014/main" id="{E6557336-DE31-4356-A2FB-52C80125FB40}"/>
              </a:ext>
            </a:extLst>
          </p:cNvPr>
          <p:cNvPicPr>
            <a:picLocks noChangeAspect="1"/>
          </p:cNvPicPr>
          <p:nvPr/>
        </p:nvPicPr>
        <p:blipFill rotWithShape="1">
          <a:blip r:embed="rId3"/>
          <a:srcRect t="86960" r="37534" b="-593"/>
          <a:stretch/>
        </p:blipFill>
        <p:spPr>
          <a:xfrm flipH="1">
            <a:off x="7072311" y="6269474"/>
            <a:ext cx="5119687" cy="628346"/>
          </a:xfrm>
          <a:prstGeom prst="rect">
            <a:avLst/>
          </a:prstGeom>
        </p:spPr>
      </p:pic>
      <p:sp>
        <p:nvSpPr>
          <p:cNvPr id="37" name="Title 1">
            <a:extLst>
              <a:ext uri="{FF2B5EF4-FFF2-40B4-BE49-F238E27FC236}">
                <a16:creationId xmlns:a16="http://schemas.microsoft.com/office/drawing/2014/main" id="{A6816D6F-3C93-4D13-B12A-55BE788798F2}"/>
              </a:ext>
            </a:extLst>
          </p:cNvPr>
          <p:cNvSpPr>
            <a:spLocks noGrp="1"/>
          </p:cNvSpPr>
          <p:nvPr>
            <p:ph type="title"/>
          </p:nvPr>
        </p:nvSpPr>
        <p:spPr>
          <a:xfrm>
            <a:off x="357627" y="-40817"/>
            <a:ext cx="10515600" cy="1325563"/>
          </a:xfrm>
        </p:spPr>
        <p:txBody>
          <a:bodyPr>
            <a:normAutofit/>
          </a:bodyPr>
          <a:lstStyle/>
          <a:p>
            <a:r>
              <a:rPr lang="en-US" sz="3200"/>
              <a:t>Objective</a:t>
            </a:r>
          </a:p>
        </p:txBody>
      </p:sp>
      <p:sp>
        <p:nvSpPr>
          <p:cNvPr id="38" name="TextBox 37">
            <a:extLst>
              <a:ext uri="{FF2B5EF4-FFF2-40B4-BE49-F238E27FC236}">
                <a16:creationId xmlns:a16="http://schemas.microsoft.com/office/drawing/2014/main" id="{E09A5B88-FE0C-4D0F-9137-97A16F25C18D}"/>
              </a:ext>
            </a:extLst>
          </p:cNvPr>
          <p:cNvSpPr txBox="1"/>
          <p:nvPr/>
        </p:nvSpPr>
        <p:spPr>
          <a:xfrm>
            <a:off x="463295" y="2022906"/>
            <a:ext cx="8683273" cy="3139321"/>
          </a:xfrm>
          <a:prstGeom prst="rect">
            <a:avLst/>
          </a:prstGeom>
          <a:noFill/>
        </p:spPr>
        <p:txBody>
          <a:bodyPr wrap="square">
            <a:spAutoFit/>
          </a:bodyPr>
          <a:lstStyle/>
          <a:p>
            <a:pPr marL="285750" indent="-285750">
              <a:buFont typeface="Arial" panose="020B0604020202020204" pitchFamily="34" charset="0"/>
              <a:buChar char="•"/>
            </a:pPr>
            <a:r>
              <a:rPr lang="en-US" sz="1800"/>
              <a:t>The document provides high level guidelines and our approach towards the data integration solution.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a:t>This document proposes different integrations patterns/approaches to be used and ensures that all the Integrations use a standard approach and are easy to maintain. </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a:t>This document also provides guidelines at each phase of integration development lifecycle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a:t>The document also details integration scope along with the various considerations of security, performance, and exception handling.</a:t>
            </a:r>
            <a:endParaRPr lang="en-US"/>
          </a:p>
        </p:txBody>
      </p:sp>
      <p:sp>
        <p:nvSpPr>
          <p:cNvPr id="39" name="TextBox 38">
            <a:extLst>
              <a:ext uri="{FF2B5EF4-FFF2-40B4-BE49-F238E27FC236}">
                <a16:creationId xmlns:a16="http://schemas.microsoft.com/office/drawing/2014/main" id="{ED7AE602-9F3C-4558-936E-5477D373F339}"/>
              </a:ext>
            </a:extLst>
          </p:cNvPr>
          <p:cNvSpPr txBox="1"/>
          <p:nvPr/>
        </p:nvSpPr>
        <p:spPr>
          <a:xfrm>
            <a:off x="463295" y="1247922"/>
            <a:ext cx="10409932" cy="369332"/>
          </a:xfrm>
          <a:prstGeom prst="rect">
            <a:avLst/>
          </a:prstGeom>
          <a:noFill/>
        </p:spPr>
        <p:txBody>
          <a:bodyPr wrap="square">
            <a:spAutoFit/>
          </a:bodyPr>
          <a:lstStyle/>
          <a:p>
            <a:r>
              <a:rPr lang="en-US" sz="1800"/>
              <a:t>Outline the Integration approach, objectives, requirements and assumptions for Dollar Tree implementation</a:t>
            </a:r>
          </a:p>
        </p:txBody>
      </p:sp>
    </p:spTree>
    <p:extLst>
      <p:ext uri="{BB962C8B-B14F-4D97-AF65-F5344CB8AC3E}">
        <p14:creationId xmlns:p14="http://schemas.microsoft.com/office/powerpoint/2010/main" val="3054061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b="1"/>
              <a:t>Integration Strategy</a:t>
            </a:r>
          </a:p>
          <a:p>
            <a:pPr marL="0" indent="0">
              <a:buNone/>
            </a:pPr>
            <a:r>
              <a:rPr lang="en-US"/>
              <a:t>Guiding Principles</a:t>
            </a:r>
            <a:endParaRPr lang="en-US" b="1"/>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3"/>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888683849"/>
      </p:ext>
    </p:extLst>
  </p:cSld>
  <p:clrMapOvr>
    <a:masterClrMapping/>
  </p:clrMapOvr>
  <p:transition>
    <p:fade/>
  </p:transition>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A picture containing text&#10;&#10;Description automatically generated">
            <a:extLst>
              <a:ext uri="{FF2B5EF4-FFF2-40B4-BE49-F238E27FC236}">
                <a16:creationId xmlns:a16="http://schemas.microsoft.com/office/drawing/2014/main" id="{B84760FD-ED11-447A-98DC-B14AB67BF5B1}"/>
              </a:ext>
            </a:extLst>
          </p:cNvPr>
          <p:cNvPicPr>
            <a:picLocks noChangeAspect="1"/>
          </p:cNvPicPr>
          <p:nvPr/>
        </p:nvPicPr>
        <p:blipFill rotWithShape="1">
          <a:blip r:embed="rId3"/>
          <a:srcRect t="72253" r="32706" b="-593"/>
          <a:stretch/>
        </p:blipFill>
        <p:spPr>
          <a:xfrm>
            <a:off x="0" y="5388711"/>
            <a:ext cx="6372225" cy="1509109"/>
          </a:xfrm>
          <a:prstGeom prst="rect">
            <a:avLst/>
          </a:prstGeom>
        </p:spPr>
      </p:pic>
      <p:pic>
        <p:nvPicPr>
          <p:cNvPr id="32" name="Picture 31" descr="A picture containing text&#10;&#10;Description automatically generated">
            <a:extLst>
              <a:ext uri="{FF2B5EF4-FFF2-40B4-BE49-F238E27FC236}">
                <a16:creationId xmlns:a16="http://schemas.microsoft.com/office/drawing/2014/main" id="{E6557336-DE31-4356-A2FB-52C80125FB40}"/>
              </a:ext>
            </a:extLst>
          </p:cNvPr>
          <p:cNvPicPr>
            <a:picLocks noChangeAspect="1"/>
          </p:cNvPicPr>
          <p:nvPr/>
        </p:nvPicPr>
        <p:blipFill rotWithShape="1">
          <a:blip r:embed="rId3"/>
          <a:srcRect t="86960" r="37534" b="-593"/>
          <a:stretch/>
        </p:blipFill>
        <p:spPr>
          <a:xfrm flipH="1">
            <a:off x="7072311" y="6269474"/>
            <a:ext cx="5119687" cy="628346"/>
          </a:xfrm>
          <a:prstGeom prst="rect">
            <a:avLst/>
          </a:prstGeom>
        </p:spPr>
      </p:pic>
      <p:sp>
        <p:nvSpPr>
          <p:cNvPr id="9" name="Text Placeholder 2">
            <a:extLst>
              <a:ext uri="{FF2B5EF4-FFF2-40B4-BE49-F238E27FC236}">
                <a16:creationId xmlns:a16="http://schemas.microsoft.com/office/drawing/2014/main" id="{10D219DD-433F-461F-B2A0-BB80E1774372}"/>
              </a:ext>
            </a:extLst>
          </p:cNvPr>
          <p:cNvSpPr txBox="1">
            <a:spLocks/>
          </p:cNvSpPr>
          <p:nvPr/>
        </p:nvSpPr>
        <p:spPr>
          <a:xfrm>
            <a:off x="463295" y="1150706"/>
            <a:ext cx="11277600" cy="42611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The following principles should be considered during the architecture design process to support a high-quality sustainable enterprise Data Integration architecture.</a:t>
            </a:r>
          </a:p>
          <a:p>
            <a:pPr marL="742950" lvl="1" indent="-285750"/>
            <a:r>
              <a:rPr lang="en-US" sz="1400" b="1"/>
              <a:t>Data Sourcing </a:t>
            </a:r>
            <a:r>
              <a:rPr lang="en-US" sz="1400"/>
              <a:t>- To reduce redundancy, errors and costs, data will be captured as close as possible to the originating source and reused wherever possible.</a:t>
            </a:r>
          </a:p>
          <a:p>
            <a:pPr marL="742950" lvl="1" indent="-285750"/>
            <a:r>
              <a:rPr lang="en-US" sz="1400" b="1"/>
              <a:t>Reusability </a:t>
            </a:r>
            <a:r>
              <a:rPr lang="en-US" sz="1400"/>
              <a:t>– Data Integration components (mappings, transformation logic) will be reused to reduce development time and cost, and to maintain consistency.</a:t>
            </a:r>
          </a:p>
          <a:p>
            <a:pPr marL="742950" lvl="1" indent="-285750"/>
            <a:r>
              <a:rPr lang="en-US" sz="1400" b="1"/>
              <a:t>Modular Design</a:t>
            </a:r>
            <a:r>
              <a:rPr lang="en-US" sz="1400"/>
              <a:t> – Divide the overall system into smaller sub-system that can be designed independently of each other such that these sub-systems can interoperate by exchanging appropriate information to provide the functionality of the overall system.</a:t>
            </a:r>
          </a:p>
          <a:p>
            <a:pPr marL="742950" lvl="1" indent="-285750"/>
            <a:r>
              <a:rPr lang="en-US" sz="1400" b="1"/>
              <a:t>Naming Standards</a:t>
            </a:r>
            <a:r>
              <a:rPr lang="en-US" sz="1400"/>
              <a:t> – Define and follow naming standards across the Data Integration environment (e.g., schedules, jobs, mappings).</a:t>
            </a:r>
          </a:p>
          <a:p>
            <a:pPr marL="742950" lvl="1" indent="-285750"/>
            <a:r>
              <a:rPr lang="en-US" sz="1400" b="1"/>
              <a:t>Scalability and Performance</a:t>
            </a:r>
            <a:r>
              <a:rPr lang="en-US" sz="1400"/>
              <a:t> – Build scalability and performance into the Data Integration components by accounting for projected growth in data volumes and processing complexity and by providing adequate levels of design flexibility.</a:t>
            </a:r>
          </a:p>
          <a:p>
            <a:pPr marL="742950" lvl="1" indent="-285750"/>
            <a:r>
              <a:rPr lang="en-US" sz="1400" b="1"/>
              <a:t>Failover and Recovery </a:t>
            </a:r>
            <a:r>
              <a:rPr lang="en-US" sz="1400"/>
              <a:t>– Design new integrations for rollback and recovery of Data Integration processes. When failure occurs, the process “falls back” to a recoverable point – the last known good point in the data flow. </a:t>
            </a:r>
          </a:p>
          <a:p>
            <a:pPr marL="742950" lvl="1" indent="-285750"/>
            <a:r>
              <a:rPr lang="en-US" sz="1400" b="1"/>
              <a:t>Visibility and Security </a:t>
            </a:r>
            <a:r>
              <a:rPr lang="en-US" sz="1400"/>
              <a:t>– Ensure visibility and security components of the Data Integration environment provides legitimate users with access to reliable, timely, and consistent data.</a:t>
            </a:r>
          </a:p>
          <a:p>
            <a:pPr marL="742950" lvl="1" indent="-285750"/>
            <a:r>
              <a:rPr lang="en-US" sz="1400" b="1"/>
              <a:t>Manageable </a:t>
            </a:r>
            <a:r>
              <a:rPr lang="en-US" sz="1400"/>
              <a:t>– Develop code in such a manner that it can be promoted and then executed without modification from one environment to another (development, test, pre-prod, prod, etc.)</a:t>
            </a:r>
          </a:p>
          <a:p>
            <a:pPr marL="742950" lvl="1" indent="-285750"/>
            <a:r>
              <a:rPr lang="en-US" sz="1400" b="1"/>
              <a:t>Auditable </a:t>
            </a:r>
            <a:r>
              <a:rPr lang="en-US" sz="1400"/>
              <a:t>– The design should allow the system to identify any changes to data at each stage of processing to verify the data is modified as per the business requirements.</a:t>
            </a:r>
          </a:p>
        </p:txBody>
      </p:sp>
      <p:sp>
        <p:nvSpPr>
          <p:cNvPr id="10" name="Title 1">
            <a:extLst>
              <a:ext uri="{FF2B5EF4-FFF2-40B4-BE49-F238E27FC236}">
                <a16:creationId xmlns:a16="http://schemas.microsoft.com/office/drawing/2014/main" id="{34D0BC7E-56CD-4654-89F0-74B2234F837E}"/>
              </a:ext>
            </a:extLst>
          </p:cNvPr>
          <p:cNvSpPr>
            <a:spLocks noGrp="1"/>
          </p:cNvSpPr>
          <p:nvPr>
            <p:ph type="title"/>
          </p:nvPr>
        </p:nvSpPr>
        <p:spPr>
          <a:xfrm>
            <a:off x="463295" y="247487"/>
            <a:ext cx="11277600" cy="443198"/>
          </a:xfrm>
        </p:spPr>
        <p:txBody>
          <a:bodyPr>
            <a:normAutofit fontScale="90000"/>
          </a:bodyPr>
          <a:lstStyle/>
          <a:p>
            <a:pPr>
              <a:spcBef>
                <a:spcPct val="0"/>
              </a:spcBef>
            </a:pPr>
            <a:r>
              <a:rPr lang="en-US" sz="3200"/>
              <a:t>Guiding Principles - Architecture</a:t>
            </a:r>
          </a:p>
        </p:txBody>
      </p:sp>
    </p:spTree>
    <p:extLst>
      <p:ext uri="{BB962C8B-B14F-4D97-AF65-F5344CB8AC3E}">
        <p14:creationId xmlns:p14="http://schemas.microsoft.com/office/powerpoint/2010/main" val="161430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A picture containing text&#10;&#10;Description automatically generated">
            <a:extLst>
              <a:ext uri="{FF2B5EF4-FFF2-40B4-BE49-F238E27FC236}">
                <a16:creationId xmlns:a16="http://schemas.microsoft.com/office/drawing/2014/main" id="{B84760FD-ED11-447A-98DC-B14AB67BF5B1}"/>
              </a:ext>
            </a:extLst>
          </p:cNvPr>
          <p:cNvPicPr>
            <a:picLocks noChangeAspect="1"/>
          </p:cNvPicPr>
          <p:nvPr/>
        </p:nvPicPr>
        <p:blipFill rotWithShape="1">
          <a:blip r:embed="rId3"/>
          <a:srcRect t="72253" r="32706" b="-593"/>
          <a:stretch/>
        </p:blipFill>
        <p:spPr>
          <a:xfrm>
            <a:off x="0" y="5388711"/>
            <a:ext cx="6372225" cy="1509109"/>
          </a:xfrm>
          <a:prstGeom prst="rect">
            <a:avLst/>
          </a:prstGeom>
        </p:spPr>
      </p:pic>
      <p:pic>
        <p:nvPicPr>
          <p:cNvPr id="32" name="Picture 31" descr="A picture containing text&#10;&#10;Description automatically generated">
            <a:extLst>
              <a:ext uri="{FF2B5EF4-FFF2-40B4-BE49-F238E27FC236}">
                <a16:creationId xmlns:a16="http://schemas.microsoft.com/office/drawing/2014/main" id="{E6557336-DE31-4356-A2FB-52C80125FB40}"/>
              </a:ext>
            </a:extLst>
          </p:cNvPr>
          <p:cNvPicPr>
            <a:picLocks noChangeAspect="1"/>
          </p:cNvPicPr>
          <p:nvPr/>
        </p:nvPicPr>
        <p:blipFill rotWithShape="1">
          <a:blip r:embed="rId3"/>
          <a:srcRect t="86960" r="37534" b="-593"/>
          <a:stretch/>
        </p:blipFill>
        <p:spPr>
          <a:xfrm flipH="1">
            <a:off x="7072311" y="6269474"/>
            <a:ext cx="5119687" cy="628346"/>
          </a:xfrm>
          <a:prstGeom prst="rect">
            <a:avLst/>
          </a:prstGeom>
        </p:spPr>
      </p:pic>
      <p:sp>
        <p:nvSpPr>
          <p:cNvPr id="8" name="Text Placeholder 2">
            <a:extLst>
              <a:ext uri="{FF2B5EF4-FFF2-40B4-BE49-F238E27FC236}">
                <a16:creationId xmlns:a16="http://schemas.microsoft.com/office/drawing/2014/main" id="{2C068A77-31DB-4AA7-B002-C83033C0AB7F}"/>
              </a:ext>
            </a:extLst>
          </p:cNvPr>
          <p:cNvSpPr txBox="1">
            <a:spLocks/>
          </p:cNvSpPr>
          <p:nvPr/>
        </p:nvSpPr>
        <p:spPr>
          <a:xfrm>
            <a:off x="463295" y="1150706"/>
            <a:ext cx="11277600" cy="23893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r>
              <a:rPr lang="en-US" sz="1400" b="1"/>
              <a:t>Industry Standard Adapters</a:t>
            </a:r>
            <a:r>
              <a:rPr lang="en-US" sz="1400"/>
              <a:t> - Always use adapters when available and avoid use of custom code to interact with a third-party product when an adapter is available. Adapters always shield the business services from the technology &amp; API changes from the third-party product.</a:t>
            </a:r>
          </a:p>
          <a:p>
            <a:pPr marL="742950" lvl="1" indent="-285750"/>
            <a:r>
              <a:rPr lang="en-US" sz="1400" b="1"/>
              <a:t>Event Driven Architecture</a:t>
            </a:r>
            <a:r>
              <a:rPr lang="en-US" sz="1400"/>
              <a:t> - If possible, always have the source systems push out the events and middleware to receive &amp; distribute to the all the subscribers or process the event in a business flow. This way polling overhead can be reduced, and integration will be instantaneous.</a:t>
            </a:r>
          </a:p>
          <a:p>
            <a:pPr marL="742950" lvl="1" indent="-285750"/>
            <a:r>
              <a:rPr lang="en-US" sz="1400" b="1"/>
              <a:t>Use Mediation layer</a:t>
            </a:r>
            <a:r>
              <a:rPr lang="en-US" sz="1400"/>
              <a:t> - Use mediator as an intermediary layer, residing between the service client and the service providers. When clients use a service via the mediator, the mediator has the ability to perform multiple operations, it can transform the data or the schema of the messages it sends and receives, and it can route messages to various endpoints. It can perform sequencing the messages, thereby ordering them.</a:t>
            </a:r>
          </a:p>
          <a:p>
            <a:pPr marL="742950" lvl="1" indent="-285750"/>
            <a:r>
              <a:rPr lang="en-US" sz="1400" b="1"/>
              <a:t>Utilize Design Patterns</a:t>
            </a:r>
            <a:r>
              <a:rPr lang="en-US" sz="1400"/>
              <a:t> - Design patterns present conceptual, repeatable solutions to commonly faced technology problems. Base Integration Architecture components upon widely implemented Enterprise Integration Patterns.</a:t>
            </a:r>
          </a:p>
          <a:p>
            <a:pPr marL="742950" lvl="1" indent="-285750"/>
            <a:r>
              <a:rPr lang="en-US" sz="1400" b="1"/>
              <a:t>Avoid custom development where possible</a:t>
            </a:r>
            <a:r>
              <a:rPr lang="en-US" sz="1400"/>
              <a:t> - Integration Architecture should leverage as many pre-packaged components provided by the toolset as possible. Avoid custom development of components if a packaged solution has been provided.</a:t>
            </a:r>
          </a:p>
        </p:txBody>
      </p:sp>
      <p:sp>
        <p:nvSpPr>
          <p:cNvPr id="11" name="Title 1">
            <a:extLst>
              <a:ext uri="{FF2B5EF4-FFF2-40B4-BE49-F238E27FC236}">
                <a16:creationId xmlns:a16="http://schemas.microsoft.com/office/drawing/2014/main" id="{0A035558-2D3A-47B8-BC09-8C000AAA5FE8}"/>
              </a:ext>
            </a:extLst>
          </p:cNvPr>
          <p:cNvSpPr>
            <a:spLocks noGrp="1"/>
          </p:cNvSpPr>
          <p:nvPr>
            <p:ph type="title"/>
          </p:nvPr>
        </p:nvSpPr>
        <p:spPr>
          <a:xfrm>
            <a:off x="463295" y="247487"/>
            <a:ext cx="11277600" cy="443198"/>
          </a:xfrm>
        </p:spPr>
        <p:txBody>
          <a:bodyPr>
            <a:normAutofit fontScale="90000"/>
          </a:bodyPr>
          <a:lstStyle/>
          <a:p>
            <a:pPr>
              <a:spcBef>
                <a:spcPct val="0"/>
              </a:spcBef>
            </a:pPr>
            <a:r>
              <a:rPr lang="en-US" sz="3200"/>
              <a:t>Guiding Principles - Design</a:t>
            </a:r>
          </a:p>
        </p:txBody>
      </p:sp>
    </p:spTree>
    <p:extLst>
      <p:ext uri="{BB962C8B-B14F-4D97-AF65-F5344CB8AC3E}">
        <p14:creationId xmlns:p14="http://schemas.microsoft.com/office/powerpoint/2010/main" val="2701300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A picture containing text&#10;&#10;Description automatically generated">
            <a:extLst>
              <a:ext uri="{FF2B5EF4-FFF2-40B4-BE49-F238E27FC236}">
                <a16:creationId xmlns:a16="http://schemas.microsoft.com/office/drawing/2014/main" id="{B84760FD-ED11-447A-98DC-B14AB67BF5B1}"/>
              </a:ext>
            </a:extLst>
          </p:cNvPr>
          <p:cNvPicPr>
            <a:picLocks noChangeAspect="1"/>
          </p:cNvPicPr>
          <p:nvPr/>
        </p:nvPicPr>
        <p:blipFill rotWithShape="1">
          <a:blip r:embed="rId4"/>
          <a:srcRect t="72253" r="32706" b="-593"/>
          <a:stretch/>
        </p:blipFill>
        <p:spPr>
          <a:xfrm>
            <a:off x="0" y="5388711"/>
            <a:ext cx="6372225" cy="1509109"/>
          </a:xfrm>
          <a:prstGeom prst="rect">
            <a:avLst/>
          </a:prstGeom>
        </p:spPr>
      </p:pic>
      <p:pic>
        <p:nvPicPr>
          <p:cNvPr id="32" name="Picture 31" descr="A picture containing text&#10;&#10;Description automatically generated">
            <a:extLst>
              <a:ext uri="{FF2B5EF4-FFF2-40B4-BE49-F238E27FC236}">
                <a16:creationId xmlns:a16="http://schemas.microsoft.com/office/drawing/2014/main" id="{E6557336-DE31-4356-A2FB-52C80125FB40}"/>
              </a:ext>
            </a:extLst>
          </p:cNvPr>
          <p:cNvPicPr>
            <a:picLocks noChangeAspect="1"/>
          </p:cNvPicPr>
          <p:nvPr/>
        </p:nvPicPr>
        <p:blipFill rotWithShape="1">
          <a:blip r:embed="rId4"/>
          <a:srcRect t="86960" r="37534" b="-593"/>
          <a:stretch/>
        </p:blipFill>
        <p:spPr>
          <a:xfrm flipH="1">
            <a:off x="7072311" y="6269474"/>
            <a:ext cx="5119687" cy="628346"/>
          </a:xfrm>
          <a:prstGeom prst="rect">
            <a:avLst/>
          </a:prstGeom>
        </p:spPr>
      </p:pic>
      <p:sp>
        <p:nvSpPr>
          <p:cNvPr id="8" name="Text Placeholder 2">
            <a:extLst>
              <a:ext uri="{FF2B5EF4-FFF2-40B4-BE49-F238E27FC236}">
                <a16:creationId xmlns:a16="http://schemas.microsoft.com/office/drawing/2014/main" id="{2C068A77-31DB-4AA7-B002-C83033C0AB7F}"/>
              </a:ext>
            </a:extLst>
          </p:cNvPr>
          <p:cNvSpPr txBox="1">
            <a:spLocks/>
          </p:cNvSpPr>
          <p:nvPr/>
        </p:nvSpPr>
        <p:spPr>
          <a:xfrm>
            <a:off x="463295" y="1150706"/>
            <a:ext cx="11277600" cy="23893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r>
              <a:rPr lang="en-US" sz="1400" b="1"/>
              <a:t>File Management in Staging Area</a:t>
            </a:r>
            <a:r>
              <a:rPr lang="en-US" sz="1400"/>
              <a:t>- Leading practice is to consider staging areas as part of the data integration architecture.</a:t>
            </a:r>
          </a:p>
          <a:p>
            <a:pPr lvl="2">
              <a:buFont typeface="Courier New" panose="02070309020205020404" pitchFamily="49" charset="0"/>
              <a:buChar char="o"/>
            </a:pPr>
            <a:r>
              <a:rPr lang="en-US" sz="1400"/>
              <a:t>Good practice to have a proper file management system in the Landing zone with proper security within the folder structures</a:t>
            </a:r>
          </a:p>
          <a:p>
            <a:pPr lvl="2">
              <a:buFont typeface="Courier New" panose="02070309020205020404" pitchFamily="49" charset="0"/>
              <a:buChar char="o"/>
            </a:pPr>
            <a:r>
              <a:rPr lang="en-US" sz="1400"/>
              <a:t>A directory structure that includes segregation and identification by source systems is needed</a:t>
            </a:r>
          </a:p>
          <a:p>
            <a:pPr lvl="2">
              <a:buFont typeface="Courier New" panose="02070309020205020404" pitchFamily="49" charset="0"/>
              <a:buChar char="o"/>
            </a:pPr>
            <a:r>
              <a:rPr lang="en-US" sz="1400"/>
              <a:t>The landing zone should have enough space and proper control mechanisms to push or pull the source files completely.</a:t>
            </a:r>
          </a:p>
          <a:p>
            <a:pPr lvl="2">
              <a:buFont typeface="Courier New" panose="02070309020205020404" pitchFamily="49" charset="0"/>
              <a:buChar char="o"/>
            </a:pPr>
            <a:r>
              <a:rPr lang="en-US" sz="1400"/>
              <a:t>Have a separate zone for the processing area, the processing area should have enough space and should be accessible only to the integration process of the staging area</a:t>
            </a:r>
          </a:p>
          <a:p>
            <a:pPr lvl="2">
              <a:buFont typeface="Courier New" panose="02070309020205020404" pitchFamily="49" charset="0"/>
              <a:buChar char="o"/>
            </a:pPr>
            <a:r>
              <a:rPr lang="en-US" sz="1400"/>
              <a:t>All files processed should be archived in the archiving zone. Files should be arranged according to the subject areas or source systems</a:t>
            </a:r>
          </a:p>
          <a:p>
            <a:pPr lvl="2">
              <a:buFont typeface="Courier New" panose="02070309020205020404" pitchFamily="49" charset="0"/>
              <a:buChar char="o"/>
            </a:pPr>
            <a:r>
              <a:rPr lang="en-US" sz="1400"/>
              <a:t>Proper naming conventions should be followed. The source files should have date time stamps</a:t>
            </a:r>
          </a:p>
          <a:p>
            <a:pPr lvl="2">
              <a:buFont typeface="Courier New" panose="02070309020205020404" pitchFamily="49" charset="0"/>
              <a:buChar char="o"/>
            </a:pPr>
            <a:r>
              <a:rPr lang="en-US" sz="1400"/>
              <a:t>The parameter files, ftp scripts, and control scripts should be kept in separate folder structures with meaningful names and access controls</a:t>
            </a:r>
          </a:p>
          <a:p>
            <a:pPr marL="742950" lvl="1" indent="-285750"/>
            <a:r>
              <a:rPr lang="en-US" sz="1400" b="1"/>
              <a:t>Reusability of Transformations</a:t>
            </a:r>
          </a:p>
          <a:p>
            <a:pPr lvl="2">
              <a:buFont typeface="Courier New" panose="02070309020205020404" pitchFamily="49" charset="0"/>
              <a:buChar char="o"/>
            </a:pPr>
            <a:r>
              <a:rPr lang="en-US" sz="1400"/>
              <a:t>One of the advantages of using Integration platform is that processes can be used repeatedly for common transformations.</a:t>
            </a:r>
          </a:p>
          <a:p>
            <a:pPr lvl="2">
              <a:buFont typeface="Courier New" panose="02070309020205020404" pitchFamily="49" charset="0"/>
              <a:buChar char="o"/>
            </a:pPr>
            <a:r>
              <a:rPr lang="en-US" sz="1400"/>
              <a:t>Key transformation rules/functions should be designed for re-use across data movement layers. This avoids redundancy in terms of code optimization.  With this approach, if there is any slight change in any of the approach, only the reusable component can be modified, and it will be reflected in every job where it is used.	</a:t>
            </a:r>
          </a:p>
          <a:p>
            <a:pPr lvl="2">
              <a:buFont typeface="Courier New" panose="02070309020205020404" pitchFamily="49" charset="0"/>
              <a:buChar char="o"/>
            </a:pPr>
            <a:r>
              <a:rPr lang="en-US" sz="1400"/>
              <a:t>Error handling processes should be created as a reusable component.  While some tools provide transformation level reusability, other tools provide scripts that can be reused.</a:t>
            </a:r>
          </a:p>
          <a:p>
            <a:pPr lvl="1"/>
            <a:r>
              <a:rPr lang="en-US" sz="1400" b="1"/>
              <a:t>Encrypting PII</a:t>
            </a:r>
          </a:p>
          <a:p>
            <a:pPr lvl="2">
              <a:buFont typeface="Courier New" panose="02070309020205020404" pitchFamily="49" charset="0"/>
              <a:buChar char="o"/>
            </a:pPr>
            <a:r>
              <a:rPr lang="en-US" sz="1400"/>
              <a:t>Encryption and decryption of personally identifiable information (PII) is important to safeguard the data during its transition from source to target. Encryption shall be implemented in build . Following are few examples of PII fields</a:t>
            </a:r>
          </a:p>
          <a:p>
            <a:pPr lvl="3"/>
            <a:r>
              <a:rPr lang="en-US" sz="1400">
                <a:highlight>
                  <a:srgbClr val="FFFF00"/>
                </a:highlight>
              </a:rPr>
              <a:t>Social Security Number(SSN) </a:t>
            </a:r>
          </a:p>
          <a:p>
            <a:pPr lvl="3"/>
            <a:r>
              <a:rPr lang="en-US" sz="1400">
                <a:highlight>
                  <a:srgbClr val="FFFF00"/>
                </a:highlight>
              </a:rPr>
              <a:t>Client Account Number</a:t>
            </a:r>
          </a:p>
          <a:p>
            <a:pPr marL="742950" lvl="1" indent="-285750"/>
            <a:endParaRPr lang="en-US" sz="1400"/>
          </a:p>
        </p:txBody>
      </p:sp>
      <p:sp>
        <p:nvSpPr>
          <p:cNvPr id="11" name="Title 1">
            <a:extLst>
              <a:ext uri="{FF2B5EF4-FFF2-40B4-BE49-F238E27FC236}">
                <a16:creationId xmlns:a16="http://schemas.microsoft.com/office/drawing/2014/main" id="{0A035558-2D3A-47B8-BC09-8C000AAA5FE8}"/>
              </a:ext>
            </a:extLst>
          </p:cNvPr>
          <p:cNvSpPr>
            <a:spLocks noGrp="1"/>
          </p:cNvSpPr>
          <p:nvPr>
            <p:ph type="title"/>
          </p:nvPr>
        </p:nvSpPr>
        <p:spPr>
          <a:xfrm>
            <a:off x="463295" y="247487"/>
            <a:ext cx="11277600" cy="443198"/>
          </a:xfrm>
        </p:spPr>
        <p:txBody>
          <a:bodyPr>
            <a:normAutofit fontScale="90000"/>
          </a:bodyPr>
          <a:lstStyle/>
          <a:p>
            <a:pPr>
              <a:spcBef>
                <a:spcPct val="0"/>
              </a:spcBef>
            </a:pPr>
            <a:r>
              <a:rPr lang="en-US" sz="3200"/>
              <a:t>Guiding Principles - Build</a:t>
            </a:r>
          </a:p>
        </p:txBody>
      </p:sp>
    </p:spTree>
    <p:extLst>
      <p:ext uri="{BB962C8B-B14F-4D97-AF65-F5344CB8AC3E}">
        <p14:creationId xmlns:p14="http://schemas.microsoft.com/office/powerpoint/2010/main" val="675016342"/>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22663F-9049-62FA-FA99-99315E360B0A}"/>
              </a:ext>
            </a:extLst>
          </p:cNvPr>
          <p:cNvPicPr>
            <a:picLocks noChangeAspect="1"/>
          </p:cNvPicPr>
          <p:nvPr/>
        </p:nvPicPr>
        <p:blipFill>
          <a:blip r:embed="rId2"/>
          <a:stretch>
            <a:fillRect/>
          </a:stretch>
        </p:blipFill>
        <p:spPr>
          <a:xfrm>
            <a:off x="0" y="44944"/>
            <a:ext cx="12192000" cy="6768111"/>
          </a:xfrm>
          <a:prstGeom prst="rect">
            <a:avLst/>
          </a:prstGeom>
        </p:spPr>
      </p:pic>
    </p:spTree>
    <p:extLst>
      <p:ext uri="{BB962C8B-B14F-4D97-AF65-F5344CB8AC3E}">
        <p14:creationId xmlns:p14="http://schemas.microsoft.com/office/powerpoint/2010/main" val="1051470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a:xfrm>
            <a:off x="457200" y="1735048"/>
            <a:ext cx="6934200" cy="2786063"/>
          </a:xfrm>
        </p:spPr>
        <p:txBody>
          <a:bodyPr/>
          <a:lstStyle/>
          <a:p>
            <a:pPr marL="0" indent="0">
              <a:buNone/>
            </a:pPr>
            <a:r>
              <a:rPr lang="en-US"/>
              <a:t>Retail Integration Patterns</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185531348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A035558-2D3A-47B8-BC09-8C000AAA5FE8}"/>
              </a:ext>
            </a:extLst>
          </p:cNvPr>
          <p:cNvSpPr>
            <a:spLocks noGrp="1"/>
          </p:cNvSpPr>
          <p:nvPr>
            <p:ph type="title"/>
          </p:nvPr>
        </p:nvSpPr>
        <p:spPr>
          <a:xfrm>
            <a:off x="463295" y="212763"/>
            <a:ext cx="11277600" cy="443198"/>
          </a:xfrm>
        </p:spPr>
        <p:txBody>
          <a:bodyPr>
            <a:normAutofit fontScale="90000"/>
          </a:bodyPr>
          <a:lstStyle/>
          <a:p>
            <a:pPr>
              <a:spcBef>
                <a:spcPct val="0"/>
              </a:spcBef>
            </a:pPr>
            <a:r>
              <a:rPr lang="en-US" sz="3200" dirty="0"/>
              <a:t>IPG Methodology</a:t>
            </a:r>
          </a:p>
        </p:txBody>
      </p:sp>
      <p:cxnSp>
        <p:nvCxnSpPr>
          <p:cNvPr id="9" name="Elbow Connector 61">
            <a:extLst>
              <a:ext uri="{FF2B5EF4-FFF2-40B4-BE49-F238E27FC236}">
                <a16:creationId xmlns:a16="http://schemas.microsoft.com/office/drawing/2014/main" id="{979D6133-E94C-47D8-970C-84CB2A4F04CE}"/>
              </a:ext>
            </a:extLst>
          </p:cNvPr>
          <p:cNvCxnSpPr>
            <a:cxnSpLocks/>
          </p:cNvCxnSpPr>
          <p:nvPr/>
        </p:nvCxnSpPr>
        <p:spPr>
          <a:xfrm flipH="1">
            <a:off x="1754022" y="2342175"/>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A542ABFA-E2A9-4069-8644-738408ED7593}"/>
              </a:ext>
            </a:extLst>
          </p:cNvPr>
          <p:cNvSpPr/>
          <p:nvPr/>
        </p:nvSpPr>
        <p:spPr>
          <a:xfrm>
            <a:off x="463295" y="755253"/>
            <a:ext cx="11277600" cy="2084048"/>
          </a:xfrm>
          <a:prstGeom prst="rect">
            <a:avLst/>
          </a:prstGeom>
          <a:solidFill>
            <a:schemeClr val="bg1">
              <a:lumMod val="85000"/>
              <a:alpha val="2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Open Sans"/>
                <a:ea typeface="+mn-ea"/>
                <a:cs typeface="+mn-cs"/>
              </a:rPr>
              <a:t>   IPG Reference Model</a:t>
            </a:r>
          </a:p>
        </p:txBody>
      </p:sp>
      <p:graphicFrame>
        <p:nvGraphicFramePr>
          <p:cNvPr id="22" name="Table 21">
            <a:extLst>
              <a:ext uri="{FF2B5EF4-FFF2-40B4-BE49-F238E27FC236}">
                <a16:creationId xmlns:a16="http://schemas.microsoft.com/office/drawing/2014/main" id="{A31C2D47-539F-4F20-8692-40799FE76989}"/>
              </a:ext>
            </a:extLst>
          </p:cNvPr>
          <p:cNvGraphicFramePr>
            <a:graphicFrameLocks noGrp="1"/>
          </p:cNvGraphicFramePr>
          <p:nvPr>
            <p:extLst>
              <p:ext uri="{D42A27DB-BD31-4B8C-83A1-F6EECF244321}">
                <p14:modId xmlns:p14="http://schemas.microsoft.com/office/powerpoint/2010/main" val="3287822807"/>
              </p:ext>
            </p:extLst>
          </p:nvPr>
        </p:nvGraphicFramePr>
        <p:xfrm>
          <a:off x="1466773" y="1278937"/>
          <a:ext cx="1954052" cy="1441394"/>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313646">
                <a:tc>
                  <a:txBody>
                    <a:bodyPr/>
                    <a:lstStyle/>
                    <a:p>
                      <a:pPr algn="ctr"/>
                      <a:r>
                        <a:rPr lang="en-US" sz="1000" b="1" dirty="0">
                          <a:solidFill>
                            <a:schemeClr val="bg1"/>
                          </a:solidFill>
                        </a:rPr>
                        <a:t>Business Capability Framework</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047907">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dirty="0">
                          <a:solidFill>
                            <a:schemeClr val="tx2"/>
                          </a:solidFill>
                          <a:latin typeface="Arial"/>
                        </a:rPr>
                        <a:t>Deloitte Retail Capability Model consisting of a catalog of L1 and L2 end to end process-oriented workflows that represent the business capabilities the ESL enables</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US" sz="900" dirty="0">
                        <a:solidFill>
                          <a:schemeClr val="tx2"/>
                        </a:solidFill>
                        <a:latin typeface="Arial"/>
                      </a:endParaRP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cxnSp>
        <p:nvCxnSpPr>
          <p:cNvPr id="74" name="Elbow Connector 61">
            <a:extLst>
              <a:ext uri="{FF2B5EF4-FFF2-40B4-BE49-F238E27FC236}">
                <a16:creationId xmlns:a16="http://schemas.microsoft.com/office/drawing/2014/main" id="{63B8CB95-A5FE-4EFF-B1CA-7F6CAE7A8EE4}"/>
              </a:ext>
            </a:extLst>
          </p:cNvPr>
          <p:cNvCxnSpPr>
            <a:cxnSpLocks/>
          </p:cNvCxnSpPr>
          <p:nvPr/>
        </p:nvCxnSpPr>
        <p:spPr>
          <a:xfrm flipH="1">
            <a:off x="4011674" y="2335084"/>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76" name="Table 75">
            <a:extLst>
              <a:ext uri="{FF2B5EF4-FFF2-40B4-BE49-F238E27FC236}">
                <a16:creationId xmlns:a16="http://schemas.microsoft.com/office/drawing/2014/main" id="{0512F951-CBFF-441E-B38C-3C3E48D12628}"/>
              </a:ext>
            </a:extLst>
          </p:cNvPr>
          <p:cNvGraphicFramePr>
            <a:graphicFrameLocks noGrp="1"/>
          </p:cNvGraphicFramePr>
          <p:nvPr>
            <p:extLst>
              <p:ext uri="{D42A27DB-BD31-4B8C-83A1-F6EECF244321}">
                <p14:modId xmlns:p14="http://schemas.microsoft.com/office/powerpoint/2010/main" val="929958698"/>
              </p:ext>
            </p:extLst>
          </p:nvPr>
        </p:nvGraphicFramePr>
        <p:xfrm>
          <a:off x="3850100" y="1280181"/>
          <a:ext cx="1954052" cy="1360309"/>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313360">
                <a:tc>
                  <a:txBody>
                    <a:bodyPr/>
                    <a:lstStyle/>
                    <a:p>
                      <a:pPr algn="ctr"/>
                      <a:r>
                        <a:rPr lang="en-US" sz="1000" b="1" dirty="0">
                          <a:solidFill>
                            <a:schemeClr val="bg1"/>
                          </a:solidFill>
                        </a:rPr>
                        <a:t>Application Portfolio</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046949">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dirty="0">
                          <a:solidFill>
                            <a:schemeClr val="tx2"/>
                          </a:solidFill>
                          <a:latin typeface="Arial"/>
                        </a:rPr>
                        <a:t>The Portfolio of application within the operating model that are within the scope of a particular integration workflow</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cxnSp>
        <p:nvCxnSpPr>
          <p:cNvPr id="79" name="Elbow Connector 61">
            <a:extLst>
              <a:ext uri="{FF2B5EF4-FFF2-40B4-BE49-F238E27FC236}">
                <a16:creationId xmlns:a16="http://schemas.microsoft.com/office/drawing/2014/main" id="{F3376938-A1CC-420B-A15C-CD5AF5E2B483}"/>
              </a:ext>
            </a:extLst>
          </p:cNvPr>
          <p:cNvCxnSpPr>
            <a:cxnSpLocks/>
          </p:cNvCxnSpPr>
          <p:nvPr/>
        </p:nvCxnSpPr>
        <p:spPr>
          <a:xfrm flipH="1">
            <a:off x="6407549" y="2327993"/>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81" name="Table 80">
            <a:extLst>
              <a:ext uri="{FF2B5EF4-FFF2-40B4-BE49-F238E27FC236}">
                <a16:creationId xmlns:a16="http://schemas.microsoft.com/office/drawing/2014/main" id="{A917D8D4-D11D-4310-932C-835CAA22E57D}"/>
              </a:ext>
            </a:extLst>
          </p:cNvPr>
          <p:cNvGraphicFramePr>
            <a:graphicFrameLocks noGrp="1"/>
          </p:cNvGraphicFramePr>
          <p:nvPr>
            <p:extLst>
              <p:ext uri="{D42A27DB-BD31-4B8C-83A1-F6EECF244321}">
                <p14:modId xmlns:p14="http://schemas.microsoft.com/office/powerpoint/2010/main" val="3964437053"/>
              </p:ext>
            </p:extLst>
          </p:nvPr>
        </p:nvGraphicFramePr>
        <p:xfrm>
          <a:off x="6233427" y="1278936"/>
          <a:ext cx="1954052" cy="1380149"/>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317930">
                <a:tc>
                  <a:txBody>
                    <a:bodyPr/>
                    <a:lstStyle/>
                    <a:p>
                      <a:pPr algn="ctr"/>
                      <a:r>
                        <a:rPr lang="en-US" sz="1000" b="1" dirty="0">
                          <a:solidFill>
                            <a:schemeClr val="bg1"/>
                          </a:solidFill>
                        </a:rPr>
                        <a:t>Integration  Workflow Patterns</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062219">
                <a:tc>
                  <a:txBody>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dirty="0">
                          <a:solidFill>
                            <a:schemeClr val="tx2"/>
                          </a:solidFill>
                          <a:latin typeface="Arial"/>
                          <a:ea typeface="+mn-ea"/>
                          <a:cs typeface="+mn-cs"/>
                        </a:rPr>
                        <a:t>Reference Library of  use cases and patterns that describe the interactions between a set of integration components required to orchestrate a data flow</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cxnSp>
        <p:nvCxnSpPr>
          <p:cNvPr id="89" name="Elbow Connector 61">
            <a:extLst>
              <a:ext uri="{FF2B5EF4-FFF2-40B4-BE49-F238E27FC236}">
                <a16:creationId xmlns:a16="http://schemas.microsoft.com/office/drawing/2014/main" id="{4922BC87-6BE8-474F-B1E3-0D247DA20EB8}"/>
              </a:ext>
            </a:extLst>
          </p:cNvPr>
          <p:cNvCxnSpPr>
            <a:cxnSpLocks/>
          </p:cNvCxnSpPr>
          <p:nvPr/>
        </p:nvCxnSpPr>
        <p:spPr>
          <a:xfrm flipH="1">
            <a:off x="8899119" y="2310271"/>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91" name="Table 90">
            <a:extLst>
              <a:ext uri="{FF2B5EF4-FFF2-40B4-BE49-F238E27FC236}">
                <a16:creationId xmlns:a16="http://schemas.microsoft.com/office/drawing/2014/main" id="{0DFD0AAB-F730-4D1F-8BC3-987BC484CC59}"/>
              </a:ext>
            </a:extLst>
          </p:cNvPr>
          <p:cNvGraphicFramePr>
            <a:graphicFrameLocks noGrp="1"/>
          </p:cNvGraphicFramePr>
          <p:nvPr>
            <p:extLst>
              <p:ext uri="{D42A27DB-BD31-4B8C-83A1-F6EECF244321}">
                <p14:modId xmlns:p14="http://schemas.microsoft.com/office/powerpoint/2010/main" val="3363111723"/>
              </p:ext>
            </p:extLst>
          </p:nvPr>
        </p:nvGraphicFramePr>
        <p:xfrm>
          <a:off x="8616755" y="1278935"/>
          <a:ext cx="1954052" cy="1380149"/>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317930">
                <a:tc>
                  <a:txBody>
                    <a:bodyPr/>
                    <a:lstStyle/>
                    <a:p>
                      <a:pPr algn="ctr"/>
                      <a:r>
                        <a:rPr lang="en-US" sz="1000" b="1" dirty="0">
                          <a:solidFill>
                            <a:schemeClr val="bg1"/>
                          </a:solidFill>
                        </a:rPr>
                        <a:t>Canonical Models </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062219">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dirty="0">
                          <a:solidFill>
                            <a:schemeClr val="tx2"/>
                          </a:solidFill>
                          <a:latin typeface="Arial"/>
                          <a:ea typeface="+mn-ea"/>
                          <a:cs typeface="+mn-cs"/>
                        </a:rPr>
                        <a:t>Library of models that define the data entities and relationships that support the integration data workflows</a:t>
                      </a:r>
                      <a:endParaRPr lang="en-US" sz="900" dirty="0">
                        <a:solidFill>
                          <a:schemeClr val="tx2"/>
                        </a:solidFill>
                        <a:latin typeface="Arial"/>
                      </a:endParaRP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cxnSp>
        <p:nvCxnSpPr>
          <p:cNvPr id="94" name="Elbow Connector 61">
            <a:extLst>
              <a:ext uri="{FF2B5EF4-FFF2-40B4-BE49-F238E27FC236}">
                <a16:creationId xmlns:a16="http://schemas.microsoft.com/office/drawing/2014/main" id="{7A4DFCC8-9311-4A3C-B283-62AFDDEAFFBA}"/>
              </a:ext>
            </a:extLst>
          </p:cNvPr>
          <p:cNvCxnSpPr>
            <a:cxnSpLocks/>
          </p:cNvCxnSpPr>
          <p:nvPr/>
        </p:nvCxnSpPr>
        <p:spPr>
          <a:xfrm flipH="1">
            <a:off x="11252460" y="2313814"/>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131" name="Picture 130" descr="A picture containing text&#10;&#10;Description automatically generated">
            <a:extLst>
              <a:ext uri="{FF2B5EF4-FFF2-40B4-BE49-F238E27FC236}">
                <a16:creationId xmlns:a16="http://schemas.microsoft.com/office/drawing/2014/main" id="{47DDA282-20BF-4057-9F64-9251A15AA72A}"/>
              </a:ext>
            </a:extLst>
          </p:cNvPr>
          <p:cNvPicPr>
            <a:picLocks noChangeAspect="1"/>
          </p:cNvPicPr>
          <p:nvPr/>
        </p:nvPicPr>
        <p:blipFill rotWithShape="1">
          <a:blip r:embed="rId4"/>
          <a:srcRect t="85762" r="32706" b="-593"/>
          <a:stretch/>
        </p:blipFill>
        <p:spPr>
          <a:xfrm>
            <a:off x="0" y="6159449"/>
            <a:ext cx="6372225" cy="789742"/>
          </a:xfrm>
          <a:prstGeom prst="rect">
            <a:avLst/>
          </a:prstGeom>
        </p:spPr>
      </p:pic>
      <p:pic>
        <p:nvPicPr>
          <p:cNvPr id="132" name="Picture 131" descr="A picture containing text&#10;&#10;Description automatically generated">
            <a:extLst>
              <a:ext uri="{FF2B5EF4-FFF2-40B4-BE49-F238E27FC236}">
                <a16:creationId xmlns:a16="http://schemas.microsoft.com/office/drawing/2014/main" id="{636D4D7B-34D9-46D3-A67E-EDC6F15C516E}"/>
              </a:ext>
            </a:extLst>
          </p:cNvPr>
          <p:cNvPicPr>
            <a:picLocks noChangeAspect="1"/>
          </p:cNvPicPr>
          <p:nvPr/>
        </p:nvPicPr>
        <p:blipFill rotWithShape="1">
          <a:blip r:embed="rId4"/>
          <a:srcRect t="86960" r="37534" b="-593"/>
          <a:stretch/>
        </p:blipFill>
        <p:spPr>
          <a:xfrm flipH="1">
            <a:off x="7072311" y="6269474"/>
            <a:ext cx="5119687" cy="628346"/>
          </a:xfrm>
          <a:prstGeom prst="rect">
            <a:avLst/>
          </a:prstGeom>
        </p:spPr>
      </p:pic>
      <p:cxnSp>
        <p:nvCxnSpPr>
          <p:cNvPr id="21" name="Straight Arrow Connector 20">
            <a:extLst>
              <a:ext uri="{FF2B5EF4-FFF2-40B4-BE49-F238E27FC236}">
                <a16:creationId xmlns:a16="http://schemas.microsoft.com/office/drawing/2014/main" id="{D431BC4C-3659-F90F-B848-70701B43D973}"/>
              </a:ext>
            </a:extLst>
          </p:cNvPr>
          <p:cNvCxnSpPr>
            <a:endCxn id="76" idx="1"/>
          </p:cNvCxnSpPr>
          <p:nvPr/>
        </p:nvCxnSpPr>
        <p:spPr>
          <a:xfrm flipV="1">
            <a:off x="3420825" y="1960335"/>
            <a:ext cx="429275" cy="8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D05494B-66E2-6B49-23B1-BFA3BABB15EC}"/>
              </a:ext>
            </a:extLst>
          </p:cNvPr>
          <p:cNvCxnSpPr/>
          <p:nvPr/>
        </p:nvCxnSpPr>
        <p:spPr>
          <a:xfrm>
            <a:off x="5787944" y="1962696"/>
            <a:ext cx="413067" cy="1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B5F33E0-BA30-4DC8-C4CC-025A56085BB2}"/>
              </a:ext>
            </a:extLst>
          </p:cNvPr>
          <p:cNvCxnSpPr/>
          <p:nvPr/>
        </p:nvCxnSpPr>
        <p:spPr>
          <a:xfrm>
            <a:off x="8176570" y="1990987"/>
            <a:ext cx="413067" cy="1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AC485DC6-BBD9-0D3A-5009-348DA3420660}"/>
              </a:ext>
            </a:extLst>
          </p:cNvPr>
          <p:cNvSpPr/>
          <p:nvPr/>
        </p:nvSpPr>
        <p:spPr>
          <a:xfrm>
            <a:off x="463295" y="3493771"/>
            <a:ext cx="11570140" cy="2084048"/>
          </a:xfrm>
          <a:prstGeom prst="rect">
            <a:avLst/>
          </a:prstGeom>
          <a:solidFill>
            <a:schemeClr val="bg1">
              <a:lumMod val="85000"/>
              <a:alpha val="2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Open Sans"/>
                <a:ea typeface="+mn-ea"/>
                <a:cs typeface="+mn-cs"/>
              </a:rPr>
              <a:t>   IPG Solution Model	</a:t>
            </a:r>
          </a:p>
        </p:txBody>
      </p:sp>
      <p:graphicFrame>
        <p:nvGraphicFramePr>
          <p:cNvPr id="34" name="Table 33">
            <a:extLst>
              <a:ext uri="{FF2B5EF4-FFF2-40B4-BE49-F238E27FC236}">
                <a16:creationId xmlns:a16="http://schemas.microsoft.com/office/drawing/2014/main" id="{E8D68EFD-9812-4657-8550-AD3871068602}"/>
              </a:ext>
            </a:extLst>
          </p:cNvPr>
          <p:cNvGraphicFramePr>
            <a:graphicFrameLocks noGrp="1"/>
          </p:cNvGraphicFramePr>
          <p:nvPr>
            <p:extLst>
              <p:ext uri="{D42A27DB-BD31-4B8C-83A1-F6EECF244321}">
                <p14:modId xmlns:p14="http://schemas.microsoft.com/office/powerpoint/2010/main" val="859788518"/>
              </p:ext>
            </p:extLst>
          </p:nvPr>
        </p:nvGraphicFramePr>
        <p:xfrm>
          <a:off x="1466773" y="3925414"/>
          <a:ext cx="1954052" cy="1441394"/>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313646">
                <a:tc>
                  <a:txBody>
                    <a:bodyPr/>
                    <a:lstStyle/>
                    <a:p>
                      <a:pPr algn="ctr"/>
                      <a:r>
                        <a:rPr lang="en-US" sz="1000" b="1" dirty="0">
                          <a:solidFill>
                            <a:schemeClr val="bg1"/>
                          </a:solidFill>
                        </a:rPr>
                        <a:t>Solution </a:t>
                      </a:r>
                      <a:r>
                        <a:rPr lang="en-US" sz="1000" b="1" dirty="0" err="1">
                          <a:solidFill>
                            <a:schemeClr val="bg1"/>
                          </a:solidFill>
                        </a:rPr>
                        <a:t>Requirment</a:t>
                      </a:r>
                      <a:endParaRPr lang="en-US" sz="1000" b="1" dirty="0">
                        <a:solidFill>
                          <a:schemeClr val="bg1"/>
                        </a:solidFill>
                      </a:endParaRP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047907">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dirty="0">
                          <a:solidFill>
                            <a:schemeClr val="tx2"/>
                          </a:solidFill>
                          <a:latin typeface="Arial"/>
                        </a:rPr>
                        <a:t>Deloitte Retail Capability Model consisting of a catalog of L1 and L2 end to end process-oriented workflows that represent the business capabilities the ESL enables</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US" sz="900" dirty="0">
                        <a:solidFill>
                          <a:schemeClr val="tx2"/>
                        </a:solidFill>
                        <a:latin typeface="Arial"/>
                      </a:endParaRP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35" name="Table 34">
            <a:extLst>
              <a:ext uri="{FF2B5EF4-FFF2-40B4-BE49-F238E27FC236}">
                <a16:creationId xmlns:a16="http://schemas.microsoft.com/office/drawing/2014/main" id="{AEEC8324-75AB-5433-938F-C42D9ED626D1}"/>
              </a:ext>
            </a:extLst>
          </p:cNvPr>
          <p:cNvGraphicFramePr>
            <a:graphicFrameLocks noGrp="1"/>
          </p:cNvGraphicFramePr>
          <p:nvPr>
            <p:extLst>
              <p:ext uri="{D42A27DB-BD31-4B8C-83A1-F6EECF244321}">
                <p14:modId xmlns:p14="http://schemas.microsoft.com/office/powerpoint/2010/main" val="305241412"/>
              </p:ext>
            </p:extLst>
          </p:nvPr>
        </p:nvGraphicFramePr>
        <p:xfrm>
          <a:off x="3850100" y="3926658"/>
          <a:ext cx="1954052" cy="1360309"/>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313360">
                <a:tc>
                  <a:txBody>
                    <a:bodyPr/>
                    <a:lstStyle/>
                    <a:p>
                      <a:pPr algn="ctr"/>
                      <a:r>
                        <a:rPr lang="en-US" sz="1000" b="1" dirty="0">
                          <a:solidFill>
                            <a:schemeClr val="bg1"/>
                          </a:solidFill>
                        </a:rPr>
                        <a:t>Success Criteria</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046949">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dirty="0">
                          <a:solidFill>
                            <a:schemeClr val="tx2"/>
                          </a:solidFill>
                          <a:latin typeface="Arial"/>
                        </a:rPr>
                        <a:t>The Portfolio of application within the operating model that are within the scope of a particular integration workflow</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36" name="Table 35">
            <a:extLst>
              <a:ext uri="{FF2B5EF4-FFF2-40B4-BE49-F238E27FC236}">
                <a16:creationId xmlns:a16="http://schemas.microsoft.com/office/drawing/2014/main" id="{2297C17F-30CB-1FB1-9C72-8A6D05D24A19}"/>
              </a:ext>
            </a:extLst>
          </p:cNvPr>
          <p:cNvGraphicFramePr>
            <a:graphicFrameLocks noGrp="1"/>
          </p:cNvGraphicFramePr>
          <p:nvPr>
            <p:extLst>
              <p:ext uri="{D42A27DB-BD31-4B8C-83A1-F6EECF244321}">
                <p14:modId xmlns:p14="http://schemas.microsoft.com/office/powerpoint/2010/main" val="1528039"/>
              </p:ext>
            </p:extLst>
          </p:nvPr>
        </p:nvGraphicFramePr>
        <p:xfrm>
          <a:off x="6222518" y="3925809"/>
          <a:ext cx="1954052" cy="1306047"/>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192338">
                <a:tc>
                  <a:txBody>
                    <a:bodyPr/>
                    <a:lstStyle/>
                    <a:p>
                      <a:pPr algn="ctr"/>
                      <a:r>
                        <a:rPr lang="en-US" sz="1000" b="1" dirty="0">
                          <a:solidFill>
                            <a:schemeClr val="bg1"/>
                          </a:solidFill>
                        </a:rPr>
                        <a:t>Integration  Workflow Patterns</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062219">
                <a:tc>
                  <a:txBody>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dirty="0">
                          <a:solidFill>
                            <a:schemeClr val="tx2"/>
                          </a:solidFill>
                          <a:latin typeface="Arial"/>
                          <a:ea typeface="+mn-ea"/>
                          <a:cs typeface="+mn-cs"/>
                        </a:rPr>
                        <a:t>Reference Library of  use cases and patterns that describe the interactions between a set of integration components required to orchestrate a data flow</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37" name="Table 36">
            <a:extLst>
              <a:ext uri="{FF2B5EF4-FFF2-40B4-BE49-F238E27FC236}">
                <a16:creationId xmlns:a16="http://schemas.microsoft.com/office/drawing/2014/main" id="{4C5AF454-A8F3-5A7C-7DF0-685CBAF88A29}"/>
              </a:ext>
            </a:extLst>
          </p:cNvPr>
          <p:cNvGraphicFramePr>
            <a:graphicFrameLocks noGrp="1"/>
          </p:cNvGraphicFramePr>
          <p:nvPr>
            <p:extLst>
              <p:ext uri="{D42A27DB-BD31-4B8C-83A1-F6EECF244321}">
                <p14:modId xmlns:p14="http://schemas.microsoft.com/office/powerpoint/2010/main" val="27116792"/>
              </p:ext>
            </p:extLst>
          </p:nvPr>
        </p:nvGraphicFramePr>
        <p:xfrm>
          <a:off x="8616755" y="3925412"/>
          <a:ext cx="1954052" cy="1380149"/>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317930">
                <a:tc>
                  <a:txBody>
                    <a:bodyPr/>
                    <a:lstStyle/>
                    <a:p>
                      <a:pPr algn="ctr"/>
                      <a:r>
                        <a:rPr lang="en-US" sz="1000" b="1" dirty="0">
                          <a:solidFill>
                            <a:schemeClr val="bg1"/>
                          </a:solidFill>
                        </a:rPr>
                        <a:t>Release Schedule</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062219">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dirty="0">
                          <a:solidFill>
                            <a:schemeClr val="tx2"/>
                          </a:solidFill>
                          <a:latin typeface="Arial"/>
                          <a:ea typeface="+mn-ea"/>
                          <a:cs typeface="+mn-cs"/>
                        </a:rPr>
                        <a:t>Library of models that define the data entities and relationships that support the integration data workflows</a:t>
                      </a:r>
                      <a:endParaRPr lang="en-US" sz="900" dirty="0">
                        <a:solidFill>
                          <a:schemeClr val="tx2"/>
                        </a:solidFill>
                        <a:latin typeface="Arial"/>
                      </a:endParaRP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cxnSp>
        <p:nvCxnSpPr>
          <p:cNvPr id="38" name="Straight Arrow Connector 37">
            <a:extLst>
              <a:ext uri="{FF2B5EF4-FFF2-40B4-BE49-F238E27FC236}">
                <a16:creationId xmlns:a16="http://schemas.microsoft.com/office/drawing/2014/main" id="{48560918-A227-7983-9E8E-32D11B44408F}"/>
              </a:ext>
            </a:extLst>
          </p:cNvPr>
          <p:cNvCxnSpPr>
            <a:endCxn id="35" idx="1"/>
          </p:cNvCxnSpPr>
          <p:nvPr/>
        </p:nvCxnSpPr>
        <p:spPr>
          <a:xfrm flipV="1">
            <a:off x="3420825" y="4606812"/>
            <a:ext cx="429275" cy="8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9B99696-6852-9AA3-FDBD-51122A25DF46}"/>
              </a:ext>
            </a:extLst>
          </p:cNvPr>
          <p:cNvCxnSpPr/>
          <p:nvPr/>
        </p:nvCxnSpPr>
        <p:spPr>
          <a:xfrm>
            <a:off x="5787944" y="4609173"/>
            <a:ext cx="413067" cy="1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A3CC89A8-F402-5ABB-6EA2-5839B588967E}"/>
              </a:ext>
            </a:extLst>
          </p:cNvPr>
          <p:cNvCxnSpPr/>
          <p:nvPr/>
        </p:nvCxnSpPr>
        <p:spPr>
          <a:xfrm>
            <a:off x="8176570" y="4637464"/>
            <a:ext cx="413067" cy="1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9940656"/>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A035558-2D3A-47B8-BC09-8C000AAA5FE8}"/>
              </a:ext>
            </a:extLst>
          </p:cNvPr>
          <p:cNvSpPr>
            <a:spLocks noGrp="1"/>
          </p:cNvSpPr>
          <p:nvPr>
            <p:ph type="title"/>
          </p:nvPr>
        </p:nvSpPr>
        <p:spPr>
          <a:xfrm>
            <a:off x="463295" y="212763"/>
            <a:ext cx="11277600" cy="443198"/>
          </a:xfrm>
        </p:spPr>
        <p:txBody>
          <a:bodyPr>
            <a:normAutofit fontScale="90000"/>
          </a:bodyPr>
          <a:lstStyle/>
          <a:p>
            <a:pPr>
              <a:spcBef>
                <a:spcPct val="0"/>
              </a:spcBef>
            </a:pPr>
            <a:r>
              <a:rPr lang="en-US" sz="3200"/>
              <a:t>Oracle Retail Integration Patterns – For Dollar Tree</a:t>
            </a:r>
          </a:p>
        </p:txBody>
      </p:sp>
      <p:sp>
        <p:nvSpPr>
          <p:cNvPr id="6" name="Rectangle 5">
            <a:extLst>
              <a:ext uri="{FF2B5EF4-FFF2-40B4-BE49-F238E27FC236}">
                <a16:creationId xmlns:a16="http://schemas.microsoft.com/office/drawing/2014/main" id="{4D84CB40-694C-482A-8E4D-3267DF465507}"/>
              </a:ext>
            </a:extLst>
          </p:cNvPr>
          <p:cNvSpPr/>
          <p:nvPr/>
        </p:nvSpPr>
        <p:spPr>
          <a:xfrm>
            <a:off x="5927636" y="771343"/>
            <a:ext cx="6130410" cy="1408996"/>
          </a:xfrm>
          <a:prstGeom prst="rect">
            <a:avLst/>
          </a:prstGeom>
          <a:solidFill>
            <a:schemeClr val="accent3">
              <a:lumMod val="20000"/>
              <a:lumOff val="80000"/>
              <a:alpha val="2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Open Sans"/>
                <a:ea typeface="+mn-ea"/>
                <a:cs typeface="+mn-cs"/>
              </a:rPr>
              <a:t>Outbound (from Oracle Cloud) Classifications</a:t>
            </a:r>
          </a:p>
        </p:txBody>
      </p:sp>
      <p:sp>
        <p:nvSpPr>
          <p:cNvPr id="7" name="Rectangle 6">
            <a:extLst>
              <a:ext uri="{FF2B5EF4-FFF2-40B4-BE49-F238E27FC236}">
                <a16:creationId xmlns:a16="http://schemas.microsoft.com/office/drawing/2014/main" id="{7D479EFB-EB5E-42C9-A32F-C7C92904BA1C}"/>
              </a:ext>
            </a:extLst>
          </p:cNvPr>
          <p:cNvSpPr/>
          <p:nvPr/>
        </p:nvSpPr>
        <p:spPr>
          <a:xfrm>
            <a:off x="167641" y="5193347"/>
            <a:ext cx="11903075" cy="78974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mn-cs"/>
              </a:rPr>
              <a:t>Use Case Examples</a:t>
            </a:r>
          </a:p>
        </p:txBody>
      </p:sp>
      <p:cxnSp>
        <p:nvCxnSpPr>
          <p:cNvPr id="9" name="Elbow Connector 61">
            <a:extLst>
              <a:ext uri="{FF2B5EF4-FFF2-40B4-BE49-F238E27FC236}">
                <a16:creationId xmlns:a16="http://schemas.microsoft.com/office/drawing/2014/main" id="{979D6133-E94C-47D8-970C-84CB2A4F04CE}"/>
              </a:ext>
            </a:extLst>
          </p:cNvPr>
          <p:cNvCxnSpPr>
            <a:cxnSpLocks/>
          </p:cNvCxnSpPr>
          <p:nvPr/>
        </p:nvCxnSpPr>
        <p:spPr>
          <a:xfrm flipH="1">
            <a:off x="1754022" y="2342175"/>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A542ABFA-E2A9-4069-8644-738408ED7593}"/>
              </a:ext>
            </a:extLst>
          </p:cNvPr>
          <p:cNvSpPr/>
          <p:nvPr/>
        </p:nvSpPr>
        <p:spPr>
          <a:xfrm>
            <a:off x="158564" y="2241339"/>
            <a:ext cx="11874871" cy="2084048"/>
          </a:xfrm>
          <a:prstGeom prst="rect">
            <a:avLst/>
          </a:prstGeom>
          <a:solidFill>
            <a:schemeClr val="bg1">
              <a:lumMod val="85000"/>
              <a:alpha val="2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Open Sans"/>
                <a:ea typeface="+mn-ea"/>
                <a:cs typeface="+mn-cs"/>
              </a:rPr>
              <a:t>   Oracle Retail Integration Patterns</a:t>
            </a:r>
          </a:p>
        </p:txBody>
      </p:sp>
      <p:sp>
        <p:nvSpPr>
          <p:cNvPr id="12" name="Rectangle 11">
            <a:extLst>
              <a:ext uri="{FF2B5EF4-FFF2-40B4-BE49-F238E27FC236}">
                <a16:creationId xmlns:a16="http://schemas.microsoft.com/office/drawing/2014/main" id="{AE50A5C7-628F-4B30-BF94-4D9D761E8B7E}"/>
              </a:ext>
            </a:extLst>
          </p:cNvPr>
          <p:cNvSpPr/>
          <p:nvPr/>
        </p:nvSpPr>
        <p:spPr>
          <a:xfrm>
            <a:off x="158565" y="771343"/>
            <a:ext cx="5653230" cy="1420915"/>
          </a:xfrm>
          <a:prstGeom prst="rect">
            <a:avLst/>
          </a:prstGeom>
          <a:solidFill>
            <a:schemeClr val="accent3">
              <a:lumMod val="20000"/>
              <a:lumOff val="80000"/>
              <a:alpha val="2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Open Sans"/>
                <a:ea typeface="+mn-ea"/>
                <a:cs typeface="+mn-cs"/>
              </a:rPr>
              <a:t>Inbound (into Oracle Cloud) Classifications</a:t>
            </a:r>
          </a:p>
        </p:txBody>
      </p:sp>
      <p:sp>
        <p:nvSpPr>
          <p:cNvPr id="17" name="Rectangle 16">
            <a:extLst>
              <a:ext uri="{FF2B5EF4-FFF2-40B4-BE49-F238E27FC236}">
                <a16:creationId xmlns:a16="http://schemas.microsoft.com/office/drawing/2014/main" id="{30D54ED4-AAEE-4BCF-92B9-21A0698E6D77}"/>
              </a:ext>
            </a:extLst>
          </p:cNvPr>
          <p:cNvSpPr/>
          <p:nvPr/>
        </p:nvSpPr>
        <p:spPr>
          <a:xfrm>
            <a:off x="158564" y="4365031"/>
            <a:ext cx="11874871" cy="78974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Open Sans"/>
                <a:ea typeface="+mn-ea"/>
                <a:cs typeface="+mn-cs"/>
              </a:rPr>
              <a:t>Application Abstraction Approach</a:t>
            </a:r>
          </a:p>
        </p:txBody>
      </p:sp>
      <p:graphicFrame>
        <p:nvGraphicFramePr>
          <p:cNvPr id="18" name="Table 17">
            <a:extLst>
              <a:ext uri="{FF2B5EF4-FFF2-40B4-BE49-F238E27FC236}">
                <a16:creationId xmlns:a16="http://schemas.microsoft.com/office/drawing/2014/main" id="{D19EB11A-5345-4957-BC78-BF77D347219B}"/>
              </a:ext>
            </a:extLst>
          </p:cNvPr>
          <p:cNvGraphicFramePr>
            <a:graphicFrameLocks noGrp="1"/>
          </p:cNvGraphicFramePr>
          <p:nvPr/>
        </p:nvGraphicFramePr>
        <p:xfrm>
          <a:off x="406026" y="4571566"/>
          <a:ext cx="1944300" cy="447472"/>
        </p:xfrm>
        <a:graphic>
          <a:graphicData uri="http://schemas.openxmlformats.org/drawingml/2006/table">
            <a:tbl>
              <a:tblPr firstRow="1" bandRow="1">
                <a:tableStyleId>{1FECB4D8-DB02-4DC6-A0A2-4F2EBAE1DC90}</a:tableStyleId>
              </a:tblPr>
              <a:tblGrid>
                <a:gridCol w="1944300">
                  <a:extLst>
                    <a:ext uri="{9D8B030D-6E8A-4147-A177-3AD203B41FA5}">
                      <a16:colId xmlns:a16="http://schemas.microsoft.com/office/drawing/2014/main" val="3873850230"/>
                    </a:ext>
                  </a:extLst>
                </a:gridCol>
              </a:tblGrid>
              <a:tr h="447472">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Standard file format</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Integrated using Object Storage</a:t>
                      </a:r>
                    </a:p>
                  </a:txBody>
                  <a:tcPr marL="91409" marR="91409" marT="45759" marB="4575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22" name="Table 21">
            <a:extLst>
              <a:ext uri="{FF2B5EF4-FFF2-40B4-BE49-F238E27FC236}">
                <a16:creationId xmlns:a16="http://schemas.microsoft.com/office/drawing/2014/main" id="{A31C2D47-539F-4F20-8692-40799FE76989}"/>
              </a:ext>
            </a:extLst>
          </p:cNvPr>
          <p:cNvGraphicFramePr>
            <a:graphicFrameLocks noGrp="1"/>
          </p:cNvGraphicFramePr>
          <p:nvPr/>
        </p:nvGraphicFramePr>
        <p:xfrm>
          <a:off x="397770" y="2482424"/>
          <a:ext cx="1954052" cy="1811676"/>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417336">
                <a:tc>
                  <a:txBody>
                    <a:bodyPr/>
                    <a:lstStyle/>
                    <a:p>
                      <a:pPr algn="ctr"/>
                      <a:r>
                        <a:rPr lang="en-US" sz="1000" b="1">
                          <a:solidFill>
                            <a:schemeClr val="bg1"/>
                          </a:solidFill>
                        </a:rPr>
                        <a:t>POM Induction Job (File Based)</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394340">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chemeClr val="tx2"/>
                          </a:solidFill>
                          <a:latin typeface="Arial"/>
                        </a:rPr>
                        <a:t>Source system shares extract data in required format to Object Storage</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chemeClr val="tx2"/>
                          </a:solidFill>
                          <a:latin typeface="Arial"/>
                        </a:rPr>
                        <a:t>Data imported into Oracle via POM Induction Jobs</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US" sz="900">
                        <a:solidFill>
                          <a:schemeClr val="tx2"/>
                        </a:solidFill>
                        <a:latin typeface="Arial"/>
                      </a:endParaRP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25" name="Table 24">
            <a:extLst>
              <a:ext uri="{FF2B5EF4-FFF2-40B4-BE49-F238E27FC236}">
                <a16:creationId xmlns:a16="http://schemas.microsoft.com/office/drawing/2014/main" id="{6553365F-67CB-457D-8CA1-DDA46D69C4D5}"/>
              </a:ext>
            </a:extLst>
          </p:cNvPr>
          <p:cNvGraphicFramePr>
            <a:graphicFrameLocks noGrp="1"/>
          </p:cNvGraphicFramePr>
          <p:nvPr/>
        </p:nvGraphicFramePr>
        <p:xfrm>
          <a:off x="424716" y="5407626"/>
          <a:ext cx="1922221" cy="483240"/>
        </p:xfrm>
        <a:graphic>
          <a:graphicData uri="http://schemas.openxmlformats.org/drawingml/2006/table">
            <a:tbl>
              <a:tblPr firstRow="1" bandRow="1">
                <a:tableStyleId>{1FECB4D8-DB02-4DC6-A0A2-4F2EBAE1DC90}</a:tableStyleId>
              </a:tblPr>
              <a:tblGrid>
                <a:gridCol w="1922221">
                  <a:extLst>
                    <a:ext uri="{9D8B030D-6E8A-4147-A177-3AD203B41FA5}">
                      <a16:colId xmlns:a16="http://schemas.microsoft.com/office/drawing/2014/main" val="3873850230"/>
                    </a:ext>
                  </a:extLst>
                </a:gridCol>
              </a:tblGrid>
              <a:tr h="483240">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Price Changes, Clearance, Cost changes, EDI.</a:t>
                      </a:r>
                    </a:p>
                  </a:txBody>
                  <a:tcPr marL="91409" marR="91409"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sp>
        <p:nvSpPr>
          <p:cNvPr id="33" name="Oval 32">
            <a:extLst>
              <a:ext uri="{FF2B5EF4-FFF2-40B4-BE49-F238E27FC236}">
                <a16:creationId xmlns:a16="http://schemas.microsoft.com/office/drawing/2014/main" id="{C567CB16-569B-4627-8198-77422C0F682C}"/>
              </a:ext>
            </a:extLst>
          </p:cNvPr>
          <p:cNvSpPr/>
          <p:nvPr/>
        </p:nvSpPr>
        <p:spPr>
          <a:xfrm>
            <a:off x="1728842" y="2394749"/>
            <a:ext cx="228600" cy="22860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18288" rIns="45720" bIns="18288"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1</a:t>
            </a:r>
          </a:p>
        </p:txBody>
      </p:sp>
      <p:graphicFrame>
        <p:nvGraphicFramePr>
          <p:cNvPr id="40" name="Table 39">
            <a:extLst>
              <a:ext uri="{FF2B5EF4-FFF2-40B4-BE49-F238E27FC236}">
                <a16:creationId xmlns:a16="http://schemas.microsoft.com/office/drawing/2014/main" id="{9A263181-610F-4489-9FAB-9F827670AA5C}"/>
              </a:ext>
            </a:extLst>
          </p:cNvPr>
          <p:cNvGraphicFramePr>
            <a:graphicFrameLocks noGrp="1"/>
          </p:cNvGraphicFramePr>
          <p:nvPr/>
        </p:nvGraphicFramePr>
        <p:xfrm>
          <a:off x="3776136" y="1054410"/>
          <a:ext cx="1881079" cy="625475"/>
        </p:xfrm>
        <a:graphic>
          <a:graphicData uri="http://schemas.openxmlformats.org/drawingml/2006/table">
            <a:tbl>
              <a:tblPr firstRow="1" bandRow="1">
                <a:tableStyleId>{1FECB4D8-DB02-4DC6-A0A2-4F2EBAE1DC90}</a:tableStyleId>
              </a:tblPr>
              <a:tblGrid>
                <a:gridCol w="1881079">
                  <a:extLst>
                    <a:ext uri="{9D8B030D-6E8A-4147-A177-3AD203B41FA5}">
                      <a16:colId xmlns:a16="http://schemas.microsoft.com/office/drawing/2014/main" val="3873850230"/>
                    </a:ext>
                  </a:extLst>
                </a:gridCol>
              </a:tblGrid>
              <a:tr h="259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chemeClr val="bg1"/>
                          </a:solidFill>
                        </a:rPr>
                        <a:t>Near Real-Time</a:t>
                      </a:r>
                    </a:p>
                  </a:txBody>
                  <a:tcPr marL="91458" marR="91458" marT="45773" marB="457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66182">
                <a:tc>
                  <a:txBody>
                    <a:bodyPr/>
                    <a:lstStyle/>
                    <a:p>
                      <a:pPr algn="ctr" defTabSz="957998">
                        <a:spcBef>
                          <a:spcPts val="300"/>
                        </a:spcBef>
                      </a:pPr>
                      <a:r>
                        <a:rPr lang="en-US" sz="900">
                          <a:solidFill>
                            <a:schemeClr val="tx2"/>
                          </a:solidFill>
                          <a:latin typeface="Arial"/>
                        </a:rPr>
                        <a:t>Response sent in </a:t>
                      </a:r>
                      <a:br>
                        <a:rPr lang="en-US" sz="900">
                          <a:solidFill>
                            <a:schemeClr val="tx2"/>
                          </a:solidFill>
                          <a:latin typeface="Arial"/>
                        </a:rPr>
                      </a:br>
                      <a:r>
                        <a:rPr lang="en-US" sz="900">
                          <a:solidFill>
                            <a:schemeClr val="tx2"/>
                          </a:solidFill>
                          <a:latin typeface="Arial"/>
                        </a:rPr>
                        <a:t>near real-time</a:t>
                      </a:r>
                    </a:p>
                  </a:txBody>
                  <a:tcPr marL="91458" marR="91458" marT="45773" marB="4577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41" name="Table 40">
            <a:extLst>
              <a:ext uri="{FF2B5EF4-FFF2-40B4-BE49-F238E27FC236}">
                <a16:creationId xmlns:a16="http://schemas.microsoft.com/office/drawing/2014/main" id="{33FF24EB-B3C7-4AEA-B58C-F2FE0C3EE6DC}"/>
              </a:ext>
            </a:extLst>
          </p:cNvPr>
          <p:cNvGraphicFramePr>
            <a:graphicFrameLocks noGrp="1"/>
          </p:cNvGraphicFramePr>
          <p:nvPr/>
        </p:nvGraphicFramePr>
        <p:xfrm>
          <a:off x="397769" y="1054410"/>
          <a:ext cx="1935175" cy="625475"/>
        </p:xfrm>
        <a:graphic>
          <a:graphicData uri="http://schemas.openxmlformats.org/drawingml/2006/table">
            <a:tbl>
              <a:tblPr firstRow="1" bandRow="1">
                <a:tableStyleId>{1FECB4D8-DB02-4DC6-A0A2-4F2EBAE1DC90}</a:tableStyleId>
              </a:tblPr>
              <a:tblGrid>
                <a:gridCol w="1935175">
                  <a:extLst>
                    <a:ext uri="{9D8B030D-6E8A-4147-A177-3AD203B41FA5}">
                      <a16:colId xmlns:a16="http://schemas.microsoft.com/office/drawing/2014/main" val="3873850230"/>
                    </a:ext>
                  </a:extLst>
                </a:gridCol>
              </a:tblGrid>
              <a:tr h="259293">
                <a:tc>
                  <a:txBody>
                    <a:bodyPr/>
                    <a:lstStyle/>
                    <a:p>
                      <a:pPr algn="ctr"/>
                      <a:r>
                        <a:rPr lang="en-US" sz="1100" b="1">
                          <a:solidFill>
                            <a:schemeClr val="bg1"/>
                          </a:solidFill>
                        </a:rPr>
                        <a:t>Asynchronous</a:t>
                      </a:r>
                      <a:endParaRPr lang="en-US" sz="1100"/>
                    </a:p>
                  </a:txBody>
                  <a:tcPr marL="91458" marR="91458" marT="45773" marB="457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661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2"/>
                          </a:solidFill>
                          <a:latin typeface="Arial"/>
                        </a:rPr>
                        <a:t>Source application does not wait for response</a:t>
                      </a:r>
                    </a:p>
                  </a:txBody>
                  <a:tcPr marL="91458" marR="91458" marT="45773" marB="4577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43" name="Table 42">
            <a:extLst>
              <a:ext uri="{FF2B5EF4-FFF2-40B4-BE49-F238E27FC236}">
                <a16:creationId xmlns:a16="http://schemas.microsoft.com/office/drawing/2014/main" id="{B4ED029C-4981-47C3-88B7-36FCC111FC79}"/>
              </a:ext>
            </a:extLst>
          </p:cNvPr>
          <p:cNvGraphicFramePr>
            <a:graphicFrameLocks noGrp="1"/>
          </p:cNvGraphicFramePr>
          <p:nvPr/>
        </p:nvGraphicFramePr>
        <p:xfrm>
          <a:off x="10258967" y="1054410"/>
          <a:ext cx="1414830" cy="625367"/>
        </p:xfrm>
        <a:graphic>
          <a:graphicData uri="http://schemas.openxmlformats.org/drawingml/2006/table">
            <a:tbl>
              <a:tblPr firstRow="1" bandRow="1">
                <a:tableStyleId>{1FECB4D8-DB02-4DC6-A0A2-4F2EBAE1DC90}</a:tableStyleId>
              </a:tblPr>
              <a:tblGrid>
                <a:gridCol w="1414830">
                  <a:extLst>
                    <a:ext uri="{9D8B030D-6E8A-4147-A177-3AD203B41FA5}">
                      <a16:colId xmlns:a16="http://schemas.microsoft.com/office/drawing/2014/main" val="3873850230"/>
                    </a:ext>
                  </a:extLst>
                </a:gridCol>
              </a:tblGrid>
              <a:tr h="239346">
                <a:tc>
                  <a:txBody>
                    <a:bodyPr/>
                    <a:lstStyle/>
                    <a:p>
                      <a:pPr algn="ctr"/>
                      <a:r>
                        <a:rPr lang="en-US" sz="1100" b="1">
                          <a:solidFill>
                            <a:schemeClr val="bg1"/>
                          </a:solidFill>
                        </a:rPr>
                        <a:t>Bulk Data / File</a:t>
                      </a:r>
                    </a:p>
                  </a:txBody>
                  <a:tcPr marL="91369" marR="91369" marT="45772" marB="4577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661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2"/>
                          </a:solidFill>
                          <a:latin typeface="Arial"/>
                        </a:rPr>
                        <a:t>Data extracted in batch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2"/>
                          </a:solidFill>
                          <a:latin typeface="Arial"/>
                        </a:rPr>
                        <a:t>based on schedule</a:t>
                      </a:r>
                      <a:endParaRPr lang="it-IT" sz="900">
                        <a:solidFill>
                          <a:schemeClr val="tx2"/>
                        </a:solidFill>
                        <a:latin typeface="Arial"/>
                      </a:endParaRPr>
                    </a:p>
                  </a:txBody>
                  <a:tcPr marL="91369" marR="91369" marT="45772" marB="4577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cxnSp>
        <p:nvCxnSpPr>
          <p:cNvPr id="51" name="Straight Arrow Connector 50">
            <a:extLst>
              <a:ext uri="{FF2B5EF4-FFF2-40B4-BE49-F238E27FC236}">
                <a16:creationId xmlns:a16="http://schemas.microsoft.com/office/drawing/2014/main" id="{743C395F-9087-4161-B86F-C8F596C427C1}"/>
              </a:ext>
            </a:extLst>
          </p:cNvPr>
          <p:cNvCxnSpPr>
            <a:cxnSpLocks/>
            <a:stCxn id="41" idx="2"/>
            <a:endCxn id="22" idx="0"/>
          </p:cNvCxnSpPr>
          <p:nvPr/>
        </p:nvCxnSpPr>
        <p:spPr>
          <a:xfrm>
            <a:off x="1365356" y="1679885"/>
            <a:ext cx="9440" cy="80253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Table 52">
            <a:extLst>
              <a:ext uri="{FF2B5EF4-FFF2-40B4-BE49-F238E27FC236}">
                <a16:creationId xmlns:a16="http://schemas.microsoft.com/office/drawing/2014/main" id="{F647EF4C-61C7-4B22-B260-A38A4011846D}"/>
              </a:ext>
            </a:extLst>
          </p:cNvPr>
          <p:cNvGraphicFramePr>
            <a:graphicFrameLocks noGrp="1"/>
          </p:cNvGraphicFramePr>
          <p:nvPr/>
        </p:nvGraphicFramePr>
        <p:xfrm>
          <a:off x="6223246" y="1054410"/>
          <a:ext cx="1646238" cy="625475"/>
        </p:xfrm>
        <a:graphic>
          <a:graphicData uri="http://schemas.openxmlformats.org/drawingml/2006/table">
            <a:tbl>
              <a:tblPr firstRow="1" bandRow="1">
                <a:tableStyleId>{1FECB4D8-DB02-4DC6-A0A2-4F2EBAE1DC90}</a:tableStyleId>
              </a:tblPr>
              <a:tblGrid>
                <a:gridCol w="1646238">
                  <a:extLst>
                    <a:ext uri="{9D8B030D-6E8A-4147-A177-3AD203B41FA5}">
                      <a16:colId xmlns:a16="http://schemas.microsoft.com/office/drawing/2014/main" val="3873850230"/>
                    </a:ext>
                  </a:extLst>
                </a:gridCol>
              </a:tblGrid>
              <a:tr h="259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chemeClr val="bg1"/>
                          </a:solidFill>
                        </a:rPr>
                        <a:t>Near Real-Time</a:t>
                      </a:r>
                    </a:p>
                  </a:txBody>
                  <a:tcPr marL="91458" marR="91458" marT="45773" marB="457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66182">
                <a:tc>
                  <a:txBody>
                    <a:bodyPr/>
                    <a:lstStyle/>
                    <a:p>
                      <a:pPr algn="ctr" defTabSz="957998">
                        <a:spcBef>
                          <a:spcPts val="300"/>
                        </a:spcBef>
                      </a:pPr>
                      <a:r>
                        <a:rPr lang="en-US" sz="900">
                          <a:solidFill>
                            <a:schemeClr val="tx2"/>
                          </a:solidFill>
                          <a:latin typeface="Arial"/>
                        </a:rPr>
                        <a:t>Response sent in </a:t>
                      </a:r>
                      <a:br>
                        <a:rPr lang="en-US" sz="900">
                          <a:solidFill>
                            <a:schemeClr val="tx2"/>
                          </a:solidFill>
                          <a:latin typeface="Arial"/>
                        </a:rPr>
                      </a:br>
                      <a:r>
                        <a:rPr lang="en-US" sz="900">
                          <a:solidFill>
                            <a:schemeClr val="tx2"/>
                          </a:solidFill>
                          <a:latin typeface="Arial"/>
                        </a:rPr>
                        <a:t>near real-time</a:t>
                      </a:r>
                    </a:p>
                  </a:txBody>
                  <a:tcPr marL="91458" marR="91458" marT="45773" marB="4577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55" name="Table 54">
            <a:extLst>
              <a:ext uri="{FF2B5EF4-FFF2-40B4-BE49-F238E27FC236}">
                <a16:creationId xmlns:a16="http://schemas.microsoft.com/office/drawing/2014/main" id="{7B2F5DC3-E4CD-4B18-958B-7ADCB3759A87}"/>
              </a:ext>
            </a:extLst>
          </p:cNvPr>
          <p:cNvGraphicFramePr>
            <a:graphicFrameLocks noGrp="1"/>
          </p:cNvGraphicFramePr>
          <p:nvPr/>
        </p:nvGraphicFramePr>
        <p:xfrm>
          <a:off x="8260050" y="1056089"/>
          <a:ext cx="1646238" cy="625368"/>
        </p:xfrm>
        <a:graphic>
          <a:graphicData uri="http://schemas.openxmlformats.org/drawingml/2006/table">
            <a:tbl>
              <a:tblPr firstRow="1" bandRow="1">
                <a:tableStyleId>{1FECB4D8-DB02-4DC6-A0A2-4F2EBAE1DC90}</a:tableStyleId>
              </a:tblPr>
              <a:tblGrid>
                <a:gridCol w="1646238">
                  <a:extLst>
                    <a:ext uri="{9D8B030D-6E8A-4147-A177-3AD203B41FA5}">
                      <a16:colId xmlns:a16="http://schemas.microsoft.com/office/drawing/2014/main" val="3873850230"/>
                    </a:ext>
                  </a:extLst>
                </a:gridCol>
              </a:tblGrid>
              <a:tr h="0">
                <a:tc>
                  <a:txBody>
                    <a:bodyPr/>
                    <a:lstStyle/>
                    <a:p>
                      <a:pPr algn="ctr"/>
                      <a:r>
                        <a:rPr lang="en-US" sz="1100" b="1">
                          <a:solidFill>
                            <a:schemeClr val="bg1"/>
                          </a:solidFill>
                        </a:rPr>
                        <a:t>Asynchronous</a:t>
                      </a:r>
                      <a:endParaRPr lang="en-US" sz="1100"/>
                    </a:p>
                  </a:txBody>
                  <a:tcPr marL="91458" marR="91458" marT="45773" marB="457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661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2"/>
                          </a:solidFill>
                          <a:latin typeface="Arial"/>
                        </a:rPr>
                        <a:t>Source application does not wait for response</a:t>
                      </a:r>
                    </a:p>
                  </a:txBody>
                  <a:tcPr marL="91458" marR="91458" marT="45773" marB="4577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cxnSp>
        <p:nvCxnSpPr>
          <p:cNvPr id="57" name="Straight Arrow Connector 56">
            <a:extLst>
              <a:ext uri="{FF2B5EF4-FFF2-40B4-BE49-F238E27FC236}">
                <a16:creationId xmlns:a16="http://schemas.microsoft.com/office/drawing/2014/main" id="{33B85C7D-337B-4718-9BF1-ADE93B240464}"/>
              </a:ext>
            </a:extLst>
          </p:cNvPr>
          <p:cNvCxnSpPr>
            <a:cxnSpLocks/>
            <a:stCxn id="55" idx="3"/>
            <a:endCxn id="43" idx="1"/>
          </p:cNvCxnSpPr>
          <p:nvPr/>
        </p:nvCxnSpPr>
        <p:spPr>
          <a:xfrm flipV="1">
            <a:off x="9906288" y="1367093"/>
            <a:ext cx="352679" cy="168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61">
            <a:extLst>
              <a:ext uri="{FF2B5EF4-FFF2-40B4-BE49-F238E27FC236}">
                <a16:creationId xmlns:a16="http://schemas.microsoft.com/office/drawing/2014/main" id="{63B8CB95-A5FE-4EFF-B1CA-7F6CAE7A8EE4}"/>
              </a:ext>
            </a:extLst>
          </p:cNvPr>
          <p:cNvCxnSpPr>
            <a:cxnSpLocks/>
          </p:cNvCxnSpPr>
          <p:nvPr/>
        </p:nvCxnSpPr>
        <p:spPr>
          <a:xfrm flipH="1">
            <a:off x="4011674" y="2335084"/>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75" name="Table 74">
            <a:extLst>
              <a:ext uri="{FF2B5EF4-FFF2-40B4-BE49-F238E27FC236}">
                <a16:creationId xmlns:a16="http://schemas.microsoft.com/office/drawing/2014/main" id="{D6C5410A-E3E4-40E2-8668-DF00424667BC}"/>
              </a:ext>
            </a:extLst>
          </p:cNvPr>
          <p:cNvGraphicFramePr>
            <a:graphicFrameLocks noGrp="1"/>
          </p:cNvGraphicFramePr>
          <p:nvPr/>
        </p:nvGraphicFramePr>
        <p:xfrm>
          <a:off x="2663678" y="4564475"/>
          <a:ext cx="1944300" cy="447472"/>
        </p:xfrm>
        <a:graphic>
          <a:graphicData uri="http://schemas.openxmlformats.org/drawingml/2006/table">
            <a:tbl>
              <a:tblPr firstRow="1" bandRow="1">
                <a:tableStyleId>{1FECB4D8-DB02-4DC6-A0A2-4F2EBAE1DC90}</a:tableStyleId>
              </a:tblPr>
              <a:tblGrid>
                <a:gridCol w="1944300">
                  <a:extLst>
                    <a:ext uri="{9D8B030D-6E8A-4147-A177-3AD203B41FA5}">
                      <a16:colId xmlns:a16="http://schemas.microsoft.com/office/drawing/2014/main" val="3873850230"/>
                    </a:ext>
                  </a:extLst>
                </a:gridCol>
              </a:tblGrid>
              <a:tr h="447472">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Standard message payload</a:t>
                      </a:r>
                    </a:p>
                  </a:txBody>
                  <a:tcPr marL="91409" marR="91409" marT="45759" marB="4575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76" name="Table 75">
            <a:extLst>
              <a:ext uri="{FF2B5EF4-FFF2-40B4-BE49-F238E27FC236}">
                <a16:creationId xmlns:a16="http://schemas.microsoft.com/office/drawing/2014/main" id="{0512F951-CBFF-441E-B38C-3C3E48D12628}"/>
              </a:ext>
            </a:extLst>
          </p:cNvPr>
          <p:cNvGraphicFramePr>
            <a:graphicFrameLocks noGrp="1"/>
          </p:cNvGraphicFramePr>
          <p:nvPr/>
        </p:nvGraphicFramePr>
        <p:xfrm>
          <a:off x="2655422" y="2475333"/>
          <a:ext cx="1954052" cy="1811676"/>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417336">
                <a:tc>
                  <a:txBody>
                    <a:bodyPr/>
                    <a:lstStyle/>
                    <a:p>
                      <a:pPr algn="ctr"/>
                      <a:r>
                        <a:rPr lang="en-US" sz="1000" b="1">
                          <a:solidFill>
                            <a:schemeClr val="bg1"/>
                          </a:solidFill>
                        </a:rPr>
                        <a:t>Retail Integration Bus RIB</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394340">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chemeClr val="tx2"/>
                          </a:solidFill>
                          <a:latin typeface="Arial"/>
                        </a:rPr>
                        <a:t>Enables integrations with Omnichannel Applications</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chemeClr val="tx2"/>
                          </a:solidFill>
                          <a:latin typeface="Arial"/>
                        </a:rPr>
                        <a:t>JMS Pub-Sub model</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chemeClr val="tx2"/>
                          </a:solidFill>
                          <a:latin typeface="Arial"/>
                        </a:rPr>
                        <a:t>RIB-EXT module available for publication of data to external middleware</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77" name="Table 76">
            <a:extLst>
              <a:ext uri="{FF2B5EF4-FFF2-40B4-BE49-F238E27FC236}">
                <a16:creationId xmlns:a16="http://schemas.microsoft.com/office/drawing/2014/main" id="{E87F7B9D-817B-4C8D-B5B1-3BB0F5BD2A0D}"/>
              </a:ext>
            </a:extLst>
          </p:cNvPr>
          <p:cNvGraphicFramePr>
            <a:graphicFrameLocks noGrp="1"/>
          </p:cNvGraphicFramePr>
          <p:nvPr/>
        </p:nvGraphicFramePr>
        <p:xfrm>
          <a:off x="2682368" y="5400535"/>
          <a:ext cx="1922221" cy="483240"/>
        </p:xfrm>
        <a:graphic>
          <a:graphicData uri="http://schemas.openxmlformats.org/drawingml/2006/table">
            <a:tbl>
              <a:tblPr firstRow="1" bandRow="1">
                <a:tableStyleId>{1FECB4D8-DB02-4DC6-A0A2-4F2EBAE1DC90}</a:tableStyleId>
              </a:tblPr>
              <a:tblGrid>
                <a:gridCol w="1922221">
                  <a:extLst>
                    <a:ext uri="{9D8B030D-6E8A-4147-A177-3AD203B41FA5}">
                      <a16:colId xmlns:a16="http://schemas.microsoft.com/office/drawing/2014/main" val="3873850230"/>
                    </a:ext>
                  </a:extLst>
                </a:gridCol>
              </a:tblGrid>
              <a:tr h="483240">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Organizational Hierarchy, Foundation Data, Transactions.</a:t>
                      </a:r>
                    </a:p>
                  </a:txBody>
                  <a:tcPr marL="91409" marR="91409"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sp>
        <p:nvSpPr>
          <p:cNvPr id="78" name="Oval 77">
            <a:extLst>
              <a:ext uri="{FF2B5EF4-FFF2-40B4-BE49-F238E27FC236}">
                <a16:creationId xmlns:a16="http://schemas.microsoft.com/office/drawing/2014/main" id="{852437C0-E844-4C7F-B499-A26EF9AE6A32}"/>
              </a:ext>
            </a:extLst>
          </p:cNvPr>
          <p:cNvSpPr/>
          <p:nvPr/>
        </p:nvSpPr>
        <p:spPr>
          <a:xfrm>
            <a:off x="3986494" y="2387658"/>
            <a:ext cx="228600" cy="22860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18288" rIns="45720" bIns="18288"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2</a:t>
            </a:r>
          </a:p>
        </p:txBody>
      </p:sp>
      <p:cxnSp>
        <p:nvCxnSpPr>
          <p:cNvPr id="79" name="Elbow Connector 61">
            <a:extLst>
              <a:ext uri="{FF2B5EF4-FFF2-40B4-BE49-F238E27FC236}">
                <a16:creationId xmlns:a16="http://schemas.microsoft.com/office/drawing/2014/main" id="{F3376938-A1CC-420B-A15C-CD5AF5E2B483}"/>
              </a:ext>
            </a:extLst>
          </p:cNvPr>
          <p:cNvCxnSpPr>
            <a:cxnSpLocks/>
          </p:cNvCxnSpPr>
          <p:nvPr/>
        </p:nvCxnSpPr>
        <p:spPr>
          <a:xfrm flipH="1">
            <a:off x="6407549" y="2327993"/>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80" name="Table 79">
            <a:extLst>
              <a:ext uri="{FF2B5EF4-FFF2-40B4-BE49-F238E27FC236}">
                <a16:creationId xmlns:a16="http://schemas.microsoft.com/office/drawing/2014/main" id="{515F118C-0B5F-4CD8-8BFA-17F98C0174A9}"/>
              </a:ext>
            </a:extLst>
          </p:cNvPr>
          <p:cNvGraphicFramePr>
            <a:graphicFrameLocks noGrp="1"/>
          </p:cNvGraphicFramePr>
          <p:nvPr/>
        </p:nvGraphicFramePr>
        <p:xfrm>
          <a:off x="5059553" y="4557384"/>
          <a:ext cx="1945796" cy="447472"/>
        </p:xfrm>
        <a:graphic>
          <a:graphicData uri="http://schemas.openxmlformats.org/drawingml/2006/table">
            <a:tbl>
              <a:tblPr firstRow="1" bandRow="1">
                <a:tableStyleId>{1FECB4D8-DB02-4DC6-A0A2-4F2EBAE1DC90}</a:tableStyleId>
              </a:tblPr>
              <a:tblGrid>
                <a:gridCol w="1945796">
                  <a:extLst>
                    <a:ext uri="{9D8B030D-6E8A-4147-A177-3AD203B41FA5}">
                      <a16:colId xmlns:a16="http://schemas.microsoft.com/office/drawing/2014/main" val="3873850230"/>
                    </a:ext>
                  </a:extLst>
                </a:gridCol>
              </a:tblGrid>
              <a:tr h="447472">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Built in SOAP web service and RESTful web service</a:t>
                      </a:r>
                    </a:p>
                  </a:txBody>
                  <a:tcPr marL="91409" marR="91409" marT="45759" marB="4575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81" name="Table 80">
            <a:extLst>
              <a:ext uri="{FF2B5EF4-FFF2-40B4-BE49-F238E27FC236}">
                <a16:creationId xmlns:a16="http://schemas.microsoft.com/office/drawing/2014/main" id="{A917D8D4-D11D-4310-932C-835CAA22E57D}"/>
              </a:ext>
            </a:extLst>
          </p:cNvPr>
          <p:cNvGraphicFramePr>
            <a:graphicFrameLocks noGrp="1"/>
          </p:cNvGraphicFramePr>
          <p:nvPr/>
        </p:nvGraphicFramePr>
        <p:xfrm>
          <a:off x="5051297" y="2468242"/>
          <a:ext cx="1954052" cy="1811676"/>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417336">
                <a:tc>
                  <a:txBody>
                    <a:bodyPr/>
                    <a:lstStyle/>
                    <a:p>
                      <a:pPr algn="ctr"/>
                      <a:r>
                        <a:rPr lang="en-US" sz="1000" b="1">
                          <a:solidFill>
                            <a:schemeClr val="bg1"/>
                          </a:solidFill>
                        </a:rPr>
                        <a:t>Web Service</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394340">
                <a:tc>
                  <a:txBody>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latin typeface="Arial"/>
                          <a:ea typeface="+mn-ea"/>
                          <a:cs typeface="+mn-cs"/>
                        </a:rPr>
                        <a:t>Uses SOAP / REST based services to push data to Oracle</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latin typeface="Arial"/>
                          <a:ea typeface="+mn-ea"/>
                          <a:cs typeface="+mn-cs"/>
                        </a:rPr>
                        <a:t>Lookups available to retrieve information</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latin typeface="Arial"/>
                          <a:ea typeface="+mn-ea"/>
                          <a:cs typeface="+mn-cs"/>
                        </a:rPr>
                        <a:t>Leverages Oracle standard web services available for data extraction as a wrapper for API functionality </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82" name="Table 81">
            <a:extLst>
              <a:ext uri="{FF2B5EF4-FFF2-40B4-BE49-F238E27FC236}">
                <a16:creationId xmlns:a16="http://schemas.microsoft.com/office/drawing/2014/main" id="{4365BA0C-2588-45EA-91CD-FB290E17334B}"/>
              </a:ext>
            </a:extLst>
          </p:cNvPr>
          <p:cNvGraphicFramePr>
            <a:graphicFrameLocks noGrp="1"/>
          </p:cNvGraphicFramePr>
          <p:nvPr/>
        </p:nvGraphicFramePr>
        <p:xfrm>
          <a:off x="5078243" y="5393444"/>
          <a:ext cx="1927106" cy="483240"/>
        </p:xfrm>
        <a:graphic>
          <a:graphicData uri="http://schemas.openxmlformats.org/drawingml/2006/table">
            <a:tbl>
              <a:tblPr firstRow="1" bandRow="1">
                <a:tableStyleId>{1FECB4D8-DB02-4DC6-A0A2-4F2EBAE1DC90}</a:tableStyleId>
              </a:tblPr>
              <a:tblGrid>
                <a:gridCol w="1927106">
                  <a:extLst>
                    <a:ext uri="{9D8B030D-6E8A-4147-A177-3AD203B41FA5}">
                      <a16:colId xmlns:a16="http://schemas.microsoft.com/office/drawing/2014/main" val="3873850230"/>
                    </a:ext>
                  </a:extLst>
                </a:gridCol>
              </a:tblGrid>
              <a:tr h="483240">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Item creation, Item Updates </a:t>
                      </a:r>
                      <a:r>
                        <a:rPr lang="en-US" sz="900" b="0" err="1">
                          <a:solidFill>
                            <a:schemeClr val="tx2"/>
                          </a:solidFill>
                          <a:latin typeface="Arial"/>
                        </a:rPr>
                        <a:t>Adhoc</a:t>
                      </a:r>
                      <a:r>
                        <a:rPr lang="en-US" sz="900" b="0">
                          <a:solidFill>
                            <a:schemeClr val="tx2"/>
                          </a:solidFill>
                          <a:latin typeface="Arial"/>
                        </a:rPr>
                        <a:t> inventory lookup</a:t>
                      </a:r>
                    </a:p>
                  </a:txBody>
                  <a:tcPr marL="91409" marR="91409"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sp>
        <p:nvSpPr>
          <p:cNvPr id="83" name="Oval 82">
            <a:extLst>
              <a:ext uri="{FF2B5EF4-FFF2-40B4-BE49-F238E27FC236}">
                <a16:creationId xmlns:a16="http://schemas.microsoft.com/office/drawing/2014/main" id="{09F37C7E-3015-41B7-AEFF-0958A0959358}"/>
              </a:ext>
            </a:extLst>
          </p:cNvPr>
          <p:cNvSpPr/>
          <p:nvPr/>
        </p:nvSpPr>
        <p:spPr>
          <a:xfrm>
            <a:off x="6382369" y="2380567"/>
            <a:ext cx="228600" cy="22860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18288" rIns="45720" bIns="18288"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3</a:t>
            </a:r>
          </a:p>
        </p:txBody>
      </p:sp>
      <p:cxnSp>
        <p:nvCxnSpPr>
          <p:cNvPr id="89" name="Elbow Connector 61">
            <a:extLst>
              <a:ext uri="{FF2B5EF4-FFF2-40B4-BE49-F238E27FC236}">
                <a16:creationId xmlns:a16="http://schemas.microsoft.com/office/drawing/2014/main" id="{4922BC87-6BE8-474F-B1E3-0D247DA20EB8}"/>
              </a:ext>
            </a:extLst>
          </p:cNvPr>
          <p:cNvCxnSpPr>
            <a:cxnSpLocks/>
          </p:cNvCxnSpPr>
          <p:nvPr/>
        </p:nvCxnSpPr>
        <p:spPr>
          <a:xfrm flipH="1">
            <a:off x="8899119" y="2310271"/>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90" name="Table 89">
            <a:extLst>
              <a:ext uri="{FF2B5EF4-FFF2-40B4-BE49-F238E27FC236}">
                <a16:creationId xmlns:a16="http://schemas.microsoft.com/office/drawing/2014/main" id="{A4236DBA-09A4-4931-A30F-A622FB348851}"/>
              </a:ext>
            </a:extLst>
          </p:cNvPr>
          <p:cNvGraphicFramePr>
            <a:graphicFrameLocks noGrp="1"/>
          </p:cNvGraphicFramePr>
          <p:nvPr/>
        </p:nvGraphicFramePr>
        <p:xfrm>
          <a:off x="7551123" y="4539662"/>
          <a:ext cx="1945796" cy="447472"/>
        </p:xfrm>
        <a:graphic>
          <a:graphicData uri="http://schemas.openxmlformats.org/drawingml/2006/table">
            <a:tbl>
              <a:tblPr firstRow="1" bandRow="1">
                <a:tableStyleId>{1FECB4D8-DB02-4DC6-A0A2-4F2EBAE1DC90}</a:tableStyleId>
              </a:tblPr>
              <a:tblGrid>
                <a:gridCol w="1945796">
                  <a:extLst>
                    <a:ext uri="{9D8B030D-6E8A-4147-A177-3AD203B41FA5}">
                      <a16:colId xmlns:a16="http://schemas.microsoft.com/office/drawing/2014/main" val="3873850230"/>
                    </a:ext>
                  </a:extLst>
                </a:gridCol>
              </a:tblGrid>
              <a:tr h="447472">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REST webservices for retrieval of queued data</a:t>
                      </a:r>
                    </a:p>
                  </a:txBody>
                  <a:tcPr marL="91409" marR="91409" marT="45759" marB="4575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91" name="Table 90">
            <a:extLst>
              <a:ext uri="{FF2B5EF4-FFF2-40B4-BE49-F238E27FC236}">
                <a16:creationId xmlns:a16="http://schemas.microsoft.com/office/drawing/2014/main" id="{0DFD0AAB-F730-4D1F-8BC3-987BC484CC59}"/>
              </a:ext>
            </a:extLst>
          </p:cNvPr>
          <p:cNvGraphicFramePr>
            <a:graphicFrameLocks noGrp="1"/>
          </p:cNvGraphicFramePr>
          <p:nvPr/>
        </p:nvGraphicFramePr>
        <p:xfrm>
          <a:off x="7542867" y="2450520"/>
          <a:ext cx="1954052" cy="1811676"/>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417336">
                <a:tc>
                  <a:txBody>
                    <a:bodyPr/>
                    <a:lstStyle/>
                    <a:p>
                      <a:pPr algn="ctr"/>
                      <a:r>
                        <a:rPr lang="en-US" sz="1000" b="1">
                          <a:solidFill>
                            <a:schemeClr val="bg1"/>
                          </a:solidFill>
                        </a:rPr>
                        <a:t>Merch API Publish Service </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394340">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latin typeface="Arial"/>
                          <a:ea typeface="+mn-ea"/>
                          <a:cs typeface="+mn-cs"/>
                        </a:rPr>
                        <a:t>Set of Rest APIs to integrate data from Oracle to external application</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latin typeface="Arial"/>
                          <a:ea typeface="+mn-ea"/>
                          <a:cs typeface="+mn-cs"/>
                        </a:rPr>
                        <a:t>Requires consumer to poll the API at defined intervals to fetch delta changes since last poll</a:t>
                      </a:r>
                      <a:endParaRPr lang="en-US" sz="900">
                        <a:solidFill>
                          <a:schemeClr val="tx2"/>
                        </a:solidFill>
                        <a:latin typeface="Arial"/>
                      </a:endParaRP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92" name="Table 91">
            <a:extLst>
              <a:ext uri="{FF2B5EF4-FFF2-40B4-BE49-F238E27FC236}">
                <a16:creationId xmlns:a16="http://schemas.microsoft.com/office/drawing/2014/main" id="{6A044830-219C-477A-8E5A-4ABFB87E2C2D}"/>
              </a:ext>
            </a:extLst>
          </p:cNvPr>
          <p:cNvGraphicFramePr>
            <a:graphicFrameLocks noGrp="1"/>
          </p:cNvGraphicFramePr>
          <p:nvPr/>
        </p:nvGraphicFramePr>
        <p:xfrm>
          <a:off x="7569813" y="5375722"/>
          <a:ext cx="1927106" cy="483240"/>
        </p:xfrm>
        <a:graphic>
          <a:graphicData uri="http://schemas.openxmlformats.org/drawingml/2006/table">
            <a:tbl>
              <a:tblPr firstRow="1" bandRow="1">
                <a:tableStyleId>{1FECB4D8-DB02-4DC6-A0A2-4F2EBAE1DC90}</a:tableStyleId>
              </a:tblPr>
              <a:tblGrid>
                <a:gridCol w="1927106">
                  <a:extLst>
                    <a:ext uri="{9D8B030D-6E8A-4147-A177-3AD203B41FA5}">
                      <a16:colId xmlns:a16="http://schemas.microsoft.com/office/drawing/2014/main" val="3873850230"/>
                    </a:ext>
                  </a:extLst>
                </a:gridCol>
              </a:tblGrid>
              <a:tr h="483240">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Items, Merchandise Hierarchy, inventory position</a:t>
                      </a:r>
                    </a:p>
                  </a:txBody>
                  <a:tcPr marL="91409" marR="91409"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sp>
        <p:nvSpPr>
          <p:cNvPr id="93" name="Oval 92">
            <a:extLst>
              <a:ext uri="{FF2B5EF4-FFF2-40B4-BE49-F238E27FC236}">
                <a16:creationId xmlns:a16="http://schemas.microsoft.com/office/drawing/2014/main" id="{7697B334-0A6D-44A3-BF25-72E77E40937F}"/>
              </a:ext>
            </a:extLst>
          </p:cNvPr>
          <p:cNvSpPr/>
          <p:nvPr/>
        </p:nvSpPr>
        <p:spPr>
          <a:xfrm>
            <a:off x="8873939" y="2362845"/>
            <a:ext cx="228600" cy="22860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18288" rIns="45720" bIns="18288"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4</a:t>
            </a:r>
          </a:p>
        </p:txBody>
      </p:sp>
      <p:cxnSp>
        <p:nvCxnSpPr>
          <p:cNvPr id="94" name="Elbow Connector 61">
            <a:extLst>
              <a:ext uri="{FF2B5EF4-FFF2-40B4-BE49-F238E27FC236}">
                <a16:creationId xmlns:a16="http://schemas.microsoft.com/office/drawing/2014/main" id="{7A4DFCC8-9311-4A3C-B283-62AFDDEAFFBA}"/>
              </a:ext>
            </a:extLst>
          </p:cNvPr>
          <p:cNvCxnSpPr>
            <a:cxnSpLocks/>
          </p:cNvCxnSpPr>
          <p:nvPr/>
        </p:nvCxnSpPr>
        <p:spPr>
          <a:xfrm flipH="1">
            <a:off x="11252460" y="2313814"/>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95" name="Table 94">
            <a:extLst>
              <a:ext uri="{FF2B5EF4-FFF2-40B4-BE49-F238E27FC236}">
                <a16:creationId xmlns:a16="http://schemas.microsoft.com/office/drawing/2014/main" id="{EE5C9FD2-A65C-48D4-A9F4-422CC4C0DB41}"/>
              </a:ext>
            </a:extLst>
          </p:cNvPr>
          <p:cNvGraphicFramePr>
            <a:graphicFrameLocks noGrp="1"/>
          </p:cNvGraphicFramePr>
          <p:nvPr/>
        </p:nvGraphicFramePr>
        <p:xfrm>
          <a:off x="9904464" y="4543205"/>
          <a:ext cx="1945796" cy="447472"/>
        </p:xfrm>
        <a:graphic>
          <a:graphicData uri="http://schemas.openxmlformats.org/drawingml/2006/table">
            <a:tbl>
              <a:tblPr firstRow="1" bandRow="1">
                <a:tableStyleId>{1FECB4D8-DB02-4DC6-A0A2-4F2EBAE1DC90}</a:tableStyleId>
              </a:tblPr>
              <a:tblGrid>
                <a:gridCol w="1945796">
                  <a:extLst>
                    <a:ext uri="{9D8B030D-6E8A-4147-A177-3AD203B41FA5}">
                      <a16:colId xmlns:a16="http://schemas.microsoft.com/office/drawing/2014/main" val="3873850230"/>
                    </a:ext>
                  </a:extLst>
                </a:gridCol>
              </a:tblGrid>
              <a:tr h="447472">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kern="1200">
                          <a:solidFill>
                            <a:schemeClr val="tx2"/>
                          </a:solidFill>
                          <a:latin typeface="Arial"/>
                          <a:ea typeface="+mn-ea"/>
                          <a:cs typeface="+mn-cs"/>
                        </a:rPr>
                        <a:t>Standard format agreed between source and target applications</a:t>
                      </a:r>
                      <a:endParaRPr lang="en-US" sz="900" b="0">
                        <a:solidFill>
                          <a:schemeClr val="tx2"/>
                        </a:solidFill>
                        <a:latin typeface="Arial"/>
                      </a:endParaRPr>
                    </a:p>
                  </a:txBody>
                  <a:tcPr marL="91409" marR="91409" marT="45759" marB="4575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96" name="Table 95">
            <a:extLst>
              <a:ext uri="{FF2B5EF4-FFF2-40B4-BE49-F238E27FC236}">
                <a16:creationId xmlns:a16="http://schemas.microsoft.com/office/drawing/2014/main" id="{0291748B-FF2B-443F-8797-8BF770AE5A2A}"/>
              </a:ext>
            </a:extLst>
          </p:cNvPr>
          <p:cNvGraphicFramePr>
            <a:graphicFrameLocks noGrp="1"/>
          </p:cNvGraphicFramePr>
          <p:nvPr/>
        </p:nvGraphicFramePr>
        <p:xfrm>
          <a:off x="9896208" y="2454063"/>
          <a:ext cx="1954052" cy="1811676"/>
        </p:xfrm>
        <a:graphic>
          <a:graphicData uri="http://schemas.openxmlformats.org/drawingml/2006/table">
            <a:tbl>
              <a:tblPr firstRow="1" bandRow="1">
                <a:tableStyleId>{1FECB4D8-DB02-4DC6-A0A2-4F2EBAE1DC90}</a:tableStyleId>
              </a:tblPr>
              <a:tblGrid>
                <a:gridCol w="1954052">
                  <a:extLst>
                    <a:ext uri="{9D8B030D-6E8A-4147-A177-3AD203B41FA5}">
                      <a16:colId xmlns:a16="http://schemas.microsoft.com/office/drawing/2014/main" val="3873850230"/>
                    </a:ext>
                  </a:extLst>
                </a:gridCol>
              </a:tblGrid>
              <a:tr h="417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bg1"/>
                          </a:solidFill>
                        </a:rPr>
                        <a:t>DAS/Retail Data Store</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394340">
                <a:tc>
                  <a:txBody>
                    <a:bodyPr/>
                    <a:lstStyle/>
                    <a:p>
                      <a:pPr marL="117475" marR="0" lvl="0" indent="-117475"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1200">
                          <a:solidFill>
                            <a:schemeClr val="tx2"/>
                          </a:solidFill>
                          <a:latin typeface="Arial"/>
                          <a:ea typeface="+mn-ea"/>
                          <a:cs typeface="+mn-cs"/>
                        </a:rPr>
                        <a:t>Oracle Golden Gate is used to perform real time replication of data from Oracle Retail Cloud Services to RDS.</a:t>
                      </a:r>
                    </a:p>
                    <a:p>
                      <a:pPr marL="117475" marR="0" lvl="0" indent="-117475"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1200">
                          <a:solidFill>
                            <a:schemeClr val="tx2"/>
                          </a:solidFill>
                          <a:latin typeface="Arial"/>
                          <a:ea typeface="+mn-ea"/>
                          <a:cs typeface="+mn-cs"/>
                        </a:rPr>
                        <a:t>ORDS allows to create REST query services which can be invoked by custom applications for data extraction</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97" name="Table 96">
            <a:extLst>
              <a:ext uri="{FF2B5EF4-FFF2-40B4-BE49-F238E27FC236}">
                <a16:creationId xmlns:a16="http://schemas.microsoft.com/office/drawing/2014/main" id="{FE02B970-46D1-4F74-840F-E2D61DC7BBF3}"/>
              </a:ext>
            </a:extLst>
          </p:cNvPr>
          <p:cNvGraphicFramePr>
            <a:graphicFrameLocks noGrp="1"/>
          </p:cNvGraphicFramePr>
          <p:nvPr/>
        </p:nvGraphicFramePr>
        <p:xfrm>
          <a:off x="9923154" y="5379265"/>
          <a:ext cx="1927106" cy="483240"/>
        </p:xfrm>
        <a:graphic>
          <a:graphicData uri="http://schemas.openxmlformats.org/drawingml/2006/table">
            <a:tbl>
              <a:tblPr firstRow="1" bandRow="1">
                <a:tableStyleId>{1FECB4D8-DB02-4DC6-A0A2-4F2EBAE1DC90}</a:tableStyleId>
              </a:tblPr>
              <a:tblGrid>
                <a:gridCol w="1927106">
                  <a:extLst>
                    <a:ext uri="{9D8B030D-6E8A-4147-A177-3AD203B41FA5}">
                      <a16:colId xmlns:a16="http://schemas.microsoft.com/office/drawing/2014/main" val="3873850230"/>
                    </a:ext>
                  </a:extLst>
                </a:gridCol>
              </a:tblGrid>
              <a:tr h="483240">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Additional data where no base API exists</a:t>
                      </a:r>
                    </a:p>
                  </a:txBody>
                  <a:tcPr marL="91409" marR="91409"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sp>
        <p:nvSpPr>
          <p:cNvPr id="98" name="Oval 97">
            <a:extLst>
              <a:ext uri="{FF2B5EF4-FFF2-40B4-BE49-F238E27FC236}">
                <a16:creationId xmlns:a16="http://schemas.microsoft.com/office/drawing/2014/main" id="{A0E29A19-889C-4E9E-A9AD-847650901504}"/>
              </a:ext>
            </a:extLst>
          </p:cNvPr>
          <p:cNvSpPr/>
          <p:nvPr/>
        </p:nvSpPr>
        <p:spPr>
          <a:xfrm>
            <a:off x="11227280" y="2366388"/>
            <a:ext cx="228600" cy="22860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18288" rIns="45720" bIns="18288"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5</a:t>
            </a:r>
          </a:p>
        </p:txBody>
      </p:sp>
      <p:cxnSp>
        <p:nvCxnSpPr>
          <p:cNvPr id="104" name="Connector: Elbow 103">
            <a:extLst>
              <a:ext uri="{FF2B5EF4-FFF2-40B4-BE49-F238E27FC236}">
                <a16:creationId xmlns:a16="http://schemas.microsoft.com/office/drawing/2014/main" id="{E5BFFDA8-1E6F-48EE-9EF8-3EACE1663133}"/>
              </a:ext>
            </a:extLst>
          </p:cNvPr>
          <p:cNvCxnSpPr>
            <a:cxnSpLocks/>
            <a:stCxn id="41" idx="2"/>
            <a:endCxn id="76" idx="0"/>
          </p:cNvCxnSpPr>
          <p:nvPr/>
        </p:nvCxnSpPr>
        <p:spPr>
          <a:xfrm rot="16200000" flipH="1">
            <a:off x="2101178" y="944063"/>
            <a:ext cx="795448" cy="2267092"/>
          </a:xfrm>
          <a:prstGeom prst="bentConnector3">
            <a:avLst>
              <a:gd name="adj1" fmla="val 29777"/>
            </a:avLst>
          </a:prstGeom>
          <a:ln>
            <a:tailEnd type="triangle"/>
          </a:ln>
        </p:spPr>
        <p:style>
          <a:lnRef idx="1">
            <a:schemeClr val="dk1"/>
          </a:lnRef>
          <a:fillRef idx="0">
            <a:schemeClr val="dk1"/>
          </a:fillRef>
          <a:effectRef idx="0">
            <a:schemeClr val="dk1"/>
          </a:effectRef>
          <a:fontRef idx="minor">
            <a:schemeClr val="tx1"/>
          </a:fontRef>
        </p:style>
      </p:cxnSp>
      <p:cxnSp>
        <p:nvCxnSpPr>
          <p:cNvPr id="107" name="Connector: Elbow 106">
            <a:extLst>
              <a:ext uri="{FF2B5EF4-FFF2-40B4-BE49-F238E27FC236}">
                <a16:creationId xmlns:a16="http://schemas.microsoft.com/office/drawing/2014/main" id="{6200C40D-1DAB-4744-96FA-47D6FD36CDE4}"/>
              </a:ext>
            </a:extLst>
          </p:cNvPr>
          <p:cNvCxnSpPr>
            <a:cxnSpLocks/>
          </p:cNvCxnSpPr>
          <p:nvPr/>
        </p:nvCxnSpPr>
        <p:spPr>
          <a:xfrm rot="16200000" flipH="1">
            <a:off x="4978322" y="1418240"/>
            <a:ext cx="788357" cy="1311648"/>
          </a:xfrm>
          <a:prstGeom prst="bentConnector3">
            <a:avLst>
              <a:gd name="adj1" fmla="val 84367"/>
            </a:avLst>
          </a:prstGeom>
          <a:ln>
            <a:tailEnd type="triangle"/>
          </a:ln>
        </p:spPr>
        <p:style>
          <a:lnRef idx="1">
            <a:schemeClr val="dk1"/>
          </a:lnRef>
          <a:fillRef idx="0">
            <a:schemeClr val="dk1"/>
          </a:fillRef>
          <a:effectRef idx="0">
            <a:schemeClr val="dk1"/>
          </a:effectRef>
          <a:fontRef idx="minor">
            <a:schemeClr val="tx1"/>
          </a:fontRef>
        </p:style>
      </p:cxnSp>
      <p:cxnSp>
        <p:nvCxnSpPr>
          <p:cNvPr id="117" name="Connector: Elbow 116">
            <a:extLst>
              <a:ext uri="{FF2B5EF4-FFF2-40B4-BE49-F238E27FC236}">
                <a16:creationId xmlns:a16="http://schemas.microsoft.com/office/drawing/2014/main" id="{F6E5DC04-6881-4946-BB02-6DD95D35DDF5}"/>
              </a:ext>
            </a:extLst>
          </p:cNvPr>
          <p:cNvCxnSpPr>
            <a:cxnSpLocks/>
            <a:stCxn id="53" idx="1"/>
          </p:cNvCxnSpPr>
          <p:nvPr/>
        </p:nvCxnSpPr>
        <p:spPr>
          <a:xfrm rot="10800000" flipV="1">
            <a:off x="6028324" y="1367146"/>
            <a:ext cx="194922" cy="110109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21" name="Connector: Elbow 120">
            <a:extLst>
              <a:ext uri="{FF2B5EF4-FFF2-40B4-BE49-F238E27FC236}">
                <a16:creationId xmlns:a16="http://schemas.microsoft.com/office/drawing/2014/main" id="{0351E31A-6037-4622-AB19-61881DEFFD0F}"/>
              </a:ext>
            </a:extLst>
          </p:cNvPr>
          <p:cNvCxnSpPr>
            <a:cxnSpLocks/>
            <a:stCxn id="43" idx="2"/>
            <a:endCxn id="96" idx="0"/>
          </p:cNvCxnSpPr>
          <p:nvPr/>
        </p:nvCxnSpPr>
        <p:spPr>
          <a:xfrm rot="5400000">
            <a:off x="10532665" y="2020346"/>
            <a:ext cx="774286" cy="9314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26" name="Connector: Elbow 125">
            <a:extLst>
              <a:ext uri="{FF2B5EF4-FFF2-40B4-BE49-F238E27FC236}">
                <a16:creationId xmlns:a16="http://schemas.microsoft.com/office/drawing/2014/main" id="{C7D52583-D033-4CF5-944E-4BBE6097205E}"/>
              </a:ext>
            </a:extLst>
          </p:cNvPr>
          <p:cNvCxnSpPr>
            <a:cxnSpLocks/>
            <a:stCxn id="53" idx="2"/>
            <a:endCxn id="91" idx="0"/>
          </p:cNvCxnSpPr>
          <p:nvPr/>
        </p:nvCxnSpPr>
        <p:spPr>
          <a:xfrm rot="16200000" flipH="1">
            <a:off x="7397812" y="1328438"/>
            <a:ext cx="770635" cy="1473528"/>
          </a:xfrm>
          <a:prstGeom prst="bentConnector3">
            <a:avLst>
              <a:gd name="adj1" fmla="val 35168"/>
            </a:avLst>
          </a:prstGeom>
          <a:ln>
            <a:tailEnd type="triangle"/>
          </a:ln>
        </p:spPr>
        <p:style>
          <a:lnRef idx="1">
            <a:schemeClr val="dk1"/>
          </a:lnRef>
          <a:fillRef idx="0">
            <a:schemeClr val="dk1"/>
          </a:fillRef>
          <a:effectRef idx="0">
            <a:schemeClr val="dk1"/>
          </a:effectRef>
          <a:fontRef idx="minor">
            <a:schemeClr val="tx1"/>
          </a:fontRef>
        </p:style>
      </p:cxnSp>
      <p:pic>
        <p:nvPicPr>
          <p:cNvPr id="131" name="Picture 130" descr="A picture containing text&#10;&#10;Description automatically generated">
            <a:extLst>
              <a:ext uri="{FF2B5EF4-FFF2-40B4-BE49-F238E27FC236}">
                <a16:creationId xmlns:a16="http://schemas.microsoft.com/office/drawing/2014/main" id="{47DDA282-20BF-4057-9F64-9251A15AA72A}"/>
              </a:ext>
            </a:extLst>
          </p:cNvPr>
          <p:cNvPicPr>
            <a:picLocks noChangeAspect="1"/>
          </p:cNvPicPr>
          <p:nvPr/>
        </p:nvPicPr>
        <p:blipFill rotWithShape="1">
          <a:blip r:embed="rId3"/>
          <a:srcRect t="85762" r="32706" b="-593"/>
          <a:stretch/>
        </p:blipFill>
        <p:spPr>
          <a:xfrm>
            <a:off x="0" y="6159449"/>
            <a:ext cx="6372225" cy="789742"/>
          </a:xfrm>
          <a:prstGeom prst="rect">
            <a:avLst/>
          </a:prstGeom>
        </p:spPr>
      </p:pic>
      <p:pic>
        <p:nvPicPr>
          <p:cNvPr id="132" name="Picture 131" descr="A picture containing text&#10;&#10;Description automatically generated">
            <a:extLst>
              <a:ext uri="{FF2B5EF4-FFF2-40B4-BE49-F238E27FC236}">
                <a16:creationId xmlns:a16="http://schemas.microsoft.com/office/drawing/2014/main" id="{636D4D7B-34D9-46D3-A67E-EDC6F15C516E}"/>
              </a:ext>
            </a:extLst>
          </p:cNvPr>
          <p:cNvPicPr>
            <a:picLocks noChangeAspect="1"/>
          </p:cNvPicPr>
          <p:nvPr/>
        </p:nvPicPr>
        <p:blipFill rotWithShape="1">
          <a:blip r:embed="rId3"/>
          <a:srcRect t="86960" r="37534" b="-593"/>
          <a:stretch/>
        </p:blipFill>
        <p:spPr>
          <a:xfrm flipH="1">
            <a:off x="7072311" y="6269474"/>
            <a:ext cx="5119687" cy="628346"/>
          </a:xfrm>
          <a:prstGeom prst="rect">
            <a:avLst/>
          </a:prstGeom>
        </p:spPr>
      </p:pic>
    </p:spTree>
    <p:extLst>
      <p:ext uri="{BB962C8B-B14F-4D97-AF65-F5344CB8AC3E}">
        <p14:creationId xmlns:p14="http://schemas.microsoft.com/office/powerpoint/2010/main" val="3283522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2BE450-8F28-499F-B336-5C7D21EF8870}"/>
              </a:ext>
            </a:extLst>
          </p:cNvPr>
          <p:cNvSpPr txBox="1"/>
          <p:nvPr/>
        </p:nvSpPr>
        <p:spPr>
          <a:xfrm>
            <a:off x="621605" y="1542066"/>
            <a:ext cx="4792298" cy="946413"/>
          </a:xfrm>
          <a:prstGeom prst="rect">
            <a:avLst/>
          </a:prstGeom>
          <a:noFill/>
        </p:spPr>
        <p:txBody>
          <a:bodyPr wrap="square" rtlCol="0">
            <a:spAutoFit/>
          </a:bodyPr>
          <a:lstStyle/>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Oracle Process Orchestration Management (POM) Application</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Oracle Retail Merchandising Application</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1200">
                <a:solidFill>
                  <a:prstClr val="black"/>
                </a:solidFill>
                <a:latin typeface="Calibri" panose="020F0502020204030204"/>
                <a:ea typeface="Verdana" panose="020B0604030504040204" pitchFamily="34" charset="0"/>
                <a:cs typeface="Arial" panose="020B0604020202020204" pitchFamily="34" charset="0"/>
              </a:rPr>
              <a:t>Oracle Retail File Transfer Services (Object Storage)</a:t>
            </a:r>
            <a:endPar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endParaRPr>
          </a:p>
          <a:p>
            <a:pPr marL="0" marR="0" lvl="1" algn="l" defTabSz="914400" rtl="0" eaLnBrk="1" fontAlgn="auto" latinLnBrk="0" hangingPunct="1">
              <a:lnSpc>
                <a:spcPct val="100000"/>
              </a:lnSpc>
              <a:spcBef>
                <a:spcPts val="300"/>
              </a:spcBef>
              <a:spcAft>
                <a:spcPts val="0"/>
              </a:spcAft>
              <a:buClrTx/>
              <a:buSzPct val="100000"/>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endParaRPr>
          </a:p>
        </p:txBody>
      </p:sp>
      <p:sp>
        <p:nvSpPr>
          <p:cNvPr id="3" name="TextBox 2">
            <a:extLst>
              <a:ext uri="{FF2B5EF4-FFF2-40B4-BE49-F238E27FC236}">
                <a16:creationId xmlns:a16="http://schemas.microsoft.com/office/drawing/2014/main" id="{FCF04189-E03D-4480-A4BF-10B1B5DB9FA9}"/>
              </a:ext>
            </a:extLst>
          </p:cNvPr>
          <p:cNvSpPr txBox="1"/>
          <p:nvPr/>
        </p:nvSpPr>
        <p:spPr>
          <a:xfrm>
            <a:off x="600137" y="2556871"/>
            <a:ext cx="4798216" cy="101566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The </a:t>
            </a:r>
            <a:r>
              <a:rPr lang="en-US" sz="1200">
                <a:solidFill>
                  <a:prstClr val="black"/>
                </a:solidFill>
                <a:latin typeface="Calibri" panose="020F0502020204030204"/>
                <a:cs typeface="Arial" panose="020B0604020202020204" pitchFamily="34" charset="0"/>
              </a:rPr>
              <a:t>Oracle Merchandising Batch Jobs can be utilized for </a:t>
            </a:r>
            <a:r>
              <a:rPr lang="en-US" sz="1200" b="0" i="0">
                <a:solidFill>
                  <a:srgbClr val="1A1816"/>
                </a:solidFill>
                <a:effectLst/>
                <a:latin typeface="Oracle Sans"/>
              </a:rPr>
              <a:t>integrations that are scheduled either to be run once per day or periodically throughout the day to integrate data from external applications to Merchandising application. These jobs can be invoked through POM Web Service</a:t>
            </a:r>
            <a:r>
              <a:rPr lang="en-US" sz="1200">
                <a:solidFill>
                  <a:srgbClr val="1A1816"/>
                </a:solidFill>
                <a:latin typeface="Oracle Sans"/>
              </a:rPr>
              <a:t>s as required from external scheduler as well.</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TextBox 3">
            <a:extLst>
              <a:ext uri="{FF2B5EF4-FFF2-40B4-BE49-F238E27FC236}">
                <a16:creationId xmlns:a16="http://schemas.microsoft.com/office/drawing/2014/main" id="{BF4D705C-9B48-4B4B-87DE-BC459130558D}"/>
              </a:ext>
            </a:extLst>
          </p:cNvPr>
          <p:cNvSpPr txBox="1"/>
          <p:nvPr/>
        </p:nvSpPr>
        <p:spPr>
          <a:xfrm>
            <a:off x="608918" y="4023965"/>
            <a:ext cx="4891130" cy="1461939"/>
          </a:xfrm>
          <a:prstGeom prst="rect">
            <a:avLst/>
          </a:prstGeom>
          <a:noFill/>
        </p:spPr>
        <p:txBody>
          <a:bodyPr wrap="square" rtlCol="0">
            <a:spAutoFit/>
          </a:bodyPr>
          <a:lstStyle>
            <a:defPPr>
              <a:defRPr lang="en-US"/>
            </a:defPPr>
            <a:lvl1pPr>
              <a:defRPr sz="900"/>
            </a:lvl1pPr>
          </a:lstStyle>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Source system should upload the data extracts as per Oracle input file format in the FTP Object Storage.</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Once the POM Induction batch job is executed, file and data level validations are done.</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lang="en-US" sz="1200">
                <a:solidFill>
                  <a:prstClr val="black"/>
                </a:solidFill>
                <a:latin typeface="Calibri" panose="020F0502020204030204"/>
                <a:ea typeface="Verdana" panose="020B0604030504040204" pitchFamily="34" charset="0"/>
                <a:cs typeface="Arial" panose="020B0604020202020204" pitchFamily="34" charset="0"/>
              </a:rPr>
              <a:t>If the file is validated successfully then induction process loads the data into Merchandising base tables. </a:t>
            </a: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If the </a:t>
            </a:r>
            <a:r>
              <a:rPr lang="en-US" sz="1200">
                <a:solidFill>
                  <a:prstClr val="black"/>
                </a:solidFill>
                <a:latin typeface="Calibri" panose="020F0502020204030204"/>
                <a:ea typeface="Verdana" panose="020B0604030504040204" pitchFamily="34" charset="0"/>
                <a:cs typeface="Arial" panose="020B0604020202020204" pitchFamily="34" charset="0"/>
              </a:rPr>
              <a:t>file is invalid, then it is moved to Rejected folder in the Object Storage.</a:t>
            </a:r>
            <a:endPar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endParaRPr>
          </a:p>
        </p:txBody>
      </p:sp>
      <p:sp>
        <p:nvSpPr>
          <p:cNvPr id="5" name="TextBox 4">
            <a:extLst>
              <a:ext uri="{FF2B5EF4-FFF2-40B4-BE49-F238E27FC236}">
                <a16:creationId xmlns:a16="http://schemas.microsoft.com/office/drawing/2014/main" id="{BA19B3CF-B1AE-4C5F-9975-37BF394CA163}"/>
              </a:ext>
            </a:extLst>
          </p:cNvPr>
          <p:cNvSpPr txBox="1"/>
          <p:nvPr/>
        </p:nvSpPr>
        <p:spPr>
          <a:xfrm>
            <a:off x="6002989" y="4097708"/>
            <a:ext cx="5132337" cy="1169551"/>
          </a:xfrm>
          <a:prstGeom prst="rect">
            <a:avLst/>
          </a:prstGeom>
          <a:noFill/>
        </p:spPr>
        <p:txBody>
          <a:bodyPr wrap="square" rtlCol="0">
            <a:spAutoFit/>
          </a:bodyPr>
          <a:lstStyle/>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Items, Cost Changes (Item Induction)</a:t>
            </a:r>
          </a:p>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Price Changes, Clearances</a:t>
            </a:r>
          </a:p>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200" i="1">
                <a:solidFill>
                  <a:srgbClr val="44546A"/>
                </a:solidFill>
                <a:latin typeface="Calibri" panose="020F0502020204030204"/>
                <a:cs typeface="Arial" panose="020B0604020202020204" pitchFamily="34" charset="0"/>
              </a:rPr>
              <a:t>Stock Count Results</a:t>
            </a:r>
          </a:p>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200" i="1">
                <a:solidFill>
                  <a:srgbClr val="44546A"/>
                </a:solidFill>
                <a:highlight>
                  <a:srgbClr val="FFFF00"/>
                </a:highlight>
                <a:latin typeface="Calibri" panose="020F0502020204030204"/>
                <a:cs typeface="Arial" panose="020B0604020202020204" pitchFamily="34" charset="0"/>
              </a:rPr>
              <a:t>EDI</a:t>
            </a:r>
          </a:p>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Data Warehouse Exports</a:t>
            </a:r>
          </a:p>
        </p:txBody>
      </p:sp>
      <p:sp>
        <p:nvSpPr>
          <p:cNvPr id="6" name="Text Box 4">
            <a:extLst>
              <a:ext uri="{FF2B5EF4-FFF2-40B4-BE49-F238E27FC236}">
                <a16:creationId xmlns:a16="http://schemas.microsoft.com/office/drawing/2014/main" id="{0CCE6B58-7127-45EA-B17B-9336FB699D8C}"/>
              </a:ext>
            </a:extLst>
          </p:cNvPr>
          <p:cNvSpPr txBox="1">
            <a:spLocks noChangeArrowheads="1"/>
          </p:cNvSpPr>
          <p:nvPr/>
        </p:nvSpPr>
        <p:spPr bwMode="gray">
          <a:xfrm>
            <a:off x="576012" y="1230527"/>
            <a:ext cx="4844995" cy="228434"/>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Architectural Components</a:t>
            </a:r>
          </a:p>
        </p:txBody>
      </p:sp>
      <p:sp>
        <p:nvSpPr>
          <p:cNvPr id="7" name="Oval 6">
            <a:extLst>
              <a:ext uri="{FF2B5EF4-FFF2-40B4-BE49-F238E27FC236}">
                <a16:creationId xmlns:a16="http://schemas.microsoft.com/office/drawing/2014/main" id="{1548EE84-D314-4036-8DFF-B4061C244BD5}"/>
              </a:ext>
            </a:extLst>
          </p:cNvPr>
          <p:cNvSpPr/>
          <p:nvPr/>
        </p:nvSpPr>
        <p:spPr>
          <a:xfrm>
            <a:off x="347413" y="1184807"/>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1</a:t>
            </a:r>
          </a:p>
        </p:txBody>
      </p:sp>
      <p:sp>
        <p:nvSpPr>
          <p:cNvPr id="8" name="Text Box 4">
            <a:extLst>
              <a:ext uri="{FF2B5EF4-FFF2-40B4-BE49-F238E27FC236}">
                <a16:creationId xmlns:a16="http://schemas.microsoft.com/office/drawing/2014/main" id="{1B72C1C7-C6A8-4BE2-A0B1-9AEFF5B01BBF}"/>
              </a:ext>
            </a:extLst>
          </p:cNvPr>
          <p:cNvSpPr txBox="1">
            <a:spLocks noChangeArrowheads="1"/>
          </p:cNvSpPr>
          <p:nvPr/>
        </p:nvSpPr>
        <p:spPr bwMode="gray">
          <a:xfrm>
            <a:off x="561581" y="2333921"/>
            <a:ext cx="4844995" cy="217053"/>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Overview</a:t>
            </a:r>
          </a:p>
        </p:txBody>
      </p:sp>
      <p:sp>
        <p:nvSpPr>
          <p:cNvPr id="9" name="Oval 8">
            <a:extLst>
              <a:ext uri="{FF2B5EF4-FFF2-40B4-BE49-F238E27FC236}">
                <a16:creationId xmlns:a16="http://schemas.microsoft.com/office/drawing/2014/main" id="{D51E34C3-2191-410E-BCD0-14B44DC8F980}"/>
              </a:ext>
            </a:extLst>
          </p:cNvPr>
          <p:cNvSpPr/>
          <p:nvPr/>
        </p:nvSpPr>
        <p:spPr>
          <a:xfrm>
            <a:off x="332982" y="2288201"/>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2</a:t>
            </a:r>
          </a:p>
        </p:txBody>
      </p:sp>
      <p:sp>
        <p:nvSpPr>
          <p:cNvPr id="10" name="Text Box 4">
            <a:extLst>
              <a:ext uri="{FF2B5EF4-FFF2-40B4-BE49-F238E27FC236}">
                <a16:creationId xmlns:a16="http://schemas.microsoft.com/office/drawing/2014/main" id="{2DB1F549-8F8B-4136-B9B5-44ED95F203FF}"/>
              </a:ext>
            </a:extLst>
          </p:cNvPr>
          <p:cNvSpPr txBox="1">
            <a:spLocks noChangeArrowheads="1"/>
          </p:cNvSpPr>
          <p:nvPr/>
        </p:nvSpPr>
        <p:spPr bwMode="gray">
          <a:xfrm>
            <a:off x="561581" y="3718856"/>
            <a:ext cx="4938467" cy="247650"/>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Steps</a:t>
            </a:r>
          </a:p>
        </p:txBody>
      </p:sp>
      <p:sp>
        <p:nvSpPr>
          <p:cNvPr id="11" name="Oval 10">
            <a:extLst>
              <a:ext uri="{FF2B5EF4-FFF2-40B4-BE49-F238E27FC236}">
                <a16:creationId xmlns:a16="http://schemas.microsoft.com/office/drawing/2014/main" id="{A9FEF40E-97EB-4908-BA5B-2CE5679AC3F3}"/>
              </a:ext>
            </a:extLst>
          </p:cNvPr>
          <p:cNvSpPr/>
          <p:nvPr/>
        </p:nvSpPr>
        <p:spPr>
          <a:xfrm>
            <a:off x="332982" y="3673136"/>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3</a:t>
            </a:r>
          </a:p>
        </p:txBody>
      </p:sp>
      <p:sp>
        <p:nvSpPr>
          <p:cNvPr id="12" name="Text Box 4">
            <a:extLst>
              <a:ext uri="{FF2B5EF4-FFF2-40B4-BE49-F238E27FC236}">
                <a16:creationId xmlns:a16="http://schemas.microsoft.com/office/drawing/2014/main" id="{AD43E447-F3FB-4F97-A967-4E92E51F8F54}"/>
              </a:ext>
            </a:extLst>
          </p:cNvPr>
          <p:cNvSpPr txBox="1">
            <a:spLocks noChangeArrowheads="1"/>
          </p:cNvSpPr>
          <p:nvPr/>
        </p:nvSpPr>
        <p:spPr bwMode="gray">
          <a:xfrm>
            <a:off x="6196859" y="3730141"/>
            <a:ext cx="4938467" cy="247650"/>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Typical Use-Cases</a:t>
            </a:r>
          </a:p>
        </p:txBody>
      </p:sp>
      <p:sp>
        <p:nvSpPr>
          <p:cNvPr id="13" name="Oval 12">
            <a:extLst>
              <a:ext uri="{FF2B5EF4-FFF2-40B4-BE49-F238E27FC236}">
                <a16:creationId xmlns:a16="http://schemas.microsoft.com/office/drawing/2014/main" id="{C6F16293-00A5-4FDA-835B-A039345EF736}"/>
              </a:ext>
            </a:extLst>
          </p:cNvPr>
          <p:cNvSpPr/>
          <p:nvPr/>
        </p:nvSpPr>
        <p:spPr>
          <a:xfrm>
            <a:off x="5973040" y="3690888"/>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4</a:t>
            </a:r>
          </a:p>
        </p:txBody>
      </p:sp>
      <p:sp>
        <p:nvSpPr>
          <p:cNvPr id="14" name="Oval 13">
            <a:extLst>
              <a:ext uri="{FF2B5EF4-FFF2-40B4-BE49-F238E27FC236}">
                <a16:creationId xmlns:a16="http://schemas.microsoft.com/office/drawing/2014/main" id="{CA4E8096-79F6-4E13-80FA-52FF50222350}"/>
              </a:ext>
            </a:extLst>
          </p:cNvPr>
          <p:cNvSpPr/>
          <p:nvPr/>
        </p:nvSpPr>
        <p:spPr>
          <a:xfrm>
            <a:off x="5895446" y="1984567"/>
            <a:ext cx="561305" cy="522744"/>
          </a:xfrm>
          <a:prstGeom prst="ellipse">
            <a:avLst/>
          </a:prstGeom>
          <a:solidFill>
            <a:sysClr val="window" lastClr="FFFFFF"/>
          </a:solidFill>
          <a:ln w="9525" cap="flat" cmpd="sng" algn="ctr">
            <a:solidFill>
              <a:srgbClr val="007CB0"/>
            </a:solidFill>
            <a:prstDash val="solid"/>
          </a:ln>
          <a:effectLst>
            <a:outerShdw blurRad="40000" dist="23000" dir="5400000" rotWithShape="0">
              <a:srgbClr val="000000">
                <a:alpha val="35000"/>
              </a:srgbClr>
            </a:outerShdw>
          </a:effectLst>
        </p:spPr>
        <p:txBody>
          <a:bodyPr rtlCol="0" anchor="ct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0" cap="none" spc="0" normalizeH="0" baseline="0" noProof="0">
              <a:ln>
                <a:noFill/>
              </a:ln>
              <a:solidFill>
                <a:srgbClr val="FFFFFF"/>
              </a:solidFill>
              <a:effectLst/>
              <a:uLnTx/>
              <a:uFillTx/>
              <a:latin typeface="Arial"/>
              <a:ea typeface="+mn-ea"/>
              <a:cs typeface="+mn-cs"/>
            </a:endParaRPr>
          </a:p>
        </p:txBody>
      </p:sp>
      <p:sp>
        <p:nvSpPr>
          <p:cNvPr id="15" name="TextBox 14">
            <a:extLst>
              <a:ext uri="{FF2B5EF4-FFF2-40B4-BE49-F238E27FC236}">
                <a16:creationId xmlns:a16="http://schemas.microsoft.com/office/drawing/2014/main" id="{C370F9A2-63D6-43E6-BC08-BB19273F9C83}"/>
              </a:ext>
            </a:extLst>
          </p:cNvPr>
          <p:cNvSpPr txBox="1"/>
          <p:nvPr/>
        </p:nvSpPr>
        <p:spPr>
          <a:xfrm>
            <a:off x="5792354" y="2510473"/>
            <a:ext cx="78663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Boundary Application</a:t>
            </a:r>
          </a:p>
        </p:txBody>
      </p:sp>
      <p:grpSp>
        <p:nvGrpSpPr>
          <p:cNvPr id="16" name="Group 15">
            <a:extLst>
              <a:ext uri="{FF2B5EF4-FFF2-40B4-BE49-F238E27FC236}">
                <a16:creationId xmlns:a16="http://schemas.microsoft.com/office/drawing/2014/main" id="{8CBCD295-5AAD-4E0A-91A8-E9C837B66B05}"/>
              </a:ext>
            </a:extLst>
          </p:cNvPr>
          <p:cNvGrpSpPr/>
          <p:nvPr/>
        </p:nvGrpSpPr>
        <p:grpSpPr>
          <a:xfrm>
            <a:off x="6024375" y="1244155"/>
            <a:ext cx="5652216" cy="1870219"/>
            <a:chOff x="5565978" y="690065"/>
            <a:chExt cx="5652216" cy="1870219"/>
          </a:xfrm>
        </p:grpSpPr>
        <p:sp>
          <p:nvSpPr>
            <p:cNvPr id="17" name="Rectangle 16">
              <a:extLst>
                <a:ext uri="{FF2B5EF4-FFF2-40B4-BE49-F238E27FC236}">
                  <a16:creationId xmlns:a16="http://schemas.microsoft.com/office/drawing/2014/main" id="{9DF47345-698E-4E42-9CA5-44BBE6698776}"/>
                </a:ext>
              </a:extLst>
            </p:cNvPr>
            <p:cNvSpPr/>
            <p:nvPr/>
          </p:nvSpPr>
          <p:spPr bwMode="auto">
            <a:xfrm>
              <a:off x="6630692" y="1017911"/>
              <a:ext cx="1656599" cy="1542373"/>
            </a:xfrm>
            <a:prstGeom prst="rect">
              <a:avLst/>
            </a:prstGeom>
            <a:solidFill>
              <a:sysClr val="window" lastClr="FFFFFF"/>
            </a:solidFill>
            <a:ln w="12700" cap="flat" cmpd="sng" algn="ctr">
              <a:solidFill>
                <a:sysClr val="windowText" lastClr="000000"/>
              </a:solidFill>
              <a:prstDash val="solid"/>
              <a:round/>
              <a:headEnd type="none" w="med" len="med"/>
              <a:tailEnd type="none" w="med" len="med"/>
            </a:ln>
            <a:effectLst/>
          </p:spPr>
          <p:txBody>
            <a:bodyPr lIns="50650" tIns="25326" rIns="50650" bIns="25326" rtlCol="0" anchor="ctr"/>
            <a:lstStyle/>
            <a:p>
              <a:pPr marL="0" marR="0" lvl="0" indent="0" algn="ctr" defTabSz="515151" rtl="0" eaLnBrk="1" fontAlgn="base" latinLnBrk="0" hangingPunct="1">
                <a:lnSpc>
                  <a:spcPct val="106000"/>
                </a:lnSpc>
                <a:spcBef>
                  <a:spcPct val="80000"/>
                </a:spcBef>
                <a:spcAft>
                  <a:spcPct val="0"/>
                </a:spcAft>
                <a:buClr>
                  <a:srgbClr val="000000"/>
                </a:buClr>
                <a:buSzPct val="80000"/>
                <a:buFontTx/>
                <a:buNone/>
                <a:tabLst/>
                <a:defRPr/>
              </a:pPr>
              <a:r>
                <a:rPr kumimoji="0" lang="en-US" sz="525" b="1" i="0" u="none" strike="noStrike" kern="0" cap="none" spc="0" normalizeH="0" baseline="0" noProof="0">
                  <a:ln>
                    <a:noFill/>
                  </a:ln>
                  <a:solidFill>
                    <a:srgbClr val="FFFFFF"/>
                  </a:solidFill>
                  <a:effectLst/>
                  <a:uLnTx/>
                  <a:uFillTx/>
                  <a:latin typeface="Calibri" panose="020F0502020204030204"/>
                  <a:ea typeface="+mn-ea"/>
                  <a:cs typeface="Arial" pitchFamily="34" charset="0"/>
                </a:rPr>
                <a:t>1</a:t>
              </a:r>
            </a:p>
          </p:txBody>
        </p:sp>
        <p:sp>
          <p:nvSpPr>
            <p:cNvPr id="18" name="Text Box 10">
              <a:extLst>
                <a:ext uri="{FF2B5EF4-FFF2-40B4-BE49-F238E27FC236}">
                  <a16:creationId xmlns:a16="http://schemas.microsoft.com/office/drawing/2014/main" id="{CD142891-25C2-4642-97B7-F71A71B47B72}"/>
                </a:ext>
              </a:extLst>
            </p:cNvPr>
            <p:cNvSpPr txBox="1">
              <a:spLocks noChangeArrowheads="1"/>
            </p:cNvSpPr>
            <p:nvPr/>
          </p:nvSpPr>
          <p:spPr bwMode="auto">
            <a:xfrm>
              <a:off x="8503833" y="706097"/>
              <a:ext cx="2714361" cy="256617"/>
            </a:xfrm>
            <a:prstGeom prst="rect">
              <a:avLst/>
            </a:prstGeom>
            <a:solidFill>
              <a:srgbClr val="007CB0"/>
            </a:solidFill>
            <a:ln w="12700" algn="ctr">
              <a:noFill/>
              <a:miter lim="800000"/>
              <a:headEnd/>
              <a:tailEnd type="none" w="sm" len="med"/>
            </a:ln>
          </p:spPr>
          <p:txBody>
            <a:bodyPr lIns="19902" tIns="19902" rIns="19902" bIns="19902" anchor="ctr" anchorCtr="1"/>
            <a:lstStyle/>
            <a:p>
              <a:pPr marL="0" marR="0" lvl="0" indent="0" algn="ctr" defTabSz="528601" rtl="0" eaLnBrk="1" fontAlgn="base" latinLnBrk="0" hangingPunct="1">
                <a:lnSpc>
                  <a:spcPct val="100000"/>
                </a:lnSpc>
                <a:spcBef>
                  <a:spcPct val="2000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Calibri" panose="020F0502020204030204"/>
                  <a:ea typeface="+mn-ea"/>
                  <a:cs typeface="Arial" pitchFamily="34" charset="0"/>
                </a:rPr>
                <a:t>Oracle  Retail Cloud Application</a:t>
              </a:r>
            </a:p>
          </p:txBody>
        </p:sp>
        <p:grpSp>
          <p:nvGrpSpPr>
            <p:cNvPr id="19" name="Group 18">
              <a:extLst>
                <a:ext uri="{FF2B5EF4-FFF2-40B4-BE49-F238E27FC236}">
                  <a16:creationId xmlns:a16="http://schemas.microsoft.com/office/drawing/2014/main" id="{802B05DD-0936-4D4C-9E45-22CC816A4918}"/>
                </a:ext>
              </a:extLst>
            </p:cNvPr>
            <p:cNvGrpSpPr/>
            <p:nvPr/>
          </p:nvGrpSpPr>
          <p:grpSpPr>
            <a:xfrm>
              <a:off x="6668493" y="995851"/>
              <a:ext cx="4549701" cy="1564433"/>
              <a:chOff x="1956185" y="3783889"/>
              <a:chExt cx="4549701" cy="1564433"/>
            </a:xfrm>
          </p:grpSpPr>
          <p:sp>
            <p:nvSpPr>
              <p:cNvPr id="26" name="Rectangle 25">
                <a:extLst>
                  <a:ext uri="{FF2B5EF4-FFF2-40B4-BE49-F238E27FC236}">
                    <a16:creationId xmlns:a16="http://schemas.microsoft.com/office/drawing/2014/main" id="{8D44E61D-222A-42E1-B5CB-E2A11ADEBA35}"/>
                  </a:ext>
                </a:extLst>
              </p:cNvPr>
              <p:cNvSpPr/>
              <p:nvPr/>
            </p:nvSpPr>
            <p:spPr bwMode="auto">
              <a:xfrm>
                <a:off x="3791525" y="3783889"/>
                <a:ext cx="2714361" cy="1564433"/>
              </a:xfrm>
              <a:prstGeom prst="rect">
                <a:avLst/>
              </a:prstGeom>
              <a:solidFill>
                <a:sysClr val="window" lastClr="FFFFFF"/>
              </a:solidFill>
              <a:ln w="12700" cap="flat" cmpd="sng" algn="ctr">
                <a:solidFill>
                  <a:sysClr val="windowText" lastClr="000000"/>
                </a:solidFill>
                <a:prstDash val="solid"/>
                <a:round/>
                <a:headEnd type="none" w="med" len="med"/>
                <a:tailEnd type="none" w="med" len="med"/>
              </a:ln>
              <a:effectLst/>
            </p:spPr>
            <p:txBody>
              <a:bodyPr lIns="50650" tIns="25326" rIns="50650" bIns="25326" rtlCol="0" anchor="ctr"/>
              <a:lstStyle/>
              <a:p>
                <a:pPr marL="0" marR="0" lvl="0" indent="0" algn="ctr" defTabSz="515151" rtl="0" eaLnBrk="1" fontAlgn="base" latinLnBrk="0" hangingPunct="1">
                  <a:lnSpc>
                    <a:spcPct val="106000"/>
                  </a:lnSpc>
                  <a:spcBef>
                    <a:spcPct val="80000"/>
                  </a:spcBef>
                  <a:spcAft>
                    <a:spcPct val="0"/>
                  </a:spcAft>
                  <a:buClr>
                    <a:srgbClr val="000000"/>
                  </a:buClr>
                  <a:buSzPct val="80000"/>
                  <a:buFontTx/>
                  <a:buNone/>
                  <a:tabLst/>
                  <a:defRPr/>
                </a:pPr>
                <a:r>
                  <a:rPr kumimoji="0" lang="en-US" sz="525" b="1" i="0" u="none" strike="noStrike" kern="0" cap="none" spc="0" normalizeH="0" baseline="0" noProof="0">
                    <a:ln>
                      <a:noFill/>
                    </a:ln>
                    <a:solidFill>
                      <a:srgbClr val="FFFFFF"/>
                    </a:solidFill>
                    <a:effectLst/>
                    <a:uLnTx/>
                    <a:uFillTx/>
                    <a:latin typeface="Calibri" panose="020F0502020204030204"/>
                    <a:ea typeface="+mn-ea"/>
                    <a:cs typeface="Arial" pitchFamily="34" charset="0"/>
                  </a:rPr>
                  <a:t>1</a:t>
                </a:r>
              </a:p>
            </p:txBody>
          </p:sp>
          <p:grpSp>
            <p:nvGrpSpPr>
              <p:cNvPr id="27" name="Media_Technology_Border_24">
                <a:extLst>
                  <a:ext uri="{FF2B5EF4-FFF2-40B4-BE49-F238E27FC236}">
                    <a16:creationId xmlns:a16="http://schemas.microsoft.com/office/drawing/2014/main" id="{1E8180DB-5C95-4D2A-B153-7D9480662B79}"/>
                  </a:ext>
                </a:extLst>
              </p:cNvPr>
              <p:cNvGrpSpPr>
                <a:grpSpLocks noChangeAspect="1"/>
              </p:cNvGrpSpPr>
              <p:nvPr/>
            </p:nvGrpSpPr>
            <p:grpSpPr bwMode="auto">
              <a:xfrm>
                <a:off x="3078820" y="4282080"/>
                <a:ext cx="486559" cy="486559"/>
                <a:chOff x="1100" y="2719"/>
                <a:chExt cx="334" cy="334"/>
              </a:xfrm>
              <a:solidFill>
                <a:schemeClr val="accent2"/>
              </a:solidFill>
            </p:grpSpPr>
            <p:sp>
              <p:nvSpPr>
                <p:cNvPr id="43" name="Freeform 778">
                  <a:extLst>
                    <a:ext uri="{FF2B5EF4-FFF2-40B4-BE49-F238E27FC236}">
                      <a16:creationId xmlns:a16="http://schemas.microsoft.com/office/drawing/2014/main" id="{AB7FC89E-BE4C-40AB-9AA9-AEF3E6637228}"/>
                    </a:ext>
                  </a:extLst>
                </p:cNvPr>
                <p:cNvSpPr>
                  <a:spLocks noEditPoints="1"/>
                </p:cNvSpPr>
                <p:nvPr/>
              </p:nvSpPr>
              <p:spPr bwMode="auto">
                <a:xfrm>
                  <a:off x="1100" y="2719"/>
                  <a:ext cx="334" cy="334"/>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44" name="Freeform 779">
                  <a:extLst>
                    <a:ext uri="{FF2B5EF4-FFF2-40B4-BE49-F238E27FC236}">
                      <a16:creationId xmlns:a16="http://schemas.microsoft.com/office/drawing/2014/main" id="{83C58305-091F-47FD-AC57-3B650E7A3A6B}"/>
                    </a:ext>
                  </a:extLst>
                </p:cNvPr>
                <p:cNvSpPr>
                  <a:spLocks noEditPoints="1"/>
                </p:cNvSpPr>
                <p:nvPr/>
              </p:nvSpPr>
              <p:spPr bwMode="auto">
                <a:xfrm>
                  <a:off x="1164" y="2804"/>
                  <a:ext cx="212" cy="170"/>
                </a:xfrm>
                <a:custGeom>
                  <a:avLst/>
                  <a:gdLst>
                    <a:gd name="T0" fmla="*/ 199 w 320"/>
                    <a:gd name="T1" fmla="*/ 135 h 256"/>
                    <a:gd name="T2" fmla="*/ 192 w 320"/>
                    <a:gd name="T3" fmla="*/ 138 h 256"/>
                    <a:gd name="T4" fmla="*/ 184 w 320"/>
                    <a:gd name="T5" fmla="*/ 135 h 256"/>
                    <a:gd name="T6" fmla="*/ 170 w 320"/>
                    <a:gd name="T7" fmla="*/ 121 h 256"/>
                    <a:gd name="T8" fmla="*/ 170 w 320"/>
                    <a:gd name="T9" fmla="*/ 245 h 256"/>
                    <a:gd name="T10" fmla="*/ 160 w 320"/>
                    <a:gd name="T11" fmla="*/ 256 h 256"/>
                    <a:gd name="T12" fmla="*/ 149 w 320"/>
                    <a:gd name="T13" fmla="*/ 245 h 256"/>
                    <a:gd name="T14" fmla="*/ 149 w 320"/>
                    <a:gd name="T15" fmla="*/ 121 h 256"/>
                    <a:gd name="T16" fmla="*/ 135 w 320"/>
                    <a:gd name="T17" fmla="*/ 135 h 256"/>
                    <a:gd name="T18" fmla="*/ 120 w 320"/>
                    <a:gd name="T19" fmla="*/ 135 h 256"/>
                    <a:gd name="T20" fmla="*/ 120 w 320"/>
                    <a:gd name="T21" fmla="*/ 120 h 256"/>
                    <a:gd name="T22" fmla="*/ 152 w 320"/>
                    <a:gd name="T23" fmla="*/ 88 h 256"/>
                    <a:gd name="T24" fmla="*/ 156 w 320"/>
                    <a:gd name="T25" fmla="*/ 86 h 256"/>
                    <a:gd name="T26" fmla="*/ 164 w 320"/>
                    <a:gd name="T27" fmla="*/ 86 h 256"/>
                    <a:gd name="T28" fmla="*/ 167 w 320"/>
                    <a:gd name="T29" fmla="*/ 88 h 256"/>
                    <a:gd name="T30" fmla="*/ 199 w 320"/>
                    <a:gd name="T31" fmla="*/ 120 h 256"/>
                    <a:gd name="T32" fmla="*/ 199 w 320"/>
                    <a:gd name="T33" fmla="*/ 135 h 256"/>
                    <a:gd name="T34" fmla="*/ 266 w 320"/>
                    <a:gd name="T35" fmla="*/ 85 h 256"/>
                    <a:gd name="T36" fmla="*/ 262 w 320"/>
                    <a:gd name="T37" fmla="*/ 85 h 256"/>
                    <a:gd name="T38" fmla="*/ 176 w 320"/>
                    <a:gd name="T39" fmla="*/ 0 h 256"/>
                    <a:gd name="T40" fmla="*/ 94 w 320"/>
                    <a:gd name="T41" fmla="*/ 55 h 256"/>
                    <a:gd name="T42" fmla="*/ 71 w 320"/>
                    <a:gd name="T43" fmla="*/ 50 h 256"/>
                    <a:gd name="T44" fmla="*/ 0 w 320"/>
                    <a:gd name="T45" fmla="*/ 121 h 256"/>
                    <a:gd name="T46" fmla="*/ 71 w 320"/>
                    <a:gd name="T47" fmla="*/ 192 h 256"/>
                    <a:gd name="T48" fmla="*/ 106 w 320"/>
                    <a:gd name="T49" fmla="*/ 192 h 256"/>
                    <a:gd name="T50" fmla="*/ 117 w 320"/>
                    <a:gd name="T51" fmla="*/ 181 h 256"/>
                    <a:gd name="T52" fmla="*/ 106 w 320"/>
                    <a:gd name="T53" fmla="*/ 170 h 256"/>
                    <a:gd name="T54" fmla="*/ 71 w 320"/>
                    <a:gd name="T55" fmla="*/ 170 h 256"/>
                    <a:gd name="T56" fmla="*/ 21 w 320"/>
                    <a:gd name="T57" fmla="*/ 121 h 256"/>
                    <a:gd name="T58" fmla="*/ 71 w 320"/>
                    <a:gd name="T59" fmla="*/ 71 h 256"/>
                    <a:gd name="T60" fmla="*/ 95 w 320"/>
                    <a:gd name="T61" fmla="*/ 79 h 256"/>
                    <a:gd name="T62" fmla="*/ 105 w 320"/>
                    <a:gd name="T63" fmla="*/ 80 h 256"/>
                    <a:gd name="T64" fmla="*/ 111 w 320"/>
                    <a:gd name="T65" fmla="*/ 73 h 256"/>
                    <a:gd name="T66" fmla="*/ 176 w 320"/>
                    <a:gd name="T67" fmla="*/ 21 h 256"/>
                    <a:gd name="T68" fmla="*/ 241 w 320"/>
                    <a:gd name="T69" fmla="*/ 86 h 256"/>
                    <a:gd name="T70" fmla="*/ 240 w 320"/>
                    <a:gd name="T71" fmla="*/ 94 h 256"/>
                    <a:gd name="T72" fmla="*/ 239 w 320"/>
                    <a:gd name="T73" fmla="*/ 99 h 256"/>
                    <a:gd name="T74" fmla="*/ 243 w 320"/>
                    <a:gd name="T75" fmla="*/ 109 h 256"/>
                    <a:gd name="T76" fmla="*/ 255 w 320"/>
                    <a:gd name="T77" fmla="*/ 110 h 256"/>
                    <a:gd name="T78" fmla="*/ 266 w 320"/>
                    <a:gd name="T79" fmla="*/ 106 h 256"/>
                    <a:gd name="T80" fmla="*/ 298 w 320"/>
                    <a:gd name="T81" fmla="*/ 138 h 256"/>
                    <a:gd name="T82" fmla="*/ 266 w 320"/>
                    <a:gd name="T83" fmla="*/ 170 h 256"/>
                    <a:gd name="T84" fmla="*/ 213 w 320"/>
                    <a:gd name="T85" fmla="*/ 170 h 256"/>
                    <a:gd name="T86" fmla="*/ 202 w 320"/>
                    <a:gd name="T87" fmla="*/ 181 h 256"/>
                    <a:gd name="T88" fmla="*/ 213 w 320"/>
                    <a:gd name="T89" fmla="*/ 192 h 256"/>
                    <a:gd name="T90" fmla="*/ 266 w 320"/>
                    <a:gd name="T91" fmla="*/ 192 h 256"/>
                    <a:gd name="T92" fmla="*/ 320 w 320"/>
                    <a:gd name="T93" fmla="*/ 138 h 256"/>
                    <a:gd name="T94" fmla="*/ 266 w 320"/>
                    <a:gd name="T95" fmla="*/ 8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0" h="256">
                      <a:moveTo>
                        <a:pt x="199" y="135"/>
                      </a:moveTo>
                      <a:cubicBezTo>
                        <a:pt x="197" y="137"/>
                        <a:pt x="194" y="138"/>
                        <a:pt x="192" y="138"/>
                      </a:cubicBezTo>
                      <a:cubicBezTo>
                        <a:pt x="189" y="138"/>
                        <a:pt x="186" y="137"/>
                        <a:pt x="184" y="135"/>
                      </a:cubicBezTo>
                      <a:cubicBezTo>
                        <a:pt x="170" y="121"/>
                        <a:pt x="170" y="121"/>
                        <a:pt x="170" y="121"/>
                      </a:cubicBezTo>
                      <a:cubicBezTo>
                        <a:pt x="170" y="245"/>
                        <a:pt x="170" y="245"/>
                        <a:pt x="170" y="245"/>
                      </a:cubicBezTo>
                      <a:cubicBezTo>
                        <a:pt x="170" y="251"/>
                        <a:pt x="166" y="256"/>
                        <a:pt x="160" y="256"/>
                      </a:cubicBezTo>
                      <a:cubicBezTo>
                        <a:pt x="154" y="256"/>
                        <a:pt x="149" y="251"/>
                        <a:pt x="149" y="245"/>
                      </a:cubicBezTo>
                      <a:cubicBezTo>
                        <a:pt x="149" y="121"/>
                        <a:pt x="149" y="121"/>
                        <a:pt x="149" y="121"/>
                      </a:cubicBezTo>
                      <a:cubicBezTo>
                        <a:pt x="135" y="135"/>
                        <a:pt x="135" y="135"/>
                        <a:pt x="135" y="135"/>
                      </a:cubicBezTo>
                      <a:cubicBezTo>
                        <a:pt x="131" y="139"/>
                        <a:pt x="124" y="139"/>
                        <a:pt x="120" y="135"/>
                      </a:cubicBezTo>
                      <a:cubicBezTo>
                        <a:pt x="116" y="131"/>
                        <a:pt x="116" y="124"/>
                        <a:pt x="120" y="120"/>
                      </a:cubicBezTo>
                      <a:cubicBezTo>
                        <a:pt x="152" y="88"/>
                        <a:pt x="152" y="88"/>
                        <a:pt x="152" y="88"/>
                      </a:cubicBezTo>
                      <a:cubicBezTo>
                        <a:pt x="153" y="87"/>
                        <a:pt x="154" y="86"/>
                        <a:pt x="156" y="86"/>
                      </a:cubicBezTo>
                      <a:cubicBezTo>
                        <a:pt x="158" y="85"/>
                        <a:pt x="161" y="85"/>
                        <a:pt x="164" y="86"/>
                      </a:cubicBezTo>
                      <a:cubicBezTo>
                        <a:pt x="165" y="86"/>
                        <a:pt x="166" y="87"/>
                        <a:pt x="167" y="88"/>
                      </a:cubicBezTo>
                      <a:cubicBezTo>
                        <a:pt x="199" y="120"/>
                        <a:pt x="199" y="120"/>
                        <a:pt x="199" y="120"/>
                      </a:cubicBezTo>
                      <a:cubicBezTo>
                        <a:pt x="203" y="124"/>
                        <a:pt x="203" y="131"/>
                        <a:pt x="199" y="135"/>
                      </a:cubicBezTo>
                      <a:close/>
                      <a:moveTo>
                        <a:pt x="266" y="85"/>
                      </a:moveTo>
                      <a:cubicBezTo>
                        <a:pt x="265" y="85"/>
                        <a:pt x="264" y="85"/>
                        <a:pt x="262" y="85"/>
                      </a:cubicBezTo>
                      <a:cubicBezTo>
                        <a:pt x="262" y="38"/>
                        <a:pt x="223" y="0"/>
                        <a:pt x="176" y="0"/>
                      </a:cubicBezTo>
                      <a:cubicBezTo>
                        <a:pt x="139" y="0"/>
                        <a:pt x="107" y="22"/>
                        <a:pt x="94" y="55"/>
                      </a:cubicBezTo>
                      <a:cubicBezTo>
                        <a:pt x="87" y="52"/>
                        <a:pt x="80" y="50"/>
                        <a:pt x="71" y="50"/>
                      </a:cubicBezTo>
                      <a:cubicBezTo>
                        <a:pt x="31" y="50"/>
                        <a:pt x="0" y="82"/>
                        <a:pt x="0" y="121"/>
                      </a:cubicBezTo>
                      <a:cubicBezTo>
                        <a:pt x="0" y="160"/>
                        <a:pt x="31" y="192"/>
                        <a:pt x="71" y="192"/>
                      </a:cubicBezTo>
                      <a:cubicBezTo>
                        <a:pt x="106" y="192"/>
                        <a:pt x="106" y="192"/>
                        <a:pt x="106" y="192"/>
                      </a:cubicBezTo>
                      <a:cubicBezTo>
                        <a:pt x="112" y="192"/>
                        <a:pt x="117" y="187"/>
                        <a:pt x="117" y="181"/>
                      </a:cubicBezTo>
                      <a:cubicBezTo>
                        <a:pt x="117" y="175"/>
                        <a:pt x="112" y="170"/>
                        <a:pt x="106" y="170"/>
                      </a:cubicBezTo>
                      <a:cubicBezTo>
                        <a:pt x="71" y="170"/>
                        <a:pt x="71" y="170"/>
                        <a:pt x="71" y="170"/>
                      </a:cubicBezTo>
                      <a:cubicBezTo>
                        <a:pt x="43" y="170"/>
                        <a:pt x="21" y="148"/>
                        <a:pt x="21" y="121"/>
                      </a:cubicBezTo>
                      <a:cubicBezTo>
                        <a:pt x="21" y="93"/>
                        <a:pt x="43" y="71"/>
                        <a:pt x="71" y="71"/>
                      </a:cubicBezTo>
                      <a:cubicBezTo>
                        <a:pt x="80" y="71"/>
                        <a:pt x="87" y="74"/>
                        <a:pt x="95" y="79"/>
                      </a:cubicBezTo>
                      <a:cubicBezTo>
                        <a:pt x="98" y="81"/>
                        <a:pt x="101" y="82"/>
                        <a:pt x="105" y="80"/>
                      </a:cubicBezTo>
                      <a:cubicBezTo>
                        <a:pt x="108" y="79"/>
                        <a:pt x="110" y="76"/>
                        <a:pt x="111" y="73"/>
                      </a:cubicBezTo>
                      <a:cubicBezTo>
                        <a:pt x="117" y="43"/>
                        <a:pt x="145" y="21"/>
                        <a:pt x="176" y="21"/>
                      </a:cubicBezTo>
                      <a:cubicBezTo>
                        <a:pt x="212" y="21"/>
                        <a:pt x="241" y="50"/>
                        <a:pt x="241" y="86"/>
                      </a:cubicBezTo>
                      <a:cubicBezTo>
                        <a:pt x="241" y="89"/>
                        <a:pt x="240" y="91"/>
                        <a:pt x="240" y="94"/>
                      </a:cubicBezTo>
                      <a:cubicBezTo>
                        <a:pt x="240" y="96"/>
                        <a:pt x="240" y="97"/>
                        <a:pt x="239" y="99"/>
                      </a:cubicBezTo>
                      <a:cubicBezTo>
                        <a:pt x="238" y="103"/>
                        <a:pt x="240" y="107"/>
                        <a:pt x="243" y="109"/>
                      </a:cubicBezTo>
                      <a:cubicBezTo>
                        <a:pt x="247" y="112"/>
                        <a:pt x="251" y="112"/>
                        <a:pt x="255" y="110"/>
                      </a:cubicBezTo>
                      <a:cubicBezTo>
                        <a:pt x="261" y="107"/>
                        <a:pt x="265" y="106"/>
                        <a:pt x="266" y="106"/>
                      </a:cubicBezTo>
                      <a:cubicBezTo>
                        <a:pt x="284" y="106"/>
                        <a:pt x="298" y="121"/>
                        <a:pt x="298" y="138"/>
                      </a:cubicBezTo>
                      <a:cubicBezTo>
                        <a:pt x="298" y="156"/>
                        <a:pt x="284" y="170"/>
                        <a:pt x="266" y="170"/>
                      </a:cubicBezTo>
                      <a:cubicBezTo>
                        <a:pt x="213" y="170"/>
                        <a:pt x="213" y="170"/>
                        <a:pt x="213" y="170"/>
                      </a:cubicBezTo>
                      <a:cubicBezTo>
                        <a:pt x="207" y="170"/>
                        <a:pt x="202" y="175"/>
                        <a:pt x="202" y="181"/>
                      </a:cubicBezTo>
                      <a:cubicBezTo>
                        <a:pt x="202" y="187"/>
                        <a:pt x="207" y="192"/>
                        <a:pt x="213" y="192"/>
                      </a:cubicBezTo>
                      <a:cubicBezTo>
                        <a:pt x="266" y="192"/>
                        <a:pt x="266" y="192"/>
                        <a:pt x="266" y="192"/>
                      </a:cubicBezTo>
                      <a:cubicBezTo>
                        <a:pt x="296" y="192"/>
                        <a:pt x="320" y="168"/>
                        <a:pt x="320" y="138"/>
                      </a:cubicBezTo>
                      <a:cubicBezTo>
                        <a:pt x="320" y="109"/>
                        <a:pt x="296" y="85"/>
                        <a:pt x="266" y="85"/>
                      </a:cubicBezTo>
                      <a:close/>
                    </a:path>
                  </a:pathLst>
                </a:custGeom>
                <a:solidFill>
                  <a:srgbClr val="007CB0"/>
                </a:solidFill>
                <a:ln>
                  <a:solidFill>
                    <a:srgbClr val="007CB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grpSp>
            <p:nvGrpSpPr>
              <p:cNvPr id="28" name="General_Border_34">
                <a:extLst>
                  <a:ext uri="{FF2B5EF4-FFF2-40B4-BE49-F238E27FC236}">
                    <a16:creationId xmlns:a16="http://schemas.microsoft.com/office/drawing/2014/main" id="{D72C0B9B-F6BC-492B-A540-19572DC03136}"/>
                  </a:ext>
                </a:extLst>
              </p:cNvPr>
              <p:cNvGrpSpPr>
                <a:grpSpLocks noChangeAspect="1"/>
              </p:cNvGrpSpPr>
              <p:nvPr/>
            </p:nvGrpSpPr>
            <p:grpSpPr bwMode="auto">
              <a:xfrm>
                <a:off x="1956185" y="4291262"/>
                <a:ext cx="495300" cy="495300"/>
                <a:chOff x="5018" y="1229"/>
                <a:chExt cx="340" cy="340"/>
              </a:xfrm>
              <a:solidFill>
                <a:schemeClr val="accent4"/>
              </a:solidFill>
            </p:grpSpPr>
            <p:sp>
              <p:nvSpPr>
                <p:cNvPr id="41" name="Freeform 350">
                  <a:extLst>
                    <a:ext uri="{FF2B5EF4-FFF2-40B4-BE49-F238E27FC236}">
                      <a16:creationId xmlns:a16="http://schemas.microsoft.com/office/drawing/2014/main" id="{B712AF63-7B87-455D-B7F7-FA750F968A41}"/>
                    </a:ext>
                  </a:extLst>
                </p:cNvPr>
                <p:cNvSpPr>
                  <a:spLocks noEditPoints="1"/>
                </p:cNvSpPr>
                <p:nvPr/>
              </p:nvSpPr>
              <p:spPr bwMode="auto">
                <a:xfrm>
                  <a:off x="5103" y="1293"/>
                  <a:ext cx="170" cy="212"/>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42" name="Freeform 351">
                  <a:extLst>
                    <a:ext uri="{FF2B5EF4-FFF2-40B4-BE49-F238E27FC236}">
                      <a16:creationId xmlns:a16="http://schemas.microsoft.com/office/drawing/2014/main" id="{977CFF9B-C919-41E7-A279-8EA0242FF467}"/>
                    </a:ext>
                  </a:extLst>
                </p:cNvPr>
                <p:cNvSpPr>
                  <a:spLocks noEditPoints="1"/>
                </p:cNvSpPr>
                <p:nvPr/>
              </p:nvSpPr>
              <p:spPr bwMode="auto">
                <a:xfrm>
                  <a:off x="5018" y="122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sp>
            <p:nvSpPr>
              <p:cNvPr id="29" name="Line 13">
                <a:extLst>
                  <a:ext uri="{FF2B5EF4-FFF2-40B4-BE49-F238E27FC236}">
                    <a16:creationId xmlns:a16="http://schemas.microsoft.com/office/drawing/2014/main" id="{B19A388F-33C1-45E6-9D03-E1245AABE85A}"/>
                  </a:ext>
                </a:extLst>
              </p:cNvPr>
              <p:cNvSpPr>
                <a:spLocks noChangeShapeType="1"/>
              </p:cNvSpPr>
              <p:nvPr/>
            </p:nvSpPr>
            <p:spPr bwMode="auto">
              <a:xfrm flipV="1">
                <a:off x="2483210" y="4526779"/>
                <a:ext cx="574202" cy="5907"/>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30" name="Oval 29">
                <a:extLst>
                  <a:ext uri="{FF2B5EF4-FFF2-40B4-BE49-F238E27FC236}">
                    <a16:creationId xmlns:a16="http://schemas.microsoft.com/office/drawing/2014/main" id="{8F96058B-A291-46B7-BDBF-A3C88C62B688}"/>
                  </a:ext>
                </a:extLst>
              </p:cNvPr>
              <p:cNvSpPr/>
              <p:nvPr/>
            </p:nvSpPr>
            <p:spPr>
              <a:xfrm>
                <a:off x="2670378" y="4187690"/>
                <a:ext cx="200053" cy="207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1</a:t>
                </a:r>
              </a:p>
            </p:txBody>
          </p:sp>
          <p:sp>
            <p:nvSpPr>
              <p:cNvPr id="31" name="Line 13">
                <a:extLst>
                  <a:ext uri="{FF2B5EF4-FFF2-40B4-BE49-F238E27FC236}">
                    <a16:creationId xmlns:a16="http://schemas.microsoft.com/office/drawing/2014/main" id="{A3E6B6B5-B9E9-48EB-AFF0-2C9856CD0E57}"/>
                  </a:ext>
                </a:extLst>
              </p:cNvPr>
              <p:cNvSpPr>
                <a:spLocks noChangeShapeType="1"/>
              </p:cNvSpPr>
              <p:nvPr/>
            </p:nvSpPr>
            <p:spPr bwMode="auto">
              <a:xfrm flipV="1">
                <a:off x="5001133" y="4529732"/>
                <a:ext cx="574202" cy="5907"/>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32" name="Freeform 1001">
                <a:extLst>
                  <a:ext uri="{FF2B5EF4-FFF2-40B4-BE49-F238E27FC236}">
                    <a16:creationId xmlns:a16="http://schemas.microsoft.com/office/drawing/2014/main" id="{D76E0C21-C93F-42C1-854C-BBD970E772A3}"/>
                  </a:ext>
                </a:extLst>
              </p:cNvPr>
              <p:cNvSpPr>
                <a:spLocks noEditPoints="1"/>
              </p:cNvSpPr>
              <p:nvPr/>
            </p:nvSpPr>
            <p:spPr bwMode="auto">
              <a:xfrm>
                <a:off x="5637397" y="4300832"/>
                <a:ext cx="786634" cy="451893"/>
              </a:xfrm>
              <a:custGeom>
                <a:avLst/>
                <a:gdLst>
                  <a:gd name="T0" fmla="*/ 269 w 320"/>
                  <a:gd name="T1" fmla="*/ 192 h 192"/>
                  <a:gd name="T2" fmla="*/ 71 w 320"/>
                  <a:gd name="T3" fmla="*/ 192 h 192"/>
                  <a:gd name="T4" fmla="*/ 0 w 320"/>
                  <a:gd name="T5" fmla="*/ 121 h 192"/>
                  <a:gd name="T6" fmla="*/ 71 w 320"/>
                  <a:gd name="T7" fmla="*/ 51 h 192"/>
                  <a:gd name="T8" fmla="*/ 96 w 320"/>
                  <a:gd name="T9" fmla="*/ 56 h 192"/>
                  <a:gd name="T10" fmla="*/ 181 w 320"/>
                  <a:gd name="T11" fmla="*/ 0 h 192"/>
                  <a:gd name="T12" fmla="*/ 273 w 320"/>
                  <a:gd name="T13" fmla="*/ 91 h 192"/>
                  <a:gd name="T14" fmla="*/ 320 w 320"/>
                  <a:gd name="T15" fmla="*/ 142 h 192"/>
                  <a:gd name="T16" fmla="*/ 269 w 320"/>
                  <a:gd name="T17" fmla="*/ 192 h 192"/>
                  <a:gd name="T18" fmla="*/ 71 w 320"/>
                  <a:gd name="T19" fmla="*/ 72 h 192"/>
                  <a:gd name="T20" fmla="*/ 21 w 320"/>
                  <a:gd name="T21" fmla="*/ 121 h 192"/>
                  <a:gd name="T22" fmla="*/ 71 w 320"/>
                  <a:gd name="T23" fmla="*/ 171 h 192"/>
                  <a:gd name="T24" fmla="*/ 269 w 320"/>
                  <a:gd name="T25" fmla="*/ 171 h 192"/>
                  <a:gd name="T26" fmla="*/ 298 w 320"/>
                  <a:gd name="T27" fmla="*/ 142 h 192"/>
                  <a:gd name="T28" fmla="*/ 269 w 320"/>
                  <a:gd name="T29" fmla="*/ 112 h 192"/>
                  <a:gd name="T30" fmla="*/ 267 w 320"/>
                  <a:gd name="T31" fmla="*/ 112 h 192"/>
                  <a:gd name="T32" fmla="*/ 265 w 320"/>
                  <a:gd name="T33" fmla="*/ 113 h 192"/>
                  <a:gd name="T34" fmla="*/ 254 w 320"/>
                  <a:gd name="T35" fmla="*/ 111 h 192"/>
                  <a:gd name="T36" fmla="*/ 251 w 320"/>
                  <a:gd name="T37" fmla="*/ 101 h 192"/>
                  <a:gd name="T38" fmla="*/ 251 w 320"/>
                  <a:gd name="T39" fmla="*/ 96 h 192"/>
                  <a:gd name="T40" fmla="*/ 251 w 320"/>
                  <a:gd name="T41" fmla="*/ 92 h 192"/>
                  <a:gd name="T42" fmla="*/ 181 w 320"/>
                  <a:gd name="T43" fmla="*/ 22 h 192"/>
                  <a:gd name="T44" fmla="*/ 114 w 320"/>
                  <a:gd name="T45" fmla="*/ 68 h 192"/>
                  <a:gd name="T46" fmla="*/ 112 w 320"/>
                  <a:gd name="T47" fmla="*/ 73 h 192"/>
                  <a:gd name="T48" fmla="*/ 112 w 320"/>
                  <a:gd name="T49" fmla="*/ 75 h 192"/>
                  <a:gd name="T50" fmla="*/ 103 w 320"/>
                  <a:gd name="T51" fmla="*/ 83 h 192"/>
                  <a:gd name="T52" fmla="*/ 93 w 320"/>
                  <a:gd name="T53" fmla="*/ 79 h 192"/>
                  <a:gd name="T54" fmla="*/ 71 w 320"/>
                  <a:gd name="T55" fmla="*/ 7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0" h="192">
                    <a:moveTo>
                      <a:pt x="269" y="192"/>
                    </a:moveTo>
                    <a:cubicBezTo>
                      <a:pt x="71" y="192"/>
                      <a:pt x="71" y="192"/>
                      <a:pt x="71" y="192"/>
                    </a:cubicBezTo>
                    <a:cubicBezTo>
                      <a:pt x="31" y="192"/>
                      <a:pt x="0" y="161"/>
                      <a:pt x="0" y="121"/>
                    </a:cubicBezTo>
                    <a:cubicBezTo>
                      <a:pt x="0" y="82"/>
                      <a:pt x="31" y="51"/>
                      <a:pt x="71" y="51"/>
                    </a:cubicBezTo>
                    <a:cubicBezTo>
                      <a:pt x="80" y="51"/>
                      <a:pt x="88" y="52"/>
                      <a:pt x="96" y="56"/>
                    </a:cubicBezTo>
                    <a:cubicBezTo>
                      <a:pt x="110" y="23"/>
                      <a:pt x="144" y="0"/>
                      <a:pt x="181" y="0"/>
                    </a:cubicBezTo>
                    <a:cubicBezTo>
                      <a:pt x="231" y="0"/>
                      <a:pt x="272" y="41"/>
                      <a:pt x="273" y="91"/>
                    </a:cubicBezTo>
                    <a:cubicBezTo>
                      <a:pt x="299" y="93"/>
                      <a:pt x="320" y="115"/>
                      <a:pt x="320" y="142"/>
                    </a:cubicBezTo>
                    <a:cubicBezTo>
                      <a:pt x="320" y="170"/>
                      <a:pt x="297" y="192"/>
                      <a:pt x="269" y="192"/>
                    </a:cubicBezTo>
                    <a:close/>
                    <a:moveTo>
                      <a:pt x="71" y="72"/>
                    </a:moveTo>
                    <a:cubicBezTo>
                      <a:pt x="43" y="72"/>
                      <a:pt x="21" y="94"/>
                      <a:pt x="21" y="121"/>
                    </a:cubicBezTo>
                    <a:cubicBezTo>
                      <a:pt x="21" y="149"/>
                      <a:pt x="43" y="171"/>
                      <a:pt x="71" y="171"/>
                    </a:cubicBezTo>
                    <a:cubicBezTo>
                      <a:pt x="269" y="171"/>
                      <a:pt x="269" y="171"/>
                      <a:pt x="269" y="171"/>
                    </a:cubicBezTo>
                    <a:cubicBezTo>
                      <a:pt x="285" y="171"/>
                      <a:pt x="298" y="158"/>
                      <a:pt x="298" y="142"/>
                    </a:cubicBezTo>
                    <a:cubicBezTo>
                      <a:pt x="298" y="125"/>
                      <a:pt x="285" y="112"/>
                      <a:pt x="269" y="112"/>
                    </a:cubicBezTo>
                    <a:cubicBezTo>
                      <a:pt x="268" y="112"/>
                      <a:pt x="268" y="112"/>
                      <a:pt x="267" y="112"/>
                    </a:cubicBezTo>
                    <a:cubicBezTo>
                      <a:pt x="267" y="112"/>
                      <a:pt x="266" y="112"/>
                      <a:pt x="265" y="113"/>
                    </a:cubicBezTo>
                    <a:cubicBezTo>
                      <a:pt x="261" y="114"/>
                      <a:pt x="257" y="113"/>
                      <a:pt x="254" y="111"/>
                    </a:cubicBezTo>
                    <a:cubicBezTo>
                      <a:pt x="252" y="109"/>
                      <a:pt x="250" y="105"/>
                      <a:pt x="251" y="101"/>
                    </a:cubicBezTo>
                    <a:cubicBezTo>
                      <a:pt x="251" y="99"/>
                      <a:pt x="251" y="98"/>
                      <a:pt x="251" y="96"/>
                    </a:cubicBezTo>
                    <a:cubicBezTo>
                      <a:pt x="251" y="94"/>
                      <a:pt x="251" y="93"/>
                      <a:pt x="251" y="92"/>
                    </a:cubicBezTo>
                    <a:cubicBezTo>
                      <a:pt x="251" y="53"/>
                      <a:pt x="220" y="22"/>
                      <a:pt x="181" y="22"/>
                    </a:cubicBezTo>
                    <a:cubicBezTo>
                      <a:pt x="152" y="22"/>
                      <a:pt x="124" y="41"/>
                      <a:pt x="114" y="68"/>
                    </a:cubicBezTo>
                    <a:cubicBezTo>
                      <a:pt x="113" y="70"/>
                      <a:pt x="113" y="71"/>
                      <a:pt x="112" y="73"/>
                    </a:cubicBezTo>
                    <a:cubicBezTo>
                      <a:pt x="112" y="75"/>
                      <a:pt x="112" y="75"/>
                      <a:pt x="112" y="75"/>
                    </a:cubicBezTo>
                    <a:cubicBezTo>
                      <a:pt x="111" y="79"/>
                      <a:pt x="108" y="82"/>
                      <a:pt x="103" y="83"/>
                    </a:cubicBezTo>
                    <a:cubicBezTo>
                      <a:pt x="99" y="84"/>
                      <a:pt x="95" y="82"/>
                      <a:pt x="93" y="79"/>
                    </a:cubicBezTo>
                    <a:cubicBezTo>
                      <a:pt x="86" y="74"/>
                      <a:pt x="79" y="72"/>
                      <a:pt x="71" y="72"/>
                    </a:cubicBezTo>
                    <a:close/>
                  </a:path>
                </a:pathLst>
              </a:custGeom>
              <a:solidFill>
                <a:srgbClr val="007CB0"/>
              </a:solidFill>
              <a:ln>
                <a:solidFill>
                  <a:srgbClr val="007CB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B0294CB3-BCB5-4019-87CA-E16AD323EE9C}"/>
                  </a:ext>
                </a:extLst>
              </p:cNvPr>
              <p:cNvSpPr txBox="1"/>
              <p:nvPr/>
            </p:nvSpPr>
            <p:spPr>
              <a:xfrm>
                <a:off x="5662102" y="4744421"/>
                <a:ext cx="786634" cy="28617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Retail Cloud</a:t>
                </a:r>
              </a:p>
            </p:txBody>
          </p:sp>
          <p:grpSp>
            <p:nvGrpSpPr>
              <p:cNvPr id="34" name="General_Border_44">
                <a:extLst>
                  <a:ext uri="{FF2B5EF4-FFF2-40B4-BE49-F238E27FC236}">
                    <a16:creationId xmlns:a16="http://schemas.microsoft.com/office/drawing/2014/main" id="{59046AC5-D50E-40E7-B47A-D024B0E0EADC}"/>
                  </a:ext>
                </a:extLst>
              </p:cNvPr>
              <p:cNvGrpSpPr>
                <a:grpSpLocks noChangeAspect="1"/>
              </p:cNvGrpSpPr>
              <p:nvPr/>
            </p:nvGrpSpPr>
            <p:grpSpPr bwMode="auto">
              <a:xfrm>
                <a:off x="4374968" y="4334668"/>
                <a:ext cx="531600" cy="451894"/>
                <a:chOff x="3987" y="1509"/>
                <a:chExt cx="340" cy="340"/>
              </a:xfrm>
              <a:solidFill>
                <a:schemeClr val="accent1"/>
              </a:solidFill>
            </p:grpSpPr>
            <p:sp>
              <p:nvSpPr>
                <p:cNvPr id="39" name="Freeform 40">
                  <a:extLst>
                    <a:ext uri="{FF2B5EF4-FFF2-40B4-BE49-F238E27FC236}">
                      <a16:creationId xmlns:a16="http://schemas.microsoft.com/office/drawing/2014/main" id="{023F0B85-6509-4626-993A-9862A0B7C73E}"/>
                    </a:ext>
                  </a:extLst>
                </p:cNvPr>
                <p:cNvSpPr>
                  <a:spLocks noEditPoints="1"/>
                </p:cNvSpPr>
                <p:nvPr/>
              </p:nvSpPr>
              <p:spPr bwMode="auto">
                <a:xfrm>
                  <a:off x="3987" y="150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40" name="Freeform 41">
                  <a:extLst>
                    <a:ext uri="{FF2B5EF4-FFF2-40B4-BE49-F238E27FC236}">
                      <a16:creationId xmlns:a16="http://schemas.microsoft.com/office/drawing/2014/main" id="{D32295FD-9704-49BF-9F41-B80E05FF0193}"/>
                    </a:ext>
                  </a:extLst>
                </p:cNvPr>
                <p:cNvSpPr>
                  <a:spLocks noEditPoints="1"/>
                </p:cNvSpPr>
                <p:nvPr/>
              </p:nvSpPr>
              <p:spPr bwMode="auto">
                <a:xfrm>
                  <a:off x="4053" y="1568"/>
                  <a:ext cx="215" cy="214"/>
                </a:xfrm>
                <a:custGeom>
                  <a:avLst/>
                  <a:gdLst>
                    <a:gd name="T0" fmla="*/ 168 w 324"/>
                    <a:gd name="T1" fmla="*/ 177 h 322"/>
                    <a:gd name="T2" fmla="*/ 123 w 324"/>
                    <a:gd name="T3" fmla="*/ 143 h 322"/>
                    <a:gd name="T4" fmla="*/ 65 w 324"/>
                    <a:gd name="T5" fmla="*/ 142 h 322"/>
                    <a:gd name="T6" fmla="*/ 18 w 324"/>
                    <a:gd name="T7" fmla="*/ 175 h 322"/>
                    <a:gd name="T8" fmla="*/ 0 w 324"/>
                    <a:gd name="T9" fmla="*/ 229 h 322"/>
                    <a:gd name="T10" fmla="*/ 17 w 324"/>
                    <a:gd name="T11" fmla="*/ 284 h 322"/>
                    <a:gd name="T12" fmla="*/ 63 w 324"/>
                    <a:gd name="T13" fmla="*/ 319 h 322"/>
                    <a:gd name="T14" fmla="*/ 115 w 324"/>
                    <a:gd name="T15" fmla="*/ 320 h 322"/>
                    <a:gd name="T16" fmla="*/ 145 w 324"/>
                    <a:gd name="T17" fmla="*/ 294 h 322"/>
                    <a:gd name="T18" fmla="*/ 172 w 324"/>
                    <a:gd name="T19" fmla="*/ 252 h 322"/>
                    <a:gd name="T20" fmla="*/ 146 w 324"/>
                    <a:gd name="T21" fmla="*/ 249 h 322"/>
                    <a:gd name="T22" fmla="*/ 125 w 324"/>
                    <a:gd name="T23" fmla="*/ 277 h 322"/>
                    <a:gd name="T24" fmla="*/ 92 w 324"/>
                    <a:gd name="T25" fmla="*/ 284 h 322"/>
                    <a:gd name="T26" fmla="*/ 69 w 324"/>
                    <a:gd name="T27" fmla="*/ 293 h 322"/>
                    <a:gd name="T28" fmla="*/ 37 w 324"/>
                    <a:gd name="T29" fmla="*/ 267 h 322"/>
                    <a:gd name="T30" fmla="*/ 26 w 324"/>
                    <a:gd name="T31" fmla="*/ 227 h 322"/>
                    <a:gd name="T32" fmla="*/ 41 w 324"/>
                    <a:gd name="T33" fmla="*/ 189 h 322"/>
                    <a:gd name="T34" fmla="*/ 76 w 324"/>
                    <a:gd name="T35" fmla="*/ 168 h 322"/>
                    <a:gd name="T36" fmla="*/ 115 w 324"/>
                    <a:gd name="T37" fmla="*/ 164 h 322"/>
                    <a:gd name="T38" fmla="*/ 150 w 324"/>
                    <a:gd name="T39" fmla="*/ 190 h 322"/>
                    <a:gd name="T40" fmla="*/ 163 w 324"/>
                    <a:gd name="T41" fmla="*/ 232 h 322"/>
                    <a:gd name="T42" fmla="*/ 61 w 324"/>
                    <a:gd name="T43" fmla="*/ 214 h 322"/>
                    <a:gd name="T44" fmla="*/ 103 w 324"/>
                    <a:gd name="T45" fmla="*/ 265 h 322"/>
                    <a:gd name="T46" fmla="*/ 105 w 324"/>
                    <a:gd name="T47" fmla="*/ 237 h 322"/>
                    <a:gd name="T48" fmla="*/ 80 w 324"/>
                    <a:gd name="T49" fmla="*/ 224 h 322"/>
                    <a:gd name="T50" fmla="*/ 106 w 324"/>
                    <a:gd name="T51" fmla="*/ 226 h 322"/>
                    <a:gd name="T52" fmla="*/ 308 w 324"/>
                    <a:gd name="T53" fmla="*/ 62 h 322"/>
                    <a:gd name="T54" fmla="*/ 276 w 324"/>
                    <a:gd name="T55" fmla="*/ 23 h 322"/>
                    <a:gd name="T56" fmla="*/ 227 w 324"/>
                    <a:gd name="T57" fmla="*/ 10 h 322"/>
                    <a:gd name="T58" fmla="*/ 180 w 324"/>
                    <a:gd name="T59" fmla="*/ 29 h 322"/>
                    <a:gd name="T60" fmla="*/ 152 w 324"/>
                    <a:gd name="T61" fmla="*/ 71 h 322"/>
                    <a:gd name="T62" fmla="*/ 155 w 324"/>
                    <a:gd name="T63" fmla="*/ 122 h 322"/>
                    <a:gd name="T64" fmla="*/ 187 w 324"/>
                    <a:gd name="T65" fmla="*/ 161 h 322"/>
                    <a:gd name="T66" fmla="*/ 236 w 324"/>
                    <a:gd name="T67" fmla="*/ 174 h 322"/>
                    <a:gd name="T68" fmla="*/ 276 w 324"/>
                    <a:gd name="T69" fmla="*/ 156 h 322"/>
                    <a:gd name="T70" fmla="*/ 305 w 324"/>
                    <a:gd name="T71" fmla="*/ 117 h 322"/>
                    <a:gd name="T72" fmla="*/ 298 w 324"/>
                    <a:gd name="T73" fmla="*/ 96 h 322"/>
                    <a:gd name="T74" fmla="*/ 283 w 324"/>
                    <a:gd name="T75" fmla="*/ 134 h 322"/>
                    <a:gd name="T76" fmla="*/ 248 w 324"/>
                    <a:gd name="T77" fmla="*/ 155 h 322"/>
                    <a:gd name="T78" fmla="*/ 209 w 324"/>
                    <a:gd name="T79" fmla="*/ 158 h 322"/>
                    <a:gd name="T80" fmla="*/ 174 w 324"/>
                    <a:gd name="T81" fmla="*/ 132 h 322"/>
                    <a:gd name="T82" fmla="*/ 161 w 324"/>
                    <a:gd name="T83" fmla="*/ 91 h 322"/>
                    <a:gd name="T84" fmla="*/ 175 w 324"/>
                    <a:gd name="T85" fmla="*/ 50 h 322"/>
                    <a:gd name="T86" fmla="*/ 211 w 324"/>
                    <a:gd name="T87" fmla="*/ 26 h 322"/>
                    <a:gd name="T88" fmla="*/ 250 w 324"/>
                    <a:gd name="T89" fmla="*/ 30 h 322"/>
                    <a:gd name="T90" fmla="*/ 284 w 324"/>
                    <a:gd name="T91" fmla="*/ 51 h 322"/>
                    <a:gd name="T92" fmla="*/ 298 w 324"/>
                    <a:gd name="T93" fmla="*/ 90 h 322"/>
                    <a:gd name="T94" fmla="*/ 221 w 324"/>
                    <a:gd name="T95" fmla="*/ 58 h 322"/>
                    <a:gd name="T96" fmla="*/ 231 w 324"/>
                    <a:gd name="T97" fmla="*/ 128 h 322"/>
                    <a:gd name="T98" fmla="*/ 248 w 324"/>
                    <a:gd name="T99" fmla="*/ 61 h 322"/>
                    <a:gd name="T100" fmla="*/ 218 w 324"/>
                    <a:gd name="T101" fmla="*/ 96 h 322"/>
                    <a:gd name="T102" fmla="*/ 238 w 324"/>
                    <a:gd name="T103" fmla="*/ 7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4" h="322">
                      <a:moveTo>
                        <a:pt x="172" y="212"/>
                      </a:moveTo>
                      <a:cubicBezTo>
                        <a:pt x="171" y="211"/>
                        <a:pt x="168" y="209"/>
                        <a:pt x="167" y="208"/>
                      </a:cubicBezTo>
                      <a:cubicBezTo>
                        <a:pt x="167" y="206"/>
                        <a:pt x="168" y="203"/>
                        <a:pt x="169" y="201"/>
                      </a:cubicBezTo>
                      <a:cubicBezTo>
                        <a:pt x="171" y="194"/>
                        <a:pt x="174" y="185"/>
                        <a:pt x="168" y="177"/>
                      </a:cubicBezTo>
                      <a:cubicBezTo>
                        <a:pt x="163" y="169"/>
                        <a:pt x="153" y="169"/>
                        <a:pt x="146" y="169"/>
                      </a:cubicBezTo>
                      <a:cubicBezTo>
                        <a:pt x="144" y="169"/>
                        <a:pt x="141" y="168"/>
                        <a:pt x="139" y="168"/>
                      </a:cubicBezTo>
                      <a:cubicBezTo>
                        <a:pt x="139" y="167"/>
                        <a:pt x="138" y="164"/>
                        <a:pt x="137" y="162"/>
                      </a:cubicBezTo>
                      <a:cubicBezTo>
                        <a:pt x="135" y="155"/>
                        <a:pt x="132" y="146"/>
                        <a:pt x="123" y="143"/>
                      </a:cubicBezTo>
                      <a:cubicBezTo>
                        <a:pt x="114" y="140"/>
                        <a:pt x="105" y="145"/>
                        <a:pt x="100" y="149"/>
                      </a:cubicBezTo>
                      <a:cubicBezTo>
                        <a:pt x="98" y="150"/>
                        <a:pt x="95" y="152"/>
                        <a:pt x="94" y="153"/>
                      </a:cubicBezTo>
                      <a:cubicBezTo>
                        <a:pt x="92" y="152"/>
                        <a:pt x="90" y="150"/>
                        <a:pt x="88" y="149"/>
                      </a:cubicBezTo>
                      <a:cubicBezTo>
                        <a:pt x="83" y="145"/>
                        <a:pt x="74" y="139"/>
                        <a:pt x="65" y="142"/>
                      </a:cubicBezTo>
                      <a:cubicBezTo>
                        <a:pt x="56" y="145"/>
                        <a:pt x="53" y="154"/>
                        <a:pt x="50" y="161"/>
                      </a:cubicBezTo>
                      <a:cubicBezTo>
                        <a:pt x="49" y="163"/>
                        <a:pt x="48" y="166"/>
                        <a:pt x="48" y="167"/>
                      </a:cubicBezTo>
                      <a:cubicBezTo>
                        <a:pt x="46" y="167"/>
                        <a:pt x="43" y="167"/>
                        <a:pt x="41" y="167"/>
                      </a:cubicBezTo>
                      <a:cubicBezTo>
                        <a:pt x="34" y="167"/>
                        <a:pt x="24" y="168"/>
                        <a:pt x="18" y="175"/>
                      </a:cubicBezTo>
                      <a:cubicBezTo>
                        <a:pt x="13" y="183"/>
                        <a:pt x="15" y="192"/>
                        <a:pt x="17" y="199"/>
                      </a:cubicBezTo>
                      <a:cubicBezTo>
                        <a:pt x="18" y="201"/>
                        <a:pt x="19" y="204"/>
                        <a:pt x="19" y="206"/>
                      </a:cubicBezTo>
                      <a:cubicBezTo>
                        <a:pt x="18" y="207"/>
                        <a:pt x="15" y="209"/>
                        <a:pt x="14" y="210"/>
                      </a:cubicBezTo>
                      <a:cubicBezTo>
                        <a:pt x="8" y="214"/>
                        <a:pt x="0" y="220"/>
                        <a:pt x="0" y="229"/>
                      </a:cubicBezTo>
                      <a:cubicBezTo>
                        <a:pt x="0" y="239"/>
                        <a:pt x="7" y="245"/>
                        <a:pt x="13" y="249"/>
                      </a:cubicBezTo>
                      <a:cubicBezTo>
                        <a:pt x="15" y="251"/>
                        <a:pt x="18" y="253"/>
                        <a:pt x="18" y="253"/>
                      </a:cubicBezTo>
                      <a:cubicBezTo>
                        <a:pt x="18" y="255"/>
                        <a:pt x="17" y="258"/>
                        <a:pt x="16" y="261"/>
                      </a:cubicBezTo>
                      <a:cubicBezTo>
                        <a:pt x="14" y="268"/>
                        <a:pt x="11" y="277"/>
                        <a:pt x="17" y="284"/>
                      </a:cubicBezTo>
                      <a:cubicBezTo>
                        <a:pt x="22" y="292"/>
                        <a:pt x="32" y="292"/>
                        <a:pt x="39" y="293"/>
                      </a:cubicBezTo>
                      <a:cubicBezTo>
                        <a:pt x="41" y="293"/>
                        <a:pt x="44" y="293"/>
                        <a:pt x="46" y="293"/>
                      </a:cubicBezTo>
                      <a:cubicBezTo>
                        <a:pt x="47" y="295"/>
                        <a:pt x="48" y="298"/>
                        <a:pt x="48" y="299"/>
                      </a:cubicBezTo>
                      <a:cubicBezTo>
                        <a:pt x="51" y="306"/>
                        <a:pt x="54" y="315"/>
                        <a:pt x="63" y="319"/>
                      </a:cubicBezTo>
                      <a:cubicBezTo>
                        <a:pt x="72" y="322"/>
                        <a:pt x="80" y="316"/>
                        <a:pt x="86" y="312"/>
                      </a:cubicBezTo>
                      <a:cubicBezTo>
                        <a:pt x="87" y="311"/>
                        <a:pt x="90" y="309"/>
                        <a:pt x="92" y="309"/>
                      </a:cubicBezTo>
                      <a:cubicBezTo>
                        <a:pt x="93" y="309"/>
                        <a:pt x="95" y="311"/>
                        <a:pt x="97" y="312"/>
                      </a:cubicBezTo>
                      <a:cubicBezTo>
                        <a:pt x="102" y="316"/>
                        <a:pt x="108" y="320"/>
                        <a:pt x="115" y="320"/>
                      </a:cubicBezTo>
                      <a:cubicBezTo>
                        <a:pt x="117" y="320"/>
                        <a:pt x="118" y="320"/>
                        <a:pt x="120" y="319"/>
                      </a:cubicBezTo>
                      <a:cubicBezTo>
                        <a:pt x="129" y="316"/>
                        <a:pt x="133" y="307"/>
                        <a:pt x="135" y="300"/>
                      </a:cubicBezTo>
                      <a:cubicBezTo>
                        <a:pt x="136" y="298"/>
                        <a:pt x="137" y="296"/>
                        <a:pt x="138" y="294"/>
                      </a:cubicBezTo>
                      <a:cubicBezTo>
                        <a:pt x="139" y="294"/>
                        <a:pt x="142" y="294"/>
                        <a:pt x="145" y="294"/>
                      </a:cubicBezTo>
                      <a:cubicBezTo>
                        <a:pt x="152" y="294"/>
                        <a:pt x="161" y="294"/>
                        <a:pt x="167" y="286"/>
                      </a:cubicBezTo>
                      <a:cubicBezTo>
                        <a:pt x="173" y="279"/>
                        <a:pt x="170" y="269"/>
                        <a:pt x="168" y="262"/>
                      </a:cubicBezTo>
                      <a:cubicBezTo>
                        <a:pt x="168" y="260"/>
                        <a:pt x="167" y="257"/>
                        <a:pt x="167" y="256"/>
                      </a:cubicBezTo>
                      <a:cubicBezTo>
                        <a:pt x="168" y="255"/>
                        <a:pt x="170" y="253"/>
                        <a:pt x="172" y="252"/>
                      </a:cubicBezTo>
                      <a:cubicBezTo>
                        <a:pt x="177" y="247"/>
                        <a:pt x="185" y="242"/>
                        <a:pt x="185" y="232"/>
                      </a:cubicBezTo>
                      <a:cubicBezTo>
                        <a:pt x="186" y="223"/>
                        <a:pt x="178" y="217"/>
                        <a:pt x="172" y="212"/>
                      </a:cubicBezTo>
                      <a:close/>
                      <a:moveTo>
                        <a:pt x="159" y="235"/>
                      </a:moveTo>
                      <a:cubicBezTo>
                        <a:pt x="154" y="238"/>
                        <a:pt x="148" y="242"/>
                        <a:pt x="146" y="249"/>
                      </a:cubicBezTo>
                      <a:cubicBezTo>
                        <a:pt x="144" y="255"/>
                        <a:pt x="146" y="262"/>
                        <a:pt x="148" y="268"/>
                      </a:cubicBezTo>
                      <a:cubicBezTo>
                        <a:pt x="148" y="269"/>
                        <a:pt x="148" y="271"/>
                        <a:pt x="149" y="272"/>
                      </a:cubicBezTo>
                      <a:cubicBezTo>
                        <a:pt x="147" y="273"/>
                        <a:pt x="145" y="273"/>
                        <a:pt x="144" y="273"/>
                      </a:cubicBezTo>
                      <a:cubicBezTo>
                        <a:pt x="138" y="273"/>
                        <a:pt x="131" y="273"/>
                        <a:pt x="125" y="277"/>
                      </a:cubicBezTo>
                      <a:cubicBezTo>
                        <a:pt x="120" y="281"/>
                        <a:pt x="117" y="287"/>
                        <a:pt x="115" y="293"/>
                      </a:cubicBezTo>
                      <a:cubicBezTo>
                        <a:pt x="115" y="294"/>
                        <a:pt x="114" y="295"/>
                        <a:pt x="113" y="297"/>
                      </a:cubicBezTo>
                      <a:cubicBezTo>
                        <a:pt x="112" y="296"/>
                        <a:pt x="110" y="294"/>
                        <a:pt x="109" y="293"/>
                      </a:cubicBezTo>
                      <a:cubicBezTo>
                        <a:pt x="104" y="290"/>
                        <a:pt x="99" y="284"/>
                        <a:pt x="92" y="284"/>
                      </a:cubicBezTo>
                      <a:cubicBezTo>
                        <a:pt x="92" y="284"/>
                        <a:pt x="92" y="284"/>
                        <a:pt x="92" y="284"/>
                      </a:cubicBezTo>
                      <a:cubicBezTo>
                        <a:pt x="85" y="284"/>
                        <a:pt x="79" y="289"/>
                        <a:pt x="74" y="293"/>
                      </a:cubicBezTo>
                      <a:cubicBezTo>
                        <a:pt x="73" y="294"/>
                        <a:pt x="71" y="296"/>
                        <a:pt x="70" y="297"/>
                      </a:cubicBezTo>
                      <a:cubicBezTo>
                        <a:pt x="70" y="296"/>
                        <a:pt x="69" y="294"/>
                        <a:pt x="69" y="293"/>
                      </a:cubicBezTo>
                      <a:cubicBezTo>
                        <a:pt x="67" y="287"/>
                        <a:pt x="64" y="280"/>
                        <a:pt x="59" y="276"/>
                      </a:cubicBezTo>
                      <a:cubicBezTo>
                        <a:pt x="53" y="272"/>
                        <a:pt x="46" y="272"/>
                        <a:pt x="40" y="271"/>
                      </a:cubicBezTo>
                      <a:cubicBezTo>
                        <a:pt x="39" y="271"/>
                        <a:pt x="37" y="271"/>
                        <a:pt x="36" y="271"/>
                      </a:cubicBezTo>
                      <a:cubicBezTo>
                        <a:pt x="36" y="270"/>
                        <a:pt x="36" y="268"/>
                        <a:pt x="37" y="267"/>
                      </a:cubicBezTo>
                      <a:cubicBezTo>
                        <a:pt x="39" y="261"/>
                        <a:pt x="41" y="254"/>
                        <a:pt x="39" y="247"/>
                      </a:cubicBezTo>
                      <a:cubicBezTo>
                        <a:pt x="37" y="241"/>
                        <a:pt x="31" y="236"/>
                        <a:pt x="26" y="232"/>
                      </a:cubicBezTo>
                      <a:cubicBezTo>
                        <a:pt x="25" y="232"/>
                        <a:pt x="24" y="231"/>
                        <a:pt x="23" y="230"/>
                      </a:cubicBezTo>
                      <a:cubicBezTo>
                        <a:pt x="24" y="229"/>
                        <a:pt x="25" y="228"/>
                        <a:pt x="26" y="227"/>
                      </a:cubicBezTo>
                      <a:cubicBezTo>
                        <a:pt x="31" y="223"/>
                        <a:pt x="37" y="219"/>
                        <a:pt x="39" y="213"/>
                      </a:cubicBezTo>
                      <a:cubicBezTo>
                        <a:pt x="41" y="206"/>
                        <a:pt x="39" y="199"/>
                        <a:pt x="38" y="193"/>
                      </a:cubicBezTo>
                      <a:cubicBezTo>
                        <a:pt x="37" y="192"/>
                        <a:pt x="37" y="190"/>
                        <a:pt x="37" y="189"/>
                      </a:cubicBezTo>
                      <a:cubicBezTo>
                        <a:pt x="38" y="189"/>
                        <a:pt x="40" y="189"/>
                        <a:pt x="41" y="189"/>
                      </a:cubicBezTo>
                      <a:cubicBezTo>
                        <a:pt x="47" y="189"/>
                        <a:pt x="54" y="189"/>
                        <a:pt x="60" y="185"/>
                      </a:cubicBezTo>
                      <a:cubicBezTo>
                        <a:pt x="66" y="181"/>
                        <a:pt x="68" y="174"/>
                        <a:pt x="70" y="169"/>
                      </a:cubicBezTo>
                      <a:cubicBezTo>
                        <a:pt x="71" y="167"/>
                        <a:pt x="71" y="166"/>
                        <a:pt x="72" y="164"/>
                      </a:cubicBezTo>
                      <a:cubicBezTo>
                        <a:pt x="73" y="165"/>
                        <a:pt x="75" y="167"/>
                        <a:pt x="76" y="168"/>
                      </a:cubicBezTo>
                      <a:cubicBezTo>
                        <a:pt x="81" y="172"/>
                        <a:pt x="87" y="177"/>
                        <a:pt x="93" y="177"/>
                      </a:cubicBezTo>
                      <a:cubicBezTo>
                        <a:pt x="94" y="177"/>
                        <a:pt x="94" y="177"/>
                        <a:pt x="94" y="177"/>
                      </a:cubicBezTo>
                      <a:cubicBezTo>
                        <a:pt x="101" y="177"/>
                        <a:pt x="106" y="172"/>
                        <a:pt x="111" y="168"/>
                      </a:cubicBezTo>
                      <a:cubicBezTo>
                        <a:pt x="112" y="168"/>
                        <a:pt x="114" y="165"/>
                        <a:pt x="115" y="164"/>
                      </a:cubicBezTo>
                      <a:cubicBezTo>
                        <a:pt x="116" y="166"/>
                        <a:pt x="116" y="168"/>
                        <a:pt x="117" y="169"/>
                      </a:cubicBezTo>
                      <a:cubicBezTo>
                        <a:pt x="119" y="175"/>
                        <a:pt x="121" y="181"/>
                        <a:pt x="127" y="185"/>
                      </a:cubicBezTo>
                      <a:cubicBezTo>
                        <a:pt x="132" y="189"/>
                        <a:pt x="139" y="190"/>
                        <a:pt x="145" y="190"/>
                      </a:cubicBezTo>
                      <a:cubicBezTo>
                        <a:pt x="146" y="190"/>
                        <a:pt x="148" y="190"/>
                        <a:pt x="150" y="190"/>
                      </a:cubicBezTo>
                      <a:cubicBezTo>
                        <a:pt x="149" y="192"/>
                        <a:pt x="149" y="193"/>
                        <a:pt x="149" y="194"/>
                      </a:cubicBezTo>
                      <a:cubicBezTo>
                        <a:pt x="147" y="200"/>
                        <a:pt x="145" y="207"/>
                        <a:pt x="147" y="214"/>
                      </a:cubicBezTo>
                      <a:cubicBezTo>
                        <a:pt x="149" y="221"/>
                        <a:pt x="154" y="225"/>
                        <a:pt x="159" y="229"/>
                      </a:cubicBezTo>
                      <a:cubicBezTo>
                        <a:pt x="160" y="230"/>
                        <a:pt x="162" y="231"/>
                        <a:pt x="163" y="232"/>
                      </a:cubicBezTo>
                      <a:cubicBezTo>
                        <a:pt x="161" y="233"/>
                        <a:pt x="160" y="234"/>
                        <a:pt x="159" y="235"/>
                      </a:cubicBezTo>
                      <a:close/>
                      <a:moveTo>
                        <a:pt x="109" y="199"/>
                      </a:moveTo>
                      <a:cubicBezTo>
                        <a:pt x="101" y="195"/>
                        <a:pt x="91" y="194"/>
                        <a:pt x="82" y="197"/>
                      </a:cubicBezTo>
                      <a:cubicBezTo>
                        <a:pt x="73" y="200"/>
                        <a:pt x="66" y="206"/>
                        <a:pt x="61" y="214"/>
                      </a:cubicBezTo>
                      <a:cubicBezTo>
                        <a:pt x="57" y="223"/>
                        <a:pt x="56" y="232"/>
                        <a:pt x="59" y="241"/>
                      </a:cubicBezTo>
                      <a:cubicBezTo>
                        <a:pt x="62" y="250"/>
                        <a:pt x="68" y="258"/>
                        <a:pt x="76" y="262"/>
                      </a:cubicBezTo>
                      <a:cubicBezTo>
                        <a:pt x="81" y="265"/>
                        <a:pt x="87" y="266"/>
                        <a:pt x="93" y="266"/>
                      </a:cubicBezTo>
                      <a:cubicBezTo>
                        <a:pt x="96" y="266"/>
                        <a:pt x="100" y="266"/>
                        <a:pt x="103" y="265"/>
                      </a:cubicBezTo>
                      <a:cubicBezTo>
                        <a:pt x="112" y="262"/>
                        <a:pt x="120" y="256"/>
                        <a:pt x="124" y="247"/>
                      </a:cubicBezTo>
                      <a:cubicBezTo>
                        <a:pt x="129" y="239"/>
                        <a:pt x="129" y="229"/>
                        <a:pt x="127" y="220"/>
                      </a:cubicBezTo>
                      <a:cubicBezTo>
                        <a:pt x="124" y="211"/>
                        <a:pt x="118" y="204"/>
                        <a:pt x="109" y="199"/>
                      </a:cubicBezTo>
                      <a:close/>
                      <a:moveTo>
                        <a:pt x="105" y="237"/>
                      </a:moveTo>
                      <a:cubicBezTo>
                        <a:pt x="103" y="241"/>
                        <a:pt x="101" y="243"/>
                        <a:pt x="97" y="244"/>
                      </a:cubicBezTo>
                      <a:cubicBezTo>
                        <a:pt x="93" y="245"/>
                        <a:pt x="89" y="245"/>
                        <a:pt x="86" y="243"/>
                      </a:cubicBezTo>
                      <a:cubicBezTo>
                        <a:pt x="83" y="241"/>
                        <a:pt x="80" y="239"/>
                        <a:pt x="79" y="235"/>
                      </a:cubicBezTo>
                      <a:cubicBezTo>
                        <a:pt x="78" y="231"/>
                        <a:pt x="78" y="227"/>
                        <a:pt x="80" y="224"/>
                      </a:cubicBezTo>
                      <a:cubicBezTo>
                        <a:pt x="82" y="221"/>
                        <a:pt x="85" y="218"/>
                        <a:pt x="88" y="217"/>
                      </a:cubicBezTo>
                      <a:cubicBezTo>
                        <a:pt x="90" y="217"/>
                        <a:pt x="91" y="216"/>
                        <a:pt x="93" y="216"/>
                      </a:cubicBezTo>
                      <a:cubicBezTo>
                        <a:pt x="95" y="216"/>
                        <a:pt x="97" y="217"/>
                        <a:pt x="99" y="218"/>
                      </a:cubicBezTo>
                      <a:cubicBezTo>
                        <a:pt x="103" y="220"/>
                        <a:pt x="105" y="223"/>
                        <a:pt x="106" y="226"/>
                      </a:cubicBezTo>
                      <a:cubicBezTo>
                        <a:pt x="107" y="230"/>
                        <a:pt x="107" y="234"/>
                        <a:pt x="105" y="237"/>
                      </a:cubicBezTo>
                      <a:close/>
                      <a:moveTo>
                        <a:pt x="311" y="74"/>
                      </a:moveTo>
                      <a:cubicBezTo>
                        <a:pt x="309" y="72"/>
                        <a:pt x="307" y="70"/>
                        <a:pt x="306" y="69"/>
                      </a:cubicBezTo>
                      <a:cubicBezTo>
                        <a:pt x="306" y="67"/>
                        <a:pt x="307" y="64"/>
                        <a:pt x="308" y="62"/>
                      </a:cubicBezTo>
                      <a:cubicBezTo>
                        <a:pt x="310" y="55"/>
                        <a:pt x="313" y="46"/>
                        <a:pt x="307" y="38"/>
                      </a:cubicBezTo>
                      <a:cubicBezTo>
                        <a:pt x="302" y="31"/>
                        <a:pt x="292" y="30"/>
                        <a:pt x="285" y="30"/>
                      </a:cubicBezTo>
                      <a:cubicBezTo>
                        <a:pt x="283" y="30"/>
                        <a:pt x="280" y="30"/>
                        <a:pt x="278" y="29"/>
                      </a:cubicBezTo>
                      <a:cubicBezTo>
                        <a:pt x="277" y="28"/>
                        <a:pt x="276" y="25"/>
                        <a:pt x="276" y="23"/>
                      </a:cubicBezTo>
                      <a:cubicBezTo>
                        <a:pt x="273" y="16"/>
                        <a:pt x="270" y="7"/>
                        <a:pt x="261" y="4"/>
                      </a:cubicBezTo>
                      <a:cubicBezTo>
                        <a:pt x="252" y="1"/>
                        <a:pt x="244" y="6"/>
                        <a:pt x="238" y="10"/>
                      </a:cubicBezTo>
                      <a:cubicBezTo>
                        <a:pt x="237" y="12"/>
                        <a:pt x="234" y="13"/>
                        <a:pt x="232" y="14"/>
                      </a:cubicBezTo>
                      <a:cubicBezTo>
                        <a:pt x="231" y="13"/>
                        <a:pt x="229" y="12"/>
                        <a:pt x="227" y="10"/>
                      </a:cubicBezTo>
                      <a:cubicBezTo>
                        <a:pt x="221" y="6"/>
                        <a:pt x="213" y="0"/>
                        <a:pt x="204" y="3"/>
                      </a:cubicBezTo>
                      <a:cubicBezTo>
                        <a:pt x="195" y="6"/>
                        <a:pt x="191" y="16"/>
                        <a:pt x="189" y="22"/>
                      </a:cubicBezTo>
                      <a:cubicBezTo>
                        <a:pt x="188" y="24"/>
                        <a:pt x="187" y="27"/>
                        <a:pt x="186" y="28"/>
                      </a:cubicBezTo>
                      <a:cubicBezTo>
                        <a:pt x="185" y="29"/>
                        <a:pt x="182" y="29"/>
                        <a:pt x="180" y="29"/>
                      </a:cubicBezTo>
                      <a:cubicBezTo>
                        <a:pt x="172" y="29"/>
                        <a:pt x="163" y="29"/>
                        <a:pt x="157" y="36"/>
                      </a:cubicBezTo>
                      <a:cubicBezTo>
                        <a:pt x="151" y="44"/>
                        <a:pt x="154" y="53"/>
                        <a:pt x="156" y="60"/>
                      </a:cubicBezTo>
                      <a:cubicBezTo>
                        <a:pt x="156" y="62"/>
                        <a:pt x="157" y="65"/>
                        <a:pt x="157" y="67"/>
                      </a:cubicBezTo>
                      <a:cubicBezTo>
                        <a:pt x="156" y="68"/>
                        <a:pt x="154" y="70"/>
                        <a:pt x="152" y="71"/>
                      </a:cubicBezTo>
                      <a:cubicBezTo>
                        <a:pt x="147" y="75"/>
                        <a:pt x="139" y="81"/>
                        <a:pt x="139" y="91"/>
                      </a:cubicBezTo>
                      <a:cubicBezTo>
                        <a:pt x="138" y="100"/>
                        <a:pt x="146" y="106"/>
                        <a:pt x="152" y="110"/>
                      </a:cubicBezTo>
                      <a:cubicBezTo>
                        <a:pt x="153" y="112"/>
                        <a:pt x="156" y="114"/>
                        <a:pt x="157" y="115"/>
                      </a:cubicBezTo>
                      <a:cubicBezTo>
                        <a:pt x="157" y="116"/>
                        <a:pt x="156" y="120"/>
                        <a:pt x="155" y="122"/>
                      </a:cubicBezTo>
                      <a:cubicBezTo>
                        <a:pt x="153" y="129"/>
                        <a:pt x="150" y="138"/>
                        <a:pt x="156" y="146"/>
                      </a:cubicBezTo>
                      <a:cubicBezTo>
                        <a:pt x="161" y="153"/>
                        <a:pt x="171" y="154"/>
                        <a:pt x="178" y="154"/>
                      </a:cubicBezTo>
                      <a:cubicBezTo>
                        <a:pt x="180" y="154"/>
                        <a:pt x="183" y="154"/>
                        <a:pt x="185" y="155"/>
                      </a:cubicBezTo>
                      <a:cubicBezTo>
                        <a:pt x="185" y="156"/>
                        <a:pt x="186" y="159"/>
                        <a:pt x="187" y="161"/>
                      </a:cubicBezTo>
                      <a:cubicBezTo>
                        <a:pt x="189" y="168"/>
                        <a:pt x="192" y="177"/>
                        <a:pt x="201" y="180"/>
                      </a:cubicBezTo>
                      <a:cubicBezTo>
                        <a:pt x="210" y="183"/>
                        <a:pt x="218" y="178"/>
                        <a:pt x="224" y="174"/>
                      </a:cubicBezTo>
                      <a:cubicBezTo>
                        <a:pt x="226" y="172"/>
                        <a:pt x="229" y="171"/>
                        <a:pt x="230" y="170"/>
                      </a:cubicBezTo>
                      <a:cubicBezTo>
                        <a:pt x="232" y="171"/>
                        <a:pt x="234" y="172"/>
                        <a:pt x="236" y="174"/>
                      </a:cubicBezTo>
                      <a:cubicBezTo>
                        <a:pt x="240" y="177"/>
                        <a:pt x="247" y="181"/>
                        <a:pt x="254" y="181"/>
                      </a:cubicBezTo>
                      <a:cubicBezTo>
                        <a:pt x="255" y="181"/>
                        <a:pt x="257" y="181"/>
                        <a:pt x="259" y="181"/>
                      </a:cubicBezTo>
                      <a:cubicBezTo>
                        <a:pt x="268" y="178"/>
                        <a:pt x="271" y="168"/>
                        <a:pt x="274" y="162"/>
                      </a:cubicBezTo>
                      <a:cubicBezTo>
                        <a:pt x="275" y="160"/>
                        <a:pt x="276" y="157"/>
                        <a:pt x="276" y="156"/>
                      </a:cubicBezTo>
                      <a:cubicBezTo>
                        <a:pt x="278" y="155"/>
                        <a:pt x="281" y="155"/>
                        <a:pt x="283" y="155"/>
                      </a:cubicBezTo>
                      <a:cubicBezTo>
                        <a:pt x="290" y="155"/>
                        <a:pt x="300" y="155"/>
                        <a:pt x="306" y="148"/>
                      </a:cubicBezTo>
                      <a:cubicBezTo>
                        <a:pt x="311" y="140"/>
                        <a:pt x="309" y="131"/>
                        <a:pt x="307" y="124"/>
                      </a:cubicBezTo>
                      <a:cubicBezTo>
                        <a:pt x="306" y="122"/>
                        <a:pt x="305" y="119"/>
                        <a:pt x="305" y="117"/>
                      </a:cubicBezTo>
                      <a:cubicBezTo>
                        <a:pt x="306" y="116"/>
                        <a:pt x="309" y="114"/>
                        <a:pt x="310" y="113"/>
                      </a:cubicBezTo>
                      <a:cubicBezTo>
                        <a:pt x="316" y="109"/>
                        <a:pt x="324" y="103"/>
                        <a:pt x="324" y="93"/>
                      </a:cubicBezTo>
                      <a:cubicBezTo>
                        <a:pt x="324" y="84"/>
                        <a:pt x="317" y="78"/>
                        <a:pt x="311" y="74"/>
                      </a:cubicBezTo>
                      <a:close/>
                      <a:moveTo>
                        <a:pt x="298" y="96"/>
                      </a:moveTo>
                      <a:cubicBezTo>
                        <a:pt x="293" y="100"/>
                        <a:pt x="287" y="104"/>
                        <a:pt x="285" y="110"/>
                      </a:cubicBezTo>
                      <a:cubicBezTo>
                        <a:pt x="283" y="117"/>
                        <a:pt x="285" y="123"/>
                        <a:pt x="286" y="129"/>
                      </a:cubicBezTo>
                      <a:cubicBezTo>
                        <a:pt x="287" y="131"/>
                        <a:pt x="287" y="132"/>
                        <a:pt x="287" y="134"/>
                      </a:cubicBezTo>
                      <a:cubicBezTo>
                        <a:pt x="286" y="134"/>
                        <a:pt x="284" y="134"/>
                        <a:pt x="283" y="134"/>
                      </a:cubicBezTo>
                      <a:cubicBezTo>
                        <a:pt x="277" y="134"/>
                        <a:pt x="270" y="134"/>
                        <a:pt x="264" y="138"/>
                      </a:cubicBezTo>
                      <a:cubicBezTo>
                        <a:pt x="258" y="142"/>
                        <a:pt x="256" y="148"/>
                        <a:pt x="254" y="154"/>
                      </a:cubicBezTo>
                      <a:cubicBezTo>
                        <a:pt x="253" y="155"/>
                        <a:pt x="253" y="157"/>
                        <a:pt x="252" y="158"/>
                      </a:cubicBezTo>
                      <a:cubicBezTo>
                        <a:pt x="251" y="157"/>
                        <a:pt x="249" y="155"/>
                        <a:pt x="248" y="155"/>
                      </a:cubicBezTo>
                      <a:cubicBezTo>
                        <a:pt x="243" y="151"/>
                        <a:pt x="237" y="145"/>
                        <a:pt x="231" y="145"/>
                      </a:cubicBezTo>
                      <a:cubicBezTo>
                        <a:pt x="230" y="145"/>
                        <a:pt x="230" y="145"/>
                        <a:pt x="230" y="145"/>
                      </a:cubicBezTo>
                      <a:cubicBezTo>
                        <a:pt x="223" y="145"/>
                        <a:pt x="218" y="151"/>
                        <a:pt x="213" y="154"/>
                      </a:cubicBezTo>
                      <a:cubicBezTo>
                        <a:pt x="212" y="155"/>
                        <a:pt x="210" y="157"/>
                        <a:pt x="209" y="158"/>
                      </a:cubicBezTo>
                      <a:cubicBezTo>
                        <a:pt x="208" y="157"/>
                        <a:pt x="208" y="155"/>
                        <a:pt x="207" y="154"/>
                      </a:cubicBezTo>
                      <a:cubicBezTo>
                        <a:pt x="205" y="148"/>
                        <a:pt x="203" y="141"/>
                        <a:pt x="197" y="137"/>
                      </a:cubicBezTo>
                      <a:cubicBezTo>
                        <a:pt x="192" y="133"/>
                        <a:pt x="185" y="133"/>
                        <a:pt x="179" y="133"/>
                      </a:cubicBezTo>
                      <a:cubicBezTo>
                        <a:pt x="178" y="133"/>
                        <a:pt x="176" y="133"/>
                        <a:pt x="174" y="132"/>
                      </a:cubicBezTo>
                      <a:cubicBezTo>
                        <a:pt x="175" y="131"/>
                        <a:pt x="175" y="129"/>
                        <a:pt x="175" y="128"/>
                      </a:cubicBezTo>
                      <a:cubicBezTo>
                        <a:pt x="177" y="122"/>
                        <a:pt x="179" y="115"/>
                        <a:pt x="177" y="109"/>
                      </a:cubicBezTo>
                      <a:cubicBezTo>
                        <a:pt x="175" y="102"/>
                        <a:pt x="170" y="98"/>
                        <a:pt x="165" y="94"/>
                      </a:cubicBezTo>
                      <a:cubicBezTo>
                        <a:pt x="164" y="93"/>
                        <a:pt x="162" y="92"/>
                        <a:pt x="161" y="91"/>
                      </a:cubicBezTo>
                      <a:cubicBezTo>
                        <a:pt x="163" y="90"/>
                        <a:pt x="164" y="89"/>
                        <a:pt x="165" y="88"/>
                      </a:cubicBezTo>
                      <a:cubicBezTo>
                        <a:pt x="170" y="84"/>
                        <a:pt x="176" y="80"/>
                        <a:pt x="178" y="74"/>
                      </a:cubicBezTo>
                      <a:cubicBezTo>
                        <a:pt x="180" y="67"/>
                        <a:pt x="178" y="61"/>
                        <a:pt x="176" y="55"/>
                      </a:cubicBezTo>
                      <a:cubicBezTo>
                        <a:pt x="176" y="53"/>
                        <a:pt x="176" y="52"/>
                        <a:pt x="175" y="50"/>
                      </a:cubicBezTo>
                      <a:cubicBezTo>
                        <a:pt x="177" y="50"/>
                        <a:pt x="179" y="50"/>
                        <a:pt x="180" y="50"/>
                      </a:cubicBezTo>
                      <a:cubicBezTo>
                        <a:pt x="186" y="50"/>
                        <a:pt x="193" y="50"/>
                        <a:pt x="199" y="46"/>
                      </a:cubicBezTo>
                      <a:cubicBezTo>
                        <a:pt x="204" y="42"/>
                        <a:pt x="207" y="36"/>
                        <a:pt x="209" y="30"/>
                      </a:cubicBezTo>
                      <a:cubicBezTo>
                        <a:pt x="209" y="29"/>
                        <a:pt x="210" y="27"/>
                        <a:pt x="211" y="26"/>
                      </a:cubicBezTo>
                      <a:cubicBezTo>
                        <a:pt x="212" y="27"/>
                        <a:pt x="214" y="29"/>
                        <a:pt x="215" y="29"/>
                      </a:cubicBezTo>
                      <a:cubicBezTo>
                        <a:pt x="220" y="33"/>
                        <a:pt x="225" y="39"/>
                        <a:pt x="232" y="39"/>
                      </a:cubicBezTo>
                      <a:cubicBezTo>
                        <a:pt x="232" y="39"/>
                        <a:pt x="232" y="39"/>
                        <a:pt x="232" y="39"/>
                      </a:cubicBezTo>
                      <a:cubicBezTo>
                        <a:pt x="239" y="39"/>
                        <a:pt x="245" y="33"/>
                        <a:pt x="250" y="30"/>
                      </a:cubicBezTo>
                      <a:cubicBezTo>
                        <a:pt x="251" y="29"/>
                        <a:pt x="253" y="27"/>
                        <a:pt x="254" y="26"/>
                      </a:cubicBezTo>
                      <a:cubicBezTo>
                        <a:pt x="254" y="27"/>
                        <a:pt x="255" y="29"/>
                        <a:pt x="255" y="30"/>
                      </a:cubicBezTo>
                      <a:cubicBezTo>
                        <a:pt x="257" y="36"/>
                        <a:pt x="260" y="43"/>
                        <a:pt x="265" y="47"/>
                      </a:cubicBezTo>
                      <a:cubicBezTo>
                        <a:pt x="271" y="51"/>
                        <a:pt x="278" y="51"/>
                        <a:pt x="284" y="51"/>
                      </a:cubicBezTo>
                      <a:cubicBezTo>
                        <a:pt x="285" y="51"/>
                        <a:pt x="287" y="51"/>
                        <a:pt x="288" y="52"/>
                      </a:cubicBezTo>
                      <a:cubicBezTo>
                        <a:pt x="288" y="53"/>
                        <a:pt x="288" y="55"/>
                        <a:pt x="287" y="56"/>
                      </a:cubicBezTo>
                      <a:cubicBezTo>
                        <a:pt x="285" y="62"/>
                        <a:pt x="283" y="69"/>
                        <a:pt x="285" y="75"/>
                      </a:cubicBezTo>
                      <a:cubicBezTo>
                        <a:pt x="287" y="82"/>
                        <a:pt x="293" y="86"/>
                        <a:pt x="298" y="90"/>
                      </a:cubicBezTo>
                      <a:cubicBezTo>
                        <a:pt x="299" y="91"/>
                        <a:pt x="300" y="92"/>
                        <a:pt x="301" y="93"/>
                      </a:cubicBezTo>
                      <a:cubicBezTo>
                        <a:pt x="300" y="94"/>
                        <a:pt x="299" y="95"/>
                        <a:pt x="298" y="96"/>
                      </a:cubicBezTo>
                      <a:close/>
                      <a:moveTo>
                        <a:pt x="248" y="61"/>
                      </a:moveTo>
                      <a:cubicBezTo>
                        <a:pt x="239" y="56"/>
                        <a:pt x="230" y="55"/>
                        <a:pt x="221" y="58"/>
                      </a:cubicBezTo>
                      <a:cubicBezTo>
                        <a:pt x="212" y="61"/>
                        <a:pt x="204" y="67"/>
                        <a:pt x="200" y="75"/>
                      </a:cubicBezTo>
                      <a:cubicBezTo>
                        <a:pt x="195" y="84"/>
                        <a:pt x="195" y="93"/>
                        <a:pt x="197" y="103"/>
                      </a:cubicBezTo>
                      <a:cubicBezTo>
                        <a:pt x="200" y="112"/>
                        <a:pt x="206" y="119"/>
                        <a:pt x="215" y="123"/>
                      </a:cubicBezTo>
                      <a:cubicBezTo>
                        <a:pt x="220" y="126"/>
                        <a:pt x="226" y="128"/>
                        <a:pt x="231" y="128"/>
                      </a:cubicBezTo>
                      <a:cubicBezTo>
                        <a:pt x="235" y="128"/>
                        <a:pt x="238" y="127"/>
                        <a:pt x="242" y="126"/>
                      </a:cubicBezTo>
                      <a:cubicBezTo>
                        <a:pt x="251" y="123"/>
                        <a:pt x="258" y="117"/>
                        <a:pt x="263" y="109"/>
                      </a:cubicBezTo>
                      <a:cubicBezTo>
                        <a:pt x="267" y="100"/>
                        <a:pt x="268" y="91"/>
                        <a:pt x="265" y="81"/>
                      </a:cubicBezTo>
                      <a:cubicBezTo>
                        <a:pt x="262" y="72"/>
                        <a:pt x="256" y="65"/>
                        <a:pt x="248" y="61"/>
                      </a:cubicBezTo>
                      <a:close/>
                      <a:moveTo>
                        <a:pt x="244" y="99"/>
                      </a:moveTo>
                      <a:cubicBezTo>
                        <a:pt x="242" y="102"/>
                        <a:pt x="239" y="104"/>
                        <a:pt x="236" y="106"/>
                      </a:cubicBezTo>
                      <a:cubicBezTo>
                        <a:pt x="232" y="107"/>
                        <a:pt x="228" y="106"/>
                        <a:pt x="225" y="105"/>
                      </a:cubicBezTo>
                      <a:cubicBezTo>
                        <a:pt x="221" y="103"/>
                        <a:pt x="219" y="100"/>
                        <a:pt x="218" y="96"/>
                      </a:cubicBezTo>
                      <a:cubicBezTo>
                        <a:pt x="217" y="93"/>
                        <a:pt x="217" y="89"/>
                        <a:pt x="219" y="85"/>
                      </a:cubicBezTo>
                      <a:cubicBezTo>
                        <a:pt x="221" y="82"/>
                        <a:pt x="223" y="80"/>
                        <a:pt x="227" y="78"/>
                      </a:cubicBezTo>
                      <a:cubicBezTo>
                        <a:pt x="229" y="78"/>
                        <a:pt x="230" y="78"/>
                        <a:pt x="231" y="78"/>
                      </a:cubicBezTo>
                      <a:cubicBezTo>
                        <a:pt x="234" y="78"/>
                        <a:pt x="236" y="78"/>
                        <a:pt x="238" y="79"/>
                      </a:cubicBezTo>
                      <a:cubicBezTo>
                        <a:pt x="241" y="81"/>
                        <a:pt x="244" y="84"/>
                        <a:pt x="245" y="88"/>
                      </a:cubicBezTo>
                      <a:cubicBezTo>
                        <a:pt x="246" y="91"/>
                        <a:pt x="246" y="95"/>
                        <a:pt x="244" y="99"/>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sp>
            <p:nvSpPr>
              <p:cNvPr id="35" name="Line 13">
                <a:extLst>
                  <a:ext uri="{FF2B5EF4-FFF2-40B4-BE49-F238E27FC236}">
                    <a16:creationId xmlns:a16="http://schemas.microsoft.com/office/drawing/2014/main" id="{5246B590-2B26-450A-9747-C77E81835E35}"/>
                  </a:ext>
                </a:extLst>
              </p:cNvPr>
              <p:cNvSpPr>
                <a:spLocks noChangeShapeType="1"/>
              </p:cNvSpPr>
              <p:nvPr/>
            </p:nvSpPr>
            <p:spPr bwMode="auto">
              <a:xfrm flipV="1">
                <a:off x="3672199" y="4529732"/>
                <a:ext cx="574202" cy="5907"/>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36" name="Oval 35">
                <a:extLst>
                  <a:ext uri="{FF2B5EF4-FFF2-40B4-BE49-F238E27FC236}">
                    <a16:creationId xmlns:a16="http://schemas.microsoft.com/office/drawing/2014/main" id="{ED109BF5-9FD8-41FF-B111-0517F05078E8}"/>
                  </a:ext>
                </a:extLst>
              </p:cNvPr>
              <p:cNvSpPr/>
              <p:nvPr/>
            </p:nvSpPr>
            <p:spPr>
              <a:xfrm>
                <a:off x="4019852" y="4187690"/>
                <a:ext cx="200053" cy="207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2">
                    <a:solidFill>
                      <a:prstClr val="white"/>
                    </a:solidFill>
                    <a:latin typeface="Calibri" panose="020F0502020204030204"/>
                  </a:rPr>
                  <a:t>2</a:t>
                </a:r>
                <a:endParaRPr kumimoji="0" lang="en-US" sz="902"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81547209-AC5D-4EA6-AACB-304488553F4E}"/>
                  </a:ext>
                </a:extLst>
              </p:cNvPr>
              <p:cNvSpPr/>
              <p:nvPr/>
            </p:nvSpPr>
            <p:spPr>
              <a:xfrm>
                <a:off x="5278185" y="4185027"/>
                <a:ext cx="200053" cy="207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3</a:t>
                </a:r>
              </a:p>
            </p:txBody>
          </p:sp>
          <p:sp>
            <p:nvSpPr>
              <p:cNvPr id="38" name="TextBox 37">
                <a:extLst>
                  <a:ext uri="{FF2B5EF4-FFF2-40B4-BE49-F238E27FC236}">
                    <a16:creationId xmlns:a16="http://schemas.microsoft.com/office/drawing/2014/main" id="{17E1DFC5-0232-4E05-ADB1-196B76DEF7EF}"/>
                  </a:ext>
                </a:extLst>
              </p:cNvPr>
              <p:cNvSpPr txBox="1"/>
              <p:nvPr/>
            </p:nvSpPr>
            <p:spPr>
              <a:xfrm>
                <a:off x="4279014" y="4806599"/>
                <a:ext cx="78663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POM Job Scheduler</a:t>
                </a:r>
              </a:p>
            </p:txBody>
          </p:sp>
        </p:grpSp>
        <p:sp>
          <p:nvSpPr>
            <p:cNvPr id="20" name="Freeform 27">
              <a:extLst>
                <a:ext uri="{FF2B5EF4-FFF2-40B4-BE49-F238E27FC236}">
                  <a16:creationId xmlns:a16="http://schemas.microsoft.com/office/drawing/2014/main" id="{9EFB3D15-98D9-469B-BEB4-ED29451A4D46}"/>
                </a:ext>
              </a:extLst>
            </p:cNvPr>
            <p:cNvSpPr>
              <a:spLocks noEditPoints="1"/>
            </p:cNvSpPr>
            <p:nvPr/>
          </p:nvSpPr>
          <p:spPr bwMode="auto">
            <a:xfrm>
              <a:off x="5565978" y="1559537"/>
              <a:ext cx="286290" cy="279234"/>
            </a:xfrm>
            <a:custGeom>
              <a:avLst/>
              <a:gdLst>
                <a:gd name="T0" fmla="*/ 1000 w 1116"/>
                <a:gd name="T1" fmla="*/ 2 h 1184"/>
                <a:gd name="T2" fmla="*/ 64 w 1116"/>
                <a:gd name="T3" fmla="*/ 724 h 1184"/>
                <a:gd name="T4" fmla="*/ 1060 w 1116"/>
                <a:gd name="T5" fmla="*/ 1184 h 1184"/>
                <a:gd name="T6" fmla="*/ 992 w 1116"/>
                <a:gd name="T7" fmla="*/ 948 h 1184"/>
                <a:gd name="T8" fmla="*/ 932 w 1116"/>
                <a:gd name="T9" fmla="*/ 910 h 1184"/>
                <a:gd name="T10" fmla="*/ 986 w 1116"/>
                <a:gd name="T11" fmla="*/ 910 h 1184"/>
                <a:gd name="T12" fmla="*/ 922 w 1116"/>
                <a:gd name="T13" fmla="*/ 874 h 1184"/>
                <a:gd name="T14" fmla="*/ 976 w 1116"/>
                <a:gd name="T15" fmla="*/ 826 h 1184"/>
                <a:gd name="T16" fmla="*/ 918 w 1116"/>
                <a:gd name="T17" fmla="*/ 952 h 1184"/>
                <a:gd name="T18" fmla="*/ 852 w 1116"/>
                <a:gd name="T19" fmla="*/ 906 h 1184"/>
                <a:gd name="T20" fmla="*/ 836 w 1116"/>
                <a:gd name="T21" fmla="*/ 830 h 1184"/>
                <a:gd name="T22" fmla="*/ 900 w 1116"/>
                <a:gd name="T23" fmla="*/ 870 h 1184"/>
                <a:gd name="T24" fmla="*/ 956 w 1116"/>
                <a:gd name="T25" fmla="*/ 76 h 1184"/>
                <a:gd name="T26" fmla="*/ 820 w 1116"/>
                <a:gd name="T27" fmla="*/ 870 h 1184"/>
                <a:gd name="T28" fmla="*/ 758 w 1116"/>
                <a:gd name="T29" fmla="*/ 830 h 1184"/>
                <a:gd name="T30" fmla="*/ 702 w 1116"/>
                <a:gd name="T31" fmla="*/ 900 h 1184"/>
                <a:gd name="T32" fmla="*/ 748 w 1116"/>
                <a:gd name="T33" fmla="*/ 958 h 1184"/>
                <a:gd name="T34" fmla="*/ 702 w 1116"/>
                <a:gd name="T35" fmla="*/ 900 h 1184"/>
                <a:gd name="T36" fmla="*/ 684 w 1116"/>
                <a:gd name="T37" fmla="*/ 822 h 1184"/>
                <a:gd name="T38" fmla="*/ 736 w 1116"/>
                <a:gd name="T39" fmla="*/ 880 h 1184"/>
                <a:gd name="T40" fmla="*/ 674 w 1116"/>
                <a:gd name="T41" fmla="*/ 952 h 1184"/>
                <a:gd name="T42" fmla="*/ 612 w 1116"/>
                <a:gd name="T43" fmla="*/ 906 h 1184"/>
                <a:gd name="T44" fmla="*/ 600 w 1116"/>
                <a:gd name="T45" fmla="*/ 830 h 1184"/>
                <a:gd name="T46" fmla="*/ 662 w 1116"/>
                <a:gd name="T47" fmla="*/ 870 h 1184"/>
                <a:gd name="T48" fmla="*/ 584 w 1116"/>
                <a:gd name="T49" fmla="*/ 900 h 1184"/>
                <a:gd name="T50" fmla="*/ 542 w 1116"/>
                <a:gd name="T51" fmla="*/ 958 h 1184"/>
                <a:gd name="T52" fmla="*/ 522 w 1116"/>
                <a:gd name="T53" fmla="*/ 870 h 1184"/>
                <a:gd name="T54" fmla="*/ 584 w 1116"/>
                <a:gd name="T55" fmla="*/ 830 h 1184"/>
                <a:gd name="T56" fmla="*/ 458 w 1116"/>
                <a:gd name="T57" fmla="*/ 900 h 1184"/>
                <a:gd name="T58" fmla="*/ 508 w 1116"/>
                <a:gd name="T59" fmla="*/ 958 h 1184"/>
                <a:gd name="T60" fmla="*/ 444 w 1116"/>
                <a:gd name="T61" fmla="*/ 826 h 1184"/>
                <a:gd name="T62" fmla="*/ 504 w 1116"/>
                <a:gd name="T63" fmla="*/ 874 h 1184"/>
                <a:gd name="T64" fmla="*/ 372 w 1116"/>
                <a:gd name="T65" fmla="*/ 910 h 1184"/>
                <a:gd name="T66" fmla="*/ 432 w 1116"/>
                <a:gd name="T67" fmla="*/ 948 h 1184"/>
                <a:gd name="T68" fmla="*/ 364 w 1116"/>
                <a:gd name="T69" fmla="*/ 870 h 1184"/>
                <a:gd name="T70" fmla="*/ 426 w 1116"/>
                <a:gd name="T71" fmla="*/ 830 h 1184"/>
                <a:gd name="T72" fmla="*/ 364 w 1116"/>
                <a:gd name="T73" fmla="*/ 870 h 1184"/>
                <a:gd name="T74" fmla="*/ 354 w 1116"/>
                <a:gd name="T75" fmla="*/ 906 h 1184"/>
                <a:gd name="T76" fmla="*/ 290 w 1116"/>
                <a:gd name="T77" fmla="*/ 952 h 1184"/>
                <a:gd name="T78" fmla="*/ 344 w 1116"/>
                <a:gd name="T79" fmla="*/ 822 h 1184"/>
                <a:gd name="T80" fmla="*/ 290 w 1116"/>
                <a:gd name="T81" fmla="*/ 880 h 1184"/>
                <a:gd name="T82" fmla="*/ 214 w 1116"/>
                <a:gd name="T83" fmla="*/ 880 h 1184"/>
                <a:gd name="T84" fmla="*/ 262 w 1116"/>
                <a:gd name="T85" fmla="*/ 820 h 1184"/>
                <a:gd name="T86" fmla="*/ 142 w 1116"/>
                <a:gd name="T87" fmla="*/ 820 h 1184"/>
                <a:gd name="T88" fmla="*/ 178 w 1116"/>
                <a:gd name="T89" fmla="*/ 880 h 1184"/>
                <a:gd name="T90" fmla="*/ 130 w 1116"/>
                <a:gd name="T91" fmla="*/ 900 h 1184"/>
                <a:gd name="T92" fmla="*/ 184 w 1116"/>
                <a:gd name="T93" fmla="*/ 958 h 1184"/>
                <a:gd name="T94" fmla="*/ 154 w 1116"/>
                <a:gd name="T95" fmla="*/ 1034 h 1184"/>
                <a:gd name="T96" fmla="*/ 116 w 1116"/>
                <a:gd name="T97" fmla="*/ 980 h 1184"/>
                <a:gd name="T98" fmla="*/ 248 w 1116"/>
                <a:gd name="T99" fmla="*/ 1032 h 1184"/>
                <a:gd name="T100" fmla="*/ 182 w 1116"/>
                <a:gd name="T101" fmla="*/ 984 h 1184"/>
                <a:gd name="T102" fmla="*/ 218 w 1116"/>
                <a:gd name="T103" fmla="*/ 958 h 1184"/>
                <a:gd name="T104" fmla="*/ 266 w 1116"/>
                <a:gd name="T105" fmla="*/ 900 h 1184"/>
                <a:gd name="T106" fmla="*/ 260 w 1116"/>
                <a:gd name="T107" fmla="*/ 958 h 1184"/>
                <a:gd name="T108" fmla="*/ 278 w 1116"/>
                <a:gd name="T109" fmla="*/ 978 h 1184"/>
                <a:gd name="T110" fmla="*/ 776 w 1116"/>
                <a:gd name="T111" fmla="*/ 1036 h 1184"/>
                <a:gd name="T112" fmla="*/ 828 w 1116"/>
                <a:gd name="T113" fmla="*/ 900 h 1184"/>
                <a:gd name="T114" fmla="*/ 780 w 1116"/>
                <a:gd name="T115" fmla="*/ 958 h 1184"/>
                <a:gd name="T116" fmla="*/ 798 w 1116"/>
                <a:gd name="T117" fmla="*/ 988 h 1184"/>
                <a:gd name="T118" fmla="*/ 874 w 1116"/>
                <a:gd name="T119" fmla="*/ 1028 h 1184"/>
                <a:gd name="T120" fmla="*/ 892 w 1116"/>
                <a:gd name="T121" fmla="*/ 1032 h 1184"/>
                <a:gd name="T122" fmla="*/ 994 w 1116"/>
                <a:gd name="T123" fmla="*/ 984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6" h="1184">
                  <a:moveTo>
                    <a:pt x="1116" y="1124"/>
                  </a:moveTo>
                  <a:lnTo>
                    <a:pt x="1046" y="724"/>
                  </a:lnTo>
                  <a:lnTo>
                    <a:pt x="1046" y="724"/>
                  </a:lnTo>
                  <a:lnTo>
                    <a:pt x="1046" y="62"/>
                  </a:lnTo>
                  <a:lnTo>
                    <a:pt x="1046" y="62"/>
                  </a:lnTo>
                  <a:lnTo>
                    <a:pt x="1044" y="50"/>
                  </a:lnTo>
                  <a:lnTo>
                    <a:pt x="1040" y="38"/>
                  </a:lnTo>
                  <a:lnTo>
                    <a:pt x="1036" y="28"/>
                  </a:lnTo>
                  <a:lnTo>
                    <a:pt x="1028" y="18"/>
                  </a:lnTo>
                  <a:lnTo>
                    <a:pt x="1020" y="12"/>
                  </a:lnTo>
                  <a:lnTo>
                    <a:pt x="1010" y="6"/>
                  </a:lnTo>
                  <a:lnTo>
                    <a:pt x="1000" y="2"/>
                  </a:lnTo>
                  <a:lnTo>
                    <a:pt x="988" y="0"/>
                  </a:lnTo>
                  <a:lnTo>
                    <a:pt x="124" y="0"/>
                  </a:lnTo>
                  <a:lnTo>
                    <a:pt x="124" y="0"/>
                  </a:lnTo>
                  <a:lnTo>
                    <a:pt x="112" y="2"/>
                  </a:lnTo>
                  <a:lnTo>
                    <a:pt x="100" y="6"/>
                  </a:lnTo>
                  <a:lnTo>
                    <a:pt x="90" y="12"/>
                  </a:lnTo>
                  <a:lnTo>
                    <a:pt x="82" y="18"/>
                  </a:lnTo>
                  <a:lnTo>
                    <a:pt x="74" y="28"/>
                  </a:lnTo>
                  <a:lnTo>
                    <a:pt x="70" y="38"/>
                  </a:lnTo>
                  <a:lnTo>
                    <a:pt x="66" y="50"/>
                  </a:lnTo>
                  <a:lnTo>
                    <a:pt x="64" y="62"/>
                  </a:lnTo>
                  <a:lnTo>
                    <a:pt x="64" y="724"/>
                  </a:lnTo>
                  <a:lnTo>
                    <a:pt x="64" y="724"/>
                  </a:lnTo>
                  <a:lnTo>
                    <a:pt x="2" y="1124"/>
                  </a:lnTo>
                  <a:lnTo>
                    <a:pt x="2" y="1124"/>
                  </a:lnTo>
                  <a:lnTo>
                    <a:pt x="0" y="1136"/>
                  </a:lnTo>
                  <a:lnTo>
                    <a:pt x="2" y="1148"/>
                  </a:lnTo>
                  <a:lnTo>
                    <a:pt x="8" y="1158"/>
                  </a:lnTo>
                  <a:lnTo>
                    <a:pt x="14" y="1166"/>
                  </a:lnTo>
                  <a:lnTo>
                    <a:pt x="22" y="1174"/>
                  </a:lnTo>
                  <a:lnTo>
                    <a:pt x="34" y="1180"/>
                  </a:lnTo>
                  <a:lnTo>
                    <a:pt x="44" y="1184"/>
                  </a:lnTo>
                  <a:lnTo>
                    <a:pt x="58" y="1184"/>
                  </a:lnTo>
                  <a:lnTo>
                    <a:pt x="1060" y="1184"/>
                  </a:lnTo>
                  <a:lnTo>
                    <a:pt x="1060" y="1184"/>
                  </a:lnTo>
                  <a:lnTo>
                    <a:pt x="1074" y="1184"/>
                  </a:lnTo>
                  <a:lnTo>
                    <a:pt x="1086" y="1180"/>
                  </a:lnTo>
                  <a:lnTo>
                    <a:pt x="1096" y="1174"/>
                  </a:lnTo>
                  <a:lnTo>
                    <a:pt x="1104" y="1166"/>
                  </a:lnTo>
                  <a:lnTo>
                    <a:pt x="1110" y="1158"/>
                  </a:lnTo>
                  <a:lnTo>
                    <a:pt x="1114" y="1148"/>
                  </a:lnTo>
                  <a:lnTo>
                    <a:pt x="1116" y="1136"/>
                  </a:lnTo>
                  <a:lnTo>
                    <a:pt x="1116" y="1124"/>
                  </a:lnTo>
                  <a:lnTo>
                    <a:pt x="1116" y="1124"/>
                  </a:lnTo>
                  <a:close/>
                  <a:moveTo>
                    <a:pt x="986" y="910"/>
                  </a:moveTo>
                  <a:lnTo>
                    <a:pt x="992" y="948"/>
                  </a:lnTo>
                  <a:lnTo>
                    <a:pt x="992" y="948"/>
                  </a:lnTo>
                  <a:lnTo>
                    <a:pt x="992" y="952"/>
                  </a:lnTo>
                  <a:lnTo>
                    <a:pt x="990" y="956"/>
                  </a:lnTo>
                  <a:lnTo>
                    <a:pt x="986" y="958"/>
                  </a:lnTo>
                  <a:lnTo>
                    <a:pt x="982" y="958"/>
                  </a:lnTo>
                  <a:lnTo>
                    <a:pt x="946" y="958"/>
                  </a:lnTo>
                  <a:lnTo>
                    <a:pt x="946" y="958"/>
                  </a:lnTo>
                  <a:lnTo>
                    <a:pt x="942" y="958"/>
                  </a:lnTo>
                  <a:lnTo>
                    <a:pt x="938" y="956"/>
                  </a:lnTo>
                  <a:lnTo>
                    <a:pt x="936" y="952"/>
                  </a:lnTo>
                  <a:lnTo>
                    <a:pt x="936" y="948"/>
                  </a:lnTo>
                  <a:lnTo>
                    <a:pt x="932" y="910"/>
                  </a:lnTo>
                  <a:lnTo>
                    <a:pt x="932" y="910"/>
                  </a:lnTo>
                  <a:lnTo>
                    <a:pt x="932" y="906"/>
                  </a:lnTo>
                  <a:lnTo>
                    <a:pt x="934" y="902"/>
                  </a:lnTo>
                  <a:lnTo>
                    <a:pt x="936" y="900"/>
                  </a:lnTo>
                  <a:lnTo>
                    <a:pt x="940" y="900"/>
                  </a:lnTo>
                  <a:lnTo>
                    <a:pt x="976" y="900"/>
                  </a:lnTo>
                  <a:lnTo>
                    <a:pt x="976" y="900"/>
                  </a:lnTo>
                  <a:lnTo>
                    <a:pt x="980" y="900"/>
                  </a:lnTo>
                  <a:lnTo>
                    <a:pt x="984" y="902"/>
                  </a:lnTo>
                  <a:lnTo>
                    <a:pt x="986" y="906"/>
                  </a:lnTo>
                  <a:lnTo>
                    <a:pt x="986" y="910"/>
                  </a:lnTo>
                  <a:lnTo>
                    <a:pt x="986" y="910"/>
                  </a:lnTo>
                  <a:close/>
                  <a:moveTo>
                    <a:pt x="978" y="830"/>
                  </a:moveTo>
                  <a:lnTo>
                    <a:pt x="982" y="870"/>
                  </a:lnTo>
                  <a:lnTo>
                    <a:pt x="982" y="870"/>
                  </a:lnTo>
                  <a:lnTo>
                    <a:pt x="982" y="874"/>
                  </a:lnTo>
                  <a:lnTo>
                    <a:pt x="980" y="878"/>
                  </a:lnTo>
                  <a:lnTo>
                    <a:pt x="978" y="880"/>
                  </a:lnTo>
                  <a:lnTo>
                    <a:pt x="974" y="880"/>
                  </a:lnTo>
                  <a:lnTo>
                    <a:pt x="932" y="880"/>
                  </a:lnTo>
                  <a:lnTo>
                    <a:pt x="932" y="880"/>
                  </a:lnTo>
                  <a:lnTo>
                    <a:pt x="928" y="880"/>
                  </a:lnTo>
                  <a:lnTo>
                    <a:pt x="924" y="878"/>
                  </a:lnTo>
                  <a:lnTo>
                    <a:pt x="922" y="874"/>
                  </a:lnTo>
                  <a:lnTo>
                    <a:pt x="920" y="870"/>
                  </a:lnTo>
                  <a:lnTo>
                    <a:pt x="916" y="830"/>
                  </a:lnTo>
                  <a:lnTo>
                    <a:pt x="916" y="830"/>
                  </a:lnTo>
                  <a:lnTo>
                    <a:pt x="918" y="826"/>
                  </a:lnTo>
                  <a:lnTo>
                    <a:pt x="918" y="824"/>
                  </a:lnTo>
                  <a:lnTo>
                    <a:pt x="922" y="822"/>
                  </a:lnTo>
                  <a:lnTo>
                    <a:pt x="926" y="820"/>
                  </a:lnTo>
                  <a:lnTo>
                    <a:pt x="968" y="820"/>
                  </a:lnTo>
                  <a:lnTo>
                    <a:pt x="968" y="820"/>
                  </a:lnTo>
                  <a:lnTo>
                    <a:pt x="970" y="822"/>
                  </a:lnTo>
                  <a:lnTo>
                    <a:pt x="974" y="824"/>
                  </a:lnTo>
                  <a:lnTo>
                    <a:pt x="976" y="826"/>
                  </a:lnTo>
                  <a:lnTo>
                    <a:pt x="978" y="830"/>
                  </a:lnTo>
                  <a:lnTo>
                    <a:pt x="978" y="830"/>
                  </a:lnTo>
                  <a:close/>
                  <a:moveTo>
                    <a:pt x="860" y="900"/>
                  </a:moveTo>
                  <a:lnTo>
                    <a:pt x="904" y="900"/>
                  </a:lnTo>
                  <a:lnTo>
                    <a:pt x="904" y="900"/>
                  </a:lnTo>
                  <a:lnTo>
                    <a:pt x="908" y="900"/>
                  </a:lnTo>
                  <a:lnTo>
                    <a:pt x="910" y="902"/>
                  </a:lnTo>
                  <a:lnTo>
                    <a:pt x="912" y="906"/>
                  </a:lnTo>
                  <a:lnTo>
                    <a:pt x="914" y="910"/>
                  </a:lnTo>
                  <a:lnTo>
                    <a:pt x="918" y="948"/>
                  </a:lnTo>
                  <a:lnTo>
                    <a:pt x="918" y="948"/>
                  </a:lnTo>
                  <a:lnTo>
                    <a:pt x="918" y="952"/>
                  </a:lnTo>
                  <a:lnTo>
                    <a:pt x="916" y="956"/>
                  </a:lnTo>
                  <a:lnTo>
                    <a:pt x="914" y="958"/>
                  </a:lnTo>
                  <a:lnTo>
                    <a:pt x="910" y="958"/>
                  </a:lnTo>
                  <a:lnTo>
                    <a:pt x="866" y="958"/>
                  </a:lnTo>
                  <a:lnTo>
                    <a:pt x="866" y="958"/>
                  </a:lnTo>
                  <a:lnTo>
                    <a:pt x="862" y="958"/>
                  </a:lnTo>
                  <a:lnTo>
                    <a:pt x="858" y="956"/>
                  </a:lnTo>
                  <a:lnTo>
                    <a:pt x="856" y="952"/>
                  </a:lnTo>
                  <a:lnTo>
                    <a:pt x="856" y="948"/>
                  </a:lnTo>
                  <a:lnTo>
                    <a:pt x="852" y="910"/>
                  </a:lnTo>
                  <a:lnTo>
                    <a:pt x="852" y="910"/>
                  </a:lnTo>
                  <a:lnTo>
                    <a:pt x="852" y="906"/>
                  </a:lnTo>
                  <a:lnTo>
                    <a:pt x="854" y="902"/>
                  </a:lnTo>
                  <a:lnTo>
                    <a:pt x="856" y="900"/>
                  </a:lnTo>
                  <a:lnTo>
                    <a:pt x="860" y="900"/>
                  </a:lnTo>
                  <a:lnTo>
                    <a:pt x="860" y="900"/>
                  </a:lnTo>
                  <a:close/>
                  <a:moveTo>
                    <a:pt x="848" y="880"/>
                  </a:moveTo>
                  <a:lnTo>
                    <a:pt x="848" y="880"/>
                  </a:lnTo>
                  <a:lnTo>
                    <a:pt x="846" y="880"/>
                  </a:lnTo>
                  <a:lnTo>
                    <a:pt x="842" y="878"/>
                  </a:lnTo>
                  <a:lnTo>
                    <a:pt x="840" y="874"/>
                  </a:lnTo>
                  <a:lnTo>
                    <a:pt x="838" y="870"/>
                  </a:lnTo>
                  <a:lnTo>
                    <a:pt x="836" y="830"/>
                  </a:lnTo>
                  <a:lnTo>
                    <a:pt x="836" y="830"/>
                  </a:lnTo>
                  <a:lnTo>
                    <a:pt x="836" y="826"/>
                  </a:lnTo>
                  <a:lnTo>
                    <a:pt x="838" y="824"/>
                  </a:lnTo>
                  <a:lnTo>
                    <a:pt x="840" y="822"/>
                  </a:lnTo>
                  <a:lnTo>
                    <a:pt x="844" y="820"/>
                  </a:lnTo>
                  <a:lnTo>
                    <a:pt x="886" y="820"/>
                  </a:lnTo>
                  <a:lnTo>
                    <a:pt x="886" y="820"/>
                  </a:lnTo>
                  <a:lnTo>
                    <a:pt x="890" y="822"/>
                  </a:lnTo>
                  <a:lnTo>
                    <a:pt x="892" y="824"/>
                  </a:lnTo>
                  <a:lnTo>
                    <a:pt x="896" y="826"/>
                  </a:lnTo>
                  <a:lnTo>
                    <a:pt x="896" y="830"/>
                  </a:lnTo>
                  <a:lnTo>
                    <a:pt x="900" y="870"/>
                  </a:lnTo>
                  <a:lnTo>
                    <a:pt x="900" y="870"/>
                  </a:lnTo>
                  <a:lnTo>
                    <a:pt x="900" y="874"/>
                  </a:lnTo>
                  <a:lnTo>
                    <a:pt x="898" y="878"/>
                  </a:lnTo>
                  <a:lnTo>
                    <a:pt x="896" y="880"/>
                  </a:lnTo>
                  <a:lnTo>
                    <a:pt x="892" y="880"/>
                  </a:lnTo>
                  <a:lnTo>
                    <a:pt x="848" y="880"/>
                  </a:lnTo>
                  <a:close/>
                  <a:moveTo>
                    <a:pt x="148" y="80"/>
                  </a:moveTo>
                  <a:lnTo>
                    <a:pt x="148" y="80"/>
                  </a:lnTo>
                  <a:lnTo>
                    <a:pt x="150" y="76"/>
                  </a:lnTo>
                  <a:lnTo>
                    <a:pt x="156" y="72"/>
                  </a:lnTo>
                  <a:lnTo>
                    <a:pt x="950" y="72"/>
                  </a:lnTo>
                  <a:lnTo>
                    <a:pt x="950" y="72"/>
                  </a:lnTo>
                  <a:lnTo>
                    <a:pt x="956" y="76"/>
                  </a:lnTo>
                  <a:lnTo>
                    <a:pt x="958" y="80"/>
                  </a:lnTo>
                  <a:lnTo>
                    <a:pt x="958" y="644"/>
                  </a:lnTo>
                  <a:lnTo>
                    <a:pt x="958" y="644"/>
                  </a:lnTo>
                  <a:lnTo>
                    <a:pt x="956" y="650"/>
                  </a:lnTo>
                  <a:lnTo>
                    <a:pt x="950" y="652"/>
                  </a:lnTo>
                  <a:lnTo>
                    <a:pt x="156" y="652"/>
                  </a:lnTo>
                  <a:lnTo>
                    <a:pt x="156" y="652"/>
                  </a:lnTo>
                  <a:lnTo>
                    <a:pt x="150" y="650"/>
                  </a:lnTo>
                  <a:lnTo>
                    <a:pt x="148" y="644"/>
                  </a:lnTo>
                  <a:lnTo>
                    <a:pt x="148" y="80"/>
                  </a:lnTo>
                  <a:close/>
                  <a:moveTo>
                    <a:pt x="820" y="870"/>
                  </a:moveTo>
                  <a:lnTo>
                    <a:pt x="820" y="870"/>
                  </a:lnTo>
                  <a:lnTo>
                    <a:pt x="820" y="874"/>
                  </a:lnTo>
                  <a:lnTo>
                    <a:pt x="818" y="878"/>
                  </a:lnTo>
                  <a:lnTo>
                    <a:pt x="816" y="880"/>
                  </a:lnTo>
                  <a:lnTo>
                    <a:pt x="812" y="880"/>
                  </a:lnTo>
                  <a:lnTo>
                    <a:pt x="770" y="880"/>
                  </a:lnTo>
                  <a:lnTo>
                    <a:pt x="770" y="880"/>
                  </a:lnTo>
                  <a:lnTo>
                    <a:pt x="766" y="880"/>
                  </a:lnTo>
                  <a:lnTo>
                    <a:pt x="762" y="878"/>
                  </a:lnTo>
                  <a:lnTo>
                    <a:pt x="760" y="874"/>
                  </a:lnTo>
                  <a:lnTo>
                    <a:pt x="760" y="870"/>
                  </a:lnTo>
                  <a:lnTo>
                    <a:pt x="758" y="830"/>
                  </a:lnTo>
                  <a:lnTo>
                    <a:pt x="758" y="830"/>
                  </a:lnTo>
                  <a:lnTo>
                    <a:pt x="758" y="826"/>
                  </a:lnTo>
                  <a:lnTo>
                    <a:pt x="760" y="824"/>
                  </a:lnTo>
                  <a:lnTo>
                    <a:pt x="762" y="822"/>
                  </a:lnTo>
                  <a:lnTo>
                    <a:pt x="766" y="820"/>
                  </a:lnTo>
                  <a:lnTo>
                    <a:pt x="808" y="820"/>
                  </a:lnTo>
                  <a:lnTo>
                    <a:pt x="808" y="820"/>
                  </a:lnTo>
                  <a:lnTo>
                    <a:pt x="812" y="822"/>
                  </a:lnTo>
                  <a:lnTo>
                    <a:pt x="814" y="824"/>
                  </a:lnTo>
                  <a:lnTo>
                    <a:pt x="818" y="826"/>
                  </a:lnTo>
                  <a:lnTo>
                    <a:pt x="818" y="830"/>
                  </a:lnTo>
                  <a:lnTo>
                    <a:pt x="820" y="870"/>
                  </a:lnTo>
                  <a:close/>
                  <a:moveTo>
                    <a:pt x="702" y="900"/>
                  </a:moveTo>
                  <a:lnTo>
                    <a:pt x="744" y="900"/>
                  </a:lnTo>
                  <a:lnTo>
                    <a:pt x="744" y="900"/>
                  </a:lnTo>
                  <a:lnTo>
                    <a:pt x="748" y="900"/>
                  </a:lnTo>
                  <a:lnTo>
                    <a:pt x="750" y="902"/>
                  </a:lnTo>
                  <a:lnTo>
                    <a:pt x="754" y="906"/>
                  </a:lnTo>
                  <a:lnTo>
                    <a:pt x="754" y="910"/>
                  </a:lnTo>
                  <a:lnTo>
                    <a:pt x="756" y="948"/>
                  </a:lnTo>
                  <a:lnTo>
                    <a:pt x="756" y="948"/>
                  </a:lnTo>
                  <a:lnTo>
                    <a:pt x="756" y="952"/>
                  </a:lnTo>
                  <a:lnTo>
                    <a:pt x="754" y="956"/>
                  </a:lnTo>
                  <a:lnTo>
                    <a:pt x="750" y="958"/>
                  </a:lnTo>
                  <a:lnTo>
                    <a:pt x="748" y="958"/>
                  </a:lnTo>
                  <a:lnTo>
                    <a:pt x="704" y="958"/>
                  </a:lnTo>
                  <a:lnTo>
                    <a:pt x="704" y="958"/>
                  </a:lnTo>
                  <a:lnTo>
                    <a:pt x="700" y="958"/>
                  </a:lnTo>
                  <a:lnTo>
                    <a:pt x="696" y="956"/>
                  </a:lnTo>
                  <a:lnTo>
                    <a:pt x="694" y="952"/>
                  </a:lnTo>
                  <a:lnTo>
                    <a:pt x="694" y="948"/>
                  </a:lnTo>
                  <a:lnTo>
                    <a:pt x="692" y="910"/>
                  </a:lnTo>
                  <a:lnTo>
                    <a:pt x="692" y="910"/>
                  </a:lnTo>
                  <a:lnTo>
                    <a:pt x="692" y="906"/>
                  </a:lnTo>
                  <a:lnTo>
                    <a:pt x="694" y="902"/>
                  </a:lnTo>
                  <a:lnTo>
                    <a:pt x="698" y="900"/>
                  </a:lnTo>
                  <a:lnTo>
                    <a:pt x="702" y="900"/>
                  </a:lnTo>
                  <a:lnTo>
                    <a:pt x="702" y="900"/>
                  </a:lnTo>
                  <a:close/>
                  <a:moveTo>
                    <a:pt x="690" y="880"/>
                  </a:moveTo>
                  <a:lnTo>
                    <a:pt x="690" y="880"/>
                  </a:lnTo>
                  <a:lnTo>
                    <a:pt x="686" y="880"/>
                  </a:lnTo>
                  <a:lnTo>
                    <a:pt x="684" y="878"/>
                  </a:lnTo>
                  <a:lnTo>
                    <a:pt x="682" y="874"/>
                  </a:lnTo>
                  <a:lnTo>
                    <a:pt x="680" y="870"/>
                  </a:lnTo>
                  <a:lnTo>
                    <a:pt x="678" y="830"/>
                  </a:lnTo>
                  <a:lnTo>
                    <a:pt x="678" y="830"/>
                  </a:lnTo>
                  <a:lnTo>
                    <a:pt x="680" y="826"/>
                  </a:lnTo>
                  <a:lnTo>
                    <a:pt x="682" y="824"/>
                  </a:lnTo>
                  <a:lnTo>
                    <a:pt x="684" y="822"/>
                  </a:lnTo>
                  <a:lnTo>
                    <a:pt x="688" y="820"/>
                  </a:lnTo>
                  <a:lnTo>
                    <a:pt x="730" y="820"/>
                  </a:lnTo>
                  <a:lnTo>
                    <a:pt x="730" y="820"/>
                  </a:lnTo>
                  <a:lnTo>
                    <a:pt x="734" y="822"/>
                  </a:lnTo>
                  <a:lnTo>
                    <a:pt x="736" y="824"/>
                  </a:lnTo>
                  <a:lnTo>
                    <a:pt x="738" y="826"/>
                  </a:lnTo>
                  <a:lnTo>
                    <a:pt x="740" y="830"/>
                  </a:lnTo>
                  <a:lnTo>
                    <a:pt x="742" y="870"/>
                  </a:lnTo>
                  <a:lnTo>
                    <a:pt x="742" y="870"/>
                  </a:lnTo>
                  <a:lnTo>
                    <a:pt x="742" y="874"/>
                  </a:lnTo>
                  <a:lnTo>
                    <a:pt x="740" y="878"/>
                  </a:lnTo>
                  <a:lnTo>
                    <a:pt x="736" y="880"/>
                  </a:lnTo>
                  <a:lnTo>
                    <a:pt x="732" y="880"/>
                  </a:lnTo>
                  <a:lnTo>
                    <a:pt x="690" y="880"/>
                  </a:lnTo>
                  <a:close/>
                  <a:moveTo>
                    <a:pt x="622" y="900"/>
                  </a:moveTo>
                  <a:lnTo>
                    <a:pt x="664" y="900"/>
                  </a:lnTo>
                  <a:lnTo>
                    <a:pt x="664" y="900"/>
                  </a:lnTo>
                  <a:lnTo>
                    <a:pt x="668" y="900"/>
                  </a:lnTo>
                  <a:lnTo>
                    <a:pt x="672" y="902"/>
                  </a:lnTo>
                  <a:lnTo>
                    <a:pt x="674" y="906"/>
                  </a:lnTo>
                  <a:lnTo>
                    <a:pt x="674" y="910"/>
                  </a:lnTo>
                  <a:lnTo>
                    <a:pt x="676" y="948"/>
                  </a:lnTo>
                  <a:lnTo>
                    <a:pt x="676" y="948"/>
                  </a:lnTo>
                  <a:lnTo>
                    <a:pt x="674" y="952"/>
                  </a:lnTo>
                  <a:lnTo>
                    <a:pt x="672" y="956"/>
                  </a:lnTo>
                  <a:lnTo>
                    <a:pt x="670" y="958"/>
                  </a:lnTo>
                  <a:lnTo>
                    <a:pt x="666" y="958"/>
                  </a:lnTo>
                  <a:lnTo>
                    <a:pt x="622" y="958"/>
                  </a:lnTo>
                  <a:lnTo>
                    <a:pt x="622" y="958"/>
                  </a:lnTo>
                  <a:lnTo>
                    <a:pt x="618" y="958"/>
                  </a:lnTo>
                  <a:lnTo>
                    <a:pt x="616" y="956"/>
                  </a:lnTo>
                  <a:lnTo>
                    <a:pt x="614" y="952"/>
                  </a:lnTo>
                  <a:lnTo>
                    <a:pt x="612" y="948"/>
                  </a:lnTo>
                  <a:lnTo>
                    <a:pt x="612" y="910"/>
                  </a:lnTo>
                  <a:lnTo>
                    <a:pt x="612" y="910"/>
                  </a:lnTo>
                  <a:lnTo>
                    <a:pt x="612" y="906"/>
                  </a:lnTo>
                  <a:lnTo>
                    <a:pt x="614" y="902"/>
                  </a:lnTo>
                  <a:lnTo>
                    <a:pt x="618" y="900"/>
                  </a:lnTo>
                  <a:lnTo>
                    <a:pt x="622" y="900"/>
                  </a:lnTo>
                  <a:lnTo>
                    <a:pt x="622" y="900"/>
                  </a:lnTo>
                  <a:close/>
                  <a:moveTo>
                    <a:pt x="610" y="880"/>
                  </a:moveTo>
                  <a:lnTo>
                    <a:pt x="610" y="880"/>
                  </a:lnTo>
                  <a:lnTo>
                    <a:pt x="608" y="880"/>
                  </a:lnTo>
                  <a:lnTo>
                    <a:pt x="604" y="878"/>
                  </a:lnTo>
                  <a:lnTo>
                    <a:pt x="602" y="874"/>
                  </a:lnTo>
                  <a:lnTo>
                    <a:pt x="602" y="870"/>
                  </a:lnTo>
                  <a:lnTo>
                    <a:pt x="600" y="830"/>
                  </a:lnTo>
                  <a:lnTo>
                    <a:pt x="600" y="830"/>
                  </a:lnTo>
                  <a:lnTo>
                    <a:pt x="602" y="826"/>
                  </a:lnTo>
                  <a:lnTo>
                    <a:pt x="604" y="824"/>
                  </a:lnTo>
                  <a:lnTo>
                    <a:pt x="606" y="822"/>
                  </a:lnTo>
                  <a:lnTo>
                    <a:pt x="610" y="820"/>
                  </a:lnTo>
                  <a:lnTo>
                    <a:pt x="652" y="820"/>
                  </a:lnTo>
                  <a:lnTo>
                    <a:pt x="652" y="820"/>
                  </a:lnTo>
                  <a:lnTo>
                    <a:pt x="656" y="822"/>
                  </a:lnTo>
                  <a:lnTo>
                    <a:pt x="658" y="824"/>
                  </a:lnTo>
                  <a:lnTo>
                    <a:pt x="660" y="826"/>
                  </a:lnTo>
                  <a:lnTo>
                    <a:pt x="662" y="830"/>
                  </a:lnTo>
                  <a:lnTo>
                    <a:pt x="662" y="870"/>
                  </a:lnTo>
                  <a:lnTo>
                    <a:pt x="662" y="870"/>
                  </a:lnTo>
                  <a:lnTo>
                    <a:pt x="662" y="874"/>
                  </a:lnTo>
                  <a:lnTo>
                    <a:pt x="660" y="878"/>
                  </a:lnTo>
                  <a:lnTo>
                    <a:pt x="658" y="880"/>
                  </a:lnTo>
                  <a:lnTo>
                    <a:pt x="654" y="880"/>
                  </a:lnTo>
                  <a:lnTo>
                    <a:pt x="610" y="880"/>
                  </a:lnTo>
                  <a:close/>
                  <a:moveTo>
                    <a:pt x="532" y="910"/>
                  </a:moveTo>
                  <a:lnTo>
                    <a:pt x="532" y="910"/>
                  </a:lnTo>
                  <a:lnTo>
                    <a:pt x="532" y="906"/>
                  </a:lnTo>
                  <a:lnTo>
                    <a:pt x="534" y="902"/>
                  </a:lnTo>
                  <a:lnTo>
                    <a:pt x="538" y="900"/>
                  </a:lnTo>
                  <a:lnTo>
                    <a:pt x="542" y="900"/>
                  </a:lnTo>
                  <a:lnTo>
                    <a:pt x="584" y="900"/>
                  </a:lnTo>
                  <a:lnTo>
                    <a:pt x="584" y="900"/>
                  </a:lnTo>
                  <a:lnTo>
                    <a:pt x="588" y="900"/>
                  </a:lnTo>
                  <a:lnTo>
                    <a:pt x="592" y="902"/>
                  </a:lnTo>
                  <a:lnTo>
                    <a:pt x="594" y="906"/>
                  </a:lnTo>
                  <a:lnTo>
                    <a:pt x="594" y="910"/>
                  </a:lnTo>
                  <a:lnTo>
                    <a:pt x="594" y="948"/>
                  </a:lnTo>
                  <a:lnTo>
                    <a:pt x="594" y="948"/>
                  </a:lnTo>
                  <a:lnTo>
                    <a:pt x="594" y="952"/>
                  </a:lnTo>
                  <a:lnTo>
                    <a:pt x="592" y="956"/>
                  </a:lnTo>
                  <a:lnTo>
                    <a:pt x="588" y="958"/>
                  </a:lnTo>
                  <a:lnTo>
                    <a:pt x="584" y="958"/>
                  </a:lnTo>
                  <a:lnTo>
                    <a:pt x="542" y="958"/>
                  </a:lnTo>
                  <a:lnTo>
                    <a:pt x="542" y="958"/>
                  </a:lnTo>
                  <a:lnTo>
                    <a:pt x="538" y="958"/>
                  </a:lnTo>
                  <a:lnTo>
                    <a:pt x="534" y="956"/>
                  </a:lnTo>
                  <a:lnTo>
                    <a:pt x="532" y="952"/>
                  </a:lnTo>
                  <a:lnTo>
                    <a:pt x="532" y="948"/>
                  </a:lnTo>
                  <a:lnTo>
                    <a:pt x="532" y="910"/>
                  </a:lnTo>
                  <a:close/>
                  <a:moveTo>
                    <a:pt x="532" y="880"/>
                  </a:moveTo>
                  <a:lnTo>
                    <a:pt x="532" y="880"/>
                  </a:lnTo>
                  <a:lnTo>
                    <a:pt x="528" y="880"/>
                  </a:lnTo>
                  <a:lnTo>
                    <a:pt x="524" y="878"/>
                  </a:lnTo>
                  <a:lnTo>
                    <a:pt x="522" y="874"/>
                  </a:lnTo>
                  <a:lnTo>
                    <a:pt x="522" y="870"/>
                  </a:lnTo>
                  <a:lnTo>
                    <a:pt x="522" y="830"/>
                  </a:lnTo>
                  <a:lnTo>
                    <a:pt x="522" y="830"/>
                  </a:lnTo>
                  <a:lnTo>
                    <a:pt x="524" y="826"/>
                  </a:lnTo>
                  <a:lnTo>
                    <a:pt x="526" y="824"/>
                  </a:lnTo>
                  <a:lnTo>
                    <a:pt x="528" y="822"/>
                  </a:lnTo>
                  <a:lnTo>
                    <a:pt x="532" y="820"/>
                  </a:lnTo>
                  <a:lnTo>
                    <a:pt x="574" y="820"/>
                  </a:lnTo>
                  <a:lnTo>
                    <a:pt x="574" y="820"/>
                  </a:lnTo>
                  <a:lnTo>
                    <a:pt x="578" y="822"/>
                  </a:lnTo>
                  <a:lnTo>
                    <a:pt x="580" y="824"/>
                  </a:lnTo>
                  <a:lnTo>
                    <a:pt x="582" y="826"/>
                  </a:lnTo>
                  <a:lnTo>
                    <a:pt x="584" y="830"/>
                  </a:lnTo>
                  <a:lnTo>
                    <a:pt x="584" y="870"/>
                  </a:lnTo>
                  <a:lnTo>
                    <a:pt x="584" y="870"/>
                  </a:lnTo>
                  <a:lnTo>
                    <a:pt x="582" y="874"/>
                  </a:lnTo>
                  <a:lnTo>
                    <a:pt x="580" y="878"/>
                  </a:lnTo>
                  <a:lnTo>
                    <a:pt x="578" y="880"/>
                  </a:lnTo>
                  <a:lnTo>
                    <a:pt x="574" y="880"/>
                  </a:lnTo>
                  <a:lnTo>
                    <a:pt x="532" y="880"/>
                  </a:lnTo>
                  <a:close/>
                  <a:moveTo>
                    <a:pt x="452" y="910"/>
                  </a:moveTo>
                  <a:lnTo>
                    <a:pt x="452" y="910"/>
                  </a:lnTo>
                  <a:lnTo>
                    <a:pt x="452" y="906"/>
                  </a:lnTo>
                  <a:lnTo>
                    <a:pt x="454" y="902"/>
                  </a:lnTo>
                  <a:lnTo>
                    <a:pt x="458" y="900"/>
                  </a:lnTo>
                  <a:lnTo>
                    <a:pt x="462" y="900"/>
                  </a:lnTo>
                  <a:lnTo>
                    <a:pt x="504" y="900"/>
                  </a:lnTo>
                  <a:lnTo>
                    <a:pt x="504" y="900"/>
                  </a:lnTo>
                  <a:lnTo>
                    <a:pt x="508" y="900"/>
                  </a:lnTo>
                  <a:lnTo>
                    <a:pt x="512" y="902"/>
                  </a:lnTo>
                  <a:lnTo>
                    <a:pt x="514" y="906"/>
                  </a:lnTo>
                  <a:lnTo>
                    <a:pt x="514" y="910"/>
                  </a:lnTo>
                  <a:lnTo>
                    <a:pt x="514" y="948"/>
                  </a:lnTo>
                  <a:lnTo>
                    <a:pt x="514" y="948"/>
                  </a:lnTo>
                  <a:lnTo>
                    <a:pt x="512" y="952"/>
                  </a:lnTo>
                  <a:lnTo>
                    <a:pt x="510" y="956"/>
                  </a:lnTo>
                  <a:lnTo>
                    <a:pt x="508" y="958"/>
                  </a:lnTo>
                  <a:lnTo>
                    <a:pt x="504" y="958"/>
                  </a:lnTo>
                  <a:lnTo>
                    <a:pt x="460" y="958"/>
                  </a:lnTo>
                  <a:lnTo>
                    <a:pt x="460" y="958"/>
                  </a:lnTo>
                  <a:lnTo>
                    <a:pt x="456" y="958"/>
                  </a:lnTo>
                  <a:lnTo>
                    <a:pt x="454" y="956"/>
                  </a:lnTo>
                  <a:lnTo>
                    <a:pt x="452" y="952"/>
                  </a:lnTo>
                  <a:lnTo>
                    <a:pt x="450" y="948"/>
                  </a:lnTo>
                  <a:lnTo>
                    <a:pt x="452" y="910"/>
                  </a:lnTo>
                  <a:close/>
                  <a:moveTo>
                    <a:pt x="442" y="870"/>
                  </a:moveTo>
                  <a:lnTo>
                    <a:pt x="444" y="830"/>
                  </a:lnTo>
                  <a:lnTo>
                    <a:pt x="444" y="830"/>
                  </a:lnTo>
                  <a:lnTo>
                    <a:pt x="444" y="826"/>
                  </a:lnTo>
                  <a:lnTo>
                    <a:pt x="446" y="824"/>
                  </a:lnTo>
                  <a:lnTo>
                    <a:pt x="450" y="822"/>
                  </a:lnTo>
                  <a:lnTo>
                    <a:pt x="454" y="820"/>
                  </a:lnTo>
                  <a:lnTo>
                    <a:pt x="496" y="820"/>
                  </a:lnTo>
                  <a:lnTo>
                    <a:pt x="496" y="820"/>
                  </a:lnTo>
                  <a:lnTo>
                    <a:pt x="500" y="822"/>
                  </a:lnTo>
                  <a:lnTo>
                    <a:pt x="502" y="824"/>
                  </a:lnTo>
                  <a:lnTo>
                    <a:pt x="504" y="826"/>
                  </a:lnTo>
                  <a:lnTo>
                    <a:pt x="504" y="830"/>
                  </a:lnTo>
                  <a:lnTo>
                    <a:pt x="504" y="870"/>
                  </a:lnTo>
                  <a:lnTo>
                    <a:pt x="504" y="870"/>
                  </a:lnTo>
                  <a:lnTo>
                    <a:pt x="504" y="874"/>
                  </a:lnTo>
                  <a:lnTo>
                    <a:pt x="502" y="878"/>
                  </a:lnTo>
                  <a:lnTo>
                    <a:pt x="498" y="880"/>
                  </a:lnTo>
                  <a:lnTo>
                    <a:pt x="494" y="880"/>
                  </a:lnTo>
                  <a:lnTo>
                    <a:pt x="452" y="880"/>
                  </a:lnTo>
                  <a:lnTo>
                    <a:pt x="452" y="880"/>
                  </a:lnTo>
                  <a:lnTo>
                    <a:pt x="448" y="880"/>
                  </a:lnTo>
                  <a:lnTo>
                    <a:pt x="446" y="878"/>
                  </a:lnTo>
                  <a:lnTo>
                    <a:pt x="444" y="874"/>
                  </a:lnTo>
                  <a:lnTo>
                    <a:pt x="442" y="870"/>
                  </a:lnTo>
                  <a:lnTo>
                    <a:pt x="442" y="870"/>
                  </a:lnTo>
                  <a:close/>
                  <a:moveTo>
                    <a:pt x="372" y="910"/>
                  </a:moveTo>
                  <a:lnTo>
                    <a:pt x="372" y="910"/>
                  </a:lnTo>
                  <a:lnTo>
                    <a:pt x="372" y="906"/>
                  </a:lnTo>
                  <a:lnTo>
                    <a:pt x="376" y="902"/>
                  </a:lnTo>
                  <a:lnTo>
                    <a:pt x="378" y="900"/>
                  </a:lnTo>
                  <a:lnTo>
                    <a:pt x="382" y="900"/>
                  </a:lnTo>
                  <a:lnTo>
                    <a:pt x="424" y="900"/>
                  </a:lnTo>
                  <a:lnTo>
                    <a:pt x="424" y="900"/>
                  </a:lnTo>
                  <a:lnTo>
                    <a:pt x="428" y="900"/>
                  </a:lnTo>
                  <a:lnTo>
                    <a:pt x="432" y="902"/>
                  </a:lnTo>
                  <a:lnTo>
                    <a:pt x="434" y="906"/>
                  </a:lnTo>
                  <a:lnTo>
                    <a:pt x="434" y="910"/>
                  </a:lnTo>
                  <a:lnTo>
                    <a:pt x="432" y="948"/>
                  </a:lnTo>
                  <a:lnTo>
                    <a:pt x="432" y="948"/>
                  </a:lnTo>
                  <a:lnTo>
                    <a:pt x="432" y="952"/>
                  </a:lnTo>
                  <a:lnTo>
                    <a:pt x="430" y="956"/>
                  </a:lnTo>
                  <a:lnTo>
                    <a:pt x="426" y="958"/>
                  </a:lnTo>
                  <a:lnTo>
                    <a:pt x="422" y="958"/>
                  </a:lnTo>
                  <a:lnTo>
                    <a:pt x="380" y="958"/>
                  </a:lnTo>
                  <a:lnTo>
                    <a:pt x="380" y="958"/>
                  </a:lnTo>
                  <a:lnTo>
                    <a:pt x="376" y="958"/>
                  </a:lnTo>
                  <a:lnTo>
                    <a:pt x="372" y="956"/>
                  </a:lnTo>
                  <a:lnTo>
                    <a:pt x="370" y="952"/>
                  </a:lnTo>
                  <a:lnTo>
                    <a:pt x="370" y="948"/>
                  </a:lnTo>
                  <a:lnTo>
                    <a:pt x="372" y="910"/>
                  </a:lnTo>
                  <a:close/>
                  <a:moveTo>
                    <a:pt x="364" y="870"/>
                  </a:moveTo>
                  <a:lnTo>
                    <a:pt x="366" y="830"/>
                  </a:lnTo>
                  <a:lnTo>
                    <a:pt x="366" y="830"/>
                  </a:lnTo>
                  <a:lnTo>
                    <a:pt x="366" y="826"/>
                  </a:lnTo>
                  <a:lnTo>
                    <a:pt x="368" y="824"/>
                  </a:lnTo>
                  <a:lnTo>
                    <a:pt x="372" y="822"/>
                  </a:lnTo>
                  <a:lnTo>
                    <a:pt x="376" y="820"/>
                  </a:lnTo>
                  <a:lnTo>
                    <a:pt x="418" y="820"/>
                  </a:lnTo>
                  <a:lnTo>
                    <a:pt x="418" y="820"/>
                  </a:lnTo>
                  <a:lnTo>
                    <a:pt x="422" y="822"/>
                  </a:lnTo>
                  <a:lnTo>
                    <a:pt x="424" y="824"/>
                  </a:lnTo>
                  <a:lnTo>
                    <a:pt x="426" y="826"/>
                  </a:lnTo>
                  <a:lnTo>
                    <a:pt x="426" y="830"/>
                  </a:lnTo>
                  <a:lnTo>
                    <a:pt x="426" y="870"/>
                  </a:lnTo>
                  <a:lnTo>
                    <a:pt x="426" y="870"/>
                  </a:lnTo>
                  <a:lnTo>
                    <a:pt x="424" y="874"/>
                  </a:lnTo>
                  <a:lnTo>
                    <a:pt x="422" y="878"/>
                  </a:lnTo>
                  <a:lnTo>
                    <a:pt x="420" y="880"/>
                  </a:lnTo>
                  <a:lnTo>
                    <a:pt x="416" y="880"/>
                  </a:lnTo>
                  <a:lnTo>
                    <a:pt x="372" y="880"/>
                  </a:lnTo>
                  <a:lnTo>
                    <a:pt x="372" y="880"/>
                  </a:lnTo>
                  <a:lnTo>
                    <a:pt x="368" y="880"/>
                  </a:lnTo>
                  <a:lnTo>
                    <a:pt x="366" y="878"/>
                  </a:lnTo>
                  <a:lnTo>
                    <a:pt x="364" y="874"/>
                  </a:lnTo>
                  <a:lnTo>
                    <a:pt x="364" y="870"/>
                  </a:lnTo>
                  <a:lnTo>
                    <a:pt x="364" y="870"/>
                  </a:lnTo>
                  <a:close/>
                  <a:moveTo>
                    <a:pt x="292" y="910"/>
                  </a:moveTo>
                  <a:lnTo>
                    <a:pt x="292" y="910"/>
                  </a:lnTo>
                  <a:lnTo>
                    <a:pt x="292" y="906"/>
                  </a:lnTo>
                  <a:lnTo>
                    <a:pt x="296" y="902"/>
                  </a:lnTo>
                  <a:lnTo>
                    <a:pt x="298" y="900"/>
                  </a:lnTo>
                  <a:lnTo>
                    <a:pt x="302" y="900"/>
                  </a:lnTo>
                  <a:lnTo>
                    <a:pt x="346" y="900"/>
                  </a:lnTo>
                  <a:lnTo>
                    <a:pt x="346" y="900"/>
                  </a:lnTo>
                  <a:lnTo>
                    <a:pt x="348" y="900"/>
                  </a:lnTo>
                  <a:lnTo>
                    <a:pt x="352" y="902"/>
                  </a:lnTo>
                  <a:lnTo>
                    <a:pt x="354" y="906"/>
                  </a:lnTo>
                  <a:lnTo>
                    <a:pt x="354" y="910"/>
                  </a:lnTo>
                  <a:lnTo>
                    <a:pt x="352" y="948"/>
                  </a:lnTo>
                  <a:lnTo>
                    <a:pt x="352" y="948"/>
                  </a:lnTo>
                  <a:lnTo>
                    <a:pt x="352" y="952"/>
                  </a:lnTo>
                  <a:lnTo>
                    <a:pt x="348" y="956"/>
                  </a:lnTo>
                  <a:lnTo>
                    <a:pt x="346" y="958"/>
                  </a:lnTo>
                  <a:lnTo>
                    <a:pt x="342" y="958"/>
                  </a:lnTo>
                  <a:lnTo>
                    <a:pt x="298" y="958"/>
                  </a:lnTo>
                  <a:lnTo>
                    <a:pt x="298" y="958"/>
                  </a:lnTo>
                  <a:lnTo>
                    <a:pt x="294" y="958"/>
                  </a:lnTo>
                  <a:lnTo>
                    <a:pt x="292" y="956"/>
                  </a:lnTo>
                  <a:lnTo>
                    <a:pt x="290" y="952"/>
                  </a:lnTo>
                  <a:lnTo>
                    <a:pt x="290" y="948"/>
                  </a:lnTo>
                  <a:lnTo>
                    <a:pt x="292" y="910"/>
                  </a:lnTo>
                  <a:close/>
                  <a:moveTo>
                    <a:pt x="284" y="870"/>
                  </a:moveTo>
                  <a:lnTo>
                    <a:pt x="288" y="830"/>
                  </a:lnTo>
                  <a:lnTo>
                    <a:pt x="288" y="830"/>
                  </a:lnTo>
                  <a:lnTo>
                    <a:pt x="288" y="826"/>
                  </a:lnTo>
                  <a:lnTo>
                    <a:pt x="290" y="824"/>
                  </a:lnTo>
                  <a:lnTo>
                    <a:pt x="294" y="822"/>
                  </a:lnTo>
                  <a:lnTo>
                    <a:pt x="298" y="820"/>
                  </a:lnTo>
                  <a:lnTo>
                    <a:pt x="340" y="820"/>
                  </a:lnTo>
                  <a:lnTo>
                    <a:pt x="340" y="820"/>
                  </a:lnTo>
                  <a:lnTo>
                    <a:pt x="344" y="822"/>
                  </a:lnTo>
                  <a:lnTo>
                    <a:pt x="346" y="824"/>
                  </a:lnTo>
                  <a:lnTo>
                    <a:pt x="348" y="826"/>
                  </a:lnTo>
                  <a:lnTo>
                    <a:pt x="348" y="830"/>
                  </a:lnTo>
                  <a:lnTo>
                    <a:pt x="346" y="870"/>
                  </a:lnTo>
                  <a:lnTo>
                    <a:pt x="346" y="870"/>
                  </a:lnTo>
                  <a:lnTo>
                    <a:pt x="346" y="874"/>
                  </a:lnTo>
                  <a:lnTo>
                    <a:pt x="342" y="878"/>
                  </a:lnTo>
                  <a:lnTo>
                    <a:pt x="340" y="880"/>
                  </a:lnTo>
                  <a:lnTo>
                    <a:pt x="336" y="880"/>
                  </a:lnTo>
                  <a:lnTo>
                    <a:pt x="294" y="880"/>
                  </a:lnTo>
                  <a:lnTo>
                    <a:pt x="294" y="880"/>
                  </a:lnTo>
                  <a:lnTo>
                    <a:pt x="290" y="880"/>
                  </a:lnTo>
                  <a:lnTo>
                    <a:pt x="286" y="878"/>
                  </a:lnTo>
                  <a:lnTo>
                    <a:pt x="284" y="874"/>
                  </a:lnTo>
                  <a:lnTo>
                    <a:pt x="284" y="870"/>
                  </a:lnTo>
                  <a:lnTo>
                    <a:pt x="284" y="870"/>
                  </a:lnTo>
                  <a:close/>
                  <a:moveTo>
                    <a:pt x="270" y="830"/>
                  </a:moveTo>
                  <a:lnTo>
                    <a:pt x="266" y="870"/>
                  </a:lnTo>
                  <a:lnTo>
                    <a:pt x="266" y="870"/>
                  </a:lnTo>
                  <a:lnTo>
                    <a:pt x="266" y="874"/>
                  </a:lnTo>
                  <a:lnTo>
                    <a:pt x="264" y="878"/>
                  </a:lnTo>
                  <a:lnTo>
                    <a:pt x="260" y="880"/>
                  </a:lnTo>
                  <a:lnTo>
                    <a:pt x="256" y="880"/>
                  </a:lnTo>
                  <a:lnTo>
                    <a:pt x="214" y="880"/>
                  </a:lnTo>
                  <a:lnTo>
                    <a:pt x="214" y="880"/>
                  </a:lnTo>
                  <a:lnTo>
                    <a:pt x="210" y="880"/>
                  </a:lnTo>
                  <a:lnTo>
                    <a:pt x="208" y="878"/>
                  </a:lnTo>
                  <a:lnTo>
                    <a:pt x="206" y="874"/>
                  </a:lnTo>
                  <a:lnTo>
                    <a:pt x="206" y="870"/>
                  </a:lnTo>
                  <a:lnTo>
                    <a:pt x="210" y="830"/>
                  </a:lnTo>
                  <a:lnTo>
                    <a:pt x="210" y="830"/>
                  </a:lnTo>
                  <a:lnTo>
                    <a:pt x="210" y="826"/>
                  </a:lnTo>
                  <a:lnTo>
                    <a:pt x="212" y="824"/>
                  </a:lnTo>
                  <a:lnTo>
                    <a:pt x="216" y="822"/>
                  </a:lnTo>
                  <a:lnTo>
                    <a:pt x="220" y="820"/>
                  </a:lnTo>
                  <a:lnTo>
                    <a:pt x="262" y="820"/>
                  </a:lnTo>
                  <a:lnTo>
                    <a:pt x="262" y="820"/>
                  </a:lnTo>
                  <a:lnTo>
                    <a:pt x="266" y="822"/>
                  </a:lnTo>
                  <a:lnTo>
                    <a:pt x="268" y="824"/>
                  </a:lnTo>
                  <a:lnTo>
                    <a:pt x="270" y="826"/>
                  </a:lnTo>
                  <a:lnTo>
                    <a:pt x="270" y="830"/>
                  </a:lnTo>
                  <a:lnTo>
                    <a:pt x="270" y="830"/>
                  </a:lnTo>
                  <a:close/>
                  <a:moveTo>
                    <a:pt x="132" y="830"/>
                  </a:moveTo>
                  <a:lnTo>
                    <a:pt x="132" y="830"/>
                  </a:lnTo>
                  <a:lnTo>
                    <a:pt x="132" y="826"/>
                  </a:lnTo>
                  <a:lnTo>
                    <a:pt x="136" y="824"/>
                  </a:lnTo>
                  <a:lnTo>
                    <a:pt x="138" y="822"/>
                  </a:lnTo>
                  <a:lnTo>
                    <a:pt x="142" y="820"/>
                  </a:lnTo>
                  <a:lnTo>
                    <a:pt x="184" y="820"/>
                  </a:lnTo>
                  <a:lnTo>
                    <a:pt x="184" y="820"/>
                  </a:lnTo>
                  <a:lnTo>
                    <a:pt x="186" y="822"/>
                  </a:lnTo>
                  <a:lnTo>
                    <a:pt x="190" y="824"/>
                  </a:lnTo>
                  <a:lnTo>
                    <a:pt x="192" y="826"/>
                  </a:lnTo>
                  <a:lnTo>
                    <a:pt x="192" y="830"/>
                  </a:lnTo>
                  <a:lnTo>
                    <a:pt x="188" y="870"/>
                  </a:lnTo>
                  <a:lnTo>
                    <a:pt x="188" y="870"/>
                  </a:lnTo>
                  <a:lnTo>
                    <a:pt x="186" y="874"/>
                  </a:lnTo>
                  <a:lnTo>
                    <a:pt x="184" y="878"/>
                  </a:lnTo>
                  <a:lnTo>
                    <a:pt x="180" y="880"/>
                  </a:lnTo>
                  <a:lnTo>
                    <a:pt x="178" y="880"/>
                  </a:lnTo>
                  <a:lnTo>
                    <a:pt x="136" y="880"/>
                  </a:lnTo>
                  <a:lnTo>
                    <a:pt x="136" y="880"/>
                  </a:lnTo>
                  <a:lnTo>
                    <a:pt x="132" y="880"/>
                  </a:lnTo>
                  <a:lnTo>
                    <a:pt x="128" y="878"/>
                  </a:lnTo>
                  <a:lnTo>
                    <a:pt x="128" y="874"/>
                  </a:lnTo>
                  <a:lnTo>
                    <a:pt x="128" y="870"/>
                  </a:lnTo>
                  <a:lnTo>
                    <a:pt x="132" y="830"/>
                  </a:lnTo>
                  <a:close/>
                  <a:moveTo>
                    <a:pt x="122" y="908"/>
                  </a:moveTo>
                  <a:lnTo>
                    <a:pt x="122" y="908"/>
                  </a:lnTo>
                  <a:lnTo>
                    <a:pt x="124" y="906"/>
                  </a:lnTo>
                  <a:lnTo>
                    <a:pt x="126" y="902"/>
                  </a:lnTo>
                  <a:lnTo>
                    <a:pt x="130" y="900"/>
                  </a:lnTo>
                  <a:lnTo>
                    <a:pt x="134" y="900"/>
                  </a:lnTo>
                  <a:lnTo>
                    <a:pt x="186" y="900"/>
                  </a:lnTo>
                  <a:lnTo>
                    <a:pt x="186" y="900"/>
                  </a:lnTo>
                  <a:lnTo>
                    <a:pt x="190" y="900"/>
                  </a:lnTo>
                  <a:lnTo>
                    <a:pt x="192" y="902"/>
                  </a:lnTo>
                  <a:lnTo>
                    <a:pt x="194" y="906"/>
                  </a:lnTo>
                  <a:lnTo>
                    <a:pt x="194" y="908"/>
                  </a:lnTo>
                  <a:lnTo>
                    <a:pt x="190" y="948"/>
                  </a:lnTo>
                  <a:lnTo>
                    <a:pt x="190" y="948"/>
                  </a:lnTo>
                  <a:lnTo>
                    <a:pt x="190" y="952"/>
                  </a:lnTo>
                  <a:lnTo>
                    <a:pt x="186" y="956"/>
                  </a:lnTo>
                  <a:lnTo>
                    <a:pt x="184" y="958"/>
                  </a:lnTo>
                  <a:lnTo>
                    <a:pt x="180" y="958"/>
                  </a:lnTo>
                  <a:lnTo>
                    <a:pt x="126" y="958"/>
                  </a:lnTo>
                  <a:lnTo>
                    <a:pt x="126" y="958"/>
                  </a:lnTo>
                  <a:lnTo>
                    <a:pt x="122" y="958"/>
                  </a:lnTo>
                  <a:lnTo>
                    <a:pt x="120" y="956"/>
                  </a:lnTo>
                  <a:lnTo>
                    <a:pt x="118" y="952"/>
                  </a:lnTo>
                  <a:lnTo>
                    <a:pt x="118" y="948"/>
                  </a:lnTo>
                  <a:lnTo>
                    <a:pt x="122" y="908"/>
                  </a:lnTo>
                  <a:close/>
                  <a:moveTo>
                    <a:pt x="158" y="1028"/>
                  </a:moveTo>
                  <a:lnTo>
                    <a:pt x="158" y="1028"/>
                  </a:lnTo>
                  <a:lnTo>
                    <a:pt x="158" y="1032"/>
                  </a:lnTo>
                  <a:lnTo>
                    <a:pt x="154" y="1034"/>
                  </a:lnTo>
                  <a:lnTo>
                    <a:pt x="152" y="1036"/>
                  </a:lnTo>
                  <a:lnTo>
                    <a:pt x="148" y="1038"/>
                  </a:lnTo>
                  <a:lnTo>
                    <a:pt x="118" y="1038"/>
                  </a:lnTo>
                  <a:lnTo>
                    <a:pt x="118" y="1038"/>
                  </a:lnTo>
                  <a:lnTo>
                    <a:pt x="114" y="1036"/>
                  </a:lnTo>
                  <a:lnTo>
                    <a:pt x="110" y="1034"/>
                  </a:lnTo>
                  <a:lnTo>
                    <a:pt x="108" y="1032"/>
                  </a:lnTo>
                  <a:lnTo>
                    <a:pt x="108" y="1028"/>
                  </a:lnTo>
                  <a:lnTo>
                    <a:pt x="114" y="988"/>
                  </a:lnTo>
                  <a:lnTo>
                    <a:pt x="114" y="988"/>
                  </a:lnTo>
                  <a:lnTo>
                    <a:pt x="114" y="984"/>
                  </a:lnTo>
                  <a:lnTo>
                    <a:pt x="116" y="980"/>
                  </a:lnTo>
                  <a:lnTo>
                    <a:pt x="120" y="978"/>
                  </a:lnTo>
                  <a:lnTo>
                    <a:pt x="124" y="978"/>
                  </a:lnTo>
                  <a:lnTo>
                    <a:pt x="154" y="978"/>
                  </a:lnTo>
                  <a:lnTo>
                    <a:pt x="154" y="978"/>
                  </a:lnTo>
                  <a:lnTo>
                    <a:pt x="158" y="978"/>
                  </a:lnTo>
                  <a:lnTo>
                    <a:pt x="160" y="980"/>
                  </a:lnTo>
                  <a:lnTo>
                    <a:pt x="162" y="984"/>
                  </a:lnTo>
                  <a:lnTo>
                    <a:pt x="162" y="988"/>
                  </a:lnTo>
                  <a:lnTo>
                    <a:pt x="158" y="1028"/>
                  </a:lnTo>
                  <a:close/>
                  <a:moveTo>
                    <a:pt x="250" y="1028"/>
                  </a:moveTo>
                  <a:lnTo>
                    <a:pt x="250" y="1028"/>
                  </a:lnTo>
                  <a:lnTo>
                    <a:pt x="248" y="1032"/>
                  </a:lnTo>
                  <a:lnTo>
                    <a:pt x="246" y="1034"/>
                  </a:lnTo>
                  <a:lnTo>
                    <a:pt x="244" y="1036"/>
                  </a:lnTo>
                  <a:lnTo>
                    <a:pt x="240" y="1038"/>
                  </a:lnTo>
                  <a:lnTo>
                    <a:pt x="186" y="1038"/>
                  </a:lnTo>
                  <a:lnTo>
                    <a:pt x="186" y="1038"/>
                  </a:lnTo>
                  <a:lnTo>
                    <a:pt x="182" y="1036"/>
                  </a:lnTo>
                  <a:lnTo>
                    <a:pt x="180" y="1034"/>
                  </a:lnTo>
                  <a:lnTo>
                    <a:pt x="178" y="1032"/>
                  </a:lnTo>
                  <a:lnTo>
                    <a:pt x="176" y="1028"/>
                  </a:lnTo>
                  <a:lnTo>
                    <a:pt x="180" y="988"/>
                  </a:lnTo>
                  <a:lnTo>
                    <a:pt x="180" y="988"/>
                  </a:lnTo>
                  <a:lnTo>
                    <a:pt x="182" y="984"/>
                  </a:lnTo>
                  <a:lnTo>
                    <a:pt x="184" y="980"/>
                  </a:lnTo>
                  <a:lnTo>
                    <a:pt x="188" y="978"/>
                  </a:lnTo>
                  <a:lnTo>
                    <a:pt x="192" y="978"/>
                  </a:lnTo>
                  <a:lnTo>
                    <a:pt x="244" y="978"/>
                  </a:lnTo>
                  <a:lnTo>
                    <a:pt x="244" y="978"/>
                  </a:lnTo>
                  <a:lnTo>
                    <a:pt x="248" y="978"/>
                  </a:lnTo>
                  <a:lnTo>
                    <a:pt x="250" y="980"/>
                  </a:lnTo>
                  <a:lnTo>
                    <a:pt x="252" y="984"/>
                  </a:lnTo>
                  <a:lnTo>
                    <a:pt x="254" y="988"/>
                  </a:lnTo>
                  <a:lnTo>
                    <a:pt x="250" y="1028"/>
                  </a:lnTo>
                  <a:close/>
                  <a:moveTo>
                    <a:pt x="260" y="958"/>
                  </a:moveTo>
                  <a:lnTo>
                    <a:pt x="218" y="958"/>
                  </a:lnTo>
                  <a:lnTo>
                    <a:pt x="218" y="958"/>
                  </a:lnTo>
                  <a:lnTo>
                    <a:pt x="214" y="958"/>
                  </a:lnTo>
                  <a:lnTo>
                    <a:pt x="210" y="956"/>
                  </a:lnTo>
                  <a:lnTo>
                    <a:pt x="208" y="952"/>
                  </a:lnTo>
                  <a:lnTo>
                    <a:pt x="208" y="948"/>
                  </a:lnTo>
                  <a:lnTo>
                    <a:pt x="212" y="910"/>
                  </a:lnTo>
                  <a:lnTo>
                    <a:pt x="212" y="910"/>
                  </a:lnTo>
                  <a:lnTo>
                    <a:pt x="214" y="906"/>
                  </a:lnTo>
                  <a:lnTo>
                    <a:pt x="216" y="902"/>
                  </a:lnTo>
                  <a:lnTo>
                    <a:pt x="218" y="900"/>
                  </a:lnTo>
                  <a:lnTo>
                    <a:pt x="222" y="900"/>
                  </a:lnTo>
                  <a:lnTo>
                    <a:pt x="266" y="900"/>
                  </a:lnTo>
                  <a:lnTo>
                    <a:pt x="266" y="900"/>
                  </a:lnTo>
                  <a:lnTo>
                    <a:pt x="270" y="900"/>
                  </a:lnTo>
                  <a:lnTo>
                    <a:pt x="272" y="902"/>
                  </a:lnTo>
                  <a:lnTo>
                    <a:pt x="274" y="906"/>
                  </a:lnTo>
                  <a:lnTo>
                    <a:pt x="274" y="910"/>
                  </a:lnTo>
                  <a:lnTo>
                    <a:pt x="272" y="948"/>
                  </a:lnTo>
                  <a:lnTo>
                    <a:pt x="272" y="948"/>
                  </a:lnTo>
                  <a:lnTo>
                    <a:pt x="270" y="952"/>
                  </a:lnTo>
                  <a:lnTo>
                    <a:pt x="268" y="956"/>
                  </a:lnTo>
                  <a:lnTo>
                    <a:pt x="264" y="958"/>
                  </a:lnTo>
                  <a:lnTo>
                    <a:pt x="260" y="958"/>
                  </a:lnTo>
                  <a:lnTo>
                    <a:pt x="260" y="958"/>
                  </a:lnTo>
                  <a:close/>
                  <a:moveTo>
                    <a:pt x="772" y="1038"/>
                  </a:moveTo>
                  <a:lnTo>
                    <a:pt x="278" y="1038"/>
                  </a:lnTo>
                  <a:lnTo>
                    <a:pt x="278" y="1038"/>
                  </a:lnTo>
                  <a:lnTo>
                    <a:pt x="274" y="1036"/>
                  </a:lnTo>
                  <a:lnTo>
                    <a:pt x="270" y="1034"/>
                  </a:lnTo>
                  <a:lnTo>
                    <a:pt x="268" y="1032"/>
                  </a:lnTo>
                  <a:lnTo>
                    <a:pt x="268" y="1028"/>
                  </a:lnTo>
                  <a:lnTo>
                    <a:pt x="272" y="988"/>
                  </a:lnTo>
                  <a:lnTo>
                    <a:pt x="272" y="988"/>
                  </a:lnTo>
                  <a:lnTo>
                    <a:pt x="272" y="984"/>
                  </a:lnTo>
                  <a:lnTo>
                    <a:pt x="274" y="980"/>
                  </a:lnTo>
                  <a:lnTo>
                    <a:pt x="278" y="978"/>
                  </a:lnTo>
                  <a:lnTo>
                    <a:pt x="282" y="978"/>
                  </a:lnTo>
                  <a:lnTo>
                    <a:pt x="768" y="978"/>
                  </a:lnTo>
                  <a:lnTo>
                    <a:pt x="768" y="978"/>
                  </a:lnTo>
                  <a:lnTo>
                    <a:pt x="772" y="978"/>
                  </a:lnTo>
                  <a:lnTo>
                    <a:pt x="776" y="980"/>
                  </a:lnTo>
                  <a:lnTo>
                    <a:pt x="778" y="984"/>
                  </a:lnTo>
                  <a:lnTo>
                    <a:pt x="780" y="988"/>
                  </a:lnTo>
                  <a:lnTo>
                    <a:pt x="782" y="1028"/>
                  </a:lnTo>
                  <a:lnTo>
                    <a:pt x="782" y="1028"/>
                  </a:lnTo>
                  <a:lnTo>
                    <a:pt x="782" y="1032"/>
                  </a:lnTo>
                  <a:lnTo>
                    <a:pt x="780" y="1034"/>
                  </a:lnTo>
                  <a:lnTo>
                    <a:pt x="776" y="1036"/>
                  </a:lnTo>
                  <a:lnTo>
                    <a:pt x="772" y="1038"/>
                  </a:lnTo>
                  <a:lnTo>
                    <a:pt x="772" y="1038"/>
                  </a:lnTo>
                  <a:close/>
                  <a:moveTo>
                    <a:pt x="774" y="948"/>
                  </a:moveTo>
                  <a:lnTo>
                    <a:pt x="772" y="910"/>
                  </a:lnTo>
                  <a:lnTo>
                    <a:pt x="772" y="910"/>
                  </a:lnTo>
                  <a:lnTo>
                    <a:pt x="772" y="906"/>
                  </a:lnTo>
                  <a:lnTo>
                    <a:pt x="774" y="902"/>
                  </a:lnTo>
                  <a:lnTo>
                    <a:pt x="778" y="900"/>
                  </a:lnTo>
                  <a:lnTo>
                    <a:pt x="780" y="900"/>
                  </a:lnTo>
                  <a:lnTo>
                    <a:pt x="824" y="900"/>
                  </a:lnTo>
                  <a:lnTo>
                    <a:pt x="824" y="900"/>
                  </a:lnTo>
                  <a:lnTo>
                    <a:pt x="828" y="900"/>
                  </a:lnTo>
                  <a:lnTo>
                    <a:pt x="830" y="902"/>
                  </a:lnTo>
                  <a:lnTo>
                    <a:pt x="834" y="906"/>
                  </a:lnTo>
                  <a:lnTo>
                    <a:pt x="834" y="910"/>
                  </a:lnTo>
                  <a:lnTo>
                    <a:pt x="838" y="948"/>
                  </a:lnTo>
                  <a:lnTo>
                    <a:pt x="838" y="948"/>
                  </a:lnTo>
                  <a:lnTo>
                    <a:pt x="836" y="952"/>
                  </a:lnTo>
                  <a:lnTo>
                    <a:pt x="834" y="956"/>
                  </a:lnTo>
                  <a:lnTo>
                    <a:pt x="832" y="958"/>
                  </a:lnTo>
                  <a:lnTo>
                    <a:pt x="828" y="958"/>
                  </a:lnTo>
                  <a:lnTo>
                    <a:pt x="784" y="958"/>
                  </a:lnTo>
                  <a:lnTo>
                    <a:pt x="784" y="958"/>
                  </a:lnTo>
                  <a:lnTo>
                    <a:pt x="780" y="958"/>
                  </a:lnTo>
                  <a:lnTo>
                    <a:pt x="778" y="956"/>
                  </a:lnTo>
                  <a:lnTo>
                    <a:pt x="776" y="952"/>
                  </a:lnTo>
                  <a:lnTo>
                    <a:pt x="774" y="948"/>
                  </a:lnTo>
                  <a:lnTo>
                    <a:pt x="774" y="948"/>
                  </a:lnTo>
                  <a:close/>
                  <a:moveTo>
                    <a:pt x="864" y="1038"/>
                  </a:moveTo>
                  <a:lnTo>
                    <a:pt x="810" y="1038"/>
                  </a:lnTo>
                  <a:lnTo>
                    <a:pt x="810" y="1038"/>
                  </a:lnTo>
                  <a:lnTo>
                    <a:pt x="806" y="1036"/>
                  </a:lnTo>
                  <a:lnTo>
                    <a:pt x="804" y="1034"/>
                  </a:lnTo>
                  <a:lnTo>
                    <a:pt x="802" y="1032"/>
                  </a:lnTo>
                  <a:lnTo>
                    <a:pt x="800" y="1028"/>
                  </a:lnTo>
                  <a:lnTo>
                    <a:pt x="798" y="988"/>
                  </a:lnTo>
                  <a:lnTo>
                    <a:pt x="798" y="988"/>
                  </a:lnTo>
                  <a:lnTo>
                    <a:pt x="798" y="984"/>
                  </a:lnTo>
                  <a:lnTo>
                    <a:pt x="800" y="980"/>
                  </a:lnTo>
                  <a:lnTo>
                    <a:pt x="802" y="978"/>
                  </a:lnTo>
                  <a:lnTo>
                    <a:pt x="806" y="978"/>
                  </a:lnTo>
                  <a:lnTo>
                    <a:pt x="860" y="978"/>
                  </a:lnTo>
                  <a:lnTo>
                    <a:pt x="860" y="978"/>
                  </a:lnTo>
                  <a:lnTo>
                    <a:pt x="864" y="978"/>
                  </a:lnTo>
                  <a:lnTo>
                    <a:pt x="866" y="980"/>
                  </a:lnTo>
                  <a:lnTo>
                    <a:pt x="868" y="984"/>
                  </a:lnTo>
                  <a:lnTo>
                    <a:pt x="870" y="988"/>
                  </a:lnTo>
                  <a:lnTo>
                    <a:pt x="874" y="1028"/>
                  </a:lnTo>
                  <a:lnTo>
                    <a:pt x="874" y="1028"/>
                  </a:lnTo>
                  <a:lnTo>
                    <a:pt x="872" y="1032"/>
                  </a:lnTo>
                  <a:lnTo>
                    <a:pt x="870" y="1034"/>
                  </a:lnTo>
                  <a:lnTo>
                    <a:pt x="868" y="1036"/>
                  </a:lnTo>
                  <a:lnTo>
                    <a:pt x="864" y="1038"/>
                  </a:lnTo>
                  <a:lnTo>
                    <a:pt x="864" y="1038"/>
                  </a:lnTo>
                  <a:close/>
                  <a:moveTo>
                    <a:pt x="992" y="1038"/>
                  </a:moveTo>
                  <a:lnTo>
                    <a:pt x="902" y="1038"/>
                  </a:lnTo>
                  <a:lnTo>
                    <a:pt x="902" y="1038"/>
                  </a:lnTo>
                  <a:lnTo>
                    <a:pt x="898" y="1036"/>
                  </a:lnTo>
                  <a:lnTo>
                    <a:pt x="896" y="1034"/>
                  </a:lnTo>
                  <a:lnTo>
                    <a:pt x="892" y="1032"/>
                  </a:lnTo>
                  <a:lnTo>
                    <a:pt x="892" y="1028"/>
                  </a:lnTo>
                  <a:lnTo>
                    <a:pt x="888" y="988"/>
                  </a:lnTo>
                  <a:lnTo>
                    <a:pt x="888" y="988"/>
                  </a:lnTo>
                  <a:lnTo>
                    <a:pt x="888" y="984"/>
                  </a:lnTo>
                  <a:lnTo>
                    <a:pt x="890" y="980"/>
                  </a:lnTo>
                  <a:lnTo>
                    <a:pt x="894" y="978"/>
                  </a:lnTo>
                  <a:lnTo>
                    <a:pt x="896" y="978"/>
                  </a:lnTo>
                  <a:lnTo>
                    <a:pt x="986" y="978"/>
                  </a:lnTo>
                  <a:lnTo>
                    <a:pt x="986" y="978"/>
                  </a:lnTo>
                  <a:lnTo>
                    <a:pt x="990" y="978"/>
                  </a:lnTo>
                  <a:lnTo>
                    <a:pt x="992" y="980"/>
                  </a:lnTo>
                  <a:lnTo>
                    <a:pt x="994" y="984"/>
                  </a:lnTo>
                  <a:lnTo>
                    <a:pt x="996" y="988"/>
                  </a:lnTo>
                  <a:lnTo>
                    <a:pt x="1000" y="1028"/>
                  </a:lnTo>
                  <a:lnTo>
                    <a:pt x="1000" y="1028"/>
                  </a:lnTo>
                  <a:lnTo>
                    <a:pt x="1000" y="1032"/>
                  </a:lnTo>
                  <a:lnTo>
                    <a:pt x="998" y="1034"/>
                  </a:lnTo>
                  <a:lnTo>
                    <a:pt x="996" y="1036"/>
                  </a:lnTo>
                  <a:lnTo>
                    <a:pt x="992" y="1038"/>
                  </a:lnTo>
                  <a:lnTo>
                    <a:pt x="992" y="1038"/>
                  </a:lnTo>
                  <a:close/>
                </a:path>
              </a:pathLst>
            </a:custGeom>
            <a:solidFill>
              <a:srgbClr val="007CB0"/>
            </a:solidFill>
            <a:ln>
              <a:noFill/>
            </a:ln>
          </p:spPr>
          <p:txBody>
            <a:bodyPr vert="horz" wrap="square" lIns="68750" tIns="34375" rIns="68750" bIns="34375" numCol="1" anchor="t" anchorCtr="0" compatLnSpc="1">
              <a:prstTxWarp prst="textNoShape">
                <a:avLst/>
              </a:prstTxWarp>
            </a:bodyP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1200" cap="none" spc="0" normalizeH="0" baseline="0" noProof="0">
                <a:ln>
                  <a:noFill/>
                </a:ln>
                <a:solidFill>
                  <a:srgbClr val="000000"/>
                </a:solidFill>
                <a:effectLst/>
                <a:uLnTx/>
                <a:uFillTx/>
                <a:latin typeface="Calibri" panose="020F0502020204030204"/>
                <a:ea typeface="+mn-ea"/>
                <a:cs typeface="Arial" pitchFamily="34" charset="0"/>
              </a:endParaRPr>
            </a:p>
          </p:txBody>
        </p:sp>
        <p:sp>
          <p:nvSpPr>
            <p:cNvPr id="21" name="Line 13">
              <a:extLst>
                <a:ext uri="{FF2B5EF4-FFF2-40B4-BE49-F238E27FC236}">
                  <a16:creationId xmlns:a16="http://schemas.microsoft.com/office/drawing/2014/main" id="{A7EB348C-56A5-463C-BBF2-2B2A20829CAF}"/>
                </a:ext>
              </a:extLst>
            </p:cNvPr>
            <p:cNvSpPr>
              <a:spLocks noChangeShapeType="1"/>
            </p:cNvSpPr>
            <p:nvPr/>
          </p:nvSpPr>
          <p:spPr bwMode="auto">
            <a:xfrm flipV="1">
              <a:off x="6042695" y="1764306"/>
              <a:ext cx="574202" cy="5907"/>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22" name="Freeform 11">
              <a:extLst>
                <a:ext uri="{FF2B5EF4-FFF2-40B4-BE49-F238E27FC236}">
                  <a16:creationId xmlns:a16="http://schemas.microsoft.com/office/drawing/2014/main" id="{6E454665-C14A-41F2-9018-4468A84C4ED4}"/>
                </a:ext>
              </a:extLst>
            </p:cNvPr>
            <p:cNvSpPr>
              <a:spLocks noEditPoints="1"/>
            </p:cNvSpPr>
            <p:nvPr/>
          </p:nvSpPr>
          <p:spPr bwMode="auto">
            <a:xfrm>
              <a:off x="7361052" y="1828326"/>
              <a:ext cx="197329" cy="209599"/>
            </a:xfrm>
            <a:custGeom>
              <a:avLst/>
              <a:gdLst>
                <a:gd name="T0" fmla="*/ 770 w 976"/>
                <a:gd name="T1" fmla="*/ 254 h 828"/>
                <a:gd name="T2" fmla="*/ 976 w 976"/>
                <a:gd name="T3" fmla="*/ 176 h 828"/>
                <a:gd name="T4" fmla="*/ 770 w 976"/>
                <a:gd name="T5" fmla="*/ 116 h 828"/>
                <a:gd name="T6" fmla="*/ 736 w 976"/>
                <a:gd name="T7" fmla="*/ 116 h 828"/>
                <a:gd name="T8" fmla="*/ 672 w 976"/>
                <a:gd name="T9" fmla="*/ 122 h 828"/>
                <a:gd name="T10" fmla="*/ 614 w 976"/>
                <a:gd name="T11" fmla="*/ 140 h 828"/>
                <a:gd name="T12" fmla="*/ 562 w 976"/>
                <a:gd name="T13" fmla="*/ 164 h 828"/>
                <a:gd name="T14" fmla="*/ 516 w 976"/>
                <a:gd name="T15" fmla="*/ 198 h 828"/>
                <a:gd name="T16" fmla="*/ 474 w 976"/>
                <a:gd name="T17" fmla="*/ 236 h 828"/>
                <a:gd name="T18" fmla="*/ 398 w 976"/>
                <a:gd name="T19" fmla="*/ 324 h 828"/>
                <a:gd name="T20" fmla="*/ 364 w 976"/>
                <a:gd name="T21" fmla="*/ 368 h 828"/>
                <a:gd name="T22" fmla="*/ 304 w 976"/>
                <a:gd name="T23" fmla="*/ 444 h 828"/>
                <a:gd name="T24" fmla="*/ 244 w 976"/>
                <a:gd name="T25" fmla="*/ 506 h 828"/>
                <a:gd name="T26" fmla="*/ 212 w 976"/>
                <a:gd name="T27" fmla="*/ 530 h 828"/>
                <a:gd name="T28" fmla="*/ 178 w 976"/>
                <a:gd name="T29" fmla="*/ 550 h 828"/>
                <a:gd name="T30" fmla="*/ 142 w 976"/>
                <a:gd name="T31" fmla="*/ 562 h 828"/>
                <a:gd name="T32" fmla="*/ 102 w 976"/>
                <a:gd name="T33" fmla="*/ 566 h 828"/>
                <a:gd name="T34" fmla="*/ 0 w 976"/>
                <a:gd name="T35" fmla="*/ 702 h 828"/>
                <a:gd name="T36" fmla="*/ 102 w 976"/>
                <a:gd name="T37" fmla="*/ 702 h 828"/>
                <a:gd name="T38" fmla="*/ 166 w 976"/>
                <a:gd name="T39" fmla="*/ 696 h 828"/>
                <a:gd name="T40" fmla="*/ 222 w 976"/>
                <a:gd name="T41" fmla="*/ 680 h 828"/>
                <a:gd name="T42" fmla="*/ 274 w 976"/>
                <a:gd name="T43" fmla="*/ 654 h 828"/>
                <a:gd name="T44" fmla="*/ 322 w 976"/>
                <a:gd name="T45" fmla="*/ 620 h 828"/>
                <a:gd name="T46" fmla="*/ 364 w 976"/>
                <a:gd name="T47" fmla="*/ 582 h 828"/>
                <a:gd name="T48" fmla="*/ 438 w 976"/>
                <a:gd name="T49" fmla="*/ 496 h 828"/>
                <a:gd name="T50" fmla="*/ 472 w 976"/>
                <a:gd name="T51" fmla="*/ 450 h 828"/>
                <a:gd name="T52" fmla="*/ 532 w 976"/>
                <a:gd name="T53" fmla="*/ 376 h 828"/>
                <a:gd name="T54" fmla="*/ 592 w 976"/>
                <a:gd name="T55" fmla="*/ 312 h 828"/>
                <a:gd name="T56" fmla="*/ 624 w 976"/>
                <a:gd name="T57" fmla="*/ 288 h 828"/>
                <a:gd name="T58" fmla="*/ 658 w 976"/>
                <a:gd name="T59" fmla="*/ 270 h 828"/>
                <a:gd name="T60" fmla="*/ 696 w 976"/>
                <a:gd name="T61" fmla="*/ 258 h 828"/>
                <a:gd name="T62" fmla="*/ 736 w 976"/>
                <a:gd name="T63" fmla="*/ 254 h 828"/>
                <a:gd name="T64" fmla="*/ 264 w 976"/>
                <a:gd name="T65" fmla="*/ 340 h 828"/>
                <a:gd name="T66" fmla="*/ 286 w 976"/>
                <a:gd name="T67" fmla="*/ 308 h 828"/>
                <a:gd name="T68" fmla="*/ 316 w 976"/>
                <a:gd name="T69" fmla="*/ 270 h 828"/>
                <a:gd name="T70" fmla="*/ 348 w 976"/>
                <a:gd name="T71" fmla="*/ 230 h 828"/>
                <a:gd name="T72" fmla="*/ 296 w 976"/>
                <a:gd name="T73" fmla="*/ 190 h 828"/>
                <a:gd name="T74" fmla="*/ 240 w 976"/>
                <a:gd name="T75" fmla="*/ 156 h 828"/>
                <a:gd name="T76" fmla="*/ 174 w 976"/>
                <a:gd name="T77" fmla="*/ 134 h 828"/>
                <a:gd name="T78" fmla="*/ 102 w 976"/>
                <a:gd name="T79" fmla="*/ 126 h 828"/>
                <a:gd name="T80" fmla="*/ 0 w 976"/>
                <a:gd name="T81" fmla="*/ 262 h 828"/>
                <a:gd name="T82" fmla="*/ 102 w 976"/>
                <a:gd name="T83" fmla="*/ 262 h 828"/>
                <a:gd name="T84" fmla="*/ 148 w 976"/>
                <a:gd name="T85" fmla="*/ 268 h 828"/>
                <a:gd name="T86" fmla="*/ 190 w 976"/>
                <a:gd name="T87" fmla="*/ 284 h 828"/>
                <a:gd name="T88" fmla="*/ 228 w 976"/>
                <a:gd name="T89" fmla="*/ 308 h 828"/>
                <a:gd name="T90" fmla="*/ 264 w 976"/>
                <a:gd name="T91" fmla="*/ 340 h 828"/>
                <a:gd name="T92" fmla="*/ 770 w 976"/>
                <a:gd name="T93" fmla="*/ 576 h 828"/>
                <a:gd name="T94" fmla="*/ 736 w 976"/>
                <a:gd name="T95" fmla="*/ 576 h 828"/>
                <a:gd name="T96" fmla="*/ 688 w 976"/>
                <a:gd name="T97" fmla="*/ 570 h 828"/>
                <a:gd name="T98" fmla="*/ 644 w 976"/>
                <a:gd name="T99" fmla="*/ 552 h 828"/>
                <a:gd name="T100" fmla="*/ 602 w 976"/>
                <a:gd name="T101" fmla="*/ 524 h 828"/>
                <a:gd name="T102" fmla="*/ 566 w 976"/>
                <a:gd name="T103" fmla="*/ 490 h 828"/>
                <a:gd name="T104" fmla="*/ 550 w 976"/>
                <a:gd name="T105" fmla="*/ 510 h 828"/>
                <a:gd name="T106" fmla="*/ 518 w 976"/>
                <a:gd name="T107" fmla="*/ 554 h 828"/>
                <a:gd name="T108" fmla="*/ 480 w 976"/>
                <a:gd name="T109" fmla="*/ 598 h 828"/>
                <a:gd name="T110" fmla="*/ 532 w 976"/>
                <a:gd name="T111" fmla="*/ 644 h 828"/>
                <a:gd name="T112" fmla="*/ 592 w 976"/>
                <a:gd name="T113" fmla="*/ 680 h 828"/>
                <a:gd name="T114" fmla="*/ 660 w 976"/>
                <a:gd name="T115" fmla="*/ 704 h 828"/>
                <a:gd name="T116" fmla="*/ 736 w 976"/>
                <a:gd name="T117" fmla="*/ 712 h 828"/>
                <a:gd name="T118" fmla="*/ 770 w 976"/>
                <a:gd name="T119" fmla="*/ 828 h 828"/>
                <a:gd name="T120" fmla="*/ 770 w 976"/>
                <a:gd name="T121" fmla="*/ 478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76" h="828">
                  <a:moveTo>
                    <a:pt x="736" y="254"/>
                  </a:moveTo>
                  <a:lnTo>
                    <a:pt x="770" y="254"/>
                  </a:lnTo>
                  <a:lnTo>
                    <a:pt x="770" y="352"/>
                  </a:lnTo>
                  <a:lnTo>
                    <a:pt x="976" y="176"/>
                  </a:lnTo>
                  <a:lnTo>
                    <a:pt x="770" y="0"/>
                  </a:lnTo>
                  <a:lnTo>
                    <a:pt x="770" y="116"/>
                  </a:lnTo>
                  <a:lnTo>
                    <a:pt x="736" y="116"/>
                  </a:lnTo>
                  <a:lnTo>
                    <a:pt x="736" y="116"/>
                  </a:lnTo>
                  <a:lnTo>
                    <a:pt x="702" y="118"/>
                  </a:lnTo>
                  <a:lnTo>
                    <a:pt x="672" y="122"/>
                  </a:lnTo>
                  <a:lnTo>
                    <a:pt x="642" y="130"/>
                  </a:lnTo>
                  <a:lnTo>
                    <a:pt x="614" y="140"/>
                  </a:lnTo>
                  <a:lnTo>
                    <a:pt x="588" y="152"/>
                  </a:lnTo>
                  <a:lnTo>
                    <a:pt x="562" y="164"/>
                  </a:lnTo>
                  <a:lnTo>
                    <a:pt x="538" y="180"/>
                  </a:lnTo>
                  <a:lnTo>
                    <a:pt x="516" y="198"/>
                  </a:lnTo>
                  <a:lnTo>
                    <a:pt x="494" y="216"/>
                  </a:lnTo>
                  <a:lnTo>
                    <a:pt x="474" y="236"/>
                  </a:lnTo>
                  <a:lnTo>
                    <a:pt x="434" y="278"/>
                  </a:lnTo>
                  <a:lnTo>
                    <a:pt x="398" y="324"/>
                  </a:lnTo>
                  <a:lnTo>
                    <a:pt x="364" y="368"/>
                  </a:lnTo>
                  <a:lnTo>
                    <a:pt x="364" y="368"/>
                  </a:lnTo>
                  <a:lnTo>
                    <a:pt x="334" y="406"/>
                  </a:lnTo>
                  <a:lnTo>
                    <a:pt x="304" y="444"/>
                  </a:lnTo>
                  <a:lnTo>
                    <a:pt x="276" y="478"/>
                  </a:lnTo>
                  <a:lnTo>
                    <a:pt x="244" y="506"/>
                  </a:lnTo>
                  <a:lnTo>
                    <a:pt x="228" y="520"/>
                  </a:lnTo>
                  <a:lnTo>
                    <a:pt x="212" y="530"/>
                  </a:lnTo>
                  <a:lnTo>
                    <a:pt x="196" y="542"/>
                  </a:lnTo>
                  <a:lnTo>
                    <a:pt x="178" y="550"/>
                  </a:lnTo>
                  <a:lnTo>
                    <a:pt x="160" y="556"/>
                  </a:lnTo>
                  <a:lnTo>
                    <a:pt x="142" y="562"/>
                  </a:lnTo>
                  <a:lnTo>
                    <a:pt x="122" y="564"/>
                  </a:lnTo>
                  <a:lnTo>
                    <a:pt x="102" y="566"/>
                  </a:lnTo>
                  <a:lnTo>
                    <a:pt x="0" y="566"/>
                  </a:lnTo>
                  <a:lnTo>
                    <a:pt x="0" y="702"/>
                  </a:lnTo>
                  <a:lnTo>
                    <a:pt x="102" y="702"/>
                  </a:lnTo>
                  <a:lnTo>
                    <a:pt x="102" y="702"/>
                  </a:lnTo>
                  <a:lnTo>
                    <a:pt x="134" y="700"/>
                  </a:lnTo>
                  <a:lnTo>
                    <a:pt x="166" y="696"/>
                  </a:lnTo>
                  <a:lnTo>
                    <a:pt x="194" y="688"/>
                  </a:lnTo>
                  <a:lnTo>
                    <a:pt x="222" y="680"/>
                  </a:lnTo>
                  <a:lnTo>
                    <a:pt x="250" y="668"/>
                  </a:lnTo>
                  <a:lnTo>
                    <a:pt x="274" y="654"/>
                  </a:lnTo>
                  <a:lnTo>
                    <a:pt x="298" y="638"/>
                  </a:lnTo>
                  <a:lnTo>
                    <a:pt x="322" y="620"/>
                  </a:lnTo>
                  <a:lnTo>
                    <a:pt x="342" y="602"/>
                  </a:lnTo>
                  <a:lnTo>
                    <a:pt x="364" y="582"/>
                  </a:lnTo>
                  <a:lnTo>
                    <a:pt x="402" y="540"/>
                  </a:lnTo>
                  <a:lnTo>
                    <a:pt x="438" y="496"/>
                  </a:lnTo>
                  <a:lnTo>
                    <a:pt x="472" y="450"/>
                  </a:lnTo>
                  <a:lnTo>
                    <a:pt x="472" y="450"/>
                  </a:lnTo>
                  <a:lnTo>
                    <a:pt x="502" y="412"/>
                  </a:lnTo>
                  <a:lnTo>
                    <a:pt x="532" y="376"/>
                  </a:lnTo>
                  <a:lnTo>
                    <a:pt x="562" y="342"/>
                  </a:lnTo>
                  <a:lnTo>
                    <a:pt x="592" y="312"/>
                  </a:lnTo>
                  <a:lnTo>
                    <a:pt x="608" y="300"/>
                  </a:lnTo>
                  <a:lnTo>
                    <a:pt x="624" y="288"/>
                  </a:lnTo>
                  <a:lnTo>
                    <a:pt x="642" y="278"/>
                  </a:lnTo>
                  <a:lnTo>
                    <a:pt x="658" y="270"/>
                  </a:lnTo>
                  <a:lnTo>
                    <a:pt x="676" y="262"/>
                  </a:lnTo>
                  <a:lnTo>
                    <a:pt x="696" y="258"/>
                  </a:lnTo>
                  <a:lnTo>
                    <a:pt x="716" y="254"/>
                  </a:lnTo>
                  <a:lnTo>
                    <a:pt x="736" y="254"/>
                  </a:lnTo>
                  <a:lnTo>
                    <a:pt x="736" y="254"/>
                  </a:lnTo>
                  <a:close/>
                  <a:moveTo>
                    <a:pt x="264" y="340"/>
                  </a:moveTo>
                  <a:lnTo>
                    <a:pt x="264" y="340"/>
                  </a:lnTo>
                  <a:lnTo>
                    <a:pt x="286" y="308"/>
                  </a:lnTo>
                  <a:lnTo>
                    <a:pt x="286" y="308"/>
                  </a:lnTo>
                  <a:lnTo>
                    <a:pt x="316" y="270"/>
                  </a:lnTo>
                  <a:lnTo>
                    <a:pt x="348" y="230"/>
                  </a:lnTo>
                  <a:lnTo>
                    <a:pt x="348" y="230"/>
                  </a:lnTo>
                  <a:lnTo>
                    <a:pt x="322" y="210"/>
                  </a:lnTo>
                  <a:lnTo>
                    <a:pt x="296" y="190"/>
                  </a:lnTo>
                  <a:lnTo>
                    <a:pt x="268" y="172"/>
                  </a:lnTo>
                  <a:lnTo>
                    <a:pt x="240" y="156"/>
                  </a:lnTo>
                  <a:lnTo>
                    <a:pt x="208" y="144"/>
                  </a:lnTo>
                  <a:lnTo>
                    <a:pt x="174" y="134"/>
                  </a:lnTo>
                  <a:lnTo>
                    <a:pt x="140" y="128"/>
                  </a:lnTo>
                  <a:lnTo>
                    <a:pt x="102" y="126"/>
                  </a:lnTo>
                  <a:lnTo>
                    <a:pt x="0" y="126"/>
                  </a:lnTo>
                  <a:lnTo>
                    <a:pt x="0" y="262"/>
                  </a:lnTo>
                  <a:lnTo>
                    <a:pt x="102" y="262"/>
                  </a:lnTo>
                  <a:lnTo>
                    <a:pt x="102" y="262"/>
                  </a:lnTo>
                  <a:lnTo>
                    <a:pt x="124" y="264"/>
                  </a:lnTo>
                  <a:lnTo>
                    <a:pt x="148" y="268"/>
                  </a:lnTo>
                  <a:lnTo>
                    <a:pt x="168" y="274"/>
                  </a:lnTo>
                  <a:lnTo>
                    <a:pt x="190" y="284"/>
                  </a:lnTo>
                  <a:lnTo>
                    <a:pt x="208" y="294"/>
                  </a:lnTo>
                  <a:lnTo>
                    <a:pt x="228" y="308"/>
                  </a:lnTo>
                  <a:lnTo>
                    <a:pt x="246" y="322"/>
                  </a:lnTo>
                  <a:lnTo>
                    <a:pt x="264" y="340"/>
                  </a:lnTo>
                  <a:lnTo>
                    <a:pt x="264" y="340"/>
                  </a:lnTo>
                  <a:close/>
                  <a:moveTo>
                    <a:pt x="770" y="576"/>
                  </a:moveTo>
                  <a:lnTo>
                    <a:pt x="736" y="576"/>
                  </a:lnTo>
                  <a:lnTo>
                    <a:pt x="736" y="576"/>
                  </a:lnTo>
                  <a:lnTo>
                    <a:pt x="710" y="574"/>
                  </a:lnTo>
                  <a:lnTo>
                    <a:pt x="688" y="570"/>
                  </a:lnTo>
                  <a:lnTo>
                    <a:pt x="664" y="562"/>
                  </a:lnTo>
                  <a:lnTo>
                    <a:pt x="644" y="552"/>
                  </a:lnTo>
                  <a:lnTo>
                    <a:pt x="622" y="540"/>
                  </a:lnTo>
                  <a:lnTo>
                    <a:pt x="602" y="524"/>
                  </a:lnTo>
                  <a:lnTo>
                    <a:pt x="584" y="508"/>
                  </a:lnTo>
                  <a:lnTo>
                    <a:pt x="566" y="490"/>
                  </a:lnTo>
                  <a:lnTo>
                    <a:pt x="566" y="490"/>
                  </a:lnTo>
                  <a:lnTo>
                    <a:pt x="550" y="510"/>
                  </a:lnTo>
                  <a:lnTo>
                    <a:pt x="550" y="510"/>
                  </a:lnTo>
                  <a:lnTo>
                    <a:pt x="518" y="554"/>
                  </a:lnTo>
                  <a:lnTo>
                    <a:pt x="480" y="598"/>
                  </a:lnTo>
                  <a:lnTo>
                    <a:pt x="480" y="598"/>
                  </a:lnTo>
                  <a:lnTo>
                    <a:pt x="506" y="622"/>
                  </a:lnTo>
                  <a:lnTo>
                    <a:pt x="532" y="644"/>
                  </a:lnTo>
                  <a:lnTo>
                    <a:pt x="562" y="662"/>
                  </a:lnTo>
                  <a:lnTo>
                    <a:pt x="592" y="680"/>
                  </a:lnTo>
                  <a:lnTo>
                    <a:pt x="624" y="692"/>
                  </a:lnTo>
                  <a:lnTo>
                    <a:pt x="660" y="704"/>
                  </a:lnTo>
                  <a:lnTo>
                    <a:pt x="696" y="710"/>
                  </a:lnTo>
                  <a:lnTo>
                    <a:pt x="736" y="712"/>
                  </a:lnTo>
                  <a:lnTo>
                    <a:pt x="770" y="712"/>
                  </a:lnTo>
                  <a:lnTo>
                    <a:pt x="770" y="828"/>
                  </a:lnTo>
                  <a:lnTo>
                    <a:pt x="976" y="654"/>
                  </a:lnTo>
                  <a:lnTo>
                    <a:pt x="770" y="478"/>
                  </a:lnTo>
                  <a:lnTo>
                    <a:pt x="770" y="576"/>
                  </a:lnTo>
                  <a:close/>
                </a:path>
              </a:pathLst>
            </a:custGeom>
            <a:solidFill>
              <a:srgbClr val="007CB0"/>
            </a:solidFill>
            <a:ln>
              <a:solidFill>
                <a:srgbClr val="007CB0"/>
              </a:solidFill>
            </a:ln>
          </p:spPr>
          <p:txBody>
            <a:bodyPr vert="horz" wrap="square" lIns="68750" tIns="34375" rIns="68750" bIns="34375" numCol="1" anchor="t" anchorCtr="0" compatLnSpc="1">
              <a:prstTxWarp prst="textNoShape">
                <a:avLst/>
              </a:prstTxWarp>
            </a:bodyP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0" cap="none" spc="0" normalizeH="0" baseline="0" noProof="0">
                <a:ln>
                  <a:noFill/>
                </a:ln>
                <a:solidFill>
                  <a:srgbClr val="000000"/>
                </a:solidFill>
                <a:effectLst/>
                <a:uLnTx/>
                <a:uFillTx/>
                <a:latin typeface="Calibri" panose="020F0502020204030204"/>
                <a:ea typeface="+mn-ea"/>
                <a:cs typeface="Arial" pitchFamily="34" charset="0"/>
              </a:endParaRPr>
            </a:p>
          </p:txBody>
        </p:sp>
        <p:sp>
          <p:nvSpPr>
            <p:cNvPr id="23" name="Text Box 10">
              <a:extLst>
                <a:ext uri="{FF2B5EF4-FFF2-40B4-BE49-F238E27FC236}">
                  <a16:creationId xmlns:a16="http://schemas.microsoft.com/office/drawing/2014/main" id="{724EE1D8-2685-4823-93D1-8771B8E053CA}"/>
                </a:ext>
              </a:extLst>
            </p:cNvPr>
            <p:cNvSpPr txBox="1">
              <a:spLocks noChangeArrowheads="1"/>
            </p:cNvSpPr>
            <p:nvPr/>
          </p:nvSpPr>
          <p:spPr bwMode="auto">
            <a:xfrm>
              <a:off x="6616897" y="690065"/>
              <a:ext cx="1673850" cy="287402"/>
            </a:xfrm>
            <a:prstGeom prst="rect">
              <a:avLst/>
            </a:prstGeom>
            <a:solidFill>
              <a:srgbClr val="007CB0"/>
            </a:solidFill>
            <a:ln w="12700" algn="ctr">
              <a:noFill/>
              <a:miter lim="800000"/>
              <a:headEnd/>
              <a:tailEnd type="none" w="sm" len="med"/>
            </a:ln>
          </p:spPr>
          <p:txBody>
            <a:bodyPr lIns="19902" tIns="19902" rIns="19902" bIns="19902" anchor="ctr" anchorCtr="1"/>
            <a:lstStyle/>
            <a:p>
              <a:pPr marL="0" marR="0" lvl="0" indent="0" algn="ctr" defTabSz="528601" rtl="0" eaLnBrk="1" fontAlgn="base" latinLnBrk="0" hangingPunct="1">
                <a:lnSpc>
                  <a:spcPct val="100000"/>
                </a:lnSpc>
                <a:spcBef>
                  <a:spcPct val="20000"/>
                </a:spcBef>
                <a:spcAft>
                  <a:spcPct val="0"/>
                </a:spcAft>
                <a:buClrTx/>
                <a:buSzTx/>
                <a:buFontTx/>
                <a:buNone/>
                <a:tabLst/>
                <a:defRPr/>
              </a:pPr>
              <a:r>
                <a:rPr lang="en-US" sz="1000" b="1" kern="0">
                  <a:solidFill>
                    <a:srgbClr val="FFFFFF"/>
                  </a:solidFill>
                  <a:latin typeface="Calibri" panose="020F0502020204030204"/>
                  <a:cs typeface="Arial" pitchFamily="34" charset="0"/>
                </a:rPr>
                <a:t>Middleware</a:t>
              </a:r>
              <a:endParaRPr kumimoji="0" lang="en-US" sz="1000" b="1" i="0" u="none" strike="noStrike" kern="0" cap="none" spc="0" normalizeH="0" baseline="0" noProof="0">
                <a:ln>
                  <a:noFill/>
                </a:ln>
                <a:solidFill>
                  <a:srgbClr val="FFFFFF"/>
                </a:solidFill>
                <a:effectLst/>
                <a:uLnTx/>
                <a:uFillTx/>
                <a:latin typeface="Calibri" panose="020F0502020204030204"/>
                <a:ea typeface="+mn-ea"/>
                <a:cs typeface="Arial" pitchFamily="34" charset="0"/>
              </a:endParaRPr>
            </a:p>
          </p:txBody>
        </p:sp>
        <p:sp>
          <p:nvSpPr>
            <p:cNvPr id="24" name="TextBox 23">
              <a:extLst>
                <a:ext uri="{FF2B5EF4-FFF2-40B4-BE49-F238E27FC236}">
                  <a16:creationId xmlns:a16="http://schemas.microsoft.com/office/drawing/2014/main" id="{C7273931-162E-498A-B012-62CB1FD15EE3}"/>
                </a:ext>
              </a:extLst>
            </p:cNvPr>
            <p:cNvSpPr txBox="1"/>
            <p:nvPr/>
          </p:nvSpPr>
          <p:spPr>
            <a:xfrm>
              <a:off x="7051881" y="2000841"/>
              <a:ext cx="78663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Data transformation</a:t>
              </a:r>
            </a:p>
          </p:txBody>
        </p:sp>
        <p:sp>
          <p:nvSpPr>
            <p:cNvPr id="25" name="TextBox 24">
              <a:extLst>
                <a:ext uri="{FF2B5EF4-FFF2-40B4-BE49-F238E27FC236}">
                  <a16:creationId xmlns:a16="http://schemas.microsoft.com/office/drawing/2014/main" id="{6299D665-0DE0-4384-9E48-5F197217FDF6}"/>
                </a:ext>
              </a:extLst>
            </p:cNvPr>
            <p:cNvSpPr txBox="1"/>
            <p:nvPr/>
          </p:nvSpPr>
          <p:spPr>
            <a:xfrm>
              <a:off x="7671281" y="1980871"/>
              <a:ext cx="78663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Upload to Object Storage</a:t>
              </a:r>
            </a:p>
          </p:txBody>
        </p:sp>
      </p:grpSp>
      <p:sp>
        <p:nvSpPr>
          <p:cNvPr id="46" name="Title 1">
            <a:extLst>
              <a:ext uri="{FF2B5EF4-FFF2-40B4-BE49-F238E27FC236}">
                <a16:creationId xmlns:a16="http://schemas.microsoft.com/office/drawing/2014/main" id="{6FC9C2CA-F409-4A0C-B288-5CFC9F3BE28A}"/>
              </a:ext>
            </a:extLst>
          </p:cNvPr>
          <p:cNvSpPr txBox="1">
            <a:spLocks/>
          </p:cNvSpPr>
          <p:nvPr/>
        </p:nvSpPr>
        <p:spPr bwMode="gray">
          <a:xfrm>
            <a:off x="434898" y="409575"/>
            <a:ext cx="11247120" cy="430887"/>
          </a:xfrm>
          <a:prstGeom prst="rect">
            <a:avLst/>
          </a:prstGeom>
        </p:spPr>
        <p:txBody>
          <a:bodyPr vert="horz" lIns="0" tIns="0" rIns="0" bIns="0" rtlCol="0" anchor="t" anchorCtr="0">
            <a:spAutoFit/>
          </a:bodyPr>
          <a:lstStyle>
            <a:lvl1pPr algn="l" defTabSz="1217613" rtl="0" eaLnBrk="1" fontAlgn="base" latinLnBrk="0" hangingPunct="1">
              <a:spcBef>
                <a:spcPct val="0"/>
              </a:spcBef>
              <a:spcAft>
                <a:spcPct val="0"/>
              </a:spcAft>
              <a:buNone/>
              <a:defRPr lang="en-US" sz="3200" b="0" kern="1200" spc="-50" noProof="0" dirty="0">
                <a:solidFill>
                  <a:schemeClr val="tx1"/>
                </a:solidFill>
                <a:latin typeface="+mj-lt"/>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2800">
                <a:latin typeface="+mj-lt"/>
                <a:ea typeface="+mj-ea"/>
                <a:cs typeface="Calibri Light" panose="020F0302020204030204" pitchFamily="34" charset="0"/>
              </a:rPr>
              <a:t>1 – POM Induction Job (File Based)</a:t>
            </a:r>
            <a:endParaRPr kumimoji="0" lang="en-US" sz="2800" b="0" i="0" u="none" strike="noStrike" kern="1200" cap="none" spc="0" normalizeH="0" baseline="0" noProof="0">
              <a:ln>
                <a:noFill/>
              </a:ln>
              <a:solidFill>
                <a:prstClr val="black"/>
              </a:solidFill>
              <a:effectLst/>
              <a:uLnTx/>
              <a:uFillTx/>
              <a:latin typeface="Open Sans Light"/>
              <a:ea typeface="+mj-ea"/>
              <a:cs typeface="+mj-cs"/>
            </a:endParaRPr>
          </a:p>
        </p:txBody>
      </p:sp>
      <p:pic>
        <p:nvPicPr>
          <p:cNvPr id="47" name="Picture 46" descr="A picture containing text&#10;&#10;Description automatically generated">
            <a:extLst>
              <a:ext uri="{FF2B5EF4-FFF2-40B4-BE49-F238E27FC236}">
                <a16:creationId xmlns:a16="http://schemas.microsoft.com/office/drawing/2014/main" id="{9DD8A0FC-E537-48AF-9B44-3880FD108EA3}"/>
              </a:ext>
            </a:extLst>
          </p:cNvPr>
          <p:cNvPicPr>
            <a:picLocks noChangeAspect="1"/>
          </p:cNvPicPr>
          <p:nvPr/>
        </p:nvPicPr>
        <p:blipFill rotWithShape="1">
          <a:blip r:embed="rId4"/>
          <a:srcRect t="72253" r="32706" b="-593"/>
          <a:stretch/>
        </p:blipFill>
        <p:spPr>
          <a:xfrm>
            <a:off x="0" y="5450715"/>
            <a:ext cx="6372225" cy="1509109"/>
          </a:xfrm>
          <a:prstGeom prst="rect">
            <a:avLst/>
          </a:prstGeom>
        </p:spPr>
      </p:pic>
      <p:pic>
        <p:nvPicPr>
          <p:cNvPr id="48" name="Picture 47" descr="A picture containing text&#10;&#10;Description automatically generated">
            <a:extLst>
              <a:ext uri="{FF2B5EF4-FFF2-40B4-BE49-F238E27FC236}">
                <a16:creationId xmlns:a16="http://schemas.microsoft.com/office/drawing/2014/main" id="{3AB87342-1DFA-4004-9F07-3BECF8EA4CB2}"/>
              </a:ext>
            </a:extLst>
          </p:cNvPr>
          <p:cNvPicPr>
            <a:picLocks noChangeAspect="1"/>
          </p:cNvPicPr>
          <p:nvPr/>
        </p:nvPicPr>
        <p:blipFill rotWithShape="1">
          <a:blip r:embed="rId4"/>
          <a:srcRect t="86960" r="37534" b="-593"/>
          <a:stretch/>
        </p:blipFill>
        <p:spPr>
          <a:xfrm flipH="1">
            <a:off x="7072311" y="6269474"/>
            <a:ext cx="5119687" cy="628346"/>
          </a:xfrm>
          <a:prstGeom prst="rect">
            <a:avLst/>
          </a:prstGeom>
        </p:spPr>
      </p:pic>
    </p:spTree>
    <p:extLst>
      <p:ext uri="{BB962C8B-B14F-4D97-AF65-F5344CB8AC3E}">
        <p14:creationId xmlns:p14="http://schemas.microsoft.com/office/powerpoint/2010/main" val="4181716701"/>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FD14F9-B2C1-4238-8BF4-455F5C5DA9BF}"/>
              </a:ext>
            </a:extLst>
          </p:cNvPr>
          <p:cNvSpPr/>
          <p:nvPr/>
        </p:nvSpPr>
        <p:spPr bwMode="auto">
          <a:xfrm>
            <a:off x="6044521" y="3722589"/>
            <a:ext cx="1230358" cy="910550"/>
          </a:xfrm>
          <a:prstGeom prst="rect">
            <a:avLst/>
          </a:prstGeom>
          <a:solidFill>
            <a:sysClr val="window" lastClr="FFFFFF"/>
          </a:solidFill>
          <a:ln w="12700" cap="flat" cmpd="sng" algn="ctr">
            <a:solidFill>
              <a:sysClr val="windowText" lastClr="000000"/>
            </a:solidFill>
            <a:prstDash val="solid"/>
            <a:round/>
            <a:headEnd type="none" w="med" len="med"/>
            <a:tailEnd type="none" w="med" len="med"/>
          </a:ln>
          <a:effectLst/>
        </p:spPr>
        <p:txBody>
          <a:bodyPr lIns="50650" tIns="25326" rIns="50650" bIns="25326" rtlCol="0" anchor="ctr"/>
          <a:lstStyle/>
          <a:p>
            <a:pPr algn="ctr" defTabSz="687537" fontAlgn="base">
              <a:spcAft>
                <a:spcPct val="0"/>
              </a:spcAft>
            </a:pPr>
            <a:endParaRPr lang="en-US" sz="600" b="1">
              <a:solidFill>
                <a:srgbClr val="000000"/>
              </a:solidFill>
              <a:cs typeface="Arial" pitchFamily="34" charset="0"/>
            </a:endParaRPr>
          </a:p>
        </p:txBody>
      </p:sp>
      <p:sp>
        <p:nvSpPr>
          <p:cNvPr id="3" name="Rectangle 2">
            <a:extLst>
              <a:ext uri="{FF2B5EF4-FFF2-40B4-BE49-F238E27FC236}">
                <a16:creationId xmlns:a16="http://schemas.microsoft.com/office/drawing/2014/main" id="{C1F0E2C1-0EAF-4455-B848-8B63F94D5D21}"/>
              </a:ext>
            </a:extLst>
          </p:cNvPr>
          <p:cNvSpPr/>
          <p:nvPr/>
        </p:nvSpPr>
        <p:spPr bwMode="gray">
          <a:xfrm>
            <a:off x="5998767" y="854991"/>
            <a:ext cx="5633801" cy="934192"/>
          </a:xfrm>
          <a:prstGeom prst="rect">
            <a:avLst/>
          </a:prstGeom>
          <a:ln w="6350">
            <a:solidFill>
              <a:srgbClr val="007CB0"/>
            </a:solidFill>
            <a:headEnd/>
            <a:tailEnd/>
          </a:ln>
        </p:spPr>
        <p:style>
          <a:lnRef idx="2">
            <a:schemeClr val="accent4"/>
          </a:lnRef>
          <a:fillRef idx="1">
            <a:schemeClr val="lt1"/>
          </a:fillRef>
          <a:effectRef idx="0">
            <a:schemeClr val="accent4"/>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 name="TextBox 3">
            <a:extLst>
              <a:ext uri="{FF2B5EF4-FFF2-40B4-BE49-F238E27FC236}">
                <a16:creationId xmlns:a16="http://schemas.microsoft.com/office/drawing/2014/main" id="{689FBF0C-F3C5-4D6F-9EA4-781CF363F3C9}"/>
              </a:ext>
            </a:extLst>
          </p:cNvPr>
          <p:cNvSpPr txBox="1"/>
          <p:nvPr/>
        </p:nvSpPr>
        <p:spPr>
          <a:xfrm>
            <a:off x="614539" y="1232598"/>
            <a:ext cx="4792298" cy="823302"/>
          </a:xfrm>
          <a:prstGeom prst="rect">
            <a:avLst/>
          </a:prstGeom>
          <a:noFill/>
        </p:spPr>
        <p:txBody>
          <a:bodyPr wrap="square" rtlCol="0">
            <a:spAutoFit/>
          </a:bodyPr>
          <a:lstStyle/>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ea typeface="Verdana" panose="020B0604030504040204" pitchFamily="34" charset="0"/>
                <a:cs typeface="Calibri" panose="020F0502020204030204" pitchFamily="34" charset="0"/>
              </a:rPr>
              <a:t>Oracle Retail Cloud Application (MFCS)</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ea typeface="Verdana" panose="020B0604030504040204" pitchFamily="34" charset="0"/>
                <a:cs typeface="Calibri" panose="020F0502020204030204" pitchFamily="34" charset="0"/>
              </a:rPr>
              <a:t>RIB – Retail Integration Bus part of Retail Integration Cloud Service (RICS)</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ea typeface="Verdana" panose="020B0604030504040204" pitchFamily="34" charset="0"/>
                <a:cs typeface="Calibri" panose="020F0502020204030204" pitchFamily="34" charset="0"/>
              </a:rPr>
              <a:t>RIHA (Rib Hospital Administrator)</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ea typeface="Verdana" panose="020B0604030504040204" pitchFamily="34" charset="0"/>
                <a:cs typeface="Calibri" panose="020F0502020204030204" pitchFamily="34" charset="0"/>
              </a:rPr>
              <a:t>Target Application/3rd Party application</a:t>
            </a:r>
          </a:p>
        </p:txBody>
      </p:sp>
      <p:sp>
        <p:nvSpPr>
          <p:cNvPr id="5" name="TextBox 4">
            <a:extLst>
              <a:ext uri="{FF2B5EF4-FFF2-40B4-BE49-F238E27FC236}">
                <a16:creationId xmlns:a16="http://schemas.microsoft.com/office/drawing/2014/main" id="{361FA035-9D75-4D2D-849D-42950FD68DE0}"/>
              </a:ext>
            </a:extLst>
          </p:cNvPr>
          <p:cNvSpPr txBox="1"/>
          <p:nvPr/>
        </p:nvSpPr>
        <p:spPr>
          <a:xfrm>
            <a:off x="599229" y="2397728"/>
            <a:ext cx="4798216" cy="1631216"/>
          </a:xfrm>
          <a:prstGeom prst="rect">
            <a:avLst/>
          </a:prstGeom>
          <a:noFill/>
        </p:spPr>
        <p:txBody>
          <a:bodyPr wrap="square" rtlCol="0">
            <a:spAutoFit/>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ea typeface="+mn-ea"/>
                <a:cs typeface="Arial" panose="020B0604020202020204" pitchFamily="34" charset="0"/>
              </a:rPr>
              <a:t>Retail Integration Bus</a:t>
            </a:r>
            <a:r>
              <a:rPr lang="en-US" sz="1000">
                <a:solidFill>
                  <a:prstClr val="black"/>
                </a:solidFill>
                <a:cs typeface="Arial" panose="020B0604020202020204" pitchFamily="34" charset="0"/>
              </a:rPr>
              <a:t> is the most common mechanism for getting data in and out of Oracle Retail.</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solidFill>
                  <a:prstClr val="black"/>
                </a:solidFill>
                <a:cs typeface="Arial" panose="020B0604020202020204" pitchFamily="34" charset="0"/>
              </a:rPr>
              <a:t>It is message driven,  and in a cloud environment it, communicates using </a:t>
            </a:r>
            <a:r>
              <a:rPr lang="en-US" sz="1000" u="sng">
                <a:solidFill>
                  <a:prstClr val="black"/>
                </a:solidFill>
                <a:cs typeface="Arial" panose="020B0604020202020204" pitchFamily="34" charset="0"/>
              </a:rPr>
              <a:t>web services </a:t>
            </a:r>
            <a:r>
              <a:rPr lang="en-US" sz="1000">
                <a:solidFill>
                  <a:prstClr val="black"/>
                </a:solidFill>
                <a:cs typeface="Arial" panose="020B0604020202020204" pitchFamily="34" charset="0"/>
              </a:rPr>
              <a:t>to publish data to external systems, and to input transactions from store and warehouse systems.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solidFill>
                  <a:prstClr val="black"/>
                </a:solidFill>
                <a:cs typeface="Arial" panose="020B0604020202020204" pitchFamily="34" charset="0"/>
              </a:rPr>
              <a:t>Messages failing validation are placed into a “Rib Hospital”, allowing other integrations to continue, and IT support can review the failures, make changes, and reprocess as necessary</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solidFill>
                  <a:prstClr val="black"/>
                </a:solidFill>
                <a:cs typeface="Arial" panose="020B0604020202020204" pitchFamily="34" charset="0"/>
              </a:rPr>
              <a:t>Validations occur based on business object ID, ensuring that messages for a particular entity are processed in the order that they are received </a:t>
            </a:r>
            <a:endParaRPr kumimoji="0" lang="en-US" sz="10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TextBox 5">
            <a:extLst>
              <a:ext uri="{FF2B5EF4-FFF2-40B4-BE49-F238E27FC236}">
                <a16:creationId xmlns:a16="http://schemas.microsoft.com/office/drawing/2014/main" id="{B92155C6-A382-4DC3-A2C2-FB93E6AAB2C2}"/>
              </a:ext>
            </a:extLst>
          </p:cNvPr>
          <p:cNvSpPr txBox="1"/>
          <p:nvPr/>
        </p:nvSpPr>
        <p:spPr>
          <a:xfrm>
            <a:off x="560888" y="4406792"/>
            <a:ext cx="4998040" cy="2208297"/>
          </a:xfrm>
          <a:prstGeom prst="rect">
            <a:avLst/>
          </a:prstGeom>
          <a:noFill/>
        </p:spPr>
        <p:txBody>
          <a:bodyPr wrap="square" rtlCol="0">
            <a:spAutoFit/>
          </a:bodyPr>
          <a:lstStyle>
            <a:defPPr>
              <a:defRPr lang="en-US"/>
            </a:defPPr>
            <a:lvl1pPr>
              <a:defRPr sz="900"/>
            </a:lvl1pPr>
          </a:lstStyle>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000" b="0" i="0" u="none" strike="noStrike" kern="1200" cap="none" spc="0" normalizeH="0" baseline="0" noProof="0">
                <a:ln>
                  <a:noFill/>
                </a:ln>
                <a:solidFill>
                  <a:prstClr val="black"/>
                </a:solidFill>
                <a:effectLst/>
                <a:uLnTx/>
                <a:uFillTx/>
                <a:ea typeface="Verdana" panose="020B0604030504040204" pitchFamily="34" charset="0"/>
                <a:cs typeface="Arial" panose="020B0604020202020204" pitchFamily="34" charset="0"/>
              </a:rPr>
              <a:t>Outbound integrations from Oracle Retail are event driven</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lang="en-US" sz="1000">
                <a:solidFill>
                  <a:prstClr val="black"/>
                </a:solidFill>
                <a:ea typeface="Verdana" panose="020B0604030504040204" pitchFamily="34" charset="0"/>
                <a:cs typeface="Arial" panose="020B0604020202020204" pitchFamily="34" charset="0"/>
              </a:rPr>
              <a:t>Events are queued in staging tables, and then published internally to a JMS topic</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000" b="0" i="0" u="none" strike="noStrike" kern="1200" cap="none" spc="0" normalizeH="0" baseline="0" noProof="0">
                <a:ln>
                  <a:noFill/>
                </a:ln>
                <a:solidFill>
                  <a:prstClr val="black"/>
                </a:solidFill>
                <a:effectLst/>
                <a:uLnTx/>
                <a:uFillTx/>
                <a:ea typeface="Verdana" panose="020B0604030504040204" pitchFamily="34" charset="0"/>
                <a:cs typeface="Arial" panose="020B0604020202020204" pitchFamily="34" charset="0"/>
              </a:rPr>
              <a:t>A component called RIB-EXT is used to then subscribe to the messages in the JMS topic, and publish them via a web service provided by an enterprise middleware</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lang="en-US" sz="1000">
                <a:solidFill>
                  <a:prstClr val="black"/>
                </a:solidFill>
                <a:ea typeface="Verdana" panose="020B0604030504040204" pitchFamily="34" charset="0"/>
                <a:cs typeface="Arial" panose="020B0604020202020204" pitchFamily="34" charset="0"/>
              </a:rPr>
              <a:t>On successful processing of the message, the event is de-queued</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000" b="0" i="0" u="none" strike="noStrike" kern="1200" cap="none" spc="0" normalizeH="0" baseline="0" noProof="0">
                <a:ln>
                  <a:noFill/>
                </a:ln>
                <a:solidFill>
                  <a:prstClr val="black"/>
                </a:solidFill>
                <a:effectLst/>
                <a:uLnTx/>
                <a:uFillTx/>
                <a:ea typeface="Verdana" panose="020B0604030504040204" pitchFamily="34" charset="0"/>
                <a:cs typeface="Arial" panose="020B0604020202020204" pitchFamily="34" charset="0"/>
              </a:rPr>
              <a:t>RIB-EXT also provides a web service for publishing data into Oracle Retail, and will place messages onto a JMS topic</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000" b="0" i="0" u="none" strike="noStrike" kern="1200" cap="none" spc="0" normalizeH="0" baseline="0" noProof="0">
                <a:ln>
                  <a:noFill/>
                </a:ln>
                <a:solidFill>
                  <a:prstClr val="black"/>
                </a:solidFill>
                <a:effectLst/>
                <a:uLnTx/>
                <a:uFillTx/>
                <a:ea typeface="Verdana" panose="020B0604030504040204" pitchFamily="34" charset="0"/>
                <a:cs typeface="Arial" panose="020B0604020202020204" pitchFamily="34" charset="0"/>
              </a:rPr>
              <a:t>Internal </a:t>
            </a:r>
            <a:r>
              <a:rPr lang="en-US" sz="1000">
                <a:solidFill>
                  <a:prstClr val="black"/>
                </a:solidFill>
                <a:ea typeface="Verdana" panose="020B0604030504040204" pitchFamily="34" charset="0"/>
                <a:cs typeface="Arial" panose="020B0604020202020204" pitchFamily="34" charset="0"/>
              </a:rPr>
              <a:t>APIs write the data to base tables</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endParaRPr kumimoji="0" lang="en-US" sz="1000" b="0" i="0" u="none" strike="noStrike" kern="1200" cap="none" spc="0" normalizeH="0" baseline="0" noProof="0">
              <a:ln>
                <a:noFill/>
              </a:ln>
              <a:solidFill>
                <a:prstClr val="black"/>
              </a:solidFill>
              <a:effectLst/>
              <a:uLnTx/>
              <a:uFillTx/>
              <a:ea typeface="Verdana" panose="020B0604030504040204" pitchFamily="34" charset="0"/>
              <a:cs typeface="Arial" panose="020B0604020202020204" pitchFamily="34" charset="0"/>
            </a:endParaRP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endParaRPr kumimoji="0" lang="en-US" sz="1000" b="0" i="0" u="none" strike="noStrike" kern="1200" cap="none" spc="0" normalizeH="0" baseline="0" noProof="0">
              <a:ln>
                <a:noFill/>
              </a:ln>
              <a:solidFill>
                <a:prstClr val="black"/>
              </a:solidFill>
              <a:effectLst/>
              <a:uLnTx/>
              <a:uFillTx/>
              <a:ea typeface="Verdana" panose="020B0604030504040204" pitchFamily="34" charset="0"/>
              <a:cs typeface="Arial" panose="020B0604020202020204" pitchFamily="34" charset="0"/>
            </a:endParaRPr>
          </a:p>
        </p:txBody>
      </p:sp>
      <p:sp>
        <p:nvSpPr>
          <p:cNvPr id="7" name="Text Box 4">
            <a:extLst>
              <a:ext uri="{FF2B5EF4-FFF2-40B4-BE49-F238E27FC236}">
                <a16:creationId xmlns:a16="http://schemas.microsoft.com/office/drawing/2014/main" id="{3DE79163-062B-4C71-BB21-9EF8B88D6858}"/>
              </a:ext>
            </a:extLst>
          </p:cNvPr>
          <p:cNvSpPr txBox="1">
            <a:spLocks noChangeArrowheads="1"/>
          </p:cNvSpPr>
          <p:nvPr/>
        </p:nvSpPr>
        <p:spPr bwMode="gray">
          <a:xfrm>
            <a:off x="567201" y="982688"/>
            <a:ext cx="4844995" cy="228434"/>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Architectural Components</a:t>
            </a:r>
          </a:p>
        </p:txBody>
      </p:sp>
      <p:sp>
        <p:nvSpPr>
          <p:cNvPr id="8" name="Oval 7">
            <a:extLst>
              <a:ext uri="{FF2B5EF4-FFF2-40B4-BE49-F238E27FC236}">
                <a16:creationId xmlns:a16="http://schemas.microsoft.com/office/drawing/2014/main" id="{3459C6C5-4EFF-4063-8643-1A8485328EE0}"/>
              </a:ext>
            </a:extLst>
          </p:cNvPr>
          <p:cNvSpPr/>
          <p:nvPr/>
        </p:nvSpPr>
        <p:spPr>
          <a:xfrm>
            <a:off x="338602" y="936968"/>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1</a:t>
            </a:r>
          </a:p>
        </p:txBody>
      </p:sp>
      <p:sp>
        <p:nvSpPr>
          <p:cNvPr id="9" name="Text Box 4">
            <a:extLst>
              <a:ext uri="{FF2B5EF4-FFF2-40B4-BE49-F238E27FC236}">
                <a16:creationId xmlns:a16="http://schemas.microsoft.com/office/drawing/2014/main" id="{561034DB-A8D2-418C-A158-559DF788B53E}"/>
              </a:ext>
            </a:extLst>
          </p:cNvPr>
          <p:cNvSpPr txBox="1">
            <a:spLocks noChangeArrowheads="1"/>
          </p:cNvSpPr>
          <p:nvPr/>
        </p:nvSpPr>
        <p:spPr bwMode="gray">
          <a:xfrm>
            <a:off x="567201" y="2187128"/>
            <a:ext cx="4844995" cy="217053"/>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Overview</a:t>
            </a:r>
          </a:p>
        </p:txBody>
      </p:sp>
      <p:sp>
        <p:nvSpPr>
          <p:cNvPr id="10" name="Oval 9">
            <a:extLst>
              <a:ext uri="{FF2B5EF4-FFF2-40B4-BE49-F238E27FC236}">
                <a16:creationId xmlns:a16="http://schemas.microsoft.com/office/drawing/2014/main" id="{6251F1CC-0BD0-474F-B832-EFE5C5DA2A92}"/>
              </a:ext>
            </a:extLst>
          </p:cNvPr>
          <p:cNvSpPr/>
          <p:nvPr/>
        </p:nvSpPr>
        <p:spPr>
          <a:xfrm>
            <a:off x="338602" y="2130391"/>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2</a:t>
            </a:r>
          </a:p>
        </p:txBody>
      </p:sp>
      <p:sp>
        <p:nvSpPr>
          <p:cNvPr id="11" name="Text Box 4">
            <a:extLst>
              <a:ext uri="{FF2B5EF4-FFF2-40B4-BE49-F238E27FC236}">
                <a16:creationId xmlns:a16="http://schemas.microsoft.com/office/drawing/2014/main" id="{65C8E4CE-D26E-4F66-A5EE-8ED8D4B4DCAE}"/>
              </a:ext>
            </a:extLst>
          </p:cNvPr>
          <p:cNvSpPr txBox="1">
            <a:spLocks noChangeArrowheads="1"/>
          </p:cNvSpPr>
          <p:nvPr/>
        </p:nvSpPr>
        <p:spPr bwMode="gray">
          <a:xfrm>
            <a:off x="567201" y="4125602"/>
            <a:ext cx="4938467" cy="247650"/>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Steps</a:t>
            </a:r>
          </a:p>
        </p:txBody>
      </p:sp>
      <p:sp>
        <p:nvSpPr>
          <p:cNvPr id="12" name="Oval 11">
            <a:extLst>
              <a:ext uri="{FF2B5EF4-FFF2-40B4-BE49-F238E27FC236}">
                <a16:creationId xmlns:a16="http://schemas.microsoft.com/office/drawing/2014/main" id="{234A9D66-BFDA-47AB-989C-5C69375898E6}"/>
              </a:ext>
            </a:extLst>
          </p:cNvPr>
          <p:cNvSpPr/>
          <p:nvPr/>
        </p:nvSpPr>
        <p:spPr>
          <a:xfrm>
            <a:off x="338602" y="4057848"/>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3</a:t>
            </a:r>
          </a:p>
        </p:txBody>
      </p:sp>
      <p:sp>
        <p:nvSpPr>
          <p:cNvPr id="13" name="Text Box 4">
            <a:extLst>
              <a:ext uri="{FF2B5EF4-FFF2-40B4-BE49-F238E27FC236}">
                <a16:creationId xmlns:a16="http://schemas.microsoft.com/office/drawing/2014/main" id="{430D2AE6-8D54-487F-9AAD-A1DD54CE616F}"/>
              </a:ext>
            </a:extLst>
          </p:cNvPr>
          <p:cNvSpPr txBox="1">
            <a:spLocks noChangeArrowheads="1"/>
          </p:cNvSpPr>
          <p:nvPr/>
        </p:nvSpPr>
        <p:spPr bwMode="gray">
          <a:xfrm>
            <a:off x="6085197" y="5297884"/>
            <a:ext cx="4978124" cy="335266"/>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Typical Use-Cases</a:t>
            </a:r>
          </a:p>
        </p:txBody>
      </p:sp>
      <p:grpSp>
        <p:nvGrpSpPr>
          <p:cNvPr id="14" name="Group 13">
            <a:extLst>
              <a:ext uri="{FF2B5EF4-FFF2-40B4-BE49-F238E27FC236}">
                <a16:creationId xmlns:a16="http://schemas.microsoft.com/office/drawing/2014/main" id="{C5A9911F-2C29-4DC6-9D88-BC2C0DAEF941}"/>
              </a:ext>
            </a:extLst>
          </p:cNvPr>
          <p:cNvGrpSpPr/>
          <p:nvPr/>
        </p:nvGrpSpPr>
        <p:grpSpPr>
          <a:xfrm>
            <a:off x="6334654" y="904770"/>
            <a:ext cx="5250577" cy="4194707"/>
            <a:chOff x="5645684" y="502496"/>
            <a:chExt cx="5250577" cy="4491081"/>
          </a:xfrm>
        </p:grpSpPr>
        <p:sp>
          <p:nvSpPr>
            <p:cNvPr id="15" name="Oval 14">
              <a:extLst>
                <a:ext uri="{FF2B5EF4-FFF2-40B4-BE49-F238E27FC236}">
                  <a16:creationId xmlns:a16="http://schemas.microsoft.com/office/drawing/2014/main" id="{DEE6803A-E2C7-42D9-822D-F82CB766EA1B}"/>
                </a:ext>
              </a:extLst>
            </p:cNvPr>
            <p:cNvSpPr/>
            <p:nvPr/>
          </p:nvSpPr>
          <p:spPr>
            <a:xfrm>
              <a:off x="5922629" y="749318"/>
              <a:ext cx="591954" cy="605454"/>
            </a:xfrm>
            <a:prstGeom prst="ellipse">
              <a:avLst/>
            </a:prstGeom>
            <a:solidFill>
              <a:sysClr val="window" lastClr="FFFFFF"/>
            </a:solidFill>
            <a:ln w="9525" cap="flat" cmpd="sng" algn="ctr">
              <a:solidFill>
                <a:srgbClr val="007CB0"/>
              </a:solidFill>
              <a:prstDash val="solid"/>
            </a:ln>
            <a:effectLst>
              <a:outerShdw blurRad="40000" dist="23000" dir="5400000" rotWithShape="0">
                <a:srgbClr val="000000">
                  <a:alpha val="35000"/>
                </a:srgbClr>
              </a:outerShdw>
            </a:effectLst>
          </p:spPr>
          <p:txBody>
            <a:bodyPr rtlCol="0" anchor="ct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0" cap="none" spc="0" normalizeH="0" baseline="0" noProof="0">
                <a:ln>
                  <a:noFill/>
                </a:ln>
                <a:solidFill>
                  <a:srgbClr val="FFFFFF"/>
                </a:solidFill>
                <a:effectLst/>
                <a:uLnTx/>
                <a:uFillTx/>
                <a:latin typeface="Arial"/>
                <a:ea typeface="+mn-ea"/>
                <a:cs typeface="+mn-cs"/>
              </a:endParaRPr>
            </a:p>
          </p:txBody>
        </p:sp>
        <p:sp>
          <p:nvSpPr>
            <p:cNvPr id="16" name="Freeform 27">
              <a:extLst>
                <a:ext uri="{FF2B5EF4-FFF2-40B4-BE49-F238E27FC236}">
                  <a16:creationId xmlns:a16="http://schemas.microsoft.com/office/drawing/2014/main" id="{59516EEE-19B6-4896-A42D-0BD04D2FF613}"/>
                </a:ext>
              </a:extLst>
            </p:cNvPr>
            <p:cNvSpPr>
              <a:spLocks noEditPoints="1"/>
            </p:cNvSpPr>
            <p:nvPr/>
          </p:nvSpPr>
          <p:spPr bwMode="auto">
            <a:xfrm>
              <a:off x="6057457" y="865317"/>
              <a:ext cx="339911" cy="370316"/>
            </a:xfrm>
            <a:custGeom>
              <a:avLst/>
              <a:gdLst>
                <a:gd name="T0" fmla="*/ 1000 w 1116"/>
                <a:gd name="T1" fmla="*/ 2 h 1184"/>
                <a:gd name="T2" fmla="*/ 64 w 1116"/>
                <a:gd name="T3" fmla="*/ 724 h 1184"/>
                <a:gd name="T4" fmla="*/ 1060 w 1116"/>
                <a:gd name="T5" fmla="*/ 1184 h 1184"/>
                <a:gd name="T6" fmla="*/ 992 w 1116"/>
                <a:gd name="T7" fmla="*/ 948 h 1184"/>
                <a:gd name="T8" fmla="*/ 932 w 1116"/>
                <a:gd name="T9" fmla="*/ 910 h 1184"/>
                <a:gd name="T10" fmla="*/ 986 w 1116"/>
                <a:gd name="T11" fmla="*/ 910 h 1184"/>
                <a:gd name="T12" fmla="*/ 922 w 1116"/>
                <a:gd name="T13" fmla="*/ 874 h 1184"/>
                <a:gd name="T14" fmla="*/ 976 w 1116"/>
                <a:gd name="T15" fmla="*/ 826 h 1184"/>
                <a:gd name="T16" fmla="*/ 918 w 1116"/>
                <a:gd name="T17" fmla="*/ 952 h 1184"/>
                <a:gd name="T18" fmla="*/ 852 w 1116"/>
                <a:gd name="T19" fmla="*/ 906 h 1184"/>
                <a:gd name="T20" fmla="*/ 836 w 1116"/>
                <a:gd name="T21" fmla="*/ 830 h 1184"/>
                <a:gd name="T22" fmla="*/ 900 w 1116"/>
                <a:gd name="T23" fmla="*/ 870 h 1184"/>
                <a:gd name="T24" fmla="*/ 956 w 1116"/>
                <a:gd name="T25" fmla="*/ 76 h 1184"/>
                <a:gd name="T26" fmla="*/ 820 w 1116"/>
                <a:gd name="T27" fmla="*/ 870 h 1184"/>
                <a:gd name="T28" fmla="*/ 758 w 1116"/>
                <a:gd name="T29" fmla="*/ 830 h 1184"/>
                <a:gd name="T30" fmla="*/ 702 w 1116"/>
                <a:gd name="T31" fmla="*/ 900 h 1184"/>
                <a:gd name="T32" fmla="*/ 748 w 1116"/>
                <a:gd name="T33" fmla="*/ 958 h 1184"/>
                <a:gd name="T34" fmla="*/ 702 w 1116"/>
                <a:gd name="T35" fmla="*/ 900 h 1184"/>
                <a:gd name="T36" fmla="*/ 684 w 1116"/>
                <a:gd name="T37" fmla="*/ 822 h 1184"/>
                <a:gd name="T38" fmla="*/ 736 w 1116"/>
                <a:gd name="T39" fmla="*/ 880 h 1184"/>
                <a:gd name="T40" fmla="*/ 674 w 1116"/>
                <a:gd name="T41" fmla="*/ 952 h 1184"/>
                <a:gd name="T42" fmla="*/ 612 w 1116"/>
                <a:gd name="T43" fmla="*/ 906 h 1184"/>
                <a:gd name="T44" fmla="*/ 600 w 1116"/>
                <a:gd name="T45" fmla="*/ 830 h 1184"/>
                <a:gd name="T46" fmla="*/ 662 w 1116"/>
                <a:gd name="T47" fmla="*/ 870 h 1184"/>
                <a:gd name="T48" fmla="*/ 584 w 1116"/>
                <a:gd name="T49" fmla="*/ 900 h 1184"/>
                <a:gd name="T50" fmla="*/ 542 w 1116"/>
                <a:gd name="T51" fmla="*/ 958 h 1184"/>
                <a:gd name="T52" fmla="*/ 522 w 1116"/>
                <a:gd name="T53" fmla="*/ 870 h 1184"/>
                <a:gd name="T54" fmla="*/ 584 w 1116"/>
                <a:gd name="T55" fmla="*/ 830 h 1184"/>
                <a:gd name="T56" fmla="*/ 458 w 1116"/>
                <a:gd name="T57" fmla="*/ 900 h 1184"/>
                <a:gd name="T58" fmla="*/ 508 w 1116"/>
                <a:gd name="T59" fmla="*/ 958 h 1184"/>
                <a:gd name="T60" fmla="*/ 444 w 1116"/>
                <a:gd name="T61" fmla="*/ 826 h 1184"/>
                <a:gd name="T62" fmla="*/ 504 w 1116"/>
                <a:gd name="T63" fmla="*/ 874 h 1184"/>
                <a:gd name="T64" fmla="*/ 372 w 1116"/>
                <a:gd name="T65" fmla="*/ 910 h 1184"/>
                <a:gd name="T66" fmla="*/ 432 w 1116"/>
                <a:gd name="T67" fmla="*/ 948 h 1184"/>
                <a:gd name="T68" fmla="*/ 364 w 1116"/>
                <a:gd name="T69" fmla="*/ 870 h 1184"/>
                <a:gd name="T70" fmla="*/ 426 w 1116"/>
                <a:gd name="T71" fmla="*/ 830 h 1184"/>
                <a:gd name="T72" fmla="*/ 364 w 1116"/>
                <a:gd name="T73" fmla="*/ 870 h 1184"/>
                <a:gd name="T74" fmla="*/ 354 w 1116"/>
                <a:gd name="T75" fmla="*/ 906 h 1184"/>
                <a:gd name="T76" fmla="*/ 290 w 1116"/>
                <a:gd name="T77" fmla="*/ 952 h 1184"/>
                <a:gd name="T78" fmla="*/ 344 w 1116"/>
                <a:gd name="T79" fmla="*/ 822 h 1184"/>
                <a:gd name="T80" fmla="*/ 290 w 1116"/>
                <a:gd name="T81" fmla="*/ 880 h 1184"/>
                <a:gd name="T82" fmla="*/ 214 w 1116"/>
                <a:gd name="T83" fmla="*/ 880 h 1184"/>
                <a:gd name="T84" fmla="*/ 262 w 1116"/>
                <a:gd name="T85" fmla="*/ 820 h 1184"/>
                <a:gd name="T86" fmla="*/ 142 w 1116"/>
                <a:gd name="T87" fmla="*/ 820 h 1184"/>
                <a:gd name="T88" fmla="*/ 178 w 1116"/>
                <a:gd name="T89" fmla="*/ 880 h 1184"/>
                <a:gd name="T90" fmla="*/ 130 w 1116"/>
                <a:gd name="T91" fmla="*/ 900 h 1184"/>
                <a:gd name="T92" fmla="*/ 184 w 1116"/>
                <a:gd name="T93" fmla="*/ 958 h 1184"/>
                <a:gd name="T94" fmla="*/ 154 w 1116"/>
                <a:gd name="T95" fmla="*/ 1034 h 1184"/>
                <a:gd name="T96" fmla="*/ 116 w 1116"/>
                <a:gd name="T97" fmla="*/ 980 h 1184"/>
                <a:gd name="T98" fmla="*/ 248 w 1116"/>
                <a:gd name="T99" fmla="*/ 1032 h 1184"/>
                <a:gd name="T100" fmla="*/ 182 w 1116"/>
                <a:gd name="T101" fmla="*/ 984 h 1184"/>
                <a:gd name="T102" fmla="*/ 218 w 1116"/>
                <a:gd name="T103" fmla="*/ 958 h 1184"/>
                <a:gd name="T104" fmla="*/ 266 w 1116"/>
                <a:gd name="T105" fmla="*/ 900 h 1184"/>
                <a:gd name="T106" fmla="*/ 260 w 1116"/>
                <a:gd name="T107" fmla="*/ 958 h 1184"/>
                <a:gd name="T108" fmla="*/ 278 w 1116"/>
                <a:gd name="T109" fmla="*/ 978 h 1184"/>
                <a:gd name="T110" fmla="*/ 776 w 1116"/>
                <a:gd name="T111" fmla="*/ 1036 h 1184"/>
                <a:gd name="T112" fmla="*/ 828 w 1116"/>
                <a:gd name="T113" fmla="*/ 900 h 1184"/>
                <a:gd name="T114" fmla="*/ 780 w 1116"/>
                <a:gd name="T115" fmla="*/ 958 h 1184"/>
                <a:gd name="T116" fmla="*/ 798 w 1116"/>
                <a:gd name="T117" fmla="*/ 988 h 1184"/>
                <a:gd name="T118" fmla="*/ 874 w 1116"/>
                <a:gd name="T119" fmla="*/ 1028 h 1184"/>
                <a:gd name="T120" fmla="*/ 892 w 1116"/>
                <a:gd name="T121" fmla="*/ 1032 h 1184"/>
                <a:gd name="T122" fmla="*/ 994 w 1116"/>
                <a:gd name="T123" fmla="*/ 984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6" h="1184">
                  <a:moveTo>
                    <a:pt x="1116" y="1124"/>
                  </a:moveTo>
                  <a:lnTo>
                    <a:pt x="1046" y="724"/>
                  </a:lnTo>
                  <a:lnTo>
                    <a:pt x="1046" y="724"/>
                  </a:lnTo>
                  <a:lnTo>
                    <a:pt x="1046" y="62"/>
                  </a:lnTo>
                  <a:lnTo>
                    <a:pt x="1046" y="62"/>
                  </a:lnTo>
                  <a:lnTo>
                    <a:pt x="1044" y="50"/>
                  </a:lnTo>
                  <a:lnTo>
                    <a:pt x="1040" y="38"/>
                  </a:lnTo>
                  <a:lnTo>
                    <a:pt x="1036" y="28"/>
                  </a:lnTo>
                  <a:lnTo>
                    <a:pt x="1028" y="18"/>
                  </a:lnTo>
                  <a:lnTo>
                    <a:pt x="1020" y="12"/>
                  </a:lnTo>
                  <a:lnTo>
                    <a:pt x="1010" y="6"/>
                  </a:lnTo>
                  <a:lnTo>
                    <a:pt x="1000" y="2"/>
                  </a:lnTo>
                  <a:lnTo>
                    <a:pt x="988" y="0"/>
                  </a:lnTo>
                  <a:lnTo>
                    <a:pt x="124" y="0"/>
                  </a:lnTo>
                  <a:lnTo>
                    <a:pt x="124" y="0"/>
                  </a:lnTo>
                  <a:lnTo>
                    <a:pt x="112" y="2"/>
                  </a:lnTo>
                  <a:lnTo>
                    <a:pt x="100" y="6"/>
                  </a:lnTo>
                  <a:lnTo>
                    <a:pt x="90" y="12"/>
                  </a:lnTo>
                  <a:lnTo>
                    <a:pt x="82" y="18"/>
                  </a:lnTo>
                  <a:lnTo>
                    <a:pt x="74" y="28"/>
                  </a:lnTo>
                  <a:lnTo>
                    <a:pt x="70" y="38"/>
                  </a:lnTo>
                  <a:lnTo>
                    <a:pt x="66" y="50"/>
                  </a:lnTo>
                  <a:lnTo>
                    <a:pt x="64" y="62"/>
                  </a:lnTo>
                  <a:lnTo>
                    <a:pt x="64" y="724"/>
                  </a:lnTo>
                  <a:lnTo>
                    <a:pt x="64" y="724"/>
                  </a:lnTo>
                  <a:lnTo>
                    <a:pt x="2" y="1124"/>
                  </a:lnTo>
                  <a:lnTo>
                    <a:pt x="2" y="1124"/>
                  </a:lnTo>
                  <a:lnTo>
                    <a:pt x="0" y="1136"/>
                  </a:lnTo>
                  <a:lnTo>
                    <a:pt x="2" y="1148"/>
                  </a:lnTo>
                  <a:lnTo>
                    <a:pt x="8" y="1158"/>
                  </a:lnTo>
                  <a:lnTo>
                    <a:pt x="14" y="1166"/>
                  </a:lnTo>
                  <a:lnTo>
                    <a:pt x="22" y="1174"/>
                  </a:lnTo>
                  <a:lnTo>
                    <a:pt x="34" y="1180"/>
                  </a:lnTo>
                  <a:lnTo>
                    <a:pt x="44" y="1184"/>
                  </a:lnTo>
                  <a:lnTo>
                    <a:pt x="58" y="1184"/>
                  </a:lnTo>
                  <a:lnTo>
                    <a:pt x="1060" y="1184"/>
                  </a:lnTo>
                  <a:lnTo>
                    <a:pt x="1060" y="1184"/>
                  </a:lnTo>
                  <a:lnTo>
                    <a:pt x="1074" y="1184"/>
                  </a:lnTo>
                  <a:lnTo>
                    <a:pt x="1086" y="1180"/>
                  </a:lnTo>
                  <a:lnTo>
                    <a:pt x="1096" y="1174"/>
                  </a:lnTo>
                  <a:lnTo>
                    <a:pt x="1104" y="1166"/>
                  </a:lnTo>
                  <a:lnTo>
                    <a:pt x="1110" y="1158"/>
                  </a:lnTo>
                  <a:lnTo>
                    <a:pt x="1114" y="1148"/>
                  </a:lnTo>
                  <a:lnTo>
                    <a:pt x="1116" y="1136"/>
                  </a:lnTo>
                  <a:lnTo>
                    <a:pt x="1116" y="1124"/>
                  </a:lnTo>
                  <a:lnTo>
                    <a:pt x="1116" y="1124"/>
                  </a:lnTo>
                  <a:close/>
                  <a:moveTo>
                    <a:pt x="986" y="910"/>
                  </a:moveTo>
                  <a:lnTo>
                    <a:pt x="992" y="948"/>
                  </a:lnTo>
                  <a:lnTo>
                    <a:pt x="992" y="948"/>
                  </a:lnTo>
                  <a:lnTo>
                    <a:pt x="992" y="952"/>
                  </a:lnTo>
                  <a:lnTo>
                    <a:pt x="990" y="956"/>
                  </a:lnTo>
                  <a:lnTo>
                    <a:pt x="986" y="958"/>
                  </a:lnTo>
                  <a:lnTo>
                    <a:pt x="982" y="958"/>
                  </a:lnTo>
                  <a:lnTo>
                    <a:pt x="946" y="958"/>
                  </a:lnTo>
                  <a:lnTo>
                    <a:pt x="946" y="958"/>
                  </a:lnTo>
                  <a:lnTo>
                    <a:pt x="942" y="958"/>
                  </a:lnTo>
                  <a:lnTo>
                    <a:pt x="938" y="956"/>
                  </a:lnTo>
                  <a:lnTo>
                    <a:pt x="936" y="952"/>
                  </a:lnTo>
                  <a:lnTo>
                    <a:pt x="936" y="948"/>
                  </a:lnTo>
                  <a:lnTo>
                    <a:pt x="932" y="910"/>
                  </a:lnTo>
                  <a:lnTo>
                    <a:pt x="932" y="910"/>
                  </a:lnTo>
                  <a:lnTo>
                    <a:pt x="932" y="906"/>
                  </a:lnTo>
                  <a:lnTo>
                    <a:pt x="934" y="902"/>
                  </a:lnTo>
                  <a:lnTo>
                    <a:pt x="936" y="900"/>
                  </a:lnTo>
                  <a:lnTo>
                    <a:pt x="940" y="900"/>
                  </a:lnTo>
                  <a:lnTo>
                    <a:pt x="976" y="900"/>
                  </a:lnTo>
                  <a:lnTo>
                    <a:pt x="976" y="900"/>
                  </a:lnTo>
                  <a:lnTo>
                    <a:pt x="980" y="900"/>
                  </a:lnTo>
                  <a:lnTo>
                    <a:pt x="984" y="902"/>
                  </a:lnTo>
                  <a:lnTo>
                    <a:pt x="986" y="906"/>
                  </a:lnTo>
                  <a:lnTo>
                    <a:pt x="986" y="910"/>
                  </a:lnTo>
                  <a:lnTo>
                    <a:pt x="986" y="910"/>
                  </a:lnTo>
                  <a:close/>
                  <a:moveTo>
                    <a:pt x="978" y="830"/>
                  </a:moveTo>
                  <a:lnTo>
                    <a:pt x="982" y="870"/>
                  </a:lnTo>
                  <a:lnTo>
                    <a:pt x="982" y="870"/>
                  </a:lnTo>
                  <a:lnTo>
                    <a:pt x="982" y="874"/>
                  </a:lnTo>
                  <a:lnTo>
                    <a:pt x="980" y="878"/>
                  </a:lnTo>
                  <a:lnTo>
                    <a:pt x="978" y="880"/>
                  </a:lnTo>
                  <a:lnTo>
                    <a:pt x="974" y="880"/>
                  </a:lnTo>
                  <a:lnTo>
                    <a:pt x="932" y="880"/>
                  </a:lnTo>
                  <a:lnTo>
                    <a:pt x="932" y="880"/>
                  </a:lnTo>
                  <a:lnTo>
                    <a:pt x="928" y="880"/>
                  </a:lnTo>
                  <a:lnTo>
                    <a:pt x="924" y="878"/>
                  </a:lnTo>
                  <a:lnTo>
                    <a:pt x="922" y="874"/>
                  </a:lnTo>
                  <a:lnTo>
                    <a:pt x="920" y="870"/>
                  </a:lnTo>
                  <a:lnTo>
                    <a:pt x="916" y="830"/>
                  </a:lnTo>
                  <a:lnTo>
                    <a:pt x="916" y="830"/>
                  </a:lnTo>
                  <a:lnTo>
                    <a:pt x="918" y="826"/>
                  </a:lnTo>
                  <a:lnTo>
                    <a:pt x="918" y="824"/>
                  </a:lnTo>
                  <a:lnTo>
                    <a:pt x="922" y="822"/>
                  </a:lnTo>
                  <a:lnTo>
                    <a:pt x="926" y="820"/>
                  </a:lnTo>
                  <a:lnTo>
                    <a:pt x="968" y="820"/>
                  </a:lnTo>
                  <a:lnTo>
                    <a:pt x="968" y="820"/>
                  </a:lnTo>
                  <a:lnTo>
                    <a:pt x="970" y="822"/>
                  </a:lnTo>
                  <a:lnTo>
                    <a:pt x="974" y="824"/>
                  </a:lnTo>
                  <a:lnTo>
                    <a:pt x="976" y="826"/>
                  </a:lnTo>
                  <a:lnTo>
                    <a:pt x="978" y="830"/>
                  </a:lnTo>
                  <a:lnTo>
                    <a:pt x="978" y="830"/>
                  </a:lnTo>
                  <a:close/>
                  <a:moveTo>
                    <a:pt x="860" y="900"/>
                  </a:moveTo>
                  <a:lnTo>
                    <a:pt x="904" y="900"/>
                  </a:lnTo>
                  <a:lnTo>
                    <a:pt x="904" y="900"/>
                  </a:lnTo>
                  <a:lnTo>
                    <a:pt x="908" y="900"/>
                  </a:lnTo>
                  <a:lnTo>
                    <a:pt x="910" y="902"/>
                  </a:lnTo>
                  <a:lnTo>
                    <a:pt x="912" y="906"/>
                  </a:lnTo>
                  <a:lnTo>
                    <a:pt x="914" y="910"/>
                  </a:lnTo>
                  <a:lnTo>
                    <a:pt x="918" y="948"/>
                  </a:lnTo>
                  <a:lnTo>
                    <a:pt x="918" y="948"/>
                  </a:lnTo>
                  <a:lnTo>
                    <a:pt x="918" y="952"/>
                  </a:lnTo>
                  <a:lnTo>
                    <a:pt x="916" y="956"/>
                  </a:lnTo>
                  <a:lnTo>
                    <a:pt x="914" y="958"/>
                  </a:lnTo>
                  <a:lnTo>
                    <a:pt x="910" y="958"/>
                  </a:lnTo>
                  <a:lnTo>
                    <a:pt x="866" y="958"/>
                  </a:lnTo>
                  <a:lnTo>
                    <a:pt x="866" y="958"/>
                  </a:lnTo>
                  <a:lnTo>
                    <a:pt x="862" y="958"/>
                  </a:lnTo>
                  <a:lnTo>
                    <a:pt x="858" y="956"/>
                  </a:lnTo>
                  <a:lnTo>
                    <a:pt x="856" y="952"/>
                  </a:lnTo>
                  <a:lnTo>
                    <a:pt x="856" y="948"/>
                  </a:lnTo>
                  <a:lnTo>
                    <a:pt x="852" y="910"/>
                  </a:lnTo>
                  <a:lnTo>
                    <a:pt x="852" y="910"/>
                  </a:lnTo>
                  <a:lnTo>
                    <a:pt x="852" y="906"/>
                  </a:lnTo>
                  <a:lnTo>
                    <a:pt x="854" y="902"/>
                  </a:lnTo>
                  <a:lnTo>
                    <a:pt x="856" y="900"/>
                  </a:lnTo>
                  <a:lnTo>
                    <a:pt x="860" y="900"/>
                  </a:lnTo>
                  <a:lnTo>
                    <a:pt x="860" y="900"/>
                  </a:lnTo>
                  <a:close/>
                  <a:moveTo>
                    <a:pt x="848" y="880"/>
                  </a:moveTo>
                  <a:lnTo>
                    <a:pt x="848" y="880"/>
                  </a:lnTo>
                  <a:lnTo>
                    <a:pt x="846" y="880"/>
                  </a:lnTo>
                  <a:lnTo>
                    <a:pt x="842" y="878"/>
                  </a:lnTo>
                  <a:lnTo>
                    <a:pt x="840" y="874"/>
                  </a:lnTo>
                  <a:lnTo>
                    <a:pt x="838" y="870"/>
                  </a:lnTo>
                  <a:lnTo>
                    <a:pt x="836" y="830"/>
                  </a:lnTo>
                  <a:lnTo>
                    <a:pt x="836" y="830"/>
                  </a:lnTo>
                  <a:lnTo>
                    <a:pt x="836" y="826"/>
                  </a:lnTo>
                  <a:lnTo>
                    <a:pt x="838" y="824"/>
                  </a:lnTo>
                  <a:lnTo>
                    <a:pt x="840" y="822"/>
                  </a:lnTo>
                  <a:lnTo>
                    <a:pt x="844" y="820"/>
                  </a:lnTo>
                  <a:lnTo>
                    <a:pt x="886" y="820"/>
                  </a:lnTo>
                  <a:lnTo>
                    <a:pt x="886" y="820"/>
                  </a:lnTo>
                  <a:lnTo>
                    <a:pt x="890" y="822"/>
                  </a:lnTo>
                  <a:lnTo>
                    <a:pt x="892" y="824"/>
                  </a:lnTo>
                  <a:lnTo>
                    <a:pt x="896" y="826"/>
                  </a:lnTo>
                  <a:lnTo>
                    <a:pt x="896" y="830"/>
                  </a:lnTo>
                  <a:lnTo>
                    <a:pt x="900" y="870"/>
                  </a:lnTo>
                  <a:lnTo>
                    <a:pt x="900" y="870"/>
                  </a:lnTo>
                  <a:lnTo>
                    <a:pt x="900" y="874"/>
                  </a:lnTo>
                  <a:lnTo>
                    <a:pt x="898" y="878"/>
                  </a:lnTo>
                  <a:lnTo>
                    <a:pt x="896" y="880"/>
                  </a:lnTo>
                  <a:lnTo>
                    <a:pt x="892" y="880"/>
                  </a:lnTo>
                  <a:lnTo>
                    <a:pt x="848" y="880"/>
                  </a:lnTo>
                  <a:close/>
                  <a:moveTo>
                    <a:pt x="148" y="80"/>
                  </a:moveTo>
                  <a:lnTo>
                    <a:pt x="148" y="80"/>
                  </a:lnTo>
                  <a:lnTo>
                    <a:pt x="150" y="76"/>
                  </a:lnTo>
                  <a:lnTo>
                    <a:pt x="156" y="72"/>
                  </a:lnTo>
                  <a:lnTo>
                    <a:pt x="950" y="72"/>
                  </a:lnTo>
                  <a:lnTo>
                    <a:pt x="950" y="72"/>
                  </a:lnTo>
                  <a:lnTo>
                    <a:pt x="956" y="76"/>
                  </a:lnTo>
                  <a:lnTo>
                    <a:pt x="958" y="80"/>
                  </a:lnTo>
                  <a:lnTo>
                    <a:pt x="958" y="644"/>
                  </a:lnTo>
                  <a:lnTo>
                    <a:pt x="958" y="644"/>
                  </a:lnTo>
                  <a:lnTo>
                    <a:pt x="956" y="650"/>
                  </a:lnTo>
                  <a:lnTo>
                    <a:pt x="950" y="652"/>
                  </a:lnTo>
                  <a:lnTo>
                    <a:pt x="156" y="652"/>
                  </a:lnTo>
                  <a:lnTo>
                    <a:pt x="156" y="652"/>
                  </a:lnTo>
                  <a:lnTo>
                    <a:pt x="150" y="650"/>
                  </a:lnTo>
                  <a:lnTo>
                    <a:pt x="148" y="644"/>
                  </a:lnTo>
                  <a:lnTo>
                    <a:pt x="148" y="80"/>
                  </a:lnTo>
                  <a:close/>
                  <a:moveTo>
                    <a:pt x="820" y="870"/>
                  </a:moveTo>
                  <a:lnTo>
                    <a:pt x="820" y="870"/>
                  </a:lnTo>
                  <a:lnTo>
                    <a:pt x="820" y="874"/>
                  </a:lnTo>
                  <a:lnTo>
                    <a:pt x="818" y="878"/>
                  </a:lnTo>
                  <a:lnTo>
                    <a:pt x="816" y="880"/>
                  </a:lnTo>
                  <a:lnTo>
                    <a:pt x="812" y="880"/>
                  </a:lnTo>
                  <a:lnTo>
                    <a:pt x="770" y="880"/>
                  </a:lnTo>
                  <a:lnTo>
                    <a:pt x="770" y="880"/>
                  </a:lnTo>
                  <a:lnTo>
                    <a:pt x="766" y="880"/>
                  </a:lnTo>
                  <a:lnTo>
                    <a:pt x="762" y="878"/>
                  </a:lnTo>
                  <a:lnTo>
                    <a:pt x="760" y="874"/>
                  </a:lnTo>
                  <a:lnTo>
                    <a:pt x="760" y="870"/>
                  </a:lnTo>
                  <a:lnTo>
                    <a:pt x="758" y="830"/>
                  </a:lnTo>
                  <a:lnTo>
                    <a:pt x="758" y="830"/>
                  </a:lnTo>
                  <a:lnTo>
                    <a:pt x="758" y="826"/>
                  </a:lnTo>
                  <a:lnTo>
                    <a:pt x="760" y="824"/>
                  </a:lnTo>
                  <a:lnTo>
                    <a:pt x="762" y="822"/>
                  </a:lnTo>
                  <a:lnTo>
                    <a:pt x="766" y="820"/>
                  </a:lnTo>
                  <a:lnTo>
                    <a:pt x="808" y="820"/>
                  </a:lnTo>
                  <a:lnTo>
                    <a:pt x="808" y="820"/>
                  </a:lnTo>
                  <a:lnTo>
                    <a:pt x="812" y="822"/>
                  </a:lnTo>
                  <a:lnTo>
                    <a:pt x="814" y="824"/>
                  </a:lnTo>
                  <a:lnTo>
                    <a:pt x="818" y="826"/>
                  </a:lnTo>
                  <a:lnTo>
                    <a:pt x="818" y="830"/>
                  </a:lnTo>
                  <a:lnTo>
                    <a:pt x="820" y="870"/>
                  </a:lnTo>
                  <a:close/>
                  <a:moveTo>
                    <a:pt x="702" y="900"/>
                  </a:moveTo>
                  <a:lnTo>
                    <a:pt x="744" y="900"/>
                  </a:lnTo>
                  <a:lnTo>
                    <a:pt x="744" y="900"/>
                  </a:lnTo>
                  <a:lnTo>
                    <a:pt x="748" y="900"/>
                  </a:lnTo>
                  <a:lnTo>
                    <a:pt x="750" y="902"/>
                  </a:lnTo>
                  <a:lnTo>
                    <a:pt x="754" y="906"/>
                  </a:lnTo>
                  <a:lnTo>
                    <a:pt x="754" y="910"/>
                  </a:lnTo>
                  <a:lnTo>
                    <a:pt x="756" y="948"/>
                  </a:lnTo>
                  <a:lnTo>
                    <a:pt x="756" y="948"/>
                  </a:lnTo>
                  <a:lnTo>
                    <a:pt x="756" y="952"/>
                  </a:lnTo>
                  <a:lnTo>
                    <a:pt x="754" y="956"/>
                  </a:lnTo>
                  <a:lnTo>
                    <a:pt x="750" y="958"/>
                  </a:lnTo>
                  <a:lnTo>
                    <a:pt x="748" y="958"/>
                  </a:lnTo>
                  <a:lnTo>
                    <a:pt x="704" y="958"/>
                  </a:lnTo>
                  <a:lnTo>
                    <a:pt x="704" y="958"/>
                  </a:lnTo>
                  <a:lnTo>
                    <a:pt x="700" y="958"/>
                  </a:lnTo>
                  <a:lnTo>
                    <a:pt x="696" y="956"/>
                  </a:lnTo>
                  <a:lnTo>
                    <a:pt x="694" y="952"/>
                  </a:lnTo>
                  <a:lnTo>
                    <a:pt x="694" y="948"/>
                  </a:lnTo>
                  <a:lnTo>
                    <a:pt x="692" y="910"/>
                  </a:lnTo>
                  <a:lnTo>
                    <a:pt x="692" y="910"/>
                  </a:lnTo>
                  <a:lnTo>
                    <a:pt x="692" y="906"/>
                  </a:lnTo>
                  <a:lnTo>
                    <a:pt x="694" y="902"/>
                  </a:lnTo>
                  <a:lnTo>
                    <a:pt x="698" y="900"/>
                  </a:lnTo>
                  <a:lnTo>
                    <a:pt x="702" y="900"/>
                  </a:lnTo>
                  <a:lnTo>
                    <a:pt x="702" y="900"/>
                  </a:lnTo>
                  <a:close/>
                  <a:moveTo>
                    <a:pt x="690" y="880"/>
                  </a:moveTo>
                  <a:lnTo>
                    <a:pt x="690" y="880"/>
                  </a:lnTo>
                  <a:lnTo>
                    <a:pt x="686" y="880"/>
                  </a:lnTo>
                  <a:lnTo>
                    <a:pt x="684" y="878"/>
                  </a:lnTo>
                  <a:lnTo>
                    <a:pt x="682" y="874"/>
                  </a:lnTo>
                  <a:lnTo>
                    <a:pt x="680" y="870"/>
                  </a:lnTo>
                  <a:lnTo>
                    <a:pt x="678" y="830"/>
                  </a:lnTo>
                  <a:lnTo>
                    <a:pt x="678" y="830"/>
                  </a:lnTo>
                  <a:lnTo>
                    <a:pt x="680" y="826"/>
                  </a:lnTo>
                  <a:lnTo>
                    <a:pt x="682" y="824"/>
                  </a:lnTo>
                  <a:lnTo>
                    <a:pt x="684" y="822"/>
                  </a:lnTo>
                  <a:lnTo>
                    <a:pt x="688" y="820"/>
                  </a:lnTo>
                  <a:lnTo>
                    <a:pt x="730" y="820"/>
                  </a:lnTo>
                  <a:lnTo>
                    <a:pt x="730" y="820"/>
                  </a:lnTo>
                  <a:lnTo>
                    <a:pt x="734" y="822"/>
                  </a:lnTo>
                  <a:lnTo>
                    <a:pt x="736" y="824"/>
                  </a:lnTo>
                  <a:lnTo>
                    <a:pt x="738" y="826"/>
                  </a:lnTo>
                  <a:lnTo>
                    <a:pt x="740" y="830"/>
                  </a:lnTo>
                  <a:lnTo>
                    <a:pt x="742" y="870"/>
                  </a:lnTo>
                  <a:lnTo>
                    <a:pt x="742" y="870"/>
                  </a:lnTo>
                  <a:lnTo>
                    <a:pt x="742" y="874"/>
                  </a:lnTo>
                  <a:lnTo>
                    <a:pt x="740" y="878"/>
                  </a:lnTo>
                  <a:lnTo>
                    <a:pt x="736" y="880"/>
                  </a:lnTo>
                  <a:lnTo>
                    <a:pt x="732" y="880"/>
                  </a:lnTo>
                  <a:lnTo>
                    <a:pt x="690" y="880"/>
                  </a:lnTo>
                  <a:close/>
                  <a:moveTo>
                    <a:pt x="622" y="900"/>
                  </a:moveTo>
                  <a:lnTo>
                    <a:pt x="664" y="900"/>
                  </a:lnTo>
                  <a:lnTo>
                    <a:pt x="664" y="900"/>
                  </a:lnTo>
                  <a:lnTo>
                    <a:pt x="668" y="900"/>
                  </a:lnTo>
                  <a:lnTo>
                    <a:pt x="672" y="902"/>
                  </a:lnTo>
                  <a:lnTo>
                    <a:pt x="674" y="906"/>
                  </a:lnTo>
                  <a:lnTo>
                    <a:pt x="674" y="910"/>
                  </a:lnTo>
                  <a:lnTo>
                    <a:pt x="676" y="948"/>
                  </a:lnTo>
                  <a:lnTo>
                    <a:pt x="676" y="948"/>
                  </a:lnTo>
                  <a:lnTo>
                    <a:pt x="674" y="952"/>
                  </a:lnTo>
                  <a:lnTo>
                    <a:pt x="672" y="956"/>
                  </a:lnTo>
                  <a:lnTo>
                    <a:pt x="670" y="958"/>
                  </a:lnTo>
                  <a:lnTo>
                    <a:pt x="666" y="958"/>
                  </a:lnTo>
                  <a:lnTo>
                    <a:pt x="622" y="958"/>
                  </a:lnTo>
                  <a:lnTo>
                    <a:pt x="622" y="958"/>
                  </a:lnTo>
                  <a:lnTo>
                    <a:pt x="618" y="958"/>
                  </a:lnTo>
                  <a:lnTo>
                    <a:pt x="616" y="956"/>
                  </a:lnTo>
                  <a:lnTo>
                    <a:pt x="614" y="952"/>
                  </a:lnTo>
                  <a:lnTo>
                    <a:pt x="612" y="948"/>
                  </a:lnTo>
                  <a:lnTo>
                    <a:pt x="612" y="910"/>
                  </a:lnTo>
                  <a:lnTo>
                    <a:pt x="612" y="910"/>
                  </a:lnTo>
                  <a:lnTo>
                    <a:pt x="612" y="906"/>
                  </a:lnTo>
                  <a:lnTo>
                    <a:pt x="614" y="902"/>
                  </a:lnTo>
                  <a:lnTo>
                    <a:pt x="618" y="900"/>
                  </a:lnTo>
                  <a:lnTo>
                    <a:pt x="622" y="900"/>
                  </a:lnTo>
                  <a:lnTo>
                    <a:pt x="622" y="900"/>
                  </a:lnTo>
                  <a:close/>
                  <a:moveTo>
                    <a:pt x="610" y="880"/>
                  </a:moveTo>
                  <a:lnTo>
                    <a:pt x="610" y="880"/>
                  </a:lnTo>
                  <a:lnTo>
                    <a:pt x="608" y="880"/>
                  </a:lnTo>
                  <a:lnTo>
                    <a:pt x="604" y="878"/>
                  </a:lnTo>
                  <a:lnTo>
                    <a:pt x="602" y="874"/>
                  </a:lnTo>
                  <a:lnTo>
                    <a:pt x="602" y="870"/>
                  </a:lnTo>
                  <a:lnTo>
                    <a:pt x="600" y="830"/>
                  </a:lnTo>
                  <a:lnTo>
                    <a:pt x="600" y="830"/>
                  </a:lnTo>
                  <a:lnTo>
                    <a:pt x="602" y="826"/>
                  </a:lnTo>
                  <a:lnTo>
                    <a:pt x="604" y="824"/>
                  </a:lnTo>
                  <a:lnTo>
                    <a:pt x="606" y="822"/>
                  </a:lnTo>
                  <a:lnTo>
                    <a:pt x="610" y="820"/>
                  </a:lnTo>
                  <a:lnTo>
                    <a:pt x="652" y="820"/>
                  </a:lnTo>
                  <a:lnTo>
                    <a:pt x="652" y="820"/>
                  </a:lnTo>
                  <a:lnTo>
                    <a:pt x="656" y="822"/>
                  </a:lnTo>
                  <a:lnTo>
                    <a:pt x="658" y="824"/>
                  </a:lnTo>
                  <a:lnTo>
                    <a:pt x="660" y="826"/>
                  </a:lnTo>
                  <a:lnTo>
                    <a:pt x="662" y="830"/>
                  </a:lnTo>
                  <a:lnTo>
                    <a:pt x="662" y="870"/>
                  </a:lnTo>
                  <a:lnTo>
                    <a:pt x="662" y="870"/>
                  </a:lnTo>
                  <a:lnTo>
                    <a:pt x="662" y="874"/>
                  </a:lnTo>
                  <a:lnTo>
                    <a:pt x="660" y="878"/>
                  </a:lnTo>
                  <a:lnTo>
                    <a:pt x="658" y="880"/>
                  </a:lnTo>
                  <a:lnTo>
                    <a:pt x="654" y="880"/>
                  </a:lnTo>
                  <a:lnTo>
                    <a:pt x="610" y="880"/>
                  </a:lnTo>
                  <a:close/>
                  <a:moveTo>
                    <a:pt x="532" y="910"/>
                  </a:moveTo>
                  <a:lnTo>
                    <a:pt x="532" y="910"/>
                  </a:lnTo>
                  <a:lnTo>
                    <a:pt x="532" y="906"/>
                  </a:lnTo>
                  <a:lnTo>
                    <a:pt x="534" y="902"/>
                  </a:lnTo>
                  <a:lnTo>
                    <a:pt x="538" y="900"/>
                  </a:lnTo>
                  <a:lnTo>
                    <a:pt x="542" y="900"/>
                  </a:lnTo>
                  <a:lnTo>
                    <a:pt x="584" y="900"/>
                  </a:lnTo>
                  <a:lnTo>
                    <a:pt x="584" y="900"/>
                  </a:lnTo>
                  <a:lnTo>
                    <a:pt x="588" y="900"/>
                  </a:lnTo>
                  <a:lnTo>
                    <a:pt x="592" y="902"/>
                  </a:lnTo>
                  <a:lnTo>
                    <a:pt x="594" y="906"/>
                  </a:lnTo>
                  <a:lnTo>
                    <a:pt x="594" y="910"/>
                  </a:lnTo>
                  <a:lnTo>
                    <a:pt x="594" y="948"/>
                  </a:lnTo>
                  <a:lnTo>
                    <a:pt x="594" y="948"/>
                  </a:lnTo>
                  <a:lnTo>
                    <a:pt x="594" y="952"/>
                  </a:lnTo>
                  <a:lnTo>
                    <a:pt x="592" y="956"/>
                  </a:lnTo>
                  <a:lnTo>
                    <a:pt x="588" y="958"/>
                  </a:lnTo>
                  <a:lnTo>
                    <a:pt x="584" y="958"/>
                  </a:lnTo>
                  <a:lnTo>
                    <a:pt x="542" y="958"/>
                  </a:lnTo>
                  <a:lnTo>
                    <a:pt x="542" y="958"/>
                  </a:lnTo>
                  <a:lnTo>
                    <a:pt x="538" y="958"/>
                  </a:lnTo>
                  <a:lnTo>
                    <a:pt x="534" y="956"/>
                  </a:lnTo>
                  <a:lnTo>
                    <a:pt x="532" y="952"/>
                  </a:lnTo>
                  <a:lnTo>
                    <a:pt x="532" y="948"/>
                  </a:lnTo>
                  <a:lnTo>
                    <a:pt x="532" y="910"/>
                  </a:lnTo>
                  <a:close/>
                  <a:moveTo>
                    <a:pt x="532" y="880"/>
                  </a:moveTo>
                  <a:lnTo>
                    <a:pt x="532" y="880"/>
                  </a:lnTo>
                  <a:lnTo>
                    <a:pt x="528" y="880"/>
                  </a:lnTo>
                  <a:lnTo>
                    <a:pt x="524" y="878"/>
                  </a:lnTo>
                  <a:lnTo>
                    <a:pt x="522" y="874"/>
                  </a:lnTo>
                  <a:lnTo>
                    <a:pt x="522" y="870"/>
                  </a:lnTo>
                  <a:lnTo>
                    <a:pt x="522" y="830"/>
                  </a:lnTo>
                  <a:lnTo>
                    <a:pt x="522" y="830"/>
                  </a:lnTo>
                  <a:lnTo>
                    <a:pt x="524" y="826"/>
                  </a:lnTo>
                  <a:lnTo>
                    <a:pt x="526" y="824"/>
                  </a:lnTo>
                  <a:lnTo>
                    <a:pt x="528" y="822"/>
                  </a:lnTo>
                  <a:lnTo>
                    <a:pt x="532" y="820"/>
                  </a:lnTo>
                  <a:lnTo>
                    <a:pt x="574" y="820"/>
                  </a:lnTo>
                  <a:lnTo>
                    <a:pt x="574" y="820"/>
                  </a:lnTo>
                  <a:lnTo>
                    <a:pt x="578" y="822"/>
                  </a:lnTo>
                  <a:lnTo>
                    <a:pt x="580" y="824"/>
                  </a:lnTo>
                  <a:lnTo>
                    <a:pt x="582" y="826"/>
                  </a:lnTo>
                  <a:lnTo>
                    <a:pt x="584" y="830"/>
                  </a:lnTo>
                  <a:lnTo>
                    <a:pt x="584" y="870"/>
                  </a:lnTo>
                  <a:lnTo>
                    <a:pt x="584" y="870"/>
                  </a:lnTo>
                  <a:lnTo>
                    <a:pt x="582" y="874"/>
                  </a:lnTo>
                  <a:lnTo>
                    <a:pt x="580" y="878"/>
                  </a:lnTo>
                  <a:lnTo>
                    <a:pt x="578" y="880"/>
                  </a:lnTo>
                  <a:lnTo>
                    <a:pt x="574" y="880"/>
                  </a:lnTo>
                  <a:lnTo>
                    <a:pt x="532" y="880"/>
                  </a:lnTo>
                  <a:close/>
                  <a:moveTo>
                    <a:pt x="452" y="910"/>
                  </a:moveTo>
                  <a:lnTo>
                    <a:pt x="452" y="910"/>
                  </a:lnTo>
                  <a:lnTo>
                    <a:pt x="452" y="906"/>
                  </a:lnTo>
                  <a:lnTo>
                    <a:pt x="454" y="902"/>
                  </a:lnTo>
                  <a:lnTo>
                    <a:pt x="458" y="900"/>
                  </a:lnTo>
                  <a:lnTo>
                    <a:pt x="462" y="900"/>
                  </a:lnTo>
                  <a:lnTo>
                    <a:pt x="504" y="900"/>
                  </a:lnTo>
                  <a:lnTo>
                    <a:pt x="504" y="900"/>
                  </a:lnTo>
                  <a:lnTo>
                    <a:pt x="508" y="900"/>
                  </a:lnTo>
                  <a:lnTo>
                    <a:pt x="512" y="902"/>
                  </a:lnTo>
                  <a:lnTo>
                    <a:pt x="514" y="906"/>
                  </a:lnTo>
                  <a:lnTo>
                    <a:pt x="514" y="910"/>
                  </a:lnTo>
                  <a:lnTo>
                    <a:pt x="514" y="948"/>
                  </a:lnTo>
                  <a:lnTo>
                    <a:pt x="514" y="948"/>
                  </a:lnTo>
                  <a:lnTo>
                    <a:pt x="512" y="952"/>
                  </a:lnTo>
                  <a:lnTo>
                    <a:pt x="510" y="956"/>
                  </a:lnTo>
                  <a:lnTo>
                    <a:pt x="508" y="958"/>
                  </a:lnTo>
                  <a:lnTo>
                    <a:pt x="504" y="958"/>
                  </a:lnTo>
                  <a:lnTo>
                    <a:pt x="460" y="958"/>
                  </a:lnTo>
                  <a:lnTo>
                    <a:pt x="460" y="958"/>
                  </a:lnTo>
                  <a:lnTo>
                    <a:pt x="456" y="958"/>
                  </a:lnTo>
                  <a:lnTo>
                    <a:pt x="454" y="956"/>
                  </a:lnTo>
                  <a:lnTo>
                    <a:pt x="452" y="952"/>
                  </a:lnTo>
                  <a:lnTo>
                    <a:pt x="450" y="948"/>
                  </a:lnTo>
                  <a:lnTo>
                    <a:pt x="452" y="910"/>
                  </a:lnTo>
                  <a:close/>
                  <a:moveTo>
                    <a:pt x="442" y="870"/>
                  </a:moveTo>
                  <a:lnTo>
                    <a:pt x="444" y="830"/>
                  </a:lnTo>
                  <a:lnTo>
                    <a:pt x="444" y="830"/>
                  </a:lnTo>
                  <a:lnTo>
                    <a:pt x="444" y="826"/>
                  </a:lnTo>
                  <a:lnTo>
                    <a:pt x="446" y="824"/>
                  </a:lnTo>
                  <a:lnTo>
                    <a:pt x="450" y="822"/>
                  </a:lnTo>
                  <a:lnTo>
                    <a:pt x="454" y="820"/>
                  </a:lnTo>
                  <a:lnTo>
                    <a:pt x="496" y="820"/>
                  </a:lnTo>
                  <a:lnTo>
                    <a:pt x="496" y="820"/>
                  </a:lnTo>
                  <a:lnTo>
                    <a:pt x="500" y="822"/>
                  </a:lnTo>
                  <a:lnTo>
                    <a:pt x="502" y="824"/>
                  </a:lnTo>
                  <a:lnTo>
                    <a:pt x="504" y="826"/>
                  </a:lnTo>
                  <a:lnTo>
                    <a:pt x="504" y="830"/>
                  </a:lnTo>
                  <a:lnTo>
                    <a:pt x="504" y="870"/>
                  </a:lnTo>
                  <a:lnTo>
                    <a:pt x="504" y="870"/>
                  </a:lnTo>
                  <a:lnTo>
                    <a:pt x="504" y="874"/>
                  </a:lnTo>
                  <a:lnTo>
                    <a:pt x="502" y="878"/>
                  </a:lnTo>
                  <a:lnTo>
                    <a:pt x="498" y="880"/>
                  </a:lnTo>
                  <a:lnTo>
                    <a:pt x="494" y="880"/>
                  </a:lnTo>
                  <a:lnTo>
                    <a:pt x="452" y="880"/>
                  </a:lnTo>
                  <a:lnTo>
                    <a:pt x="452" y="880"/>
                  </a:lnTo>
                  <a:lnTo>
                    <a:pt x="448" y="880"/>
                  </a:lnTo>
                  <a:lnTo>
                    <a:pt x="446" y="878"/>
                  </a:lnTo>
                  <a:lnTo>
                    <a:pt x="444" y="874"/>
                  </a:lnTo>
                  <a:lnTo>
                    <a:pt x="442" y="870"/>
                  </a:lnTo>
                  <a:lnTo>
                    <a:pt x="442" y="870"/>
                  </a:lnTo>
                  <a:close/>
                  <a:moveTo>
                    <a:pt x="372" y="910"/>
                  </a:moveTo>
                  <a:lnTo>
                    <a:pt x="372" y="910"/>
                  </a:lnTo>
                  <a:lnTo>
                    <a:pt x="372" y="906"/>
                  </a:lnTo>
                  <a:lnTo>
                    <a:pt x="376" y="902"/>
                  </a:lnTo>
                  <a:lnTo>
                    <a:pt x="378" y="900"/>
                  </a:lnTo>
                  <a:lnTo>
                    <a:pt x="382" y="900"/>
                  </a:lnTo>
                  <a:lnTo>
                    <a:pt x="424" y="900"/>
                  </a:lnTo>
                  <a:lnTo>
                    <a:pt x="424" y="900"/>
                  </a:lnTo>
                  <a:lnTo>
                    <a:pt x="428" y="900"/>
                  </a:lnTo>
                  <a:lnTo>
                    <a:pt x="432" y="902"/>
                  </a:lnTo>
                  <a:lnTo>
                    <a:pt x="434" y="906"/>
                  </a:lnTo>
                  <a:lnTo>
                    <a:pt x="434" y="910"/>
                  </a:lnTo>
                  <a:lnTo>
                    <a:pt x="432" y="948"/>
                  </a:lnTo>
                  <a:lnTo>
                    <a:pt x="432" y="948"/>
                  </a:lnTo>
                  <a:lnTo>
                    <a:pt x="432" y="952"/>
                  </a:lnTo>
                  <a:lnTo>
                    <a:pt x="430" y="956"/>
                  </a:lnTo>
                  <a:lnTo>
                    <a:pt x="426" y="958"/>
                  </a:lnTo>
                  <a:lnTo>
                    <a:pt x="422" y="958"/>
                  </a:lnTo>
                  <a:lnTo>
                    <a:pt x="380" y="958"/>
                  </a:lnTo>
                  <a:lnTo>
                    <a:pt x="380" y="958"/>
                  </a:lnTo>
                  <a:lnTo>
                    <a:pt x="376" y="958"/>
                  </a:lnTo>
                  <a:lnTo>
                    <a:pt x="372" y="956"/>
                  </a:lnTo>
                  <a:lnTo>
                    <a:pt x="370" y="952"/>
                  </a:lnTo>
                  <a:lnTo>
                    <a:pt x="370" y="948"/>
                  </a:lnTo>
                  <a:lnTo>
                    <a:pt x="372" y="910"/>
                  </a:lnTo>
                  <a:close/>
                  <a:moveTo>
                    <a:pt x="364" y="870"/>
                  </a:moveTo>
                  <a:lnTo>
                    <a:pt x="366" y="830"/>
                  </a:lnTo>
                  <a:lnTo>
                    <a:pt x="366" y="830"/>
                  </a:lnTo>
                  <a:lnTo>
                    <a:pt x="366" y="826"/>
                  </a:lnTo>
                  <a:lnTo>
                    <a:pt x="368" y="824"/>
                  </a:lnTo>
                  <a:lnTo>
                    <a:pt x="372" y="822"/>
                  </a:lnTo>
                  <a:lnTo>
                    <a:pt x="376" y="820"/>
                  </a:lnTo>
                  <a:lnTo>
                    <a:pt x="418" y="820"/>
                  </a:lnTo>
                  <a:lnTo>
                    <a:pt x="418" y="820"/>
                  </a:lnTo>
                  <a:lnTo>
                    <a:pt x="422" y="822"/>
                  </a:lnTo>
                  <a:lnTo>
                    <a:pt x="424" y="824"/>
                  </a:lnTo>
                  <a:lnTo>
                    <a:pt x="426" y="826"/>
                  </a:lnTo>
                  <a:lnTo>
                    <a:pt x="426" y="830"/>
                  </a:lnTo>
                  <a:lnTo>
                    <a:pt x="426" y="870"/>
                  </a:lnTo>
                  <a:lnTo>
                    <a:pt x="426" y="870"/>
                  </a:lnTo>
                  <a:lnTo>
                    <a:pt x="424" y="874"/>
                  </a:lnTo>
                  <a:lnTo>
                    <a:pt x="422" y="878"/>
                  </a:lnTo>
                  <a:lnTo>
                    <a:pt x="420" y="880"/>
                  </a:lnTo>
                  <a:lnTo>
                    <a:pt x="416" y="880"/>
                  </a:lnTo>
                  <a:lnTo>
                    <a:pt x="372" y="880"/>
                  </a:lnTo>
                  <a:lnTo>
                    <a:pt x="372" y="880"/>
                  </a:lnTo>
                  <a:lnTo>
                    <a:pt x="368" y="880"/>
                  </a:lnTo>
                  <a:lnTo>
                    <a:pt x="366" y="878"/>
                  </a:lnTo>
                  <a:lnTo>
                    <a:pt x="364" y="874"/>
                  </a:lnTo>
                  <a:lnTo>
                    <a:pt x="364" y="870"/>
                  </a:lnTo>
                  <a:lnTo>
                    <a:pt x="364" y="870"/>
                  </a:lnTo>
                  <a:close/>
                  <a:moveTo>
                    <a:pt x="292" y="910"/>
                  </a:moveTo>
                  <a:lnTo>
                    <a:pt x="292" y="910"/>
                  </a:lnTo>
                  <a:lnTo>
                    <a:pt x="292" y="906"/>
                  </a:lnTo>
                  <a:lnTo>
                    <a:pt x="296" y="902"/>
                  </a:lnTo>
                  <a:lnTo>
                    <a:pt x="298" y="900"/>
                  </a:lnTo>
                  <a:lnTo>
                    <a:pt x="302" y="900"/>
                  </a:lnTo>
                  <a:lnTo>
                    <a:pt x="346" y="900"/>
                  </a:lnTo>
                  <a:lnTo>
                    <a:pt x="346" y="900"/>
                  </a:lnTo>
                  <a:lnTo>
                    <a:pt x="348" y="900"/>
                  </a:lnTo>
                  <a:lnTo>
                    <a:pt x="352" y="902"/>
                  </a:lnTo>
                  <a:lnTo>
                    <a:pt x="354" y="906"/>
                  </a:lnTo>
                  <a:lnTo>
                    <a:pt x="354" y="910"/>
                  </a:lnTo>
                  <a:lnTo>
                    <a:pt x="352" y="948"/>
                  </a:lnTo>
                  <a:lnTo>
                    <a:pt x="352" y="948"/>
                  </a:lnTo>
                  <a:lnTo>
                    <a:pt x="352" y="952"/>
                  </a:lnTo>
                  <a:lnTo>
                    <a:pt x="348" y="956"/>
                  </a:lnTo>
                  <a:lnTo>
                    <a:pt x="346" y="958"/>
                  </a:lnTo>
                  <a:lnTo>
                    <a:pt x="342" y="958"/>
                  </a:lnTo>
                  <a:lnTo>
                    <a:pt x="298" y="958"/>
                  </a:lnTo>
                  <a:lnTo>
                    <a:pt x="298" y="958"/>
                  </a:lnTo>
                  <a:lnTo>
                    <a:pt x="294" y="958"/>
                  </a:lnTo>
                  <a:lnTo>
                    <a:pt x="292" y="956"/>
                  </a:lnTo>
                  <a:lnTo>
                    <a:pt x="290" y="952"/>
                  </a:lnTo>
                  <a:lnTo>
                    <a:pt x="290" y="948"/>
                  </a:lnTo>
                  <a:lnTo>
                    <a:pt x="292" y="910"/>
                  </a:lnTo>
                  <a:close/>
                  <a:moveTo>
                    <a:pt x="284" y="870"/>
                  </a:moveTo>
                  <a:lnTo>
                    <a:pt x="288" y="830"/>
                  </a:lnTo>
                  <a:lnTo>
                    <a:pt x="288" y="830"/>
                  </a:lnTo>
                  <a:lnTo>
                    <a:pt x="288" y="826"/>
                  </a:lnTo>
                  <a:lnTo>
                    <a:pt x="290" y="824"/>
                  </a:lnTo>
                  <a:lnTo>
                    <a:pt x="294" y="822"/>
                  </a:lnTo>
                  <a:lnTo>
                    <a:pt x="298" y="820"/>
                  </a:lnTo>
                  <a:lnTo>
                    <a:pt x="340" y="820"/>
                  </a:lnTo>
                  <a:lnTo>
                    <a:pt x="340" y="820"/>
                  </a:lnTo>
                  <a:lnTo>
                    <a:pt x="344" y="822"/>
                  </a:lnTo>
                  <a:lnTo>
                    <a:pt x="346" y="824"/>
                  </a:lnTo>
                  <a:lnTo>
                    <a:pt x="348" y="826"/>
                  </a:lnTo>
                  <a:lnTo>
                    <a:pt x="348" y="830"/>
                  </a:lnTo>
                  <a:lnTo>
                    <a:pt x="346" y="870"/>
                  </a:lnTo>
                  <a:lnTo>
                    <a:pt x="346" y="870"/>
                  </a:lnTo>
                  <a:lnTo>
                    <a:pt x="346" y="874"/>
                  </a:lnTo>
                  <a:lnTo>
                    <a:pt x="342" y="878"/>
                  </a:lnTo>
                  <a:lnTo>
                    <a:pt x="340" y="880"/>
                  </a:lnTo>
                  <a:lnTo>
                    <a:pt x="336" y="880"/>
                  </a:lnTo>
                  <a:lnTo>
                    <a:pt x="294" y="880"/>
                  </a:lnTo>
                  <a:lnTo>
                    <a:pt x="294" y="880"/>
                  </a:lnTo>
                  <a:lnTo>
                    <a:pt x="290" y="880"/>
                  </a:lnTo>
                  <a:lnTo>
                    <a:pt x="286" y="878"/>
                  </a:lnTo>
                  <a:lnTo>
                    <a:pt x="284" y="874"/>
                  </a:lnTo>
                  <a:lnTo>
                    <a:pt x="284" y="870"/>
                  </a:lnTo>
                  <a:lnTo>
                    <a:pt x="284" y="870"/>
                  </a:lnTo>
                  <a:close/>
                  <a:moveTo>
                    <a:pt x="270" y="830"/>
                  </a:moveTo>
                  <a:lnTo>
                    <a:pt x="266" y="870"/>
                  </a:lnTo>
                  <a:lnTo>
                    <a:pt x="266" y="870"/>
                  </a:lnTo>
                  <a:lnTo>
                    <a:pt x="266" y="874"/>
                  </a:lnTo>
                  <a:lnTo>
                    <a:pt x="264" y="878"/>
                  </a:lnTo>
                  <a:lnTo>
                    <a:pt x="260" y="880"/>
                  </a:lnTo>
                  <a:lnTo>
                    <a:pt x="256" y="880"/>
                  </a:lnTo>
                  <a:lnTo>
                    <a:pt x="214" y="880"/>
                  </a:lnTo>
                  <a:lnTo>
                    <a:pt x="214" y="880"/>
                  </a:lnTo>
                  <a:lnTo>
                    <a:pt x="210" y="880"/>
                  </a:lnTo>
                  <a:lnTo>
                    <a:pt x="208" y="878"/>
                  </a:lnTo>
                  <a:lnTo>
                    <a:pt x="206" y="874"/>
                  </a:lnTo>
                  <a:lnTo>
                    <a:pt x="206" y="870"/>
                  </a:lnTo>
                  <a:lnTo>
                    <a:pt x="210" y="830"/>
                  </a:lnTo>
                  <a:lnTo>
                    <a:pt x="210" y="830"/>
                  </a:lnTo>
                  <a:lnTo>
                    <a:pt x="210" y="826"/>
                  </a:lnTo>
                  <a:lnTo>
                    <a:pt x="212" y="824"/>
                  </a:lnTo>
                  <a:lnTo>
                    <a:pt x="216" y="822"/>
                  </a:lnTo>
                  <a:lnTo>
                    <a:pt x="220" y="820"/>
                  </a:lnTo>
                  <a:lnTo>
                    <a:pt x="262" y="820"/>
                  </a:lnTo>
                  <a:lnTo>
                    <a:pt x="262" y="820"/>
                  </a:lnTo>
                  <a:lnTo>
                    <a:pt x="266" y="822"/>
                  </a:lnTo>
                  <a:lnTo>
                    <a:pt x="268" y="824"/>
                  </a:lnTo>
                  <a:lnTo>
                    <a:pt x="270" y="826"/>
                  </a:lnTo>
                  <a:lnTo>
                    <a:pt x="270" y="830"/>
                  </a:lnTo>
                  <a:lnTo>
                    <a:pt x="270" y="830"/>
                  </a:lnTo>
                  <a:close/>
                  <a:moveTo>
                    <a:pt x="132" y="830"/>
                  </a:moveTo>
                  <a:lnTo>
                    <a:pt x="132" y="830"/>
                  </a:lnTo>
                  <a:lnTo>
                    <a:pt x="132" y="826"/>
                  </a:lnTo>
                  <a:lnTo>
                    <a:pt x="136" y="824"/>
                  </a:lnTo>
                  <a:lnTo>
                    <a:pt x="138" y="822"/>
                  </a:lnTo>
                  <a:lnTo>
                    <a:pt x="142" y="820"/>
                  </a:lnTo>
                  <a:lnTo>
                    <a:pt x="184" y="820"/>
                  </a:lnTo>
                  <a:lnTo>
                    <a:pt x="184" y="820"/>
                  </a:lnTo>
                  <a:lnTo>
                    <a:pt x="186" y="822"/>
                  </a:lnTo>
                  <a:lnTo>
                    <a:pt x="190" y="824"/>
                  </a:lnTo>
                  <a:lnTo>
                    <a:pt x="192" y="826"/>
                  </a:lnTo>
                  <a:lnTo>
                    <a:pt x="192" y="830"/>
                  </a:lnTo>
                  <a:lnTo>
                    <a:pt x="188" y="870"/>
                  </a:lnTo>
                  <a:lnTo>
                    <a:pt x="188" y="870"/>
                  </a:lnTo>
                  <a:lnTo>
                    <a:pt x="186" y="874"/>
                  </a:lnTo>
                  <a:lnTo>
                    <a:pt x="184" y="878"/>
                  </a:lnTo>
                  <a:lnTo>
                    <a:pt x="180" y="880"/>
                  </a:lnTo>
                  <a:lnTo>
                    <a:pt x="178" y="880"/>
                  </a:lnTo>
                  <a:lnTo>
                    <a:pt x="136" y="880"/>
                  </a:lnTo>
                  <a:lnTo>
                    <a:pt x="136" y="880"/>
                  </a:lnTo>
                  <a:lnTo>
                    <a:pt x="132" y="880"/>
                  </a:lnTo>
                  <a:lnTo>
                    <a:pt x="128" y="878"/>
                  </a:lnTo>
                  <a:lnTo>
                    <a:pt x="128" y="874"/>
                  </a:lnTo>
                  <a:lnTo>
                    <a:pt x="128" y="870"/>
                  </a:lnTo>
                  <a:lnTo>
                    <a:pt x="132" y="830"/>
                  </a:lnTo>
                  <a:close/>
                  <a:moveTo>
                    <a:pt x="122" y="908"/>
                  </a:moveTo>
                  <a:lnTo>
                    <a:pt x="122" y="908"/>
                  </a:lnTo>
                  <a:lnTo>
                    <a:pt x="124" y="906"/>
                  </a:lnTo>
                  <a:lnTo>
                    <a:pt x="126" y="902"/>
                  </a:lnTo>
                  <a:lnTo>
                    <a:pt x="130" y="900"/>
                  </a:lnTo>
                  <a:lnTo>
                    <a:pt x="134" y="900"/>
                  </a:lnTo>
                  <a:lnTo>
                    <a:pt x="186" y="900"/>
                  </a:lnTo>
                  <a:lnTo>
                    <a:pt x="186" y="900"/>
                  </a:lnTo>
                  <a:lnTo>
                    <a:pt x="190" y="900"/>
                  </a:lnTo>
                  <a:lnTo>
                    <a:pt x="192" y="902"/>
                  </a:lnTo>
                  <a:lnTo>
                    <a:pt x="194" y="906"/>
                  </a:lnTo>
                  <a:lnTo>
                    <a:pt x="194" y="908"/>
                  </a:lnTo>
                  <a:lnTo>
                    <a:pt x="190" y="948"/>
                  </a:lnTo>
                  <a:lnTo>
                    <a:pt x="190" y="948"/>
                  </a:lnTo>
                  <a:lnTo>
                    <a:pt x="190" y="952"/>
                  </a:lnTo>
                  <a:lnTo>
                    <a:pt x="186" y="956"/>
                  </a:lnTo>
                  <a:lnTo>
                    <a:pt x="184" y="958"/>
                  </a:lnTo>
                  <a:lnTo>
                    <a:pt x="180" y="958"/>
                  </a:lnTo>
                  <a:lnTo>
                    <a:pt x="126" y="958"/>
                  </a:lnTo>
                  <a:lnTo>
                    <a:pt x="126" y="958"/>
                  </a:lnTo>
                  <a:lnTo>
                    <a:pt x="122" y="958"/>
                  </a:lnTo>
                  <a:lnTo>
                    <a:pt x="120" y="956"/>
                  </a:lnTo>
                  <a:lnTo>
                    <a:pt x="118" y="952"/>
                  </a:lnTo>
                  <a:lnTo>
                    <a:pt x="118" y="948"/>
                  </a:lnTo>
                  <a:lnTo>
                    <a:pt x="122" y="908"/>
                  </a:lnTo>
                  <a:close/>
                  <a:moveTo>
                    <a:pt x="158" y="1028"/>
                  </a:moveTo>
                  <a:lnTo>
                    <a:pt x="158" y="1028"/>
                  </a:lnTo>
                  <a:lnTo>
                    <a:pt x="158" y="1032"/>
                  </a:lnTo>
                  <a:lnTo>
                    <a:pt x="154" y="1034"/>
                  </a:lnTo>
                  <a:lnTo>
                    <a:pt x="152" y="1036"/>
                  </a:lnTo>
                  <a:lnTo>
                    <a:pt x="148" y="1038"/>
                  </a:lnTo>
                  <a:lnTo>
                    <a:pt x="118" y="1038"/>
                  </a:lnTo>
                  <a:lnTo>
                    <a:pt x="118" y="1038"/>
                  </a:lnTo>
                  <a:lnTo>
                    <a:pt x="114" y="1036"/>
                  </a:lnTo>
                  <a:lnTo>
                    <a:pt x="110" y="1034"/>
                  </a:lnTo>
                  <a:lnTo>
                    <a:pt x="108" y="1032"/>
                  </a:lnTo>
                  <a:lnTo>
                    <a:pt x="108" y="1028"/>
                  </a:lnTo>
                  <a:lnTo>
                    <a:pt x="114" y="988"/>
                  </a:lnTo>
                  <a:lnTo>
                    <a:pt x="114" y="988"/>
                  </a:lnTo>
                  <a:lnTo>
                    <a:pt x="114" y="984"/>
                  </a:lnTo>
                  <a:lnTo>
                    <a:pt x="116" y="980"/>
                  </a:lnTo>
                  <a:lnTo>
                    <a:pt x="120" y="978"/>
                  </a:lnTo>
                  <a:lnTo>
                    <a:pt x="124" y="978"/>
                  </a:lnTo>
                  <a:lnTo>
                    <a:pt x="154" y="978"/>
                  </a:lnTo>
                  <a:lnTo>
                    <a:pt x="154" y="978"/>
                  </a:lnTo>
                  <a:lnTo>
                    <a:pt x="158" y="978"/>
                  </a:lnTo>
                  <a:lnTo>
                    <a:pt x="160" y="980"/>
                  </a:lnTo>
                  <a:lnTo>
                    <a:pt x="162" y="984"/>
                  </a:lnTo>
                  <a:lnTo>
                    <a:pt x="162" y="988"/>
                  </a:lnTo>
                  <a:lnTo>
                    <a:pt x="158" y="1028"/>
                  </a:lnTo>
                  <a:close/>
                  <a:moveTo>
                    <a:pt x="250" y="1028"/>
                  </a:moveTo>
                  <a:lnTo>
                    <a:pt x="250" y="1028"/>
                  </a:lnTo>
                  <a:lnTo>
                    <a:pt x="248" y="1032"/>
                  </a:lnTo>
                  <a:lnTo>
                    <a:pt x="246" y="1034"/>
                  </a:lnTo>
                  <a:lnTo>
                    <a:pt x="244" y="1036"/>
                  </a:lnTo>
                  <a:lnTo>
                    <a:pt x="240" y="1038"/>
                  </a:lnTo>
                  <a:lnTo>
                    <a:pt x="186" y="1038"/>
                  </a:lnTo>
                  <a:lnTo>
                    <a:pt x="186" y="1038"/>
                  </a:lnTo>
                  <a:lnTo>
                    <a:pt x="182" y="1036"/>
                  </a:lnTo>
                  <a:lnTo>
                    <a:pt x="180" y="1034"/>
                  </a:lnTo>
                  <a:lnTo>
                    <a:pt x="178" y="1032"/>
                  </a:lnTo>
                  <a:lnTo>
                    <a:pt x="176" y="1028"/>
                  </a:lnTo>
                  <a:lnTo>
                    <a:pt x="180" y="988"/>
                  </a:lnTo>
                  <a:lnTo>
                    <a:pt x="180" y="988"/>
                  </a:lnTo>
                  <a:lnTo>
                    <a:pt x="182" y="984"/>
                  </a:lnTo>
                  <a:lnTo>
                    <a:pt x="184" y="980"/>
                  </a:lnTo>
                  <a:lnTo>
                    <a:pt x="188" y="978"/>
                  </a:lnTo>
                  <a:lnTo>
                    <a:pt x="192" y="978"/>
                  </a:lnTo>
                  <a:lnTo>
                    <a:pt x="244" y="978"/>
                  </a:lnTo>
                  <a:lnTo>
                    <a:pt x="244" y="978"/>
                  </a:lnTo>
                  <a:lnTo>
                    <a:pt x="248" y="978"/>
                  </a:lnTo>
                  <a:lnTo>
                    <a:pt x="250" y="980"/>
                  </a:lnTo>
                  <a:lnTo>
                    <a:pt x="252" y="984"/>
                  </a:lnTo>
                  <a:lnTo>
                    <a:pt x="254" y="988"/>
                  </a:lnTo>
                  <a:lnTo>
                    <a:pt x="250" y="1028"/>
                  </a:lnTo>
                  <a:close/>
                  <a:moveTo>
                    <a:pt x="260" y="958"/>
                  </a:moveTo>
                  <a:lnTo>
                    <a:pt x="218" y="958"/>
                  </a:lnTo>
                  <a:lnTo>
                    <a:pt x="218" y="958"/>
                  </a:lnTo>
                  <a:lnTo>
                    <a:pt x="214" y="958"/>
                  </a:lnTo>
                  <a:lnTo>
                    <a:pt x="210" y="956"/>
                  </a:lnTo>
                  <a:lnTo>
                    <a:pt x="208" y="952"/>
                  </a:lnTo>
                  <a:lnTo>
                    <a:pt x="208" y="948"/>
                  </a:lnTo>
                  <a:lnTo>
                    <a:pt x="212" y="910"/>
                  </a:lnTo>
                  <a:lnTo>
                    <a:pt x="212" y="910"/>
                  </a:lnTo>
                  <a:lnTo>
                    <a:pt x="214" y="906"/>
                  </a:lnTo>
                  <a:lnTo>
                    <a:pt x="216" y="902"/>
                  </a:lnTo>
                  <a:lnTo>
                    <a:pt x="218" y="900"/>
                  </a:lnTo>
                  <a:lnTo>
                    <a:pt x="222" y="900"/>
                  </a:lnTo>
                  <a:lnTo>
                    <a:pt x="266" y="900"/>
                  </a:lnTo>
                  <a:lnTo>
                    <a:pt x="266" y="900"/>
                  </a:lnTo>
                  <a:lnTo>
                    <a:pt x="270" y="900"/>
                  </a:lnTo>
                  <a:lnTo>
                    <a:pt x="272" y="902"/>
                  </a:lnTo>
                  <a:lnTo>
                    <a:pt x="274" y="906"/>
                  </a:lnTo>
                  <a:lnTo>
                    <a:pt x="274" y="910"/>
                  </a:lnTo>
                  <a:lnTo>
                    <a:pt x="272" y="948"/>
                  </a:lnTo>
                  <a:lnTo>
                    <a:pt x="272" y="948"/>
                  </a:lnTo>
                  <a:lnTo>
                    <a:pt x="270" y="952"/>
                  </a:lnTo>
                  <a:lnTo>
                    <a:pt x="268" y="956"/>
                  </a:lnTo>
                  <a:lnTo>
                    <a:pt x="264" y="958"/>
                  </a:lnTo>
                  <a:lnTo>
                    <a:pt x="260" y="958"/>
                  </a:lnTo>
                  <a:lnTo>
                    <a:pt x="260" y="958"/>
                  </a:lnTo>
                  <a:close/>
                  <a:moveTo>
                    <a:pt x="772" y="1038"/>
                  </a:moveTo>
                  <a:lnTo>
                    <a:pt x="278" y="1038"/>
                  </a:lnTo>
                  <a:lnTo>
                    <a:pt x="278" y="1038"/>
                  </a:lnTo>
                  <a:lnTo>
                    <a:pt x="274" y="1036"/>
                  </a:lnTo>
                  <a:lnTo>
                    <a:pt x="270" y="1034"/>
                  </a:lnTo>
                  <a:lnTo>
                    <a:pt x="268" y="1032"/>
                  </a:lnTo>
                  <a:lnTo>
                    <a:pt x="268" y="1028"/>
                  </a:lnTo>
                  <a:lnTo>
                    <a:pt x="272" y="988"/>
                  </a:lnTo>
                  <a:lnTo>
                    <a:pt x="272" y="988"/>
                  </a:lnTo>
                  <a:lnTo>
                    <a:pt x="272" y="984"/>
                  </a:lnTo>
                  <a:lnTo>
                    <a:pt x="274" y="980"/>
                  </a:lnTo>
                  <a:lnTo>
                    <a:pt x="278" y="978"/>
                  </a:lnTo>
                  <a:lnTo>
                    <a:pt x="282" y="978"/>
                  </a:lnTo>
                  <a:lnTo>
                    <a:pt x="768" y="978"/>
                  </a:lnTo>
                  <a:lnTo>
                    <a:pt x="768" y="978"/>
                  </a:lnTo>
                  <a:lnTo>
                    <a:pt x="772" y="978"/>
                  </a:lnTo>
                  <a:lnTo>
                    <a:pt x="776" y="980"/>
                  </a:lnTo>
                  <a:lnTo>
                    <a:pt x="778" y="984"/>
                  </a:lnTo>
                  <a:lnTo>
                    <a:pt x="780" y="988"/>
                  </a:lnTo>
                  <a:lnTo>
                    <a:pt x="782" y="1028"/>
                  </a:lnTo>
                  <a:lnTo>
                    <a:pt x="782" y="1028"/>
                  </a:lnTo>
                  <a:lnTo>
                    <a:pt x="782" y="1032"/>
                  </a:lnTo>
                  <a:lnTo>
                    <a:pt x="780" y="1034"/>
                  </a:lnTo>
                  <a:lnTo>
                    <a:pt x="776" y="1036"/>
                  </a:lnTo>
                  <a:lnTo>
                    <a:pt x="772" y="1038"/>
                  </a:lnTo>
                  <a:lnTo>
                    <a:pt x="772" y="1038"/>
                  </a:lnTo>
                  <a:close/>
                  <a:moveTo>
                    <a:pt x="774" y="948"/>
                  </a:moveTo>
                  <a:lnTo>
                    <a:pt x="772" y="910"/>
                  </a:lnTo>
                  <a:lnTo>
                    <a:pt x="772" y="910"/>
                  </a:lnTo>
                  <a:lnTo>
                    <a:pt x="772" y="906"/>
                  </a:lnTo>
                  <a:lnTo>
                    <a:pt x="774" y="902"/>
                  </a:lnTo>
                  <a:lnTo>
                    <a:pt x="778" y="900"/>
                  </a:lnTo>
                  <a:lnTo>
                    <a:pt x="780" y="900"/>
                  </a:lnTo>
                  <a:lnTo>
                    <a:pt x="824" y="900"/>
                  </a:lnTo>
                  <a:lnTo>
                    <a:pt x="824" y="900"/>
                  </a:lnTo>
                  <a:lnTo>
                    <a:pt x="828" y="900"/>
                  </a:lnTo>
                  <a:lnTo>
                    <a:pt x="830" y="902"/>
                  </a:lnTo>
                  <a:lnTo>
                    <a:pt x="834" y="906"/>
                  </a:lnTo>
                  <a:lnTo>
                    <a:pt x="834" y="910"/>
                  </a:lnTo>
                  <a:lnTo>
                    <a:pt x="838" y="948"/>
                  </a:lnTo>
                  <a:lnTo>
                    <a:pt x="838" y="948"/>
                  </a:lnTo>
                  <a:lnTo>
                    <a:pt x="836" y="952"/>
                  </a:lnTo>
                  <a:lnTo>
                    <a:pt x="834" y="956"/>
                  </a:lnTo>
                  <a:lnTo>
                    <a:pt x="832" y="958"/>
                  </a:lnTo>
                  <a:lnTo>
                    <a:pt x="828" y="958"/>
                  </a:lnTo>
                  <a:lnTo>
                    <a:pt x="784" y="958"/>
                  </a:lnTo>
                  <a:lnTo>
                    <a:pt x="784" y="958"/>
                  </a:lnTo>
                  <a:lnTo>
                    <a:pt x="780" y="958"/>
                  </a:lnTo>
                  <a:lnTo>
                    <a:pt x="778" y="956"/>
                  </a:lnTo>
                  <a:lnTo>
                    <a:pt x="776" y="952"/>
                  </a:lnTo>
                  <a:lnTo>
                    <a:pt x="774" y="948"/>
                  </a:lnTo>
                  <a:lnTo>
                    <a:pt x="774" y="948"/>
                  </a:lnTo>
                  <a:close/>
                  <a:moveTo>
                    <a:pt x="864" y="1038"/>
                  </a:moveTo>
                  <a:lnTo>
                    <a:pt x="810" y="1038"/>
                  </a:lnTo>
                  <a:lnTo>
                    <a:pt x="810" y="1038"/>
                  </a:lnTo>
                  <a:lnTo>
                    <a:pt x="806" y="1036"/>
                  </a:lnTo>
                  <a:lnTo>
                    <a:pt x="804" y="1034"/>
                  </a:lnTo>
                  <a:lnTo>
                    <a:pt x="802" y="1032"/>
                  </a:lnTo>
                  <a:lnTo>
                    <a:pt x="800" y="1028"/>
                  </a:lnTo>
                  <a:lnTo>
                    <a:pt x="798" y="988"/>
                  </a:lnTo>
                  <a:lnTo>
                    <a:pt x="798" y="988"/>
                  </a:lnTo>
                  <a:lnTo>
                    <a:pt x="798" y="984"/>
                  </a:lnTo>
                  <a:lnTo>
                    <a:pt x="800" y="980"/>
                  </a:lnTo>
                  <a:lnTo>
                    <a:pt x="802" y="978"/>
                  </a:lnTo>
                  <a:lnTo>
                    <a:pt x="806" y="978"/>
                  </a:lnTo>
                  <a:lnTo>
                    <a:pt x="860" y="978"/>
                  </a:lnTo>
                  <a:lnTo>
                    <a:pt x="860" y="978"/>
                  </a:lnTo>
                  <a:lnTo>
                    <a:pt x="864" y="978"/>
                  </a:lnTo>
                  <a:lnTo>
                    <a:pt x="866" y="980"/>
                  </a:lnTo>
                  <a:lnTo>
                    <a:pt x="868" y="984"/>
                  </a:lnTo>
                  <a:lnTo>
                    <a:pt x="870" y="988"/>
                  </a:lnTo>
                  <a:lnTo>
                    <a:pt x="874" y="1028"/>
                  </a:lnTo>
                  <a:lnTo>
                    <a:pt x="874" y="1028"/>
                  </a:lnTo>
                  <a:lnTo>
                    <a:pt x="872" y="1032"/>
                  </a:lnTo>
                  <a:lnTo>
                    <a:pt x="870" y="1034"/>
                  </a:lnTo>
                  <a:lnTo>
                    <a:pt x="868" y="1036"/>
                  </a:lnTo>
                  <a:lnTo>
                    <a:pt x="864" y="1038"/>
                  </a:lnTo>
                  <a:lnTo>
                    <a:pt x="864" y="1038"/>
                  </a:lnTo>
                  <a:close/>
                  <a:moveTo>
                    <a:pt x="992" y="1038"/>
                  </a:moveTo>
                  <a:lnTo>
                    <a:pt x="902" y="1038"/>
                  </a:lnTo>
                  <a:lnTo>
                    <a:pt x="902" y="1038"/>
                  </a:lnTo>
                  <a:lnTo>
                    <a:pt x="898" y="1036"/>
                  </a:lnTo>
                  <a:lnTo>
                    <a:pt x="896" y="1034"/>
                  </a:lnTo>
                  <a:lnTo>
                    <a:pt x="892" y="1032"/>
                  </a:lnTo>
                  <a:lnTo>
                    <a:pt x="892" y="1028"/>
                  </a:lnTo>
                  <a:lnTo>
                    <a:pt x="888" y="988"/>
                  </a:lnTo>
                  <a:lnTo>
                    <a:pt x="888" y="988"/>
                  </a:lnTo>
                  <a:lnTo>
                    <a:pt x="888" y="984"/>
                  </a:lnTo>
                  <a:lnTo>
                    <a:pt x="890" y="980"/>
                  </a:lnTo>
                  <a:lnTo>
                    <a:pt x="894" y="978"/>
                  </a:lnTo>
                  <a:lnTo>
                    <a:pt x="896" y="978"/>
                  </a:lnTo>
                  <a:lnTo>
                    <a:pt x="986" y="978"/>
                  </a:lnTo>
                  <a:lnTo>
                    <a:pt x="986" y="978"/>
                  </a:lnTo>
                  <a:lnTo>
                    <a:pt x="990" y="978"/>
                  </a:lnTo>
                  <a:lnTo>
                    <a:pt x="992" y="980"/>
                  </a:lnTo>
                  <a:lnTo>
                    <a:pt x="994" y="984"/>
                  </a:lnTo>
                  <a:lnTo>
                    <a:pt x="996" y="988"/>
                  </a:lnTo>
                  <a:lnTo>
                    <a:pt x="1000" y="1028"/>
                  </a:lnTo>
                  <a:lnTo>
                    <a:pt x="1000" y="1028"/>
                  </a:lnTo>
                  <a:lnTo>
                    <a:pt x="1000" y="1032"/>
                  </a:lnTo>
                  <a:lnTo>
                    <a:pt x="998" y="1034"/>
                  </a:lnTo>
                  <a:lnTo>
                    <a:pt x="996" y="1036"/>
                  </a:lnTo>
                  <a:lnTo>
                    <a:pt x="992" y="1038"/>
                  </a:lnTo>
                  <a:lnTo>
                    <a:pt x="992" y="1038"/>
                  </a:lnTo>
                  <a:close/>
                </a:path>
              </a:pathLst>
            </a:custGeom>
            <a:solidFill>
              <a:srgbClr val="007CB0"/>
            </a:solidFill>
            <a:ln>
              <a:noFill/>
            </a:ln>
          </p:spPr>
          <p:txBody>
            <a:bodyPr vert="horz" wrap="square" lIns="68750" tIns="34375" rIns="68750" bIns="34375" numCol="1" anchor="t" anchorCtr="0" compatLnSpc="1">
              <a:prstTxWarp prst="textNoShape">
                <a:avLst/>
              </a:prstTxWarp>
            </a:bodyP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1200" cap="none" spc="0" normalizeH="0" baseline="0" noProof="0">
                <a:ln>
                  <a:noFill/>
                </a:ln>
                <a:solidFill>
                  <a:srgbClr val="000000"/>
                </a:solidFill>
                <a:effectLst/>
                <a:uLnTx/>
                <a:uFillTx/>
                <a:latin typeface="Calibri" panose="020F0502020204030204"/>
                <a:ea typeface="+mn-ea"/>
                <a:cs typeface="Arial" pitchFamily="34" charset="0"/>
              </a:endParaRPr>
            </a:p>
          </p:txBody>
        </p:sp>
        <p:sp>
          <p:nvSpPr>
            <p:cNvPr id="17" name="Oval 16">
              <a:extLst>
                <a:ext uri="{FF2B5EF4-FFF2-40B4-BE49-F238E27FC236}">
                  <a16:creationId xmlns:a16="http://schemas.microsoft.com/office/drawing/2014/main" id="{1C6F750B-1B40-4BF9-8C9B-CD55975D2776}"/>
                </a:ext>
              </a:extLst>
            </p:cNvPr>
            <p:cNvSpPr/>
            <p:nvPr/>
          </p:nvSpPr>
          <p:spPr>
            <a:xfrm>
              <a:off x="7555659" y="4194550"/>
              <a:ext cx="591954" cy="605454"/>
            </a:xfrm>
            <a:prstGeom prst="ellipse">
              <a:avLst/>
            </a:prstGeom>
            <a:solidFill>
              <a:sysClr val="window" lastClr="FFFFFF"/>
            </a:solidFill>
            <a:ln w="9525" cap="flat" cmpd="sng" algn="ctr">
              <a:solidFill>
                <a:srgbClr val="007CB0"/>
              </a:solidFill>
              <a:prstDash val="solid"/>
            </a:ln>
            <a:effectLst>
              <a:outerShdw blurRad="40000" dist="23000" dir="5400000" rotWithShape="0">
                <a:srgbClr val="000000">
                  <a:alpha val="35000"/>
                </a:srgbClr>
              </a:outerShdw>
            </a:effectLst>
          </p:spPr>
          <p:txBody>
            <a:bodyPr rtlCol="0" anchor="ct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0" cap="none" spc="0" normalizeH="0" baseline="0" noProof="0">
                <a:ln>
                  <a:noFill/>
                </a:ln>
                <a:solidFill>
                  <a:srgbClr val="FFFFFF"/>
                </a:solidFill>
                <a:effectLst/>
                <a:uLnTx/>
                <a:uFillTx/>
                <a:latin typeface="Arial"/>
                <a:ea typeface="+mn-ea"/>
                <a:cs typeface="+mn-cs"/>
              </a:endParaRPr>
            </a:p>
          </p:txBody>
        </p:sp>
        <p:sp>
          <p:nvSpPr>
            <p:cNvPr id="18" name="Freeform 27">
              <a:extLst>
                <a:ext uri="{FF2B5EF4-FFF2-40B4-BE49-F238E27FC236}">
                  <a16:creationId xmlns:a16="http://schemas.microsoft.com/office/drawing/2014/main" id="{9303E847-E38F-492F-9BBC-3FB7A988AB9F}"/>
                </a:ext>
              </a:extLst>
            </p:cNvPr>
            <p:cNvSpPr>
              <a:spLocks noEditPoints="1"/>
            </p:cNvSpPr>
            <p:nvPr/>
          </p:nvSpPr>
          <p:spPr bwMode="auto">
            <a:xfrm>
              <a:off x="7682945" y="4304376"/>
              <a:ext cx="339911" cy="370316"/>
            </a:xfrm>
            <a:custGeom>
              <a:avLst/>
              <a:gdLst>
                <a:gd name="T0" fmla="*/ 1000 w 1116"/>
                <a:gd name="T1" fmla="*/ 2 h 1184"/>
                <a:gd name="T2" fmla="*/ 64 w 1116"/>
                <a:gd name="T3" fmla="*/ 724 h 1184"/>
                <a:gd name="T4" fmla="*/ 1060 w 1116"/>
                <a:gd name="T5" fmla="*/ 1184 h 1184"/>
                <a:gd name="T6" fmla="*/ 992 w 1116"/>
                <a:gd name="T7" fmla="*/ 948 h 1184"/>
                <a:gd name="T8" fmla="*/ 932 w 1116"/>
                <a:gd name="T9" fmla="*/ 910 h 1184"/>
                <a:gd name="T10" fmla="*/ 986 w 1116"/>
                <a:gd name="T11" fmla="*/ 910 h 1184"/>
                <a:gd name="T12" fmla="*/ 922 w 1116"/>
                <a:gd name="T13" fmla="*/ 874 h 1184"/>
                <a:gd name="T14" fmla="*/ 976 w 1116"/>
                <a:gd name="T15" fmla="*/ 826 h 1184"/>
                <a:gd name="T16" fmla="*/ 918 w 1116"/>
                <a:gd name="T17" fmla="*/ 952 h 1184"/>
                <a:gd name="T18" fmla="*/ 852 w 1116"/>
                <a:gd name="T19" fmla="*/ 906 h 1184"/>
                <a:gd name="T20" fmla="*/ 836 w 1116"/>
                <a:gd name="T21" fmla="*/ 830 h 1184"/>
                <a:gd name="T22" fmla="*/ 900 w 1116"/>
                <a:gd name="T23" fmla="*/ 870 h 1184"/>
                <a:gd name="T24" fmla="*/ 956 w 1116"/>
                <a:gd name="T25" fmla="*/ 76 h 1184"/>
                <a:gd name="T26" fmla="*/ 820 w 1116"/>
                <a:gd name="T27" fmla="*/ 870 h 1184"/>
                <a:gd name="T28" fmla="*/ 758 w 1116"/>
                <a:gd name="T29" fmla="*/ 830 h 1184"/>
                <a:gd name="T30" fmla="*/ 702 w 1116"/>
                <a:gd name="T31" fmla="*/ 900 h 1184"/>
                <a:gd name="T32" fmla="*/ 748 w 1116"/>
                <a:gd name="T33" fmla="*/ 958 h 1184"/>
                <a:gd name="T34" fmla="*/ 702 w 1116"/>
                <a:gd name="T35" fmla="*/ 900 h 1184"/>
                <a:gd name="T36" fmla="*/ 684 w 1116"/>
                <a:gd name="T37" fmla="*/ 822 h 1184"/>
                <a:gd name="T38" fmla="*/ 736 w 1116"/>
                <a:gd name="T39" fmla="*/ 880 h 1184"/>
                <a:gd name="T40" fmla="*/ 674 w 1116"/>
                <a:gd name="T41" fmla="*/ 952 h 1184"/>
                <a:gd name="T42" fmla="*/ 612 w 1116"/>
                <a:gd name="T43" fmla="*/ 906 h 1184"/>
                <a:gd name="T44" fmla="*/ 600 w 1116"/>
                <a:gd name="T45" fmla="*/ 830 h 1184"/>
                <a:gd name="T46" fmla="*/ 662 w 1116"/>
                <a:gd name="T47" fmla="*/ 870 h 1184"/>
                <a:gd name="T48" fmla="*/ 584 w 1116"/>
                <a:gd name="T49" fmla="*/ 900 h 1184"/>
                <a:gd name="T50" fmla="*/ 542 w 1116"/>
                <a:gd name="T51" fmla="*/ 958 h 1184"/>
                <a:gd name="T52" fmla="*/ 522 w 1116"/>
                <a:gd name="T53" fmla="*/ 870 h 1184"/>
                <a:gd name="T54" fmla="*/ 584 w 1116"/>
                <a:gd name="T55" fmla="*/ 830 h 1184"/>
                <a:gd name="T56" fmla="*/ 458 w 1116"/>
                <a:gd name="T57" fmla="*/ 900 h 1184"/>
                <a:gd name="T58" fmla="*/ 508 w 1116"/>
                <a:gd name="T59" fmla="*/ 958 h 1184"/>
                <a:gd name="T60" fmla="*/ 444 w 1116"/>
                <a:gd name="T61" fmla="*/ 826 h 1184"/>
                <a:gd name="T62" fmla="*/ 504 w 1116"/>
                <a:gd name="T63" fmla="*/ 874 h 1184"/>
                <a:gd name="T64" fmla="*/ 372 w 1116"/>
                <a:gd name="T65" fmla="*/ 910 h 1184"/>
                <a:gd name="T66" fmla="*/ 432 w 1116"/>
                <a:gd name="T67" fmla="*/ 948 h 1184"/>
                <a:gd name="T68" fmla="*/ 364 w 1116"/>
                <a:gd name="T69" fmla="*/ 870 h 1184"/>
                <a:gd name="T70" fmla="*/ 426 w 1116"/>
                <a:gd name="T71" fmla="*/ 830 h 1184"/>
                <a:gd name="T72" fmla="*/ 364 w 1116"/>
                <a:gd name="T73" fmla="*/ 870 h 1184"/>
                <a:gd name="T74" fmla="*/ 354 w 1116"/>
                <a:gd name="T75" fmla="*/ 906 h 1184"/>
                <a:gd name="T76" fmla="*/ 290 w 1116"/>
                <a:gd name="T77" fmla="*/ 952 h 1184"/>
                <a:gd name="T78" fmla="*/ 344 w 1116"/>
                <a:gd name="T79" fmla="*/ 822 h 1184"/>
                <a:gd name="T80" fmla="*/ 290 w 1116"/>
                <a:gd name="T81" fmla="*/ 880 h 1184"/>
                <a:gd name="T82" fmla="*/ 214 w 1116"/>
                <a:gd name="T83" fmla="*/ 880 h 1184"/>
                <a:gd name="T84" fmla="*/ 262 w 1116"/>
                <a:gd name="T85" fmla="*/ 820 h 1184"/>
                <a:gd name="T86" fmla="*/ 142 w 1116"/>
                <a:gd name="T87" fmla="*/ 820 h 1184"/>
                <a:gd name="T88" fmla="*/ 178 w 1116"/>
                <a:gd name="T89" fmla="*/ 880 h 1184"/>
                <a:gd name="T90" fmla="*/ 130 w 1116"/>
                <a:gd name="T91" fmla="*/ 900 h 1184"/>
                <a:gd name="T92" fmla="*/ 184 w 1116"/>
                <a:gd name="T93" fmla="*/ 958 h 1184"/>
                <a:gd name="T94" fmla="*/ 154 w 1116"/>
                <a:gd name="T95" fmla="*/ 1034 h 1184"/>
                <a:gd name="T96" fmla="*/ 116 w 1116"/>
                <a:gd name="T97" fmla="*/ 980 h 1184"/>
                <a:gd name="T98" fmla="*/ 248 w 1116"/>
                <a:gd name="T99" fmla="*/ 1032 h 1184"/>
                <a:gd name="T100" fmla="*/ 182 w 1116"/>
                <a:gd name="T101" fmla="*/ 984 h 1184"/>
                <a:gd name="T102" fmla="*/ 218 w 1116"/>
                <a:gd name="T103" fmla="*/ 958 h 1184"/>
                <a:gd name="T104" fmla="*/ 266 w 1116"/>
                <a:gd name="T105" fmla="*/ 900 h 1184"/>
                <a:gd name="T106" fmla="*/ 260 w 1116"/>
                <a:gd name="T107" fmla="*/ 958 h 1184"/>
                <a:gd name="T108" fmla="*/ 278 w 1116"/>
                <a:gd name="T109" fmla="*/ 978 h 1184"/>
                <a:gd name="T110" fmla="*/ 776 w 1116"/>
                <a:gd name="T111" fmla="*/ 1036 h 1184"/>
                <a:gd name="T112" fmla="*/ 828 w 1116"/>
                <a:gd name="T113" fmla="*/ 900 h 1184"/>
                <a:gd name="T114" fmla="*/ 780 w 1116"/>
                <a:gd name="T115" fmla="*/ 958 h 1184"/>
                <a:gd name="T116" fmla="*/ 798 w 1116"/>
                <a:gd name="T117" fmla="*/ 988 h 1184"/>
                <a:gd name="T118" fmla="*/ 874 w 1116"/>
                <a:gd name="T119" fmla="*/ 1028 h 1184"/>
                <a:gd name="T120" fmla="*/ 892 w 1116"/>
                <a:gd name="T121" fmla="*/ 1032 h 1184"/>
                <a:gd name="T122" fmla="*/ 994 w 1116"/>
                <a:gd name="T123" fmla="*/ 984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6" h="1184">
                  <a:moveTo>
                    <a:pt x="1116" y="1124"/>
                  </a:moveTo>
                  <a:lnTo>
                    <a:pt x="1046" y="724"/>
                  </a:lnTo>
                  <a:lnTo>
                    <a:pt x="1046" y="724"/>
                  </a:lnTo>
                  <a:lnTo>
                    <a:pt x="1046" y="62"/>
                  </a:lnTo>
                  <a:lnTo>
                    <a:pt x="1046" y="62"/>
                  </a:lnTo>
                  <a:lnTo>
                    <a:pt x="1044" y="50"/>
                  </a:lnTo>
                  <a:lnTo>
                    <a:pt x="1040" y="38"/>
                  </a:lnTo>
                  <a:lnTo>
                    <a:pt x="1036" y="28"/>
                  </a:lnTo>
                  <a:lnTo>
                    <a:pt x="1028" y="18"/>
                  </a:lnTo>
                  <a:lnTo>
                    <a:pt x="1020" y="12"/>
                  </a:lnTo>
                  <a:lnTo>
                    <a:pt x="1010" y="6"/>
                  </a:lnTo>
                  <a:lnTo>
                    <a:pt x="1000" y="2"/>
                  </a:lnTo>
                  <a:lnTo>
                    <a:pt x="988" y="0"/>
                  </a:lnTo>
                  <a:lnTo>
                    <a:pt x="124" y="0"/>
                  </a:lnTo>
                  <a:lnTo>
                    <a:pt x="124" y="0"/>
                  </a:lnTo>
                  <a:lnTo>
                    <a:pt x="112" y="2"/>
                  </a:lnTo>
                  <a:lnTo>
                    <a:pt x="100" y="6"/>
                  </a:lnTo>
                  <a:lnTo>
                    <a:pt x="90" y="12"/>
                  </a:lnTo>
                  <a:lnTo>
                    <a:pt x="82" y="18"/>
                  </a:lnTo>
                  <a:lnTo>
                    <a:pt x="74" y="28"/>
                  </a:lnTo>
                  <a:lnTo>
                    <a:pt x="70" y="38"/>
                  </a:lnTo>
                  <a:lnTo>
                    <a:pt x="66" y="50"/>
                  </a:lnTo>
                  <a:lnTo>
                    <a:pt x="64" y="62"/>
                  </a:lnTo>
                  <a:lnTo>
                    <a:pt x="64" y="724"/>
                  </a:lnTo>
                  <a:lnTo>
                    <a:pt x="64" y="724"/>
                  </a:lnTo>
                  <a:lnTo>
                    <a:pt x="2" y="1124"/>
                  </a:lnTo>
                  <a:lnTo>
                    <a:pt x="2" y="1124"/>
                  </a:lnTo>
                  <a:lnTo>
                    <a:pt x="0" y="1136"/>
                  </a:lnTo>
                  <a:lnTo>
                    <a:pt x="2" y="1148"/>
                  </a:lnTo>
                  <a:lnTo>
                    <a:pt x="8" y="1158"/>
                  </a:lnTo>
                  <a:lnTo>
                    <a:pt x="14" y="1166"/>
                  </a:lnTo>
                  <a:lnTo>
                    <a:pt x="22" y="1174"/>
                  </a:lnTo>
                  <a:lnTo>
                    <a:pt x="34" y="1180"/>
                  </a:lnTo>
                  <a:lnTo>
                    <a:pt x="44" y="1184"/>
                  </a:lnTo>
                  <a:lnTo>
                    <a:pt x="58" y="1184"/>
                  </a:lnTo>
                  <a:lnTo>
                    <a:pt x="1060" y="1184"/>
                  </a:lnTo>
                  <a:lnTo>
                    <a:pt x="1060" y="1184"/>
                  </a:lnTo>
                  <a:lnTo>
                    <a:pt x="1074" y="1184"/>
                  </a:lnTo>
                  <a:lnTo>
                    <a:pt x="1086" y="1180"/>
                  </a:lnTo>
                  <a:lnTo>
                    <a:pt x="1096" y="1174"/>
                  </a:lnTo>
                  <a:lnTo>
                    <a:pt x="1104" y="1166"/>
                  </a:lnTo>
                  <a:lnTo>
                    <a:pt x="1110" y="1158"/>
                  </a:lnTo>
                  <a:lnTo>
                    <a:pt x="1114" y="1148"/>
                  </a:lnTo>
                  <a:lnTo>
                    <a:pt x="1116" y="1136"/>
                  </a:lnTo>
                  <a:lnTo>
                    <a:pt x="1116" y="1124"/>
                  </a:lnTo>
                  <a:lnTo>
                    <a:pt x="1116" y="1124"/>
                  </a:lnTo>
                  <a:close/>
                  <a:moveTo>
                    <a:pt x="986" y="910"/>
                  </a:moveTo>
                  <a:lnTo>
                    <a:pt x="992" y="948"/>
                  </a:lnTo>
                  <a:lnTo>
                    <a:pt x="992" y="948"/>
                  </a:lnTo>
                  <a:lnTo>
                    <a:pt x="992" y="952"/>
                  </a:lnTo>
                  <a:lnTo>
                    <a:pt x="990" y="956"/>
                  </a:lnTo>
                  <a:lnTo>
                    <a:pt x="986" y="958"/>
                  </a:lnTo>
                  <a:lnTo>
                    <a:pt x="982" y="958"/>
                  </a:lnTo>
                  <a:lnTo>
                    <a:pt x="946" y="958"/>
                  </a:lnTo>
                  <a:lnTo>
                    <a:pt x="946" y="958"/>
                  </a:lnTo>
                  <a:lnTo>
                    <a:pt x="942" y="958"/>
                  </a:lnTo>
                  <a:lnTo>
                    <a:pt x="938" y="956"/>
                  </a:lnTo>
                  <a:lnTo>
                    <a:pt x="936" y="952"/>
                  </a:lnTo>
                  <a:lnTo>
                    <a:pt x="936" y="948"/>
                  </a:lnTo>
                  <a:lnTo>
                    <a:pt x="932" y="910"/>
                  </a:lnTo>
                  <a:lnTo>
                    <a:pt x="932" y="910"/>
                  </a:lnTo>
                  <a:lnTo>
                    <a:pt x="932" y="906"/>
                  </a:lnTo>
                  <a:lnTo>
                    <a:pt x="934" y="902"/>
                  </a:lnTo>
                  <a:lnTo>
                    <a:pt x="936" y="900"/>
                  </a:lnTo>
                  <a:lnTo>
                    <a:pt x="940" y="900"/>
                  </a:lnTo>
                  <a:lnTo>
                    <a:pt x="976" y="900"/>
                  </a:lnTo>
                  <a:lnTo>
                    <a:pt x="976" y="900"/>
                  </a:lnTo>
                  <a:lnTo>
                    <a:pt x="980" y="900"/>
                  </a:lnTo>
                  <a:lnTo>
                    <a:pt x="984" y="902"/>
                  </a:lnTo>
                  <a:lnTo>
                    <a:pt x="986" y="906"/>
                  </a:lnTo>
                  <a:lnTo>
                    <a:pt x="986" y="910"/>
                  </a:lnTo>
                  <a:lnTo>
                    <a:pt x="986" y="910"/>
                  </a:lnTo>
                  <a:close/>
                  <a:moveTo>
                    <a:pt x="978" y="830"/>
                  </a:moveTo>
                  <a:lnTo>
                    <a:pt x="982" y="870"/>
                  </a:lnTo>
                  <a:lnTo>
                    <a:pt x="982" y="870"/>
                  </a:lnTo>
                  <a:lnTo>
                    <a:pt x="982" y="874"/>
                  </a:lnTo>
                  <a:lnTo>
                    <a:pt x="980" y="878"/>
                  </a:lnTo>
                  <a:lnTo>
                    <a:pt x="978" y="880"/>
                  </a:lnTo>
                  <a:lnTo>
                    <a:pt x="974" y="880"/>
                  </a:lnTo>
                  <a:lnTo>
                    <a:pt x="932" y="880"/>
                  </a:lnTo>
                  <a:lnTo>
                    <a:pt x="932" y="880"/>
                  </a:lnTo>
                  <a:lnTo>
                    <a:pt x="928" y="880"/>
                  </a:lnTo>
                  <a:lnTo>
                    <a:pt x="924" y="878"/>
                  </a:lnTo>
                  <a:lnTo>
                    <a:pt x="922" y="874"/>
                  </a:lnTo>
                  <a:lnTo>
                    <a:pt x="920" y="870"/>
                  </a:lnTo>
                  <a:lnTo>
                    <a:pt x="916" y="830"/>
                  </a:lnTo>
                  <a:lnTo>
                    <a:pt x="916" y="830"/>
                  </a:lnTo>
                  <a:lnTo>
                    <a:pt x="918" y="826"/>
                  </a:lnTo>
                  <a:lnTo>
                    <a:pt x="918" y="824"/>
                  </a:lnTo>
                  <a:lnTo>
                    <a:pt x="922" y="822"/>
                  </a:lnTo>
                  <a:lnTo>
                    <a:pt x="926" y="820"/>
                  </a:lnTo>
                  <a:lnTo>
                    <a:pt x="968" y="820"/>
                  </a:lnTo>
                  <a:lnTo>
                    <a:pt x="968" y="820"/>
                  </a:lnTo>
                  <a:lnTo>
                    <a:pt x="970" y="822"/>
                  </a:lnTo>
                  <a:lnTo>
                    <a:pt x="974" y="824"/>
                  </a:lnTo>
                  <a:lnTo>
                    <a:pt x="976" y="826"/>
                  </a:lnTo>
                  <a:lnTo>
                    <a:pt x="978" y="830"/>
                  </a:lnTo>
                  <a:lnTo>
                    <a:pt x="978" y="830"/>
                  </a:lnTo>
                  <a:close/>
                  <a:moveTo>
                    <a:pt x="860" y="900"/>
                  </a:moveTo>
                  <a:lnTo>
                    <a:pt x="904" y="900"/>
                  </a:lnTo>
                  <a:lnTo>
                    <a:pt x="904" y="900"/>
                  </a:lnTo>
                  <a:lnTo>
                    <a:pt x="908" y="900"/>
                  </a:lnTo>
                  <a:lnTo>
                    <a:pt x="910" y="902"/>
                  </a:lnTo>
                  <a:lnTo>
                    <a:pt x="912" y="906"/>
                  </a:lnTo>
                  <a:lnTo>
                    <a:pt x="914" y="910"/>
                  </a:lnTo>
                  <a:lnTo>
                    <a:pt x="918" y="948"/>
                  </a:lnTo>
                  <a:lnTo>
                    <a:pt x="918" y="948"/>
                  </a:lnTo>
                  <a:lnTo>
                    <a:pt x="918" y="952"/>
                  </a:lnTo>
                  <a:lnTo>
                    <a:pt x="916" y="956"/>
                  </a:lnTo>
                  <a:lnTo>
                    <a:pt x="914" y="958"/>
                  </a:lnTo>
                  <a:lnTo>
                    <a:pt x="910" y="958"/>
                  </a:lnTo>
                  <a:lnTo>
                    <a:pt x="866" y="958"/>
                  </a:lnTo>
                  <a:lnTo>
                    <a:pt x="866" y="958"/>
                  </a:lnTo>
                  <a:lnTo>
                    <a:pt x="862" y="958"/>
                  </a:lnTo>
                  <a:lnTo>
                    <a:pt x="858" y="956"/>
                  </a:lnTo>
                  <a:lnTo>
                    <a:pt x="856" y="952"/>
                  </a:lnTo>
                  <a:lnTo>
                    <a:pt x="856" y="948"/>
                  </a:lnTo>
                  <a:lnTo>
                    <a:pt x="852" y="910"/>
                  </a:lnTo>
                  <a:lnTo>
                    <a:pt x="852" y="910"/>
                  </a:lnTo>
                  <a:lnTo>
                    <a:pt x="852" y="906"/>
                  </a:lnTo>
                  <a:lnTo>
                    <a:pt x="854" y="902"/>
                  </a:lnTo>
                  <a:lnTo>
                    <a:pt x="856" y="900"/>
                  </a:lnTo>
                  <a:lnTo>
                    <a:pt x="860" y="900"/>
                  </a:lnTo>
                  <a:lnTo>
                    <a:pt x="860" y="900"/>
                  </a:lnTo>
                  <a:close/>
                  <a:moveTo>
                    <a:pt x="848" y="880"/>
                  </a:moveTo>
                  <a:lnTo>
                    <a:pt x="848" y="880"/>
                  </a:lnTo>
                  <a:lnTo>
                    <a:pt x="846" y="880"/>
                  </a:lnTo>
                  <a:lnTo>
                    <a:pt x="842" y="878"/>
                  </a:lnTo>
                  <a:lnTo>
                    <a:pt x="840" y="874"/>
                  </a:lnTo>
                  <a:lnTo>
                    <a:pt x="838" y="870"/>
                  </a:lnTo>
                  <a:lnTo>
                    <a:pt x="836" y="830"/>
                  </a:lnTo>
                  <a:lnTo>
                    <a:pt x="836" y="830"/>
                  </a:lnTo>
                  <a:lnTo>
                    <a:pt x="836" y="826"/>
                  </a:lnTo>
                  <a:lnTo>
                    <a:pt x="838" y="824"/>
                  </a:lnTo>
                  <a:lnTo>
                    <a:pt x="840" y="822"/>
                  </a:lnTo>
                  <a:lnTo>
                    <a:pt x="844" y="820"/>
                  </a:lnTo>
                  <a:lnTo>
                    <a:pt x="886" y="820"/>
                  </a:lnTo>
                  <a:lnTo>
                    <a:pt x="886" y="820"/>
                  </a:lnTo>
                  <a:lnTo>
                    <a:pt x="890" y="822"/>
                  </a:lnTo>
                  <a:lnTo>
                    <a:pt x="892" y="824"/>
                  </a:lnTo>
                  <a:lnTo>
                    <a:pt x="896" y="826"/>
                  </a:lnTo>
                  <a:lnTo>
                    <a:pt x="896" y="830"/>
                  </a:lnTo>
                  <a:lnTo>
                    <a:pt x="900" y="870"/>
                  </a:lnTo>
                  <a:lnTo>
                    <a:pt x="900" y="870"/>
                  </a:lnTo>
                  <a:lnTo>
                    <a:pt x="900" y="874"/>
                  </a:lnTo>
                  <a:lnTo>
                    <a:pt x="898" y="878"/>
                  </a:lnTo>
                  <a:lnTo>
                    <a:pt x="896" y="880"/>
                  </a:lnTo>
                  <a:lnTo>
                    <a:pt x="892" y="880"/>
                  </a:lnTo>
                  <a:lnTo>
                    <a:pt x="848" y="880"/>
                  </a:lnTo>
                  <a:close/>
                  <a:moveTo>
                    <a:pt x="148" y="80"/>
                  </a:moveTo>
                  <a:lnTo>
                    <a:pt x="148" y="80"/>
                  </a:lnTo>
                  <a:lnTo>
                    <a:pt x="150" y="76"/>
                  </a:lnTo>
                  <a:lnTo>
                    <a:pt x="156" y="72"/>
                  </a:lnTo>
                  <a:lnTo>
                    <a:pt x="950" y="72"/>
                  </a:lnTo>
                  <a:lnTo>
                    <a:pt x="950" y="72"/>
                  </a:lnTo>
                  <a:lnTo>
                    <a:pt x="956" y="76"/>
                  </a:lnTo>
                  <a:lnTo>
                    <a:pt x="958" y="80"/>
                  </a:lnTo>
                  <a:lnTo>
                    <a:pt x="958" y="644"/>
                  </a:lnTo>
                  <a:lnTo>
                    <a:pt x="958" y="644"/>
                  </a:lnTo>
                  <a:lnTo>
                    <a:pt x="956" y="650"/>
                  </a:lnTo>
                  <a:lnTo>
                    <a:pt x="950" y="652"/>
                  </a:lnTo>
                  <a:lnTo>
                    <a:pt x="156" y="652"/>
                  </a:lnTo>
                  <a:lnTo>
                    <a:pt x="156" y="652"/>
                  </a:lnTo>
                  <a:lnTo>
                    <a:pt x="150" y="650"/>
                  </a:lnTo>
                  <a:lnTo>
                    <a:pt x="148" y="644"/>
                  </a:lnTo>
                  <a:lnTo>
                    <a:pt x="148" y="80"/>
                  </a:lnTo>
                  <a:close/>
                  <a:moveTo>
                    <a:pt x="820" y="870"/>
                  </a:moveTo>
                  <a:lnTo>
                    <a:pt x="820" y="870"/>
                  </a:lnTo>
                  <a:lnTo>
                    <a:pt x="820" y="874"/>
                  </a:lnTo>
                  <a:lnTo>
                    <a:pt x="818" y="878"/>
                  </a:lnTo>
                  <a:lnTo>
                    <a:pt x="816" y="880"/>
                  </a:lnTo>
                  <a:lnTo>
                    <a:pt x="812" y="880"/>
                  </a:lnTo>
                  <a:lnTo>
                    <a:pt x="770" y="880"/>
                  </a:lnTo>
                  <a:lnTo>
                    <a:pt x="770" y="880"/>
                  </a:lnTo>
                  <a:lnTo>
                    <a:pt x="766" y="880"/>
                  </a:lnTo>
                  <a:lnTo>
                    <a:pt x="762" y="878"/>
                  </a:lnTo>
                  <a:lnTo>
                    <a:pt x="760" y="874"/>
                  </a:lnTo>
                  <a:lnTo>
                    <a:pt x="760" y="870"/>
                  </a:lnTo>
                  <a:lnTo>
                    <a:pt x="758" y="830"/>
                  </a:lnTo>
                  <a:lnTo>
                    <a:pt x="758" y="830"/>
                  </a:lnTo>
                  <a:lnTo>
                    <a:pt x="758" y="826"/>
                  </a:lnTo>
                  <a:lnTo>
                    <a:pt x="760" y="824"/>
                  </a:lnTo>
                  <a:lnTo>
                    <a:pt x="762" y="822"/>
                  </a:lnTo>
                  <a:lnTo>
                    <a:pt x="766" y="820"/>
                  </a:lnTo>
                  <a:lnTo>
                    <a:pt x="808" y="820"/>
                  </a:lnTo>
                  <a:lnTo>
                    <a:pt x="808" y="820"/>
                  </a:lnTo>
                  <a:lnTo>
                    <a:pt x="812" y="822"/>
                  </a:lnTo>
                  <a:lnTo>
                    <a:pt x="814" y="824"/>
                  </a:lnTo>
                  <a:lnTo>
                    <a:pt x="818" y="826"/>
                  </a:lnTo>
                  <a:lnTo>
                    <a:pt x="818" y="830"/>
                  </a:lnTo>
                  <a:lnTo>
                    <a:pt x="820" y="870"/>
                  </a:lnTo>
                  <a:close/>
                  <a:moveTo>
                    <a:pt x="702" y="900"/>
                  </a:moveTo>
                  <a:lnTo>
                    <a:pt x="744" y="900"/>
                  </a:lnTo>
                  <a:lnTo>
                    <a:pt x="744" y="900"/>
                  </a:lnTo>
                  <a:lnTo>
                    <a:pt x="748" y="900"/>
                  </a:lnTo>
                  <a:lnTo>
                    <a:pt x="750" y="902"/>
                  </a:lnTo>
                  <a:lnTo>
                    <a:pt x="754" y="906"/>
                  </a:lnTo>
                  <a:lnTo>
                    <a:pt x="754" y="910"/>
                  </a:lnTo>
                  <a:lnTo>
                    <a:pt x="756" y="948"/>
                  </a:lnTo>
                  <a:lnTo>
                    <a:pt x="756" y="948"/>
                  </a:lnTo>
                  <a:lnTo>
                    <a:pt x="756" y="952"/>
                  </a:lnTo>
                  <a:lnTo>
                    <a:pt x="754" y="956"/>
                  </a:lnTo>
                  <a:lnTo>
                    <a:pt x="750" y="958"/>
                  </a:lnTo>
                  <a:lnTo>
                    <a:pt x="748" y="958"/>
                  </a:lnTo>
                  <a:lnTo>
                    <a:pt x="704" y="958"/>
                  </a:lnTo>
                  <a:lnTo>
                    <a:pt x="704" y="958"/>
                  </a:lnTo>
                  <a:lnTo>
                    <a:pt x="700" y="958"/>
                  </a:lnTo>
                  <a:lnTo>
                    <a:pt x="696" y="956"/>
                  </a:lnTo>
                  <a:lnTo>
                    <a:pt x="694" y="952"/>
                  </a:lnTo>
                  <a:lnTo>
                    <a:pt x="694" y="948"/>
                  </a:lnTo>
                  <a:lnTo>
                    <a:pt x="692" y="910"/>
                  </a:lnTo>
                  <a:lnTo>
                    <a:pt x="692" y="910"/>
                  </a:lnTo>
                  <a:lnTo>
                    <a:pt x="692" y="906"/>
                  </a:lnTo>
                  <a:lnTo>
                    <a:pt x="694" y="902"/>
                  </a:lnTo>
                  <a:lnTo>
                    <a:pt x="698" y="900"/>
                  </a:lnTo>
                  <a:lnTo>
                    <a:pt x="702" y="900"/>
                  </a:lnTo>
                  <a:lnTo>
                    <a:pt x="702" y="900"/>
                  </a:lnTo>
                  <a:close/>
                  <a:moveTo>
                    <a:pt x="690" y="880"/>
                  </a:moveTo>
                  <a:lnTo>
                    <a:pt x="690" y="880"/>
                  </a:lnTo>
                  <a:lnTo>
                    <a:pt x="686" y="880"/>
                  </a:lnTo>
                  <a:lnTo>
                    <a:pt x="684" y="878"/>
                  </a:lnTo>
                  <a:lnTo>
                    <a:pt x="682" y="874"/>
                  </a:lnTo>
                  <a:lnTo>
                    <a:pt x="680" y="870"/>
                  </a:lnTo>
                  <a:lnTo>
                    <a:pt x="678" y="830"/>
                  </a:lnTo>
                  <a:lnTo>
                    <a:pt x="678" y="830"/>
                  </a:lnTo>
                  <a:lnTo>
                    <a:pt x="680" y="826"/>
                  </a:lnTo>
                  <a:lnTo>
                    <a:pt x="682" y="824"/>
                  </a:lnTo>
                  <a:lnTo>
                    <a:pt x="684" y="822"/>
                  </a:lnTo>
                  <a:lnTo>
                    <a:pt x="688" y="820"/>
                  </a:lnTo>
                  <a:lnTo>
                    <a:pt x="730" y="820"/>
                  </a:lnTo>
                  <a:lnTo>
                    <a:pt x="730" y="820"/>
                  </a:lnTo>
                  <a:lnTo>
                    <a:pt x="734" y="822"/>
                  </a:lnTo>
                  <a:lnTo>
                    <a:pt x="736" y="824"/>
                  </a:lnTo>
                  <a:lnTo>
                    <a:pt x="738" y="826"/>
                  </a:lnTo>
                  <a:lnTo>
                    <a:pt x="740" y="830"/>
                  </a:lnTo>
                  <a:lnTo>
                    <a:pt x="742" y="870"/>
                  </a:lnTo>
                  <a:lnTo>
                    <a:pt x="742" y="870"/>
                  </a:lnTo>
                  <a:lnTo>
                    <a:pt x="742" y="874"/>
                  </a:lnTo>
                  <a:lnTo>
                    <a:pt x="740" y="878"/>
                  </a:lnTo>
                  <a:lnTo>
                    <a:pt x="736" y="880"/>
                  </a:lnTo>
                  <a:lnTo>
                    <a:pt x="732" y="880"/>
                  </a:lnTo>
                  <a:lnTo>
                    <a:pt x="690" y="880"/>
                  </a:lnTo>
                  <a:close/>
                  <a:moveTo>
                    <a:pt x="622" y="900"/>
                  </a:moveTo>
                  <a:lnTo>
                    <a:pt x="664" y="900"/>
                  </a:lnTo>
                  <a:lnTo>
                    <a:pt x="664" y="900"/>
                  </a:lnTo>
                  <a:lnTo>
                    <a:pt x="668" y="900"/>
                  </a:lnTo>
                  <a:lnTo>
                    <a:pt x="672" y="902"/>
                  </a:lnTo>
                  <a:lnTo>
                    <a:pt x="674" y="906"/>
                  </a:lnTo>
                  <a:lnTo>
                    <a:pt x="674" y="910"/>
                  </a:lnTo>
                  <a:lnTo>
                    <a:pt x="676" y="948"/>
                  </a:lnTo>
                  <a:lnTo>
                    <a:pt x="676" y="948"/>
                  </a:lnTo>
                  <a:lnTo>
                    <a:pt x="674" y="952"/>
                  </a:lnTo>
                  <a:lnTo>
                    <a:pt x="672" y="956"/>
                  </a:lnTo>
                  <a:lnTo>
                    <a:pt x="670" y="958"/>
                  </a:lnTo>
                  <a:lnTo>
                    <a:pt x="666" y="958"/>
                  </a:lnTo>
                  <a:lnTo>
                    <a:pt x="622" y="958"/>
                  </a:lnTo>
                  <a:lnTo>
                    <a:pt x="622" y="958"/>
                  </a:lnTo>
                  <a:lnTo>
                    <a:pt x="618" y="958"/>
                  </a:lnTo>
                  <a:lnTo>
                    <a:pt x="616" y="956"/>
                  </a:lnTo>
                  <a:lnTo>
                    <a:pt x="614" y="952"/>
                  </a:lnTo>
                  <a:lnTo>
                    <a:pt x="612" y="948"/>
                  </a:lnTo>
                  <a:lnTo>
                    <a:pt x="612" y="910"/>
                  </a:lnTo>
                  <a:lnTo>
                    <a:pt x="612" y="910"/>
                  </a:lnTo>
                  <a:lnTo>
                    <a:pt x="612" y="906"/>
                  </a:lnTo>
                  <a:lnTo>
                    <a:pt x="614" y="902"/>
                  </a:lnTo>
                  <a:lnTo>
                    <a:pt x="618" y="900"/>
                  </a:lnTo>
                  <a:lnTo>
                    <a:pt x="622" y="900"/>
                  </a:lnTo>
                  <a:lnTo>
                    <a:pt x="622" y="900"/>
                  </a:lnTo>
                  <a:close/>
                  <a:moveTo>
                    <a:pt x="610" y="880"/>
                  </a:moveTo>
                  <a:lnTo>
                    <a:pt x="610" y="880"/>
                  </a:lnTo>
                  <a:lnTo>
                    <a:pt x="608" y="880"/>
                  </a:lnTo>
                  <a:lnTo>
                    <a:pt x="604" y="878"/>
                  </a:lnTo>
                  <a:lnTo>
                    <a:pt x="602" y="874"/>
                  </a:lnTo>
                  <a:lnTo>
                    <a:pt x="602" y="870"/>
                  </a:lnTo>
                  <a:lnTo>
                    <a:pt x="600" y="830"/>
                  </a:lnTo>
                  <a:lnTo>
                    <a:pt x="600" y="830"/>
                  </a:lnTo>
                  <a:lnTo>
                    <a:pt x="602" y="826"/>
                  </a:lnTo>
                  <a:lnTo>
                    <a:pt x="604" y="824"/>
                  </a:lnTo>
                  <a:lnTo>
                    <a:pt x="606" y="822"/>
                  </a:lnTo>
                  <a:lnTo>
                    <a:pt x="610" y="820"/>
                  </a:lnTo>
                  <a:lnTo>
                    <a:pt x="652" y="820"/>
                  </a:lnTo>
                  <a:lnTo>
                    <a:pt x="652" y="820"/>
                  </a:lnTo>
                  <a:lnTo>
                    <a:pt x="656" y="822"/>
                  </a:lnTo>
                  <a:lnTo>
                    <a:pt x="658" y="824"/>
                  </a:lnTo>
                  <a:lnTo>
                    <a:pt x="660" y="826"/>
                  </a:lnTo>
                  <a:lnTo>
                    <a:pt x="662" y="830"/>
                  </a:lnTo>
                  <a:lnTo>
                    <a:pt x="662" y="870"/>
                  </a:lnTo>
                  <a:lnTo>
                    <a:pt x="662" y="870"/>
                  </a:lnTo>
                  <a:lnTo>
                    <a:pt x="662" y="874"/>
                  </a:lnTo>
                  <a:lnTo>
                    <a:pt x="660" y="878"/>
                  </a:lnTo>
                  <a:lnTo>
                    <a:pt x="658" y="880"/>
                  </a:lnTo>
                  <a:lnTo>
                    <a:pt x="654" y="880"/>
                  </a:lnTo>
                  <a:lnTo>
                    <a:pt x="610" y="880"/>
                  </a:lnTo>
                  <a:close/>
                  <a:moveTo>
                    <a:pt x="532" y="910"/>
                  </a:moveTo>
                  <a:lnTo>
                    <a:pt x="532" y="910"/>
                  </a:lnTo>
                  <a:lnTo>
                    <a:pt x="532" y="906"/>
                  </a:lnTo>
                  <a:lnTo>
                    <a:pt x="534" y="902"/>
                  </a:lnTo>
                  <a:lnTo>
                    <a:pt x="538" y="900"/>
                  </a:lnTo>
                  <a:lnTo>
                    <a:pt x="542" y="900"/>
                  </a:lnTo>
                  <a:lnTo>
                    <a:pt x="584" y="900"/>
                  </a:lnTo>
                  <a:lnTo>
                    <a:pt x="584" y="900"/>
                  </a:lnTo>
                  <a:lnTo>
                    <a:pt x="588" y="900"/>
                  </a:lnTo>
                  <a:lnTo>
                    <a:pt x="592" y="902"/>
                  </a:lnTo>
                  <a:lnTo>
                    <a:pt x="594" y="906"/>
                  </a:lnTo>
                  <a:lnTo>
                    <a:pt x="594" y="910"/>
                  </a:lnTo>
                  <a:lnTo>
                    <a:pt x="594" y="948"/>
                  </a:lnTo>
                  <a:lnTo>
                    <a:pt x="594" y="948"/>
                  </a:lnTo>
                  <a:lnTo>
                    <a:pt x="594" y="952"/>
                  </a:lnTo>
                  <a:lnTo>
                    <a:pt x="592" y="956"/>
                  </a:lnTo>
                  <a:lnTo>
                    <a:pt x="588" y="958"/>
                  </a:lnTo>
                  <a:lnTo>
                    <a:pt x="584" y="958"/>
                  </a:lnTo>
                  <a:lnTo>
                    <a:pt x="542" y="958"/>
                  </a:lnTo>
                  <a:lnTo>
                    <a:pt x="542" y="958"/>
                  </a:lnTo>
                  <a:lnTo>
                    <a:pt x="538" y="958"/>
                  </a:lnTo>
                  <a:lnTo>
                    <a:pt x="534" y="956"/>
                  </a:lnTo>
                  <a:lnTo>
                    <a:pt x="532" y="952"/>
                  </a:lnTo>
                  <a:lnTo>
                    <a:pt x="532" y="948"/>
                  </a:lnTo>
                  <a:lnTo>
                    <a:pt x="532" y="910"/>
                  </a:lnTo>
                  <a:close/>
                  <a:moveTo>
                    <a:pt x="532" y="880"/>
                  </a:moveTo>
                  <a:lnTo>
                    <a:pt x="532" y="880"/>
                  </a:lnTo>
                  <a:lnTo>
                    <a:pt x="528" y="880"/>
                  </a:lnTo>
                  <a:lnTo>
                    <a:pt x="524" y="878"/>
                  </a:lnTo>
                  <a:lnTo>
                    <a:pt x="522" y="874"/>
                  </a:lnTo>
                  <a:lnTo>
                    <a:pt x="522" y="870"/>
                  </a:lnTo>
                  <a:lnTo>
                    <a:pt x="522" y="830"/>
                  </a:lnTo>
                  <a:lnTo>
                    <a:pt x="522" y="830"/>
                  </a:lnTo>
                  <a:lnTo>
                    <a:pt x="524" y="826"/>
                  </a:lnTo>
                  <a:lnTo>
                    <a:pt x="526" y="824"/>
                  </a:lnTo>
                  <a:lnTo>
                    <a:pt x="528" y="822"/>
                  </a:lnTo>
                  <a:lnTo>
                    <a:pt x="532" y="820"/>
                  </a:lnTo>
                  <a:lnTo>
                    <a:pt x="574" y="820"/>
                  </a:lnTo>
                  <a:lnTo>
                    <a:pt x="574" y="820"/>
                  </a:lnTo>
                  <a:lnTo>
                    <a:pt x="578" y="822"/>
                  </a:lnTo>
                  <a:lnTo>
                    <a:pt x="580" y="824"/>
                  </a:lnTo>
                  <a:lnTo>
                    <a:pt x="582" y="826"/>
                  </a:lnTo>
                  <a:lnTo>
                    <a:pt x="584" y="830"/>
                  </a:lnTo>
                  <a:lnTo>
                    <a:pt x="584" y="870"/>
                  </a:lnTo>
                  <a:lnTo>
                    <a:pt x="584" y="870"/>
                  </a:lnTo>
                  <a:lnTo>
                    <a:pt x="582" y="874"/>
                  </a:lnTo>
                  <a:lnTo>
                    <a:pt x="580" y="878"/>
                  </a:lnTo>
                  <a:lnTo>
                    <a:pt x="578" y="880"/>
                  </a:lnTo>
                  <a:lnTo>
                    <a:pt x="574" y="880"/>
                  </a:lnTo>
                  <a:lnTo>
                    <a:pt x="532" y="880"/>
                  </a:lnTo>
                  <a:close/>
                  <a:moveTo>
                    <a:pt x="452" y="910"/>
                  </a:moveTo>
                  <a:lnTo>
                    <a:pt x="452" y="910"/>
                  </a:lnTo>
                  <a:lnTo>
                    <a:pt x="452" y="906"/>
                  </a:lnTo>
                  <a:lnTo>
                    <a:pt x="454" y="902"/>
                  </a:lnTo>
                  <a:lnTo>
                    <a:pt x="458" y="900"/>
                  </a:lnTo>
                  <a:lnTo>
                    <a:pt x="462" y="900"/>
                  </a:lnTo>
                  <a:lnTo>
                    <a:pt x="504" y="900"/>
                  </a:lnTo>
                  <a:lnTo>
                    <a:pt x="504" y="900"/>
                  </a:lnTo>
                  <a:lnTo>
                    <a:pt x="508" y="900"/>
                  </a:lnTo>
                  <a:lnTo>
                    <a:pt x="512" y="902"/>
                  </a:lnTo>
                  <a:lnTo>
                    <a:pt x="514" y="906"/>
                  </a:lnTo>
                  <a:lnTo>
                    <a:pt x="514" y="910"/>
                  </a:lnTo>
                  <a:lnTo>
                    <a:pt x="514" y="948"/>
                  </a:lnTo>
                  <a:lnTo>
                    <a:pt x="514" y="948"/>
                  </a:lnTo>
                  <a:lnTo>
                    <a:pt x="512" y="952"/>
                  </a:lnTo>
                  <a:lnTo>
                    <a:pt x="510" y="956"/>
                  </a:lnTo>
                  <a:lnTo>
                    <a:pt x="508" y="958"/>
                  </a:lnTo>
                  <a:lnTo>
                    <a:pt x="504" y="958"/>
                  </a:lnTo>
                  <a:lnTo>
                    <a:pt x="460" y="958"/>
                  </a:lnTo>
                  <a:lnTo>
                    <a:pt x="460" y="958"/>
                  </a:lnTo>
                  <a:lnTo>
                    <a:pt x="456" y="958"/>
                  </a:lnTo>
                  <a:lnTo>
                    <a:pt x="454" y="956"/>
                  </a:lnTo>
                  <a:lnTo>
                    <a:pt x="452" y="952"/>
                  </a:lnTo>
                  <a:lnTo>
                    <a:pt x="450" y="948"/>
                  </a:lnTo>
                  <a:lnTo>
                    <a:pt x="452" y="910"/>
                  </a:lnTo>
                  <a:close/>
                  <a:moveTo>
                    <a:pt x="442" y="870"/>
                  </a:moveTo>
                  <a:lnTo>
                    <a:pt x="444" y="830"/>
                  </a:lnTo>
                  <a:lnTo>
                    <a:pt x="444" y="830"/>
                  </a:lnTo>
                  <a:lnTo>
                    <a:pt x="444" y="826"/>
                  </a:lnTo>
                  <a:lnTo>
                    <a:pt x="446" y="824"/>
                  </a:lnTo>
                  <a:lnTo>
                    <a:pt x="450" y="822"/>
                  </a:lnTo>
                  <a:lnTo>
                    <a:pt x="454" y="820"/>
                  </a:lnTo>
                  <a:lnTo>
                    <a:pt x="496" y="820"/>
                  </a:lnTo>
                  <a:lnTo>
                    <a:pt x="496" y="820"/>
                  </a:lnTo>
                  <a:lnTo>
                    <a:pt x="500" y="822"/>
                  </a:lnTo>
                  <a:lnTo>
                    <a:pt x="502" y="824"/>
                  </a:lnTo>
                  <a:lnTo>
                    <a:pt x="504" y="826"/>
                  </a:lnTo>
                  <a:lnTo>
                    <a:pt x="504" y="830"/>
                  </a:lnTo>
                  <a:lnTo>
                    <a:pt x="504" y="870"/>
                  </a:lnTo>
                  <a:lnTo>
                    <a:pt x="504" y="870"/>
                  </a:lnTo>
                  <a:lnTo>
                    <a:pt x="504" y="874"/>
                  </a:lnTo>
                  <a:lnTo>
                    <a:pt x="502" y="878"/>
                  </a:lnTo>
                  <a:lnTo>
                    <a:pt x="498" y="880"/>
                  </a:lnTo>
                  <a:lnTo>
                    <a:pt x="494" y="880"/>
                  </a:lnTo>
                  <a:lnTo>
                    <a:pt x="452" y="880"/>
                  </a:lnTo>
                  <a:lnTo>
                    <a:pt x="452" y="880"/>
                  </a:lnTo>
                  <a:lnTo>
                    <a:pt x="448" y="880"/>
                  </a:lnTo>
                  <a:lnTo>
                    <a:pt x="446" y="878"/>
                  </a:lnTo>
                  <a:lnTo>
                    <a:pt x="444" y="874"/>
                  </a:lnTo>
                  <a:lnTo>
                    <a:pt x="442" y="870"/>
                  </a:lnTo>
                  <a:lnTo>
                    <a:pt x="442" y="870"/>
                  </a:lnTo>
                  <a:close/>
                  <a:moveTo>
                    <a:pt x="372" y="910"/>
                  </a:moveTo>
                  <a:lnTo>
                    <a:pt x="372" y="910"/>
                  </a:lnTo>
                  <a:lnTo>
                    <a:pt x="372" y="906"/>
                  </a:lnTo>
                  <a:lnTo>
                    <a:pt x="376" y="902"/>
                  </a:lnTo>
                  <a:lnTo>
                    <a:pt x="378" y="900"/>
                  </a:lnTo>
                  <a:lnTo>
                    <a:pt x="382" y="900"/>
                  </a:lnTo>
                  <a:lnTo>
                    <a:pt x="424" y="900"/>
                  </a:lnTo>
                  <a:lnTo>
                    <a:pt x="424" y="900"/>
                  </a:lnTo>
                  <a:lnTo>
                    <a:pt x="428" y="900"/>
                  </a:lnTo>
                  <a:lnTo>
                    <a:pt x="432" y="902"/>
                  </a:lnTo>
                  <a:lnTo>
                    <a:pt x="434" y="906"/>
                  </a:lnTo>
                  <a:lnTo>
                    <a:pt x="434" y="910"/>
                  </a:lnTo>
                  <a:lnTo>
                    <a:pt x="432" y="948"/>
                  </a:lnTo>
                  <a:lnTo>
                    <a:pt x="432" y="948"/>
                  </a:lnTo>
                  <a:lnTo>
                    <a:pt x="432" y="952"/>
                  </a:lnTo>
                  <a:lnTo>
                    <a:pt x="430" y="956"/>
                  </a:lnTo>
                  <a:lnTo>
                    <a:pt x="426" y="958"/>
                  </a:lnTo>
                  <a:lnTo>
                    <a:pt x="422" y="958"/>
                  </a:lnTo>
                  <a:lnTo>
                    <a:pt x="380" y="958"/>
                  </a:lnTo>
                  <a:lnTo>
                    <a:pt x="380" y="958"/>
                  </a:lnTo>
                  <a:lnTo>
                    <a:pt x="376" y="958"/>
                  </a:lnTo>
                  <a:lnTo>
                    <a:pt x="372" y="956"/>
                  </a:lnTo>
                  <a:lnTo>
                    <a:pt x="370" y="952"/>
                  </a:lnTo>
                  <a:lnTo>
                    <a:pt x="370" y="948"/>
                  </a:lnTo>
                  <a:lnTo>
                    <a:pt x="372" y="910"/>
                  </a:lnTo>
                  <a:close/>
                  <a:moveTo>
                    <a:pt x="364" y="870"/>
                  </a:moveTo>
                  <a:lnTo>
                    <a:pt x="366" y="830"/>
                  </a:lnTo>
                  <a:lnTo>
                    <a:pt x="366" y="830"/>
                  </a:lnTo>
                  <a:lnTo>
                    <a:pt x="366" y="826"/>
                  </a:lnTo>
                  <a:lnTo>
                    <a:pt x="368" y="824"/>
                  </a:lnTo>
                  <a:lnTo>
                    <a:pt x="372" y="822"/>
                  </a:lnTo>
                  <a:lnTo>
                    <a:pt x="376" y="820"/>
                  </a:lnTo>
                  <a:lnTo>
                    <a:pt x="418" y="820"/>
                  </a:lnTo>
                  <a:lnTo>
                    <a:pt x="418" y="820"/>
                  </a:lnTo>
                  <a:lnTo>
                    <a:pt x="422" y="822"/>
                  </a:lnTo>
                  <a:lnTo>
                    <a:pt x="424" y="824"/>
                  </a:lnTo>
                  <a:lnTo>
                    <a:pt x="426" y="826"/>
                  </a:lnTo>
                  <a:lnTo>
                    <a:pt x="426" y="830"/>
                  </a:lnTo>
                  <a:lnTo>
                    <a:pt x="426" y="870"/>
                  </a:lnTo>
                  <a:lnTo>
                    <a:pt x="426" y="870"/>
                  </a:lnTo>
                  <a:lnTo>
                    <a:pt x="424" y="874"/>
                  </a:lnTo>
                  <a:lnTo>
                    <a:pt x="422" y="878"/>
                  </a:lnTo>
                  <a:lnTo>
                    <a:pt x="420" y="880"/>
                  </a:lnTo>
                  <a:lnTo>
                    <a:pt x="416" y="880"/>
                  </a:lnTo>
                  <a:lnTo>
                    <a:pt x="372" y="880"/>
                  </a:lnTo>
                  <a:lnTo>
                    <a:pt x="372" y="880"/>
                  </a:lnTo>
                  <a:lnTo>
                    <a:pt x="368" y="880"/>
                  </a:lnTo>
                  <a:lnTo>
                    <a:pt x="366" y="878"/>
                  </a:lnTo>
                  <a:lnTo>
                    <a:pt x="364" y="874"/>
                  </a:lnTo>
                  <a:lnTo>
                    <a:pt x="364" y="870"/>
                  </a:lnTo>
                  <a:lnTo>
                    <a:pt x="364" y="870"/>
                  </a:lnTo>
                  <a:close/>
                  <a:moveTo>
                    <a:pt x="292" y="910"/>
                  </a:moveTo>
                  <a:lnTo>
                    <a:pt x="292" y="910"/>
                  </a:lnTo>
                  <a:lnTo>
                    <a:pt x="292" y="906"/>
                  </a:lnTo>
                  <a:lnTo>
                    <a:pt x="296" y="902"/>
                  </a:lnTo>
                  <a:lnTo>
                    <a:pt x="298" y="900"/>
                  </a:lnTo>
                  <a:lnTo>
                    <a:pt x="302" y="900"/>
                  </a:lnTo>
                  <a:lnTo>
                    <a:pt x="346" y="900"/>
                  </a:lnTo>
                  <a:lnTo>
                    <a:pt x="346" y="900"/>
                  </a:lnTo>
                  <a:lnTo>
                    <a:pt x="348" y="900"/>
                  </a:lnTo>
                  <a:lnTo>
                    <a:pt x="352" y="902"/>
                  </a:lnTo>
                  <a:lnTo>
                    <a:pt x="354" y="906"/>
                  </a:lnTo>
                  <a:lnTo>
                    <a:pt x="354" y="910"/>
                  </a:lnTo>
                  <a:lnTo>
                    <a:pt x="352" y="948"/>
                  </a:lnTo>
                  <a:lnTo>
                    <a:pt x="352" y="948"/>
                  </a:lnTo>
                  <a:lnTo>
                    <a:pt x="352" y="952"/>
                  </a:lnTo>
                  <a:lnTo>
                    <a:pt x="348" y="956"/>
                  </a:lnTo>
                  <a:lnTo>
                    <a:pt x="346" y="958"/>
                  </a:lnTo>
                  <a:lnTo>
                    <a:pt x="342" y="958"/>
                  </a:lnTo>
                  <a:lnTo>
                    <a:pt x="298" y="958"/>
                  </a:lnTo>
                  <a:lnTo>
                    <a:pt x="298" y="958"/>
                  </a:lnTo>
                  <a:lnTo>
                    <a:pt x="294" y="958"/>
                  </a:lnTo>
                  <a:lnTo>
                    <a:pt x="292" y="956"/>
                  </a:lnTo>
                  <a:lnTo>
                    <a:pt x="290" y="952"/>
                  </a:lnTo>
                  <a:lnTo>
                    <a:pt x="290" y="948"/>
                  </a:lnTo>
                  <a:lnTo>
                    <a:pt x="292" y="910"/>
                  </a:lnTo>
                  <a:close/>
                  <a:moveTo>
                    <a:pt x="284" y="870"/>
                  </a:moveTo>
                  <a:lnTo>
                    <a:pt x="288" y="830"/>
                  </a:lnTo>
                  <a:lnTo>
                    <a:pt x="288" y="830"/>
                  </a:lnTo>
                  <a:lnTo>
                    <a:pt x="288" y="826"/>
                  </a:lnTo>
                  <a:lnTo>
                    <a:pt x="290" y="824"/>
                  </a:lnTo>
                  <a:lnTo>
                    <a:pt x="294" y="822"/>
                  </a:lnTo>
                  <a:lnTo>
                    <a:pt x="298" y="820"/>
                  </a:lnTo>
                  <a:lnTo>
                    <a:pt x="340" y="820"/>
                  </a:lnTo>
                  <a:lnTo>
                    <a:pt x="340" y="820"/>
                  </a:lnTo>
                  <a:lnTo>
                    <a:pt x="344" y="822"/>
                  </a:lnTo>
                  <a:lnTo>
                    <a:pt x="346" y="824"/>
                  </a:lnTo>
                  <a:lnTo>
                    <a:pt x="348" y="826"/>
                  </a:lnTo>
                  <a:lnTo>
                    <a:pt x="348" y="830"/>
                  </a:lnTo>
                  <a:lnTo>
                    <a:pt x="346" y="870"/>
                  </a:lnTo>
                  <a:lnTo>
                    <a:pt x="346" y="870"/>
                  </a:lnTo>
                  <a:lnTo>
                    <a:pt x="346" y="874"/>
                  </a:lnTo>
                  <a:lnTo>
                    <a:pt x="342" y="878"/>
                  </a:lnTo>
                  <a:lnTo>
                    <a:pt x="340" y="880"/>
                  </a:lnTo>
                  <a:lnTo>
                    <a:pt x="336" y="880"/>
                  </a:lnTo>
                  <a:lnTo>
                    <a:pt x="294" y="880"/>
                  </a:lnTo>
                  <a:lnTo>
                    <a:pt x="294" y="880"/>
                  </a:lnTo>
                  <a:lnTo>
                    <a:pt x="290" y="880"/>
                  </a:lnTo>
                  <a:lnTo>
                    <a:pt x="286" y="878"/>
                  </a:lnTo>
                  <a:lnTo>
                    <a:pt x="284" y="874"/>
                  </a:lnTo>
                  <a:lnTo>
                    <a:pt x="284" y="870"/>
                  </a:lnTo>
                  <a:lnTo>
                    <a:pt x="284" y="870"/>
                  </a:lnTo>
                  <a:close/>
                  <a:moveTo>
                    <a:pt x="270" y="830"/>
                  </a:moveTo>
                  <a:lnTo>
                    <a:pt x="266" y="870"/>
                  </a:lnTo>
                  <a:lnTo>
                    <a:pt x="266" y="870"/>
                  </a:lnTo>
                  <a:lnTo>
                    <a:pt x="266" y="874"/>
                  </a:lnTo>
                  <a:lnTo>
                    <a:pt x="264" y="878"/>
                  </a:lnTo>
                  <a:lnTo>
                    <a:pt x="260" y="880"/>
                  </a:lnTo>
                  <a:lnTo>
                    <a:pt x="256" y="880"/>
                  </a:lnTo>
                  <a:lnTo>
                    <a:pt x="214" y="880"/>
                  </a:lnTo>
                  <a:lnTo>
                    <a:pt x="214" y="880"/>
                  </a:lnTo>
                  <a:lnTo>
                    <a:pt x="210" y="880"/>
                  </a:lnTo>
                  <a:lnTo>
                    <a:pt x="208" y="878"/>
                  </a:lnTo>
                  <a:lnTo>
                    <a:pt x="206" y="874"/>
                  </a:lnTo>
                  <a:lnTo>
                    <a:pt x="206" y="870"/>
                  </a:lnTo>
                  <a:lnTo>
                    <a:pt x="210" y="830"/>
                  </a:lnTo>
                  <a:lnTo>
                    <a:pt x="210" y="830"/>
                  </a:lnTo>
                  <a:lnTo>
                    <a:pt x="210" y="826"/>
                  </a:lnTo>
                  <a:lnTo>
                    <a:pt x="212" y="824"/>
                  </a:lnTo>
                  <a:lnTo>
                    <a:pt x="216" y="822"/>
                  </a:lnTo>
                  <a:lnTo>
                    <a:pt x="220" y="820"/>
                  </a:lnTo>
                  <a:lnTo>
                    <a:pt x="262" y="820"/>
                  </a:lnTo>
                  <a:lnTo>
                    <a:pt x="262" y="820"/>
                  </a:lnTo>
                  <a:lnTo>
                    <a:pt x="266" y="822"/>
                  </a:lnTo>
                  <a:lnTo>
                    <a:pt x="268" y="824"/>
                  </a:lnTo>
                  <a:lnTo>
                    <a:pt x="270" y="826"/>
                  </a:lnTo>
                  <a:lnTo>
                    <a:pt x="270" y="830"/>
                  </a:lnTo>
                  <a:lnTo>
                    <a:pt x="270" y="830"/>
                  </a:lnTo>
                  <a:close/>
                  <a:moveTo>
                    <a:pt x="132" y="830"/>
                  </a:moveTo>
                  <a:lnTo>
                    <a:pt x="132" y="830"/>
                  </a:lnTo>
                  <a:lnTo>
                    <a:pt x="132" y="826"/>
                  </a:lnTo>
                  <a:lnTo>
                    <a:pt x="136" y="824"/>
                  </a:lnTo>
                  <a:lnTo>
                    <a:pt x="138" y="822"/>
                  </a:lnTo>
                  <a:lnTo>
                    <a:pt x="142" y="820"/>
                  </a:lnTo>
                  <a:lnTo>
                    <a:pt x="184" y="820"/>
                  </a:lnTo>
                  <a:lnTo>
                    <a:pt x="184" y="820"/>
                  </a:lnTo>
                  <a:lnTo>
                    <a:pt x="186" y="822"/>
                  </a:lnTo>
                  <a:lnTo>
                    <a:pt x="190" y="824"/>
                  </a:lnTo>
                  <a:lnTo>
                    <a:pt x="192" y="826"/>
                  </a:lnTo>
                  <a:lnTo>
                    <a:pt x="192" y="830"/>
                  </a:lnTo>
                  <a:lnTo>
                    <a:pt x="188" y="870"/>
                  </a:lnTo>
                  <a:lnTo>
                    <a:pt x="188" y="870"/>
                  </a:lnTo>
                  <a:lnTo>
                    <a:pt x="186" y="874"/>
                  </a:lnTo>
                  <a:lnTo>
                    <a:pt x="184" y="878"/>
                  </a:lnTo>
                  <a:lnTo>
                    <a:pt x="180" y="880"/>
                  </a:lnTo>
                  <a:lnTo>
                    <a:pt x="178" y="880"/>
                  </a:lnTo>
                  <a:lnTo>
                    <a:pt x="136" y="880"/>
                  </a:lnTo>
                  <a:lnTo>
                    <a:pt x="136" y="880"/>
                  </a:lnTo>
                  <a:lnTo>
                    <a:pt x="132" y="880"/>
                  </a:lnTo>
                  <a:lnTo>
                    <a:pt x="128" y="878"/>
                  </a:lnTo>
                  <a:lnTo>
                    <a:pt x="128" y="874"/>
                  </a:lnTo>
                  <a:lnTo>
                    <a:pt x="128" y="870"/>
                  </a:lnTo>
                  <a:lnTo>
                    <a:pt x="132" y="830"/>
                  </a:lnTo>
                  <a:close/>
                  <a:moveTo>
                    <a:pt x="122" y="908"/>
                  </a:moveTo>
                  <a:lnTo>
                    <a:pt x="122" y="908"/>
                  </a:lnTo>
                  <a:lnTo>
                    <a:pt x="124" y="906"/>
                  </a:lnTo>
                  <a:lnTo>
                    <a:pt x="126" y="902"/>
                  </a:lnTo>
                  <a:lnTo>
                    <a:pt x="130" y="900"/>
                  </a:lnTo>
                  <a:lnTo>
                    <a:pt x="134" y="900"/>
                  </a:lnTo>
                  <a:lnTo>
                    <a:pt x="186" y="900"/>
                  </a:lnTo>
                  <a:lnTo>
                    <a:pt x="186" y="900"/>
                  </a:lnTo>
                  <a:lnTo>
                    <a:pt x="190" y="900"/>
                  </a:lnTo>
                  <a:lnTo>
                    <a:pt x="192" y="902"/>
                  </a:lnTo>
                  <a:lnTo>
                    <a:pt x="194" y="906"/>
                  </a:lnTo>
                  <a:lnTo>
                    <a:pt x="194" y="908"/>
                  </a:lnTo>
                  <a:lnTo>
                    <a:pt x="190" y="948"/>
                  </a:lnTo>
                  <a:lnTo>
                    <a:pt x="190" y="948"/>
                  </a:lnTo>
                  <a:lnTo>
                    <a:pt x="190" y="952"/>
                  </a:lnTo>
                  <a:lnTo>
                    <a:pt x="186" y="956"/>
                  </a:lnTo>
                  <a:lnTo>
                    <a:pt x="184" y="958"/>
                  </a:lnTo>
                  <a:lnTo>
                    <a:pt x="180" y="958"/>
                  </a:lnTo>
                  <a:lnTo>
                    <a:pt x="126" y="958"/>
                  </a:lnTo>
                  <a:lnTo>
                    <a:pt x="126" y="958"/>
                  </a:lnTo>
                  <a:lnTo>
                    <a:pt x="122" y="958"/>
                  </a:lnTo>
                  <a:lnTo>
                    <a:pt x="120" y="956"/>
                  </a:lnTo>
                  <a:lnTo>
                    <a:pt x="118" y="952"/>
                  </a:lnTo>
                  <a:lnTo>
                    <a:pt x="118" y="948"/>
                  </a:lnTo>
                  <a:lnTo>
                    <a:pt x="122" y="908"/>
                  </a:lnTo>
                  <a:close/>
                  <a:moveTo>
                    <a:pt x="158" y="1028"/>
                  </a:moveTo>
                  <a:lnTo>
                    <a:pt x="158" y="1028"/>
                  </a:lnTo>
                  <a:lnTo>
                    <a:pt x="158" y="1032"/>
                  </a:lnTo>
                  <a:lnTo>
                    <a:pt x="154" y="1034"/>
                  </a:lnTo>
                  <a:lnTo>
                    <a:pt x="152" y="1036"/>
                  </a:lnTo>
                  <a:lnTo>
                    <a:pt x="148" y="1038"/>
                  </a:lnTo>
                  <a:lnTo>
                    <a:pt x="118" y="1038"/>
                  </a:lnTo>
                  <a:lnTo>
                    <a:pt x="118" y="1038"/>
                  </a:lnTo>
                  <a:lnTo>
                    <a:pt x="114" y="1036"/>
                  </a:lnTo>
                  <a:lnTo>
                    <a:pt x="110" y="1034"/>
                  </a:lnTo>
                  <a:lnTo>
                    <a:pt x="108" y="1032"/>
                  </a:lnTo>
                  <a:lnTo>
                    <a:pt x="108" y="1028"/>
                  </a:lnTo>
                  <a:lnTo>
                    <a:pt x="114" y="988"/>
                  </a:lnTo>
                  <a:lnTo>
                    <a:pt x="114" y="988"/>
                  </a:lnTo>
                  <a:lnTo>
                    <a:pt x="114" y="984"/>
                  </a:lnTo>
                  <a:lnTo>
                    <a:pt x="116" y="980"/>
                  </a:lnTo>
                  <a:lnTo>
                    <a:pt x="120" y="978"/>
                  </a:lnTo>
                  <a:lnTo>
                    <a:pt x="124" y="978"/>
                  </a:lnTo>
                  <a:lnTo>
                    <a:pt x="154" y="978"/>
                  </a:lnTo>
                  <a:lnTo>
                    <a:pt x="154" y="978"/>
                  </a:lnTo>
                  <a:lnTo>
                    <a:pt x="158" y="978"/>
                  </a:lnTo>
                  <a:lnTo>
                    <a:pt x="160" y="980"/>
                  </a:lnTo>
                  <a:lnTo>
                    <a:pt x="162" y="984"/>
                  </a:lnTo>
                  <a:lnTo>
                    <a:pt x="162" y="988"/>
                  </a:lnTo>
                  <a:lnTo>
                    <a:pt x="158" y="1028"/>
                  </a:lnTo>
                  <a:close/>
                  <a:moveTo>
                    <a:pt x="250" y="1028"/>
                  </a:moveTo>
                  <a:lnTo>
                    <a:pt x="250" y="1028"/>
                  </a:lnTo>
                  <a:lnTo>
                    <a:pt x="248" y="1032"/>
                  </a:lnTo>
                  <a:lnTo>
                    <a:pt x="246" y="1034"/>
                  </a:lnTo>
                  <a:lnTo>
                    <a:pt x="244" y="1036"/>
                  </a:lnTo>
                  <a:lnTo>
                    <a:pt x="240" y="1038"/>
                  </a:lnTo>
                  <a:lnTo>
                    <a:pt x="186" y="1038"/>
                  </a:lnTo>
                  <a:lnTo>
                    <a:pt x="186" y="1038"/>
                  </a:lnTo>
                  <a:lnTo>
                    <a:pt x="182" y="1036"/>
                  </a:lnTo>
                  <a:lnTo>
                    <a:pt x="180" y="1034"/>
                  </a:lnTo>
                  <a:lnTo>
                    <a:pt x="178" y="1032"/>
                  </a:lnTo>
                  <a:lnTo>
                    <a:pt x="176" y="1028"/>
                  </a:lnTo>
                  <a:lnTo>
                    <a:pt x="180" y="988"/>
                  </a:lnTo>
                  <a:lnTo>
                    <a:pt x="180" y="988"/>
                  </a:lnTo>
                  <a:lnTo>
                    <a:pt x="182" y="984"/>
                  </a:lnTo>
                  <a:lnTo>
                    <a:pt x="184" y="980"/>
                  </a:lnTo>
                  <a:lnTo>
                    <a:pt x="188" y="978"/>
                  </a:lnTo>
                  <a:lnTo>
                    <a:pt x="192" y="978"/>
                  </a:lnTo>
                  <a:lnTo>
                    <a:pt x="244" y="978"/>
                  </a:lnTo>
                  <a:lnTo>
                    <a:pt x="244" y="978"/>
                  </a:lnTo>
                  <a:lnTo>
                    <a:pt x="248" y="978"/>
                  </a:lnTo>
                  <a:lnTo>
                    <a:pt x="250" y="980"/>
                  </a:lnTo>
                  <a:lnTo>
                    <a:pt x="252" y="984"/>
                  </a:lnTo>
                  <a:lnTo>
                    <a:pt x="254" y="988"/>
                  </a:lnTo>
                  <a:lnTo>
                    <a:pt x="250" y="1028"/>
                  </a:lnTo>
                  <a:close/>
                  <a:moveTo>
                    <a:pt x="260" y="958"/>
                  </a:moveTo>
                  <a:lnTo>
                    <a:pt x="218" y="958"/>
                  </a:lnTo>
                  <a:lnTo>
                    <a:pt x="218" y="958"/>
                  </a:lnTo>
                  <a:lnTo>
                    <a:pt x="214" y="958"/>
                  </a:lnTo>
                  <a:lnTo>
                    <a:pt x="210" y="956"/>
                  </a:lnTo>
                  <a:lnTo>
                    <a:pt x="208" y="952"/>
                  </a:lnTo>
                  <a:lnTo>
                    <a:pt x="208" y="948"/>
                  </a:lnTo>
                  <a:lnTo>
                    <a:pt x="212" y="910"/>
                  </a:lnTo>
                  <a:lnTo>
                    <a:pt x="212" y="910"/>
                  </a:lnTo>
                  <a:lnTo>
                    <a:pt x="214" y="906"/>
                  </a:lnTo>
                  <a:lnTo>
                    <a:pt x="216" y="902"/>
                  </a:lnTo>
                  <a:lnTo>
                    <a:pt x="218" y="900"/>
                  </a:lnTo>
                  <a:lnTo>
                    <a:pt x="222" y="900"/>
                  </a:lnTo>
                  <a:lnTo>
                    <a:pt x="266" y="900"/>
                  </a:lnTo>
                  <a:lnTo>
                    <a:pt x="266" y="900"/>
                  </a:lnTo>
                  <a:lnTo>
                    <a:pt x="270" y="900"/>
                  </a:lnTo>
                  <a:lnTo>
                    <a:pt x="272" y="902"/>
                  </a:lnTo>
                  <a:lnTo>
                    <a:pt x="274" y="906"/>
                  </a:lnTo>
                  <a:lnTo>
                    <a:pt x="274" y="910"/>
                  </a:lnTo>
                  <a:lnTo>
                    <a:pt x="272" y="948"/>
                  </a:lnTo>
                  <a:lnTo>
                    <a:pt x="272" y="948"/>
                  </a:lnTo>
                  <a:lnTo>
                    <a:pt x="270" y="952"/>
                  </a:lnTo>
                  <a:lnTo>
                    <a:pt x="268" y="956"/>
                  </a:lnTo>
                  <a:lnTo>
                    <a:pt x="264" y="958"/>
                  </a:lnTo>
                  <a:lnTo>
                    <a:pt x="260" y="958"/>
                  </a:lnTo>
                  <a:lnTo>
                    <a:pt x="260" y="958"/>
                  </a:lnTo>
                  <a:close/>
                  <a:moveTo>
                    <a:pt x="772" y="1038"/>
                  </a:moveTo>
                  <a:lnTo>
                    <a:pt x="278" y="1038"/>
                  </a:lnTo>
                  <a:lnTo>
                    <a:pt x="278" y="1038"/>
                  </a:lnTo>
                  <a:lnTo>
                    <a:pt x="274" y="1036"/>
                  </a:lnTo>
                  <a:lnTo>
                    <a:pt x="270" y="1034"/>
                  </a:lnTo>
                  <a:lnTo>
                    <a:pt x="268" y="1032"/>
                  </a:lnTo>
                  <a:lnTo>
                    <a:pt x="268" y="1028"/>
                  </a:lnTo>
                  <a:lnTo>
                    <a:pt x="272" y="988"/>
                  </a:lnTo>
                  <a:lnTo>
                    <a:pt x="272" y="988"/>
                  </a:lnTo>
                  <a:lnTo>
                    <a:pt x="272" y="984"/>
                  </a:lnTo>
                  <a:lnTo>
                    <a:pt x="274" y="980"/>
                  </a:lnTo>
                  <a:lnTo>
                    <a:pt x="278" y="978"/>
                  </a:lnTo>
                  <a:lnTo>
                    <a:pt x="282" y="978"/>
                  </a:lnTo>
                  <a:lnTo>
                    <a:pt x="768" y="978"/>
                  </a:lnTo>
                  <a:lnTo>
                    <a:pt x="768" y="978"/>
                  </a:lnTo>
                  <a:lnTo>
                    <a:pt x="772" y="978"/>
                  </a:lnTo>
                  <a:lnTo>
                    <a:pt x="776" y="980"/>
                  </a:lnTo>
                  <a:lnTo>
                    <a:pt x="778" y="984"/>
                  </a:lnTo>
                  <a:lnTo>
                    <a:pt x="780" y="988"/>
                  </a:lnTo>
                  <a:lnTo>
                    <a:pt x="782" y="1028"/>
                  </a:lnTo>
                  <a:lnTo>
                    <a:pt x="782" y="1028"/>
                  </a:lnTo>
                  <a:lnTo>
                    <a:pt x="782" y="1032"/>
                  </a:lnTo>
                  <a:lnTo>
                    <a:pt x="780" y="1034"/>
                  </a:lnTo>
                  <a:lnTo>
                    <a:pt x="776" y="1036"/>
                  </a:lnTo>
                  <a:lnTo>
                    <a:pt x="772" y="1038"/>
                  </a:lnTo>
                  <a:lnTo>
                    <a:pt x="772" y="1038"/>
                  </a:lnTo>
                  <a:close/>
                  <a:moveTo>
                    <a:pt x="774" y="948"/>
                  </a:moveTo>
                  <a:lnTo>
                    <a:pt x="772" y="910"/>
                  </a:lnTo>
                  <a:lnTo>
                    <a:pt x="772" y="910"/>
                  </a:lnTo>
                  <a:lnTo>
                    <a:pt x="772" y="906"/>
                  </a:lnTo>
                  <a:lnTo>
                    <a:pt x="774" y="902"/>
                  </a:lnTo>
                  <a:lnTo>
                    <a:pt x="778" y="900"/>
                  </a:lnTo>
                  <a:lnTo>
                    <a:pt x="780" y="900"/>
                  </a:lnTo>
                  <a:lnTo>
                    <a:pt x="824" y="900"/>
                  </a:lnTo>
                  <a:lnTo>
                    <a:pt x="824" y="900"/>
                  </a:lnTo>
                  <a:lnTo>
                    <a:pt x="828" y="900"/>
                  </a:lnTo>
                  <a:lnTo>
                    <a:pt x="830" y="902"/>
                  </a:lnTo>
                  <a:lnTo>
                    <a:pt x="834" y="906"/>
                  </a:lnTo>
                  <a:lnTo>
                    <a:pt x="834" y="910"/>
                  </a:lnTo>
                  <a:lnTo>
                    <a:pt x="838" y="948"/>
                  </a:lnTo>
                  <a:lnTo>
                    <a:pt x="838" y="948"/>
                  </a:lnTo>
                  <a:lnTo>
                    <a:pt x="836" y="952"/>
                  </a:lnTo>
                  <a:lnTo>
                    <a:pt x="834" y="956"/>
                  </a:lnTo>
                  <a:lnTo>
                    <a:pt x="832" y="958"/>
                  </a:lnTo>
                  <a:lnTo>
                    <a:pt x="828" y="958"/>
                  </a:lnTo>
                  <a:lnTo>
                    <a:pt x="784" y="958"/>
                  </a:lnTo>
                  <a:lnTo>
                    <a:pt x="784" y="958"/>
                  </a:lnTo>
                  <a:lnTo>
                    <a:pt x="780" y="958"/>
                  </a:lnTo>
                  <a:lnTo>
                    <a:pt x="778" y="956"/>
                  </a:lnTo>
                  <a:lnTo>
                    <a:pt x="776" y="952"/>
                  </a:lnTo>
                  <a:lnTo>
                    <a:pt x="774" y="948"/>
                  </a:lnTo>
                  <a:lnTo>
                    <a:pt x="774" y="948"/>
                  </a:lnTo>
                  <a:close/>
                  <a:moveTo>
                    <a:pt x="864" y="1038"/>
                  </a:moveTo>
                  <a:lnTo>
                    <a:pt x="810" y="1038"/>
                  </a:lnTo>
                  <a:lnTo>
                    <a:pt x="810" y="1038"/>
                  </a:lnTo>
                  <a:lnTo>
                    <a:pt x="806" y="1036"/>
                  </a:lnTo>
                  <a:lnTo>
                    <a:pt x="804" y="1034"/>
                  </a:lnTo>
                  <a:lnTo>
                    <a:pt x="802" y="1032"/>
                  </a:lnTo>
                  <a:lnTo>
                    <a:pt x="800" y="1028"/>
                  </a:lnTo>
                  <a:lnTo>
                    <a:pt x="798" y="988"/>
                  </a:lnTo>
                  <a:lnTo>
                    <a:pt x="798" y="988"/>
                  </a:lnTo>
                  <a:lnTo>
                    <a:pt x="798" y="984"/>
                  </a:lnTo>
                  <a:lnTo>
                    <a:pt x="800" y="980"/>
                  </a:lnTo>
                  <a:lnTo>
                    <a:pt x="802" y="978"/>
                  </a:lnTo>
                  <a:lnTo>
                    <a:pt x="806" y="978"/>
                  </a:lnTo>
                  <a:lnTo>
                    <a:pt x="860" y="978"/>
                  </a:lnTo>
                  <a:lnTo>
                    <a:pt x="860" y="978"/>
                  </a:lnTo>
                  <a:lnTo>
                    <a:pt x="864" y="978"/>
                  </a:lnTo>
                  <a:lnTo>
                    <a:pt x="866" y="980"/>
                  </a:lnTo>
                  <a:lnTo>
                    <a:pt x="868" y="984"/>
                  </a:lnTo>
                  <a:lnTo>
                    <a:pt x="870" y="988"/>
                  </a:lnTo>
                  <a:lnTo>
                    <a:pt x="874" y="1028"/>
                  </a:lnTo>
                  <a:lnTo>
                    <a:pt x="874" y="1028"/>
                  </a:lnTo>
                  <a:lnTo>
                    <a:pt x="872" y="1032"/>
                  </a:lnTo>
                  <a:lnTo>
                    <a:pt x="870" y="1034"/>
                  </a:lnTo>
                  <a:lnTo>
                    <a:pt x="868" y="1036"/>
                  </a:lnTo>
                  <a:lnTo>
                    <a:pt x="864" y="1038"/>
                  </a:lnTo>
                  <a:lnTo>
                    <a:pt x="864" y="1038"/>
                  </a:lnTo>
                  <a:close/>
                  <a:moveTo>
                    <a:pt x="992" y="1038"/>
                  </a:moveTo>
                  <a:lnTo>
                    <a:pt x="902" y="1038"/>
                  </a:lnTo>
                  <a:lnTo>
                    <a:pt x="902" y="1038"/>
                  </a:lnTo>
                  <a:lnTo>
                    <a:pt x="898" y="1036"/>
                  </a:lnTo>
                  <a:lnTo>
                    <a:pt x="896" y="1034"/>
                  </a:lnTo>
                  <a:lnTo>
                    <a:pt x="892" y="1032"/>
                  </a:lnTo>
                  <a:lnTo>
                    <a:pt x="892" y="1028"/>
                  </a:lnTo>
                  <a:lnTo>
                    <a:pt x="888" y="988"/>
                  </a:lnTo>
                  <a:lnTo>
                    <a:pt x="888" y="988"/>
                  </a:lnTo>
                  <a:lnTo>
                    <a:pt x="888" y="984"/>
                  </a:lnTo>
                  <a:lnTo>
                    <a:pt x="890" y="980"/>
                  </a:lnTo>
                  <a:lnTo>
                    <a:pt x="894" y="978"/>
                  </a:lnTo>
                  <a:lnTo>
                    <a:pt x="896" y="978"/>
                  </a:lnTo>
                  <a:lnTo>
                    <a:pt x="986" y="978"/>
                  </a:lnTo>
                  <a:lnTo>
                    <a:pt x="986" y="978"/>
                  </a:lnTo>
                  <a:lnTo>
                    <a:pt x="990" y="978"/>
                  </a:lnTo>
                  <a:lnTo>
                    <a:pt x="992" y="980"/>
                  </a:lnTo>
                  <a:lnTo>
                    <a:pt x="994" y="984"/>
                  </a:lnTo>
                  <a:lnTo>
                    <a:pt x="996" y="988"/>
                  </a:lnTo>
                  <a:lnTo>
                    <a:pt x="1000" y="1028"/>
                  </a:lnTo>
                  <a:lnTo>
                    <a:pt x="1000" y="1028"/>
                  </a:lnTo>
                  <a:lnTo>
                    <a:pt x="1000" y="1032"/>
                  </a:lnTo>
                  <a:lnTo>
                    <a:pt x="998" y="1034"/>
                  </a:lnTo>
                  <a:lnTo>
                    <a:pt x="996" y="1036"/>
                  </a:lnTo>
                  <a:lnTo>
                    <a:pt x="992" y="1038"/>
                  </a:lnTo>
                  <a:lnTo>
                    <a:pt x="992" y="1038"/>
                  </a:lnTo>
                  <a:close/>
                </a:path>
              </a:pathLst>
            </a:custGeom>
            <a:solidFill>
              <a:srgbClr val="007CB0"/>
            </a:solidFill>
            <a:ln>
              <a:noFill/>
            </a:ln>
          </p:spPr>
          <p:txBody>
            <a:bodyPr vert="horz" wrap="square" lIns="68750" tIns="34375" rIns="68750" bIns="34375" numCol="1" anchor="t" anchorCtr="0" compatLnSpc="1">
              <a:prstTxWarp prst="textNoShape">
                <a:avLst/>
              </a:prstTxWarp>
            </a:bodyP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1200" cap="none" spc="0" normalizeH="0" baseline="0" noProof="0">
                <a:ln>
                  <a:noFill/>
                </a:ln>
                <a:solidFill>
                  <a:srgbClr val="000000"/>
                </a:solidFill>
                <a:effectLst/>
                <a:uLnTx/>
                <a:uFillTx/>
                <a:latin typeface="Calibri" panose="020F0502020204030204"/>
                <a:ea typeface="+mn-ea"/>
                <a:cs typeface="Arial" pitchFamily="34" charset="0"/>
              </a:endParaRPr>
            </a:p>
          </p:txBody>
        </p:sp>
        <p:sp>
          <p:nvSpPr>
            <p:cNvPr id="19" name="Rectangle 18">
              <a:extLst>
                <a:ext uri="{FF2B5EF4-FFF2-40B4-BE49-F238E27FC236}">
                  <a16:creationId xmlns:a16="http://schemas.microsoft.com/office/drawing/2014/main" id="{D329D04D-5315-4512-BCC1-0860199E8E60}"/>
                </a:ext>
              </a:extLst>
            </p:cNvPr>
            <p:cNvSpPr/>
            <p:nvPr/>
          </p:nvSpPr>
          <p:spPr bwMode="gray">
            <a:xfrm>
              <a:off x="6841333" y="860005"/>
              <a:ext cx="739934" cy="380941"/>
            </a:xfrm>
            <a:prstGeom prst="rect">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Business Event</a:t>
              </a:r>
            </a:p>
          </p:txBody>
        </p:sp>
        <p:sp>
          <p:nvSpPr>
            <p:cNvPr id="20" name="Flowchart: Magnetic Disk 19">
              <a:extLst>
                <a:ext uri="{FF2B5EF4-FFF2-40B4-BE49-F238E27FC236}">
                  <a16:creationId xmlns:a16="http://schemas.microsoft.com/office/drawing/2014/main" id="{3E65C244-1481-485D-99B7-97014345D27C}"/>
                </a:ext>
              </a:extLst>
            </p:cNvPr>
            <p:cNvSpPr/>
            <p:nvPr/>
          </p:nvSpPr>
          <p:spPr bwMode="gray">
            <a:xfrm>
              <a:off x="8342346" y="830493"/>
              <a:ext cx="591954" cy="410453"/>
            </a:xfrm>
            <a:prstGeom prst="flowChartMagneticDisk">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Staging Table</a:t>
              </a:r>
            </a:p>
          </p:txBody>
        </p:sp>
        <p:cxnSp>
          <p:nvCxnSpPr>
            <p:cNvPr id="21" name="Straight Arrow Connector 20">
              <a:extLst>
                <a:ext uri="{FF2B5EF4-FFF2-40B4-BE49-F238E27FC236}">
                  <a16:creationId xmlns:a16="http://schemas.microsoft.com/office/drawing/2014/main" id="{CA6BFF1B-239D-47AA-A918-9382390A3470}"/>
                </a:ext>
              </a:extLst>
            </p:cNvPr>
            <p:cNvCxnSpPr>
              <a:stCxn id="19" idx="3"/>
            </p:cNvCxnSpPr>
            <p:nvPr/>
          </p:nvCxnSpPr>
          <p:spPr>
            <a:xfrm flipV="1">
              <a:off x="7581267" y="1050475"/>
              <a:ext cx="761079" cy="1"/>
            </a:xfrm>
            <a:prstGeom prst="straightConnector1">
              <a:avLst/>
            </a:prstGeom>
            <a:ln>
              <a:solidFill>
                <a:srgbClr val="007CB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5E4734A5-F55B-4A6E-8C47-004428CC3CF9}"/>
                </a:ext>
              </a:extLst>
            </p:cNvPr>
            <p:cNvSpPr/>
            <p:nvPr/>
          </p:nvSpPr>
          <p:spPr bwMode="gray">
            <a:xfrm>
              <a:off x="6930913" y="1605697"/>
              <a:ext cx="3965348" cy="2549704"/>
            </a:xfrm>
            <a:prstGeom prst="rect">
              <a:avLst/>
            </a:prstGeom>
            <a:solidFill>
              <a:schemeClr val="bg1"/>
            </a:solidFill>
            <a:ln w="12700" algn="ctr">
              <a:solidFill>
                <a:srgbClr val="007CB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D41168D7-EE49-466E-9431-75C2CD678E18}"/>
                </a:ext>
              </a:extLst>
            </p:cNvPr>
            <p:cNvSpPr/>
            <p:nvPr/>
          </p:nvSpPr>
          <p:spPr bwMode="gray">
            <a:xfrm>
              <a:off x="8275395" y="1661293"/>
              <a:ext cx="1604382" cy="313060"/>
            </a:xfrm>
            <a:prstGeom prst="rect">
              <a:avLst/>
            </a:prstGeom>
            <a:solidFill>
              <a:srgbClr val="007CB0"/>
            </a:solidFill>
            <a:ln w="19050" algn="ctr">
              <a:solidFill>
                <a:schemeClr val="bg1">
                  <a:lumMod val="6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white"/>
                  </a:solidFill>
                  <a:effectLst/>
                  <a:uLnTx/>
                  <a:uFillTx/>
                  <a:latin typeface="Calibri" panose="020F0502020204030204"/>
                  <a:ea typeface="+mn-ea"/>
                  <a:cs typeface="+mn-cs"/>
                </a:rPr>
                <a:t>RIB-RMS</a:t>
              </a:r>
            </a:p>
          </p:txBody>
        </p:sp>
        <p:sp>
          <p:nvSpPr>
            <p:cNvPr id="24" name="Rectangle: Rounded Corners 23">
              <a:extLst>
                <a:ext uri="{FF2B5EF4-FFF2-40B4-BE49-F238E27FC236}">
                  <a16:creationId xmlns:a16="http://schemas.microsoft.com/office/drawing/2014/main" id="{2C2F5B72-E3ED-4C83-9FC3-AC52FDB5CF1E}"/>
                </a:ext>
              </a:extLst>
            </p:cNvPr>
            <p:cNvSpPr/>
            <p:nvPr/>
          </p:nvSpPr>
          <p:spPr bwMode="gray">
            <a:xfrm>
              <a:off x="7885906" y="2655999"/>
              <a:ext cx="1552554" cy="664894"/>
            </a:xfrm>
            <a:prstGeom prst="roundRect">
              <a:avLst/>
            </a:prstGeom>
            <a:solidFill>
              <a:schemeClr val="bg1"/>
            </a:solidFill>
            <a:ln w="19050" algn="ctr">
              <a:solidFill>
                <a:srgbClr val="007CB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AQ( Advance Queue)</a:t>
              </a:r>
            </a:p>
          </p:txBody>
        </p:sp>
        <p:sp>
          <p:nvSpPr>
            <p:cNvPr id="25" name="Rectangle 24">
              <a:extLst>
                <a:ext uri="{FF2B5EF4-FFF2-40B4-BE49-F238E27FC236}">
                  <a16:creationId xmlns:a16="http://schemas.microsoft.com/office/drawing/2014/main" id="{26F36877-E134-4F80-9CFF-166D48E9ADA4}"/>
                </a:ext>
              </a:extLst>
            </p:cNvPr>
            <p:cNvSpPr/>
            <p:nvPr/>
          </p:nvSpPr>
          <p:spPr bwMode="gray">
            <a:xfrm>
              <a:off x="8271658" y="3606217"/>
              <a:ext cx="783442" cy="313060"/>
            </a:xfrm>
            <a:prstGeom prst="rect">
              <a:avLst/>
            </a:prstGeom>
            <a:solidFill>
              <a:srgbClr val="007CB0"/>
            </a:solidFill>
            <a:ln w="19050" algn="ctr">
              <a:solidFill>
                <a:schemeClr val="bg1">
                  <a:lumMod val="6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white"/>
                  </a:solidFill>
                  <a:effectLst/>
                  <a:uLnTx/>
                  <a:uFillTx/>
                  <a:latin typeface="Calibri" panose="020F0502020204030204"/>
                  <a:ea typeface="+mn-ea"/>
                  <a:cs typeface="+mn-cs"/>
                </a:rPr>
                <a:t>RIB-EXT</a:t>
              </a:r>
            </a:p>
          </p:txBody>
        </p:sp>
        <p:sp>
          <p:nvSpPr>
            <p:cNvPr id="26" name="TextBox 25">
              <a:extLst>
                <a:ext uri="{FF2B5EF4-FFF2-40B4-BE49-F238E27FC236}">
                  <a16:creationId xmlns:a16="http://schemas.microsoft.com/office/drawing/2014/main" id="{81BD90E6-87BB-44EB-A551-32B4219D4498}"/>
                </a:ext>
              </a:extLst>
            </p:cNvPr>
            <p:cNvSpPr txBox="1"/>
            <p:nvPr/>
          </p:nvSpPr>
          <p:spPr>
            <a:xfrm>
              <a:off x="8839522" y="2363616"/>
              <a:ext cx="1421414" cy="263618"/>
            </a:xfrm>
            <a:prstGeom prst="rect">
              <a:avLst/>
            </a:prstGeom>
            <a:noFill/>
          </p:spPr>
          <p:txBody>
            <a:bodyPr wrap="square" lIns="0" tIns="0" rIns="0" bIns="0" rtlCol="0">
              <a:spAutoFit/>
            </a:bodyPr>
            <a:lstStyle/>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800" b="0" i="0" u="none" strike="noStrike" kern="1200" cap="none" spc="0" normalizeH="0" baseline="0" noProof="0">
                  <a:ln>
                    <a:noFill/>
                  </a:ln>
                  <a:solidFill>
                    <a:srgbClr val="313131"/>
                  </a:solidFill>
                  <a:effectLst/>
                  <a:uLnTx/>
                  <a:uFillTx/>
                  <a:latin typeface="Calibri" panose="020F0502020204030204"/>
                  <a:ea typeface="+mn-ea"/>
                  <a:cs typeface="+mn-cs"/>
                </a:rPr>
                <a:t>Publishes / subscribes to respective queue</a:t>
              </a:r>
            </a:p>
          </p:txBody>
        </p:sp>
        <p:cxnSp>
          <p:nvCxnSpPr>
            <p:cNvPr id="27" name="Straight Arrow Connector 26">
              <a:extLst>
                <a:ext uri="{FF2B5EF4-FFF2-40B4-BE49-F238E27FC236}">
                  <a16:creationId xmlns:a16="http://schemas.microsoft.com/office/drawing/2014/main" id="{4A6FAF84-7E0C-489E-951F-F1669FE0AD46}"/>
                </a:ext>
              </a:extLst>
            </p:cNvPr>
            <p:cNvCxnSpPr>
              <a:stCxn id="20" idx="3"/>
            </p:cNvCxnSpPr>
            <p:nvPr/>
          </p:nvCxnSpPr>
          <p:spPr>
            <a:xfrm>
              <a:off x="8638323" y="1240946"/>
              <a:ext cx="0" cy="429538"/>
            </a:xfrm>
            <a:prstGeom prst="straightConnector1">
              <a:avLst/>
            </a:prstGeom>
            <a:ln>
              <a:solidFill>
                <a:srgbClr val="007CB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606A12A-EA5D-4EC9-BFBF-812768388B43}"/>
                </a:ext>
              </a:extLst>
            </p:cNvPr>
            <p:cNvCxnSpPr/>
            <p:nvPr/>
          </p:nvCxnSpPr>
          <p:spPr>
            <a:xfrm>
              <a:off x="8847480" y="1996773"/>
              <a:ext cx="0" cy="630461"/>
            </a:xfrm>
            <a:prstGeom prst="straightConnector1">
              <a:avLst/>
            </a:prstGeom>
            <a:ln>
              <a:solidFill>
                <a:srgbClr val="007CB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FBA9C067-FA8F-4742-B3C1-04A22B06974B}"/>
                </a:ext>
              </a:extLst>
            </p:cNvPr>
            <p:cNvCxnSpPr>
              <a:cxnSpLocks/>
            </p:cNvCxnSpPr>
            <p:nvPr/>
          </p:nvCxnSpPr>
          <p:spPr>
            <a:xfrm rot="16200000" flipH="1">
              <a:off x="8663340" y="3462956"/>
              <a:ext cx="285324" cy="1196"/>
            </a:xfrm>
            <a:prstGeom prst="bentConnector3">
              <a:avLst>
                <a:gd name="adj1" fmla="val 50000"/>
              </a:avLst>
            </a:prstGeom>
            <a:ln>
              <a:solidFill>
                <a:srgbClr val="007CB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A1683E4-0091-4CDB-A836-E3D136FD8BE2}"/>
                </a:ext>
              </a:extLst>
            </p:cNvPr>
            <p:cNvCxnSpPr>
              <a:stCxn id="15" idx="6"/>
              <a:endCxn id="19" idx="1"/>
            </p:cNvCxnSpPr>
            <p:nvPr/>
          </p:nvCxnSpPr>
          <p:spPr>
            <a:xfrm flipV="1">
              <a:off x="6514583" y="1050476"/>
              <a:ext cx="326750" cy="1569"/>
            </a:xfrm>
            <a:prstGeom prst="straightConnector1">
              <a:avLst/>
            </a:prstGeom>
            <a:ln>
              <a:solidFill>
                <a:srgbClr val="007CB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6E050DAA-E369-43B4-A275-872AA3D2E25C}"/>
                </a:ext>
              </a:extLst>
            </p:cNvPr>
            <p:cNvSpPr txBox="1"/>
            <p:nvPr/>
          </p:nvSpPr>
          <p:spPr>
            <a:xfrm>
              <a:off x="6702025" y="502496"/>
              <a:ext cx="1265235" cy="131809"/>
            </a:xfrm>
            <a:prstGeom prst="rect">
              <a:avLst/>
            </a:prstGeom>
            <a:noFill/>
          </p:spPr>
          <p:txBody>
            <a:bodyPr wrap="square" lIns="0" tIns="0" rIns="0" bIns="0" rtlCol="0" anchor="t">
              <a:spAutoFit/>
            </a:bodyPr>
            <a:lstStyle/>
            <a:p>
              <a:pPr>
                <a:spcBef>
                  <a:spcPts val="600"/>
                </a:spcBef>
                <a:buSzPct val="100000"/>
                <a:defRPr/>
              </a:pPr>
              <a:r>
                <a:rPr lang="en-US" sz="800">
                  <a:solidFill>
                    <a:srgbClr val="313131"/>
                  </a:solidFill>
                  <a:latin typeface="Calibri" panose="020F0502020204030204"/>
                  <a:cs typeface="Calibri"/>
                </a:rPr>
                <a:t>Oracle MFCS application</a:t>
              </a:r>
              <a:endParaRPr lang="en-US" sz="800" b="0" i="0" u="none" strike="noStrike" kern="1200" cap="none" spc="0" normalizeH="0" baseline="0" noProof="0">
                <a:ln>
                  <a:noFill/>
                </a:ln>
                <a:solidFill>
                  <a:srgbClr val="313131"/>
                </a:solidFill>
                <a:effectLst/>
                <a:uLnTx/>
                <a:uFillTx/>
                <a:latin typeface="Calibri" panose="020F0502020204030204"/>
                <a:cs typeface="Calibri"/>
              </a:endParaRPr>
            </a:p>
          </p:txBody>
        </p:sp>
        <p:sp>
          <p:nvSpPr>
            <p:cNvPr id="32" name="TextBox 31">
              <a:extLst>
                <a:ext uri="{FF2B5EF4-FFF2-40B4-BE49-F238E27FC236}">
                  <a16:creationId xmlns:a16="http://schemas.microsoft.com/office/drawing/2014/main" id="{75BEA20C-7F84-496A-8D39-DCC7FC2DB2AC}"/>
                </a:ext>
              </a:extLst>
            </p:cNvPr>
            <p:cNvSpPr txBox="1"/>
            <p:nvPr/>
          </p:nvSpPr>
          <p:spPr>
            <a:xfrm>
              <a:off x="7905117" y="4861768"/>
              <a:ext cx="1782631" cy="13180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800" b="0" i="0" u="none" strike="noStrike" kern="1200" cap="none" spc="0" normalizeH="0" baseline="0" noProof="0">
                  <a:ln>
                    <a:noFill/>
                  </a:ln>
                  <a:solidFill>
                    <a:srgbClr val="313131"/>
                  </a:solidFill>
                  <a:effectLst/>
                  <a:uLnTx/>
                  <a:uFillTx/>
                  <a:latin typeface="Calibri" panose="020F0502020204030204"/>
                  <a:ea typeface="+mn-ea"/>
                  <a:cs typeface="+mn-cs"/>
                </a:rPr>
                <a:t>3</a:t>
              </a:r>
              <a:r>
                <a:rPr kumimoji="0" lang="en-US" sz="800" b="0" i="0" u="none" strike="noStrike" kern="1200" cap="none" spc="0" normalizeH="0" baseline="30000" noProof="0">
                  <a:ln>
                    <a:noFill/>
                  </a:ln>
                  <a:solidFill>
                    <a:srgbClr val="313131"/>
                  </a:solidFill>
                  <a:effectLst/>
                  <a:uLnTx/>
                  <a:uFillTx/>
                  <a:latin typeface="Calibri" panose="020F0502020204030204"/>
                  <a:ea typeface="+mn-ea"/>
                  <a:cs typeface="+mn-cs"/>
                </a:rPr>
                <a:t>rd</a:t>
              </a:r>
              <a:r>
                <a:rPr kumimoji="0" lang="en-US" sz="800" b="0" i="0" u="none" strike="noStrike" kern="1200" cap="none" spc="0" normalizeH="0" baseline="0" noProof="0">
                  <a:ln>
                    <a:noFill/>
                  </a:ln>
                  <a:solidFill>
                    <a:srgbClr val="313131"/>
                  </a:solidFill>
                  <a:effectLst/>
                  <a:uLnTx/>
                  <a:uFillTx/>
                  <a:latin typeface="Calibri" panose="020F0502020204030204"/>
                  <a:ea typeface="+mn-ea"/>
                  <a:cs typeface="+mn-cs"/>
                </a:rPr>
                <a:t> Party/Custom (Cloud or On-prem)</a:t>
              </a:r>
            </a:p>
          </p:txBody>
        </p:sp>
        <p:sp>
          <p:nvSpPr>
            <p:cNvPr id="33" name="Freeform 997">
              <a:extLst>
                <a:ext uri="{FF2B5EF4-FFF2-40B4-BE49-F238E27FC236}">
                  <a16:creationId xmlns:a16="http://schemas.microsoft.com/office/drawing/2014/main" id="{3B504423-4BF7-4CAA-8F46-86EE73CD08EB}"/>
                </a:ext>
              </a:extLst>
            </p:cNvPr>
            <p:cNvSpPr>
              <a:spLocks noChangeAspect="1" noEditPoints="1"/>
            </p:cNvSpPr>
            <p:nvPr/>
          </p:nvSpPr>
          <p:spPr bwMode="auto">
            <a:xfrm>
              <a:off x="5645684" y="654002"/>
              <a:ext cx="294558" cy="366836"/>
            </a:xfrm>
            <a:custGeom>
              <a:avLst/>
              <a:gdLst>
                <a:gd name="T0" fmla="*/ 394 w 512"/>
                <a:gd name="T1" fmla="*/ 280 h 512"/>
                <a:gd name="T2" fmla="*/ 365 w 512"/>
                <a:gd name="T3" fmla="*/ 309 h 512"/>
                <a:gd name="T4" fmla="*/ 167 w 512"/>
                <a:gd name="T5" fmla="*/ 309 h 512"/>
                <a:gd name="T6" fmla="*/ 117 w 512"/>
                <a:gd name="T7" fmla="*/ 259 h 512"/>
                <a:gd name="T8" fmla="*/ 167 w 512"/>
                <a:gd name="T9" fmla="*/ 210 h 512"/>
                <a:gd name="T10" fmla="*/ 189 w 512"/>
                <a:gd name="T11" fmla="*/ 217 h 512"/>
                <a:gd name="T12" fmla="*/ 199 w 512"/>
                <a:gd name="T13" fmla="*/ 221 h 512"/>
                <a:gd name="T14" fmla="*/ 208 w 512"/>
                <a:gd name="T15" fmla="*/ 213 h 512"/>
                <a:gd name="T16" fmla="*/ 208 w 512"/>
                <a:gd name="T17" fmla="*/ 211 h 512"/>
                <a:gd name="T18" fmla="*/ 210 w 512"/>
                <a:gd name="T19" fmla="*/ 206 h 512"/>
                <a:gd name="T20" fmla="*/ 277 w 512"/>
                <a:gd name="T21" fmla="*/ 160 h 512"/>
                <a:gd name="T22" fmla="*/ 347 w 512"/>
                <a:gd name="T23" fmla="*/ 230 h 512"/>
                <a:gd name="T24" fmla="*/ 347 w 512"/>
                <a:gd name="T25" fmla="*/ 234 h 512"/>
                <a:gd name="T26" fmla="*/ 347 w 512"/>
                <a:gd name="T27" fmla="*/ 239 h 512"/>
                <a:gd name="T28" fmla="*/ 350 w 512"/>
                <a:gd name="T29" fmla="*/ 249 h 512"/>
                <a:gd name="T30" fmla="*/ 361 w 512"/>
                <a:gd name="T31" fmla="*/ 251 h 512"/>
                <a:gd name="T32" fmla="*/ 363 w 512"/>
                <a:gd name="T33" fmla="*/ 250 h 512"/>
                <a:gd name="T34" fmla="*/ 365 w 512"/>
                <a:gd name="T35" fmla="*/ 250 h 512"/>
                <a:gd name="T36" fmla="*/ 394 w 512"/>
                <a:gd name="T37" fmla="*/ 28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416 w 512"/>
                <a:gd name="T49" fmla="*/ 280 h 512"/>
                <a:gd name="T50" fmla="*/ 369 w 512"/>
                <a:gd name="T51" fmla="*/ 229 h 512"/>
                <a:gd name="T52" fmla="*/ 277 w 512"/>
                <a:gd name="T53" fmla="*/ 138 h 512"/>
                <a:gd name="T54" fmla="*/ 192 w 512"/>
                <a:gd name="T55" fmla="*/ 194 h 512"/>
                <a:gd name="T56" fmla="*/ 167 w 512"/>
                <a:gd name="T57" fmla="*/ 189 h 512"/>
                <a:gd name="T58" fmla="*/ 96 w 512"/>
                <a:gd name="T59" fmla="*/ 259 h 512"/>
                <a:gd name="T60" fmla="*/ 167 w 512"/>
                <a:gd name="T61" fmla="*/ 330 h 512"/>
                <a:gd name="T62" fmla="*/ 365 w 512"/>
                <a:gd name="T63" fmla="*/ 330 h 512"/>
                <a:gd name="T64" fmla="*/ 416 w 512"/>
                <a:gd name="T65" fmla="*/ 2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94" y="280"/>
                  </a:moveTo>
                  <a:cubicBezTo>
                    <a:pt x="394" y="296"/>
                    <a:pt x="381" y="309"/>
                    <a:pt x="365" y="309"/>
                  </a:cubicBezTo>
                  <a:cubicBezTo>
                    <a:pt x="167" y="309"/>
                    <a:pt x="167" y="309"/>
                    <a:pt x="167" y="309"/>
                  </a:cubicBezTo>
                  <a:cubicBezTo>
                    <a:pt x="139" y="309"/>
                    <a:pt x="117" y="287"/>
                    <a:pt x="117" y="259"/>
                  </a:cubicBezTo>
                  <a:cubicBezTo>
                    <a:pt x="117" y="232"/>
                    <a:pt x="139" y="210"/>
                    <a:pt x="167" y="210"/>
                  </a:cubicBezTo>
                  <a:cubicBezTo>
                    <a:pt x="175" y="210"/>
                    <a:pt x="182" y="212"/>
                    <a:pt x="189" y="217"/>
                  </a:cubicBezTo>
                  <a:cubicBezTo>
                    <a:pt x="191" y="220"/>
                    <a:pt x="195" y="222"/>
                    <a:pt x="199" y="221"/>
                  </a:cubicBezTo>
                  <a:cubicBezTo>
                    <a:pt x="204" y="220"/>
                    <a:pt x="207" y="217"/>
                    <a:pt x="208" y="213"/>
                  </a:cubicBezTo>
                  <a:cubicBezTo>
                    <a:pt x="208" y="211"/>
                    <a:pt x="208" y="211"/>
                    <a:pt x="208" y="211"/>
                  </a:cubicBezTo>
                  <a:cubicBezTo>
                    <a:pt x="209" y="209"/>
                    <a:pt x="209" y="208"/>
                    <a:pt x="210" y="206"/>
                  </a:cubicBezTo>
                  <a:cubicBezTo>
                    <a:pt x="220" y="179"/>
                    <a:pt x="248" y="160"/>
                    <a:pt x="277" y="160"/>
                  </a:cubicBezTo>
                  <a:cubicBezTo>
                    <a:pt x="316" y="160"/>
                    <a:pt x="347" y="191"/>
                    <a:pt x="347" y="230"/>
                  </a:cubicBezTo>
                  <a:cubicBezTo>
                    <a:pt x="347" y="231"/>
                    <a:pt x="347" y="232"/>
                    <a:pt x="347" y="234"/>
                  </a:cubicBezTo>
                  <a:cubicBezTo>
                    <a:pt x="347" y="236"/>
                    <a:pt x="347" y="237"/>
                    <a:pt x="347" y="239"/>
                  </a:cubicBezTo>
                  <a:cubicBezTo>
                    <a:pt x="346" y="243"/>
                    <a:pt x="348" y="247"/>
                    <a:pt x="350" y="249"/>
                  </a:cubicBezTo>
                  <a:cubicBezTo>
                    <a:pt x="353" y="251"/>
                    <a:pt x="357" y="252"/>
                    <a:pt x="361" y="251"/>
                  </a:cubicBezTo>
                  <a:cubicBezTo>
                    <a:pt x="362" y="250"/>
                    <a:pt x="363" y="250"/>
                    <a:pt x="363" y="250"/>
                  </a:cubicBezTo>
                  <a:cubicBezTo>
                    <a:pt x="364" y="250"/>
                    <a:pt x="364" y="250"/>
                    <a:pt x="365" y="250"/>
                  </a:cubicBezTo>
                  <a:cubicBezTo>
                    <a:pt x="381" y="250"/>
                    <a:pt x="394" y="263"/>
                    <a:pt x="394" y="28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80"/>
                  </a:moveTo>
                  <a:cubicBezTo>
                    <a:pt x="416" y="253"/>
                    <a:pt x="395" y="231"/>
                    <a:pt x="369" y="229"/>
                  </a:cubicBezTo>
                  <a:cubicBezTo>
                    <a:pt x="368" y="179"/>
                    <a:pt x="327" y="138"/>
                    <a:pt x="277" y="138"/>
                  </a:cubicBezTo>
                  <a:cubicBezTo>
                    <a:pt x="240" y="138"/>
                    <a:pt x="206" y="161"/>
                    <a:pt x="192" y="194"/>
                  </a:cubicBezTo>
                  <a:cubicBezTo>
                    <a:pt x="184" y="190"/>
                    <a:pt x="176" y="189"/>
                    <a:pt x="167" y="189"/>
                  </a:cubicBezTo>
                  <a:cubicBezTo>
                    <a:pt x="127" y="189"/>
                    <a:pt x="96" y="220"/>
                    <a:pt x="96" y="259"/>
                  </a:cubicBezTo>
                  <a:cubicBezTo>
                    <a:pt x="96" y="299"/>
                    <a:pt x="127" y="330"/>
                    <a:pt x="167" y="330"/>
                  </a:cubicBezTo>
                  <a:cubicBezTo>
                    <a:pt x="365" y="330"/>
                    <a:pt x="365" y="330"/>
                    <a:pt x="365" y="330"/>
                  </a:cubicBezTo>
                  <a:cubicBezTo>
                    <a:pt x="393" y="330"/>
                    <a:pt x="416" y="308"/>
                    <a:pt x="416" y="280"/>
                  </a:cubicBezTo>
                  <a:close/>
                </a:path>
              </a:pathLst>
            </a:custGeom>
            <a:solidFill>
              <a:schemeClr val="accent2"/>
            </a:solidFill>
            <a:ln>
              <a:noFill/>
            </a:ln>
          </p:spPr>
          <p:txBody>
            <a:bodyPr vert="horz" wrap="square" lIns="68750" tIns="34375" rIns="68750" bIns="34375" numCol="1" anchor="t" anchorCtr="0" compatLnSpc="1">
              <a:prstTxWarp prst="textNoShape">
                <a:avLst/>
              </a:prstTxWarp>
            </a:bodyPr>
            <a:lstStyle/>
            <a:p>
              <a:pPr marL="0" marR="0" lvl="0" indent="0" algn="l" defTabSz="687537" rtl="0" eaLnBrk="1" fontAlgn="auto" latinLnBrk="0" hangingPunct="1">
                <a:lnSpc>
                  <a:spcPct val="100000"/>
                </a:lnSpc>
                <a:spcBef>
                  <a:spcPts val="0"/>
                </a:spcBef>
                <a:spcAft>
                  <a:spcPts val="0"/>
                </a:spcAft>
                <a:buClrTx/>
                <a:buSzTx/>
                <a:buFontTx/>
                <a:buNone/>
                <a:tabLst/>
                <a:defRPr/>
              </a:pPr>
              <a:endParaRPr kumimoji="0" lang="en-GB" sz="1353"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sp>
        <p:nvSpPr>
          <p:cNvPr id="34" name="TextBox 33">
            <a:extLst>
              <a:ext uri="{FF2B5EF4-FFF2-40B4-BE49-F238E27FC236}">
                <a16:creationId xmlns:a16="http://schemas.microsoft.com/office/drawing/2014/main" id="{FA792A8C-A58B-4F76-9398-9A304C056F6F}"/>
              </a:ext>
            </a:extLst>
          </p:cNvPr>
          <p:cNvSpPr txBox="1"/>
          <p:nvPr/>
        </p:nvSpPr>
        <p:spPr>
          <a:xfrm>
            <a:off x="6043549" y="5711225"/>
            <a:ext cx="6148451" cy="723275"/>
          </a:xfrm>
          <a:prstGeom prst="rect">
            <a:avLst/>
          </a:prstGeom>
          <a:noFill/>
        </p:spPr>
        <p:txBody>
          <a:bodyPr wrap="square" numCol="2" rtlCol="0">
            <a:spAutoFit/>
          </a:bodyPr>
          <a:lstStyle/>
          <a:p>
            <a:pPr marL="0" marR="0" lvl="0" indent="0" algn="l" defTabSz="957998" rtl="0" eaLnBrk="1" fontAlgn="auto" latinLnBrk="0" hangingPunct="1">
              <a:lnSpc>
                <a:spcPct val="100000"/>
              </a:lnSpc>
              <a:spcBef>
                <a:spcPts val="300"/>
              </a:spcBef>
              <a:spcAft>
                <a:spcPts val="0"/>
              </a:spcAft>
              <a:buClrTx/>
              <a:buSzTx/>
              <a:buFontTx/>
              <a:buNone/>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MFCS to WMS Data Flow :-</a:t>
            </a: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Foundation Data – Vendors, Items and Stores</a:t>
            </a: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Purchase Orders</a:t>
            </a: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Inventory Transactions</a:t>
            </a:r>
          </a:p>
        </p:txBody>
      </p:sp>
      <p:sp>
        <p:nvSpPr>
          <p:cNvPr id="35" name="TextBox 34">
            <a:extLst>
              <a:ext uri="{FF2B5EF4-FFF2-40B4-BE49-F238E27FC236}">
                <a16:creationId xmlns:a16="http://schemas.microsoft.com/office/drawing/2014/main" id="{AD6251F6-9DAC-44AC-91AC-CC932BD6201C}"/>
              </a:ext>
            </a:extLst>
          </p:cNvPr>
          <p:cNvSpPr txBox="1"/>
          <p:nvPr/>
        </p:nvSpPr>
        <p:spPr>
          <a:xfrm>
            <a:off x="10938649" y="1890607"/>
            <a:ext cx="73233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RICS(RIB)</a:t>
            </a:r>
          </a:p>
        </p:txBody>
      </p:sp>
      <p:sp>
        <p:nvSpPr>
          <p:cNvPr id="36" name="Rectangle 35">
            <a:extLst>
              <a:ext uri="{FF2B5EF4-FFF2-40B4-BE49-F238E27FC236}">
                <a16:creationId xmlns:a16="http://schemas.microsoft.com/office/drawing/2014/main" id="{153E02BC-64BD-4C2C-A715-D939608B44B1}"/>
              </a:ext>
            </a:extLst>
          </p:cNvPr>
          <p:cNvSpPr/>
          <p:nvPr/>
        </p:nvSpPr>
        <p:spPr bwMode="gray">
          <a:xfrm>
            <a:off x="10654503" y="3086536"/>
            <a:ext cx="739934" cy="273351"/>
          </a:xfrm>
          <a:prstGeom prst="rect">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JMS Console</a:t>
            </a:r>
          </a:p>
        </p:txBody>
      </p:sp>
      <p:sp>
        <p:nvSpPr>
          <p:cNvPr id="37" name="Rectangle 36">
            <a:extLst>
              <a:ext uri="{FF2B5EF4-FFF2-40B4-BE49-F238E27FC236}">
                <a16:creationId xmlns:a16="http://schemas.microsoft.com/office/drawing/2014/main" id="{459AB0CB-1350-4117-A708-FA2FAF8F3D7C}"/>
              </a:ext>
            </a:extLst>
          </p:cNvPr>
          <p:cNvSpPr/>
          <p:nvPr/>
        </p:nvSpPr>
        <p:spPr bwMode="gray">
          <a:xfrm>
            <a:off x="10673553" y="3556020"/>
            <a:ext cx="739934" cy="273351"/>
          </a:xfrm>
          <a:prstGeom prst="rect">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RIB EXT  RIHA Console</a:t>
            </a:r>
          </a:p>
        </p:txBody>
      </p:sp>
      <p:cxnSp>
        <p:nvCxnSpPr>
          <p:cNvPr id="38" name="Connector: Elbow 37">
            <a:extLst>
              <a:ext uri="{FF2B5EF4-FFF2-40B4-BE49-F238E27FC236}">
                <a16:creationId xmlns:a16="http://schemas.microsoft.com/office/drawing/2014/main" id="{CE61A367-979C-4420-92F2-FEDF5B2CD986}"/>
              </a:ext>
            </a:extLst>
          </p:cNvPr>
          <p:cNvCxnSpPr>
            <a:cxnSpLocks/>
            <a:endCxn id="36" idx="1"/>
          </p:cNvCxnSpPr>
          <p:nvPr/>
        </p:nvCxnSpPr>
        <p:spPr>
          <a:xfrm flipV="1">
            <a:off x="10127430" y="3223212"/>
            <a:ext cx="527073" cy="3455"/>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Magnetic Disk 38">
            <a:extLst>
              <a:ext uri="{FF2B5EF4-FFF2-40B4-BE49-F238E27FC236}">
                <a16:creationId xmlns:a16="http://schemas.microsoft.com/office/drawing/2014/main" id="{E41A17E1-0AC1-4C0D-8D26-110901933C90}"/>
              </a:ext>
            </a:extLst>
          </p:cNvPr>
          <p:cNvSpPr/>
          <p:nvPr/>
        </p:nvSpPr>
        <p:spPr bwMode="gray">
          <a:xfrm>
            <a:off x="10055449" y="3846858"/>
            <a:ext cx="541295" cy="310179"/>
          </a:xfrm>
          <a:prstGeom prst="flowChartMagneticDisk">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Error Hospital</a:t>
            </a:r>
          </a:p>
        </p:txBody>
      </p:sp>
      <p:cxnSp>
        <p:nvCxnSpPr>
          <p:cNvPr id="40" name="Connector: Elbow 39">
            <a:extLst>
              <a:ext uri="{FF2B5EF4-FFF2-40B4-BE49-F238E27FC236}">
                <a16:creationId xmlns:a16="http://schemas.microsoft.com/office/drawing/2014/main" id="{58134CE4-C4D9-4587-938C-28016744198F}"/>
              </a:ext>
            </a:extLst>
          </p:cNvPr>
          <p:cNvCxnSpPr>
            <a:cxnSpLocks/>
            <a:endCxn id="39" idx="2"/>
          </p:cNvCxnSpPr>
          <p:nvPr/>
        </p:nvCxnSpPr>
        <p:spPr>
          <a:xfrm>
            <a:off x="9744070" y="4000671"/>
            <a:ext cx="311379" cy="1277"/>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67584117-5080-41DE-908F-900C6FEAA229}"/>
              </a:ext>
            </a:extLst>
          </p:cNvPr>
          <p:cNvCxnSpPr>
            <a:cxnSpLocks/>
            <a:stCxn id="39" idx="4"/>
            <a:endCxn id="37" idx="2"/>
          </p:cNvCxnSpPr>
          <p:nvPr/>
        </p:nvCxnSpPr>
        <p:spPr>
          <a:xfrm flipV="1">
            <a:off x="10596744" y="3829371"/>
            <a:ext cx="446776" cy="172577"/>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 name="Flowchart: Magnetic Disk 41">
            <a:extLst>
              <a:ext uri="{FF2B5EF4-FFF2-40B4-BE49-F238E27FC236}">
                <a16:creationId xmlns:a16="http://schemas.microsoft.com/office/drawing/2014/main" id="{D695473A-31AF-4E72-9C5A-6C829FF99A20}"/>
              </a:ext>
            </a:extLst>
          </p:cNvPr>
          <p:cNvSpPr/>
          <p:nvPr/>
        </p:nvSpPr>
        <p:spPr bwMode="gray">
          <a:xfrm>
            <a:off x="7959949" y="1976783"/>
            <a:ext cx="541295" cy="310179"/>
          </a:xfrm>
          <a:prstGeom prst="flowChartMagneticDisk">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Error Hospital</a:t>
            </a:r>
          </a:p>
        </p:txBody>
      </p:sp>
      <p:cxnSp>
        <p:nvCxnSpPr>
          <p:cNvPr id="43" name="Connector: Elbow 42">
            <a:extLst>
              <a:ext uri="{FF2B5EF4-FFF2-40B4-BE49-F238E27FC236}">
                <a16:creationId xmlns:a16="http://schemas.microsoft.com/office/drawing/2014/main" id="{C4FC40C4-B3BF-4A26-8BE8-9DC38B012E1A}"/>
              </a:ext>
            </a:extLst>
          </p:cNvPr>
          <p:cNvCxnSpPr>
            <a:cxnSpLocks/>
            <a:endCxn id="42" idx="4"/>
          </p:cNvCxnSpPr>
          <p:nvPr/>
        </p:nvCxnSpPr>
        <p:spPr>
          <a:xfrm rot="10800000">
            <a:off x="8501245" y="2131873"/>
            <a:ext cx="463121" cy="1424"/>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F6C2028C-4490-4E09-8FE2-7EABCB203960}"/>
              </a:ext>
            </a:extLst>
          </p:cNvPr>
          <p:cNvSpPr/>
          <p:nvPr/>
        </p:nvSpPr>
        <p:spPr bwMode="gray">
          <a:xfrm>
            <a:off x="7854153" y="2527320"/>
            <a:ext cx="739934" cy="273351"/>
          </a:xfrm>
          <a:prstGeom prst="rect">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RIB RMS RIHA Console</a:t>
            </a:r>
          </a:p>
        </p:txBody>
      </p:sp>
      <p:cxnSp>
        <p:nvCxnSpPr>
          <p:cNvPr id="45" name="Connector: Elbow 44">
            <a:extLst>
              <a:ext uri="{FF2B5EF4-FFF2-40B4-BE49-F238E27FC236}">
                <a16:creationId xmlns:a16="http://schemas.microsoft.com/office/drawing/2014/main" id="{FD254342-6431-4F0D-8AB4-A0C66A36ED73}"/>
              </a:ext>
            </a:extLst>
          </p:cNvPr>
          <p:cNvCxnSpPr>
            <a:cxnSpLocks/>
          </p:cNvCxnSpPr>
          <p:nvPr/>
        </p:nvCxnSpPr>
        <p:spPr>
          <a:xfrm rot="5400000">
            <a:off x="8107180" y="2403903"/>
            <a:ext cx="240358" cy="6477"/>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6B6DD0C4-D224-4B3B-975E-0BA8FDFFA292}"/>
              </a:ext>
            </a:extLst>
          </p:cNvPr>
          <p:cNvSpPr/>
          <p:nvPr/>
        </p:nvSpPr>
        <p:spPr>
          <a:xfrm>
            <a:off x="5916117" y="5301488"/>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4</a:t>
            </a:r>
          </a:p>
        </p:txBody>
      </p:sp>
      <p:sp>
        <p:nvSpPr>
          <p:cNvPr id="48" name="Title 1">
            <a:extLst>
              <a:ext uri="{FF2B5EF4-FFF2-40B4-BE49-F238E27FC236}">
                <a16:creationId xmlns:a16="http://schemas.microsoft.com/office/drawing/2014/main" id="{48543941-42D5-439E-A8F0-961E3ACC8A59}"/>
              </a:ext>
            </a:extLst>
          </p:cNvPr>
          <p:cNvSpPr txBox="1">
            <a:spLocks/>
          </p:cNvSpPr>
          <p:nvPr/>
        </p:nvSpPr>
        <p:spPr bwMode="gray">
          <a:xfrm>
            <a:off x="438783" y="408346"/>
            <a:ext cx="11247120" cy="430887"/>
          </a:xfrm>
          <a:prstGeom prst="rect">
            <a:avLst/>
          </a:prstGeom>
        </p:spPr>
        <p:txBody>
          <a:bodyPr vert="horz" lIns="0" tIns="0" rIns="0" bIns="0" rtlCol="0" anchor="t" anchorCtr="0">
            <a:spAutoFit/>
          </a:bodyPr>
          <a:lstStyle>
            <a:lvl1pPr algn="l" defTabSz="1217613" rtl="0" eaLnBrk="1" fontAlgn="base" latinLnBrk="0" hangingPunct="1">
              <a:spcBef>
                <a:spcPct val="0"/>
              </a:spcBef>
              <a:spcAft>
                <a:spcPct val="0"/>
              </a:spcAft>
              <a:buNone/>
              <a:defRPr lang="en-US" sz="3200" b="0" kern="1200" spc="-50" noProof="0" dirty="0">
                <a:solidFill>
                  <a:schemeClr val="tx1"/>
                </a:solidFill>
                <a:latin typeface="+mj-lt"/>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2800">
                <a:latin typeface="+mj-lt"/>
                <a:ea typeface="+mj-ea"/>
                <a:cs typeface="Calibri Light" panose="020F0302020204030204" pitchFamily="34" charset="0"/>
              </a:rPr>
              <a:t>2 – RIB: Retail Integration Bus</a:t>
            </a:r>
            <a:endParaRPr kumimoji="0" lang="en-US" sz="2800" b="0" i="0" u="none" strike="noStrike" kern="1200" cap="none" spc="0" normalizeH="0" baseline="0" noProof="0">
              <a:ln>
                <a:noFill/>
              </a:ln>
              <a:solidFill>
                <a:prstClr val="black"/>
              </a:solidFill>
              <a:effectLst/>
              <a:uLnTx/>
              <a:uFillTx/>
              <a:latin typeface="Open Sans Light"/>
              <a:ea typeface="+mj-ea"/>
              <a:cs typeface="+mj-cs"/>
            </a:endParaRPr>
          </a:p>
        </p:txBody>
      </p:sp>
      <p:sp>
        <p:nvSpPr>
          <p:cNvPr id="49" name="Text Box 10">
            <a:extLst>
              <a:ext uri="{FF2B5EF4-FFF2-40B4-BE49-F238E27FC236}">
                <a16:creationId xmlns:a16="http://schemas.microsoft.com/office/drawing/2014/main" id="{692405CE-8358-442D-85AB-09F001F9A428}"/>
              </a:ext>
            </a:extLst>
          </p:cNvPr>
          <p:cNvSpPr txBox="1">
            <a:spLocks noChangeArrowheads="1"/>
          </p:cNvSpPr>
          <p:nvPr/>
        </p:nvSpPr>
        <p:spPr bwMode="auto">
          <a:xfrm>
            <a:off x="6045284" y="3393172"/>
            <a:ext cx="1229596" cy="250190"/>
          </a:xfrm>
          <a:prstGeom prst="rect">
            <a:avLst/>
          </a:prstGeom>
          <a:solidFill>
            <a:srgbClr val="007CB0"/>
          </a:solidFill>
          <a:ln w="12700" algn="ctr">
            <a:noFill/>
            <a:miter lim="800000"/>
            <a:headEnd/>
            <a:tailEnd type="none" w="sm" len="med"/>
          </a:ln>
        </p:spPr>
        <p:txBody>
          <a:bodyPr lIns="19902" tIns="19902" rIns="19902" bIns="19902" anchor="ctr" anchorCtr="1"/>
          <a:lstStyle/>
          <a:p>
            <a:pPr marL="0" marR="0" lvl="0" indent="0" algn="ctr" defTabSz="528601" rtl="0" eaLnBrk="1" fontAlgn="base" latinLnBrk="0" hangingPunct="1">
              <a:lnSpc>
                <a:spcPct val="100000"/>
              </a:lnSpc>
              <a:spcBef>
                <a:spcPct val="20000"/>
              </a:spcBef>
              <a:spcAft>
                <a:spcPct val="0"/>
              </a:spcAft>
              <a:buClrTx/>
              <a:buSzTx/>
              <a:buFontTx/>
              <a:buNone/>
              <a:tabLst/>
              <a:defRPr/>
            </a:pPr>
            <a:r>
              <a:rPr lang="en-US" sz="1000" b="1" kern="0">
                <a:solidFill>
                  <a:srgbClr val="FFFFFF"/>
                </a:solidFill>
                <a:latin typeface="Calibri" panose="020F0502020204030204"/>
                <a:cs typeface="Arial" pitchFamily="34" charset="0"/>
              </a:rPr>
              <a:t>Middleware</a:t>
            </a:r>
            <a:endParaRPr kumimoji="0" lang="en-US" sz="1000" b="1" i="0" u="none" strike="noStrike" kern="0" cap="none" spc="0" normalizeH="0" baseline="0" noProof="0">
              <a:ln>
                <a:noFill/>
              </a:ln>
              <a:solidFill>
                <a:srgbClr val="FFFFFF"/>
              </a:solidFill>
              <a:effectLst/>
              <a:uLnTx/>
              <a:uFillTx/>
              <a:latin typeface="Calibri" panose="020F0502020204030204"/>
              <a:ea typeface="+mn-ea"/>
              <a:cs typeface="Arial" pitchFamily="34" charset="0"/>
            </a:endParaRPr>
          </a:p>
        </p:txBody>
      </p:sp>
      <p:cxnSp>
        <p:nvCxnSpPr>
          <p:cNvPr id="50" name="Straight Arrow Connector 49">
            <a:extLst>
              <a:ext uri="{FF2B5EF4-FFF2-40B4-BE49-F238E27FC236}">
                <a16:creationId xmlns:a16="http://schemas.microsoft.com/office/drawing/2014/main" id="{49BE38D2-9BB4-4297-9E6E-FF33D87F668C}"/>
              </a:ext>
            </a:extLst>
          </p:cNvPr>
          <p:cNvCxnSpPr>
            <a:cxnSpLocks/>
          </p:cNvCxnSpPr>
          <p:nvPr/>
        </p:nvCxnSpPr>
        <p:spPr>
          <a:xfrm flipV="1">
            <a:off x="9176529" y="2255210"/>
            <a:ext cx="0" cy="660950"/>
          </a:xfrm>
          <a:prstGeom prst="straightConnector1">
            <a:avLst/>
          </a:prstGeom>
          <a:ln>
            <a:solidFill>
              <a:srgbClr val="43B02A"/>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05D4CB9-ED35-4923-A6DB-FA3BA248537B}"/>
              </a:ext>
            </a:extLst>
          </p:cNvPr>
          <p:cNvCxnSpPr>
            <a:cxnSpLocks/>
          </p:cNvCxnSpPr>
          <p:nvPr/>
        </p:nvCxnSpPr>
        <p:spPr>
          <a:xfrm>
            <a:off x="7105662" y="3915659"/>
            <a:ext cx="1727351" cy="0"/>
          </a:xfrm>
          <a:prstGeom prst="straightConnector1">
            <a:avLst/>
          </a:prstGeom>
          <a:ln>
            <a:solidFill>
              <a:srgbClr val="43B02A"/>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E0FEB2E-12C0-4234-A1AC-3FF837DB85A5}"/>
              </a:ext>
            </a:extLst>
          </p:cNvPr>
          <p:cNvCxnSpPr>
            <a:cxnSpLocks/>
          </p:cNvCxnSpPr>
          <p:nvPr/>
        </p:nvCxnSpPr>
        <p:spPr>
          <a:xfrm flipV="1">
            <a:off x="9176529" y="3537175"/>
            <a:ext cx="0" cy="303861"/>
          </a:xfrm>
          <a:prstGeom prst="straightConnector1">
            <a:avLst/>
          </a:prstGeom>
          <a:ln>
            <a:solidFill>
              <a:srgbClr val="43B02A"/>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303DFE0-402B-4E78-BA1C-8E4B9D336884}"/>
              </a:ext>
            </a:extLst>
          </p:cNvPr>
          <p:cNvCxnSpPr>
            <a:cxnSpLocks/>
          </p:cNvCxnSpPr>
          <p:nvPr/>
        </p:nvCxnSpPr>
        <p:spPr>
          <a:xfrm flipV="1">
            <a:off x="10127430" y="1588117"/>
            <a:ext cx="0" cy="355802"/>
          </a:xfrm>
          <a:prstGeom prst="straightConnector1">
            <a:avLst/>
          </a:prstGeom>
          <a:ln>
            <a:solidFill>
              <a:srgbClr val="43B02A"/>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0F745C3D-6835-4468-BD82-B59AA7FB951E}"/>
              </a:ext>
            </a:extLst>
          </p:cNvPr>
          <p:cNvSpPr txBox="1"/>
          <p:nvPr/>
        </p:nvSpPr>
        <p:spPr>
          <a:xfrm>
            <a:off x="7474076" y="4693665"/>
            <a:ext cx="748304" cy="123111"/>
          </a:xfrm>
          <a:prstGeom prst="rect">
            <a:avLst/>
          </a:prstGeom>
          <a:noFill/>
        </p:spPr>
        <p:txBody>
          <a:bodyPr wrap="square" lIns="0" tIns="0" rIns="0" bIns="0" rtlCol="0" anchor="t">
            <a:spAutoFit/>
          </a:bodyPr>
          <a:lstStyle/>
          <a:p>
            <a:pPr>
              <a:spcBef>
                <a:spcPts val="600"/>
              </a:spcBef>
              <a:buSzPct val="100000"/>
              <a:defRPr/>
            </a:pPr>
            <a:r>
              <a:rPr lang="en-US" sz="800" b="0" i="0" u="none" strike="noStrike" kern="1200" cap="none" spc="0" normalizeH="0" baseline="0" noProof="0">
                <a:ln>
                  <a:noFill/>
                </a:ln>
                <a:solidFill>
                  <a:srgbClr val="313131"/>
                </a:solidFill>
                <a:effectLst/>
                <a:uLnTx/>
                <a:uFillTx/>
                <a:latin typeface="Calibri" panose="020F0502020204030204"/>
                <a:cs typeface="Calibri"/>
              </a:rPr>
              <a:t>Data Feed</a:t>
            </a:r>
          </a:p>
        </p:txBody>
      </p:sp>
      <p:grpSp>
        <p:nvGrpSpPr>
          <p:cNvPr id="55" name="General_Border_34">
            <a:extLst>
              <a:ext uri="{FF2B5EF4-FFF2-40B4-BE49-F238E27FC236}">
                <a16:creationId xmlns:a16="http://schemas.microsoft.com/office/drawing/2014/main" id="{64387E85-3715-4D3A-BA49-8E78D0CE620A}"/>
              </a:ext>
            </a:extLst>
          </p:cNvPr>
          <p:cNvGrpSpPr>
            <a:grpSpLocks noChangeAspect="1"/>
          </p:cNvGrpSpPr>
          <p:nvPr/>
        </p:nvGrpSpPr>
        <p:grpSpPr bwMode="auto">
          <a:xfrm>
            <a:off x="8903" y="0"/>
            <a:ext cx="340" cy="340"/>
            <a:chOff x="5018" y="1229"/>
            <a:chExt cx="340" cy="340"/>
          </a:xfrm>
          <a:solidFill>
            <a:schemeClr val="accent4"/>
          </a:solidFill>
        </p:grpSpPr>
        <p:sp>
          <p:nvSpPr>
            <p:cNvPr id="56" name="Freeform 350">
              <a:extLst>
                <a:ext uri="{FF2B5EF4-FFF2-40B4-BE49-F238E27FC236}">
                  <a16:creationId xmlns:a16="http://schemas.microsoft.com/office/drawing/2014/main" id="{5A08370E-ED2C-4C6C-BFBD-7C2A598AFE72}"/>
                </a:ext>
              </a:extLst>
            </p:cNvPr>
            <p:cNvSpPr>
              <a:spLocks noEditPoints="1"/>
            </p:cNvSpPr>
            <p:nvPr/>
          </p:nvSpPr>
          <p:spPr bwMode="auto">
            <a:xfrm>
              <a:off x="5103" y="1293"/>
              <a:ext cx="170" cy="212"/>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57" name="Freeform 351">
              <a:extLst>
                <a:ext uri="{FF2B5EF4-FFF2-40B4-BE49-F238E27FC236}">
                  <a16:creationId xmlns:a16="http://schemas.microsoft.com/office/drawing/2014/main" id="{D3E73D1B-3F52-42CE-922E-805D42DE194C}"/>
                </a:ext>
              </a:extLst>
            </p:cNvPr>
            <p:cNvSpPr>
              <a:spLocks noEditPoints="1"/>
            </p:cNvSpPr>
            <p:nvPr/>
          </p:nvSpPr>
          <p:spPr bwMode="auto">
            <a:xfrm>
              <a:off x="5018" y="122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sp>
        <p:nvSpPr>
          <p:cNvPr id="58" name="TextBox 57">
            <a:extLst>
              <a:ext uri="{FF2B5EF4-FFF2-40B4-BE49-F238E27FC236}">
                <a16:creationId xmlns:a16="http://schemas.microsoft.com/office/drawing/2014/main" id="{7AEBB97E-D9BD-4B0C-9633-319B1A09BC3C}"/>
              </a:ext>
            </a:extLst>
          </p:cNvPr>
          <p:cNvSpPr txBox="1"/>
          <p:nvPr/>
        </p:nvSpPr>
        <p:spPr>
          <a:xfrm>
            <a:off x="7670613" y="3932747"/>
            <a:ext cx="748304" cy="123111"/>
          </a:xfrm>
          <a:prstGeom prst="rect">
            <a:avLst/>
          </a:prstGeom>
          <a:noFill/>
        </p:spPr>
        <p:txBody>
          <a:bodyPr wrap="square" lIns="0" tIns="0" rIns="0" bIns="0" rtlCol="0" anchor="t">
            <a:spAutoFit/>
          </a:bodyPr>
          <a:lstStyle/>
          <a:p>
            <a:pPr>
              <a:spcBef>
                <a:spcPts val="600"/>
              </a:spcBef>
              <a:buSzPct val="100000"/>
              <a:defRPr/>
            </a:pPr>
            <a:r>
              <a:rPr lang="en-US" sz="800" b="0" i="0" u="none" strike="noStrike" kern="1200" cap="none" spc="0" normalizeH="0" baseline="0" noProof="0">
                <a:ln>
                  <a:noFill/>
                </a:ln>
                <a:solidFill>
                  <a:srgbClr val="313131"/>
                </a:solidFill>
                <a:effectLst/>
                <a:uLnTx/>
                <a:uFillTx/>
                <a:latin typeface="Calibri" panose="020F0502020204030204"/>
                <a:cs typeface="Calibri"/>
              </a:rPr>
              <a:t>Web Service calls</a:t>
            </a:r>
          </a:p>
        </p:txBody>
      </p:sp>
      <p:sp>
        <p:nvSpPr>
          <p:cNvPr id="59" name="Rectangle 58">
            <a:extLst>
              <a:ext uri="{FF2B5EF4-FFF2-40B4-BE49-F238E27FC236}">
                <a16:creationId xmlns:a16="http://schemas.microsoft.com/office/drawing/2014/main" id="{1ABD739D-C5B1-4A90-9652-61050912A14A}"/>
              </a:ext>
            </a:extLst>
          </p:cNvPr>
          <p:cNvSpPr/>
          <p:nvPr/>
        </p:nvSpPr>
        <p:spPr bwMode="gray">
          <a:xfrm>
            <a:off x="9773394" y="1237643"/>
            <a:ext cx="739934" cy="355802"/>
          </a:xfrm>
          <a:prstGeom prst="rect">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Base Tables</a:t>
            </a:r>
          </a:p>
        </p:txBody>
      </p:sp>
      <p:cxnSp>
        <p:nvCxnSpPr>
          <p:cNvPr id="60" name="Straight Arrow Connector 59">
            <a:extLst>
              <a:ext uri="{FF2B5EF4-FFF2-40B4-BE49-F238E27FC236}">
                <a16:creationId xmlns:a16="http://schemas.microsoft.com/office/drawing/2014/main" id="{7DC456DE-80AB-4C89-8B42-0E70A6DF1F8B}"/>
              </a:ext>
            </a:extLst>
          </p:cNvPr>
          <p:cNvCxnSpPr>
            <a:cxnSpLocks/>
          </p:cNvCxnSpPr>
          <p:nvPr/>
        </p:nvCxnSpPr>
        <p:spPr>
          <a:xfrm flipH="1">
            <a:off x="7086338" y="4096072"/>
            <a:ext cx="1746675" cy="0"/>
          </a:xfrm>
          <a:prstGeom prst="straightConnector1">
            <a:avLst/>
          </a:prstGeom>
          <a:ln>
            <a:solidFill>
              <a:srgbClr val="007CB0"/>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38185A82-991E-49EC-B7A7-9DAD3F2DA78F}"/>
              </a:ext>
            </a:extLst>
          </p:cNvPr>
          <p:cNvSpPr/>
          <p:nvPr/>
        </p:nvSpPr>
        <p:spPr bwMode="gray">
          <a:xfrm>
            <a:off x="6529251" y="4111868"/>
            <a:ext cx="555808" cy="330156"/>
          </a:xfrm>
          <a:prstGeom prst="rect">
            <a:avLst/>
          </a:prstGeom>
          <a:solidFill>
            <a:schemeClr val="bg1">
              <a:lumMod val="65000"/>
            </a:schemeClr>
          </a:solidFill>
          <a:ln w="19050" algn="ctr">
            <a:solidFill>
              <a:schemeClr val="bg1">
                <a:lumMod val="6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a:solidFill>
                  <a:schemeClr val="bg1"/>
                </a:solidFill>
              </a:rPr>
              <a:t>RIB  </a:t>
            </a:r>
            <a:r>
              <a:rPr lang="en-US" sz="700" b="1">
                <a:solidFill>
                  <a:schemeClr val="bg1"/>
                </a:solidFill>
              </a:rPr>
              <a:t>Injector Service</a:t>
            </a:r>
          </a:p>
        </p:txBody>
      </p:sp>
      <p:sp>
        <p:nvSpPr>
          <p:cNvPr id="62" name="Rectangle 61">
            <a:extLst>
              <a:ext uri="{FF2B5EF4-FFF2-40B4-BE49-F238E27FC236}">
                <a16:creationId xmlns:a16="http://schemas.microsoft.com/office/drawing/2014/main" id="{64C01822-F720-460F-86B0-5F3BCCA91586}"/>
              </a:ext>
            </a:extLst>
          </p:cNvPr>
          <p:cNvSpPr/>
          <p:nvPr/>
        </p:nvSpPr>
        <p:spPr>
          <a:xfrm>
            <a:off x="6071911" y="3782014"/>
            <a:ext cx="386969" cy="369332"/>
          </a:xfrm>
          <a:prstGeom prst="rect">
            <a:avLst/>
          </a:prstGeom>
          <a:noFill/>
        </p:spPr>
        <p:txBody>
          <a:bodyPr wrap="square" lIns="0" tIns="0" rIns="0" bIns="0" rtlCol="0">
            <a:spAutoFit/>
          </a:bodyPr>
          <a:lstStyle/>
          <a:p>
            <a:pPr algn="ctr">
              <a:spcBef>
                <a:spcPts val="600"/>
              </a:spcBef>
              <a:buSzPct val="100000"/>
            </a:pPr>
            <a:r>
              <a:rPr lang="en-US" sz="800">
                <a:solidFill>
                  <a:srgbClr val="313131"/>
                </a:solidFill>
              </a:rPr>
              <a:t>Web Service  Adapter </a:t>
            </a:r>
          </a:p>
        </p:txBody>
      </p:sp>
      <p:cxnSp>
        <p:nvCxnSpPr>
          <p:cNvPr id="63" name="Straight Arrow Connector 62">
            <a:extLst>
              <a:ext uri="{FF2B5EF4-FFF2-40B4-BE49-F238E27FC236}">
                <a16:creationId xmlns:a16="http://schemas.microsoft.com/office/drawing/2014/main" id="{8F1D7C32-5C05-4984-9DB8-E47D8B995577}"/>
              </a:ext>
            </a:extLst>
          </p:cNvPr>
          <p:cNvCxnSpPr/>
          <p:nvPr/>
        </p:nvCxnSpPr>
        <p:spPr>
          <a:xfrm>
            <a:off x="7366312" y="4545350"/>
            <a:ext cx="757004"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4" name="Graphic 63">
            <a:extLst>
              <a:ext uri="{FF2B5EF4-FFF2-40B4-BE49-F238E27FC236}">
                <a16:creationId xmlns:a16="http://schemas.microsoft.com/office/drawing/2014/main" id="{4CA68A7D-EA01-42EE-B41B-66E5A7DF78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6723386" y="3594928"/>
            <a:ext cx="261903" cy="549579"/>
          </a:xfrm>
          <a:prstGeom prst="rect">
            <a:avLst/>
          </a:prstGeom>
        </p:spPr>
      </p:pic>
      <p:pic>
        <p:nvPicPr>
          <p:cNvPr id="65" name="Picture 64" descr="A picture containing text&#10;&#10;Description automatically generated">
            <a:extLst>
              <a:ext uri="{FF2B5EF4-FFF2-40B4-BE49-F238E27FC236}">
                <a16:creationId xmlns:a16="http://schemas.microsoft.com/office/drawing/2014/main" id="{DE80FDD8-E597-4ACD-92DD-5AE41ED8ED31}"/>
              </a:ext>
            </a:extLst>
          </p:cNvPr>
          <p:cNvPicPr>
            <a:picLocks noChangeAspect="1"/>
          </p:cNvPicPr>
          <p:nvPr/>
        </p:nvPicPr>
        <p:blipFill rotWithShape="1">
          <a:blip r:embed="rId5"/>
          <a:srcRect t="72253" r="32706" b="-593"/>
          <a:stretch/>
        </p:blipFill>
        <p:spPr>
          <a:xfrm>
            <a:off x="86655" y="5403577"/>
            <a:ext cx="6372225" cy="1509109"/>
          </a:xfrm>
          <a:prstGeom prst="rect">
            <a:avLst/>
          </a:prstGeom>
        </p:spPr>
      </p:pic>
      <p:pic>
        <p:nvPicPr>
          <p:cNvPr id="66" name="Picture 65" descr="A picture containing text&#10;&#10;Description automatically generated">
            <a:extLst>
              <a:ext uri="{FF2B5EF4-FFF2-40B4-BE49-F238E27FC236}">
                <a16:creationId xmlns:a16="http://schemas.microsoft.com/office/drawing/2014/main" id="{BE495E92-07D6-449A-993F-74CEAF0E256C}"/>
              </a:ext>
            </a:extLst>
          </p:cNvPr>
          <p:cNvPicPr>
            <a:picLocks noChangeAspect="1"/>
          </p:cNvPicPr>
          <p:nvPr/>
        </p:nvPicPr>
        <p:blipFill rotWithShape="1">
          <a:blip r:embed="rId5"/>
          <a:srcRect t="86960" r="37534" b="-593"/>
          <a:stretch/>
        </p:blipFill>
        <p:spPr>
          <a:xfrm flipH="1">
            <a:off x="7072311" y="6269474"/>
            <a:ext cx="5119687" cy="628346"/>
          </a:xfrm>
          <a:prstGeom prst="rect">
            <a:avLst/>
          </a:prstGeom>
        </p:spPr>
      </p:pic>
    </p:spTree>
    <p:extLst>
      <p:ext uri="{BB962C8B-B14F-4D97-AF65-F5344CB8AC3E}">
        <p14:creationId xmlns:p14="http://schemas.microsoft.com/office/powerpoint/2010/main" val="3308444494"/>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4E8C77-3D0E-4FC9-89A6-0060B70A82F5}"/>
              </a:ext>
            </a:extLst>
          </p:cNvPr>
          <p:cNvSpPr txBox="1"/>
          <p:nvPr/>
        </p:nvSpPr>
        <p:spPr>
          <a:xfrm>
            <a:off x="608919" y="1379236"/>
            <a:ext cx="4792298" cy="723275"/>
          </a:xfrm>
          <a:prstGeom prst="rect">
            <a:avLst/>
          </a:prstGeom>
          <a:noFill/>
        </p:spPr>
        <p:txBody>
          <a:bodyPr wrap="square" rtlCol="0">
            <a:spAutoFit/>
          </a:bodyPr>
          <a:lstStyle/>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Retail Cloud environment</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REST/SOAP RSB Web services (RICS)</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Target cloud Application/3rd Party application/Middleware</a:t>
            </a:r>
          </a:p>
        </p:txBody>
      </p:sp>
      <p:sp>
        <p:nvSpPr>
          <p:cNvPr id="3" name="TextBox 2">
            <a:extLst>
              <a:ext uri="{FF2B5EF4-FFF2-40B4-BE49-F238E27FC236}">
                <a16:creationId xmlns:a16="http://schemas.microsoft.com/office/drawing/2014/main" id="{70269235-617F-4A9A-8F49-984C120723FA}"/>
              </a:ext>
            </a:extLst>
          </p:cNvPr>
          <p:cNvSpPr txBox="1"/>
          <p:nvPr/>
        </p:nvSpPr>
        <p:spPr>
          <a:xfrm>
            <a:off x="600137" y="2721971"/>
            <a:ext cx="4798216"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This pattern applies to invocation of Oracle provided REST/ SOAP services for purposes such as CRUD (Create/ Read/ Update/ Delete) operations, and therefore is for both inbound (updates) &amp; outbound (lookup) flows.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Uses SOAP/ REST based services to push data to Oracle Cloud. </a:t>
            </a:r>
          </a:p>
        </p:txBody>
      </p:sp>
      <p:sp>
        <p:nvSpPr>
          <p:cNvPr id="4" name="TextBox 3">
            <a:extLst>
              <a:ext uri="{FF2B5EF4-FFF2-40B4-BE49-F238E27FC236}">
                <a16:creationId xmlns:a16="http://schemas.microsoft.com/office/drawing/2014/main" id="{86059AB0-380E-49C3-9ECC-2F58CD33EBB4}"/>
              </a:ext>
            </a:extLst>
          </p:cNvPr>
          <p:cNvSpPr txBox="1"/>
          <p:nvPr/>
        </p:nvSpPr>
        <p:spPr>
          <a:xfrm>
            <a:off x="6242968" y="4235011"/>
            <a:ext cx="6115140" cy="500137"/>
          </a:xfrm>
          <a:prstGeom prst="rect">
            <a:avLst/>
          </a:prstGeom>
          <a:noFill/>
        </p:spPr>
        <p:txBody>
          <a:bodyPr wrap="square" rtlCol="0">
            <a:spAutoFit/>
          </a:bodyPr>
          <a:lstStyle/>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D</a:t>
            </a:r>
            <a:r>
              <a:rPr kumimoji="0" lang="en-US" sz="1200" b="0" i="1" u="none" strike="noStrike" kern="1200" cap="none" spc="0" normalizeH="0" baseline="0" noProof="0" err="1">
                <a:ln>
                  <a:noFill/>
                </a:ln>
                <a:solidFill>
                  <a:srgbClr val="44546A"/>
                </a:solidFill>
                <a:effectLst/>
                <a:uLnTx/>
                <a:uFillTx/>
                <a:latin typeface="Calibri" panose="020F0502020204030204"/>
                <a:ea typeface="+mn-ea"/>
                <a:cs typeface="Arial" panose="020B0604020202020204" pitchFamily="34" charset="0"/>
              </a:rPr>
              <a:t>ata</a:t>
            </a: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 upload into Oracle Retail for entities which supports web services. </a:t>
            </a: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Example –  Item, Item entity updates</a:t>
            </a:r>
          </a:p>
        </p:txBody>
      </p:sp>
      <p:sp>
        <p:nvSpPr>
          <p:cNvPr id="5" name="Text Box 4">
            <a:extLst>
              <a:ext uri="{FF2B5EF4-FFF2-40B4-BE49-F238E27FC236}">
                <a16:creationId xmlns:a16="http://schemas.microsoft.com/office/drawing/2014/main" id="{3FB01B37-AB46-414F-AD42-1AAB6B1E8762}"/>
              </a:ext>
            </a:extLst>
          </p:cNvPr>
          <p:cNvSpPr txBox="1">
            <a:spLocks noChangeArrowheads="1"/>
          </p:cNvSpPr>
          <p:nvPr/>
        </p:nvSpPr>
        <p:spPr bwMode="gray">
          <a:xfrm>
            <a:off x="561581" y="1129326"/>
            <a:ext cx="4844995" cy="228434"/>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Architectural Components</a:t>
            </a:r>
          </a:p>
        </p:txBody>
      </p:sp>
      <p:sp>
        <p:nvSpPr>
          <p:cNvPr id="6" name="Oval 5">
            <a:extLst>
              <a:ext uri="{FF2B5EF4-FFF2-40B4-BE49-F238E27FC236}">
                <a16:creationId xmlns:a16="http://schemas.microsoft.com/office/drawing/2014/main" id="{AFF5A5D6-BA5C-41E0-B467-FF6F730D835C}"/>
              </a:ext>
            </a:extLst>
          </p:cNvPr>
          <p:cNvSpPr/>
          <p:nvPr/>
        </p:nvSpPr>
        <p:spPr>
          <a:xfrm>
            <a:off x="332982" y="1083606"/>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1</a:t>
            </a:r>
          </a:p>
        </p:txBody>
      </p:sp>
      <p:sp>
        <p:nvSpPr>
          <p:cNvPr id="7" name="Text Box 4">
            <a:extLst>
              <a:ext uri="{FF2B5EF4-FFF2-40B4-BE49-F238E27FC236}">
                <a16:creationId xmlns:a16="http://schemas.microsoft.com/office/drawing/2014/main" id="{C6925830-EF2B-4AE0-B976-A5274C9CF92D}"/>
              </a:ext>
            </a:extLst>
          </p:cNvPr>
          <p:cNvSpPr txBox="1">
            <a:spLocks noChangeArrowheads="1"/>
          </p:cNvSpPr>
          <p:nvPr/>
        </p:nvSpPr>
        <p:spPr bwMode="gray">
          <a:xfrm>
            <a:off x="561581" y="2499021"/>
            <a:ext cx="4844995" cy="217053"/>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Overview</a:t>
            </a:r>
          </a:p>
        </p:txBody>
      </p:sp>
      <p:sp>
        <p:nvSpPr>
          <p:cNvPr id="8" name="Oval 7">
            <a:extLst>
              <a:ext uri="{FF2B5EF4-FFF2-40B4-BE49-F238E27FC236}">
                <a16:creationId xmlns:a16="http://schemas.microsoft.com/office/drawing/2014/main" id="{18A61DA5-D467-4448-BE17-09BC78C9BFF6}"/>
              </a:ext>
            </a:extLst>
          </p:cNvPr>
          <p:cNvSpPr/>
          <p:nvPr/>
        </p:nvSpPr>
        <p:spPr>
          <a:xfrm>
            <a:off x="332982" y="2453301"/>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2</a:t>
            </a:r>
          </a:p>
        </p:txBody>
      </p:sp>
      <p:sp>
        <p:nvSpPr>
          <p:cNvPr id="9" name="Text Box 4">
            <a:extLst>
              <a:ext uri="{FF2B5EF4-FFF2-40B4-BE49-F238E27FC236}">
                <a16:creationId xmlns:a16="http://schemas.microsoft.com/office/drawing/2014/main" id="{582AC447-F0D3-4871-8958-3999E99AAD4A}"/>
              </a:ext>
            </a:extLst>
          </p:cNvPr>
          <p:cNvSpPr txBox="1">
            <a:spLocks noChangeArrowheads="1"/>
          </p:cNvSpPr>
          <p:nvPr/>
        </p:nvSpPr>
        <p:spPr bwMode="gray">
          <a:xfrm>
            <a:off x="561581" y="3883956"/>
            <a:ext cx="4938467" cy="247650"/>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Steps</a:t>
            </a:r>
          </a:p>
        </p:txBody>
      </p:sp>
      <p:sp>
        <p:nvSpPr>
          <p:cNvPr id="10" name="Oval 9">
            <a:extLst>
              <a:ext uri="{FF2B5EF4-FFF2-40B4-BE49-F238E27FC236}">
                <a16:creationId xmlns:a16="http://schemas.microsoft.com/office/drawing/2014/main" id="{4F9EF301-401C-4379-9774-7D8397098C55}"/>
              </a:ext>
            </a:extLst>
          </p:cNvPr>
          <p:cNvSpPr/>
          <p:nvPr/>
        </p:nvSpPr>
        <p:spPr>
          <a:xfrm>
            <a:off x="332982" y="3838236"/>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3</a:t>
            </a:r>
          </a:p>
        </p:txBody>
      </p:sp>
      <p:sp>
        <p:nvSpPr>
          <p:cNvPr id="11" name="Text Box 4">
            <a:extLst>
              <a:ext uri="{FF2B5EF4-FFF2-40B4-BE49-F238E27FC236}">
                <a16:creationId xmlns:a16="http://schemas.microsoft.com/office/drawing/2014/main" id="{B88D299F-DC83-4CB7-B0A4-8B4838BE713B}"/>
              </a:ext>
            </a:extLst>
          </p:cNvPr>
          <p:cNvSpPr txBox="1">
            <a:spLocks noChangeArrowheads="1"/>
          </p:cNvSpPr>
          <p:nvPr/>
        </p:nvSpPr>
        <p:spPr bwMode="gray">
          <a:xfrm>
            <a:off x="6436838" y="3912260"/>
            <a:ext cx="4938467" cy="247650"/>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Typical Use-Cases</a:t>
            </a:r>
          </a:p>
        </p:txBody>
      </p:sp>
      <p:sp>
        <p:nvSpPr>
          <p:cNvPr id="12" name="Oval 11">
            <a:extLst>
              <a:ext uri="{FF2B5EF4-FFF2-40B4-BE49-F238E27FC236}">
                <a16:creationId xmlns:a16="http://schemas.microsoft.com/office/drawing/2014/main" id="{56DEF942-B990-4739-9D93-219B503FAA31}"/>
              </a:ext>
            </a:extLst>
          </p:cNvPr>
          <p:cNvSpPr/>
          <p:nvPr/>
        </p:nvSpPr>
        <p:spPr>
          <a:xfrm>
            <a:off x="6213019" y="3873007"/>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4</a:t>
            </a:r>
          </a:p>
        </p:txBody>
      </p:sp>
      <p:grpSp>
        <p:nvGrpSpPr>
          <p:cNvPr id="13" name="Group 12">
            <a:extLst>
              <a:ext uri="{FF2B5EF4-FFF2-40B4-BE49-F238E27FC236}">
                <a16:creationId xmlns:a16="http://schemas.microsoft.com/office/drawing/2014/main" id="{53DE70A5-46A1-48D5-866D-FDBE4B9F0439}"/>
              </a:ext>
            </a:extLst>
          </p:cNvPr>
          <p:cNvGrpSpPr/>
          <p:nvPr/>
        </p:nvGrpSpPr>
        <p:grpSpPr>
          <a:xfrm>
            <a:off x="5483515" y="1126165"/>
            <a:ext cx="6568541" cy="2267571"/>
            <a:chOff x="5398451" y="1275511"/>
            <a:chExt cx="6568541" cy="2267571"/>
          </a:xfrm>
        </p:grpSpPr>
        <p:sp>
          <p:nvSpPr>
            <p:cNvPr id="14" name="TextBox 13">
              <a:extLst>
                <a:ext uri="{FF2B5EF4-FFF2-40B4-BE49-F238E27FC236}">
                  <a16:creationId xmlns:a16="http://schemas.microsoft.com/office/drawing/2014/main" id="{69850730-4BEC-4D88-8F30-4972454E5D04}"/>
                </a:ext>
              </a:extLst>
            </p:cNvPr>
            <p:cNvSpPr txBox="1"/>
            <p:nvPr/>
          </p:nvSpPr>
          <p:spPr>
            <a:xfrm>
              <a:off x="9681980" y="2013992"/>
              <a:ext cx="785649" cy="272778"/>
            </a:xfrm>
            <a:prstGeom prst="rect">
              <a:avLst/>
            </a:prstGeom>
            <a:noFill/>
            <a:ln>
              <a:noFill/>
            </a:ln>
          </p:spPr>
          <p:txBody>
            <a:bodyPr wrap="square" rtlCol="0">
              <a:spAutoFit/>
            </a:bodyPr>
            <a:lstStyle>
              <a:defPPr>
                <a:defRPr lang="en-US"/>
              </a:defPPr>
              <a:lvl1pPr>
                <a:defRPr sz="1000" b="1"/>
              </a:lvl1pPr>
            </a:lstStyle>
            <a:p>
              <a:pPr marL="0" marR="0" lvl="0" indent="0" algn="ctr" defTabSz="687537" rtl="0" eaLnBrk="1" fontAlgn="base" latinLnBrk="0" hangingPunct="1">
                <a:lnSpc>
                  <a:spcPct val="100000"/>
                </a:lnSpc>
                <a:spcBef>
                  <a:spcPct val="20000"/>
                </a:spcBef>
                <a:spcAft>
                  <a:spcPct val="0"/>
                </a:spcAft>
                <a:buClrTx/>
                <a:buSzTx/>
                <a:buFontTx/>
                <a:buNone/>
                <a:tabLst/>
                <a:defRPr/>
              </a:pPr>
              <a:r>
                <a:rPr kumimoji="0" lang="en-US" sz="677" b="1" i="0" u="none" strike="noStrike" kern="1200" cap="none" spc="0" normalizeH="0" baseline="0" noProof="0">
                  <a:ln>
                    <a:noFill/>
                  </a:ln>
                  <a:solidFill>
                    <a:srgbClr val="FFFFFF"/>
                  </a:solidFill>
                  <a:effectLst/>
                  <a:uLnTx/>
                  <a:uFillTx/>
                  <a:latin typeface="Open Sans"/>
                  <a:ea typeface="+mn-ea"/>
                  <a:cs typeface="Arial" panose="020B0604020202020204" pitchFamily="34" charset="0"/>
                </a:rPr>
                <a:t>Interface Table</a:t>
              </a:r>
            </a:p>
          </p:txBody>
        </p:sp>
        <p:sp>
          <p:nvSpPr>
            <p:cNvPr id="15" name="Text Box 10">
              <a:extLst>
                <a:ext uri="{FF2B5EF4-FFF2-40B4-BE49-F238E27FC236}">
                  <a16:creationId xmlns:a16="http://schemas.microsoft.com/office/drawing/2014/main" id="{11A6CC55-ABB4-4529-AC16-93F898FFD3EE}"/>
                </a:ext>
              </a:extLst>
            </p:cNvPr>
            <p:cNvSpPr txBox="1">
              <a:spLocks noChangeArrowheads="1"/>
            </p:cNvSpPr>
            <p:nvPr/>
          </p:nvSpPr>
          <p:spPr bwMode="auto">
            <a:xfrm>
              <a:off x="10041598" y="1627470"/>
              <a:ext cx="1925394" cy="1915612"/>
            </a:xfrm>
            <a:prstGeom prst="rect">
              <a:avLst/>
            </a:prstGeom>
            <a:noFill/>
            <a:ln w="12700" algn="ctr">
              <a:solidFill>
                <a:sysClr val="windowText" lastClr="000000"/>
              </a:solidFill>
              <a:miter lim="800000"/>
              <a:headEnd/>
              <a:tailEnd type="none" w="sm" len="med"/>
            </a:ln>
          </p:spPr>
          <p:txBody>
            <a:bodyPr lIns="45451" tIns="45451" rIns="45451" bIns="45451" anchor="t" anchorCtr="0"/>
            <a:lstStyle/>
            <a:p>
              <a:pPr marL="0" marR="0" lvl="0" indent="0" algn="ctr" defTabSz="528601" rtl="0" eaLnBrk="1" fontAlgn="auto" latinLnBrk="0" hangingPunct="1">
                <a:lnSpc>
                  <a:spcPct val="100000"/>
                </a:lnSpc>
                <a:spcBef>
                  <a:spcPct val="20000"/>
                </a:spcBef>
                <a:spcAft>
                  <a:spcPts val="0"/>
                </a:spcAft>
                <a:buClrTx/>
                <a:buSzTx/>
                <a:buFontTx/>
                <a:buNone/>
                <a:tabLst/>
                <a:defRPr/>
              </a:pPr>
              <a:endParaRPr kumimoji="0" lang="en-US" sz="677" b="1" i="0" u="none" strike="noStrike" kern="0" cap="none" spc="0" normalizeH="0" baseline="0" noProof="0">
                <a:ln>
                  <a:noFill/>
                </a:ln>
                <a:solidFill>
                  <a:prstClr val="black"/>
                </a:solidFill>
                <a:effectLst/>
                <a:uLnTx/>
                <a:uFillTx/>
                <a:latin typeface="Open Sans"/>
                <a:ea typeface="+mn-ea"/>
                <a:cs typeface="Arial" pitchFamily="34" charset="0"/>
              </a:endParaRPr>
            </a:p>
          </p:txBody>
        </p:sp>
        <p:sp>
          <p:nvSpPr>
            <p:cNvPr id="16" name="Oval 15">
              <a:extLst>
                <a:ext uri="{FF2B5EF4-FFF2-40B4-BE49-F238E27FC236}">
                  <a16:creationId xmlns:a16="http://schemas.microsoft.com/office/drawing/2014/main" id="{DF4ADA67-FA5E-4A30-871B-FEDA7EB8BBA1}"/>
                </a:ext>
              </a:extLst>
            </p:cNvPr>
            <p:cNvSpPr/>
            <p:nvPr/>
          </p:nvSpPr>
          <p:spPr>
            <a:xfrm>
              <a:off x="5459811" y="1622823"/>
              <a:ext cx="654523" cy="747374"/>
            </a:xfrm>
            <a:prstGeom prst="ellipse">
              <a:avLst/>
            </a:prstGeom>
            <a:solidFill>
              <a:sysClr val="window" lastClr="FFFFFF"/>
            </a:solidFill>
            <a:ln w="9525" cap="flat" cmpd="sng" algn="ctr">
              <a:solidFill>
                <a:srgbClr val="007CB0"/>
              </a:solidFill>
              <a:prstDash val="solid"/>
            </a:ln>
            <a:effectLst>
              <a:outerShdw blurRad="40000" dist="23000" dir="5400000" rotWithShape="0">
                <a:srgbClr val="000000">
                  <a:alpha val="35000"/>
                </a:srgbClr>
              </a:outerShdw>
            </a:effectLst>
          </p:spPr>
          <p:txBody>
            <a:bodyPr rtlCol="0" anchor="ct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0" cap="none" spc="0" normalizeH="0" baseline="0" noProof="0">
                <a:ln>
                  <a:noFill/>
                </a:ln>
                <a:solidFill>
                  <a:srgbClr val="FFFFFF"/>
                </a:solidFill>
                <a:effectLst/>
                <a:uLnTx/>
                <a:uFillTx/>
                <a:latin typeface="Arial"/>
                <a:ea typeface="+mn-ea"/>
                <a:cs typeface="+mn-cs"/>
              </a:endParaRPr>
            </a:p>
          </p:txBody>
        </p:sp>
        <p:sp>
          <p:nvSpPr>
            <p:cNvPr id="17" name="Freeform 27">
              <a:extLst>
                <a:ext uri="{FF2B5EF4-FFF2-40B4-BE49-F238E27FC236}">
                  <a16:creationId xmlns:a16="http://schemas.microsoft.com/office/drawing/2014/main" id="{583AD62C-0039-4393-B6BE-E36535BBFFC0}"/>
                </a:ext>
              </a:extLst>
            </p:cNvPr>
            <p:cNvSpPr>
              <a:spLocks noEditPoints="1"/>
            </p:cNvSpPr>
            <p:nvPr/>
          </p:nvSpPr>
          <p:spPr bwMode="auto">
            <a:xfrm>
              <a:off x="5602377" y="1766573"/>
              <a:ext cx="368884" cy="454740"/>
            </a:xfrm>
            <a:custGeom>
              <a:avLst/>
              <a:gdLst>
                <a:gd name="T0" fmla="*/ 1000 w 1116"/>
                <a:gd name="T1" fmla="*/ 2 h 1184"/>
                <a:gd name="T2" fmla="*/ 64 w 1116"/>
                <a:gd name="T3" fmla="*/ 724 h 1184"/>
                <a:gd name="T4" fmla="*/ 1060 w 1116"/>
                <a:gd name="T5" fmla="*/ 1184 h 1184"/>
                <a:gd name="T6" fmla="*/ 992 w 1116"/>
                <a:gd name="T7" fmla="*/ 948 h 1184"/>
                <a:gd name="T8" fmla="*/ 932 w 1116"/>
                <a:gd name="T9" fmla="*/ 910 h 1184"/>
                <a:gd name="T10" fmla="*/ 986 w 1116"/>
                <a:gd name="T11" fmla="*/ 910 h 1184"/>
                <a:gd name="T12" fmla="*/ 922 w 1116"/>
                <a:gd name="T13" fmla="*/ 874 h 1184"/>
                <a:gd name="T14" fmla="*/ 976 w 1116"/>
                <a:gd name="T15" fmla="*/ 826 h 1184"/>
                <a:gd name="T16" fmla="*/ 918 w 1116"/>
                <a:gd name="T17" fmla="*/ 952 h 1184"/>
                <a:gd name="T18" fmla="*/ 852 w 1116"/>
                <a:gd name="T19" fmla="*/ 906 h 1184"/>
                <a:gd name="T20" fmla="*/ 836 w 1116"/>
                <a:gd name="T21" fmla="*/ 830 h 1184"/>
                <a:gd name="T22" fmla="*/ 900 w 1116"/>
                <a:gd name="T23" fmla="*/ 870 h 1184"/>
                <a:gd name="T24" fmla="*/ 956 w 1116"/>
                <a:gd name="T25" fmla="*/ 76 h 1184"/>
                <a:gd name="T26" fmla="*/ 820 w 1116"/>
                <a:gd name="T27" fmla="*/ 870 h 1184"/>
                <a:gd name="T28" fmla="*/ 758 w 1116"/>
                <a:gd name="T29" fmla="*/ 830 h 1184"/>
                <a:gd name="T30" fmla="*/ 702 w 1116"/>
                <a:gd name="T31" fmla="*/ 900 h 1184"/>
                <a:gd name="T32" fmla="*/ 748 w 1116"/>
                <a:gd name="T33" fmla="*/ 958 h 1184"/>
                <a:gd name="T34" fmla="*/ 702 w 1116"/>
                <a:gd name="T35" fmla="*/ 900 h 1184"/>
                <a:gd name="T36" fmla="*/ 684 w 1116"/>
                <a:gd name="T37" fmla="*/ 822 h 1184"/>
                <a:gd name="T38" fmla="*/ 736 w 1116"/>
                <a:gd name="T39" fmla="*/ 880 h 1184"/>
                <a:gd name="T40" fmla="*/ 674 w 1116"/>
                <a:gd name="T41" fmla="*/ 952 h 1184"/>
                <a:gd name="T42" fmla="*/ 612 w 1116"/>
                <a:gd name="T43" fmla="*/ 906 h 1184"/>
                <a:gd name="T44" fmla="*/ 600 w 1116"/>
                <a:gd name="T45" fmla="*/ 830 h 1184"/>
                <a:gd name="T46" fmla="*/ 662 w 1116"/>
                <a:gd name="T47" fmla="*/ 870 h 1184"/>
                <a:gd name="T48" fmla="*/ 584 w 1116"/>
                <a:gd name="T49" fmla="*/ 900 h 1184"/>
                <a:gd name="T50" fmla="*/ 542 w 1116"/>
                <a:gd name="T51" fmla="*/ 958 h 1184"/>
                <a:gd name="T52" fmla="*/ 522 w 1116"/>
                <a:gd name="T53" fmla="*/ 870 h 1184"/>
                <a:gd name="T54" fmla="*/ 584 w 1116"/>
                <a:gd name="T55" fmla="*/ 830 h 1184"/>
                <a:gd name="T56" fmla="*/ 458 w 1116"/>
                <a:gd name="T57" fmla="*/ 900 h 1184"/>
                <a:gd name="T58" fmla="*/ 508 w 1116"/>
                <a:gd name="T59" fmla="*/ 958 h 1184"/>
                <a:gd name="T60" fmla="*/ 444 w 1116"/>
                <a:gd name="T61" fmla="*/ 826 h 1184"/>
                <a:gd name="T62" fmla="*/ 504 w 1116"/>
                <a:gd name="T63" fmla="*/ 874 h 1184"/>
                <a:gd name="T64" fmla="*/ 372 w 1116"/>
                <a:gd name="T65" fmla="*/ 910 h 1184"/>
                <a:gd name="T66" fmla="*/ 432 w 1116"/>
                <a:gd name="T67" fmla="*/ 948 h 1184"/>
                <a:gd name="T68" fmla="*/ 364 w 1116"/>
                <a:gd name="T69" fmla="*/ 870 h 1184"/>
                <a:gd name="T70" fmla="*/ 426 w 1116"/>
                <a:gd name="T71" fmla="*/ 830 h 1184"/>
                <a:gd name="T72" fmla="*/ 364 w 1116"/>
                <a:gd name="T73" fmla="*/ 870 h 1184"/>
                <a:gd name="T74" fmla="*/ 354 w 1116"/>
                <a:gd name="T75" fmla="*/ 906 h 1184"/>
                <a:gd name="T76" fmla="*/ 290 w 1116"/>
                <a:gd name="T77" fmla="*/ 952 h 1184"/>
                <a:gd name="T78" fmla="*/ 344 w 1116"/>
                <a:gd name="T79" fmla="*/ 822 h 1184"/>
                <a:gd name="T80" fmla="*/ 290 w 1116"/>
                <a:gd name="T81" fmla="*/ 880 h 1184"/>
                <a:gd name="T82" fmla="*/ 214 w 1116"/>
                <a:gd name="T83" fmla="*/ 880 h 1184"/>
                <a:gd name="T84" fmla="*/ 262 w 1116"/>
                <a:gd name="T85" fmla="*/ 820 h 1184"/>
                <a:gd name="T86" fmla="*/ 142 w 1116"/>
                <a:gd name="T87" fmla="*/ 820 h 1184"/>
                <a:gd name="T88" fmla="*/ 178 w 1116"/>
                <a:gd name="T89" fmla="*/ 880 h 1184"/>
                <a:gd name="T90" fmla="*/ 130 w 1116"/>
                <a:gd name="T91" fmla="*/ 900 h 1184"/>
                <a:gd name="T92" fmla="*/ 184 w 1116"/>
                <a:gd name="T93" fmla="*/ 958 h 1184"/>
                <a:gd name="T94" fmla="*/ 154 w 1116"/>
                <a:gd name="T95" fmla="*/ 1034 h 1184"/>
                <a:gd name="T96" fmla="*/ 116 w 1116"/>
                <a:gd name="T97" fmla="*/ 980 h 1184"/>
                <a:gd name="T98" fmla="*/ 248 w 1116"/>
                <a:gd name="T99" fmla="*/ 1032 h 1184"/>
                <a:gd name="T100" fmla="*/ 182 w 1116"/>
                <a:gd name="T101" fmla="*/ 984 h 1184"/>
                <a:gd name="T102" fmla="*/ 218 w 1116"/>
                <a:gd name="T103" fmla="*/ 958 h 1184"/>
                <a:gd name="T104" fmla="*/ 266 w 1116"/>
                <a:gd name="T105" fmla="*/ 900 h 1184"/>
                <a:gd name="T106" fmla="*/ 260 w 1116"/>
                <a:gd name="T107" fmla="*/ 958 h 1184"/>
                <a:gd name="T108" fmla="*/ 278 w 1116"/>
                <a:gd name="T109" fmla="*/ 978 h 1184"/>
                <a:gd name="T110" fmla="*/ 776 w 1116"/>
                <a:gd name="T111" fmla="*/ 1036 h 1184"/>
                <a:gd name="T112" fmla="*/ 828 w 1116"/>
                <a:gd name="T113" fmla="*/ 900 h 1184"/>
                <a:gd name="T114" fmla="*/ 780 w 1116"/>
                <a:gd name="T115" fmla="*/ 958 h 1184"/>
                <a:gd name="T116" fmla="*/ 798 w 1116"/>
                <a:gd name="T117" fmla="*/ 988 h 1184"/>
                <a:gd name="T118" fmla="*/ 874 w 1116"/>
                <a:gd name="T119" fmla="*/ 1028 h 1184"/>
                <a:gd name="T120" fmla="*/ 892 w 1116"/>
                <a:gd name="T121" fmla="*/ 1032 h 1184"/>
                <a:gd name="T122" fmla="*/ 994 w 1116"/>
                <a:gd name="T123" fmla="*/ 984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6" h="1184">
                  <a:moveTo>
                    <a:pt x="1116" y="1124"/>
                  </a:moveTo>
                  <a:lnTo>
                    <a:pt x="1046" y="724"/>
                  </a:lnTo>
                  <a:lnTo>
                    <a:pt x="1046" y="724"/>
                  </a:lnTo>
                  <a:lnTo>
                    <a:pt x="1046" y="62"/>
                  </a:lnTo>
                  <a:lnTo>
                    <a:pt x="1046" y="62"/>
                  </a:lnTo>
                  <a:lnTo>
                    <a:pt x="1044" y="50"/>
                  </a:lnTo>
                  <a:lnTo>
                    <a:pt x="1040" y="38"/>
                  </a:lnTo>
                  <a:lnTo>
                    <a:pt x="1036" y="28"/>
                  </a:lnTo>
                  <a:lnTo>
                    <a:pt x="1028" y="18"/>
                  </a:lnTo>
                  <a:lnTo>
                    <a:pt x="1020" y="12"/>
                  </a:lnTo>
                  <a:lnTo>
                    <a:pt x="1010" y="6"/>
                  </a:lnTo>
                  <a:lnTo>
                    <a:pt x="1000" y="2"/>
                  </a:lnTo>
                  <a:lnTo>
                    <a:pt x="988" y="0"/>
                  </a:lnTo>
                  <a:lnTo>
                    <a:pt x="124" y="0"/>
                  </a:lnTo>
                  <a:lnTo>
                    <a:pt x="124" y="0"/>
                  </a:lnTo>
                  <a:lnTo>
                    <a:pt x="112" y="2"/>
                  </a:lnTo>
                  <a:lnTo>
                    <a:pt x="100" y="6"/>
                  </a:lnTo>
                  <a:lnTo>
                    <a:pt x="90" y="12"/>
                  </a:lnTo>
                  <a:lnTo>
                    <a:pt x="82" y="18"/>
                  </a:lnTo>
                  <a:lnTo>
                    <a:pt x="74" y="28"/>
                  </a:lnTo>
                  <a:lnTo>
                    <a:pt x="70" y="38"/>
                  </a:lnTo>
                  <a:lnTo>
                    <a:pt x="66" y="50"/>
                  </a:lnTo>
                  <a:lnTo>
                    <a:pt x="64" y="62"/>
                  </a:lnTo>
                  <a:lnTo>
                    <a:pt x="64" y="724"/>
                  </a:lnTo>
                  <a:lnTo>
                    <a:pt x="64" y="724"/>
                  </a:lnTo>
                  <a:lnTo>
                    <a:pt x="2" y="1124"/>
                  </a:lnTo>
                  <a:lnTo>
                    <a:pt x="2" y="1124"/>
                  </a:lnTo>
                  <a:lnTo>
                    <a:pt x="0" y="1136"/>
                  </a:lnTo>
                  <a:lnTo>
                    <a:pt x="2" y="1148"/>
                  </a:lnTo>
                  <a:lnTo>
                    <a:pt x="8" y="1158"/>
                  </a:lnTo>
                  <a:lnTo>
                    <a:pt x="14" y="1166"/>
                  </a:lnTo>
                  <a:lnTo>
                    <a:pt x="22" y="1174"/>
                  </a:lnTo>
                  <a:lnTo>
                    <a:pt x="34" y="1180"/>
                  </a:lnTo>
                  <a:lnTo>
                    <a:pt x="44" y="1184"/>
                  </a:lnTo>
                  <a:lnTo>
                    <a:pt x="58" y="1184"/>
                  </a:lnTo>
                  <a:lnTo>
                    <a:pt x="1060" y="1184"/>
                  </a:lnTo>
                  <a:lnTo>
                    <a:pt x="1060" y="1184"/>
                  </a:lnTo>
                  <a:lnTo>
                    <a:pt x="1074" y="1184"/>
                  </a:lnTo>
                  <a:lnTo>
                    <a:pt x="1086" y="1180"/>
                  </a:lnTo>
                  <a:lnTo>
                    <a:pt x="1096" y="1174"/>
                  </a:lnTo>
                  <a:lnTo>
                    <a:pt x="1104" y="1166"/>
                  </a:lnTo>
                  <a:lnTo>
                    <a:pt x="1110" y="1158"/>
                  </a:lnTo>
                  <a:lnTo>
                    <a:pt x="1114" y="1148"/>
                  </a:lnTo>
                  <a:lnTo>
                    <a:pt x="1116" y="1136"/>
                  </a:lnTo>
                  <a:lnTo>
                    <a:pt x="1116" y="1124"/>
                  </a:lnTo>
                  <a:lnTo>
                    <a:pt x="1116" y="1124"/>
                  </a:lnTo>
                  <a:close/>
                  <a:moveTo>
                    <a:pt x="986" y="910"/>
                  </a:moveTo>
                  <a:lnTo>
                    <a:pt x="992" y="948"/>
                  </a:lnTo>
                  <a:lnTo>
                    <a:pt x="992" y="948"/>
                  </a:lnTo>
                  <a:lnTo>
                    <a:pt x="992" y="952"/>
                  </a:lnTo>
                  <a:lnTo>
                    <a:pt x="990" y="956"/>
                  </a:lnTo>
                  <a:lnTo>
                    <a:pt x="986" y="958"/>
                  </a:lnTo>
                  <a:lnTo>
                    <a:pt x="982" y="958"/>
                  </a:lnTo>
                  <a:lnTo>
                    <a:pt x="946" y="958"/>
                  </a:lnTo>
                  <a:lnTo>
                    <a:pt x="946" y="958"/>
                  </a:lnTo>
                  <a:lnTo>
                    <a:pt x="942" y="958"/>
                  </a:lnTo>
                  <a:lnTo>
                    <a:pt x="938" y="956"/>
                  </a:lnTo>
                  <a:lnTo>
                    <a:pt x="936" y="952"/>
                  </a:lnTo>
                  <a:lnTo>
                    <a:pt x="936" y="948"/>
                  </a:lnTo>
                  <a:lnTo>
                    <a:pt x="932" y="910"/>
                  </a:lnTo>
                  <a:lnTo>
                    <a:pt x="932" y="910"/>
                  </a:lnTo>
                  <a:lnTo>
                    <a:pt x="932" y="906"/>
                  </a:lnTo>
                  <a:lnTo>
                    <a:pt x="934" y="902"/>
                  </a:lnTo>
                  <a:lnTo>
                    <a:pt x="936" y="900"/>
                  </a:lnTo>
                  <a:lnTo>
                    <a:pt x="940" y="900"/>
                  </a:lnTo>
                  <a:lnTo>
                    <a:pt x="976" y="900"/>
                  </a:lnTo>
                  <a:lnTo>
                    <a:pt x="976" y="900"/>
                  </a:lnTo>
                  <a:lnTo>
                    <a:pt x="980" y="900"/>
                  </a:lnTo>
                  <a:lnTo>
                    <a:pt x="984" y="902"/>
                  </a:lnTo>
                  <a:lnTo>
                    <a:pt x="986" y="906"/>
                  </a:lnTo>
                  <a:lnTo>
                    <a:pt x="986" y="910"/>
                  </a:lnTo>
                  <a:lnTo>
                    <a:pt x="986" y="910"/>
                  </a:lnTo>
                  <a:close/>
                  <a:moveTo>
                    <a:pt x="978" y="830"/>
                  </a:moveTo>
                  <a:lnTo>
                    <a:pt x="982" y="870"/>
                  </a:lnTo>
                  <a:lnTo>
                    <a:pt x="982" y="870"/>
                  </a:lnTo>
                  <a:lnTo>
                    <a:pt x="982" y="874"/>
                  </a:lnTo>
                  <a:lnTo>
                    <a:pt x="980" y="878"/>
                  </a:lnTo>
                  <a:lnTo>
                    <a:pt x="978" y="880"/>
                  </a:lnTo>
                  <a:lnTo>
                    <a:pt x="974" y="880"/>
                  </a:lnTo>
                  <a:lnTo>
                    <a:pt x="932" y="880"/>
                  </a:lnTo>
                  <a:lnTo>
                    <a:pt x="932" y="880"/>
                  </a:lnTo>
                  <a:lnTo>
                    <a:pt x="928" y="880"/>
                  </a:lnTo>
                  <a:lnTo>
                    <a:pt x="924" y="878"/>
                  </a:lnTo>
                  <a:lnTo>
                    <a:pt x="922" y="874"/>
                  </a:lnTo>
                  <a:lnTo>
                    <a:pt x="920" y="870"/>
                  </a:lnTo>
                  <a:lnTo>
                    <a:pt x="916" y="830"/>
                  </a:lnTo>
                  <a:lnTo>
                    <a:pt x="916" y="830"/>
                  </a:lnTo>
                  <a:lnTo>
                    <a:pt x="918" y="826"/>
                  </a:lnTo>
                  <a:lnTo>
                    <a:pt x="918" y="824"/>
                  </a:lnTo>
                  <a:lnTo>
                    <a:pt x="922" y="822"/>
                  </a:lnTo>
                  <a:lnTo>
                    <a:pt x="926" y="820"/>
                  </a:lnTo>
                  <a:lnTo>
                    <a:pt x="968" y="820"/>
                  </a:lnTo>
                  <a:lnTo>
                    <a:pt x="968" y="820"/>
                  </a:lnTo>
                  <a:lnTo>
                    <a:pt x="970" y="822"/>
                  </a:lnTo>
                  <a:lnTo>
                    <a:pt x="974" y="824"/>
                  </a:lnTo>
                  <a:lnTo>
                    <a:pt x="976" y="826"/>
                  </a:lnTo>
                  <a:lnTo>
                    <a:pt x="978" y="830"/>
                  </a:lnTo>
                  <a:lnTo>
                    <a:pt x="978" y="830"/>
                  </a:lnTo>
                  <a:close/>
                  <a:moveTo>
                    <a:pt x="860" y="900"/>
                  </a:moveTo>
                  <a:lnTo>
                    <a:pt x="904" y="900"/>
                  </a:lnTo>
                  <a:lnTo>
                    <a:pt x="904" y="900"/>
                  </a:lnTo>
                  <a:lnTo>
                    <a:pt x="908" y="900"/>
                  </a:lnTo>
                  <a:lnTo>
                    <a:pt x="910" y="902"/>
                  </a:lnTo>
                  <a:lnTo>
                    <a:pt x="912" y="906"/>
                  </a:lnTo>
                  <a:lnTo>
                    <a:pt x="914" y="910"/>
                  </a:lnTo>
                  <a:lnTo>
                    <a:pt x="918" y="948"/>
                  </a:lnTo>
                  <a:lnTo>
                    <a:pt x="918" y="948"/>
                  </a:lnTo>
                  <a:lnTo>
                    <a:pt x="918" y="952"/>
                  </a:lnTo>
                  <a:lnTo>
                    <a:pt x="916" y="956"/>
                  </a:lnTo>
                  <a:lnTo>
                    <a:pt x="914" y="958"/>
                  </a:lnTo>
                  <a:lnTo>
                    <a:pt x="910" y="958"/>
                  </a:lnTo>
                  <a:lnTo>
                    <a:pt x="866" y="958"/>
                  </a:lnTo>
                  <a:lnTo>
                    <a:pt x="866" y="958"/>
                  </a:lnTo>
                  <a:lnTo>
                    <a:pt x="862" y="958"/>
                  </a:lnTo>
                  <a:lnTo>
                    <a:pt x="858" y="956"/>
                  </a:lnTo>
                  <a:lnTo>
                    <a:pt x="856" y="952"/>
                  </a:lnTo>
                  <a:lnTo>
                    <a:pt x="856" y="948"/>
                  </a:lnTo>
                  <a:lnTo>
                    <a:pt x="852" y="910"/>
                  </a:lnTo>
                  <a:lnTo>
                    <a:pt x="852" y="910"/>
                  </a:lnTo>
                  <a:lnTo>
                    <a:pt x="852" y="906"/>
                  </a:lnTo>
                  <a:lnTo>
                    <a:pt x="854" y="902"/>
                  </a:lnTo>
                  <a:lnTo>
                    <a:pt x="856" y="900"/>
                  </a:lnTo>
                  <a:lnTo>
                    <a:pt x="860" y="900"/>
                  </a:lnTo>
                  <a:lnTo>
                    <a:pt x="860" y="900"/>
                  </a:lnTo>
                  <a:close/>
                  <a:moveTo>
                    <a:pt x="848" y="880"/>
                  </a:moveTo>
                  <a:lnTo>
                    <a:pt x="848" y="880"/>
                  </a:lnTo>
                  <a:lnTo>
                    <a:pt x="846" y="880"/>
                  </a:lnTo>
                  <a:lnTo>
                    <a:pt x="842" y="878"/>
                  </a:lnTo>
                  <a:lnTo>
                    <a:pt x="840" y="874"/>
                  </a:lnTo>
                  <a:lnTo>
                    <a:pt x="838" y="870"/>
                  </a:lnTo>
                  <a:lnTo>
                    <a:pt x="836" y="830"/>
                  </a:lnTo>
                  <a:lnTo>
                    <a:pt x="836" y="830"/>
                  </a:lnTo>
                  <a:lnTo>
                    <a:pt x="836" y="826"/>
                  </a:lnTo>
                  <a:lnTo>
                    <a:pt x="838" y="824"/>
                  </a:lnTo>
                  <a:lnTo>
                    <a:pt x="840" y="822"/>
                  </a:lnTo>
                  <a:lnTo>
                    <a:pt x="844" y="820"/>
                  </a:lnTo>
                  <a:lnTo>
                    <a:pt x="886" y="820"/>
                  </a:lnTo>
                  <a:lnTo>
                    <a:pt x="886" y="820"/>
                  </a:lnTo>
                  <a:lnTo>
                    <a:pt x="890" y="822"/>
                  </a:lnTo>
                  <a:lnTo>
                    <a:pt x="892" y="824"/>
                  </a:lnTo>
                  <a:lnTo>
                    <a:pt x="896" y="826"/>
                  </a:lnTo>
                  <a:lnTo>
                    <a:pt x="896" y="830"/>
                  </a:lnTo>
                  <a:lnTo>
                    <a:pt x="900" y="870"/>
                  </a:lnTo>
                  <a:lnTo>
                    <a:pt x="900" y="870"/>
                  </a:lnTo>
                  <a:lnTo>
                    <a:pt x="900" y="874"/>
                  </a:lnTo>
                  <a:lnTo>
                    <a:pt x="898" y="878"/>
                  </a:lnTo>
                  <a:lnTo>
                    <a:pt x="896" y="880"/>
                  </a:lnTo>
                  <a:lnTo>
                    <a:pt x="892" y="880"/>
                  </a:lnTo>
                  <a:lnTo>
                    <a:pt x="848" y="880"/>
                  </a:lnTo>
                  <a:close/>
                  <a:moveTo>
                    <a:pt x="148" y="80"/>
                  </a:moveTo>
                  <a:lnTo>
                    <a:pt x="148" y="80"/>
                  </a:lnTo>
                  <a:lnTo>
                    <a:pt x="150" y="76"/>
                  </a:lnTo>
                  <a:lnTo>
                    <a:pt x="156" y="72"/>
                  </a:lnTo>
                  <a:lnTo>
                    <a:pt x="950" y="72"/>
                  </a:lnTo>
                  <a:lnTo>
                    <a:pt x="950" y="72"/>
                  </a:lnTo>
                  <a:lnTo>
                    <a:pt x="956" y="76"/>
                  </a:lnTo>
                  <a:lnTo>
                    <a:pt x="958" y="80"/>
                  </a:lnTo>
                  <a:lnTo>
                    <a:pt x="958" y="644"/>
                  </a:lnTo>
                  <a:lnTo>
                    <a:pt x="958" y="644"/>
                  </a:lnTo>
                  <a:lnTo>
                    <a:pt x="956" y="650"/>
                  </a:lnTo>
                  <a:lnTo>
                    <a:pt x="950" y="652"/>
                  </a:lnTo>
                  <a:lnTo>
                    <a:pt x="156" y="652"/>
                  </a:lnTo>
                  <a:lnTo>
                    <a:pt x="156" y="652"/>
                  </a:lnTo>
                  <a:lnTo>
                    <a:pt x="150" y="650"/>
                  </a:lnTo>
                  <a:lnTo>
                    <a:pt x="148" y="644"/>
                  </a:lnTo>
                  <a:lnTo>
                    <a:pt x="148" y="80"/>
                  </a:lnTo>
                  <a:close/>
                  <a:moveTo>
                    <a:pt x="820" y="870"/>
                  </a:moveTo>
                  <a:lnTo>
                    <a:pt x="820" y="870"/>
                  </a:lnTo>
                  <a:lnTo>
                    <a:pt x="820" y="874"/>
                  </a:lnTo>
                  <a:lnTo>
                    <a:pt x="818" y="878"/>
                  </a:lnTo>
                  <a:lnTo>
                    <a:pt x="816" y="880"/>
                  </a:lnTo>
                  <a:lnTo>
                    <a:pt x="812" y="880"/>
                  </a:lnTo>
                  <a:lnTo>
                    <a:pt x="770" y="880"/>
                  </a:lnTo>
                  <a:lnTo>
                    <a:pt x="770" y="880"/>
                  </a:lnTo>
                  <a:lnTo>
                    <a:pt x="766" y="880"/>
                  </a:lnTo>
                  <a:lnTo>
                    <a:pt x="762" y="878"/>
                  </a:lnTo>
                  <a:lnTo>
                    <a:pt x="760" y="874"/>
                  </a:lnTo>
                  <a:lnTo>
                    <a:pt x="760" y="870"/>
                  </a:lnTo>
                  <a:lnTo>
                    <a:pt x="758" y="830"/>
                  </a:lnTo>
                  <a:lnTo>
                    <a:pt x="758" y="830"/>
                  </a:lnTo>
                  <a:lnTo>
                    <a:pt x="758" y="826"/>
                  </a:lnTo>
                  <a:lnTo>
                    <a:pt x="760" y="824"/>
                  </a:lnTo>
                  <a:lnTo>
                    <a:pt x="762" y="822"/>
                  </a:lnTo>
                  <a:lnTo>
                    <a:pt x="766" y="820"/>
                  </a:lnTo>
                  <a:lnTo>
                    <a:pt x="808" y="820"/>
                  </a:lnTo>
                  <a:lnTo>
                    <a:pt x="808" y="820"/>
                  </a:lnTo>
                  <a:lnTo>
                    <a:pt x="812" y="822"/>
                  </a:lnTo>
                  <a:lnTo>
                    <a:pt x="814" y="824"/>
                  </a:lnTo>
                  <a:lnTo>
                    <a:pt x="818" y="826"/>
                  </a:lnTo>
                  <a:lnTo>
                    <a:pt x="818" y="830"/>
                  </a:lnTo>
                  <a:lnTo>
                    <a:pt x="820" y="870"/>
                  </a:lnTo>
                  <a:close/>
                  <a:moveTo>
                    <a:pt x="702" y="900"/>
                  </a:moveTo>
                  <a:lnTo>
                    <a:pt x="744" y="900"/>
                  </a:lnTo>
                  <a:lnTo>
                    <a:pt x="744" y="900"/>
                  </a:lnTo>
                  <a:lnTo>
                    <a:pt x="748" y="900"/>
                  </a:lnTo>
                  <a:lnTo>
                    <a:pt x="750" y="902"/>
                  </a:lnTo>
                  <a:lnTo>
                    <a:pt x="754" y="906"/>
                  </a:lnTo>
                  <a:lnTo>
                    <a:pt x="754" y="910"/>
                  </a:lnTo>
                  <a:lnTo>
                    <a:pt x="756" y="948"/>
                  </a:lnTo>
                  <a:lnTo>
                    <a:pt x="756" y="948"/>
                  </a:lnTo>
                  <a:lnTo>
                    <a:pt x="756" y="952"/>
                  </a:lnTo>
                  <a:lnTo>
                    <a:pt x="754" y="956"/>
                  </a:lnTo>
                  <a:lnTo>
                    <a:pt x="750" y="958"/>
                  </a:lnTo>
                  <a:lnTo>
                    <a:pt x="748" y="958"/>
                  </a:lnTo>
                  <a:lnTo>
                    <a:pt x="704" y="958"/>
                  </a:lnTo>
                  <a:lnTo>
                    <a:pt x="704" y="958"/>
                  </a:lnTo>
                  <a:lnTo>
                    <a:pt x="700" y="958"/>
                  </a:lnTo>
                  <a:lnTo>
                    <a:pt x="696" y="956"/>
                  </a:lnTo>
                  <a:lnTo>
                    <a:pt x="694" y="952"/>
                  </a:lnTo>
                  <a:lnTo>
                    <a:pt x="694" y="948"/>
                  </a:lnTo>
                  <a:lnTo>
                    <a:pt x="692" y="910"/>
                  </a:lnTo>
                  <a:lnTo>
                    <a:pt x="692" y="910"/>
                  </a:lnTo>
                  <a:lnTo>
                    <a:pt x="692" y="906"/>
                  </a:lnTo>
                  <a:lnTo>
                    <a:pt x="694" y="902"/>
                  </a:lnTo>
                  <a:lnTo>
                    <a:pt x="698" y="900"/>
                  </a:lnTo>
                  <a:lnTo>
                    <a:pt x="702" y="900"/>
                  </a:lnTo>
                  <a:lnTo>
                    <a:pt x="702" y="900"/>
                  </a:lnTo>
                  <a:close/>
                  <a:moveTo>
                    <a:pt x="690" y="880"/>
                  </a:moveTo>
                  <a:lnTo>
                    <a:pt x="690" y="880"/>
                  </a:lnTo>
                  <a:lnTo>
                    <a:pt x="686" y="880"/>
                  </a:lnTo>
                  <a:lnTo>
                    <a:pt x="684" y="878"/>
                  </a:lnTo>
                  <a:lnTo>
                    <a:pt x="682" y="874"/>
                  </a:lnTo>
                  <a:lnTo>
                    <a:pt x="680" y="870"/>
                  </a:lnTo>
                  <a:lnTo>
                    <a:pt x="678" y="830"/>
                  </a:lnTo>
                  <a:lnTo>
                    <a:pt x="678" y="830"/>
                  </a:lnTo>
                  <a:lnTo>
                    <a:pt x="680" y="826"/>
                  </a:lnTo>
                  <a:lnTo>
                    <a:pt x="682" y="824"/>
                  </a:lnTo>
                  <a:lnTo>
                    <a:pt x="684" y="822"/>
                  </a:lnTo>
                  <a:lnTo>
                    <a:pt x="688" y="820"/>
                  </a:lnTo>
                  <a:lnTo>
                    <a:pt x="730" y="820"/>
                  </a:lnTo>
                  <a:lnTo>
                    <a:pt x="730" y="820"/>
                  </a:lnTo>
                  <a:lnTo>
                    <a:pt x="734" y="822"/>
                  </a:lnTo>
                  <a:lnTo>
                    <a:pt x="736" y="824"/>
                  </a:lnTo>
                  <a:lnTo>
                    <a:pt x="738" y="826"/>
                  </a:lnTo>
                  <a:lnTo>
                    <a:pt x="740" y="830"/>
                  </a:lnTo>
                  <a:lnTo>
                    <a:pt x="742" y="870"/>
                  </a:lnTo>
                  <a:lnTo>
                    <a:pt x="742" y="870"/>
                  </a:lnTo>
                  <a:lnTo>
                    <a:pt x="742" y="874"/>
                  </a:lnTo>
                  <a:lnTo>
                    <a:pt x="740" y="878"/>
                  </a:lnTo>
                  <a:lnTo>
                    <a:pt x="736" y="880"/>
                  </a:lnTo>
                  <a:lnTo>
                    <a:pt x="732" y="880"/>
                  </a:lnTo>
                  <a:lnTo>
                    <a:pt x="690" y="880"/>
                  </a:lnTo>
                  <a:close/>
                  <a:moveTo>
                    <a:pt x="622" y="900"/>
                  </a:moveTo>
                  <a:lnTo>
                    <a:pt x="664" y="900"/>
                  </a:lnTo>
                  <a:lnTo>
                    <a:pt x="664" y="900"/>
                  </a:lnTo>
                  <a:lnTo>
                    <a:pt x="668" y="900"/>
                  </a:lnTo>
                  <a:lnTo>
                    <a:pt x="672" y="902"/>
                  </a:lnTo>
                  <a:lnTo>
                    <a:pt x="674" y="906"/>
                  </a:lnTo>
                  <a:lnTo>
                    <a:pt x="674" y="910"/>
                  </a:lnTo>
                  <a:lnTo>
                    <a:pt x="676" y="948"/>
                  </a:lnTo>
                  <a:lnTo>
                    <a:pt x="676" y="948"/>
                  </a:lnTo>
                  <a:lnTo>
                    <a:pt x="674" y="952"/>
                  </a:lnTo>
                  <a:lnTo>
                    <a:pt x="672" y="956"/>
                  </a:lnTo>
                  <a:lnTo>
                    <a:pt x="670" y="958"/>
                  </a:lnTo>
                  <a:lnTo>
                    <a:pt x="666" y="958"/>
                  </a:lnTo>
                  <a:lnTo>
                    <a:pt x="622" y="958"/>
                  </a:lnTo>
                  <a:lnTo>
                    <a:pt x="622" y="958"/>
                  </a:lnTo>
                  <a:lnTo>
                    <a:pt x="618" y="958"/>
                  </a:lnTo>
                  <a:lnTo>
                    <a:pt x="616" y="956"/>
                  </a:lnTo>
                  <a:lnTo>
                    <a:pt x="614" y="952"/>
                  </a:lnTo>
                  <a:lnTo>
                    <a:pt x="612" y="948"/>
                  </a:lnTo>
                  <a:lnTo>
                    <a:pt x="612" y="910"/>
                  </a:lnTo>
                  <a:lnTo>
                    <a:pt x="612" y="910"/>
                  </a:lnTo>
                  <a:lnTo>
                    <a:pt x="612" y="906"/>
                  </a:lnTo>
                  <a:lnTo>
                    <a:pt x="614" y="902"/>
                  </a:lnTo>
                  <a:lnTo>
                    <a:pt x="618" y="900"/>
                  </a:lnTo>
                  <a:lnTo>
                    <a:pt x="622" y="900"/>
                  </a:lnTo>
                  <a:lnTo>
                    <a:pt x="622" y="900"/>
                  </a:lnTo>
                  <a:close/>
                  <a:moveTo>
                    <a:pt x="610" y="880"/>
                  </a:moveTo>
                  <a:lnTo>
                    <a:pt x="610" y="880"/>
                  </a:lnTo>
                  <a:lnTo>
                    <a:pt x="608" y="880"/>
                  </a:lnTo>
                  <a:lnTo>
                    <a:pt x="604" y="878"/>
                  </a:lnTo>
                  <a:lnTo>
                    <a:pt x="602" y="874"/>
                  </a:lnTo>
                  <a:lnTo>
                    <a:pt x="602" y="870"/>
                  </a:lnTo>
                  <a:lnTo>
                    <a:pt x="600" y="830"/>
                  </a:lnTo>
                  <a:lnTo>
                    <a:pt x="600" y="830"/>
                  </a:lnTo>
                  <a:lnTo>
                    <a:pt x="602" y="826"/>
                  </a:lnTo>
                  <a:lnTo>
                    <a:pt x="604" y="824"/>
                  </a:lnTo>
                  <a:lnTo>
                    <a:pt x="606" y="822"/>
                  </a:lnTo>
                  <a:lnTo>
                    <a:pt x="610" y="820"/>
                  </a:lnTo>
                  <a:lnTo>
                    <a:pt x="652" y="820"/>
                  </a:lnTo>
                  <a:lnTo>
                    <a:pt x="652" y="820"/>
                  </a:lnTo>
                  <a:lnTo>
                    <a:pt x="656" y="822"/>
                  </a:lnTo>
                  <a:lnTo>
                    <a:pt x="658" y="824"/>
                  </a:lnTo>
                  <a:lnTo>
                    <a:pt x="660" y="826"/>
                  </a:lnTo>
                  <a:lnTo>
                    <a:pt x="662" y="830"/>
                  </a:lnTo>
                  <a:lnTo>
                    <a:pt x="662" y="870"/>
                  </a:lnTo>
                  <a:lnTo>
                    <a:pt x="662" y="870"/>
                  </a:lnTo>
                  <a:lnTo>
                    <a:pt x="662" y="874"/>
                  </a:lnTo>
                  <a:lnTo>
                    <a:pt x="660" y="878"/>
                  </a:lnTo>
                  <a:lnTo>
                    <a:pt x="658" y="880"/>
                  </a:lnTo>
                  <a:lnTo>
                    <a:pt x="654" y="880"/>
                  </a:lnTo>
                  <a:lnTo>
                    <a:pt x="610" y="880"/>
                  </a:lnTo>
                  <a:close/>
                  <a:moveTo>
                    <a:pt x="532" y="910"/>
                  </a:moveTo>
                  <a:lnTo>
                    <a:pt x="532" y="910"/>
                  </a:lnTo>
                  <a:lnTo>
                    <a:pt x="532" y="906"/>
                  </a:lnTo>
                  <a:lnTo>
                    <a:pt x="534" y="902"/>
                  </a:lnTo>
                  <a:lnTo>
                    <a:pt x="538" y="900"/>
                  </a:lnTo>
                  <a:lnTo>
                    <a:pt x="542" y="900"/>
                  </a:lnTo>
                  <a:lnTo>
                    <a:pt x="584" y="900"/>
                  </a:lnTo>
                  <a:lnTo>
                    <a:pt x="584" y="900"/>
                  </a:lnTo>
                  <a:lnTo>
                    <a:pt x="588" y="900"/>
                  </a:lnTo>
                  <a:lnTo>
                    <a:pt x="592" y="902"/>
                  </a:lnTo>
                  <a:lnTo>
                    <a:pt x="594" y="906"/>
                  </a:lnTo>
                  <a:lnTo>
                    <a:pt x="594" y="910"/>
                  </a:lnTo>
                  <a:lnTo>
                    <a:pt x="594" y="948"/>
                  </a:lnTo>
                  <a:lnTo>
                    <a:pt x="594" y="948"/>
                  </a:lnTo>
                  <a:lnTo>
                    <a:pt x="594" y="952"/>
                  </a:lnTo>
                  <a:lnTo>
                    <a:pt x="592" y="956"/>
                  </a:lnTo>
                  <a:lnTo>
                    <a:pt x="588" y="958"/>
                  </a:lnTo>
                  <a:lnTo>
                    <a:pt x="584" y="958"/>
                  </a:lnTo>
                  <a:lnTo>
                    <a:pt x="542" y="958"/>
                  </a:lnTo>
                  <a:lnTo>
                    <a:pt x="542" y="958"/>
                  </a:lnTo>
                  <a:lnTo>
                    <a:pt x="538" y="958"/>
                  </a:lnTo>
                  <a:lnTo>
                    <a:pt x="534" y="956"/>
                  </a:lnTo>
                  <a:lnTo>
                    <a:pt x="532" y="952"/>
                  </a:lnTo>
                  <a:lnTo>
                    <a:pt x="532" y="948"/>
                  </a:lnTo>
                  <a:lnTo>
                    <a:pt x="532" y="910"/>
                  </a:lnTo>
                  <a:close/>
                  <a:moveTo>
                    <a:pt x="532" y="880"/>
                  </a:moveTo>
                  <a:lnTo>
                    <a:pt x="532" y="880"/>
                  </a:lnTo>
                  <a:lnTo>
                    <a:pt x="528" y="880"/>
                  </a:lnTo>
                  <a:lnTo>
                    <a:pt x="524" y="878"/>
                  </a:lnTo>
                  <a:lnTo>
                    <a:pt x="522" y="874"/>
                  </a:lnTo>
                  <a:lnTo>
                    <a:pt x="522" y="870"/>
                  </a:lnTo>
                  <a:lnTo>
                    <a:pt x="522" y="830"/>
                  </a:lnTo>
                  <a:lnTo>
                    <a:pt x="522" y="830"/>
                  </a:lnTo>
                  <a:lnTo>
                    <a:pt x="524" y="826"/>
                  </a:lnTo>
                  <a:lnTo>
                    <a:pt x="526" y="824"/>
                  </a:lnTo>
                  <a:lnTo>
                    <a:pt x="528" y="822"/>
                  </a:lnTo>
                  <a:lnTo>
                    <a:pt x="532" y="820"/>
                  </a:lnTo>
                  <a:lnTo>
                    <a:pt x="574" y="820"/>
                  </a:lnTo>
                  <a:lnTo>
                    <a:pt x="574" y="820"/>
                  </a:lnTo>
                  <a:lnTo>
                    <a:pt x="578" y="822"/>
                  </a:lnTo>
                  <a:lnTo>
                    <a:pt x="580" y="824"/>
                  </a:lnTo>
                  <a:lnTo>
                    <a:pt x="582" y="826"/>
                  </a:lnTo>
                  <a:lnTo>
                    <a:pt x="584" y="830"/>
                  </a:lnTo>
                  <a:lnTo>
                    <a:pt x="584" y="870"/>
                  </a:lnTo>
                  <a:lnTo>
                    <a:pt x="584" y="870"/>
                  </a:lnTo>
                  <a:lnTo>
                    <a:pt x="582" y="874"/>
                  </a:lnTo>
                  <a:lnTo>
                    <a:pt x="580" y="878"/>
                  </a:lnTo>
                  <a:lnTo>
                    <a:pt x="578" y="880"/>
                  </a:lnTo>
                  <a:lnTo>
                    <a:pt x="574" y="880"/>
                  </a:lnTo>
                  <a:lnTo>
                    <a:pt x="532" y="880"/>
                  </a:lnTo>
                  <a:close/>
                  <a:moveTo>
                    <a:pt x="452" y="910"/>
                  </a:moveTo>
                  <a:lnTo>
                    <a:pt x="452" y="910"/>
                  </a:lnTo>
                  <a:lnTo>
                    <a:pt x="452" y="906"/>
                  </a:lnTo>
                  <a:lnTo>
                    <a:pt x="454" y="902"/>
                  </a:lnTo>
                  <a:lnTo>
                    <a:pt x="458" y="900"/>
                  </a:lnTo>
                  <a:lnTo>
                    <a:pt x="462" y="900"/>
                  </a:lnTo>
                  <a:lnTo>
                    <a:pt x="504" y="900"/>
                  </a:lnTo>
                  <a:lnTo>
                    <a:pt x="504" y="900"/>
                  </a:lnTo>
                  <a:lnTo>
                    <a:pt x="508" y="900"/>
                  </a:lnTo>
                  <a:lnTo>
                    <a:pt x="512" y="902"/>
                  </a:lnTo>
                  <a:lnTo>
                    <a:pt x="514" y="906"/>
                  </a:lnTo>
                  <a:lnTo>
                    <a:pt x="514" y="910"/>
                  </a:lnTo>
                  <a:lnTo>
                    <a:pt x="514" y="948"/>
                  </a:lnTo>
                  <a:lnTo>
                    <a:pt x="514" y="948"/>
                  </a:lnTo>
                  <a:lnTo>
                    <a:pt x="512" y="952"/>
                  </a:lnTo>
                  <a:lnTo>
                    <a:pt x="510" y="956"/>
                  </a:lnTo>
                  <a:lnTo>
                    <a:pt x="508" y="958"/>
                  </a:lnTo>
                  <a:lnTo>
                    <a:pt x="504" y="958"/>
                  </a:lnTo>
                  <a:lnTo>
                    <a:pt x="460" y="958"/>
                  </a:lnTo>
                  <a:lnTo>
                    <a:pt x="460" y="958"/>
                  </a:lnTo>
                  <a:lnTo>
                    <a:pt x="456" y="958"/>
                  </a:lnTo>
                  <a:lnTo>
                    <a:pt x="454" y="956"/>
                  </a:lnTo>
                  <a:lnTo>
                    <a:pt x="452" y="952"/>
                  </a:lnTo>
                  <a:lnTo>
                    <a:pt x="450" y="948"/>
                  </a:lnTo>
                  <a:lnTo>
                    <a:pt x="452" y="910"/>
                  </a:lnTo>
                  <a:close/>
                  <a:moveTo>
                    <a:pt x="442" y="870"/>
                  </a:moveTo>
                  <a:lnTo>
                    <a:pt x="444" y="830"/>
                  </a:lnTo>
                  <a:lnTo>
                    <a:pt x="444" y="830"/>
                  </a:lnTo>
                  <a:lnTo>
                    <a:pt x="444" y="826"/>
                  </a:lnTo>
                  <a:lnTo>
                    <a:pt x="446" y="824"/>
                  </a:lnTo>
                  <a:lnTo>
                    <a:pt x="450" y="822"/>
                  </a:lnTo>
                  <a:lnTo>
                    <a:pt x="454" y="820"/>
                  </a:lnTo>
                  <a:lnTo>
                    <a:pt x="496" y="820"/>
                  </a:lnTo>
                  <a:lnTo>
                    <a:pt x="496" y="820"/>
                  </a:lnTo>
                  <a:lnTo>
                    <a:pt x="500" y="822"/>
                  </a:lnTo>
                  <a:lnTo>
                    <a:pt x="502" y="824"/>
                  </a:lnTo>
                  <a:lnTo>
                    <a:pt x="504" y="826"/>
                  </a:lnTo>
                  <a:lnTo>
                    <a:pt x="504" y="830"/>
                  </a:lnTo>
                  <a:lnTo>
                    <a:pt x="504" y="870"/>
                  </a:lnTo>
                  <a:lnTo>
                    <a:pt x="504" y="870"/>
                  </a:lnTo>
                  <a:lnTo>
                    <a:pt x="504" y="874"/>
                  </a:lnTo>
                  <a:lnTo>
                    <a:pt x="502" y="878"/>
                  </a:lnTo>
                  <a:lnTo>
                    <a:pt x="498" y="880"/>
                  </a:lnTo>
                  <a:lnTo>
                    <a:pt x="494" y="880"/>
                  </a:lnTo>
                  <a:lnTo>
                    <a:pt x="452" y="880"/>
                  </a:lnTo>
                  <a:lnTo>
                    <a:pt x="452" y="880"/>
                  </a:lnTo>
                  <a:lnTo>
                    <a:pt x="448" y="880"/>
                  </a:lnTo>
                  <a:lnTo>
                    <a:pt x="446" y="878"/>
                  </a:lnTo>
                  <a:lnTo>
                    <a:pt x="444" y="874"/>
                  </a:lnTo>
                  <a:lnTo>
                    <a:pt x="442" y="870"/>
                  </a:lnTo>
                  <a:lnTo>
                    <a:pt x="442" y="870"/>
                  </a:lnTo>
                  <a:close/>
                  <a:moveTo>
                    <a:pt x="372" y="910"/>
                  </a:moveTo>
                  <a:lnTo>
                    <a:pt x="372" y="910"/>
                  </a:lnTo>
                  <a:lnTo>
                    <a:pt x="372" y="906"/>
                  </a:lnTo>
                  <a:lnTo>
                    <a:pt x="376" y="902"/>
                  </a:lnTo>
                  <a:lnTo>
                    <a:pt x="378" y="900"/>
                  </a:lnTo>
                  <a:lnTo>
                    <a:pt x="382" y="900"/>
                  </a:lnTo>
                  <a:lnTo>
                    <a:pt x="424" y="900"/>
                  </a:lnTo>
                  <a:lnTo>
                    <a:pt x="424" y="900"/>
                  </a:lnTo>
                  <a:lnTo>
                    <a:pt x="428" y="900"/>
                  </a:lnTo>
                  <a:lnTo>
                    <a:pt x="432" y="902"/>
                  </a:lnTo>
                  <a:lnTo>
                    <a:pt x="434" y="906"/>
                  </a:lnTo>
                  <a:lnTo>
                    <a:pt x="434" y="910"/>
                  </a:lnTo>
                  <a:lnTo>
                    <a:pt x="432" y="948"/>
                  </a:lnTo>
                  <a:lnTo>
                    <a:pt x="432" y="948"/>
                  </a:lnTo>
                  <a:lnTo>
                    <a:pt x="432" y="952"/>
                  </a:lnTo>
                  <a:lnTo>
                    <a:pt x="430" y="956"/>
                  </a:lnTo>
                  <a:lnTo>
                    <a:pt x="426" y="958"/>
                  </a:lnTo>
                  <a:lnTo>
                    <a:pt x="422" y="958"/>
                  </a:lnTo>
                  <a:lnTo>
                    <a:pt x="380" y="958"/>
                  </a:lnTo>
                  <a:lnTo>
                    <a:pt x="380" y="958"/>
                  </a:lnTo>
                  <a:lnTo>
                    <a:pt x="376" y="958"/>
                  </a:lnTo>
                  <a:lnTo>
                    <a:pt x="372" y="956"/>
                  </a:lnTo>
                  <a:lnTo>
                    <a:pt x="370" y="952"/>
                  </a:lnTo>
                  <a:lnTo>
                    <a:pt x="370" y="948"/>
                  </a:lnTo>
                  <a:lnTo>
                    <a:pt x="372" y="910"/>
                  </a:lnTo>
                  <a:close/>
                  <a:moveTo>
                    <a:pt x="364" y="870"/>
                  </a:moveTo>
                  <a:lnTo>
                    <a:pt x="366" y="830"/>
                  </a:lnTo>
                  <a:lnTo>
                    <a:pt x="366" y="830"/>
                  </a:lnTo>
                  <a:lnTo>
                    <a:pt x="366" y="826"/>
                  </a:lnTo>
                  <a:lnTo>
                    <a:pt x="368" y="824"/>
                  </a:lnTo>
                  <a:lnTo>
                    <a:pt x="372" y="822"/>
                  </a:lnTo>
                  <a:lnTo>
                    <a:pt x="376" y="820"/>
                  </a:lnTo>
                  <a:lnTo>
                    <a:pt x="418" y="820"/>
                  </a:lnTo>
                  <a:lnTo>
                    <a:pt x="418" y="820"/>
                  </a:lnTo>
                  <a:lnTo>
                    <a:pt x="422" y="822"/>
                  </a:lnTo>
                  <a:lnTo>
                    <a:pt x="424" y="824"/>
                  </a:lnTo>
                  <a:lnTo>
                    <a:pt x="426" y="826"/>
                  </a:lnTo>
                  <a:lnTo>
                    <a:pt x="426" y="830"/>
                  </a:lnTo>
                  <a:lnTo>
                    <a:pt x="426" y="870"/>
                  </a:lnTo>
                  <a:lnTo>
                    <a:pt x="426" y="870"/>
                  </a:lnTo>
                  <a:lnTo>
                    <a:pt x="424" y="874"/>
                  </a:lnTo>
                  <a:lnTo>
                    <a:pt x="422" y="878"/>
                  </a:lnTo>
                  <a:lnTo>
                    <a:pt x="420" y="880"/>
                  </a:lnTo>
                  <a:lnTo>
                    <a:pt x="416" y="880"/>
                  </a:lnTo>
                  <a:lnTo>
                    <a:pt x="372" y="880"/>
                  </a:lnTo>
                  <a:lnTo>
                    <a:pt x="372" y="880"/>
                  </a:lnTo>
                  <a:lnTo>
                    <a:pt x="368" y="880"/>
                  </a:lnTo>
                  <a:lnTo>
                    <a:pt x="366" y="878"/>
                  </a:lnTo>
                  <a:lnTo>
                    <a:pt x="364" y="874"/>
                  </a:lnTo>
                  <a:lnTo>
                    <a:pt x="364" y="870"/>
                  </a:lnTo>
                  <a:lnTo>
                    <a:pt x="364" y="870"/>
                  </a:lnTo>
                  <a:close/>
                  <a:moveTo>
                    <a:pt x="292" y="910"/>
                  </a:moveTo>
                  <a:lnTo>
                    <a:pt x="292" y="910"/>
                  </a:lnTo>
                  <a:lnTo>
                    <a:pt x="292" y="906"/>
                  </a:lnTo>
                  <a:lnTo>
                    <a:pt x="296" y="902"/>
                  </a:lnTo>
                  <a:lnTo>
                    <a:pt x="298" y="900"/>
                  </a:lnTo>
                  <a:lnTo>
                    <a:pt x="302" y="900"/>
                  </a:lnTo>
                  <a:lnTo>
                    <a:pt x="346" y="900"/>
                  </a:lnTo>
                  <a:lnTo>
                    <a:pt x="346" y="900"/>
                  </a:lnTo>
                  <a:lnTo>
                    <a:pt x="348" y="900"/>
                  </a:lnTo>
                  <a:lnTo>
                    <a:pt x="352" y="902"/>
                  </a:lnTo>
                  <a:lnTo>
                    <a:pt x="354" y="906"/>
                  </a:lnTo>
                  <a:lnTo>
                    <a:pt x="354" y="910"/>
                  </a:lnTo>
                  <a:lnTo>
                    <a:pt x="352" y="948"/>
                  </a:lnTo>
                  <a:lnTo>
                    <a:pt x="352" y="948"/>
                  </a:lnTo>
                  <a:lnTo>
                    <a:pt x="352" y="952"/>
                  </a:lnTo>
                  <a:lnTo>
                    <a:pt x="348" y="956"/>
                  </a:lnTo>
                  <a:lnTo>
                    <a:pt x="346" y="958"/>
                  </a:lnTo>
                  <a:lnTo>
                    <a:pt x="342" y="958"/>
                  </a:lnTo>
                  <a:lnTo>
                    <a:pt x="298" y="958"/>
                  </a:lnTo>
                  <a:lnTo>
                    <a:pt x="298" y="958"/>
                  </a:lnTo>
                  <a:lnTo>
                    <a:pt x="294" y="958"/>
                  </a:lnTo>
                  <a:lnTo>
                    <a:pt x="292" y="956"/>
                  </a:lnTo>
                  <a:lnTo>
                    <a:pt x="290" y="952"/>
                  </a:lnTo>
                  <a:lnTo>
                    <a:pt x="290" y="948"/>
                  </a:lnTo>
                  <a:lnTo>
                    <a:pt x="292" y="910"/>
                  </a:lnTo>
                  <a:close/>
                  <a:moveTo>
                    <a:pt x="284" y="870"/>
                  </a:moveTo>
                  <a:lnTo>
                    <a:pt x="288" y="830"/>
                  </a:lnTo>
                  <a:lnTo>
                    <a:pt x="288" y="830"/>
                  </a:lnTo>
                  <a:lnTo>
                    <a:pt x="288" y="826"/>
                  </a:lnTo>
                  <a:lnTo>
                    <a:pt x="290" y="824"/>
                  </a:lnTo>
                  <a:lnTo>
                    <a:pt x="294" y="822"/>
                  </a:lnTo>
                  <a:lnTo>
                    <a:pt x="298" y="820"/>
                  </a:lnTo>
                  <a:lnTo>
                    <a:pt x="340" y="820"/>
                  </a:lnTo>
                  <a:lnTo>
                    <a:pt x="340" y="820"/>
                  </a:lnTo>
                  <a:lnTo>
                    <a:pt x="344" y="822"/>
                  </a:lnTo>
                  <a:lnTo>
                    <a:pt x="346" y="824"/>
                  </a:lnTo>
                  <a:lnTo>
                    <a:pt x="348" y="826"/>
                  </a:lnTo>
                  <a:lnTo>
                    <a:pt x="348" y="830"/>
                  </a:lnTo>
                  <a:lnTo>
                    <a:pt x="346" y="870"/>
                  </a:lnTo>
                  <a:lnTo>
                    <a:pt x="346" y="870"/>
                  </a:lnTo>
                  <a:lnTo>
                    <a:pt x="346" y="874"/>
                  </a:lnTo>
                  <a:lnTo>
                    <a:pt x="342" y="878"/>
                  </a:lnTo>
                  <a:lnTo>
                    <a:pt x="340" y="880"/>
                  </a:lnTo>
                  <a:lnTo>
                    <a:pt x="336" y="880"/>
                  </a:lnTo>
                  <a:lnTo>
                    <a:pt x="294" y="880"/>
                  </a:lnTo>
                  <a:lnTo>
                    <a:pt x="294" y="880"/>
                  </a:lnTo>
                  <a:lnTo>
                    <a:pt x="290" y="880"/>
                  </a:lnTo>
                  <a:lnTo>
                    <a:pt x="286" y="878"/>
                  </a:lnTo>
                  <a:lnTo>
                    <a:pt x="284" y="874"/>
                  </a:lnTo>
                  <a:lnTo>
                    <a:pt x="284" y="870"/>
                  </a:lnTo>
                  <a:lnTo>
                    <a:pt x="284" y="870"/>
                  </a:lnTo>
                  <a:close/>
                  <a:moveTo>
                    <a:pt x="270" y="830"/>
                  </a:moveTo>
                  <a:lnTo>
                    <a:pt x="266" y="870"/>
                  </a:lnTo>
                  <a:lnTo>
                    <a:pt x="266" y="870"/>
                  </a:lnTo>
                  <a:lnTo>
                    <a:pt x="266" y="874"/>
                  </a:lnTo>
                  <a:lnTo>
                    <a:pt x="264" y="878"/>
                  </a:lnTo>
                  <a:lnTo>
                    <a:pt x="260" y="880"/>
                  </a:lnTo>
                  <a:lnTo>
                    <a:pt x="256" y="880"/>
                  </a:lnTo>
                  <a:lnTo>
                    <a:pt x="214" y="880"/>
                  </a:lnTo>
                  <a:lnTo>
                    <a:pt x="214" y="880"/>
                  </a:lnTo>
                  <a:lnTo>
                    <a:pt x="210" y="880"/>
                  </a:lnTo>
                  <a:lnTo>
                    <a:pt x="208" y="878"/>
                  </a:lnTo>
                  <a:lnTo>
                    <a:pt x="206" y="874"/>
                  </a:lnTo>
                  <a:lnTo>
                    <a:pt x="206" y="870"/>
                  </a:lnTo>
                  <a:lnTo>
                    <a:pt x="210" y="830"/>
                  </a:lnTo>
                  <a:lnTo>
                    <a:pt x="210" y="830"/>
                  </a:lnTo>
                  <a:lnTo>
                    <a:pt x="210" y="826"/>
                  </a:lnTo>
                  <a:lnTo>
                    <a:pt x="212" y="824"/>
                  </a:lnTo>
                  <a:lnTo>
                    <a:pt x="216" y="822"/>
                  </a:lnTo>
                  <a:lnTo>
                    <a:pt x="220" y="820"/>
                  </a:lnTo>
                  <a:lnTo>
                    <a:pt x="262" y="820"/>
                  </a:lnTo>
                  <a:lnTo>
                    <a:pt x="262" y="820"/>
                  </a:lnTo>
                  <a:lnTo>
                    <a:pt x="266" y="822"/>
                  </a:lnTo>
                  <a:lnTo>
                    <a:pt x="268" y="824"/>
                  </a:lnTo>
                  <a:lnTo>
                    <a:pt x="270" y="826"/>
                  </a:lnTo>
                  <a:lnTo>
                    <a:pt x="270" y="830"/>
                  </a:lnTo>
                  <a:lnTo>
                    <a:pt x="270" y="830"/>
                  </a:lnTo>
                  <a:close/>
                  <a:moveTo>
                    <a:pt x="132" y="830"/>
                  </a:moveTo>
                  <a:lnTo>
                    <a:pt x="132" y="830"/>
                  </a:lnTo>
                  <a:lnTo>
                    <a:pt x="132" y="826"/>
                  </a:lnTo>
                  <a:lnTo>
                    <a:pt x="136" y="824"/>
                  </a:lnTo>
                  <a:lnTo>
                    <a:pt x="138" y="822"/>
                  </a:lnTo>
                  <a:lnTo>
                    <a:pt x="142" y="820"/>
                  </a:lnTo>
                  <a:lnTo>
                    <a:pt x="184" y="820"/>
                  </a:lnTo>
                  <a:lnTo>
                    <a:pt x="184" y="820"/>
                  </a:lnTo>
                  <a:lnTo>
                    <a:pt x="186" y="822"/>
                  </a:lnTo>
                  <a:lnTo>
                    <a:pt x="190" y="824"/>
                  </a:lnTo>
                  <a:lnTo>
                    <a:pt x="192" y="826"/>
                  </a:lnTo>
                  <a:lnTo>
                    <a:pt x="192" y="830"/>
                  </a:lnTo>
                  <a:lnTo>
                    <a:pt x="188" y="870"/>
                  </a:lnTo>
                  <a:lnTo>
                    <a:pt x="188" y="870"/>
                  </a:lnTo>
                  <a:lnTo>
                    <a:pt x="186" y="874"/>
                  </a:lnTo>
                  <a:lnTo>
                    <a:pt x="184" y="878"/>
                  </a:lnTo>
                  <a:lnTo>
                    <a:pt x="180" y="880"/>
                  </a:lnTo>
                  <a:lnTo>
                    <a:pt x="178" y="880"/>
                  </a:lnTo>
                  <a:lnTo>
                    <a:pt x="136" y="880"/>
                  </a:lnTo>
                  <a:lnTo>
                    <a:pt x="136" y="880"/>
                  </a:lnTo>
                  <a:lnTo>
                    <a:pt x="132" y="880"/>
                  </a:lnTo>
                  <a:lnTo>
                    <a:pt x="128" y="878"/>
                  </a:lnTo>
                  <a:lnTo>
                    <a:pt x="128" y="874"/>
                  </a:lnTo>
                  <a:lnTo>
                    <a:pt x="128" y="870"/>
                  </a:lnTo>
                  <a:lnTo>
                    <a:pt x="132" y="830"/>
                  </a:lnTo>
                  <a:close/>
                  <a:moveTo>
                    <a:pt x="122" y="908"/>
                  </a:moveTo>
                  <a:lnTo>
                    <a:pt x="122" y="908"/>
                  </a:lnTo>
                  <a:lnTo>
                    <a:pt x="124" y="906"/>
                  </a:lnTo>
                  <a:lnTo>
                    <a:pt x="126" y="902"/>
                  </a:lnTo>
                  <a:lnTo>
                    <a:pt x="130" y="900"/>
                  </a:lnTo>
                  <a:lnTo>
                    <a:pt x="134" y="900"/>
                  </a:lnTo>
                  <a:lnTo>
                    <a:pt x="186" y="900"/>
                  </a:lnTo>
                  <a:lnTo>
                    <a:pt x="186" y="900"/>
                  </a:lnTo>
                  <a:lnTo>
                    <a:pt x="190" y="900"/>
                  </a:lnTo>
                  <a:lnTo>
                    <a:pt x="192" y="902"/>
                  </a:lnTo>
                  <a:lnTo>
                    <a:pt x="194" y="906"/>
                  </a:lnTo>
                  <a:lnTo>
                    <a:pt x="194" y="908"/>
                  </a:lnTo>
                  <a:lnTo>
                    <a:pt x="190" y="948"/>
                  </a:lnTo>
                  <a:lnTo>
                    <a:pt x="190" y="948"/>
                  </a:lnTo>
                  <a:lnTo>
                    <a:pt x="190" y="952"/>
                  </a:lnTo>
                  <a:lnTo>
                    <a:pt x="186" y="956"/>
                  </a:lnTo>
                  <a:lnTo>
                    <a:pt x="184" y="958"/>
                  </a:lnTo>
                  <a:lnTo>
                    <a:pt x="180" y="958"/>
                  </a:lnTo>
                  <a:lnTo>
                    <a:pt x="126" y="958"/>
                  </a:lnTo>
                  <a:lnTo>
                    <a:pt x="126" y="958"/>
                  </a:lnTo>
                  <a:lnTo>
                    <a:pt x="122" y="958"/>
                  </a:lnTo>
                  <a:lnTo>
                    <a:pt x="120" y="956"/>
                  </a:lnTo>
                  <a:lnTo>
                    <a:pt x="118" y="952"/>
                  </a:lnTo>
                  <a:lnTo>
                    <a:pt x="118" y="948"/>
                  </a:lnTo>
                  <a:lnTo>
                    <a:pt x="122" y="908"/>
                  </a:lnTo>
                  <a:close/>
                  <a:moveTo>
                    <a:pt x="158" y="1028"/>
                  </a:moveTo>
                  <a:lnTo>
                    <a:pt x="158" y="1028"/>
                  </a:lnTo>
                  <a:lnTo>
                    <a:pt x="158" y="1032"/>
                  </a:lnTo>
                  <a:lnTo>
                    <a:pt x="154" y="1034"/>
                  </a:lnTo>
                  <a:lnTo>
                    <a:pt x="152" y="1036"/>
                  </a:lnTo>
                  <a:lnTo>
                    <a:pt x="148" y="1038"/>
                  </a:lnTo>
                  <a:lnTo>
                    <a:pt x="118" y="1038"/>
                  </a:lnTo>
                  <a:lnTo>
                    <a:pt x="118" y="1038"/>
                  </a:lnTo>
                  <a:lnTo>
                    <a:pt x="114" y="1036"/>
                  </a:lnTo>
                  <a:lnTo>
                    <a:pt x="110" y="1034"/>
                  </a:lnTo>
                  <a:lnTo>
                    <a:pt x="108" y="1032"/>
                  </a:lnTo>
                  <a:lnTo>
                    <a:pt x="108" y="1028"/>
                  </a:lnTo>
                  <a:lnTo>
                    <a:pt x="114" y="988"/>
                  </a:lnTo>
                  <a:lnTo>
                    <a:pt x="114" y="988"/>
                  </a:lnTo>
                  <a:lnTo>
                    <a:pt x="114" y="984"/>
                  </a:lnTo>
                  <a:lnTo>
                    <a:pt x="116" y="980"/>
                  </a:lnTo>
                  <a:lnTo>
                    <a:pt x="120" y="978"/>
                  </a:lnTo>
                  <a:lnTo>
                    <a:pt x="124" y="978"/>
                  </a:lnTo>
                  <a:lnTo>
                    <a:pt x="154" y="978"/>
                  </a:lnTo>
                  <a:lnTo>
                    <a:pt x="154" y="978"/>
                  </a:lnTo>
                  <a:lnTo>
                    <a:pt x="158" y="978"/>
                  </a:lnTo>
                  <a:lnTo>
                    <a:pt x="160" y="980"/>
                  </a:lnTo>
                  <a:lnTo>
                    <a:pt x="162" y="984"/>
                  </a:lnTo>
                  <a:lnTo>
                    <a:pt x="162" y="988"/>
                  </a:lnTo>
                  <a:lnTo>
                    <a:pt x="158" y="1028"/>
                  </a:lnTo>
                  <a:close/>
                  <a:moveTo>
                    <a:pt x="250" y="1028"/>
                  </a:moveTo>
                  <a:lnTo>
                    <a:pt x="250" y="1028"/>
                  </a:lnTo>
                  <a:lnTo>
                    <a:pt x="248" y="1032"/>
                  </a:lnTo>
                  <a:lnTo>
                    <a:pt x="246" y="1034"/>
                  </a:lnTo>
                  <a:lnTo>
                    <a:pt x="244" y="1036"/>
                  </a:lnTo>
                  <a:lnTo>
                    <a:pt x="240" y="1038"/>
                  </a:lnTo>
                  <a:lnTo>
                    <a:pt x="186" y="1038"/>
                  </a:lnTo>
                  <a:lnTo>
                    <a:pt x="186" y="1038"/>
                  </a:lnTo>
                  <a:lnTo>
                    <a:pt x="182" y="1036"/>
                  </a:lnTo>
                  <a:lnTo>
                    <a:pt x="180" y="1034"/>
                  </a:lnTo>
                  <a:lnTo>
                    <a:pt x="178" y="1032"/>
                  </a:lnTo>
                  <a:lnTo>
                    <a:pt x="176" y="1028"/>
                  </a:lnTo>
                  <a:lnTo>
                    <a:pt x="180" y="988"/>
                  </a:lnTo>
                  <a:lnTo>
                    <a:pt x="180" y="988"/>
                  </a:lnTo>
                  <a:lnTo>
                    <a:pt x="182" y="984"/>
                  </a:lnTo>
                  <a:lnTo>
                    <a:pt x="184" y="980"/>
                  </a:lnTo>
                  <a:lnTo>
                    <a:pt x="188" y="978"/>
                  </a:lnTo>
                  <a:lnTo>
                    <a:pt x="192" y="978"/>
                  </a:lnTo>
                  <a:lnTo>
                    <a:pt x="244" y="978"/>
                  </a:lnTo>
                  <a:lnTo>
                    <a:pt x="244" y="978"/>
                  </a:lnTo>
                  <a:lnTo>
                    <a:pt x="248" y="978"/>
                  </a:lnTo>
                  <a:lnTo>
                    <a:pt x="250" y="980"/>
                  </a:lnTo>
                  <a:lnTo>
                    <a:pt x="252" y="984"/>
                  </a:lnTo>
                  <a:lnTo>
                    <a:pt x="254" y="988"/>
                  </a:lnTo>
                  <a:lnTo>
                    <a:pt x="250" y="1028"/>
                  </a:lnTo>
                  <a:close/>
                  <a:moveTo>
                    <a:pt x="260" y="958"/>
                  </a:moveTo>
                  <a:lnTo>
                    <a:pt x="218" y="958"/>
                  </a:lnTo>
                  <a:lnTo>
                    <a:pt x="218" y="958"/>
                  </a:lnTo>
                  <a:lnTo>
                    <a:pt x="214" y="958"/>
                  </a:lnTo>
                  <a:lnTo>
                    <a:pt x="210" y="956"/>
                  </a:lnTo>
                  <a:lnTo>
                    <a:pt x="208" y="952"/>
                  </a:lnTo>
                  <a:lnTo>
                    <a:pt x="208" y="948"/>
                  </a:lnTo>
                  <a:lnTo>
                    <a:pt x="212" y="910"/>
                  </a:lnTo>
                  <a:lnTo>
                    <a:pt x="212" y="910"/>
                  </a:lnTo>
                  <a:lnTo>
                    <a:pt x="214" y="906"/>
                  </a:lnTo>
                  <a:lnTo>
                    <a:pt x="216" y="902"/>
                  </a:lnTo>
                  <a:lnTo>
                    <a:pt x="218" y="900"/>
                  </a:lnTo>
                  <a:lnTo>
                    <a:pt x="222" y="900"/>
                  </a:lnTo>
                  <a:lnTo>
                    <a:pt x="266" y="900"/>
                  </a:lnTo>
                  <a:lnTo>
                    <a:pt x="266" y="900"/>
                  </a:lnTo>
                  <a:lnTo>
                    <a:pt x="270" y="900"/>
                  </a:lnTo>
                  <a:lnTo>
                    <a:pt x="272" y="902"/>
                  </a:lnTo>
                  <a:lnTo>
                    <a:pt x="274" y="906"/>
                  </a:lnTo>
                  <a:lnTo>
                    <a:pt x="274" y="910"/>
                  </a:lnTo>
                  <a:lnTo>
                    <a:pt x="272" y="948"/>
                  </a:lnTo>
                  <a:lnTo>
                    <a:pt x="272" y="948"/>
                  </a:lnTo>
                  <a:lnTo>
                    <a:pt x="270" y="952"/>
                  </a:lnTo>
                  <a:lnTo>
                    <a:pt x="268" y="956"/>
                  </a:lnTo>
                  <a:lnTo>
                    <a:pt x="264" y="958"/>
                  </a:lnTo>
                  <a:lnTo>
                    <a:pt x="260" y="958"/>
                  </a:lnTo>
                  <a:lnTo>
                    <a:pt x="260" y="958"/>
                  </a:lnTo>
                  <a:close/>
                  <a:moveTo>
                    <a:pt x="772" y="1038"/>
                  </a:moveTo>
                  <a:lnTo>
                    <a:pt x="278" y="1038"/>
                  </a:lnTo>
                  <a:lnTo>
                    <a:pt x="278" y="1038"/>
                  </a:lnTo>
                  <a:lnTo>
                    <a:pt x="274" y="1036"/>
                  </a:lnTo>
                  <a:lnTo>
                    <a:pt x="270" y="1034"/>
                  </a:lnTo>
                  <a:lnTo>
                    <a:pt x="268" y="1032"/>
                  </a:lnTo>
                  <a:lnTo>
                    <a:pt x="268" y="1028"/>
                  </a:lnTo>
                  <a:lnTo>
                    <a:pt x="272" y="988"/>
                  </a:lnTo>
                  <a:lnTo>
                    <a:pt x="272" y="988"/>
                  </a:lnTo>
                  <a:lnTo>
                    <a:pt x="272" y="984"/>
                  </a:lnTo>
                  <a:lnTo>
                    <a:pt x="274" y="980"/>
                  </a:lnTo>
                  <a:lnTo>
                    <a:pt x="278" y="978"/>
                  </a:lnTo>
                  <a:lnTo>
                    <a:pt x="282" y="978"/>
                  </a:lnTo>
                  <a:lnTo>
                    <a:pt x="768" y="978"/>
                  </a:lnTo>
                  <a:lnTo>
                    <a:pt x="768" y="978"/>
                  </a:lnTo>
                  <a:lnTo>
                    <a:pt x="772" y="978"/>
                  </a:lnTo>
                  <a:lnTo>
                    <a:pt x="776" y="980"/>
                  </a:lnTo>
                  <a:lnTo>
                    <a:pt x="778" y="984"/>
                  </a:lnTo>
                  <a:lnTo>
                    <a:pt x="780" y="988"/>
                  </a:lnTo>
                  <a:lnTo>
                    <a:pt x="782" y="1028"/>
                  </a:lnTo>
                  <a:lnTo>
                    <a:pt x="782" y="1028"/>
                  </a:lnTo>
                  <a:lnTo>
                    <a:pt x="782" y="1032"/>
                  </a:lnTo>
                  <a:lnTo>
                    <a:pt x="780" y="1034"/>
                  </a:lnTo>
                  <a:lnTo>
                    <a:pt x="776" y="1036"/>
                  </a:lnTo>
                  <a:lnTo>
                    <a:pt x="772" y="1038"/>
                  </a:lnTo>
                  <a:lnTo>
                    <a:pt x="772" y="1038"/>
                  </a:lnTo>
                  <a:close/>
                  <a:moveTo>
                    <a:pt x="774" y="948"/>
                  </a:moveTo>
                  <a:lnTo>
                    <a:pt x="772" y="910"/>
                  </a:lnTo>
                  <a:lnTo>
                    <a:pt x="772" y="910"/>
                  </a:lnTo>
                  <a:lnTo>
                    <a:pt x="772" y="906"/>
                  </a:lnTo>
                  <a:lnTo>
                    <a:pt x="774" y="902"/>
                  </a:lnTo>
                  <a:lnTo>
                    <a:pt x="778" y="900"/>
                  </a:lnTo>
                  <a:lnTo>
                    <a:pt x="780" y="900"/>
                  </a:lnTo>
                  <a:lnTo>
                    <a:pt x="824" y="900"/>
                  </a:lnTo>
                  <a:lnTo>
                    <a:pt x="824" y="900"/>
                  </a:lnTo>
                  <a:lnTo>
                    <a:pt x="828" y="900"/>
                  </a:lnTo>
                  <a:lnTo>
                    <a:pt x="830" y="902"/>
                  </a:lnTo>
                  <a:lnTo>
                    <a:pt x="834" y="906"/>
                  </a:lnTo>
                  <a:lnTo>
                    <a:pt x="834" y="910"/>
                  </a:lnTo>
                  <a:lnTo>
                    <a:pt x="838" y="948"/>
                  </a:lnTo>
                  <a:lnTo>
                    <a:pt x="838" y="948"/>
                  </a:lnTo>
                  <a:lnTo>
                    <a:pt x="836" y="952"/>
                  </a:lnTo>
                  <a:lnTo>
                    <a:pt x="834" y="956"/>
                  </a:lnTo>
                  <a:lnTo>
                    <a:pt x="832" y="958"/>
                  </a:lnTo>
                  <a:lnTo>
                    <a:pt x="828" y="958"/>
                  </a:lnTo>
                  <a:lnTo>
                    <a:pt x="784" y="958"/>
                  </a:lnTo>
                  <a:lnTo>
                    <a:pt x="784" y="958"/>
                  </a:lnTo>
                  <a:lnTo>
                    <a:pt x="780" y="958"/>
                  </a:lnTo>
                  <a:lnTo>
                    <a:pt x="778" y="956"/>
                  </a:lnTo>
                  <a:lnTo>
                    <a:pt x="776" y="952"/>
                  </a:lnTo>
                  <a:lnTo>
                    <a:pt x="774" y="948"/>
                  </a:lnTo>
                  <a:lnTo>
                    <a:pt x="774" y="948"/>
                  </a:lnTo>
                  <a:close/>
                  <a:moveTo>
                    <a:pt x="864" y="1038"/>
                  </a:moveTo>
                  <a:lnTo>
                    <a:pt x="810" y="1038"/>
                  </a:lnTo>
                  <a:lnTo>
                    <a:pt x="810" y="1038"/>
                  </a:lnTo>
                  <a:lnTo>
                    <a:pt x="806" y="1036"/>
                  </a:lnTo>
                  <a:lnTo>
                    <a:pt x="804" y="1034"/>
                  </a:lnTo>
                  <a:lnTo>
                    <a:pt x="802" y="1032"/>
                  </a:lnTo>
                  <a:lnTo>
                    <a:pt x="800" y="1028"/>
                  </a:lnTo>
                  <a:lnTo>
                    <a:pt x="798" y="988"/>
                  </a:lnTo>
                  <a:lnTo>
                    <a:pt x="798" y="988"/>
                  </a:lnTo>
                  <a:lnTo>
                    <a:pt x="798" y="984"/>
                  </a:lnTo>
                  <a:lnTo>
                    <a:pt x="800" y="980"/>
                  </a:lnTo>
                  <a:lnTo>
                    <a:pt x="802" y="978"/>
                  </a:lnTo>
                  <a:lnTo>
                    <a:pt x="806" y="978"/>
                  </a:lnTo>
                  <a:lnTo>
                    <a:pt x="860" y="978"/>
                  </a:lnTo>
                  <a:lnTo>
                    <a:pt x="860" y="978"/>
                  </a:lnTo>
                  <a:lnTo>
                    <a:pt x="864" y="978"/>
                  </a:lnTo>
                  <a:lnTo>
                    <a:pt x="866" y="980"/>
                  </a:lnTo>
                  <a:lnTo>
                    <a:pt x="868" y="984"/>
                  </a:lnTo>
                  <a:lnTo>
                    <a:pt x="870" y="988"/>
                  </a:lnTo>
                  <a:lnTo>
                    <a:pt x="874" y="1028"/>
                  </a:lnTo>
                  <a:lnTo>
                    <a:pt x="874" y="1028"/>
                  </a:lnTo>
                  <a:lnTo>
                    <a:pt x="872" y="1032"/>
                  </a:lnTo>
                  <a:lnTo>
                    <a:pt x="870" y="1034"/>
                  </a:lnTo>
                  <a:lnTo>
                    <a:pt x="868" y="1036"/>
                  </a:lnTo>
                  <a:lnTo>
                    <a:pt x="864" y="1038"/>
                  </a:lnTo>
                  <a:lnTo>
                    <a:pt x="864" y="1038"/>
                  </a:lnTo>
                  <a:close/>
                  <a:moveTo>
                    <a:pt x="992" y="1038"/>
                  </a:moveTo>
                  <a:lnTo>
                    <a:pt x="902" y="1038"/>
                  </a:lnTo>
                  <a:lnTo>
                    <a:pt x="902" y="1038"/>
                  </a:lnTo>
                  <a:lnTo>
                    <a:pt x="898" y="1036"/>
                  </a:lnTo>
                  <a:lnTo>
                    <a:pt x="896" y="1034"/>
                  </a:lnTo>
                  <a:lnTo>
                    <a:pt x="892" y="1032"/>
                  </a:lnTo>
                  <a:lnTo>
                    <a:pt x="892" y="1028"/>
                  </a:lnTo>
                  <a:lnTo>
                    <a:pt x="888" y="988"/>
                  </a:lnTo>
                  <a:lnTo>
                    <a:pt x="888" y="988"/>
                  </a:lnTo>
                  <a:lnTo>
                    <a:pt x="888" y="984"/>
                  </a:lnTo>
                  <a:lnTo>
                    <a:pt x="890" y="980"/>
                  </a:lnTo>
                  <a:lnTo>
                    <a:pt x="894" y="978"/>
                  </a:lnTo>
                  <a:lnTo>
                    <a:pt x="896" y="978"/>
                  </a:lnTo>
                  <a:lnTo>
                    <a:pt x="986" y="978"/>
                  </a:lnTo>
                  <a:lnTo>
                    <a:pt x="986" y="978"/>
                  </a:lnTo>
                  <a:lnTo>
                    <a:pt x="990" y="978"/>
                  </a:lnTo>
                  <a:lnTo>
                    <a:pt x="992" y="980"/>
                  </a:lnTo>
                  <a:lnTo>
                    <a:pt x="994" y="984"/>
                  </a:lnTo>
                  <a:lnTo>
                    <a:pt x="996" y="988"/>
                  </a:lnTo>
                  <a:lnTo>
                    <a:pt x="1000" y="1028"/>
                  </a:lnTo>
                  <a:lnTo>
                    <a:pt x="1000" y="1028"/>
                  </a:lnTo>
                  <a:lnTo>
                    <a:pt x="1000" y="1032"/>
                  </a:lnTo>
                  <a:lnTo>
                    <a:pt x="998" y="1034"/>
                  </a:lnTo>
                  <a:lnTo>
                    <a:pt x="996" y="1036"/>
                  </a:lnTo>
                  <a:lnTo>
                    <a:pt x="992" y="1038"/>
                  </a:lnTo>
                  <a:lnTo>
                    <a:pt x="992" y="1038"/>
                  </a:lnTo>
                  <a:close/>
                </a:path>
              </a:pathLst>
            </a:custGeom>
            <a:solidFill>
              <a:srgbClr val="007CB0"/>
            </a:solidFill>
            <a:ln>
              <a:noFill/>
            </a:ln>
          </p:spPr>
          <p:txBody>
            <a:bodyPr vert="horz" wrap="square" lIns="68750" tIns="34375" rIns="68750" bIns="34375" numCol="1" anchor="t" anchorCtr="0" compatLnSpc="1">
              <a:prstTxWarp prst="textNoShape">
                <a:avLst/>
              </a:prstTxWarp>
            </a:bodyP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1200" cap="none" spc="0" normalizeH="0" baseline="0" noProof="0">
                <a:ln>
                  <a:noFill/>
                </a:ln>
                <a:solidFill>
                  <a:srgbClr val="000000"/>
                </a:solidFill>
                <a:effectLst/>
                <a:uLnTx/>
                <a:uFillTx/>
                <a:latin typeface="Open Sans"/>
                <a:ea typeface="+mn-ea"/>
                <a:cs typeface="Arial" pitchFamily="34" charset="0"/>
              </a:endParaRPr>
            </a:p>
          </p:txBody>
        </p:sp>
        <p:sp>
          <p:nvSpPr>
            <p:cNvPr id="18" name="TextBox 17">
              <a:extLst>
                <a:ext uri="{FF2B5EF4-FFF2-40B4-BE49-F238E27FC236}">
                  <a16:creationId xmlns:a16="http://schemas.microsoft.com/office/drawing/2014/main" id="{617B7D6E-DED3-4886-8864-8708FAB9E3C6}"/>
                </a:ext>
              </a:extLst>
            </p:cNvPr>
            <p:cNvSpPr txBox="1"/>
            <p:nvPr/>
          </p:nvSpPr>
          <p:spPr>
            <a:xfrm>
              <a:off x="5398451" y="2412160"/>
              <a:ext cx="802062" cy="460663"/>
            </a:xfrm>
            <a:prstGeom prst="rect">
              <a:avLst/>
            </a:prstGeom>
          </p:spPr>
          <p:txBody>
            <a:bodyPr wrap="square" rtlCol="0">
              <a:spAutoFit/>
            </a:bodyPr>
            <a:lstStyle/>
            <a:p>
              <a:pPr marL="0" marR="0" lvl="0" indent="0" algn="ctr" defTabSz="687537" rtl="0" eaLnBrk="1" fontAlgn="auto" latinLnBrk="0" hangingPunct="1">
                <a:lnSpc>
                  <a:spcPct val="100000"/>
                </a:lnSpc>
                <a:spcBef>
                  <a:spcPts val="0"/>
                </a:spcBef>
                <a:spcAft>
                  <a:spcPts val="0"/>
                </a:spcAft>
                <a:buClrTx/>
                <a:buSzTx/>
                <a:buFontTx/>
                <a:buNone/>
                <a:tabLst/>
                <a:defRPr/>
              </a:pPr>
              <a:r>
                <a:rPr kumimoji="0" lang="en-US" sz="827" b="1" i="0" u="none" strike="noStrike" kern="0" cap="none" spc="0" normalizeH="0" baseline="0" noProof="0">
                  <a:ln>
                    <a:noFill/>
                  </a:ln>
                  <a:solidFill>
                    <a:srgbClr val="000000"/>
                  </a:solidFill>
                  <a:effectLst/>
                  <a:uLnTx/>
                  <a:uFillTx/>
                  <a:latin typeface="Calibri" panose="020F0502020204030204" pitchFamily="34" charset="0"/>
                  <a:ea typeface="+mn-ea"/>
                  <a:cs typeface="Arial" charset="0"/>
                </a:rPr>
                <a:t>Boundary Applications</a:t>
              </a:r>
              <a:endParaRPr kumimoji="0" lang="en-US" sz="827" b="1" i="0" u="none" strike="noStrike" kern="0" cap="none" spc="0" normalizeH="0" baseline="0" noProof="0">
                <a:ln>
                  <a:noFill/>
                </a:ln>
                <a:solidFill>
                  <a:prstClr val="black"/>
                </a:solidFill>
                <a:effectLst/>
                <a:uLnTx/>
                <a:uFillTx/>
                <a:latin typeface="Open Sans"/>
                <a:ea typeface="+mn-ea"/>
                <a:cs typeface="+mn-cs"/>
              </a:endParaRPr>
            </a:p>
          </p:txBody>
        </p:sp>
        <p:sp>
          <p:nvSpPr>
            <p:cNvPr id="19" name="Text Box 10">
              <a:extLst>
                <a:ext uri="{FF2B5EF4-FFF2-40B4-BE49-F238E27FC236}">
                  <a16:creationId xmlns:a16="http://schemas.microsoft.com/office/drawing/2014/main" id="{8E3D19E5-BCCD-4CED-96C7-B52453EDB0E2}"/>
                </a:ext>
              </a:extLst>
            </p:cNvPr>
            <p:cNvSpPr txBox="1">
              <a:spLocks noChangeArrowheads="1"/>
            </p:cNvSpPr>
            <p:nvPr/>
          </p:nvSpPr>
          <p:spPr bwMode="auto">
            <a:xfrm>
              <a:off x="10041598" y="1275511"/>
              <a:ext cx="1925393" cy="320342"/>
            </a:xfrm>
            <a:prstGeom prst="rect">
              <a:avLst/>
            </a:prstGeom>
            <a:solidFill>
              <a:srgbClr val="007CB0"/>
            </a:solidFill>
            <a:ln w="12700" algn="ctr">
              <a:noFill/>
              <a:miter lim="800000"/>
              <a:headEnd/>
              <a:tailEnd type="none" w="sm" len="med"/>
            </a:ln>
          </p:spPr>
          <p:txBody>
            <a:bodyPr lIns="19902" tIns="19902" rIns="19902" bIns="19902" anchor="ctr" anchorCtr="1"/>
            <a:lstStyle/>
            <a:p>
              <a:pPr marL="0" marR="0" lvl="0" indent="0" algn="ctr" defTabSz="528601" rtl="0" eaLnBrk="1" fontAlgn="auto" latinLnBrk="0" hangingPunct="1">
                <a:lnSpc>
                  <a:spcPct val="100000"/>
                </a:lnSpc>
                <a:spcBef>
                  <a:spcPct val="2000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Open Sans"/>
                  <a:ea typeface="+mn-ea"/>
                  <a:cs typeface="Arial" pitchFamily="34" charset="0"/>
                </a:rPr>
                <a:t>Oracle Retail Cloud Applications</a:t>
              </a:r>
            </a:p>
          </p:txBody>
        </p:sp>
        <p:sp>
          <p:nvSpPr>
            <p:cNvPr id="20" name="TextBox 19">
              <a:extLst>
                <a:ext uri="{FF2B5EF4-FFF2-40B4-BE49-F238E27FC236}">
                  <a16:creationId xmlns:a16="http://schemas.microsoft.com/office/drawing/2014/main" id="{01176EA0-E3CE-4090-88FC-FBA435CCBA31}"/>
                </a:ext>
              </a:extLst>
            </p:cNvPr>
            <p:cNvSpPr txBox="1"/>
            <p:nvPr/>
          </p:nvSpPr>
          <p:spPr>
            <a:xfrm>
              <a:off x="9287741" y="1674010"/>
              <a:ext cx="341736" cy="366312"/>
            </a:xfrm>
            <a:prstGeom prst="rect">
              <a:avLst/>
            </a:prstGeom>
          </p:spPr>
          <p:txBody>
            <a:bodyPr wrap="square" rtlCol="0">
              <a:spAutoFit/>
            </a:bodyPr>
            <a:lstStyle/>
            <a:p>
              <a:pPr marL="1194" marR="0" lvl="0" indent="0" algn="ctr" defTabSz="687537" rtl="0" eaLnBrk="1" fontAlgn="base" latinLnBrk="0" hangingPunct="1">
                <a:lnSpc>
                  <a:spcPct val="106000"/>
                </a:lnSpc>
                <a:spcBef>
                  <a:spcPct val="80000"/>
                </a:spcBef>
                <a:spcAft>
                  <a:spcPct val="0"/>
                </a:spcAft>
                <a:buClr>
                  <a:srgbClr val="000000"/>
                </a:buClr>
                <a:buSzTx/>
                <a:buFontTx/>
                <a:buNone/>
                <a:tabLst/>
                <a:defRPr/>
              </a:pPr>
              <a:r>
                <a:rPr kumimoji="0" lang="en-US" sz="526" b="1" i="0" u="none" strike="noStrike" kern="1200" cap="none" spc="0" normalizeH="0" baseline="0" noProof="0">
                  <a:ln>
                    <a:noFill/>
                  </a:ln>
                  <a:solidFill>
                    <a:srgbClr val="FFFFFF"/>
                  </a:solidFill>
                  <a:effectLst/>
                  <a:uLnTx/>
                  <a:uFillTx/>
                  <a:latin typeface="Open Sans"/>
                  <a:ea typeface="+mn-ea"/>
                  <a:cs typeface="Arial" charset="0"/>
                </a:rPr>
                <a:t>Cross Ref</a:t>
              </a:r>
            </a:p>
          </p:txBody>
        </p:sp>
        <p:sp>
          <p:nvSpPr>
            <p:cNvPr id="21" name="Line 13">
              <a:extLst>
                <a:ext uri="{FF2B5EF4-FFF2-40B4-BE49-F238E27FC236}">
                  <a16:creationId xmlns:a16="http://schemas.microsoft.com/office/drawing/2014/main" id="{B2F99BFD-3549-4727-A2AF-BCDBE6901EC9}"/>
                </a:ext>
              </a:extLst>
            </p:cNvPr>
            <p:cNvSpPr>
              <a:spLocks noChangeShapeType="1"/>
            </p:cNvSpPr>
            <p:nvPr/>
          </p:nvSpPr>
          <p:spPr bwMode="auto">
            <a:xfrm>
              <a:off x="10277512" y="2561971"/>
              <a:ext cx="861085" cy="8801"/>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Open Sans"/>
                <a:ea typeface="+mn-ea"/>
                <a:cs typeface="+mn-cs"/>
              </a:endParaRPr>
            </a:p>
          </p:txBody>
        </p:sp>
        <p:sp>
          <p:nvSpPr>
            <p:cNvPr id="22" name="TextBox 21">
              <a:extLst>
                <a:ext uri="{FF2B5EF4-FFF2-40B4-BE49-F238E27FC236}">
                  <a16:creationId xmlns:a16="http://schemas.microsoft.com/office/drawing/2014/main" id="{AA9DD882-1D64-4519-8AB3-617B452B55AE}"/>
                </a:ext>
              </a:extLst>
            </p:cNvPr>
            <p:cNvSpPr txBox="1"/>
            <p:nvPr/>
          </p:nvSpPr>
          <p:spPr>
            <a:xfrm>
              <a:off x="10709140" y="1631750"/>
              <a:ext cx="790938" cy="272778"/>
            </a:xfrm>
            <a:prstGeom prst="rect">
              <a:avLst/>
            </a:prstGeom>
            <a:noFill/>
          </p:spPr>
          <p:txBody>
            <a:bodyPr wrap="square" rtlCol="0">
              <a:spAutoFit/>
            </a:bodyPr>
            <a:lstStyle/>
            <a:p>
              <a:pPr marL="0" marR="0" lvl="0" indent="0" algn="ctr" defTabSz="687537" rtl="0" eaLnBrk="1" fontAlgn="auto" latinLnBrk="0" hangingPunct="1">
                <a:lnSpc>
                  <a:spcPct val="100000"/>
                </a:lnSpc>
                <a:spcBef>
                  <a:spcPts val="0"/>
                </a:spcBef>
                <a:spcAft>
                  <a:spcPts val="0"/>
                </a:spcAft>
                <a:buClrTx/>
                <a:buSzTx/>
                <a:buFontTx/>
                <a:buNone/>
                <a:tabLst/>
                <a:defRPr/>
              </a:pPr>
              <a:r>
                <a:rPr kumimoji="0" lang="en-US" sz="677" b="0" i="0" u="none" strike="noStrike" kern="0" cap="none" spc="0" normalizeH="0" baseline="0" noProof="0">
                  <a:ln>
                    <a:noFill/>
                  </a:ln>
                  <a:solidFill>
                    <a:srgbClr val="000000"/>
                  </a:solidFill>
                  <a:effectLst/>
                  <a:uLnTx/>
                  <a:uFillTx/>
                  <a:latin typeface="Calibri" panose="020F0502020204030204" pitchFamily="34" charset="0"/>
                  <a:ea typeface="+mn-ea"/>
                  <a:cs typeface="Arial" charset="0"/>
                </a:rPr>
                <a:t>Response</a:t>
              </a:r>
              <a:endParaRPr kumimoji="0" lang="en-US" sz="677" b="0" i="0" u="none" strike="noStrike" kern="0" cap="none" spc="0" normalizeH="0" baseline="0" noProof="0">
                <a:ln>
                  <a:noFill/>
                </a:ln>
                <a:solidFill>
                  <a:prstClr val="black"/>
                </a:solidFill>
                <a:effectLst/>
                <a:uLnTx/>
                <a:uFillTx/>
                <a:latin typeface="Open Sans"/>
                <a:ea typeface="+mn-ea"/>
                <a:cs typeface="+mn-cs"/>
              </a:endParaRPr>
            </a:p>
          </p:txBody>
        </p:sp>
        <p:sp>
          <p:nvSpPr>
            <p:cNvPr id="23" name="Freeform 997">
              <a:extLst>
                <a:ext uri="{FF2B5EF4-FFF2-40B4-BE49-F238E27FC236}">
                  <a16:creationId xmlns:a16="http://schemas.microsoft.com/office/drawing/2014/main" id="{27FE2323-5669-4CE7-8EDB-DC2A777BD112}"/>
                </a:ext>
              </a:extLst>
            </p:cNvPr>
            <p:cNvSpPr>
              <a:spLocks noChangeAspect="1" noEditPoints="1"/>
            </p:cNvSpPr>
            <p:nvPr/>
          </p:nvSpPr>
          <p:spPr bwMode="auto">
            <a:xfrm>
              <a:off x="11638377" y="1667262"/>
              <a:ext cx="170531" cy="258348"/>
            </a:xfrm>
            <a:custGeom>
              <a:avLst/>
              <a:gdLst>
                <a:gd name="T0" fmla="*/ 394 w 512"/>
                <a:gd name="T1" fmla="*/ 280 h 512"/>
                <a:gd name="T2" fmla="*/ 365 w 512"/>
                <a:gd name="T3" fmla="*/ 309 h 512"/>
                <a:gd name="T4" fmla="*/ 167 w 512"/>
                <a:gd name="T5" fmla="*/ 309 h 512"/>
                <a:gd name="T6" fmla="*/ 117 w 512"/>
                <a:gd name="T7" fmla="*/ 259 h 512"/>
                <a:gd name="T8" fmla="*/ 167 w 512"/>
                <a:gd name="T9" fmla="*/ 210 h 512"/>
                <a:gd name="T10" fmla="*/ 189 w 512"/>
                <a:gd name="T11" fmla="*/ 217 h 512"/>
                <a:gd name="T12" fmla="*/ 199 w 512"/>
                <a:gd name="T13" fmla="*/ 221 h 512"/>
                <a:gd name="T14" fmla="*/ 208 w 512"/>
                <a:gd name="T15" fmla="*/ 213 h 512"/>
                <a:gd name="T16" fmla="*/ 208 w 512"/>
                <a:gd name="T17" fmla="*/ 211 h 512"/>
                <a:gd name="T18" fmla="*/ 210 w 512"/>
                <a:gd name="T19" fmla="*/ 206 h 512"/>
                <a:gd name="T20" fmla="*/ 277 w 512"/>
                <a:gd name="T21" fmla="*/ 160 h 512"/>
                <a:gd name="T22" fmla="*/ 347 w 512"/>
                <a:gd name="T23" fmla="*/ 230 h 512"/>
                <a:gd name="T24" fmla="*/ 347 w 512"/>
                <a:gd name="T25" fmla="*/ 234 h 512"/>
                <a:gd name="T26" fmla="*/ 347 w 512"/>
                <a:gd name="T27" fmla="*/ 239 h 512"/>
                <a:gd name="T28" fmla="*/ 350 w 512"/>
                <a:gd name="T29" fmla="*/ 249 h 512"/>
                <a:gd name="T30" fmla="*/ 361 w 512"/>
                <a:gd name="T31" fmla="*/ 251 h 512"/>
                <a:gd name="T32" fmla="*/ 363 w 512"/>
                <a:gd name="T33" fmla="*/ 250 h 512"/>
                <a:gd name="T34" fmla="*/ 365 w 512"/>
                <a:gd name="T35" fmla="*/ 250 h 512"/>
                <a:gd name="T36" fmla="*/ 394 w 512"/>
                <a:gd name="T37" fmla="*/ 28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416 w 512"/>
                <a:gd name="T49" fmla="*/ 280 h 512"/>
                <a:gd name="T50" fmla="*/ 369 w 512"/>
                <a:gd name="T51" fmla="*/ 229 h 512"/>
                <a:gd name="T52" fmla="*/ 277 w 512"/>
                <a:gd name="T53" fmla="*/ 138 h 512"/>
                <a:gd name="T54" fmla="*/ 192 w 512"/>
                <a:gd name="T55" fmla="*/ 194 h 512"/>
                <a:gd name="T56" fmla="*/ 167 w 512"/>
                <a:gd name="T57" fmla="*/ 189 h 512"/>
                <a:gd name="T58" fmla="*/ 96 w 512"/>
                <a:gd name="T59" fmla="*/ 259 h 512"/>
                <a:gd name="T60" fmla="*/ 167 w 512"/>
                <a:gd name="T61" fmla="*/ 330 h 512"/>
                <a:gd name="T62" fmla="*/ 365 w 512"/>
                <a:gd name="T63" fmla="*/ 330 h 512"/>
                <a:gd name="T64" fmla="*/ 416 w 512"/>
                <a:gd name="T65" fmla="*/ 2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94" y="280"/>
                  </a:moveTo>
                  <a:cubicBezTo>
                    <a:pt x="394" y="296"/>
                    <a:pt x="381" y="309"/>
                    <a:pt x="365" y="309"/>
                  </a:cubicBezTo>
                  <a:cubicBezTo>
                    <a:pt x="167" y="309"/>
                    <a:pt x="167" y="309"/>
                    <a:pt x="167" y="309"/>
                  </a:cubicBezTo>
                  <a:cubicBezTo>
                    <a:pt x="139" y="309"/>
                    <a:pt x="117" y="287"/>
                    <a:pt x="117" y="259"/>
                  </a:cubicBezTo>
                  <a:cubicBezTo>
                    <a:pt x="117" y="232"/>
                    <a:pt x="139" y="210"/>
                    <a:pt x="167" y="210"/>
                  </a:cubicBezTo>
                  <a:cubicBezTo>
                    <a:pt x="175" y="210"/>
                    <a:pt x="182" y="212"/>
                    <a:pt x="189" y="217"/>
                  </a:cubicBezTo>
                  <a:cubicBezTo>
                    <a:pt x="191" y="220"/>
                    <a:pt x="195" y="222"/>
                    <a:pt x="199" y="221"/>
                  </a:cubicBezTo>
                  <a:cubicBezTo>
                    <a:pt x="204" y="220"/>
                    <a:pt x="207" y="217"/>
                    <a:pt x="208" y="213"/>
                  </a:cubicBezTo>
                  <a:cubicBezTo>
                    <a:pt x="208" y="211"/>
                    <a:pt x="208" y="211"/>
                    <a:pt x="208" y="211"/>
                  </a:cubicBezTo>
                  <a:cubicBezTo>
                    <a:pt x="209" y="209"/>
                    <a:pt x="209" y="208"/>
                    <a:pt x="210" y="206"/>
                  </a:cubicBezTo>
                  <a:cubicBezTo>
                    <a:pt x="220" y="179"/>
                    <a:pt x="248" y="160"/>
                    <a:pt x="277" y="160"/>
                  </a:cubicBezTo>
                  <a:cubicBezTo>
                    <a:pt x="316" y="160"/>
                    <a:pt x="347" y="191"/>
                    <a:pt x="347" y="230"/>
                  </a:cubicBezTo>
                  <a:cubicBezTo>
                    <a:pt x="347" y="231"/>
                    <a:pt x="347" y="232"/>
                    <a:pt x="347" y="234"/>
                  </a:cubicBezTo>
                  <a:cubicBezTo>
                    <a:pt x="347" y="236"/>
                    <a:pt x="347" y="237"/>
                    <a:pt x="347" y="239"/>
                  </a:cubicBezTo>
                  <a:cubicBezTo>
                    <a:pt x="346" y="243"/>
                    <a:pt x="348" y="247"/>
                    <a:pt x="350" y="249"/>
                  </a:cubicBezTo>
                  <a:cubicBezTo>
                    <a:pt x="353" y="251"/>
                    <a:pt x="357" y="252"/>
                    <a:pt x="361" y="251"/>
                  </a:cubicBezTo>
                  <a:cubicBezTo>
                    <a:pt x="362" y="250"/>
                    <a:pt x="363" y="250"/>
                    <a:pt x="363" y="250"/>
                  </a:cubicBezTo>
                  <a:cubicBezTo>
                    <a:pt x="364" y="250"/>
                    <a:pt x="364" y="250"/>
                    <a:pt x="365" y="250"/>
                  </a:cubicBezTo>
                  <a:cubicBezTo>
                    <a:pt x="381" y="250"/>
                    <a:pt x="394" y="263"/>
                    <a:pt x="394" y="28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80"/>
                  </a:moveTo>
                  <a:cubicBezTo>
                    <a:pt x="416" y="253"/>
                    <a:pt x="395" y="231"/>
                    <a:pt x="369" y="229"/>
                  </a:cubicBezTo>
                  <a:cubicBezTo>
                    <a:pt x="368" y="179"/>
                    <a:pt x="327" y="138"/>
                    <a:pt x="277" y="138"/>
                  </a:cubicBezTo>
                  <a:cubicBezTo>
                    <a:pt x="240" y="138"/>
                    <a:pt x="206" y="161"/>
                    <a:pt x="192" y="194"/>
                  </a:cubicBezTo>
                  <a:cubicBezTo>
                    <a:pt x="184" y="190"/>
                    <a:pt x="176" y="189"/>
                    <a:pt x="167" y="189"/>
                  </a:cubicBezTo>
                  <a:cubicBezTo>
                    <a:pt x="127" y="189"/>
                    <a:pt x="96" y="220"/>
                    <a:pt x="96" y="259"/>
                  </a:cubicBezTo>
                  <a:cubicBezTo>
                    <a:pt x="96" y="299"/>
                    <a:pt x="127" y="330"/>
                    <a:pt x="167" y="330"/>
                  </a:cubicBezTo>
                  <a:cubicBezTo>
                    <a:pt x="365" y="330"/>
                    <a:pt x="365" y="330"/>
                    <a:pt x="365" y="330"/>
                  </a:cubicBezTo>
                  <a:cubicBezTo>
                    <a:pt x="393" y="330"/>
                    <a:pt x="416" y="308"/>
                    <a:pt x="416" y="280"/>
                  </a:cubicBezTo>
                  <a:close/>
                </a:path>
              </a:pathLst>
            </a:custGeom>
            <a:solidFill>
              <a:schemeClr val="accent2"/>
            </a:solidFill>
            <a:ln>
              <a:noFill/>
            </a:ln>
          </p:spPr>
          <p:txBody>
            <a:bodyPr vert="horz" wrap="square" lIns="68750" tIns="34375" rIns="68750" bIns="34375" numCol="1" anchor="t" anchorCtr="0" compatLnSpc="1">
              <a:prstTxWarp prst="textNoShape">
                <a:avLst/>
              </a:prstTxWarp>
            </a:bodyPr>
            <a:lstStyle/>
            <a:p>
              <a:pPr marL="0" marR="0" lvl="0" indent="0" algn="l" defTabSz="687537" rtl="0" eaLnBrk="1" fontAlgn="auto" latinLnBrk="0" hangingPunct="1">
                <a:lnSpc>
                  <a:spcPct val="100000"/>
                </a:lnSpc>
                <a:spcBef>
                  <a:spcPts val="0"/>
                </a:spcBef>
                <a:spcAft>
                  <a:spcPts val="0"/>
                </a:spcAft>
                <a:buClrTx/>
                <a:buSzTx/>
                <a:buFontTx/>
                <a:buNone/>
                <a:tabLst/>
                <a:defRPr/>
              </a:pPr>
              <a:endParaRPr kumimoji="0" lang="en-GB" sz="1353" b="0" i="0" u="none" strike="noStrike" kern="0" cap="none" spc="0" normalizeH="0" baseline="0" noProof="0">
                <a:ln>
                  <a:noFill/>
                </a:ln>
                <a:solidFill>
                  <a:prstClr val="black"/>
                </a:solidFill>
                <a:effectLst/>
                <a:uLnTx/>
                <a:uFillTx/>
                <a:latin typeface="Open Sans"/>
                <a:ea typeface="+mn-ea"/>
                <a:cs typeface="+mn-cs"/>
              </a:endParaRPr>
            </a:p>
          </p:txBody>
        </p:sp>
        <p:sp>
          <p:nvSpPr>
            <p:cNvPr id="24" name="TextBox 23">
              <a:extLst>
                <a:ext uri="{FF2B5EF4-FFF2-40B4-BE49-F238E27FC236}">
                  <a16:creationId xmlns:a16="http://schemas.microsoft.com/office/drawing/2014/main" id="{DB3DF300-04AD-435B-9FA0-E6C37CBDF6C4}"/>
                </a:ext>
              </a:extLst>
            </p:cNvPr>
            <p:cNvSpPr txBox="1"/>
            <p:nvPr/>
          </p:nvSpPr>
          <p:spPr>
            <a:xfrm>
              <a:off x="7637329" y="2457141"/>
              <a:ext cx="739574" cy="272778"/>
            </a:xfrm>
            <a:prstGeom prst="rect">
              <a:avLst/>
            </a:prstGeom>
            <a:noFill/>
          </p:spPr>
          <p:txBody>
            <a:bodyPr wrap="square" rtlCol="0">
              <a:spAutoFit/>
            </a:bodyPr>
            <a:lstStyle/>
            <a:p>
              <a:pPr marL="0" marR="0" lvl="0" indent="0" algn="ctr" defTabSz="687537" rtl="0" eaLnBrk="1" fontAlgn="base" latinLnBrk="0" hangingPunct="1">
                <a:lnSpc>
                  <a:spcPct val="100000"/>
                </a:lnSpc>
                <a:spcBef>
                  <a:spcPct val="20000"/>
                </a:spcBef>
                <a:spcAft>
                  <a:spcPct val="0"/>
                </a:spcAft>
                <a:buClrTx/>
                <a:buSzTx/>
                <a:buFontTx/>
                <a:buNone/>
                <a:tabLst/>
                <a:defRPr/>
              </a:pPr>
              <a:r>
                <a:rPr kumimoji="0" lang="en-US" sz="677" b="1" i="0" u="none" strike="noStrike" kern="0" cap="none" spc="0" normalizeH="0" baseline="0" noProof="0">
                  <a:ln>
                    <a:noFill/>
                  </a:ln>
                  <a:solidFill>
                    <a:srgbClr val="000000"/>
                  </a:solidFill>
                  <a:effectLst/>
                  <a:uLnTx/>
                  <a:uFillTx/>
                  <a:latin typeface="Calibri" panose="020F0502020204030204" pitchFamily="34" charset="0"/>
                  <a:ea typeface="+mn-ea"/>
                  <a:cs typeface="Arial" charset="0"/>
                </a:rPr>
                <a:t>Transformation</a:t>
              </a:r>
              <a:endParaRPr kumimoji="0" lang="en-US" sz="677" b="1" i="0" u="none" strike="noStrike" kern="1200" cap="none" spc="0" normalizeH="0" baseline="0" noProof="0">
                <a:ln>
                  <a:noFill/>
                </a:ln>
                <a:solidFill>
                  <a:srgbClr val="000000"/>
                </a:solidFill>
                <a:effectLst/>
                <a:uLnTx/>
                <a:uFillTx/>
                <a:latin typeface="Open Sans"/>
                <a:ea typeface="+mn-ea"/>
                <a:cs typeface="Arial" pitchFamily="34" charset="0"/>
              </a:endParaRPr>
            </a:p>
          </p:txBody>
        </p:sp>
        <p:sp>
          <p:nvSpPr>
            <p:cNvPr id="25" name="Freeform 11">
              <a:extLst>
                <a:ext uri="{FF2B5EF4-FFF2-40B4-BE49-F238E27FC236}">
                  <a16:creationId xmlns:a16="http://schemas.microsoft.com/office/drawing/2014/main" id="{6D435608-0B40-4BE4-936A-29C5BB56DD46}"/>
                </a:ext>
              </a:extLst>
            </p:cNvPr>
            <p:cNvSpPr>
              <a:spLocks noEditPoints="1"/>
            </p:cNvSpPr>
            <p:nvPr/>
          </p:nvSpPr>
          <p:spPr bwMode="auto">
            <a:xfrm>
              <a:off x="7861682" y="2116514"/>
              <a:ext cx="197329" cy="209599"/>
            </a:xfrm>
            <a:custGeom>
              <a:avLst/>
              <a:gdLst>
                <a:gd name="T0" fmla="*/ 770 w 976"/>
                <a:gd name="T1" fmla="*/ 254 h 828"/>
                <a:gd name="T2" fmla="*/ 976 w 976"/>
                <a:gd name="T3" fmla="*/ 176 h 828"/>
                <a:gd name="T4" fmla="*/ 770 w 976"/>
                <a:gd name="T5" fmla="*/ 116 h 828"/>
                <a:gd name="T6" fmla="*/ 736 w 976"/>
                <a:gd name="T7" fmla="*/ 116 h 828"/>
                <a:gd name="T8" fmla="*/ 672 w 976"/>
                <a:gd name="T9" fmla="*/ 122 h 828"/>
                <a:gd name="T10" fmla="*/ 614 w 976"/>
                <a:gd name="T11" fmla="*/ 140 h 828"/>
                <a:gd name="T12" fmla="*/ 562 w 976"/>
                <a:gd name="T13" fmla="*/ 164 h 828"/>
                <a:gd name="T14" fmla="*/ 516 w 976"/>
                <a:gd name="T15" fmla="*/ 198 h 828"/>
                <a:gd name="T16" fmla="*/ 474 w 976"/>
                <a:gd name="T17" fmla="*/ 236 h 828"/>
                <a:gd name="T18" fmla="*/ 398 w 976"/>
                <a:gd name="T19" fmla="*/ 324 h 828"/>
                <a:gd name="T20" fmla="*/ 364 w 976"/>
                <a:gd name="T21" fmla="*/ 368 h 828"/>
                <a:gd name="T22" fmla="*/ 304 w 976"/>
                <a:gd name="T23" fmla="*/ 444 h 828"/>
                <a:gd name="T24" fmla="*/ 244 w 976"/>
                <a:gd name="T25" fmla="*/ 506 h 828"/>
                <a:gd name="T26" fmla="*/ 212 w 976"/>
                <a:gd name="T27" fmla="*/ 530 h 828"/>
                <a:gd name="T28" fmla="*/ 178 w 976"/>
                <a:gd name="T29" fmla="*/ 550 h 828"/>
                <a:gd name="T30" fmla="*/ 142 w 976"/>
                <a:gd name="T31" fmla="*/ 562 h 828"/>
                <a:gd name="T32" fmla="*/ 102 w 976"/>
                <a:gd name="T33" fmla="*/ 566 h 828"/>
                <a:gd name="T34" fmla="*/ 0 w 976"/>
                <a:gd name="T35" fmla="*/ 702 h 828"/>
                <a:gd name="T36" fmla="*/ 102 w 976"/>
                <a:gd name="T37" fmla="*/ 702 h 828"/>
                <a:gd name="T38" fmla="*/ 166 w 976"/>
                <a:gd name="T39" fmla="*/ 696 h 828"/>
                <a:gd name="T40" fmla="*/ 222 w 976"/>
                <a:gd name="T41" fmla="*/ 680 h 828"/>
                <a:gd name="T42" fmla="*/ 274 w 976"/>
                <a:gd name="T43" fmla="*/ 654 h 828"/>
                <a:gd name="T44" fmla="*/ 322 w 976"/>
                <a:gd name="T45" fmla="*/ 620 h 828"/>
                <a:gd name="T46" fmla="*/ 364 w 976"/>
                <a:gd name="T47" fmla="*/ 582 h 828"/>
                <a:gd name="T48" fmla="*/ 438 w 976"/>
                <a:gd name="T49" fmla="*/ 496 h 828"/>
                <a:gd name="T50" fmla="*/ 472 w 976"/>
                <a:gd name="T51" fmla="*/ 450 h 828"/>
                <a:gd name="T52" fmla="*/ 532 w 976"/>
                <a:gd name="T53" fmla="*/ 376 h 828"/>
                <a:gd name="T54" fmla="*/ 592 w 976"/>
                <a:gd name="T55" fmla="*/ 312 h 828"/>
                <a:gd name="T56" fmla="*/ 624 w 976"/>
                <a:gd name="T57" fmla="*/ 288 h 828"/>
                <a:gd name="T58" fmla="*/ 658 w 976"/>
                <a:gd name="T59" fmla="*/ 270 h 828"/>
                <a:gd name="T60" fmla="*/ 696 w 976"/>
                <a:gd name="T61" fmla="*/ 258 h 828"/>
                <a:gd name="T62" fmla="*/ 736 w 976"/>
                <a:gd name="T63" fmla="*/ 254 h 828"/>
                <a:gd name="T64" fmla="*/ 264 w 976"/>
                <a:gd name="T65" fmla="*/ 340 h 828"/>
                <a:gd name="T66" fmla="*/ 286 w 976"/>
                <a:gd name="T67" fmla="*/ 308 h 828"/>
                <a:gd name="T68" fmla="*/ 316 w 976"/>
                <a:gd name="T69" fmla="*/ 270 h 828"/>
                <a:gd name="T70" fmla="*/ 348 w 976"/>
                <a:gd name="T71" fmla="*/ 230 h 828"/>
                <a:gd name="T72" fmla="*/ 296 w 976"/>
                <a:gd name="T73" fmla="*/ 190 h 828"/>
                <a:gd name="T74" fmla="*/ 240 w 976"/>
                <a:gd name="T75" fmla="*/ 156 h 828"/>
                <a:gd name="T76" fmla="*/ 174 w 976"/>
                <a:gd name="T77" fmla="*/ 134 h 828"/>
                <a:gd name="T78" fmla="*/ 102 w 976"/>
                <a:gd name="T79" fmla="*/ 126 h 828"/>
                <a:gd name="T80" fmla="*/ 0 w 976"/>
                <a:gd name="T81" fmla="*/ 262 h 828"/>
                <a:gd name="T82" fmla="*/ 102 w 976"/>
                <a:gd name="T83" fmla="*/ 262 h 828"/>
                <a:gd name="T84" fmla="*/ 148 w 976"/>
                <a:gd name="T85" fmla="*/ 268 h 828"/>
                <a:gd name="T86" fmla="*/ 190 w 976"/>
                <a:gd name="T87" fmla="*/ 284 h 828"/>
                <a:gd name="T88" fmla="*/ 228 w 976"/>
                <a:gd name="T89" fmla="*/ 308 h 828"/>
                <a:gd name="T90" fmla="*/ 264 w 976"/>
                <a:gd name="T91" fmla="*/ 340 h 828"/>
                <a:gd name="T92" fmla="*/ 770 w 976"/>
                <a:gd name="T93" fmla="*/ 576 h 828"/>
                <a:gd name="T94" fmla="*/ 736 w 976"/>
                <a:gd name="T95" fmla="*/ 576 h 828"/>
                <a:gd name="T96" fmla="*/ 688 w 976"/>
                <a:gd name="T97" fmla="*/ 570 h 828"/>
                <a:gd name="T98" fmla="*/ 644 w 976"/>
                <a:gd name="T99" fmla="*/ 552 h 828"/>
                <a:gd name="T100" fmla="*/ 602 w 976"/>
                <a:gd name="T101" fmla="*/ 524 h 828"/>
                <a:gd name="T102" fmla="*/ 566 w 976"/>
                <a:gd name="T103" fmla="*/ 490 h 828"/>
                <a:gd name="T104" fmla="*/ 550 w 976"/>
                <a:gd name="T105" fmla="*/ 510 h 828"/>
                <a:gd name="T106" fmla="*/ 518 w 976"/>
                <a:gd name="T107" fmla="*/ 554 h 828"/>
                <a:gd name="T108" fmla="*/ 480 w 976"/>
                <a:gd name="T109" fmla="*/ 598 h 828"/>
                <a:gd name="T110" fmla="*/ 532 w 976"/>
                <a:gd name="T111" fmla="*/ 644 h 828"/>
                <a:gd name="T112" fmla="*/ 592 w 976"/>
                <a:gd name="T113" fmla="*/ 680 h 828"/>
                <a:gd name="T114" fmla="*/ 660 w 976"/>
                <a:gd name="T115" fmla="*/ 704 h 828"/>
                <a:gd name="T116" fmla="*/ 736 w 976"/>
                <a:gd name="T117" fmla="*/ 712 h 828"/>
                <a:gd name="T118" fmla="*/ 770 w 976"/>
                <a:gd name="T119" fmla="*/ 828 h 828"/>
                <a:gd name="T120" fmla="*/ 770 w 976"/>
                <a:gd name="T121" fmla="*/ 478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76" h="828">
                  <a:moveTo>
                    <a:pt x="736" y="254"/>
                  </a:moveTo>
                  <a:lnTo>
                    <a:pt x="770" y="254"/>
                  </a:lnTo>
                  <a:lnTo>
                    <a:pt x="770" y="352"/>
                  </a:lnTo>
                  <a:lnTo>
                    <a:pt x="976" y="176"/>
                  </a:lnTo>
                  <a:lnTo>
                    <a:pt x="770" y="0"/>
                  </a:lnTo>
                  <a:lnTo>
                    <a:pt x="770" y="116"/>
                  </a:lnTo>
                  <a:lnTo>
                    <a:pt x="736" y="116"/>
                  </a:lnTo>
                  <a:lnTo>
                    <a:pt x="736" y="116"/>
                  </a:lnTo>
                  <a:lnTo>
                    <a:pt x="702" y="118"/>
                  </a:lnTo>
                  <a:lnTo>
                    <a:pt x="672" y="122"/>
                  </a:lnTo>
                  <a:lnTo>
                    <a:pt x="642" y="130"/>
                  </a:lnTo>
                  <a:lnTo>
                    <a:pt x="614" y="140"/>
                  </a:lnTo>
                  <a:lnTo>
                    <a:pt x="588" y="152"/>
                  </a:lnTo>
                  <a:lnTo>
                    <a:pt x="562" y="164"/>
                  </a:lnTo>
                  <a:lnTo>
                    <a:pt x="538" y="180"/>
                  </a:lnTo>
                  <a:lnTo>
                    <a:pt x="516" y="198"/>
                  </a:lnTo>
                  <a:lnTo>
                    <a:pt x="494" y="216"/>
                  </a:lnTo>
                  <a:lnTo>
                    <a:pt x="474" y="236"/>
                  </a:lnTo>
                  <a:lnTo>
                    <a:pt x="434" y="278"/>
                  </a:lnTo>
                  <a:lnTo>
                    <a:pt x="398" y="324"/>
                  </a:lnTo>
                  <a:lnTo>
                    <a:pt x="364" y="368"/>
                  </a:lnTo>
                  <a:lnTo>
                    <a:pt x="364" y="368"/>
                  </a:lnTo>
                  <a:lnTo>
                    <a:pt x="334" y="406"/>
                  </a:lnTo>
                  <a:lnTo>
                    <a:pt x="304" y="444"/>
                  </a:lnTo>
                  <a:lnTo>
                    <a:pt x="276" y="478"/>
                  </a:lnTo>
                  <a:lnTo>
                    <a:pt x="244" y="506"/>
                  </a:lnTo>
                  <a:lnTo>
                    <a:pt x="228" y="520"/>
                  </a:lnTo>
                  <a:lnTo>
                    <a:pt x="212" y="530"/>
                  </a:lnTo>
                  <a:lnTo>
                    <a:pt x="196" y="542"/>
                  </a:lnTo>
                  <a:lnTo>
                    <a:pt x="178" y="550"/>
                  </a:lnTo>
                  <a:lnTo>
                    <a:pt x="160" y="556"/>
                  </a:lnTo>
                  <a:lnTo>
                    <a:pt x="142" y="562"/>
                  </a:lnTo>
                  <a:lnTo>
                    <a:pt x="122" y="564"/>
                  </a:lnTo>
                  <a:lnTo>
                    <a:pt x="102" y="566"/>
                  </a:lnTo>
                  <a:lnTo>
                    <a:pt x="0" y="566"/>
                  </a:lnTo>
                  <a:lnTo>
                    <a:pt x="0" y="702"/>
                  </a:lnTo>
                  <a:lnTo>
                    <a:pt x="102" y="702"/>
                  </a:lnTo>
                  <a:lnTo>
                    <a:pt x="102" y="702"/>
                  </a:lnTo>
                  <a:lnTo>
                    <a:pt x="134" y="700"/>
                  </a:lnTo>
                  <a:lnTo>
                    <a:pt x="166" y="696"/>
                  </a:lnTo>
                  <a:lnTo>
                    <a:pt x="194" y="688"/>
                  </a:lnTo>
                  <a:lnTo>
                    <a:pt x="222" y="680"/>
                  </a:lnTo>
                  <a:lnTo>
                    <a:pt x="250" y="668"/>
                  </a:lnTo>
                  <a:lnTo>
                    <a:pt x="274" y="654"/>
                  </a:lnTo>
                  <a:lnTo>
                    <a:pt x="298" y="638"/>
                  </a:lnTo>
                  <a:lnTo>
                    <a:pt x="322" y="620"/>
                  </a:lnTo>
                  <a:lnTo>
                    <a:pt x="342" y="602"/>
                  </a:lnTo>
                  <a:lnTo>
                    <a:pt x="364" y="582"/>
                  </a:lnTo>
                  <a:lnTo>
                    <a:pt x="402" y="540"/>
                  </a:lnTo>
                  <a:lnTo>
                    <a:pt x="438" y="496"/>
                  </a:lnTo>
                  <a:lnTo>
                    <a:pt x="472" y="450"/>
                  </a:lnTo>
                  <a:lnTo>
                    <a:pt x="472" y="450"/>
                  </a:lnTo>
                  <a:lnTo>
                    <a:pt x="502" y="412"/>
                  </a:lnTo>
                  <a:lnTo>
                    <a:pt x="532" y="376"/>
                  </a:lnTo>
                  <a:lnTo>
                    <a:pt x="562" y="342"/>
                  </a:lnTo>
                  <a:lnTo>
                    <a:pt x="592" y="312"/>
                  </a:lnTo>
                  <a:lnTo>
                    <a:pt x="608" y="300"/>
                  </a:lnTo>
                  <a:lnTo>
                    <a:pt x="624" y="288"/>
                  </a:lnTo>
                  <a:lnTo>
                    <a:pt x="642" y="278"/>
                  </a:lnTo>
                  <a:lnTo>
                    <a:pt x="658" y="270"/>
                  </a:lnTo>
                  <a:lnTo>
                    <a:pt x="676" y="262"/>
                  </a:lnTo>
                  <a:lnTo>
                    <a:pt x="696" y="258"/>
                  </a:lnTo>
                  <a:lnTo>
                    <a:pt x="716" y="254"/>
                  </a:lnTo>
                  <a:lnTo>
                    <a:pt x="736" y="254"/>
                  </a:lnTo>
                  <a:lnTo>
                    <a:pt x="736" y="254"/>
                  </a:lnTo>
                  <a:close/>
                  <a:moveTo>
                    <a:pt x="264" y="340"/>
                  </a:moveTo>
                  <a:lnTo>
                    <a:pt x="264" y="340"/>
                  </a:lnTo>
                  <a:lnTo>
                    <a:pt x="286" y="308"/>
                  </a:lnTo>
                  <a:lnTo>
                    <a:pt x="286" y="308"/>
                  </a:lnTo>
                  <a:lnTo>
                    <a:pt x="316" y="270"/>
                  </a:lnTo>
                  <a:lnTo>
                    <a:pt x="348" y="230"/>
                  </a:lnTo>
                  <a:lnTo>
                    <a:pt x="348" y="230"/>
                  </a:lnTo>
                  <a:lnTo>
                    <a:pt x="322" y="210"/>
                  </a:lnTo>
                  <a:lnTo>
                    <a:pt x="296" y="190"/>
                  </a:lnTo>
                  <a:lnTo>
                    <a:pt x="268" y="172"/>
                  </a:lnTo>
                  <a:lnTo>
                    <a:pt x="240" y="156"/>
                  </a:lnTo>
                  <a:lnTo>
                    <a:pt x="208" y="144"/>
                  </a:lnTo>
                  <a:lnTo>
                    <a:pt x="174" y="134"/>
                  </a:lnTo>
                  <a:lnTo>
                    <a:pt x="140" y="128"/>
                  </a:lnTo>
                  <a:lnTo>
                    <a:pt x="102" y="126"/>
                  </a:lnTo>
                  <a:lnTo>
                    <a:pt x="0" y="126"/>
                  </a:lnTo>
                  <a:lnTo>
                    <a:pt x="0" y="262"/>
                  </a:lnTo>
                  <a:lnTo>
                    <a:pt x="102" y="262"/>
                  </a:lnTo>
                  <a:lnTo>
                    <a:pt x="102" y="262"/>
                  </a:lnTo>
                  <a:lnTo>
                    <a:pt x="124" y="264"/>
                  </a:lnTo>
                  <a:lnTo>
                    <a:pt x="148" y="268"/>
                  </a:lnTo>
                  <a:lnTo>
                    <a:pt x="168" y="274"/>
                  </a:lnTo>
                  <a:lnTo>
                    <a:pt x="190" y="284"/>
                  </a:lnTo>
                  <a:lnTo>
                    <a:pt x="208" y="294"/>
                  </a:lnTo>
                  <a:lnTo>
                    <a:pt x="228" y="308"/>
                  </a:lnTo>
                  <a:lnTo>
                    <a:pt x="246" y="322"/>
                  </a:lnTo>
                  <a:lnTo>
                    <a:pt x="264" y="340"/>
                  </a:lnTo>
                  <a:lnTo>
                    <a:pt x="264" y="340"/>
                  </a:lnTo>
                  <a:close/>
                  <a:moveTo>
                    <a:pt x="770" y="576"/>
                  </a:moveTo>
                  <a:lnTo>
                    <a:pt x="736" y="576"/>
                  </a:lnTo>
                  <a:lnTo>
                    <a:pt x="736" y="576"/>
                  </a:lnTo>
                  <a:lnTo>
                    <a:pt x="710" y="574"/>
                  </a:lnTo>
                  <a:lnTo>
                    <a:pt x="688" y="570"/>
                  </a:lnTo>
                  <a:lnTo>
                    <a:pt x="664" y="562"/>
                  </a:lnTo>
                  <a:lnTo>
                    <a:pt x="644" y="552"/>
                  </a:lnTo>
                  <a:lnTo>
                    <a:pt x="622" y="540"/>
                  </a:lnTo>
                  <a:lnTo>
                    <a:pt x="602" y="524"/>
                  </a:lnTo>
                  <a:lnTo>
                    <a:pt x="584" y="508"/>
                  </a:lnTo>
                  <a:lnTo>
                    <a:pt x="566" y="490"/>
                  </a:lnTo>
                  <a:lnTo>
                    <a:pt x="566" y="490"/>
                  </a:lnTo>
                  <a:lnTo>
                    <a:pt x="550" y="510"/>
                  </a:lnTo>
                  <a:lnTo>
                    <a:pt x="550" y="510"/>
                  </a:lnTo>
                  <a:lnTo>
                    <a:pt x="518" y="554"/>
                  </a:lnTo>
                  <a:lnTo>
                    <a:pt x="480" y="598"/>
                  </a:lnTo>
                  <a:lnTo>
                    <a:pt x="480" y="598"/>
                  </a:lnTo>
                  <a:lnTo>
                    <a:pt x="506" y="622"/>
                  </a:lnTo>
                  <a:lnTo>
                    <a:pt x="532" y="644"/>
                  </a:lnTo>
                  <a:lnTo>
                    <a:pt x="562" y="662"/>
                  </a:lnTo>
                  <a:lnTo>
                    <a:pt x="592" y="680"/>
                  </a:lnTo>
                  <a:lnTo>
                    <a:pt x="624" y="692"/>
                  </a:lnTo>
                  <a:lnTo>
                    <a:pt x="660" y="704"/>
                  </a:lnTo>
                  <a:lnTo>
                    <a:pt x="696" y="710"/>
                  </a:lnTo>
                  <a:lnTo>
                    <a:pt x="736" y="712"/>
                  </a:lnTo>
                  <a:lnTo>
                    <a:pt x="770" y="712"/>
                  </a:lnTo>
                  <a:lnTo>
                    <a:pt x="770" y="828"/>
                  </a:lnTo>
                  <a:lnTo>
                    <a:pt x="976" y="654"/>
                  </a:lnTo>
                  <a:lnTo>
                    <a:pt x="770" y="478"/>
                  </a:lnTo>
                  <a:lnTo>
                    <a:pt x="770" y="576"/>
                  </a:lnTo>
                  <a:close/>
                </a:path>
              </a:pathLst>
            </a:custGeom>
            <a:solidFill>
              <a:srgbClr val="007CB0"/>
            </a:solidFill>
            <a:ln>
              <a:noFill/>
            </a:ln>
          </p:spPr>
          <p:txBody>
            <a:bodyPr vert="horz" wrap="square" lIns="68750" tIns="34375" rIns="68750" bIns="34375" numCol="1" anchor="t" anchorCtr="0" compatLnSpc="1">
              <a:prstTxWarp prst="textNoShape">
                <a:avLst/>
              </a:prstTxWarp>
            </a:bodyP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0" cap="none" spc="0" normalizeH="0" baseline="0" noProof="0">
                <a:ln>
                  <a:noFill/>
                </a:ln>
                <a:solidFill>
                  <a:srgbClr val="000000"/>
                </a:solidFill>
                <a:effectLst/>
                <a:uLnTx/>
                <a:uFillTx/>
                <a:latin typeface="Open Sans"/>
                <a:ea typeface="+mn-ea"/>
                <a:cs typeface="Arial" pitchFamily="34" charset="0"/>
              </a:endParaRPr>
            </a:p>
          </p:txBody>
        </p:sp>
        <p:sp>
          <p:nvSpPr>
            <p:cNvPr id="26" name="Oval 25">
              <a:extLst>
                <a:ext uri="{FF2B5EF4-FFF2-40B4-BE49-F238E27FC236}">
                  <a16:creationId xmlns:a16="http://schemas.microsoft.com/office/drawing/2014/main" id="{C33ADF01-EEF1-4A4F-BCD0-AD356CE286D9}"/>
                </a:ext>
              </a:extLst>
            </p:cNvPr>
            <p:cNvSpPr/>
            <p:nvPr/>
          </p:nvSpPr>
          <p:spPr>
            <a:xfrm>
              <a:off x="10533916" y="2901655"/>
              <a:ext cx="164647" cy="207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Open Sans"/>
                  <a:ea typeface="+mn-ea"/>
                  <a:cs typeface="+mn-cs"/>
                </a:rPr>
                <a:t>4</a:t>
              </a:r>
            </a:p>
          </p:txBody>
        </p:sp>
        <p:sp>
          <p:nvSpPr>
            <p:cNvPr id="27" name="Oval 26">
              <a:extLst>
                <a:ext uri="{FF2B5EF4-FFF2-40B4-BE49-F238E27FC236}">
                  <a16:creationId xmlns:a16="http://schemas.microsoft.com/office/drawing/2014/main" id="{741287B2-DE66-42CE-A090-05B299183761}"/>
                </a:ext>
              </a:extLst>
            </p:cNvPr>
            <p:cNvSpPr/>
            <p:nvPr/>
          </p:nvSpPr>
          <p:spPr>
            <a:xfrm>
              <a:off x="7924792" y="2757375"/>
              <a:ext cx="164647" cy="207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Open Sans"/>
                  <a:ea typeface="+mn-ea"/>
                  <a:cs typeface="+mn-cs"/>
                </a:rPr>
                <a:t>5</a:t>
              </a:r>
            </a:p>
          </p:txBody>
        </p:sp>
        <p:sp>
          <p:nvSpPr>
            <p:cNvPr id="28" name="TextBox 27">
              <a:extLst>
                <a:ext uri="{FF2B5EF4-FFF2-40B4-BE49-F238E27FC236}">
                  <a16:creationId xmlns:a16="http://schemas.microsoft.com/office/drawing/2014/main" id="{4488086B-B819-4505-8854-F39EE146C2D9}"/>
                </a:ext>
              </a:extLst>
            </p:cNvPr>
            <p:cNvSpPr txBox="1"/>
            <p:nvPr/>
          </p:nvSpPr>
          <p:spPr>
            <a:xfrm>
              <a:off x="8867453" y="1734331"/>
              <a:ext cx="961512" cy="404919"/>
            </a:xfrm>
            <a:prstGeom prst="rect">
              <a:avLst/>
            </a:prstGeom>
            <a:noFill/>
          </p:spPr>
          <p:txBody>
            <a:bodyPr wrap="square" rtlCol="0">
              <a:spAutoFit/>
            </a:bodyPr>
            <a:lstStyle/>
            <a:p>
              <a:pPr marL="0" marR="0" lvl="0" indent="0" algn="ctr" defTabSz="687537" rtl="0" eaLnBrk="1" fontAlgn="base" latinLnBrk="0" hangingPunct="1">
                <a:lnSpc>
                  <a:spcPct val="100000"/>
                </a:lnSpc>
                <a:spcBef>
                  <a:spcPts val="0"/>
                </a:spcBef>
                <a:spcAft>
                  <a:spcPct val="0"/>
                </a:spcAft>
                <a:buClrTx/>
                <a:buSzTx/>
                <a:buFontTx/>
                <a:buNone/>
                <a:tabLst/>
                <a:defRPr/>
              </a:pPr>
              <a:r>
                <a:rPr kumimoji="0" lang="en-US" sz="677" b="1" i="0" u="none" strike="noStrike" kern="0" cap="none" spc="0" normalizeH="0" baseline="0" noProof="0">
                  <a:ln>
                    <a:noFill/>
                  </a:ln>
                  <a:solidFill>
                    <a:srgbClr val="000000"/>
                  </a:solidFill>
                  <a:effectLst/>
                  <a:uLnTx/>
                  <a:uFillTx/>
                  <a:latin typeface="Calibri" panose="020F0502020204030204" pitchFamily="34" charset="0"/>
                  <a:ea typeface="+mn-ea"/>
                  <a:cs typeface="Arial" charset="0"/>
                </a:rPr>
                <a:t>Send Request via Web Service</a:t>
              </a:r>
            </a:p>
            <a:p>
              <a:pPr marL="0" marR="0" lvl="0" indent="0" algn="ctr" defTabSz="687537" rtl="0" eaLnBrk="1" fontAlgn="base" latinLnBrk="0" hangingPunct="1">
                <a:lnSpc>
                  <a:spcPct val="100000"/>
                </a:lnSpc>
                <a:spcBef>
                  <a:spcPts val="0"/>
                </a:spcBef>
                <a:spcAft>
                  <a:spcPct val="0"/>
                </a:spcAft>
                <a:buClrTx/>
                <a:buSzTx/>
                <a:buFontTx/>
                <a:buNone/>
                <a:tabLst/>
                <a:defRPr/>
              </a:pPr>
              <a:r>
                <a:rPr kumimoji="0" lang="en-US" sz="677" b="1" i="0" u="none" strike="noStrike" kern="0" cap="none" spc="0" normalizeH="0" baseline="0" noProof="0">
                  <a:ln>
                    <a:noFill/>
                  </a:ln>
                  <a:solidFill>
                    <a:srgbClr val="000000"/>
                  </a:solidFill>
                  <a:effectLst/>
                  <a:uLnTx/>
                  <a:uFillTx/>
                  <a:latin typeface="Calibri" panose="020F0502020204030204" pitchFamily="34" charset="0"/>
                  <a:ea typeface="+mn-ea"/>
                  <a:cs typeface="Arial" charset="0"/>
                </a:rPr>
                <a:t>(REST/ SOAP)</a:t>
              </a:r>
              <a:endParaRPr kumimoji="0" lang="en-US" sz="677" b="1" i="0" u="none" strike="noStrike" kern="1200" cap="none" spc="0" normalizeH="0" baseline="0" noProof="0">
                <a:ln>
                  <a:noFill/>
                </a:ln>
                <a:solidFill>
                  <a:srgbClr val="000000"/>
                </a:solidFill>
                <a:effectLst/>
                <a:uLnTx/>
                <a:uFillTx/>
                <a:latin typeface="Open Sans"/>
                <a:ea typeface="+mn-ea"/>
                <a:cs typeface="Arial" pitchFamily="34" charset="0"/>
              </a:endParaRPr>
            </a:p>
          </p:txBody>
        </p:sp>
        <p:sp>
          <p:nvSpPr>
            <p:cNvPr id="29" name="Oval 28">
              <a:extLst>
                <a:ext uri="{FF2B5EF4-FFF2-40B4-BE49-F238E27FC236}">
                  <a16:creationId xmlns:a16="http://schemas.microsoft.com/office/drawing/2014/main" id="{C22A8264-811D-4DF8-8A92-59AC5833647B}"/>
                </a:ext>
              </a:extLst>
            </p:cNvPr>
            <p:cNvSpPr/>
            <p:nvPr/>
          </p:nvSpPr>
          <p:spPr>
            <a:xfrm>
              <a:off x="9227529" y="1519251"/>
              <a:ext cx="164647" cy="207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Open Sans"/>
                  <a:ea typeface="+mn-ea"/>
                  <a:cs typeface="+mn-cs"/>
                </a:rPr>
                <a:t>3</a:t>
              </a:r>
            </a:p>
          </p:txBody>
        </p:sp>
        <p:sp>
          <p:nvSpPr>
            <p:cNvPr id="30" name="Oval 29">
              <a:extLst>
                <a:ext uri="{FF2B5EF4-FFF2-40B4-BE49-F238E27FC236}">
                  <a16:creationId xmlns:a16="http://schemas.microsoft.com/office/drawing/2014/main" id="{19317A91-B345-457C-9081-96BB676CC96D}"/>
                </a:ext>
              </a:extLst>
            </p:cNvPr>
            <p:cNvSpPr/>
            <p:nvPr/>
          </p:nvSpPr>
          <p:spPr>
            <a:xfrm>
              <a:off x="6754784" y="1667262"/>
              <a:ext cx="164647" cy="207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Open Sans"/>
                  <a:ea typeface="+mn-ea"/>
                  <a:cs typeface="+mn-cs"/>
                </a:rPr>
                <a:t>1</a:t>
              </a:r>
            </a:p>
          </p:txBody>
        </p:sp>
        <p:sp>
          <p:nvSpPr>
            <p:cNvPr id="31" name="object 25">
              <a:extLst>
                <a:ext uri="{FF2B5EF4-FFF2-40B4-BE49-F238E27FC236}">
                  <a16:creationId xmlns:a16="http://schemas.microsoft.com/office/drawing/2014/main" id="{BBB922F8-89B9-484C-BC98-0178D1E3276D}"/>
                </a:ext>
              </a:extLst>
            </p:cNvPr>
            <p:cNvSpPr/>
            <p:nvPr/>
          </p:nvSpPr>
          <p:spPr>
            <a:xfrm>
              <a:off x="9802084" y="2542795"/>
              <a:ext cx="475427" cy="201713"/>
            </a:xfrm>
            <a:custGeom>
              <a:avLst/>
              <a:gdLst/>
              <a:ahLst/>
              <a:cxnLst/>
              <a:rect l="l" t="t" r="r" b="b"/>
              <a:pathLst>
                <a:path w="926465" h="599439">
                  <a:moveTo>
                    <a:pt x="216369" y="131190"/>
                  </a:moveTo>
                  <a:lnTo>
                    <a:pt x="166601" y="140310"/>
                  </a:lnTo>
                  <a:lnTo>
                    <a:pt x="125796" y="165123"/>
                  </a:lnTo>
                  <a:lnTo>
                    <a:pt x="98200" y="201812"/>
                  </a:lnTo>
                  <a:lnTo>
                    <a:pt x="88057" y="246557"/>
                  </a:lnTo>
                  <a:lnTo>
                    <a:pt x="88490" y="256386"/>
                  </a:lnTo>
                  <a:lnTo>
                    <a:pt x="89630" y="265790"/>
                  </a:lnTo>
                  <a:lnTo>
                    <a:pt x="91242" y="275191"/>
                  </a:lnTo>
                  <a:lnTo>
                    <a:pt x="93089" y="285013"/>
                  </a:lnTo>
                  <a:lnTo>
                    <a:pt x="55193" y="311135"/>
                  </a:lnTo>
                  <a:lnTo>
                    <a:pt x="25788" y="344677"/>
                  </a:lnTo>
                  <a:lnTo>
                    <a:pt x="6761" y="384582"/>
                  </a:lnTo>
                  <a:lnTo>
                    <a:pt x="0" y="429793"/>
                  </a:lnTo>
                  <a:lnTo>
                    <a:pt x="6814" y="474559"/>
                  </a:lnTo>
                  <a:lnTo>
                    <a:pt x="25998" y="514991"/>
                  </a:lnTo>
                  <a:lnTo>
                    <a:pt x="55665" y="549392"/>
                  </a:lnTo>
                  <a:lnTo>
                    <a:pt x="93928" y="576065"/>
                  </a:lnTo>
                  <a:lnTo>
                    <a:pt x="138900" y="593313"/>
                  </a:lnTo>
                  <a:lnTo>
                    <a:pt x="188694" y="599439"/>
                  </a:lnTo>
                  <a:lnTo>
                    <a:pt x="709494" y="599439"/>
                  </a:lnTo>
                  <a:lnTo>
                    <a:pt x="759504" y="594236"/>
                  </a:lnTo>
                  <a:lnTo>
                    <a:pt x="805202" y="579418"/>
                  </a:lnTo>
                  <a:lnTo>
                    <a:pt x="845354" y="556172"/>
                  </a:lnTo>
                  <a:lnTo>
                    <a:pt x="854934" y="547420"/>
                  </a:lnTo>
                  <a:lnTo>
                    <a:pt x="188694" y="547420"/>
                  </a:lnTo>
                  <a:lnTo>
                    <a:pt x="137471" y="538265"/>
                  </a:lnTo>
                  <a:lnTo>
                    <a:pt x="95919" y="513205"/>
                  </a:lnTo>
                  <a:lnTo>
                    <a:pt x="68047" y="475845"/>
                  </a:lnTo>
                  <a:lnTo>
                    <a:pt x="57866" y="429793"/>
                  </a:lnTo>
                  <a:lnTo>
                    <a:pt x="62426" y="399892"/>
                  </a:lnTo>
                  <a:lnTo>
                    <a:pt x="75478" y="372109"/>
                  </a:lnTo>
                  <a:lnTo>
                    <a:pt x="96077" y="347718"/>
                  </a:lnTo>
                  <a:lnTo>
                    <a:pt x="123280" y="327990"/>
                  </a:lnTo>
                  <a:lnTo>
                    <a:pt x="146670" y="315266"/>
                  </a:lnTo>
                  <a:lnTo>
                    <a:pt x="157560" y="304239"/>
                  </a:lnTo>
                  <a:lnTo>
                    <a:pt x="157599" y="289819"/>
                  </a:lnTo>
                  <a:lnTo>
                    <a:pt x="148440" y="266915"/>
                  </a:lnTo>
                  <a:lnTo>
                    <a:pt x="145924" y="260134"/>
                  </a:lnTo>
                  <a:lnTo>
                    <a:pt x="145924" y="246557"/>
                  </a:lnTo>
                  <a:lnTo>
                    <a:pt x="151270" y="222351"/>
                  </a:lnTo>
                  <a:lnTo>
                    <a:pt x="166051" y="202169"/>
                  </a:lnTo>
                  <a:lnTo>
                    <a:pt x="188380" y="188348"/>
                  </a:lnTo>
                  <a:lnTo>
                    <a:pt x="216369" y="183222"/>
                  </a:lnTo>
                  <a:lnTo>
                    <a:pt x="228320" y="182021"/>
                  </a:lnTo>
                  <a:lnTo>
                    <a:pt x="295512" y="182021"/>
                  </a:lnTo>
                  <a:lnTo>
                    <a:pt x="299434" y="177249"/>
                  </a:lnTo>
                  <a:lnTo>
                    <a:pt x="309458" y="158343"/>
                  </a:lnTo>
                  <a:lnTo>
                    <a:pt x="324542" y="135724"/>
                  </a:lnTo>
                  <a:lnTo>
                    <a:pt x="256623" y="135724"/>
                  </a:lnTo>
                  <a:lnTo>
                    <a:pt x="247149" y="134062"/>
                  </a:lnTo>
                  <a:lnTo>
                    <a:pt x="237440" y="132610"/>
                  </a:lnTo>
                  <a:lnTo>
                    <a:pt x="227258" y="131581"/>
                  </a:lnTo>
                  <a:lnTo>
                    <a:pt x="216369" y="131190"/>
                  </a:lnTo>
                  <a:close/>
                </a:path>
                <a:path w="926465" h="599439">
                  <a:moveTo>
                    <a:pt x="654226" y="52019"/>
                  </a:moveTo>
                  <a:lnTo>
                    <a:pt x="493120" y="52019"/>
                  </a:lnTo>
                  <a:lnTo>
                    <a:pt x="542961" y="57653"/>
                  </a:lnTo>
                  <a:lnTo>
                    <a:pt x="588259" y="73719"/>
                  </a:lnTo>
                  <a:lnTo>
                    <a:pt x="627407" y="98959"/>
                  </a:lnTo>
                  <a:lnTo>
                    <a:pt x="658798" y="132117"/>
                  </a:lnTo>
                  <a:lnTo>
                    <a:pt x="680825" y="171935"/>
                  </a:lnTo>
                  <a:lnTo>
                    <a:pt x="691879" y="217157"/>
                  </a:lnTo>
                  <a:lnTo>
                    <a:pt x="695455" y="238223"/>
                  </a:lnTo>
                  <a:lnTo>
                    <a:pt x="701626" y="249958"/>
                  </a:lnTo>
                  <a:lnTo>
                    <a:pt x="714875" y="256601"/>
                  </a:lnTo>
                  <a:lnTo>
                    <a:pt x="739682" y="262394"/>
                  </a:lnTo>
                  <a:lnTo>
                    <a:pt x="791571" y="280493"/>
                  </a:lnTo>
                  <a:lnTo>
                    <a:pt x="832139" y="312162"/>
                  </a:lnTo>
                  <a:lnTo>
                    <a:pt x="858556" y="354009"/>
                  </a:lnTo>
                  <a:lnTo>
                    <a:pt x="867990" y="402640"/>
                  </a:lnTo>
                  <a:lnTo>
                    <a:pt x="859959" y="448099"/>
                  </a:lnTo>
                  <a:lnTo>
                    <a:pt x="837557" y="487805"/>
                  </a:lnTo>
                  <a:lnTo>
                    <a:pt x="803322" y="519259"/>
                  </a:lnTo>
                  <a:lnTo>
                    <a:pt x="759788" y="539964"/>
                  </a:lnTo>
                  <a:lnTo>
                    <a:pt x="709494" y="547420"/>
                  </a:lnTo>
                  <a:lnTo>
                    <a:pt x="854934" y="547420"/>
                  </a:lnTo>
                  <a:lnTo>
                    <a:pt x="878729" y="525684"/>
                  </a:lnTo>
                  <a:lnTo>
                    <a:pt x="904093" y="489142"/>
                  </a:lnTo>
                  <a:lnTo>
                    <a:pt x="920216" y="447732"/>
                  </a:lnTo>
                  <a:lnTo>
                    <a:pt x="925864" y="402640"/>
                  </a:lnTo>
                  <a:lnTo>
                    <a:pt x="919806" y="356676"/>
                  </a:lnTo>
                  <a:lnTo>
                    <a:pt x="902565" y="314670"/>
                  </a:lnTo>
                  <a:lnTo>
                    <a:pt x="875540" y="277944"/>
                  </a:lnTo>
                  <a:lnTo>
                    <a:pt x="840128" y="247816"/>
                  </a:lnTo>
                  <a:lnTo>
                    <a:pt x="797729" y="225607"/>
                  </a:lnTo>
                  <a:lnTo>
                    <a:pt x="749740" y="212636"/>
                  </a:lnTo>
                  <a:lnTo>
                    <a:pt x="740676" y="169078"/>
                  </a:lnTo>
                  <a:lnTo>
                    <a:pt x="723444" y="128833"/>
                  </a:lnTo>
                  <a:lnTo>
                    <a:pt x="698841" y="92671"/>
                  </a:lnTo>
                  <a:lnTo>
                    <a:pt x="667663" y="61360"/>
                  </a:lnTo>
                  <a:lnTo>
                    <a:pt x="654226" y="52019"/>
                  </a:lnTo>
                  <a:close/>
                </a:path>
                <a:path w="926465" h="599439">
                  <a:moveTo>
                    <a:pt x="295512" y="182021"/>
                  </a:moveTo>
                  <a:lnTo>
                    <a:pt x="228320" y="182021"/>
                  </a:lnTo>
                  <a:lnTo>
                    <a:pt x="236496" y="182092"/>
                  </a:lnTo>
                  <a:lnTo>
                    <a:pt x="244673" y="183858"/>
                  </a:lnTo>
                  <a:lnTo>
                    <a:pt x="256623" y="187744"/>
                  </a:lnTo>
                  <a:lnTo>
                    <a:pt x="276554" y="193012"/>
                  </a:lnTo>
                  <a:lnTo>
                    <a:pt x="289645" y="189160"/>
                  </a:lnTo>
                  <a:lnTo>
                    <a:pt x="295512" y="182021"/>
                  </a:lnTo>
                  <a:close/>
                </a:path>
                <a:path w="926465" h="599439">
                  <a:moveTo>
                    <a:pt x="493120" y="0"/>
                  </a:moveTo>
                  <a:lnTo>
                    <a:pt x="441707" y="4555"/>
                  </a:lnTo>
                  <a:lnTo>
                    <a:pt x="393788" y="17594"/>
                  </a:lnTo>
                  <a:lnTo>
                    <a:pt x="350342" y="38173"/>
                  </a:lnTo>
                  <a:lnTo>
                    <a:pt x="312346" y="65349"/>
                  </a:lnTo>
                  <a:lnTo>
                    <a:pt x="280781" y="98180"/>
                  </a:lnTo>
                  <a:lnTo>
                    <a:pt x="256623" y="135724"/>
                  </a:lnTo>
                  <a:lnTo>
                    <a:pt x="324542" y="135724"/>
                  </a:lnTo>
                  <a:lnTo>
                    <a:pt x="333631" y="122097"/>
                  </a:lnTo>
                  <a:lnTo>
                    <a:pt x="365774" y="92580"/>
                  </a:lnTo>
                  <a:lnTo>
                    <a:pt x="404197" y="70553"/>
                  </a:lnTo>
                  <a:lnTo>
                    <a:pt x="447210" y="56779"/>
                  </a:lnTo>
                  <a:lnTo>
                    <a:pt x="493120" y="52019"/>
                  </a:lnTo>
                  <a:lnTo>
                    <a:pt x="654226" y="52019"/>
                  </a:lnTo>
                  <a:lnTo>
                    <a:pt x="630705" y="35668"/>
                  </a:lnTo>
                  <a:lnTo>
                    <a:pt x="588765" y="16365"/>
                  </a:lnTo>
                  <a:lnTo>
                    <a:pt x="542638" y="4219"/>
                  </a:lnTo>
                  <a:lnTo>
                    <a:pt x="493120" y="0"/>
                  </a:lnTo>
                  <a:close/>
                </a:path>
              </a:pathLst>
            </a:custGeom>
            <a:solidFill>
              <a:srgbClr val="007CB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Open Sans"/>
                <a:ea typeface="+mn-ea"/>
                <a:cs typeface="+mn-cs"/>
              </a:endParaRPr>
            </a:p>
          </p:txBody>
        </p:sp>
        <p:cxnSp>
          <p:nvCxnSpPr>
            <p:cNvPr id="32" name="Connector: Elbow 31">
              <a:extLst>
                <a:ext uri="{FF2B5EF4-FFF2-40B4-BE49-F238E27FC236}">
                  <a16:creationId xmlns:a16="http://schemas.microsoft.com/office/drawing/2014/main" id="{1ED84606-EFC0-42D8-89C2-52FE43176403}"/>
                </a:ext>
              </a:extLst>
            </p:cNvPr>
            <p:cNvCxnSpPr>
              <a:cxnSpLocks/>
            </p:cNvCxnSpPr>
            <p:nvPr/>
          </p:nvCxnSpPr>
          <p:spPr>
            <a:xfrm>
              <a:off x="9071401" y="2140457"/>
              <a:ext cx="766897" cy="402338"/>
            </a:xfrm>
            <a:prstGeom prst="bentConnector3">
              <a:avLst>
                <a:gd name="adj1" fmla="val 64640"/>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78335EBD-3EEC-4938-BB85-00DECF03051E}"/>
                </a:ext>
              </a:extLst>
            </p:cNvPr>
            <p:cNvCxnSpPr>
              <a:cxnSpLocks/>
            </p:cNvCxnSpPr>
            <p:nvPr/>
          </p:nvCxnSpPr>
          <p:spPr>
            <a:xfrm rot="10800000">
              <a:off x="9077588" y="2374745"/>
              <a:ext cx="722694" cy="360963"/>
            </a:xfrm>
            <a:prstGeom prst="bentConnector3">
              <a:avLst>
                <a:gd name="adj1" fmla="val 50000"/>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34" name="Freeform 1001">
              <a:extLst>
                <a:ext uri="{FF2B5EF4-FFF2-40B4-BE49-F238E27FC236}">
                  <a16:creationId xmlns:a16="http://schemas.microsoft.com/office/drawing/2014/main" id="{49D0F551-A512-4E9A-8551-5CE336636A17}"/>
                </a:ext>
              </a:extLst>
            </p:cNvPr>
            <p:cNvSpPr>
              <a:spLocks noEditPoints="1"/>
            </p:cNvSpPr>
            <p:nvPr/>
          </p:nvSpPr>
          <p:spPr bwMode="auto">
            <a:xfrm>
              <a:off x="11111749" y="2341221"/>
              <a:ext cx="647412" cy="451893"/>
            </a:xfrm>
            <a:custGeom>
              <a:avLst/>
              <a:gdLst>
                <a:gd name="T0" fmla="*/ 269 w 320"/>
                <a:gd name="T1" fmla="*/ 192 h 192"/>
                <a:gd name="T2" fmla="*/ 71 w 320"/>
                <a:gd name="T3" fmla="*/ 192 h 192"/>
                <a:gd name="T4" fmla="*/ 0 w 320"/>
                <a:gd name="T5" fmla="*/ 121 h 192"/>
                <a:gd name="T6" fmla="*/ 71 w 320"/>
                <a:gd name="T7" fmla="*/ 51 h 192"/>
                <a:gd name="T8" fmla="*/ 96 w 320"/>
                <a:gd name="T9" fmla="*/ 56 h 192"/>
                <a:gd name="T10" fmla="*/ 181 w 320"/>
                <a:gd name="T11" fmla="*/ 0 h 192"/>
                <a:gd name="T12" fmla="*/ 273 w 320"/>
                <a:gd name="T13" fmla="*/ 91 h 192"/>
                <a:gd name="T14" fmla="*/ 320 w 320"/>
                <a:gd name="T15" fmla="*/ 142 h 192"/>
                <a:gd name="T16" fmla="*/ 269 w 320"/>
                <a:gd name="T17" fmla="*/ 192 h 192"/>
                <a:gd name="T18" fmla="*/ 71 w 320"/>
                <a:gd name="T19" fmla="*/ 72 h 192"/>
                <a:gd name="T20" fmla="*/ 21 w 320"/>
                <a:gd name="T21" fmla="*/ 121 h 192"/>
                <a:gd name="T22" fmla="*/ 71 w 320"/>
                <a:gd name="T23" fmla="*/ 171 h 192"/>
                <a:gd name="T24" fmla="*/ 269 w 320"/>
                <a:gd name="T25" fmla="*/ 171 h 192"/>
                <a:gd name="T26" fmla="*/ 298 w 320"/>
                <a:gd name="T27" fmla="*/ 142 h 192"/>
                <a:gd name="T28" fmla="*/ 269 w 320"/>
                <a:gd name="T29" fmla="*/ 112 h 192"/>
                <a:gd name="T30" fmla="*/ 267 w 320"/>
                <a:gd name="T31" fmla="*/ 112 h 192"/>
                <a:gd name="T32" fmla="*/ 265 w 320"/>
                <a:gd name="T33" fmla="*/ 113 h 192"/>
                <a:gd name="T34" fmla="*/ 254 w 320"/>
                <a:gd name="T35" fmla="*/ 111 h 192"/>
                <a:gd name="T36" fmla="*/ 251 w 320"/>
                <a:gd name="T37" fmla="*/ 101 h 192"/>
                <a:gd name="T38" fmla="*/ 251 w 320"/>
                <a:gd name="T39" fmla="*/ 96 h 192"/>
                <a:gd name="T40" fmla="*/ 251 w 320"/>
                <a:gd name="T41" fmla="*/ 92 h 192"/>
                <a:gd name="T42" fmla="*/ 181 w 320"/>
                <a:gd name="T43" fmla="*/ 22 h 192"/>
                <a:gd name="T44" fmla="*/ 114 w 320"/>
                <a:gd name="T45" fmla="*/ 68 h 192"/>
                <a:gd name="T46" fmla="*/ 112 w 320"/>
                <a:gd name="T47" fmla="*/ 73 h 192"/>
                <a:gd name="T48" fmla="*/ 112 w 320"/>
                <a:gd name="T49" fmla="*/ 75 h 192"/>
                <a:gd name="T50" fmla="*/ 103 w 320"/>
                <a:gd name="T51" fmla="*/ 83 h 192"/>
                <a:gd name="T52" fmla="*/ 93 w 320"/>
                <a:gd name="T53" fmla="*/ 79 h 192"/>
                <a:gd name="T54" fmla="*/ 71 w 320"/>
                <a:gd name="T55" fmla="*/ 7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0" h="192">
                  <a:moveTo>
                    <a:pt x="269" y="192"/>
                  </a:moveTo>
                  <a:cubicBezTo>
                    <a:pt x="71" y="192"/>
                    <a:pt x="71" y="192"/>
                    <a:pt x="71" y="192"/>
                  </a:cubicBezTo>
                  <a:cubicBezTo>
                    <a:pt x="31" y="192"/>
                    <a:pt x="0" y="161"/>
                    <a:pt x="0" y="121"/>
                  </a:cubicBezTo>
                  <a:cubicBezTo>
                    <a:pt x="0" y="82"/>
                    <a:pt x="31" y="51"/>
                    <a:pt x="71" y="51"/>
                  </a:cubicBezTo>
                  <a:cubicBezTo>
                    <a:pt x="80" y="51"/>
                    <a:pt x="88" y="52"/>
                    <a:pt x="96" y="56"/>
                  </a:cubicBezTo>
                  <a:cubicBezTo>
                    <a:pt x="110" y="23"/>
                    <a:pt x="144" y="0"/>
                    <a:pt x="181" y="0"/>
                  </a:cubicBezTo>
                  <a:cubicBezTo>
                    <a:pt x="231" y="0"/>
                    <a:pt x="272" y="41"/>
                    <a:pt x="273" y="91"/>
                  </a:cubicBezTo>
                  <a:cubicBezTo>
                    <a:pt x="299" y="93"/>
                    <a:pt x="320" y="115"/>
                    <a:pt x="320" y="142"/>
                  </a:cubicBezTo>
                  <a:cubicBezTo>
                    <a:pt x="320" y="170"/>
                    <a:pt x="297" y="192"/>
                    <a:pt x="269" y="192"/>
                  </a:cubicBezTo>
                  <a:close/>
                  <a:moveTo>
                    <a:pt x="71" y="72"/>
                  </a:moveTo>
                  <a:cubicBezTo>
                    <a:pt x="43" y="72"/>
                    <a:pt x="21" y="94"/>
                    <a:pt x="21" y="121"/>
                  </a:cubicBezTo>
                  <a:cubicBezTo>
                    <a:pt x="21" y="149"/>
                    <a:pt x="43" y="171"/>
                    <a:pt x="71" y="171"/>
                  </a:cubicBezTo>
                  <a:cubicBezTo>
                    <a:pt x="269" y="171"/>
                    <a:pt x="269" y="171"/>
                    <a:pt x="269" y="171"/>
                  </a:cubicBezTo>
                  <a:cubicBezTo>
                    <a:pt x="285" y="171"/>
                    <a:pt x="298" y="158"/>
                    <a:pt x="298" y="142"/>
                  </a:cubicBezTo>
                  <a:cubicBezTo>
                    <a:pt x="298" y="125"/>
                    <a:pt x="285" y="112"/>
                    <a:pt x="269" y="112"/>
                  </a:cubicBezTo>
                  <a:cubicBezTo>
                    <a:pt x="268" y="112"/>
                    <a:pt x="268" y="112"/>
                    <a:pt x="267" y="112"/>
                  </a:cubicBezTo>
                  <a:cubicBezTo>
                    <a:pt x="267" y="112"/>
                    <a:pt x="266" y="112"/>
                    <a:pt x="265" y="113"/>
                  </a:cubicBezTo>
                  <a:cubicBezTo>
                    <a:pt x="261" y="114"/>
                    <a:pt x="257" y="113"/>
                    <a:pt x="254" y="111"/>
                  </a:cubicBezTo>
                  <a:cubicBezTo>
                    <a:pt x="252" y="109"/>
                    <a:pt x="250" y="105"/>
                    <a:pt x="251" y="101"/>
                  </a:cubicBezTo>
                  <a:cubicBezTo>
                    <a:pt x="251" y="99"/>
                    <a:pt x="251" y="98"/>
                    <a:pt x="251" y="96"/>
                  </a:cubicBezTo>
                  <a:cubicBezTo>
                    <a:pt x="251" y="94"/>
                    <a:pt x="251" y="93"/>
                    <a:pt x="251" y="92"/>
                  </a:cubicBezTo>
                  <a:cubicBezTo>
                    <a:pt x="251" y="53"/>
                    <a:pt x="220" y="22"/>
                    <a:pt x="181" y="22"/>
                  </a:cubicBezTo>
                  <a:cubicBezTo>
                    <a:pt x="152" y="22"/>
                    <a:pt x="124" y="41"/>
                    <a:pt x="114" y="68"/>
                  </a:cubicBezTo>
                  <a:cubicBezTo>
                    <a:pt x="113" y="70"/>
                    <a:pt x="113" y="71"/>
                    <a:pt x="112" y="73"/>
                  </a:cubicBezTo>
                  <a:cubicBezTo>
                    <a:pt x="112" y="75"/>
                    <a:pt x="112" y="75"/>
                    <a:pt x="112" y="75"/>
                  </a:cubicBezTo>
                  <a:cubicBezTo>
                    <a:pt x="111" y="79"/>
                    <a:pt x="108" y="82"/>
                    <a:pt x="103" y="83"/>
                  </a:cubicBezTo>
                  <a:cubicBezTo>
                    <a:pt x="99" y="84"/>
                    <a:pt x="95" y="82"/>
                    <a:pt x="93" y="79"/>
                  </a:cubicBezTo>
                  <a:cubicBezTo>
                    <a:pt x="86" y="74"/>
                    <a:pt x="79" y="72"/>
                    <a:pt x="71" y="72"/>
                  </a:cubicBezTo>
                  <a:close/>
                </a:path>
              </a:pathLst>
            </a:custGeom>
            <a:solidFill>
              <a:srgbClr val="007CB0"/>
            </a:solidFill>
            <a:ln>
              <a:solidFill>
                <a:srgbClr val="007CB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Open Sans"/>
                <a:ea typeface="+mn-ea"/>
                <a:cs typeface="+mn-cs"/>
              </a:endParaRPr>
            </a:p>
          </p:txBody>
        </p:sp>
        <p:sp>
          <p:nvSpPr>
            <p:cNvPr id="35" name="TextBox 34">
              <a:extLst>
                <a:ext uri="{FF2B5EF4-FFF2-40B4-BE49-F238E27FC236}">
                  <a16:creationId xmlns:a16="http://schemas.microsoft.com/office/drawing/2014/main" id="{51FDF2DB-CB07-4AE7-8A00-C0D4ABBF8B2C}"/>
                </a:ext>
              </a:extLst>
            </p:cNvPr>
            <p:cNvSpPr txBox="1"/>
            <p:nvPr/>
          </p:nvSpPr>
          <p:spPr>
            <a:xfrm>
              <a:off x="11107339" y="2878589"/>
              <a:ext cx="611065"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Open Sans"/>
                  <a:ea typeface="+mn-ea"/>
                  <a:cs typeface="+mn-cs"/>
                </a:rPr>
                <a:t>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Open Sans"/>
                  <a:ea typeface="+mn-ea"/>
                  <a:cs typeface="+mn-cs"/>
                </a:rPr>
                <a:t>Retail Cloud</a:t>
              </a:r>
            </a:p>
          </p:txBody>
        </p:sp>
        <p:sp>
          <p:nvSpPr>
            <p:cNvPr id="36" name="Line 13">
              <a:extLst>
                <a:ext uri="{FF2B5EF4-FFF2-40B4-BE49-F238E27FC236}">
                  <a16:creationId xmlns:a16="http://schemas.microsoft.com/office/drawing/2014/main" id="{2646108D-BE75-4E7B-8CE1-88D2BE938C98}"/>
                </a:ext>
              </a:extLst>
            </p:cNvPr>
            <p:cNvSpPr>
              <a:spLocks noChangeShapeType="1"/>
            </p:cNvSpPr>
            <p:nvPr/>
          </p:nvSpPr>
          <p:spPr bwMode="auto">
            <a:xfrm flipH="1" flipV="1">
              <a:off x="10302671" y="2704909"/>
              <a:ext cx="785651" cy="14939"/>
            </a:xfrm>
            <a:prstGeom prst="line">
              <a:avLst/>
            </a:prstGeom>
            <a:noFill/>
            <a:ln w="19050">
              <a:solidFill>
                <a:srgbClr val="000000"/>
              </a:solidFill>
              <a:round/>
              <a:headEnd/>
              <a:tailEnd type="triangle" w="med" len="med"/>
            </a:ln>
            <a:effectLst/>
          </p:spPr>
          <p:txBody>
            <a:bodyPr/>
            <a:lstStyle/>
            <a:p>
              <a:pPr marL="0" marR="0" lvl="0" indent="0" algn="l" defTabSz="687537" rtl="0" eaLnBrk="1" fontAlgn="auto" latinLnBrk="0" hangingPunct="1">
                <a:lnSpc>
                  <a:spcPct val="100000"/>
                </a:lnSpc>
                <a:spcBef>
                  <a:spcPts val="0"/>
                </a:spcBef>
                <a:spcAft>
                  <a:spcPts val="0"/>
                </a:spcAft>
                <a:buClrTx/>
                <a:buSzTx/>
                <a:buFontTx/>
                <a:buNone/>
                <a:tabLst/>
                <a:defRPr/>
              </a:pPr>
              <a:r>
                <a:rPr kumimoji="0" lang="en-US" sz="752" b="0" i="0" u="none" strike="noStrike" kern="0" cap="none" spc="0" normalizeH="0" baseline="0" noProof="0">
                  <a:ln>
                    <a:noFill/>
                  </a:ln>
                  <a:solidFill>
                    <a:sysClr val="windowText" lastClr="000000"/>
                  </a:solidFill>
                  <a:effectLst/>
                  <a:uLnTx/>
                  <a:uFillTx/>
                  <a:latin typeface="Open Sans"/>
                  <a:ea typeface="+mn-ea"/>
                  <a:cs typeface="+mn-cs"/>
                </a:rPr>
                <a:t>  </a:t>
              </a:r>
            </a:p>
          </p:txBody>
        </p:sp>
        <p:sp>
          <p:nvSpPr>
            <p:cNvPr id="37" name="TextBox 36">
              <a:extLst>
                <a:ext uri="{FF2B5EF4-FFF2-40B4-BE49-F238E27FC236}">
                  <a16:creationId xmlns:a16="http://schemas.microsoft.com/office/drawing/2014/main" id="{6F713D32-2F6B-4239-B5CA-E4E0866A9262}"/>
                </a:ext>
              </a:extLst>
            </p:cNvPr>
            <p:cNvSpPr txBox="1"/>
            <p:nvPr/>
          </p:nvSpPr>
          <p:spPr>
            <a:xfrm>
              <a:off x="10375470" y="2710949"/>
              <a:ext cx="532518" cy="1846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Open Sans"/>
                  <a:ea typeface="+mn-ea"/>
                  <a:cs typeface="+mn-cs"/>
                </a:rPr>
                <a:t>Response</a:t>
              </a:r>
            </a:p>
          </p:txBody>
        </p:sp>
        <p:sp>
          <p:nvSpPr>
            <p:cNvPr id="38" name="TextBox 37">
              <a:extLst>
                <a:ext uri="{FF2B5EF4-FFF2-40B4-BE49-F238E27FC236}">
                  <a16:creationId xmlns:a16="http://schemas.microsoft.com/office/drawing/2014/main" id="{FC456E34-01AF-4491-8F55-7652EFC7D2EC}"/>
                </a:ext>
              </a:extLst>
            </p:cNvPr>
            <p:cNvSpPr txBox="1"/>
            <p:nvPr/>
          </p:nvSpPr>
          <p:spPr>
            <a:xfrm>
              <a:off x="10446343" y="2387861"/>
              <a:ext cx="439544" cy="1846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Open Sans"/>
                  <a:ea typeface="+mn-ea"/>
                  <a:cs typeface="+mn-cs"/>
                </a:rPr>
                <a:t>Request</a:t>
              </a:r>
            </a:p>
          </p:txBody>
        </p:sp>
        <p:sp>
          <p:nvSpPr>
            <p:cNvPr id="39" name="Line 13">
              <a:extLst>
                <a:ext uri="{FF2B5EF4-FFF2-40B4-BE49-F238E27FC236}">
                  <a16:creationId xmlns:a16="http://schemas.microsoft.com/office/drawing/2014/main" id="{CF7989EA-7081-4417-9B3E-170AF862D012}"/>
                </a:ext>
              </a:extLst>
            </p:cNvPr>
            <p:cNvSpPr>
              <a:spLocks noChangeShapeType="1"/>
            </p:cNvSpPr>
            <p:nvPr/>
          </p:nvSpPr>
          <p:spPr bwMode="auto">
            <a:xfrm>
              <a:off x="6166837" y="1925610"/>
              <a:ext cx="708560" cy="0"/>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Open Sans"/>
                <a:ea typeface="+mn-ea"/>
                <a:cs typeface="Arial" pitchFamily="34" charset="0"/>
              </a:endParaRPr>
            </a:p>
          </p:txBody>
        </p:sp>
        <p:sp>
          <p:nvSpPr>
            <p:cNvPr id="40" name="Line 13">
              <a:extLst>
                <a:ext uri="{FF2B5EF4-FFF2-40B4-BE49-F238E27FC236}">
                  <a16:creationId xmlns:a16="http://schemas.microsoft.com/office/drawing/2014/main" id="{8EF8953D-B4CA-44A9-9B18-65213A61DE48}"/>
                </a:ext>
              </a:extLst>
            </p:cNvPr>
            <p:cNvSpPr>
              <a:spLocks noChangeShapeType="1"/>
            </p:cNvSpPr>
            <p:nvPr/>
          </p:nvSpPr>
          <p:spPr bwMode="auto">
            <a:xfrm flipH="1">
              <a:off x="7353554" y="2679193"/>
              <a:ext cx="1450496" cy="7042"/>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Open Sans"/>
                <a:ea typeface="+mn-ea"/>
                <a:cs typeface="Arial" pitchFamily="34" charset="0"/>
              </a:endParaRPr>
            </a:p>
          </p:txBody>
        </p:sp>
        <p:sp>
          <p:nvSpPr>
            <p:cNvPr id="41" name="Line 13">
              <a:extLst>
                <a:ext uri="{FF2B5EF4-FFF2-40B4-BE49-F238E27FC236}">
                  <a16:creationId xmlns:a16="http://schemas.microsoft.com/office/drawing/2014/main" id="{E4D6E731-16AF-4728-872D-5A3CD39575D1}"/>
                </a:ext>
              </a:extLst>
            </p:cNvPr>
            <p:cNvSpPr>
              <a:spLocks noChangeShapeType="1"/>
            </p:cNvSpPr>
            <p:nvPr/>
          </p:nvSpPr>
          <p:spPr bwMode="auto">
            <a:xfrm flipH="1">
              <a:off x="6164275" y="2167630"/>
              <a:ext cx="708559" cy="2"/>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Open Sans"/>
                <a:ea typeface="+mn-ea"/>
                <a:cs typeface="Arial" pitchFamily="34" charset="0"/>
              </a:endParaRPr>
            </a:p>
          </p:txBody>
        </p:sp>
        <p:sp>
          <p:nvSpPr>
            <p:cNvPr id="42" name="Line 13">
              <a:extLst>
                <a:ext uri="{FF2B5EF4-FFF2-40B4-BE49-F238E27FC236}">
                  <a16:creationId xmlns:a16="http://schemas.microsoft.com/office/drawing/2014/main" id="{808599B0-4381-4F56-9775-163459C0B1FD}"/>
                </a:ext>
              </a:extLst>
            </p:cNvPr>
            <p:cNvSpPr>
              <a:spLocks noChangeShapeType="1"/>
            </p:cNvSpPr>
            <p:nvPr/>
          </p:nvSpPr>
          <p:spPr bwMode="auto">
            <a:xfrm>
              <a:off x="7368090" y="2047161"/>
              <a:ext cx="1392437" cy="7042"/>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Open Sans"/>
                <a:ea typeface="+mn-ea"/>
                <a:cs typeface="Arial" pitchFamily="34" charset="0"/>
              </a:endParaRPr>
            </a:p>
          </p:txBody>
        </p:sp>
      </p:grpSp>
      <p:sp>
        <p:nvSpPr>
          <p:cNvPr id="43" name="Text Box 10">
            <a:extLst>
              <a:ext uri="{FF2B5EF4-FFF2-40B4-BE49-F238E27FC236}">
                <a16:creationId xmlns:a16="http://schemas.microsoft.com/office/drawing/2014/main" id="{AFC9E54A-A405-4426-8051-24A7C357BA84}"/>
              </a:ext>
            </a:extLst>
          </p:cNvPr>
          <p:cNvSpPr txBox="1">
            <a:spLocks noChangeArrowheads="1"/>
          </p:cNvSpPr>
          <p:nvPr/>
        </p:nvSpPr>
        <p:spPr bwMode="auto">
          <a:xfrm>
            <a:off x="7107352" y="1486039"/>
            <a:ext cx="1925394" cy="1915612"/>
          </a:xfrm>
          <a:prstGeom prst="rect">
            <a:avLst/>
          </a:prstGeom>
          <a:noFill/>
          <a:ln w="12700" algn="ctr">
            <a:solidFill>
              <a:sysClr val="windowText" lastClr="000000"/>
            </a:solidFill>
            <a:miter lim="800000"/>
            <a:headEnd/>
            <a:tailEnd type="none" w="sm" len="med"/>
          </a:ln>
        </p:spPr>
        <p:txBody>
          <a:bodyPr lIns="45451" tIns="45451" rIns="45451" bIns="45451" anchor="t" anchorCtr="0"/>
          <a:lstStyle/>
          <a:p>
            <a:pPr marL="0" marR="0" lvl="0" indent="0" algn="ctr" defTabSz="528601" rtl="0" eaLnBrk="1" fontAlgn="auto" latinLnBrk="0" hangingPunct="1">
              <a:lnSpc>
                <a:spcPct val="100000"/>
              </a:lnSpc>
              <a:spcBef>
                <a:spcPct val="20000"/>
              </a:spcBef>
              <a:spcAft>
                <a:spcPts val="0"/>
              </a:spcAft>
              <a:buClrTx/>
              <a:buSzTx/>
              <a:buFontTx/>
              <a:buNone/>
              <a:tabLst/>
              <a:defRPr/>
            </a:pPr>
            <a:endParaRPr kumimoji="0" lang="en-US" sz="677" b="1" i="0" u="none" strike="noStrike" kern="0" cap="none" spc="0" normalizeH="0" baseline="0" noProof="0">
              <a:ln>
                <a:noFill/>
              </a:ln>
              <a:solidFill>
                <a:prstClr val="black"/>
              </a:solidFill>
              <a:effectLst/>
              <a:uLnTx/>
              <a:uFillTx/>
              <a:latin typeface="Open Sans"/>
              <a:ea typeface="+mn-ea"/>
              <a:cs typeface="Arial" pitchFamily="34" charset="0"/>
            </a:endParaRPr>
          </a:p>
        </p:txBody>
      </p:sp>
      <p:sp>
        <p:nvSpPr>
          <p:cNvPr id="44" name="Text Box 10">
            <a:extLst>
              <a:ext uri="{FF2B5EF4-FFF2-40B4-BE49-F238E27FC236}">
                <a16:creationId xmlns:a16="http://schemas.microsoft.com/office/drawing/2014/main" id="{DA05FEC2-F957-4E35-A5C0-0D2F757B9D60}"/>
              </a:ext>
            </a:extLst>
          </p:cNvPr>
          <p:cNvSpPr txBox="1">
            <a:spLocks noChangeArrowheads="1"/>
          </p:cNvSpPr>
          <p:nvPr/>
        </p:nvSpPr>
        <p:spPr bwMode="auto">
          <a:xfrm>
            <a:off x="7120237" y="1124922"/>
            <a:ext cx="1925393" cy="320342"/>
          </a:xfrm>
          <a:prstGeom prst="rect">
            <a:avLst/>
          </a:prstGeom>
          <a:solidFill>
            <a:srgbClr val="007CB0"/>
          </a:solidFill>
          <a:ln w="12700" algn="ctr">
            <a:noFill/>
            <a:miter lim="800000"/>
            <a:headEnd/>
            <a:tailEnd type="none" w="sm" len="med"/>
          </a:ln>
        </p:spPr>
        <p:txBody>
          <a:bodyPr lIns="19902" tIns="19902" rIns="19902" bIns="19902" anchor="ctr" anchorCtr="1"/>
          <a:lstStyle/>
          <a:p>
            <a:pPr marL="0" marR="0" lvl="0" indent="0" algn="ctr" defTabSz="528601" rtl="0" eaLnBrk="1" fontAlgn="auto" latinLnBrk="0" hangingPunct="1">
              <a:lnSpc>
                <a:spcPct val="100000"/>
              </a:lnSpc>
              <a:spcBef>
                <a:spcPct val="2000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Open Sans"/>
                <a:ea typeface="+mn-ea"/>
                <a:cs typeface="Arial" pitchFamily="34" charset="0"/>
              </a:rPr>
              <a:t>OIC</a:t>
            </a:r>
          </a:p>
        </p:txBody>
      </p:sp>
      <p:sp>
        <p:nvSpPr>
          <p:cNvPr id="45" name="TextBox 44">
            <a:extLst>
              <a:ext uri="{FF2B5EF4-FFF2-40B4-BE49-F238E27FC236}">
                <a16:creationId xmlns:a16="http://schemas.microsoft.com/office/drawing/2014/main" id="{4CB38C02-2186-4ED5-8A17-7ABD0413F778}"/>
              </a:ext>
            </a:extLst>
          </p:cNvPr>
          <p:cNvSpPr txBox="1"/>
          <p:nvPr/>
        </p:nvSpPr>
        <p:spPr>
          <a:xfrm>
            <a:off x="7713147" y="1692836"/>
            <a:ext cx="739574" cy="196529"/>
          </a:xfrm>
          <a:prstGeom prst="rect">
            <a:avLst/>
          </a:prstGeom>
          <a:noFill/>
        </p:spPr>
        <p:txBody>
          <a:bodyPr wrap="square" rtlCol="0">
            <a:spAutoFit/>
          </a:bodyPr>
          <a:lstStyle/>
          <a:p>
            <a:pPr marL="0" marR="0" lvl="0" indent="0" algn="ctr" defTabSz="687537" rtl="0" eaLnBrk="1" fontAlgn="base" latinLnBrk="0" hangingPunct="1">
              <a:lnSpc>
                <a:spcPct val="100000"/>
              </a:lnSpc>
              <a:spcBef>
                <a:spcPct val="20000"/>
              </a:spcBef>
              <a:spcAft>
                <a:spcPct val="0"/>
              </a:spcAft>
              <a:buClrTx/>
              <a:buSzTx/>
              <a:buFontTx/>
              <a:buNone/>
              <a:tabLst/>
              <a:defRPr/>
            </a:pPr>
            <a:r>
              <a:rPr kumimoji="0" lang="en-US" sz="677" b="1" i="0" u="none" strike="noStrike" kern="0" cap="none" spc="0" normalizeH="0" baseline="0" noProof="0">
                <a:ln>
                  <a:noFill/>
                </a:ln>
                <a:solidFill>
                  <a:srgbClr val="000000"/>
                </a:solidFill>
                <a:effectLst/>
                <a:uLnTx/>
                <a:uFillTx/>
                <a:latin typeface="Calibri" panose="020F0502020204030204" pitchFamily="34" charset="0"/>
                <a:ea typeface="+mn-ea"/>
                <a:cs typeface="Arial" charset="0"/>
              </a:rPr>
              <a:t>Create Request</a:t>
            </a:r>
            <a:endParaRPr kumimoji="0" lang="en-US" sz="677" b="1" i="0" u="none" strike="noStrike" kern="1200" cap="none" spc="0" normalizeH="0" baseline="0" noProof="0">
              <a:ln>
                <a:noFill/>
              </a:ln>
              <a:solidFill>
                <a:srgbClr val="000000"/>
              </a:solidFill>
              <a:effectLst/>
              <a:uLnTx/>
              <a:uFillTx/>
              <a:latin typeface="Open Sans"/>
              <a:ea typeface="+mn-ea"/>
              <a:cs typeface="Arial" pitchFamily="34" charset="0"/>
            </a:endParaRPr>
          </a:p>
        </p:txBody>
      </p:sp>
      <p:sp>
        <p:nvSpPr>
          <p:cNvPr id="46" name="Oval 45">
            <a:extLst>
              <a:ext uri="{FF2B5EF4-FFF2-40B4-BE49-F238E27FC236}">
                <a16:creationId xmlns:a16="http://schemas.microsoft.com/office/drawing/2014/main" id="{8633C2F3-9B43-46CC-8201-EDA51FBD53E4}"/>
              </a:ext>
            </a:extLst>
          </p:cNvPr>
          <p:cNvSpPr/>
          <p:nvPr/>
        </p:nvSpPr>
        <p:spPr>
          <a:xfrm>
            <a:off x="8009856" y="1497913"/>
            <a:ext cx="164647" cy="207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Open Sans"/>
                <a:ea typeface="+mn-ea"/>
                <a:cs typeface="+mn-cs"/>
              </a:rPr>
              <a:t>2</a:t>
            </a:r>
          </a:p>
        </p:txBody>
      </p:sp>
      <p:sp>
        <p:nvSpPr>
          <p:cNvPr id="47" name="TextBox 46">
            <a:extLst>
              <a:ext uri="{FF2B5EF4-FFF2-40B4-BE49-F238E27FC236}">
                <a16:creationId xmlns:a16="http://schemas.microsoft.com/office/drawing/2014/main" id="{E121063E-EFCA-457A-9FD6-D1A649708FDC}"/>
              </a:ext>
            </a:extLst>
          </p:cNvPr>
          <p:cNvSpPr txBox="1"/>
          <p:nvPr/>
        </p:nvSpPr>
        <p:spPr>
          <a:xfrm>
            <a:off x="6212510" y="1483040"/>
            <a:ext cx="739574" cy="196529"/>
          </a:xfrm>
          <a:prstGeom prst="rect">
            <a:avLst/>
          </a:prstGeom>
          <a:noFill/>
        </p:spPr>
        <p:txBody>
          <a:bodyPr wrap="square" rtlCol="0">
            <a:spAutoFit/>
          </a:bodyPr>
          <a:lstStyle/>
          <a:p>
            <a:pPr marL="0" marR="0" lvl="0" indent="0" algn="ctr" defTabSz="687537" rtl="0" eaLnBrk="1" fontAlgn="base" latinLnBrk="0" hangingPunct="1">
              <a:lnSpc>
                <a:spcPct val="100000"/>
              </a:lnSpc>
              <a:spcBef>
                <a:spcPct val="20000"/>
              </a:spcBef>
              <a:spcAft>
                <a:spcPct val="0"/>
              </a:spcAft>
              <a:buClrTx/>
              <a:buSzTx/>
              <a:buFontTx/>
              <a:buNone/>
              <a:tabLst/>
              <a:defRPr/>
            </a:pPr>
            <a:r>
              <a:rPr kumimoji="0" lang="en-US" sz="677" b="1" i="0" u="none" strike="noStrike" kern="0" cap="none" spc="0" normalizeH="0" baseline="0" noProof="0">
                <a:ln>
                  <a:noFill/>
                </a:ln>
                <a:solidFill>
                  <a:srgbClr val="000000"/>
                </a:solidFill>
                <a:effectLst/>
                <a:uLnTx/>
                <a:uFillTx/>
                <a:latin typeface="Calibri" panose="020F0502020204030204" pitchFamily="34" charset="0"/>
                <a:ea typeface="+mn-ea"/>
                <a:cs typeface="Arial" charset="0"/>
              </a:rPr>
              <a:t>Request info</a:t>
            </a:r>
            <a:endParaRPr kumimoji="0" lang="en-US" sz="677" b="1" i="0" u="none" strike="noStrike" kern="1200" cap="none" spc="0" normalizeH="0" baseline="0" noProof="0">
              <a:ln>
                <a:noFill/>
              </a:ln>
              <a:solidFill>
                <a:srgbClr val="000000"/>
              </a:solidFill>
              <a:effectLst/>
              <a:uLnTx/>
              <a:uFillTx/>
              <a:latin typeface="Open Sans"/>
              <a:ea typeface="+mn-ea"/>
              <a:cs typeface="Arial" pitchFamily="34" charset="0"/>
            </a:endParaRPr>
          </a:p>
        </p:txBody>
      </p:sp>
      <p:sp>
        <p:nvSpPr>
          <p:cNvPr id="48" name="TextBox 47">
            <a:extLst>
              <a:ext uri="{FF2B5EF4-FFF2-40B4-BE49-F238E27FC236}">
                <a16:creationId xmlns:a16="http://schemas.microsoft.com/office/drawing/2014/main" id="{5D137D08-B7C1-4F4C-BA6C-22E6B8E80388}"/>
              </a:ext>
            </a:extLst>
          </p:cNvPr>
          <p:cNvSpPr txBox="1"/>
          <p:nvPr/>
        </p:nvSpPr>
        <p:spPr>
          <a:xfrm>
            <a:off x="6221103" y="2026906"/>
            <a:ext cx="739574" cy="300723"/>
          </a:xfrm>
          <a:prstGeom prst="rect">
            <a:avLst/>
          </a:prstGeom>
          <a:noFill/>
        </p:spPr>
        <p:txBody>
          <a:bodyPr wrap="square" rtlCol="0">
            <a:spAutoFit/>
          </a:bodyPr>
          <a:lstStyle/>
          <a:p>
            <a:pPr marL="0" marR="0" lvl="0" indent="0" algn="ctr" defTabSz="687537" rtl="0" eaLnBrk="1" fontAlgn="base" latinLnBrk="0" hangingPunct="1">
              <a:lnSpc>
                <a:spcPct val="100000"/>
              </a:lnSpc>
              <a:spcBef>
                <a:spcPct val="20000"/>
              </a:spcBef>
              <a:spcAft>
                <a:spcPct val="0"/>
              </a:spcAft>
              <a:buClrTx/>
              <a:buSzTx/>
              <a:buFontTx/>
              <a:buNone/>
              <a:tabLst/>
              <a:defRPr/>
            </a:pPr>
            <a:r>
              <a:rPr kumimoji="0" lang="en-US" sz="677" b="1" i="0" u="none" strike="noStrike" kern="0" cap="none" spc="0" normalizeH="0" baseline="0" noProof="0">
                <a:ln>
                  <a:noFill/>
                </a:ln>
                <a:solidFill>
                  <a:srgbClr val="000000"/>
                </a:solidFill>
                <a:effectLst/>
                <a:uLnTx/>
                <a:uFillTx/>
                <a:latin typeface="Calibri" panose="020F0502020204030204" pitchFamily="34" charset="0"/>
                <a:ea typeface="+mn-ea"/>
                <a:cs typeface="Arial" charset="0"/>
              </a:rPr>
              <a:t>Response from ERP Cloud</a:t>
            </a:r>
            <a:endParaRPr kumimoji="0" lang="en-US" sz="677" b="1" i="0" u="none" strike="noStrike" kern="1200" cap="none" spc="0" normalizeH="0" baseline="0" noProof="0">
              <a:ln>
                <a:noFill/>
              </a:ln>
              <a:solidFill>
                <a:srgbClr val="000000"/>
              </a:solidFill>
              <a:effectLst/>
              <a:uLnTx/>
              <a:uFillTx/>
              <a:latin typeface="Open Sans"/>
              <a:ea typeface="+mn-ea"/>
              <a:cs typeface="Arial" pitchFamily="34" charset="0"/>
            </a:endParaRPr>
          </a:p>
        </p:txBody>
      </p:sp>
      <p:sp>
        <p:nvSpPr>
          <p:cNvPr id="49" name="Oval 48">
            <a:extLst>
              <a:ext uri="{FF2B5EF4-FFF2-40B4-BE49-F238E27FC236}">
                <a16:creationId xmlns:a16="http://schemas.microsoft.com/office/drawing/2014/main" id="{97D1E5ED-A2AE-49B2-BDED-DC76875B1928}"/>
              </a:ext>
            </a:extLst>
          </p:cNvPr>
          <p:cNvSpPr/>
          <p:nvPr/>
        </p:nvSpPr>
        <p:spPr>
          <a:xfrm>
            <a:off x="6863248" y="2112750"/>
            <a:ext cx="164647" cy="207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Open Sans"/>
                <a:ea typeface="+mn-ea"/>
                <a:cs typeface="+mn-cs"/>
              </a:rPr>
              <a:t>6</a:t>
            </a:r>
          </a:p>
        </p:txBody>
      </p:sp>
      <p:sp>
        <p:nvSpPr>
          <p:cNvPr id="50" name="TextBox 49">
            <a:extLst>
              <a:ext uri="{FF2B5EF4-FFF2-40B4-BE49-F238E27FC236}">
                <a16:creationId xmlns:a16="http://schemas.microsoft.com/office/drawing/2014/main" id="{A114EF3E-0F88-413C-AF68-AC3BA2812BB3}"/>
              </a:ext>
            </a:extLst>
          </p:cNvPr>
          <p:cNvSpPr txBox="1"/>
          <p:nvPr/>
        </p:nvSpPr>
        <p:spPr>
          <a:xfrm>
            <a:off x="608918" y="4189065"/>
            <a:ext cx="4874597" cy="723275"/>
          </a:xfrm>
          <a:prstGeom prst="rect">
            <a:avLst/>
          </a:prstGeom>
          <a:noFill/>
        </p:spPr>
        <p:txBody>
          <a:bodyPr wrap="square" rtlCol="0">
            <a:spAutoFit/>
          </a:bodyPr>
          <a:lstStyle>
            <a:defPPr>
              <a:defRPr lang="en-US"/>
            </a:defPPr>
            <a:lvl1pPr>
              <a:defRPr sz="900"/>
            </a:lvl1pPr>
          </a:lstStyle>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Oracle Cloud exposes web services to publish/consume data.</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OIC sends a request via REST/SOAP API web service call.</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Request is processed and response is sent back to OIC.</a:t>
            </a:r>
          </a:p>
        </p:txBody>
      </p:sp>
      <p:sp>
        <p:nvSpPr>
          <p:cNvPr id="52" name="Title 1">
            <a:extLst>
              <a:ext uri="{FF2B5EF4-FFF2-40B4-BE49-F238E27FC236}">
                <a16:creationId xmlns:a16="http://schemas.microsoft.com/office/drawing/2014/main" id="{E988DC02-0488-45CA-862E-2F9E0517B4D5}"/>
              </a:ext>
            </a:extLst>
          </p:cNvPr>
          <p:cNvSpPr txBox="1">
            <a:spLocks/>
          </p:cNvSpPr>
          <p:nvPr/>
        </p:nvSpPr>
        <p:spPr bwMode="gray">
          <a:xfrm>
            <a:off x="434898" y="313882"/>
            <a:ext cx="11247120" cy="430887"/>
          </a:xfrm>
          <a:prstGeom prst="rect">
            <a:avLst/>
          </a:prstGeom>
        </p:spPr>
        <p:txBody>
          <a:bodyPr vert="horz" lIns="0" tIns="0" rIns="0" bIns="0" rtlCol="0" anchor="t" anchorCtr="0">
            <a:spAutoFit/>
          </a:bodyPr>
          <a:lstStyle>
            <a:lvl1pPr algn="l" defTabSz="1217613" rtl="0" eaLnBrk="1" fontAlgn="base" latinLnBrk="0" hangingPunct="1">
              <a:spcBef>
                <a:spcPct val="0"/>
              </a:spcBef>
              <a:spcAft>
                <a:spcPct val="0"/>
              </a:spcAft>
              <a:buNone/>
              <a:defRPr lang="en-US" sz="3200" b="0" kern="1200" spc="-50" noProof="0" dirty="0">
                <a:solidFill>
                  <a:schemeClr val="tx1"/>
                </a:solidFill>
                <a:latin typeface="+mj-lt"/>
                <a:ea typeface="Open Sans Light" panose="020B0306030504020204" pitchFamily="34" charset="0"/>
                <a:cs typeface="Open Sans Light" panose="020B0306030504020204" pitchFamily="34" charset="0"/>
              </a:defRPr>
            </a:lvl1pPr>
          </a:lstStyle>
          <a:p>
            <a:r>
              <a:rPr lang="en-US" sz="2800">
                <a:latin typeface="+mj-lt"/>
                <a:ea typeface="+mj-ea"/>
                <a:cs typeface="Calibri Light" panose="020F0302020204030204" pitchFamily="34" charset="0"/>
              </a:rPr>
              <a:t>3 – Web Services - REST/ SOAP</a:t>
            </a:r>
          </a:p>
        </p:txBody>
      </p:sp>
      <p:pic>
        <p:nvPicPr>
          <p:cNvPr id="53" name="Picture 52" descr="A picture containing text&#10;&#10;Description automatically generated">
            <a:extLst>
              <a:ext uri="{FF2B5EF4-FFF2-40B4-BE49-F238E27FC236}">
                <a16:creationId xmlns:a16="http://schemas.microsoft.com/office/drawing/2014/main" id="{09E14574-56BB-4D02-AC44-FC47346B561C}"/>
              </a:ext>
            </a:extLst>
          </p:cNvPr>
          <p:cNvPicPr>
            <a:picLocks noChangeAspect="1"/>
          </p:cNvPicPr>
          <p:nvPr/>
        </p:nvPicPr>
        <p:blipFill rotWithShape="1">
          <a:blip r:embed="rId3"/>
          <a:srcRect t="72253" r="32706" b="-593"/>
          <a:stretch/>
        </p:blipFill>
        <p:spPr>
          <a:xfrm>
            <a:off x="5677" y="5373400"/>
            <a:ext cx="6372225" cy="1515424"/>
          </a:xfrm>
          <a:prstGeom prst="rect">
            <a:avLst/>
          </a:prstGeom>
        </p:spPr>
      </p:pic>
      <p:pic>
        <p:nvPicPr>
          <p:cNvPr id="54" name="Picture 53" descr="A picture containing text&#10;&#10;Description automatically generated">
            <a:extLst>
              <a:ext uri="{FF2B5EF4-FFF2-40B4-BE49-F238E27FC236}">
                <a16:creationId xmlns:a16="http://schemas.microsoft.com/office/drawing/2014/main" id="{62B0C7A4-AC34-4AA1-93B3-7A844BAD67DD}"/>
              </a:ext>
            </a:extLst>
          </p:cNvPr>
          <p:cNvPicPr>
            <a:picLocks noChangeAspect="1"/>
          </p:cNvPicPr>
          <p:nvPr/>
        </p:nvPicPr>
        <p:blipFill rotWithShape="1">
          <a:blip r:embed="rId3"/>
          <a:srcRect t="86960" r="37534" b="-593"/>
          <a:stretch/>
        </p:blipFill>
        <p:spPr>
          <a:xfrm flipH="1">
            <a:off x="7072310" y="6182240"/>
            <a:ext cx="5119687" cy="746403"/>
          </a:xfrm>
          <a:prstGeom prst="rect">
            <a:avLst/>
          </a:prstGeom>
        </p:spPr>
      </p:pic>
    </p:spTree>
    <p:extLst>
      <p:ext uri="{BB962C8B-B14F-4D97-AF65-F5344CB8AC3E}">
        <p14:creationId xmlns:p14="http://schemas.microsoft.com/office/powerpoint/2010/main" val="607773637"/>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44FC62-A103-4C46-857C-CEC8DAC8DAE8}"/>
              </a:ext>
            </a:extLst>
          </p:cNvPr>
          <p:cNvSpPr txBox="1"/>
          <p:nvPr/>
        </p:nvSpPr>
        <p:spPr>
          <a:xfrm>
            <a:off x="608919" y="1303036"/>
            <a:ext cx="4792298" cy="946413"/>
          </a:xfrm>
          <a:prstGeom prst="rect">
            <a:avLst/>
          </a:prstGeom>
          <a:noFill/>
        </p:spPr>
        <p:txBody>
          <a:bodyPr wrap="square" rtlCol="0">
            <a:spAutoFit/>
          </a:bodyPr>
          <a:lstStyle/>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Oracle Retail application (Merchandising and Pricing) application</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Process Orchestration Management (POM)</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JSON tables (internal within Oracle Retail)</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RestAPI</a:t>
            </a:r>
          </a:p>
        </p:txBody>
      </p:sp>
      <p:sp>
        <p:nvSpPr>
          <p:cNvPr id="3" name="TextBox 2">
            <a:extLst>
              <a:ext uri="{FF2B5EF4-FFF2-40B4-BE49-F238E27FC236}">
                <a16:creationId xmlns:a16="http://schemas.microsoft.com/office/drawing/2014/main" id="{D6AA246F-995E-49FA-93F2-62483A81FB36}"/>
              </a:ext>
            </a:extLst>
          </p:cNvPr>
          <p:cNvSpPr txBox="1"/>
          <p:nvPr/>
        </p:nvSpPr>
        <p:spPr>
          <a:xfrm>
            <a:off x="599715" y="2496741"/>
            <a:ext cx="4798216" cy="1754326"/>
          </a:xfrm>
          <a:prstGeom prst="rect">
            <a:avLst/>
          </a:prstGeom>
          <a:noFill/>
        </p:spPr>
        <p:txBody>
          <a:bodyPr wrap="square" rtlCol="0">
            <a:spAutoFit/>
          </a:bodyPr>
          <a:lstStyle/>
          <a:p>
            <a:pPr marL="228600" marR="0" lvl="0" indent="-2286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Publish APIs are new sets of RESTful web services introduced in Oracle Retail</a:t>
            </a:r>
          </a:p>
          <a:p>
            <a:pPr marL="228600" marR="0" lvl="0" indent="-2286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The purpose of these services is to integrate foundation and transaction data from Merchandising to external applications and to other internal Oracle Retail applications.</a:t>
            </a:r>
          </a:p>
          <a:p>
            <a:pPr marL="228600" marR="0" lvl="0" indent="-2286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prstClr val="black"/>
                </a:solidFill>
                <a:latin typeface="Calibri" panose="020F0502020204030204"/>
                <a:cs typeface="Arial" panose="020B0604020202020204" pitchFamily="34" charset="0"/>
              </a:rPr>
              <a:t>Pagination is available for handling of large integrations</a:t>
            </a:r>
          </a:p>
          <a:p>
            <a:pPr marL="228600" marR="0" lvl="0" indent="-2286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prstClr val="black"/>
                </a:solidFill>
                <a:latin typeface="Calibri" panose="020F0502020204030204"/>
                <a:cs typeface="Arial" panose="020B0604020202020204" pitchFamily="34" charset="0"/>
              </a:rPr>
              <a:t>For larger integrations (e.g., inventory position), it is strongly recommended to only send deltas.</a:t>
            </a:r>
          </a:p>
          <a:p>
            <a:pPr marL="228600" marR="0" lvl="0" indent="-2286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TextBox 3">
            <a:extLst>
              <a:ext uri="{FF2B5EF4-FFF2-40B4-BE49-F238E27FC236}">
                <a16:creationId xmlns:a16="http://schemas.microsoft.com/office/drawing/2014/main" id="{F8DB961A-A684-4709-95F7-13C1F30D42B5}"/>
              </a:ext>
            </a:extLst>
          </p:cNvPr>
          <p:cNvSpPr txBox="1"/>
          <p:nvPr/>
        </p:nvSpPr>
        <p:spPr>
          <a:xfrm>
            <a:off x="561581" y="4413232"/>
            <a:ext cx="4998040" cy="1946687"/>
          </a:xfrm>
          <a:prstGeom prst="rect">
            <a:avLst/>
          </a:prstGeom>
          <a:noFill/>
        </p:spPr>
        <p:txBody>
          <a:bodyPr wrap="square" rtlCol="0">
            <a:spAutoFit/>
          </a:bodyPr>
          <a:lstStyle>
            <a:defPPr>
              <a:defRPr lang="en-US"/>
            </a:defPPr>
            <a:lvl1pPr>
              <a:defRPr sz="900"/>
            </a:lvl1pPr>
          </a:lstStyle>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Business event is triggered from MFCS/PCS application. These data are being captured in staging tables if the API has an enabled consumer.</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POM jobs processes the staging data, and it publishes to JSON tables. JSON tables hold aggregated data in JSON message format.</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Consumers calls RestAPI to extract the data from JSON tables</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If JSON table is not synchronized with base entity tables in MFCS/PCS, bulk Refresh option is used</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POM jobs performs bulk refresh and publish data to JSON tables</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endParaRPr>
          </a:p>
        </p:txBody>
      </p:sp>
      <p:sp>
        <p:nvSpPr>
          <p:cNvPr id="5" name="Text Box 4">
            <a:extLst>
              <a:ext uri="{FF2B5EF4-FFF2-40B4-BE49-F238E27FC236}">
                <a16:creationId xmlns:a16="http://schemas.microsoft.com/office/drawing/2014/main" id="{A5027A34-3835-477D-9D8A-F6BAA874EB12}"/>
              </a:ext>
            </a:extLst>
          </p:cNvPr>
          <p:cNvSpPr txBox="1">
            <a:spLocks noChangeArrowheads="1"/>
          </p:cNvSpPr>
          <p:nvPr/>
        </p:nvSpPr>
        <p:spPr bwMode="gray">
          <a:xfrm>
            <a:off x="552365" y="963606"/>
            <a:ext cx="4844995" cy="228434"/>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Architectural Components</a:t>
            </a:r>
          </a:p>
        </p:txBody>
      </p:sp>
      <p:sp>
        <p:nvSpPr>
          <p:cNvPr id="6" name="Oval 5">
            <a:extLst>
              <a:ext uri="{FF2B5EF4-FFF2-40B4-BE49-F238E27FC236}">
                <a16:creationId xmlns:a16="http://schemas.microsoft.com/office/drawing/2014/main" id="{966A53A9-28FA-411E-A889-C7C34263368C}"/>
              </a:ext>
            </a:extLst>
          </p:cNvPr>
          <p:cNvSpPr/>
          <p:nvPr/>
        </p:nvSpPr>
        <p:spPr>
          <a:xfrm>
            <a:off x="344298" y="901230"/>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1</a:t>
            </a:r>
          </a:p>
        </p:txBody>
      </p:sp>
      <p:sp>
        <p:nvSpPr>
          <p:cNvPr id="7" name="Text Box 4">
            <a:extLst>
              <a:ext uri="{FF2B5EF4-FFF2-40B4-BE49-F238E27FC236}">
                <a16:creationId xmlns:a16="http://schemas.microsoft.com/office/drawing/2014/main" id="{05F59827-BA6D-496D-96EC-C8C2A7D827DA}"/>
              </a:ext>
            </a:extLst>
          </p:cNvPr>
          <p:cNvSpPr txBox="1">
            <a:spLocks noChangeArrowheads="1"/>
          </p:cNvSpPr>
          <p:nvPr/>
        </p:nvSpPr>
        <p:spPr bwMode="gray">
          <a:xfrm>
            <a:off x="561581" y="2331215"/>
            <a:ext cx="4844995" cy="217053"/>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Overview</a:t>
            </a:r>
          </a:p>
        </p:txBody>
      </p:sp>
      <p:sp>
        <p:nvSpPr>
          <p:cNvPr id="8" name="Oval 7">
            <a:extLst>
              <a:ext uri="{FF2B5EF4-FFF2-40B4-BE49-F238E27FC236}">
                <a16:creationId xmlns:a16="http://schemas.microsoft.com/office/drawing/2014/main" id="{AA792956-A07E-470F-9AB0-C6E24671484D}"/>
              </a:ext>
            </a:extLst>
          </p:cNvPr>
          <p:cNvSpPr/>
          <p:nvPr/>
        </p:nvSpPr>
        <p:spPr>
          <a:xfrm>
            <a:off x="372349" y="2276159"/>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2</a:t>
            </a:r>
          </a:p>
        </p:txBody>
      </p:sp>
      <p:sp>
        <p:nvSpPr>
          <p:cNvPr id="9" name="Text Box 4">
            <a:extLst>
              <a:ext uri="{FF2B5EF4-FFF2-40B4-BE49-F238E27FC236}">
                <a16:creationId xmlns:a16="http://schemas.microsoft.com/office/drawing/2014/main" id="{1FAA9C4A-E661-45AE-896B-57B4C7B77888}"/>
              </a:ext>
            </a:extLst>
          </p:cNvPr>
          <p:cNvSpPr txBox="1">
            <a:spLocks noChangeArrowheads="1"/>
          </p:cNvSpPr>
          <p:nvPr/>
        </p:nvSpPr>
        <p:spPr bwMode="gray">
          <a:xfrm>
            <a:off x="591367" y="4114413"/>
            <a:ext cx="4938467" cy="247650"/>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Steps</a:t>
            </a:r>
          </a:p>
        </p:txBody>
      </p:sp>
      <p:sp>
        <p:nvSpPr>
          <p:cNvPr id="10" name="Oval 9">
            <a:extLst>
              <a:ext uri="{FF2B5EF4-FFF2-40B4-BE49-F238E27FC236}">
                <a16:creationId xmlns:a16="http://schemas.microsoft.com/office/drawing/2014/main" id="{BF00D3A7-2FD5-4F62-9420-B1DB893F97FC}"/>
              </a:ext>
            </a:extLst>
          </p:cNvPr>
          <p:cNvSpPr/>
          <p:nvPr/>
        </p:nvSpPr>
        <p:spPr>
          <a:xfrm>
            <a:off x="345160" y="4101782"/>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3</a:t>
            </a:r>
          </a:p>
        </p:txBody>
      </p:sp>
      <p:sp>
        <p:nvSpPr>
          <p:cNvPr id="11" name="Text Box 4">
            <a:extLst>
              <a:ext uri="{FF2B5EF4-FFF2-40B4-BE49-F238E27FC236}">
                <a16:creationId xmlns:a16="http://schemas.microsoft.com/office/drawing/2014/main" id="{F0961F18-3144-4CC7-828D-B50908AB4C99}"/>
              </a:ext>
            </a:extLst>
          </p:cNvPr>
          <p:cNvSpPr txBox="1">
            <a:spLocks noChangeArrowheads="1"/>
          </p:cNvSpPr>
          <p:nvPr/>
        </p:nvSpPr>
        <p:spPr bwMode="gray">
          <a:xfrm>
            <a:off x="6377902" y="4708171"/>
            <a:ext cx="4938467" cy="247650"/>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Typical Use-Cases</a:t>
            </a:r>
          </a:p>
        </p:txBody>
      </p:sp>
      <p:grpSp>
        <p:nvGrpSpPr>
          <p:cNvPr id="12" name="Group 11">
            <a:extLst>
              <a:ext uri="{FF2B5EF4-FFF2-40B4-BE49-F238E27FC236}">
                <a16:creationId xmlns:a16="http://schemas.microsoft.com/office/drawing/2014/main" id="{C2A92075-5840-4C95-ABBD-DAA20BF42A8A}"/>
              </a:ext>
            </a:extLst>
          </p:cNvPr>
          <p:cNvGrpSpPr/>
          <p:nvPr/>
        </p:nvGrpSpPr>
        <p:grpSpPr>
          <a:xfrm>
            <a:off x="6992462" y="1036031"/>
            <a:ext cx="3910889" cy="3401646"/>
            <a:chOff x="5465172" y="654002"/>
            <a:chExt cx="4002708" cy="3730246"/>
          </a:xfrm>
        </p:grpSpPr>
        <p:sp>
          <p:nvSpPr>
            <p:cNvPr id="13" name="Oval 12">
              <a:extLst>
                <a:ext uri="{FF2B5EF4-FFF2-40B4-BE49-F238E27FC236}">
                  <a16:creationId xmlns:a16="http://schemas.microsoft.com/office/drawing/2014/main" id="{D7CD7285-F5A1-40A2-8090-B7693BB1116A}"/>
                </a:ext>
              </a:extLst>
            </p:cNvPr>
            <p:cNvSpPr/>
            <p:nvPr/>
          </p:nvSpPr>
          <p:spPr>
            <a:xfrm>
              <a:off x="5922629" y="749318"/>
              <a:ext cx="591954" cy="605454"/>
            </a:xfrm>
            <a:prstGeom prst="ellipse">
              <a:avLst/>
            </a:prstGeom>
            <a:solidFill>
              <a:sysClr val="window" lastClr="FFFFFF"/>
            </a:solidFill>
            <a:ln w="9525" cap="flat" cmpd="sng" algn="ctr">
              <a:solidFill>
                <a:srgbClr val="007CB0"/>
              </a:solidFill>
              <a:prstDash val="solid"/>
            </a:ln>
            <a:effectLst>
              <a:outerShdw blurRad="40000" dist="23000" dir="5400000" rotWithShape="0">
                <a:srgbClr val="000000">
                  <a:alpha val="35000"/>
                </a:srgbClr>
              </a:outerShdw>
            </a:effectLst>
          </p:spPr>
          <p:txBody>
            <a:bodyPr rtlCol="0" anchor="ct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0" cap="none" spc="0" normalizeH="0" baseline="0" noProof="0">
                <a:ln>
                  <a:noFill/>
                </a:ln>
                <a:solidFill>
                  <a:srgbClr val="FFFFFF"/>
                </a:solidFill>
                <a:effectLst/>
                <a:uLnTx/>
                <a:uFillTx/>
                <a:latin typeface="Arial"/>
                <a:ea typeface="+mn-ea"/>
                <a:cs typeface="+mn-cs"/>
              </a:endParaRPr>
            </a:p>
          </p:txBody>
        </p:sp>
        <p:sp>
          <p:nvSpPr>
            <p:cNvPr id="14" name="Oval 13">
              <a:extLst>
                <a:ext uri="{FF2B5EF4-FFF2-40B4-BE49-F238E27FC236}">
                  <a16:creationId xmlns:a16="http://schemas.microsoft.com/office/drawing/2014/main" id="{7C43C8C0-E3B8-49B2-9DDF-9F799274BBC9}"/>
                </a:ext>
              </a:extLst>
            </p:cNvPr>
            <p:cNvSpPr/>
            <p:nvPr/>
          </p:nvSpPr>
          <p:spPr>
            <a:xfrm>
              <a:off x="8385185" y="3778051"/>
              <a:ext cx="611957" cy="606197"/>
            </a:xfrm>
            <a:prstGeom prst="ellipse">
              <a:avLst/>
            </a:prstGeom>
            <a:noFill/>
            <a:ln w="9525" cap="flat" cmpd="sng" algn="ctr">
              <a:solidFill>
                <a:srgbClr val="007CB0"/>
              </a:solidFill>
              <a:prstDash val="solid"/>
            </a:ln>
            <a:effectLst>
              <a:outerShdw blurRad="40000" dist="23000" dir="5400000" rotWithShape="0">
                <a:srgbClr val="000000">
                  <a:alpha val="35000"/>
                </a:srgbClr>
              </a:outerShdw>
            </a:effectLst>
          </p:spPr>
          <p:txBody>
            <a:bodyPr rtlCol="0" anchor="ct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0" cap="none" spc="0" normalizeH="0" baseline="0" noProof="0">
                <a:ln>
                  <a:noFill/>
                </a:ln>
                <a:solidFill>
                  <a:srgbClr val="FFFFFF"/>
                </a:solidFill>
                <a:effectLst/>
                <a:uLnTx/>
                <a:uFillTx/>
                <a:latin typeface="Arial"/>
                <a:ea typeface="+mn-ea"/>
                <a:cs typeface="+mn-cs"/>
              </a:endParaRPr>
            </a:p>
          </p:txBody>
        </p:sp>
        <p:sp>
          <p:nvSpPr>
            <p:cNvPr id="15" name="Freeform 27">
              <a:extLst>
                <a:ext uri="{FF2B5EF4-FFF2-40B4-BE49-F238E27FC236}">
                  <a16:creationId xmlns:a16="http://schemas.microsoft.com/office/drawing/2014/main" id="{A1381635-CB2B-4BFA-9E67-6EE93FF42C7A}"/>
                </a:ext>
              </a:extLst>
            </p:cNvPr>
            <p:cNvSpPr>
              <a:spLocks noEditPoints="1"/>
            </p:cNvSpPr>
            <p:nvPr/>
          </p:nvSpPr>
          <p:spPr bwMode="auto">
            <a:xfrm>
              <a:off x="8521644" y="3888477"/>
              <a:ext cx="339911" cy="370316"/>
            </a:xfrm>
            <a:custGeom>
              <a:avLst/>
              <a:gdLst>
                <a:gd name="T0" fmla="*/ 1000 w 1116"/>
                <a:gd name="T1" fmla="*/ 2 h 1184"/>
                <a:gd name="T2" fmla="*/ 64 w 1116"/>
                <a:gd name="T3" fmla="*/ 724 h 1184"/>
                <a:gd name="T4" fmla="*/ 1060 w 1116"/>
                <a:gd name="T5" fmla="*/ 1184 h 1184"/>
                <a:gd name="T6" fmla="*/ 992 w 1116"/>
                <a:gd name="T7" fmla="*/ 948 h 1184"/>
                <a:gd name="T8" fmla="*/ 932 w 1116"/>
                <a:gd name="T9" fmla="*/ 910 h 1184"/>
                <a:gd name="T10" fmla="*/ 986 w 1116"/>
                <a:gd name="T11" fmla="*/ 910 h 1184"/>
                <a:gd name="T12" fmla="*/ 922 w 1116"/>
                <a:gd name="T13" fmla="*/ 874 h 1184"/>
                <a:gd name="T14" fmla="*/ 976 w 1116"/>
                <a:gd name="T15" fmla="*/ 826 h 1184"/>
                <a:gd name="T16" fmla="*/ 918 w 1116"/>
                <a:gd name="T17" fmla="*/ 952 h 1184"/>
                <a:gd name="T18" fmla="*/ 852 w 1116"/>
                <a:gd name="T19" fmla="*/ 906 h 1184"/>
                <a:gd name="T20" fmla="*/ 836 w 1116"/>
                <a:gd name="T21" fmla="*/ 830 h 1184"/>
                <a:gd name="T22" fmla="*/ 900 w 1116"/>
                <a:gd name="T23" fmla="*/ 870 h 1184"/>
                <a:gd name="T24" fmla="*/ 956 w 1116"/>
                <a:gd name="T25" fmla="*/ 76 h 1184"/>
                <a:gd name="T26" fmla="*/ 820 w 1116"/>
                <a:gd name="T27" fmla="*/ 870 h 1184"/>
                <a:gd name="T28" fmla="*/ 758 w 1116"/>
                <a:gd name="T29" fmla="*/ 830 h 1184"/>
                <a:gd name="T30" fmla="*/ 702 w 1116"/>
                <a:gd name="T31" fmla="*/ 900 h 1184"/>
                <a:gd name="T32" fmla="*/ 748 w 1116"/>
                <a:gd name="T33" fmla="*/ 958 h 1184"/>
                <a:gd name="T34" fmla="*/ 702 w 1116"/>
                <a:gd name="T35" fmla="*/ 900 h 1184"/>
                <a:gd name="T36" fmla="*/ 684 w 1116"/>
                <a:gd name="T37" fmla="*/ 822 h 1184"/>
                <a:gd name="T38" fmla="*/ 736 w 1116"/>
                <a:gd name="T39" fmla="*/ 880 h 1184"/>
                <a:gd name="T40" fmla="*/ 674 w 1116"/>
                <a:gd name="T41" fmla="*/ 952 h 1184"/>
                <a:gd name="T42" fmla="*/ 612 w 1116"/>
                <a:gd name="T43" fmla="*/ 906 h 1184"/>
                <a:gd name="T44" fmla="*/ 600 w 1116"/>
                <a:gd name="T45" fmla="*/ 830 h 1184"/>
                <a:gd name="T46" fmla="*/ 662 w 1116"/>
                <a:gd name="T47" fmla="*/ 870 h 1184"/>
                <a:gd name="T48" fmla="*/ 584 w 1116"/>
                <a:gd name="T49" fmla="*/ 900 h 1184"/>
                <a:gd name="T50" fmla="*/ 542 w 1116"/>
                <a:gd name="T51" fmla="*/ 958 h 1184"/>
                <a:gd name="T52" fmla="*/ 522 w 1116"/>
                <a:gd name="T53" fmla="*/ 870 h 1184"/>
                <a:gd name="T54" fmla="*/ 584 w 1116"/>
                <a:gd name="T55" fmla="*/ 830 h 1184"/>
                <a:gd name="T56" fmla="*/ 458 w 1116"/>
                <a:gd name="T57" fmla="*/ 900 h 1184"/>
                <a:gd name="T58" fmla="*/ 508 w 1116"/>
                <a:gd name="T59" fmla="*/ 958 h 1184"/>
                <a:gd name="T60" fmla="*/ 444 w 1116"/>
                <a:gd name="T61" fmla="*/ 826 h 1184"/>
                <a:gd name="T62" fmla="*/ 504 w 1116"/>
                <a:gd name="T63" fmla="*/ 874 h 1184"/>
                <a:gd name="T64" fmla="*/ 372 w 1116"/>
                <a:gd name="T65" fmla="*/ 910 h 1184"/>
                <a:gd name="T66" fmla="*/ 432 w 1116"/>
                <a:gd name="T67" fmla="*/ 948 h 1184"/>
                <a:gd name="T68" fmla="*/ 364 w 1116"/>
                <a:gd name="T69" fmla="*/ 870 h 1184"/>
                <a:gd name="T70" fmla="*/ 426 w 1116"/>
                <a:gd name="T71" fmla="*/ 830 h 1184"/>
                <a:gd name="T72" fmla="*/ 364 w 1116"/>
                <a:gd name="T73" fmla="*/ 870 h 1184"/>
                <a:gd name="T74" fmla="*/ 354 w 1116"/>
                <a:gd name="T75" fmla="*/ 906 h 1184"/>
                <a:gd name="T76" fmla="*/ 290 w 1116"/>
                <a:gd name="T77" fmla="*/ 952 h 1184"/>
                <a:gd name="T78" fmla="*/ 344 w 1116"/>
                <a:gd name="T79" fmla="*/ 822 h 1184"/>
                <a:gd name="T80" fmla="*/ 290 w 1116"/>
                <a:gd name="T81" fmla="*/ 880 h 1184"/>
                <a:gd name="T82" fmla="*/ 214 w 1116"/>
                <a:gd name="T83" fmla="*/ 880 h 1184"/>
                <a:gd name="T84" fmla="*/ 262 w 1116"/>
                <a:gd name="T85" fmla="*/ 820 h 1184"/>
                <a:gd name="T86" fmla="*/ 142 w 1116"/>
                <a:gd name="T87" fmla="*/ 820 h 1184"/>
                <a:gd name="T88" fmla="*/ 178 w 1116"/>
                <a:gd name="T89" fmla="*/ 880 h 1184"/>
                <a:gd name="T90" fmla="*/ 130 w 1116"/>
                <a:gd name="T91" fmla="*/ 900 h 1184"/>
                <a:gd name="T92" fmla="*/ 184 w 1116"/>
                <a:gd name="T93" fmla="*/ 958 h 1184"/>
                <a:gd name="T94" fmla="*/ 154 w 1116"/>
                <a:gd name="T95" fmla="*/ 1034 h 1184"/>
                <a:gd name="T96" fmla="*/ 116 w 1116"/>
                <a:gd name="T97" fmla="*/ 980 h 1184"/>
                <a:gd name="T98" fmla="*/ 248 w 1116"/>
                <a:gd name="T99" fmla="*/ 1032 h 1184"/>
                <a:gd name="T100" fmla="*/ 182 w 1116"/>
                <a:gd name="T101" fmla="*/ 984 h 1184"/>
                <a:gd name="T102" fmla="*/ 218 w 1116"/>
                <a:gd name="T103" fmla="*/ 958 h 1184"/>
                <a:gd name="T104" fmla="*/ 266 w 1116"/>
                <a:gd name="T105" fmla="*/ 900 h 1184"/>
                <a:gd name="T106" fmla="*/ 260 w 1116"/>
                <a:gd name="T107" fmla="*/ 958 h 1184"/>
                <a:gd name="T108" fmla="*/ 278 w 1116"/>
                <a:gd name="T109" fmla="*/ 978 h 1184"/>
                <a:gd name="T110" fmla="*/ 776 w 1116"/>
                <a:gd name="T111" fmla="*/ 1036 h 1184"/>
                <a:gd name="T112" fmla="*/ 828 w 1116"/>
                <a:gd name="T113" fmla="*/ 900 h 1184"/>
                <a:gd name="T114" fmla="*/ 780 w 1116"/>
                <a:gd name="T115" fmla="*/ 958 h 1184"/>
                <a:gd name="T116" fmla="*/ 798 w 1116"/>
                <a:gd name="T117" fmla="*/ 988 h 1184"/>
                <a:gd name="T118" fmla="*/ 874 w 1116"/>
                <a:gd name="T119" fmla="*/ 1028 h 1184"/>
                <a:gd name="T120" fmla="*/ 892 w 1116"/>
                <a:gd name="T121" fmla="*/ 1032 h 1184"/>
                <a:gd name="T122" fmla="*/ 994 w 1116"/>
                <a:gd name="T123" fmla="*/ 984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6" h="1184">
                  <a:moveTo>
                    <a:pt x="1116" y="1124"/>
                  </a:moveTo>
                  <a:lnTo>
                    <a:pt x="1046" y="724"/>
                  </a:lnTo>
                  <a:lnTo>
                    <a:pt x="1046" y="724"/>
                  </a:lnTo>
                  <a:lnTo>
                    <a:pt x="1046" y="62"/>
                  </a:lnTo>
                  <a:lnTo>
                    <a:pt x="1046" y="62"/>
                  </a:lnTo>
                  <a:lnTo>
                    <a:pt x="1044" y="50"/>
                  </a:lnTo>
                  <a:lnTo>
                    <a:pt x="1040" y="38"/>
                  </a:lnTo>
                  <a:lnTo>
                    <a:pt x="1036" y="28"/>
                  </a:lnTo>
                  <a:lnTo>
                    <a:pt x="1028" y="18"/>
                  </a:lnTo>
                  <a:lnTo>
                    <a:pt x="1020" y="12"/>
                  </a:lnTo>
                  <a:lnTo>
                    <a:pt x="1010" y="6"/>
                  </a:lnTo>
                  <a:lnTo>
                    <a:pt x="1000" y="2"/>
                  </a:lnTo>
                  <a:lnTo>
                    <a:pt x="988" y="0"/>
                  </a:lnTo>
                  <a:lnTo>
                    <a:pt x="124" y="0"/>
                  </a:lnTo>
                  <a:lnTo>
                    <a:pt x="124" y="0"/>
                  </a:lnTo>
                  <a:lnTo>
                    <a:pt x="112" y="2"/>
                  </a:lnTo>
                  <a:lnTo>
                    <a:pt x="100" y="6"/>
                  </a:lnTo>
                  <a:lnTo>
                    <a:pt x="90" y="12"/>
                  </a:lnTo>
                  <a:lnTo>
                    <a:pt x="82" y="18"/>
                  </a:lnTo>
                  <a:lnTo>
                    <a:pt x="74" y="28"/>
                  </a:lnTo>
                  <a:lnTo>
                    <a:pt x="70" y="38"/>
                  </a:lnTo>
                  <a:lnTo>
                    <a:pt x="66" y="50"/>
                  </a:lnTo>
                  <a:lnTo>
                    <a:pt x="64" y="62"/>
                  </a:lnTo>
                  <a:lnTo>
                    <a:pt x="64" y="724"/>
                  </a:lnTo>
                  <a:lnTo>
                    <a:pt x="64" y="724"/>
                  </a:lnTo>
                  <a:lnTo>
                    <a:pt x="2" y="1124"/>
                  </a:lnTo>
                  <a:lnTo>
                    <a:pt x="2" y="1124"/>
                  </a:lnTo>
                  <a:lnTo>
                    <a:pt x="0" y="1136"/>
                  </a:lnTo>
                  <a:lnTo>
                    <a:pt x="2" y="1148"/>
                  </a:lnTo>
                  <a:lnTo>
                    <a:pt x="8" y="1158"/>
                  </a:lnTo>
                  <a:lnTo>
                    <a:pt x="14" y="1166"/>
                  </a:lnTo>
                  <a:lnTo>
                    <a:pt x="22" y="1174"/>
                  </a:lnTo>
                  <a:lnTo>
                    <a:pt x="34" y="1180"/>
                  </a:lnTo>
                  <a:lnTo>
                    <a:pt x="44" y="1184"/>
                  </a:lnTo>
                  <a:lnTo>
                    <a:pt x="58" y="1184"/>
                  </a:lnTo>
                  <a:lnTo>
                    <a:pt x="1060" y="1184"/>
                  </a:lnTo>
                  <a:lnTo>
                    <a:pt x="1060" y="1184"/>
                  </a:lnTo>
                  <a:lnTo>
                    <a:pt x="1074" y="1184"/>
                  </a:lnTo>
                  <a:lnTo>
                    <a:pt x="1086" y="1180"/>
                  </a:lnTo>
                  <a:lnTo>
                    <a:pt x="1096" y="1174"/>
                  </a:lnTo>
                  <a:lnTo>
                    <a:pt x="1104" y="1166"/>
                  </a:lnTo>
                  <a:lnTo>
                    <a:pt x="1110" y="1158"/>
                  </a:lnTo>
                  <a:lnTo>
                    <a:pt x="1114" y="1148"/>
                  </a:lnTo>
                  <a:lnTo>
                    <a:pt x="1116" y="1136"/>
                  </a:lnTo>
                  <a:lnTo>
                    <a:pt x="1116" y="1124"/>
                  </a:lnTo>
                  <a:lnTo>
                    <a:pt x="1116" y="1124"/>
                  </a:lnTo>
                  <a:close/>
                  <a:moveTo>
                    <a:pt x="986" y="910"/>
                  </a:moveTo>
                  <a:lnTo>
                    <a:pt x="992" y="948"/>
                  </a:lnTo>
                  <a:lnTo>
                    <a:pt x="992" y="948"/>
                  </a:lnTo>
                  <a:lnTo>
                    <a:pt x="992" y="952"/>
                  </a:lnTo>
                  <a:lnTo>
                    <a:pt x="990" y="956"/>
                  </a:lnTo>
                  <a:lnTo>
                    <a:pt x="986" y="958"/>
                  </a:lnTo>
                  <a:lnTo>
                    <a:pt x="982" y="958"/>
                  </a:lnTo>
                  <a:lnTo>
                    <a:pt x="946" y="958"/>
                  </a:lnTo>
                  <a:lnTo>
                    <a:pt x="946" y="958"/>
                  </a:lnTo>
                  <a:lnTo>
                    <a:pt x="942" y="958"/>
                  </a:lnTo>
                  <a:lnTo>
                    <a:pt x="938" y="956"/>
                  </a:lnTo>
                  <a:lnTo>
                    <a:pt x="936" y="952"/>
                  </a:lnTo>
                  <a:lnTo>
                    <a:pt x="936" y="948"/>
                  </a:lnTo>
                  <a:lnTo>
                    <a:pt x="932" y="910"/>
                  </a:lnTo>
                  <a:lnTo>
                    <a:pt x="932" y="910"/>
                  </a:lnTo>
                  <a:lnTo>
                    <a:pt x="932" y="906"/>
                  </a:lnTo>
                  <a:lnTo>
                    <a:pt x="934" y="902"/>
                  </a:lnTo>
                  <a:lnTo>
                    <a:pt x="936" y="900"/>
                  </a:lnTo>
                  <a:lnTo>
                    <a:pt x="940" y="900"/>
                  </a:lnTo>
                  <a:lnTo>
                    <a:pt x="976" y="900"/>
                  </a:lnTo>
                  <a:lnTo>
                    <a:pt x="976" y="900"/>
                  </a:lnTo>
                  <a:lnTo>
                    <a:pt x="980" y="900"/>
                  </a:lnTo>
                  <a:lnTo>
                    <a:pt x="984" y="902"/>
                  </a:lnTo>
                  <a:lnTo>
                    <a:pt x="986" y="906"/>
                  </a:lnTo>
                  <a:lnTo>
                    <a:pt x="986" y="910"/>
                  </a:lnTo>
                  <a:lnTo>
                    <a:pt x="986" y="910"/>
                  </a:lnTo>
                  <a:close/>
                  <a:moveTo>
                    <a:pt x="978" y="830"/>
                  </a:moveTo>
                  <a:lnTo>
                    <a:pt x="982" y="870"/>
                  </a:lnTo>
                  <a:lnTo>
                    <a:pt x="982" y="870"/>
                  </a:lnTo>
                  <a:lnTo>
                    <a:pt x="982" y="874"/>
                  </a:lnTo>
                  <a:lnTo>
                    <a:pt x="980" y="878"/>
                  </a:lnTo>
                  <a:lnTo>
                    <a:pt x="978" y="880"/>
                  </a:lnTo>
                  <a:lnTo>
                    <a:pt x="974" y="880"/>
                  </a:lnTo>
                  <a:lnTo>
                    <a:pt x="932" y="880"/>
                  </a:lnTo>
                  <a:lnTo>
                    <a:pt x="932" y="880"/>
                  </a:lnTo>
                  <a:lnTo>
                    <a:pt x="928" y="880"/>
                  </a:lnTo>
                  <a:lnTo>
                    <a:pt x="924" y="878"/>
                  </a:lnTo>
                  <a:lnTo>
                    <a:pt x="922" y="874"/>
                  </a:lnTo>
                  <a:lnTo>
                    <a:pt x="920" y="870"/>
                  </a:lnTo>
                  <a:lnTo>
                    <a:pt x="916" y="830"/>
                  </a:lnTo>
                  <a:lnTo>
                    <a:pt x="916" y="830"/>
                  </a:lnTo>
                  <a:lnTo>
                    <a:pt x="918" y="826"/>
                  </a:lnTo>
                  <a:lnTo>
                    <a:pt x="918" y="824"/>
                  </a:lnTo>
                  <a:lnTo>
                    <a:pt x="922" y="822"/>
                  </a:lnTo>
                  <a:lnTo>
                    <a:pt x="926" y="820"/>
                  </a:lnTo>
                  <a:lnTo>
                    <a:pt x="968" y="820"/>
                  </a:lnTo>
                  <a:lnTo>
                    <a:pt x="968" y="820"/>
                  </a:lnTo>
                  <a:lnTo>
                    <a:pt x="970" y="822"/>
                  </a:lnTo>
                  <a:lnTo>
                    <a:pt x="974" y="824"/>
                  </a:lnTo>
                  <a:lnTo>
                    <a:pt x="976" y="826"/>
                  </a:lnTo>
                  <a:lnTo>
                    <a:pt x="978" y="830"/>
                  </a:lnTo>
                  <a:lnTo>
                    <a:pt x="978" y="830"/>
                  </a:lnTo>
                  <a:close/>
                  <a:moveTo>
                    <a:pt x="860" y="900"/>
                  </a:moveTo>
                  <a:lnTo>
                    <a:pt x="904" y="900"/>
                  </a:lnTo>
                  <a:lnTo>
                    <a:pt x="904" y="900"/>
                  </a:lnTo>
                  <a:lnTo>
                    <a:pt x="908" y="900"/>
                  </a:lnTo>
                  <a:lnTo>
                    <a:pt x="910" y="902"/>
                  </a:lnTo>
                  <a:lnTo>
                    <a:pt x="912" y="906"/>
                  </a:lnTo>
                  <a:lnTo>
                    <a:pt x="914" y="910"/>
                  </a:lnTo>
                  <a:lnTo>
                    <a:pt x="918" y="948"/>
                  </a:lnTo>
                  <a:lnTo>
                    <a:pt x="918" y="948"/>
                  </a:lnTo>
                  <a:lnTo>
                    <a:pt x="918" y="952"/>
                  </a:lnTo>
                  <a:lnTo>
                    <a:pt x="916" y="956"/>
                  </a:lnTo>
                  <a:lnTo>
                    <a:pt x="914" y="958"/>
                  </a:lnTo>
                  <a:lnTo>
                    <a:pt x="910" y="958"/>
                  </a:lnTo>
                  <a:lnTo>
                    <a:pt x="866" y="958"/>
                  </a:lnTo>
                  <a:lnTo>
                    <a:pt x="866" y="958"/>
                  </a:lnTo>
                  <a:lnTo>
                    <a:pt x="862" y="958"/>
                  </a:lnTo>
                  <a:lnTo>
                    <a:pt x="858" y="956"/>
                  </a:lnTo>
                  <a:lnTo>
                    <a:pt x="856" y="952"/>
                  </a:lnTo>
                  <a:lnTo>
                    <a:pt x="856" y="948"/>
                  </a:lnTo>
                  <a:lnTo>
                    <a:pt x="852" y="910"/>
                  </a:lnTo>
                  <a:lnTo>
                    <a:pt x="852" y="910"/>
                  </a:lnTo>
                  <a:lnTo>
                    <a:pt x="852" y="906"/>
                  </a:lnTo>
                  <a:lnTo>
                    <a:pt x="854" y="902"/>
                  </a:lnTo>
                  <a:lnTo>
                    <a:pt x="856" y="900"/>
                  </a:lnTo>
                  <a:lnTo>
                    <a:pt x="860" y="900"/>
                  </a:lnTo>
                  <a:lnTo>
                    <a:pt x="860" y="900"/>
                  </a:lnTo>
                  <a:close/>
                  <a:moveTo>
                    <a:pt x="848" y="880"/>
                  </a:moveTo>
                  <a:lnTo>
                    <a:pt x="848" y="880"/>
                  </a:lnTo>
                  <a:lnTo>
                    <a:pt x="846" y="880"/>
                  </a:lnTo>
                  <a:lnTo>
                    <a:pt x="842" y="878"/>
                  </a:lnTo>
                  <a:lnTo>
                    <a:pt x="840" y="874"/>
                  </a:lnTo>
                  <a:lnTo>
                    <a:pt x="838" y="870"/>
                  </a:lnTo>
                  <a:lnTo>
                    <a:pt x="836" y="830"/>
                  </a:lnTo>
                  <a:lnTo>
                    <a:pt x="836" y="830"/>
                  </a:lnTo>
                  <a:lnTo>
                    <a:pt x="836" y="826"/>
                  </a:lnTo>
                  <a:lnTo>
                    <a:pt x="838" y="824"/>
                  </a:lnTo>
                  <a:lnTo>
                    <a:pt x="840" y="822"/>
                  </a:lnTo>
                  <a:lnTo>
                    <a:pt x="844" y="820"/>
                  </a:lnTo>
                  <a:lnTo>
                    <a:pt x="886" y="820"/>
                  </a:lnTo>
                  <a:lnTo>
                    <a:pt x="886" y="820"/>
                  </a:lnTo>
                  <a:lnTo>
                    <a:pt x="890" y="822"/>
                  </a:lnTo>
                  <a:lnTo>
                    <a:pt x="892" y="824"/>
                  </a:lnTo>
                  <a:lnTo>
                    <a:pt x="896" y="826"/>
                  </a:lnTo>
                  <a:lnTo>
                    <a:pt x="896" y="830"/>
                  </a:lnTo>
                  <a:lnTo>
                    <a:pt x="900" y="870"/>
                  </a:lnTo>
                  <a:lnTo>
                    <a:pt x="900" y="870"/>
                  </a:lnTo>
                  <a:lnTo>
                    <a:pt x="900" y="874"/>
                  </a:lnTo>
                  <a:lnTo>
                    <a:pt x="898" y="878"/>
                  </a:lnTo>
                  <a:lnTo>
                    <a:pt x="896" y="880"/>
                  </a:lnTo>
                  <a:lnTo>
                    <a:pt x="892" y="880"/>
                  </a:lnTo>
                  <a:lnTo>
                    <a:pt x="848" y="880"/>
                  </a:lnTo>
                  <a:close/>
                  <a:moveTo>
                    <a:pt x="148" y="80"/>
                  </a:moveTo>
                  <a:lnTo>
                    <a:pt x="148" y="80"/>
                  </a:lnTo>
                  <a:lnTo>
                    <a:pt x="150" y="76"/>
                  </a:lnTo>
                  <a:lnTo>
                    <a:pt x="156" y="72"/>
                  </a:lnTo>
                  <a:lnTo>
                    <a:pt x="950" y="72"/>
                  </a:lnTo>
                  <a:lnTo>
                    <a:pt x="950" y="72"/>
                  </a:lnTo>
                  <a:lnTo>
                    <a:pt x="956" y="76"/>
                  </a:lnTo>
                  <a:lnTo>
                    <a:pt x="958" y="80"/>
                  </a:lnTo>
                  <a:lnTo>
                    <a:pt x="958" y="644"/>
                  </a:lnTo>
                  <a:lnTo>
                    <a:pt x="958" y="644"/>
                  </a:lnTo>
                  <a:lnTo>
                    <a:pt x="956" y="650"/>
                  </a:lnTo>
                  <a:lnTo>
                    <a:pt x="950" y="652"/>
                  </a:lnTo>
                  <a:lnTo>
                    <a:pt x="156" y="652"/>
                  </a:lnTo>
                  <a:lnTo>
                    <a:pt x="156" y="652"/>
                  </a:lnTo>
                  <a:lnTo>
                    <a:pt x="150" y="650"/>
                  </a:lnTo>
                  <a:lnTo>
                    <a:pt x="148" y="644"/>
                  </a:lnTo>
                  <a:lnTo>
                    <a:pt x="148" y="80"/>
                  </a:lnTo>
                  <a:close/>
                  <a:moveTo>
                    <a:pt x="820" y="870"/>
                  </a:moveTo>
                  <a:lnTo>
                    <a:pt x="820" y="870"/>
                  </a:lnTo>
                  <a:lnTo>
                    <a:pt x="820" y="874"/>
                  </a:lnTo>
                  <a:lnTo>
                    <a:pt x="818" y="878"/>
                  </a:lnTo>
                  <a:lnTo>
                    <a:pt x="816" y="880"/>
                  </a:lnTo>
                  <a:lnTo>
                    <a:pt x="812" y="880"/>
                  </a:lnTo>
                  <a:lnTo>
                    <a:pt x="770" y="880"/>
                  </a:lnTo>
                  <a:lnTo>
                    <a:pt x="770" y="880"/>
                  </a:lnTo>
                  <a:lnTo>
                    <a:pt x="766" y="880"/>
                  </a:lnTo>
                  <a:lnTo>
                    <a:pt x="762" y="878"/>
                  </a:lnTo>
                  <a:lnTo>
                    <a:pt x="760" y="874"/>
                  </a:lnTo>
                  <a:lnTo>
                    <a:pt x="760" y="870"/>
                  </a:lnTo>
                  <a:lnTo>
                    <a:pt x="758" y="830"/>
                  </a:lnTo>
                  <a:lnTo>
                    <a:pt x="758" y="830"/>
                  </a:lnTo>
                  <a:lnTo>
                    <a:pt x="758" y="826"/>
                  </a:lnTo>
                  <a:lnTo>
                    <a:pt x="760" y="824"/>
                  </a:lnTo>
                  <a:lnTo>
                    <a:pt x="762" y="822"/>
                  </a:lnTo>
                  <a:lnTo>
                    <a:pt x="766" y="820"/>
                  </a:lnTo>
                  <a:lnTo>
                    <a:pt x="808" y="820"/>
                  </a:lnTo>
                  <a:lnTo>
                    <a:pt x="808" y="820"/>
                  </a:lnTo>
                  <a:lnTo>
                    <a:pt x="812" y="822"/>
                  </a:lnTo>
                  <a:lnTo>
                    <a:pt x="814" y="824"/>
                  </a:lnTo>
                  <a:lnTo>
                    <a:pt x="818" y="826"/>
                  </a:lnTo>
                  <a:lnTo>
                    <a:pt x="818" y="830"/>
                  </a:lnTo>
                  <a:lnTo>
                    <a:pt x="820" y="870"/>
                  </a:lnTo>
                  <a:close/>
                  <a:moveTo>
                    <a:pt x="702" y="900"/>
                  </a:moveTo>
                  <a:lnTo>
                    <a:pt x="744" y="900"/>
                  </a:lnTo>
                  <a:lnTo>
                    <a:pt x="744" y="900"/>
                  </a:lnTo>
                  <a:lnTo>
                    <a:pt x="748" y="900"/>
                  </a:lnTo>
                  <a:lnTo>
                    <a:pt x="750" y="902"/>
                  </a:lnTo>
                  <a:lnTo>
                    <a:pt x="754" y="906"/>
                  </a:lnTo>
                  <a:lnTo>
                    <a:pt x="754" y="910"/>
                  </a:lnTo>
                  <a:lnTo>
                    <a:pt x="756" y="948"/>
                  </a:lnTo>
                  <a:lnTo>
                    <a:pt x="756" y="948"/>
                  </a:lnTo>
                  <a:lnTo>
                    <a:pt x="756" y="952"/>
                  </a:lnTo>
                  <a:lnTo>
                    <a:pt x="754" y="956"/>
                  </a:lnTo>
                  <a:lnTo>
                    <a:pt x="750" y="958"/>
                  </a:lnTo>
                  <a:lnTo>
                    <a:pt x="748" y="958"/>
                  </a:lnTo>
                  <a:lnTo>
                    <a:pt x="704" y="958"/>
                  </a:lnTo>
                  <a:lnTo>
                    <a:pt x="704" y="958"/>
                  </a:lnTo>
                  <a:lnTo>
                    <a:pt x="700" y="958"/>
                  </a:lnTo>
                  <a:lnTo>
                    <a:pt x="696" y="956"/>
                  </a:lnTo>
                  <a:lnTo>
                    <a:pt x="694" y="952"/>
                  </a:lnTo>
                  <a:lnTo>
                    <a:pt x="694" y="948"/>
                  </a:lnTo>
                  <a:lnTo>
                    <a:pt x="692" y="910"/>
                  </a:lnTo>
                  <a:lnTo>
                    <a:pt x="692" y="910"/>
                  </a:lnTo>
                  <a:lnTo>
                    <a:pt x="692" y="906"/>
                  </a:lnTo>
                  <a:lnTo>
                    <a:pt x="694" y="902"/>
                  </a:lnTo>
                  <a:lnTo>
                    <a:pt x="698" y="900"/>
                  </a:lnTo>
                  <a:lnTo>
                    <a:pt x="702" y="900"/>
                  </a:lnTo>
                  <a:lnTo>
                    <a:pt x="702" y="900"/>
                  </a:lnTo>
                  <a:close/>
                  <a:moveTo>
                    <a:pt x="690" y="880"/>
                  </a:moveTo>
                  <a:lnTo>
                    <a:pt x="690" y="880"/>
                  </a:lnTo>
                  <a:lnTo>
                    <a:pt x="686" y="880"/>
                  </a:lnTo>
                  <a:lnTo>
                    <a:pt x="684" y="878"/>
                  </a:lnTo>
                  <a:lnTo>
                    <a:pt x="682" y="874"/>
                  </a:lnTo>
                  <a:lnTo>
                    <a:pt x="680" y="870"/>
                  </a:lnTo>
                  <a:lnTo>
                    <a:pt x="678" y="830"/>
                  </a:lnTo>
                  <a:lnTo>
                    <a:pt x="678" y="830"/>
                  </a:lnTo>
                  <a:lnTo>
                    <a:pt x="680" y="826"/>
                  </a:lnTo>
                  <a:lnTo>
                    <a:pt x="682" y="824"/>
                  </a:lnTo>
                  <a:lnTo>
                    <a:pt x="684" y="822"/>
                  </a:lnTo>
                  <a:lnTo>
                    <a:pt x="688" y="820"/>
                  </a:lnTo>
                  <a:lnTo>
                    <a:pt x="730" y="820"/>
                  </a:lnTo>
                  <a:lnTo>
                    <a:pt x="730" y="820"/>
                  </a:lnTo>
                  <a:lnTo>
                    <a:pt x="734" y="822"/>
                  </a:lnTo>
                  <a:lnTo>
                    <a:pt x="736" y="824"/>
                  </a:lnTo>
                  <a:lnTo>
                    <a:pt x="738" y="826"/>
                  </a:lnTo>
                  <a:lnTo>
                    <a:pt x="740" y="830"/>
                  </a:lnTo>
                  <a:lnTo>
                    <a:pt x="742" y="870"/>
                  </a:lnTo>
                  <a:lnTo>
                    <a:pt x="742" y="870"/>
                  </a:lnTo>
                  <a:lnTo>
                    <a:pt x="742" y="874"/>
                  </a:lnTo>
                  <a:lnTo>
                    <a:pt x="740" y="878"/>
                  </a:lnTo>
                  <a:lnTo>
                    <a:pt x="736" y="880"/>
                  </a:lnTo>
                  <a:lnTo>
                    <a:pt x="732" y="880"/>
                  </a:lnTo>
                  <a:lnTo>
                    <a:pt x="690" y="880"/>
                  </a:lnTo>
                  <a:close/>
                  <a:moveTo>
                    <a:pt x="622" y="900"/>
                  </a:moveTo>
                  <a:lnTo>
                    <a:pt x="664" y="900"/>
                  </a:lnTo>
                  <a:lnTo>
                    <a:pt x="664" y="900"/>
                  </a:lnTo>
                  <a:lnTo>
                    <a:pt x="668" y="900"/>
                  </a:lnTo>
                  <a:lnTo>
                    <a:pt x="672" y="902"/>
                  </a:lnTo>
                  <a:lnTo>
                    <a:pt x="674" y="906"/>
                  </a:lnTo>
                  <a:lnTo>
                    <a:pt x="674" y="910"/>
                  </a:lnTo>
                  <a:lnTo>
                    <a:pt x="676" y="948"/>
                  </a:lnTo>
                  <a:lnTo>
                    <a:pt x="676" y="948"/>
                  </a:lnTo>
                  <a:lnTo>
                    <a:pt x="674" y="952"/>
                  </a:lnTo>
                  <a:lnTo>
                    <a:pt x="672" y="956"/>
                  </a:lnTo>
                  <a:lnTo>
                    <a:pt x="670" y="958"/>
                  </a:lnTo>
                  <a:lnTo>
                    <a:pt x="666" y="958"/>
                  </a:lnTo>
                  <a:lnTo>
                    <a:pt x="622" y="958"/>
                  </a:lnTo>
                  <a:lnTo>
                    <a:pt x="622" y="958"/>
                  </a:lnTo>
                  <a:lnTo>
                    <a:pt x="618" y="958"/>
                  </a:lnTo>
                  <a:lnTo>
                    <a:pt x="616" y="956"/>
                  </a:lnTo>
                  <a:lnTo>
                    <a:pt x="614" y="952"/>
                  </a:lnTo>
                  <a:lnTo>
                    <a:pt x="612" y="948"/>
                  </a:lnTo>
                  <a:lnTo>
                    <a:pt x="612" y="910"/>
                  </a:lnTo>
                  <a:lnTo>
                    <a:pt x="612" y="910"/>
                  </a:lnTo>
                  <a:lnTo>
                    <a:pt x="612" y="906"/>
                  </a:lnTo>
                  <a:lnTo>
                    <a:pt x="614" y="902"/>
                  </a:lnTo>
                  <a:lnTo>
                    <a:pt x="618" y="900"/>
                  </a:lnTo>
                  <a:lnTo>
                    <a:pt x="622" y="900"/>
                  </a:lnTo>
                  <a:lnTo>
                    <a:pt x="622" y="900"/>
                  </a:lnTo>
                  <a:close/>
                  <a:moveTo>
                    <a:pt x="610" y="880"/>
                  </a:moveTo>
                  <a:lnTo>
                    <a:pt x="610" y="880"/>
                  </a:lnTo>
                  <a:lnTo>
                    <a:pt x="608" y="880"/>
                  </a:lnTo>
                  <a:lnTo>
                    <a:pt x="604" y="878"/>
                  </a:lnTo>
                  <a:lnTo>
                    <a:pt x="602" y="874"/>
                  </a:lnTo>
                  <a:lnTo>
                    <a:pt x="602" y="870"/>
                  </a:lnTo>
                  <a:lnTo>
                    <a:pt x="600" y="830"/>
                  </a:lnTo>
                  <a:lnTo>
                    <a:pt x="600" y="830"/>
                  </a:lnTo>
                  <a:lnTo>
                    <a:pt x="602" y="826"/>
                  </a:lnTo>
                  <a:lnTo>
                    <a:pt x="604" y="824"/>
                  </a:lnTo>
                  <a:lnTo>
                    <a:pt x="606" y="822"/>
                  </a:lnTo>
                  <a:lnTo>
                    <a:pt x="610" y="820"/>
                  </a:lnTo>
                  <a:lnTo>
                    <a:pt x="652" y="820"/>
                  </a:lnTo>
                  <a:lnTo>
                    <a:pt x="652" y="820"/>
                  </a:lnTo>
                  <a:lnTo>
                    <a:pt x="656" y="822"/>
                  </a:lnTo>
                  <a:lnTo>
                    <a:pt x="658" y="824"/>
                  </a:lnTo>
                  <a:lnTo>
                    <a:pt x="660" y="826"/>
                  </a:lnTo>
                  <a:lnTo>
                    <a:pt x="662" y="830"/>
                  </a:lnTo>
                  <a:lnTo>
                    <a:pt x="662" y="870"/>
                  </a:lnTo>
                  <a:lnTo>
                    <a:pt x="662" y="870"/>
                  </a:lnTo>
                  <a:lnTo>
                    <a:pt x="662" y="874"/>
                  </a:lnTo>
                  <a:lnTo>
                    <a:pt x="660" y="878"/>
                  </a:lnTo>
                  <a:lnTo>
                    <a:pt x="658" y="880"/>
                  </a:lnTo>
                  <a:lnTo>
                    <a:pt x="654" y="880"/>
                  </a:lnTo>
                  <a:lnTo>
                    <a:pt x="610" y="880"/>
                  </a:lnTo>
                  <a:close/>
                  <a:moveTo>
                    <a:pt x="532" y="910"/>
                  </a:moveTo>
                  <a:lnTo>
                    <a:pt x="532" y="910"/>
                  </a:lnTo>
                  <a:lnTo>
                    <a:pt x="532" y="906"/>
                  </a:lnTo>
                  <a:lnTo>
                    <a:pt x="534" y="902"/>
                  </a:lnTo>
                  <a:lnTo>
                    <a:pt x="538" y="900"/>
                  </a:lnTo>
                  <a:lnTo>
                    <a:pt x="542" y="900"/>
                  </a:lnTo>
                  <a:lnTo>
                    <a:pt x="584" y="900"/>
                  </a:lnTo>
                  <a:lnTo>
                    <a:pt x="584" y="900"/>
                  </a:lnTo>
                  <a:lnTo>
                    <a:pt x="588" y="900"/>
                  </a:lnTo>
                  <a:lnTo>
                    <a:pt x="592" y="902"/>
                  </a:lnTo>
                  <a:lnTo>
                    <a:pt x="594" y="906"/>
                  </a:lnTo>
                  <a:lnTo>
                    <a:pt x="594" y="910"/>
                  </a:lnTo>
                  <a:lnTo>
                    <a:pt x="594" y="948"/>
                  </a:lnTo>
                  <a:lnTo>
                    <a:pt x="594" y="948"/>
                  </a:lnTo>
                  <a:lnTo>
                    <a:pt x="594" y="952"/>
                  </a:lnTo>
                  <a:lnTo>
                    <a:pt x="592" y="956"/>
                  </a:lnTo>
                  <a:lnTo>
                    <a:pt x="588" y="958"/>
                  </a:lnTo>
                  <a:lnTo>
                    <a:pt x="584" y="958"/>
                  </a:lnTo>
                  <a:lnTo>
                    <a:pt x="542" y="958"/>
                  </a:lnTo>
                  <a:lnTo>
                    <a:pt x="542" y="958"/>
                  </a:lnTo>
                  <a:lnTo>
                    <a:pt x="538" y="958"/>
                  </a:lnTo>
                  <a:lnTo>
                    <a:pt x="534" y="956"/>
                  </a:lnTo>
                  <a:lnTo>
                    <a:pt x="532" y="952"/>
                  </a:lnTo>
                  <a:lnTo>
                    <a:pt x="532" y="948"/>
                  </a:lnTo>
                  <a:lnTo>
                    <a:pt x="532" y="910"/>
                  </a:lnTo>
                  <a:close/>
                  <a:moveTo>
                    <a:pt x="532" y="880"/>
                  </a:moveTo>
                  <a:lnTo>
                    <a:pt x="532" y="880"/>
                  </a:lnTo>
                  <a:lnTo>
                    <a:pt x="528" y="880"/>
                  </a:lnTo>
                  <a:lnTo>
                    <a:pt x="524" y="878"/>
                  </a:lnTo>
                  <a:lnTo>
                    <a:pt x="522" y="874"/>
                  </a:lnTo>
                  <a:lnTo>
                    <a:pt x="522" y="870"/>
                  </a:lnTo>
                  <a:lnTo>
                    <a:pt x="522" y="830"/>
                  </a:lnTo>
                  <a:lnTo>
                    <a:pt x="522" y="830"/>
                  </a:lnTo>
                  <a:lnTo>
                    <a:pt x="524" y="826"/>
                  </a:lnTo>
                  <a:lnTo>
                    <a:pt x="526" y="824"/>
                  </a:lnTo>
                  <a:lnTo>
                    <a:pt x="528" y="822"/>
                  </a:lnTo>
                  <a:lnTo>
                    <a:pt x="532" y="820"/>
                  </a:lnTo>
                  <a:lnTo>
                    <a:pt x="574" y="820"/>
                  </a:lnTo>
                  <a:lnTo>
                    <a:pt x="574" y="820"/>
                  </a:lnTo>
                  <a:lnTo>
                    <a:pt x="578" y="822"/>
                  </a:lnTo>
                  <a:lnTo>
                    <a:pt x="580" y="824"/>
                  </a:lnTo>
                  <a:lnTo>
                    <a:pt x="582" y="826"/>
                  </a:lnTo>
                  <a:lnTo>
                    <a:pt x="584" y="830"/>
                  </a:lnTo>
                  <a:lnTo>
                    <a:pt x="584" y="870"/>
                  </a:lnTo>
                  <a:lnTo>
                    <a:pt x="584" y="870"/>
                  </a:lnTo>
                  <a:lnTo>
                    <a:pt x="582" y="874"/>
                  </a:lnTo>
                  <a:lnTo>
                    <a:pt x="580" y="878"/>
                  </a:lnTo>
                  <a:lnTo>
                    <a:pt x="578" y="880"/>
                  </a:lnTo>
                  <a:lnTo>
                    <a:pt x="574" y="880"/>
                  </a:lnTo>
                  <a:lnTo>
                    <a:pt x="532" y="880"/>
                  </a:lnTo>
                  <a:close/>
                  <a:moveTo>
                    <a:pt x="452" y="910"/>
                  </a:moveTo>
                  <a:lnTo>
                    <a:pt x="452" y="910"/>
                  </a:lnTo>
                  <a:lnTo>
                    <a:pt x="452" y="906"/>
                  </a:lnTo>
                  <a:lnTo>
                    <a:pt x="454" y="902"/>
                  </a:lnTo>
                  <a:lnTo>
                    <a:pt x="458" y="900"/>
                  </a:lnTo>
                  <a:lnTo>
                    <a:pt x="462" y="900"/>
                  </a:lnTo>
                  <a:lnTo>
                    <a:pt x="504" y="900"/>
                  </a:lnTo>
                  <a:lnTo>
                    <a:pt x="504" y="900"/>
                  </a:lnTo>
                  <a:lnTo>
                    <a:pt x="508" y="900"/>
                  </a:lnTo>
                  <a:lnTo>
                    <a:pt x="512" y="902"/>
                  </a:lnTo>
                  <a:lnTo>
                    <a:pt x="514" y="906"/>
                  </a:lnTo>
                  <a:lnTo>
                    <a:pt x="514" y="910"/>
                  </a:lnTo>
                  <a:lnTo>
                    <a:pt x="514" y="948"/>
                  </a:lnTo>
                  <a:lnTo>
                    <a:pt x="514" y="948"/>
                  </a:lnTo>
                  <a:lnTo>
                    <a:pt x="512" y="952"/>
                  </a:lnTo>
                  <a:lnTo>
                    <a:pt x="510" y="956"/>
                  </a:lnTo>
                  <a:lnTo>
                    <a:pt x="508" y="958"/>
                  </a:lnTo>
                  <a:lnTo>
                    <a:pt x="504" y="958"/>
                  </a:lnTo>
                  <a:lnTo>
                    <a:pt x="460" y="958"/>
                  </a:lnTo>
                  <a:lnTo>
                    <a:pt x="460" y="958"/>
                  </a:lnTo>
                  <a:lnTo>
                    <a:pt x="456" y="958"/>
                  </a:lnTo>
                  <a:lnTo>
                    <a:pt x="454" y="956"/>
                  </a:lnTo>
                  <a:lnTo>
                    <a:pt x="452" y="952"/>
                  </a:lnTo>
                  <a:lnTo>
                    <a:pt x="450" y="948"/>
                  </a:lnTo>
                  <a:lnTo>
                    <a:pt x="452" y="910"/>
                  </a:lnTo>
                  <a:close/>
                  <a:moveTo>
                    <a:pt x="442" y="870"/>
                  </a:moveTo>
                  <a:lnTo>
                    <a:pt x="444" y="830"/>
                  </a:lnTo>
                  <a:lnTo>
                    <a:pt x="444" y="830"/>
                  </a:lnTo>
                  <a:lnTo>
                    <a:pt x="444" y="826"/>
                  </a:lnTo>
                  <a:lnTo>
                    <a:pt x="446" y="824"/>
                  </a:lnTo>
                  <a:lnTo>
                    <a:pt x="450" y="822"/>
                  </a:lnTo>
                  <a:lnTo>
                    <a:pt x="454" y="820"/>
                  </a:lnTo>
                  <a:lnTo>
                    <a:pt x="496" y="820"/>
                  </a:lnTo>
                  <a:lnTo>
                    <a:pt x="496" y="820"/>
                  </a:lnTo>
                  <a:lnTo>
                    <a:pt x="500" y="822"/>
                  </a:lnTo>
                  <a:lnTo>
                    <a:pt x="502" y="824"/>
                  </a:lnTo>
                  <a:lnTo>
                    <a:pt x="504" y="826"/>
                  </a:lnTo>
                  <a:lnTo>
                    <a:pt x="504" y="830"/>
                  </a:lnTo>
                  <a:lnTo>
                    <a:pt x="504" y="870"/>
                  </a:lnTo>
                  <a:lnTo>
                    <a:pt x="504" y="870"/>
                  </a:lnTo>
                  <a:lnTo>
                    <a:pt x="504" y="874"/>
                  </a:lnTo>
                  <a:lnTo>
                    <a:pt x="502" y="878"/>
                  </a:lnTo>
                  <a:lnTo>
                    <a:pt x="498" y="880"/>
                  </a:lnTo>
                  <a:lnTo>
                    <a:pt x="494" y="880"/>
                  </a:lnTo>
                  <a:lnTo>
                    <a:pt x="452" y="880"/>
                  </a:lnTo>
                  <a:lnTo>
                    <a:pt x="452" y="880"/>
                  </a:lnTo>
                  <a:lnTo>
                    <a:pt x="448" y="880"/>
                  </a:lnTo>
                  <a:lnTo>
                    <a:pt x="446" y="878"/>
                  </a:lnTo>
                  <a:lnTo>
                    <a:pt x="444" y="874"/>
                  </a:lnTo>
                  <a:lnTo>
                    <a:pt x="442" y="870"/>
                  </a:lnTo>
                  <a:lnTo>
                    <a:pt x="442" y="870"/>
                  </a:lnTo>
                  <a:close/>
                  <a:moveTo>
                    <a:pt x="372" y="910"/>
                  </a:moveTo>
                  <a:lnTo>
                    <a:pt x="372" y="910"/>
                  </a:lnTo>
                  <a:lnTo>
                    <a:pt x="372" y="906"/>
                  </a:lnTo>
                  <a:lnTo>
                    <a:pt x="376" y="902"/>
                  </a:lnTo>
                  <a:lnTo>
                    <a:pt x="378" y="900"/>
                  </a:lnTo>
                  <a:lnTo>
                    <a:pt x="382" y="900"/>
                  </a:lnTo>
                  <a:lnTo>
                    <a:pt x="424" y="900"/>
                  </a:lnTo>
                  <a:lnTo>
                    <a:pt x="424" y="900"/>
                  </a:lnTo>
                  <a:lnTo>
                    <a:pt x="428" y="900"/>
                  </a:lnTo>
                  <a:lnTo>
                    <a:pt x="432" y="902"/>
                  </a:lnTo>
                  <a:lnTo>
                    <a:pt x="434" y="906"/>
                  </a:lnTo>
                  <a:lnTo>
                    <a:pt x="434" y="910"/>
                  </a:lnTo>
                  <a:lnTo>
                    <a:pt x="432" y="948"/>
                  </a:lnTo>
                  <a:lnTo>
                    <a:pt x="432" y="948"/>
                  </a:lnTo>
                  <a:lnTo>
                    <a:pt x="432" y="952"/>
                  </a:lnTo>
                  <a:lnTo>
                    <a:pt x="430" y="956"/>
                  </a:lnTo>
                  <a:lnTo>
                    <a:pt x="426" y="958"/>
                  </a:lnTo>
                  <a:lnTo>
                    <a:pt x="422" y="958"/>
                  </a:lnTo>
                  <a:lnTo>
                    <a:pt x="380" y="958"/>
                  </a:lnTo>
                  <a:lnTo>
                    <a:pt x="380" y="958"/>
                  </a:lnTo>
                  <a:lnTo>
                    <a:pt x="376" y="958"/>
                  </a:lnTo>
                  <a:lnTo>
                    <a:pt x="372" y="956"/>
                  </a:lnTo>
                  <a:lnTo>
                    <a:pt x="370" y="952"/>
                  </a:lnTo>
                  <a:lnTo>
                    <a:pt x="370" y="948"/>
                  </a:lnTo>
                  <a:lnTo>
                    <a:pt x="372" y="910"/>
                  </a:lnTo>
                  <a:close/>
                  <a:moveTo>
                    <a:pt x="364" y="870"/>
                  </a:moveTo>
                  <a:lnTo>
                    <a:pt x="366" y="830"/>
                  </a:lnTo>
                  <a:lnTo>
                    <a:pt x="366" y="830"/>
                  </a:lnTo>
                  <a:lnTo>
                    <a:pt x="366" y="826"/>
                  </a:lnTo>
                  <a:lnTo>
                    <a:pt x="368" y="824"/>
                  </a:lnTo>
                  <a:lnTo>
                    <a:pt x="372" y="822"/>
                  </a:lnTo>
                  <a:lnTo>
                    <a:pt x="376" y="820"/>
                  </a:lnTo>
                  <a:lnTo>
                    <a:pt x="418" y="820"/>
                  </a:lnTo>
                  <a:lnTo>
                    <a:pt x="418" y="820"/>
                  </a:lnTo>
                  <a:lnTo>
                    <a:pt x="422" y="822"/>
                  </a:lnTo>
                  <a:lnTo>
                    <a:pt x="424" y="824"/>
                  </a:lnTo>
                  <a:lnTo>
                    <a:pt x="426" y="826"/>
                  </a:lnTo>
                  <a:lnTo>
                    <a:pt x="426" y="830"/>
                  </a:lnTo>
                  <a:lnTo>
                    <a:pt x="426" y="870"/>
                  </a:lnTo>
                  <a:lnTo>
                    <a:pt x="426" y="870"/>
                  </a:lnTo>
                  <a:lnTo>
                    <a:pt x="424" y="874"/>
                  </a:lnTo>
                  <a:lnTo>
                    <a:pt x="422" y="878"/>
                  </a:lnTo>
                  <a:lnTo>
                    <a:pt x="420" y="880"/>
                  </a:lnTo>
                  <a:lnTo>
                    <a:pt x="416" y="880"/>
                  </a:lnTo>
                  <a:lnTo>
                    <a:pt x="372" y="880"/>
                  </a:lnTo>
                  <a:lnTo>
                    <a:pt x="372" y="880"/>
                  </a:lnTo>
                  <a:lnTo>
                    <a:pt x="368" y="880"/>
                  </a:lnTo>
                  <a:lnTo>
                    <a:pt x="366" y="878"/>
                  </a:lnTo>
                  <a:lnTo>
                    <a:pt x="364" y="874"/>
                  </a:lnTo>
                  <a:lnTo>
                    <a:pt x="364" y="870"/>
                  </a:lnTo>
                  <a:lnTo>
                    <a:pt x="364" y="870"/>
                  </a:lnTo>
                  <a:close/>
                  <a:moveTo>
                    <a:pt x="292" y="910"/>
                  </a:moveTo>
                  <a:lnTo>
                    <a:pt x="292" y="910"/>
                  </a:lnTo>
                  <a:lnTo>
                    <a:pt x="292" y="906"/>
                  </a:lnTo>
                  <a:lnTo>
                    <a:pt x="296" y="902"/>
                  </a:lnTo>
                  <a:lnTo>
                    <a:pt x="298" y="900"/>
                  </a:lnTo>
                  <a:lnTo>
                    <a:pt x="302" y="900"/>
                  </a:lnTo>
                  <a:lnTo>
                    <a:pt x="346" y="900"/>
                  </a:lnTo>
                  <a:lnTo>
                    <a:pt x="346" y="900"/>
                  </a:lnTo>
                  <a:lnTo>
                    <a:pt x="348" y="900"/>
                  </a:lnTo>
                  <a:lnTo>
                    <a:pt x="352" y="902"/>
                  </a:lnTo>
                  <a:lnTo>
                    <a:pt x="354" y="906"/>
                  </a:lnTo>
                  <a:lnTo>
                    <a:pt x="354" y="910"/>
                  </a:lnTo>
                  <a:lnTo>
                    <a:pt x="352" y="948"/>
                  </a:lnTo>
                  <a:lnTo>
                    <a:pt x="352" y="948"/>
                  </a:lnTo>
                  <a:lnTo>
                    <a:pt x="352" y="952"/>
                  </a:lnTo>
                  <a:lnTo>
                    <a:pt x="348" y="956"/>
                  </a:lnTo>
                  <a:lnTo>
                    <a:pt x="346" y="958"/>
                  </a:lnTo>
                  <a:lnTo>
                    <a:pt x="342" y="958"/>
                  </a:lnTo>
                  <a:lnTo>
                    <a:pt x="298" y="958"/>
                  </a:lnTo>
                  <a:lnTo>
                    <a:pt x="298" y="958"/>
                  </a:lnTo>
                  <a:lnTo>
                    <a:pt x="294" y="958"/>
                  </a:lnTo>
                  <a:lnTo>
                    <a:pt x="292" y="956"/>
                  </a:lnTo>
                  <a:lnTo>
                    <a:pt x="290" y="952"/>
                  </a:lnTo>
                  <a:lnTo>
                    <a:pt x="290" y="948"/>
                  </a:lnTo>
                  <a:lnTo>
                    <a:pt x="292" y="910"/>
                  </a:lnTo>
                  <a:close/>
                  <a:moveTo>
                    <a:pt x="284" y="870"/>
                  </a:moveTo>
                  <a:lnTo>
                    <a:pt x="288" y="830"/>
                  </a:lnTo>
                  <a:lnTo>
                    <a:pt x="288" y="830"/>
                  </a:lnTo>
                  <a:lnTo>
                    <a:pt x="288" y="826"/>
                  </a:lnTo>
                  <a:lnTo>
                    <a:pt x="290" y="824"/>
                  </a:lnTo>
                  <a:lnTo>
                    <a:pt x="294" y="822"/>
                  </a:lnTo>
                  <a:lnTo>
                    <a:pt x="298" y="820"/>
                  </a:lnTo>
                  <a:lnTo>
                    <a:pt x="340" y="820"/>
                  </a:lnTo>
                  <a:lnTo>
                    <a:pt x="340" y="820"/>
                  </a:lnTo>
                  <a:lnTo>
                    <a:pt x="344" y="822"/>
                  </a:lnTo>
                  <a:lnTo>
                    <a:pt x="346" y="824"/>
                  </a:lnTo>
                  <a:lnTo>
                    <a:pt x="348" y="826"/>
                  </a:lnTo>
                  <a:lnTo>
                    <a:pt x="348" y="830"/>
                  </a:lnTo>
                  <a:lnTo>
                    <a:pt x="346" y="870"/>
                  </a:lnTo>
                  <a:lnTo>
                    <a:pt x="346" y="870"/>
                  </a:lnTo>
                  <a:lnTo>
                    <a:pt x="346" y="874"/>
                  </a:lnTo>
                  <a:lnTo>
                    <a:pt x="342" y="878"/>
                  </a:lnTo>
                  <a:lnTo>
                    <a:pt x="340" y="880"/>
                  </a:lnTo>
                  <a:lnTo>
                    <a:pt x="336" y="880"/>
                  </a:lnTo>
                  <a:lnTo>
                    <a:pt x="294" y="880"/>
                  </a:lnTo>
                  <a:lnTo>
                    <a:pt x="294" y="880"/>
                  </a:lnTo>
                  <a:lnTo>
                    <a:pt x="290" y="880"/>
                  </a:lnTo>
                  <a:lnTo>
                    <a:pt x="286" y="878"/>
                  </a:lnTo>
                  <a:lnTo>
                    <a:pt x="284" y="874"/>
                  </a:lnTo>
                  <a:lnTo>
                    <a:pt x="284" y="870"/>
                  </a:lnTo>
                  <a:lnTo>
                    <a:pt x="284" y="870"/>
                  </a:lnTo>
                  <a:close/>
                  <a:moveTo>
                    <a:pt x="270" y="830"/>
                  </a:moveTo>
                  <a:lnTo>
                    <a:pt x="266" y="870"/>
                  </a:lnTo>
                  <a:lnTo>
                    <a:pt x="266" y="870"/>
                  </a:lnTo>
                  <a:lnTo>
                    <a:pt x="266" y="874"/>
                  </a:lnTo>
                  <a:lnTo>
                    <a:pt x="264" y="878"/>
                  </a:lnTo>
                  <a:lnTo>
                    <a:pt x="260" y="880"/>
                  </a:lnTo>
                  <a:lnTo>
                    <a:pt x="256" y="880"/>
                  </a:lnTo>
                  <a:lnTo>
                    <a:pt x="214" y="880"/>
                  </a:lnTo>
                  <a:lnTo>
                    <a:pt x="214" y="880"/>
                  </a:lnTo>
                  <a:lnTo>
                    <a:pt x="210" y="880"/>
                  </a:lnTo>
                  <a:lnTo>
                    <a:pt x="208" y="878"/>
                  </a:lnTo>
                  <a:lnTo>
                    <a:pt x="206" y="874"/>
                  </a:lnTo>
                  <a:lnTo>
                    <a:pt x="206" y="870"/>
                  </a:lnTo>
                  <a:lnTo>
                    <a:pt x="210" y="830"/>
                  </a:lnTo>
                  <a:lnTo>
                    <a:pt x="210" y="830"/>
                  </a:lnTo>
                  <a:lnTo>
                    <a:pt x="210" y="826"/>
                  </a:lnTo>
                  <a:lnTo>
                    <a:pt x="212" y="824"/>
                  </a:lnTo>
                  <a:lnTo>
                    <a:pt x="216" y="822"/>
                  </a:lnTo>
                  <a:lnTo>
                    <a:pt x="220" y="820"/>
                  </a:lnTo>
                  <a:lnTo>
                    <a:pt x="262" y="820"/>
                  </a:lnTo>
                  <a:lnTo>
                    <a:pt x="262" y="820"/>
                  </a:lnTo>
                  <a:lnTo>
                    <a:pt x="266" y="822"/>
                  </a:lnTo>
                  <a:lnTo>
                    <a:pt x="268" y="824"/>
                  </a:lnTo>
                  <a:lnTo>
                    <a:pt x="270" y="826"/>
                  </a:lnTo>
                  <a:lnTo>
                    <a:pt x="270" y="830"/>
                  </a:lnTo>
                  <a:lnTo>
                    <a:pt x="270" y="830"/>
                  </a:lnTo>
                  <a:close/>
                  <a:moveTo>
                    <a:pt x="132" y="830"/>
                  </a:moveTo>
                  <a:lnTo>
                    <a:pt x="132" y="830"/>
                  </a:lnTo>
                  <a:lnTo>
                    <a:pt x="132" y="826"/>
                  </a:lnTo>
                  <a:lnTo>
                    <a:pt x="136" y="824"/>
                  </a:lnTo>
                  <a:lnTo>
                    <a:pt x="138" y="822"/>
                  </a:lnTo>
                  <a:lnTo>
                    <a:pt x="142" y="820"/>
                  </a:lnTo>
                  <a:lnTo>
                    <a:pt x="184" y="820"/>
                  </a:lnTo>
                  <a:lnTo>
                    <a:pt x="184" y="820"/>
                  </a:lnTo>
                  <a:lnTo>
                    <a:pt x="186" y="822"/>
                  </a:lnTo>
                  <a:lnTo>
                    <a:pt x="190" y="824"/>
                  </a:lnTo>
                  <a:lnTo>
                    <a:pt x="192" y="826"/>
                  </a:lnTo>
                  <a:lnTo>
                    <a:pt x="192" y="830"/>
                  </a:lnTo>
                  <a:lnTo>
                    <a:pt x="188" y="870"/>
                  </a:lnTo>
                  <a:lnTo>
                    <a:pt x="188" y="870"/>
                  </a:lnTo>
                  <a:lnTo>
                    <a:pt x="186" y="874"/>
                  </a:lnTo>
                  <a:lnTo>
                    <a:pt x="184" y="878"/>
                  </a:lnTo>
                  <a:lnTo>
                    <a:pt x="180" y="880"/>
                  </a:lnTo>
                  <a:lnTo>
                    <a:pt x="178" y="880"/>
                  </a:lnTo>
                  <a:lnTo>
                    <a:pt x="136" y="880"/>
                  </a:lnTo>
                  <a:lnTo>
                    <a:pt x="136" y="880"/>
                  </a:lnTo>
                  <a:lnTo>
                    <a:pt x="132" y="880"/>
                  </a:lnTo>
                  <a:lnTo>
                    <a:pt x="128" y="878"/>
                  </a:lnTo>
                  <a:lnTo>
                    <a:pt x="128" y="874"/>
                  </a:lnTo>
                  <a:lnTo>
                    <a:pt x="128" y="870"/>
                  </a:lnTo>
                  <a:lnTo>
                    <a:pt x="132" y="830"/>
                  </a:lnTo>
                  <a:close/>
                  <a:moveTo>
                    <a:pt x="122" y="908"/>
                  </a:moveTo>
                  <a:lnTo>
                    <a:pt x="122" y="908"/>
                  </a:lnTo>
                  <a:lnTo>
                    <a:pt x="124" y="906"/>
                  </a:lnTo>
                  <a:lnTo>
                    <a:pt x="126" y="902"/>
                  </a:lnTo>
                  <a:lnTo>
                    <a:pt x="130" y="900"/>
                  </a:lnTo>
                  <a:lnTo>
                    <a:pt x="134" y="900"/>
                  </a:lnTo>
                  <a:lnTo>
                    <a:pt x="186" y="900"/>
                  </a:lnTo>
                  <a:lnTo>
                    <a:pt x="186" y="900"/>
                  </a:lnTo>
                  <a:lnTo>
                    <a:pt x="190" y="900"/>
                  </a:lnTo>
                  <a:lnTo>
                    <a:pt x="192" y="902"/>
                  </a:lnTo>
                  <a:lnTo>
                    <a:pt x="194" y="906"/>
                  </a:lnTo>
                  <a:lnTo>
                    <a:pt x="194" y="908"/>
                  </a:lnTo>
                  <a:lnTo>
                    <a:pt x="190" y="948"/>
                  </a:lnTo>
                  <a:lnTo>
                    <a:pt x="190" y="948"/>
                  </a:lnTo>
                  <a:lnTo>
                    <a:pt x="190" y="952"/>
                  </a:lnTo>
                  <a:lnTo>
                    <a:pt x="186" y="956"/>
                  </a:lnTo>
                  <a:lnTo>
                    <a:pt x="184" y="958"/>
                  </a:lnTo>
                  <a:lnTo>
                    <a:pt x="180" y="958"/>
                  </a:lnTo>
                  <a:lnTo>
                    <a:pt x="126" y="958"/>
                  </a:lnTo>
                  <a:lnTo>
                    <a:pt x="126" y="958"/>
                  </a:lnTo>
                  <a:lnTo>
                    <a:pt x="122" y="958"/>
                  </a:lnTo>
                  <a:lnTo>
                    <a:pt x="120" y="956"/>
                  </a:lnTo>
                  <a:lnTo>
                    <a:pt x="118" y="952"/>
                  </a:lnTo>
                  <a:lnTo>
                    <a:pt x="118" y="948"/>
                  </a:lnTo>
                  <a:lnTo>
                    <a:pt x="122" y="908"/>
                  </a:lnTo>
                  <a:close/>
                  <a:moveTo>
                    <a:pt x="158" y="1028"/>
                  </a:moveTo>
                  <a:lnTo>
                    <a:pt x="158" y="1028"/>
                  </a:lnTo>
                  <a:lnTo>
                    <a:pt x="158" y="1032"/>
                  </a:lnTo>
                  <a:lnTo>
                    <a:pt x="154" y="1034"/>
                  </a:lnTo>
                  <a:lnTo>
                    <a:pt x="152" y="1036"/>
                  </a:lnTo>
                  <a:lnTo>
                    <a:pt x="148" y="1038"/>
                  </a:lnTo>
                  <a:lnTo>
                    <a:pt x="118" y="1038"/>
                  </a:lnTo>
                  <a:lnTo>
                    <a:pt x="118" y="1038"/>
                  </a:lnTo>
                  <a:lnTo>
                    <a:pt x="114" y="1036"/>
                  </a:lnTo>
                  <a:lnTo>
                    <a:pt x="110" y="1034"/>
                  </a:lnTo>
                  <a:lnTo>
                    <a:pt x="108" y="1032"/>
                  </a:lnTo>
                  <a:lnTo>
                    <a:pt x="108" y="1028"/>
                  </a:lnTo>
                  <a:lnTo>
                    <a:pt x="114" y="988"/>
                  </a:lnTo>
                  <a:lnTo>
                    <a:pt x="114" y="988"/>
                  </a:lnTo>
                  <a:lnTo>
                    <a:pt x="114" y="984"/>
                  </a:lnTo>
                  <a:lnTo>
                    <a:pt x="116" y="980"/>
                  </a:lnTo>
                  <a:lnTo>
                    <a:pt x="120" y="978"/>
                  </a:lnTo>
                  <a:lnTo>
                    <a:pt x="124" y="978"/>
                  </a:lnTo>
                  <a:lnTo>
                    <a:pt x="154" y="978"/>
                  </a:lnTo>
                  <a:lnTo>
                    <a:pt x="154" y="978"/>
                  </a:lnTo>
                  <a:lnTo>
                    <a:pt x="158" y="978"/>
                  </a:lnTo>
                  <a:lnTo>
                    <a:pt x="160" y="980"/>
                  </a:lnTo>
                  <a:lnTo>
                    <a:pt x="162" y="984"/>
                  </a:lnTo>
                  <a:lnTo>
                    <a:pt x="162" y="988"/>
                  </a:lnTo>
                  <a:lnTo>
                    <a:pt x="158" y="1028"/>
                  </a:lnTo>
                  <a:close/>
                  <a:moveTo>
                    <a:pt x="250" y="1028"/>
                  </a:moveTo>
                  <a:lnTo>
                    <a:pt x="250" y="1028"/>
                  </a:lnTo>
                  <a:lnTo>
                    <a:pt x="248" y="1032"/>
                  </a:lnTo>
                  <a:lnTo>
                    <a:pt x="246" y="1034"/>
                  </a:lnTo>
                  <a:lnTo>
                    <a:pt x="244" y="1036"/>
                  </a:lnTo>
                  <a:lnTo>
                    <a:pt x="240" y="1038"/>
                  </a:lnTo>
                  <a:lnTo>
                    <a:pt x="186" y="1038"/>
                  </a:lnTo>
                  <a:lnTo>
                    <a:pt x="186" y="1038"/>
                  </a:lnTo>
                  <a:lnTo>
                    <a:pt x="182" y="1036"/>
                  </a:lnTo>
                  <a:lnTo>
                    <a:pt x="180" y="1034"/>
                  </a:lnTo>
                  <a:lnTo>
                    <a:pt x="178" y="1032"/>
                  </a:lnTo>
                  <a:lnTo>
                    <a:pt x="176" y="1028"/>
                  </a:lnTo>
                  <a:lnTo>
                    <a:pt x="180" y="988"/>
                  </a:lnTo>
                  <a:lnTo>
                    <a:pt x="180" y="988"/>
                  </a:lnTo>
                  <a:lnTo>
                    <a:pt x="182" y="984"/>
                  </a:lnTo>
                  <a:lnTo>
                    <a:pt x="184" y="980"/>
                  </a:lnTo>
                  <a:lnTo>
                    <a:pt x="188" y="978"/>
                  </a:lnTo>
                  <a:lnTo>
                    <a:pt x="192" y="978"/>
                  </a:lnTo>
                  <a:lnTo>
                    <a:pt x="244" y="978"/>
                  </a:lnTo>
                  <a:lnTo>
                    <a:pt x="244" y="978"/>
                  </a:lnTo>
                  <a:lnTo>
                    <a:pt x="248" y="978"/>
                  </a:lnTo>
                  <a:lnTo>
                    <a:pt x="250" y="980"/>
                  </a:lnTo>
                  <a:lnTo>
                    <a:pt x="252" y="984"/>
                  </a:lnTo>
                  <a:lnTo>
                    <a:pt x="254" y="988"/>
                  </a:lnTo>
                  <a:lnTo>
                    <a:pt x="250" y="1028"/>
                  </a:lnTo>
                  <a:close/>
                  <a:moveTo>
                    <a:pt x="260" y="958"/>
                  </a:moveTo>
                  <a:lnTo>
                    <a:pt x="218" y="958"/>
                  </a:lnTo>
                  <a:lnTo>
                    <a:pt x="218" y="958"/>
                  </a:lnTo>
                  <a:lnTo>
                    <a:pt x="214" y="958"/>
                  </a:lnTo>
                  <a:lnTo>
                    <a:pt x="210" y="956"/>
                  </a:lnTo>
                  <a:lnTo>
                    <a:pt x="208" y="952"/>
                  </a:lnTo>
                  <a:lnTo>
                    <a:pt x="208" y="948"/>
                  </a:lnTo>
                  <a:lnTo>
                    <a:pt x="212" y="910"/>
                  </a:lnTo>
                  <a:lnTo>
                    <a:pt x="212" y="910"/>
                  </a:lnTo>
                  <a:lnTo>
                    <a:pt x="214" y="906"/>
                  </a:lnTo>
                  <a:lnTo>
                    <a:pt x="216" y="902"/>
                  </a:lnTo>
                  <a:lnTo>
                    <a:pt x="218" y="900"/>
                  </a:lnTo>
                  <a:lnTo>
                    <a:pt x="222" y="900"/>
                  </a:lnTo>
                  <a:lnTo>
                    <a:pt x="266" y="900"/>
                  </a:lnTo>
                  <a:lnTo>
                    <a:pt x="266" y="900"/>
                  </a:lnTo>
                  <a:lnTo>
                    <a:pt x="270" y="900"/>
                  </a:lnTo>
                  <a:lnTo>
                    <a:pt x="272" y="902"/>
                  </a:lnTo>
                  <a:lnTo>
                    <a:pt x="274" y="906"/>
                  </a:lnTo>
                  <a:lnTo>
                    <a:pt x="274" y="910"/>
                  </a:lnTo>
                  <a:lnTo>
                    <a:pt x="272" y="948"/>
                  </a:lnTo>
                  <a:lnTo>
                    <a:pt x="272" y="948"/>
                  </a:lnTo>
                  <a:lnTo>
                    <a:pt x="270" y="952"/>
                  </a:lnTo>
                  <a:lnTo>
                    <a:pt x="268" y="956"/>
                  </a:lnTo>
                  <a:lnTo>
                    <a:pt x="264" y="958"/>
                  </a:lnTo>
                  <a:lnTo>
                    <a:pt x="260" y="958"/>
                  </a:lnTo>
                  <a:lnTo>
                    <a:pt x="260" y="958"/>
                  </a:lnTo>
                  <a:close/>
                  <a:moveTo>
                    <a:pt x="772" y="1038"/>
                  </a:moveTo>
                  <a:lnTo>
                    <a:pt x="278" y="1038"/>
                  </a:lnTo>
                  <a:lnTo>
                    <a:pt x="278" y="1038"/>
                  </a:lnTo>
                  <a:lnTo>
                    <a:pt x="274" y="1036"/>
                  </a:lnTo>
                  <a:lnTo>
                    <a:pt x="270" y="1034"/>
                  </a:lnTo>
                  <a:lnTo>
                    <a:pt x="268" y="1032"/>
                  </a:lnTo>
                  <a:lnTo>
                    <a:pt x="268" y="1028"/>
                  </a:lnTo>
                  <a:lnTo>
                    <a:pt x="272" y="988"/>
                  </a:lnTo>
                  <a:lnTo>
                    <a:pt x="272" y="988"/>
                  </a:lnTo>
                  <a:lnTo>
                    <a:pt x="272" y="984"/>
                  </a:lnTo>
                  <a:lnTo>
                    <a:pt x="274" y="980"/>
                  </a:lnTo>
                  <a:lnTo>
                    <a:pt x="278" y="978"/>
                  </a:lnTo>
                  <a:lnTo>
                    <a:pt x="282" y="978"/>
                  </a:lnTo>
                  <a:lnTo>
                    <a:pt x="768" y="978"/>
                  </a:lnTo>
                  <a:lnTo>
                    <a:pt x="768" y="978"/>
                  </a:lnTo>
                  <a:lnTo>
                    <a:pt x="772" y="978"/>
                  </a:lnTo>
                  <a:lnTo>
                    <a:pt x="776" y="980"/>
                  </a:lnTo>
                  <a:lnTo>
                    <a:pt x="778" y="984"/>
                  </a:lnTo>
                  <a:lnTo>
                    <a:pt x="780" y="988"/>
                  </a:lnTo>
                  <a:lnTo>
                    <a:pt x="782" y="1028"/>
                  </a:lnTo>
                  <a:lnTo>
                    <a:pt x="782" y="1028"/>
                  </a:lnTo>
                  <a:lnTo>
                    <a:pt x="782" y="1032"/>
                  </a:lnTo>
                  <a:lnTo>
                    <a:pt x="780" y="1034"/>
                  </a:lnTo>
                  <a:lnTo>
                    <a:pt x="776" y="1036"/>
                  </a:lnTo>
                  <a:lnTo>
                    <a:pt x="772" y="1038"/>
                  </a:lnTo>
                  <a:lnTo>
                    <a:pt x="772" y="1038"/>
                  </a:lnTo>
                  <a:close/>
                  <a:moveTo>
                    <a:pt x="774" y="948"/>
                  </a:moveTo>
                  <a:lnTo>
                    <a:pt x="772" y="910"/>
                  </a:lnTo>
                  <a:lnTo>
                    <a:pt x="772" y="910"/>
                  </a:lnTo>
                  <a:lnTo>
                    <a:pt x="772" y="906"/>
                  </a:lnTo>
                  <a:lnTo>
                    <a:pt x="774" y="902"/>
                  </a:lnTo>
                  <a:lnTo>
                    <a:pt x="778" y="900"/>
                  </a:lnTo>
                  <a:lnTo>
                    <a:pt x="780" y="900"/>
                  </a:lnTo>
                  <a:lnTo>
                    <a:pt x="824" y="900"/>
                  </a:lnTo>
                  <a:lnTo>
                    <a:pt x="824" y="900"/>
                  </a:lnTo>
                  <a:lnTo>
                    <a:pt x="828" y="900"/>
                  </a:lnTo>
                  <a:lnTo>
                    <a:pt x="830" y="902"/>
                  </a:lnTo>
                  <a:lnTo>
                    <a:pt x="834" y="906"/>
                  </a:lnTo>
                  <a:lnTo>
                    <a:pt x="834" y="910"/>
                  </a:lnTo>
                  <a:lnTo>
                    <a:pt x="838" y="948"/>
                  </a:lnTo>
                  <a:lnTo>
                    <a:pt x="838" y="948"/>
                  </a:lnTo>
                  <a:lnTo>
                    <a:pt x="836" y="952"/>
                  </a:lnTo>
                  <a:lnTo>
                    <a:pt x="834" y="956"/>
                  </a:lnTo>
                  <a:lnTo>
                    <a:pt x="832" y="958"/>
                  </a:lnTo>
                  <a:lnTo>
                    <a:pt x="828" y="958"/>
                  </a:lnTo>
                  <a:lnTo>
                    <a:pt x="784" y="958"/>
                  </a:lnTo>
                  <a:lnTo>
                    <a:pt x="784" y="958"/>
                  </a:lnTo>
                  <a:lnTo>
                    <a:pt x="780" y="958"/>
                  </a:lnTo>
                  <a:lnTo>
                    <a:pt x="778" y="956"/>
                  </a:lnTo>
                  <a:lnTo>
                    <a:pt x="776" y="952"/>
                  </a:lnTo>
                  <a:lnTo>
                    <a:pt x="774" y="948"/>
                  </a:lnTo>
                  <a:lnTo>
                    <a:pt x="774" y="948"/>
                  </a:lnTo>
                  <a:close/>
                  <a:moveTo>
                    <a:pt x="864" y="1038"/>
                  </a:moveTo>
                  <a:lnTo>
                    <a:pt x="810" y="1038"/>
                  </a:lnTo>
                  <a:lnTo>
                    <a:pt x="810" y="1038"/>
                  </a:lnTo>
                  <a:lnTo>
                    <a:pt x="806" y="1036"/>
                  </a:lnTo>
                  <a:lnTo>
                    <a:pt x="804" y="1034"/>
                  </a:lnTo>
                  <a:lnTo>
                    <a:pt x="802" y="1032"/>
                  </a:lnTo>
                  <a:lnTo>
                    <a:pt x="800" y="1028"/>
                  </a:lnTo>
                  <a:lnTo>
                    <a:pt x="798" y="988"/>
                  </a:lnTo>
                  <a:lnTo>
                    <a:pt x="798" y="988"/>
                  </a:lnTo>
                  <a:lnTo>
                    <a:pt x="798" y="984"/>
                  </a:lnTo>
                  <a:lnTo>
                    <a:pt x="800" y="980"/>
                  </a:lnTo>
                  <a:lnTo>
                    <a:pt x="802" y="978"/>
                  </a:lnTo>
                  <a:lnTo>
                    <a:pt x="806" y="978"/>
                  </a:lnTo>
                  <a:lnTo>
                    <a:pt x="860" y="978"/>
                  </a:lnTo>
                  <a:lnTo>
                    <a:pt x="860" y="978"/>
                  </a:lnTo>
                  <a:lnTo>
                    <a:pt x="864" y="978"/>
                  </a:lnTo>
                  <a:lnTo>
                    <a:pt x="866" y="980"/>
                  </a:lnTo>
                  <a:lnTo>
                    <a:pt x="868" y="984"/>
                  </a:lnTo>
                  <a:lnTo>
                    <a:pt x="870" y="988"/>
                  </a:lnTo>
                  <a:lnTo>
                    <a:pt x="874" y="1028"/>
                  </a:lnTo>
                  <a:lnTo>
                    <a:pt x="874" y="1028"/>
                  </a:lnTo>
                  <a:lnTo>
                    <a:pt x="872" y="1032"/>
                  </a:lnTo>
                  <a:lnTo>
                    <a:pt x="870" y="1034"/>
                  </a:lnTo>
                  <a:lnTo>
                    <a:pt x="868" y="1036"/>
                  </a:lnTo>
                  <a:lnTo>
                    <a:pt x="864" y="1038"/>
                  </a:lnTo>
                  <a:lnTo>
                    <a:pt x="864" y="1038"/>
                  </a:lnTo>
                  <a:close/>
                  <a:moveTo>
                    <a:pt x="992" y="1038"/>
                  </a:moveTo>
                  <a:lnTo>
                    <a:pt x="902" y="1038"/>
                  </a:lnTo>
                  <a:lnTo>
                    <a:pt x="902" y="1038"/>
                  </a:lnTo>
                  <a:lnTo>
                    <a:pt x="898" y="1036"/>
                  </a:lnTo>
                  <a:lnTo>
                    <a:pt x="896" y="1034"/>
                  </a:lnTo>
                  <a:lnTo>
                    <a:pt x="892" y="1032"/>
                  </a:lnTo>
                  <a:lnTo>
                    <a:pt x="892" y="1028"/>
                  </a:lnTo>
                  <a:lnTo>
                    <a:pt x="888" y="988"/>
                  </a:lnTo>
                  <a:lnTo>
                    <a:pt x="888" y="988"/>
                  </a:lnTo>
                  <a:lnTo>
                    <a:pt x="888" y="984"/>
                  </a:lnTo>
                  <a:lnTo>
                    <a:pt x="890" y="980"/>
                  </a:lnTo>
                  <a:lnTo>
                    <a:pt x="894" y="978"/>
                  </a:lnTo>
                  <a:lnTo>
                    <a:pt x="896" y="978"/>
                  </a:lnTo>
                  <a:lnTo>
                    <a:pt x="986" y="978"/>
                  </a:lnTo>
                  <a:lnTo>
                    <a:pt x="986" y="978"/>
                  </a:lnTo>
                  <a:lnTo>
                    <a:pt x="990" y="978"/>
                  </a:lnTo>
                  <a:lnTo>
                    <a:pt x="992" y="980"/>
                  </a:lnTo>
                  <a:lnTo>
                    <a:pt x="994" y="984"/>
                  </a:lnTo>
                  <a:lnTo>
                    <a:pt x="996" y="988"/>
                  </a:lnTo>
                  <a:lnTo>
                    <a:pt x="1000" y="1028"/>
                  </a:lnTo>
                  <a:lnTo>
                    <a:pt x="1000" y="1028"/>
                  </a:lnTo>
                  <a:lnTo>
                    <a:pt x="1000" y="1032"/>
                  </a:lnTo>
                  <a:lnTo>
                    <a:pt x="998" y="1034"/>
                  </a:lnTo>
                  <a:lnTo>
                    <a:pt x="996" y="1036"/>
                  </a:lnTo>
                  <a:lnTo>
                    <a:pt x="992" y="1038"/>
                  </a:lnTo>
                  <a:lnTo>
                    <a:pt x="992" y="1038"/>
                  </a:lnTo>
                  <a:close/>
                </a:path>
              </a:pathLst>
            </a:custGeom>
            <a:solidFill>
              <a:srgbClr val="007CB0"/>
            </a:solidFill>
            <a:ln>
              <a:noFill/>
            </a:ln>
          </p:spPr>
          <p:txBody>
            <a:bodyPr vert="horz" wrap="square" lIns="68750" tIns="34375" rIns="68750" bIns="34375" numCol="1" anchor="t" anchorCtr="0" compatLnSpc="1">
              <a:prstTxWarp prst="textNoShape">
                <a:avLst/>
              </a:prstTxWarp>
            </a:bodyP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1200" cap="none" spc="0" normalizeH="0" baseline="0" noProof="0">
                <a:ln>
                  <a:noFill/>
                </a:ln>
                <a:solidFill>
                  <a:srgbClr val="000000"/>
                </a:solidFill>
                <a:effectLst/>
                <a:uLnTx/>
                <a:uFillTx/>
                <a:latin typeface="Calibri" panose="020F0502020204030204"/>
                <a:ea typeface="+mn-ea"/>
                <a:cs typeface="Arial" pitchFamily="34" charset="0"/>
              </a:endParaRPr>
            </a:p>
          </p:txBody>
        </p:sp>
        <p:sp>
          <p:nvSpPr>
            <p:cNvPr id="16" name="Rectangle 15">
              <a:extLst>
                <a:ext uri="{FF2B5EF4-FFF2-40B4-BE49-F238E27FC236}">
                  <a16:creationId xmlns:a16="http://schemas.microsoft.com/office/drawing/2014/main" id="{9A3934CA-FFDC-4497-98A6-B1C156FA9BC5}"/>
                </a:ext>
              </a:extLst>
            </p:cNvPr>
            <p:cNvSpPr/>
            <p:nvPr/>
          </p:nvSpPr>
          <p:spPr bwMode="gray">
            <a:xfrm>
              <a:off x="6989986" y="860005"/>
              <a:ext cx="739934" cy="380941"/>
            </a:xfrm>
            <a:prstGeom prst="rect">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Business Event</a:t>
              </a:r>
            </a:p>
          </p:txBody>
        </p:sp>
        <p:sp>
          <p:nvSpPr>
            <p:cNvPr id="17" name="Flowchart: Magnetic Disk 16">
              <a:extLst>
                <a:ext uri="{FF2B5EF4-FFF2-40B4-BE49-F238E27FC236}">
                  <a16:creationId xmlns:a16="http://schemas.microsoft.com/office/drawing/2014/main" id="{46E548F4-09FF-4125-BC08-558DF1E36CDE}"/>
                </a:ext>
              </a:extLst>
            </p:cNvPr>
            <p:cNvSpPr/>
            <p:nvPr/>
          </p:nvSpPr>
          <p:spPr bwMode="gray">
            <a:xfrm>
              <a:off x="8342346" y="830493"/>
              <a:ext cx="591954" cy="410453"/>
            </a:xfrm>
            <a:prstGeom prst="flowChartMagneticDisk">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Staging Tables</a:t>
              </a:r>
            </a:p>
          </p:txBody>
        </p:sp>
        <p:sp>
          <p:nvSpPr>
            <p:cNvPr id="18" name="TextBox 17">
              <a:extLst>
                <a:ext uri="{FF2B5EF4-FFF2-40B4-BE49-F238E27FC236}">
                  <a16:creationId xmlns:a16="http://schemas.microsoft.com/office/drawing/2014/main" id="{BDAFF9E0-7A51-4E7F-890B-2C59D78358C1}"/>
                </a:ext>
              </a:extLst>
            </p:cNvPr>
            <p:cNvSpPr txBox="1"/>
            <p:nvPr/>
          </p:nvSpPr>
          <p:spPr>
            <a:xfrm>
              <a:off x="7729921" y="900804"/>
              <a:ext cx="495210" cy="142376"/>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800" b="1" i="0" u="none" strike="noStrike" kern="1200" cap="none" spc="0" normalizeH="0" baseline="0" noProof="0">
                <a:ln>
                  <a:noFill/>
                </a:ln>
                <a:solidFill>
                  <a:srgbClr val="86BC25"/>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8D4D7746-8D97-43A1-9636-F433622FAD57}"/>
                </a:ext>
              </a:extLst>
            </p:cNvPr>
            <p:cNvCxnSpPr>
              <a:cxnSpLocks/>
            </p:cNvCxnSpPr>
            <p:nvPr/>
          </p:nvCxnSpPr>
          <p:spPr>
            <a:xfrm>
              <a:off x="7730271" y="1052190"/>
              <a:ext cx="616070" cy="455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73DC63D-FD86-4E26-93DE-A6C442FEE84B}"/>
                </a:ext>
              </a:extLst>
            </p:cNvPr>
            <p:cNvSpPr/>
            <p:nvPr/>
          </p:nvSpPr>
          <p:spPr bwMode="gray">
            <a:xfrm>
              <a:off x="8289441" y="1679533"/>
              <a:ext cx="783442" cy="313060"/>
            </a:xfrm>
            <a:prstGeom prst="rect">
              <a:avLst/>
            </a:prstGeom>
            <a:solidFill>
              <a:schemeClr val="bg1">
                <a:lumMod val="65000"/>
              </a:schemeClr>
            </a:solidFill>
            <a:ln w="19050" algn="ctr">
              <a:solidFill>
                <a:schemeClr val="bg1">
                  <a:lumMod val="6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white"/>
                  </a:solidFill>
                  <a:effectLst/>
                  <a:uLnTx/>
                  <a:uFillTx/>
                  <a:latin typeface="Calibri" panose="020F0502020204030204"/>
                  <a:ea typeface="+mn-ea"/>
                  <a:cs typeface="+mn-cs"/>
                </a:rPr>
                <a:t>POM</a:t>
              </a:r>
            </a:p>
          </p:txBody>
        </p:sp>
        <p:sp>
          <p:nvSpPr>
            <p:cNvPr id="21" name="Rectangle: Rounded Corners 20">
              <a:extLst>
                <a:ext uri="{FF2B5EF4-FFF2-40B4-BE49-F238E27FC236}">
                  <a16:creationId xmlns:a16="http://schemas.microsoft.com/office/drawing/2014/main" id="{6E7690AA-C1B5-4C10-8BD8-78475417F196}"/>
                </a:ext>
              </a:extLst>
            </p:cNvPr>
            <p:cNvSpPr/>
            <p:nvPr/>
          </p:nvSpPr>
          <p:spPr bwMode="gray">
            <a:xfrm>
              <a:off x="7915325" y="2726662"/>
              <a:ext cx="1552555" cy="735040"/>
            </a:xfrm>
            <a:prstGeom prst="roundRect">
              <a:avLst/>
            </a:prstGeom>
            <a:solidFill>
              <a:schemeClr val="bg1"/>
            </a:solidFill>
            <a:ln w="19050" algn="ctr">
              <a:solidFill>
                <a:srgbClr val="007CB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JSON TABLES</a:t>
              </a:r>
            </a:p>
          </p:txBody>
        </p:sp>
        <p:cxnSp>
          <p:nvCxnSpPr>
            <p:cNvPr id="22" name="Straight Arrow Connector 21">
              <a:extLst>
                <a:ext uri="{FF2B5EF4-FFF2-40B4-BE49-F238E27FC236}">
                  <a16:creationId xmlns:a16="http://schemas.microsoft.com/office/drawing/2014/main" id="{5BF6E086-258C-48E2-91E4-18CA8DACD83D}"/>
                </a:ext>
              </a:extLst>
            </p:cNvPr>
            <p:cNvCxnSpPr>
              <a:cxnSpLocks/>
            </p:cNvCxnSpPr>
            <p:nvPr/>
          </p:nvCxnSpPr>
          <p:spPr>
            <a:xfrm>
              <a:off x="8672238" y="1996177"/>
              <a:ext cx="0" cy="73898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CEB51CD-0253-4571-A15F-7592339C813A}"/>
                </a:ext>
              </a:extLst>
            </p:cNvPr>
            <p:cNvCxnSpPr>
              <a:cxnSpLocks/>
              <a:stCxn id="13" idx="6"/>
              <a:endCxn id="16" idx="1"/>
            </p:cNvCxnSpPr>
            <p:nvPr/>
          </p:nvCxnSpPr>
          <p:spPr>
            <a:xfrm flipV="1">
              <a:off x="6514583" y="1050477"/>
              <a:ext cx="475403" cy="156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E87ECB5-3058-45D2-B6DF-A5F793FD76A7}"/>
                </a:ext>
              </a:extLst>
            </p:cNvPr>
            <p:cNvSpPr txBox="1"/>
            <p:nvPr/>
          </p:nvSpPr>
          <p:spPr>
            <a:xfrm>
              <a:off x="5465172" y="1063579"/>
              <a:ext cx="569041" cy="13396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800" b="0" i="0" u="none" strike="noStrike" kern="1200" cap="none" spc="0" normalizeH="0" baseline="0" noProof="0">
                  <a:ln>
                    <a:noFill/>
                  </a:ln>
                  <a:solidFill>
                    <a:srgbClr val="313131"/>
                  </a:solidFill>
                  <a:effectLst/>
                  <a:uLnTx/>
                  <a:uFillTx/>
                  <a:latin typeface="Calibri" panose="020F0502020204030204"/>
                  <a:ea typeface="+mn-ea"/>
                  <a:cs typeface="+mn-cs"/>
                </a:rPr>
                <a:t>MFCS/PCS</a:t>
              </a:r>
            </a:p>
          </p:txBody>
        </p:sp>
        <p:sp>
          <p:nvSpPr>
            <p:cNvPr id="25" name="Oval 24">
              <a:extLst>
                <a:ext uri="{FF2B5EF4-FFF2-40B4-BE49-F238E27FC236}">
                  <a16:creationId xmlns:a16="http://schemas.microsoft.com/office/drawing/2014/main" id="{6819FDC0-2E66-45E6-A2FC-E93F26FC6404}"/>
                </a:ext>
              </a:extLst>
            </p:cNvPr>
            <p:cNvSpPr/>
            <p:nvPr/>
          </p:nvSpPr>
          <p:spPr>
            <a:xfrm>
              <a:off x="7867794" y="1103171"/>
              <a:ext cx="164647" cy="15598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1</a:t>
              </a:r>
            </a:p>
          </p:txBody>
        </p:sp>
        <p:sp>
          <p:nvSpPr>
            <p:cNvPr id="26" name="Freeform 997">
              <a:extLst>
                <a:ext uri="{FF2B5EF4-FFF2-40B4-BE49-F238E27FC236}">
                  <a16:creationId xmlns:a16="http://schemas.microsoft.com/office/drawing/2014/main" id="{A9A5AD3D-D938-49F0-B995-2816DAB6B7E2}"/>
                </a:ext>
              </a:extLst>
            </p:cNvPr>
            <p:cNvSpPr>
              <a:spLocks noChangeAspect="1" noEditPoints="1"/>
            </p:cNvSpPr>
            <p:nvPr/>
          </p:nvSpPr>
          <p:spPr bwMode="auto">
            <a:xfrm>
              <a:off x="5645684" y="654002"/>
              <a:ext cx="294558" cy="366836"/>
            </a:xfrm>
            <a:custGeom>
              <a:avLst/>
              <a:gdLst>
                <a:gd name="T0" fmla="*/ 394 w 512"/>
                <a:gd name="T1" fmla="*/ 280 h 512"/>
                <a:gd name="T2" fmla="*/ 365 w 512"/>
                <a:gd name="T3" fmla="*/ 309 h 512"/>
                <a:gd name="T4" fmla="*/ 167 w 512"/>
                <a:gd name="T5" fmla="*/ 309 h 512"/>
                <a:gd name="T6" fmla="*/ 117 w 512"/>
                <a:gd name="T7" fmla="*/ 259 h 512"/>
                <a:gd name="T8" fmla="*/ 167 w 512"/>
                <a:gd name="T9" fmla="*/ 210 h 512"/>
                <a:gd name="T10" fmla="*/ 189 w 512"/>
                <a:gd name="T11" fmla="*/ 217 h 512"/>
                <a:gd name="T12" fmla="*/ 199 w 512"/>
                <a:gd name="T13" fmla="*/ 221 h 512"/>
                <a:gd name="T14" fmla="*/ 208 w 512"/>
                <a:gd name="T15" fmla="*/ 213 h 512"/>
                <a:gd name="T16" fmla="*/ 208 w 512"/>
                <a:gd name="T17" fmla="*/ 211 h 512"/>
                <a:gd name="T18" fmla="*/ 210 w 512"/>
                <a:gd name="T19" fmla="*/ 206 h 512"/>
                <a:gd name="T20" fmla="*/ 277 w 512"/>
                <a:gd name="T21" fmla="*/ 160 h 512"/>
                <a:gd name="T22" fmla="*/ 347 w 512"/>
                <a:gd name="T23" fmla="*/ 230 h 512"/>
                <a:gd name="T24" fmla="*/ 347 w 512"/>
                <a:gd name="T25" fmla="*/ 234 h 512"/>
                <a:gd name="T26" fmla="*/ 347 w 512"/>
                <a:gd name="T27" fmla="*/ 239 h 512"/>
                <a:gd name="T28" fmla="*/ 350 w 512"/>
                <a:gd name="T29" fmla="*/ 249 h 512"/>
                <a:gd name="T30" fmla="*/ 361 w 512"/>
                <a:gd name="T31" fmla="*/ 251 h 512"/>
                <a:gd name="T32" fmla="*/ 363 w 512"/>
                <a:gd name="T33" fmla="*/ 250 h 512"/>
                <a:gd name="T34" fmla="*/ 365 w 512"/>
                <a:gd name="T35" fmla="*/ 250 h 512"/>
                <a:gd name="T36" fmla="*/ 394 w 512"/>
                <a:gd name="T37" fmla="*/ 28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416 w 512"/>
                <a:gd name="T49" fmla="*/ 280 h 512"/>
                <a:gd name="T50" fmla="*/ 369 w 512"/>
                <a:gd name="T51" fmla="*/ 229 h 512"/>
                <a:gd name="T52" fmla="*/ 277 w 512"/>
                <a:gd name="T53" fmla="*/ 138 h 512"/>
                <a:gd name="T54" fmla="*/ 192 w 512"/>
                <a:gd name="T55" fmla="*/ 194 h 512"/>
                <a:gd name="T56" fmla="*/ 167 w 512"/>
                <a:gd name="T57" fmla="*/ 189 h 512"/>
                <a:gd name="T58" fmla="*/ 96 w 512"/>
                <a:gd name="T59" fmla="*/ 259 h 512"/>
                <a:gd name="T60" fmla="*/ 167 w 512"/>
                <a:gd name="T61" fmla="*/ 330 h 512"/>
                <a:gd name="T62" fmla="*/ 365 w 512"/>
                <a:gd name="T63" fmla="*/ 330 h 512"/>
                <a:gd name="T64" fmla="*/ 416 w 512"/>
                <a:gd name="T65" fmla="*/ 2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94" y="280"/>
                  </a:moveTo>
                  <a:cubicBezTo>
                    <a:pt x="394" y="296"/>
                    <a:pt x="381" y="309"/>
                    <a:pt x="365" y="309"/>
                  </a:cubicBezTo>
                  <a:cubicBezTo>
                    <a:pt x="167" y="309"/>
                    <a:pt x="167" y="309"/>
                    <a:pt x="167" y="309"/>
                  </a:cubicBezTo>
                  <a:cubicBezTo>
                    <a:pt x="139" y="309"/>
                    <a:pt x="117" y="287"/>
                    <a:pt x="117" y="259"/>
                  </a:cubicBezTo>
                  <a:cubicBezTo>
                    <a:pt x="117" y="232"/>
                    <a:pt x="139" y="210"/>
                    <a:pt x="167" y="210"/>
                  </a:cubicBezTo>
                  <a:cubicBezTo>
                    <a:pt x="175" y="210"/>
                    <a:pt x="182" y="212"/>
                    <a:pt x="189" y="217"/>
                  </a:cubicBezTo>
                  <a:cubicBezTo>
                    <a:pt x="191" y="220"/>
                    <a:pt x="195" y="222"/>
                    <a:pt x="199" y="221"/>
                  </a:cubicBezTo>
                  <a:cubicBezTo>
                    <a:pt x="204" y="220"/>
                    <a:pt x="207" y="217"/>
                    <a:pt x="208" y="213"/>
                  </a:cubicBezTo>
                  <a:cubicBezTo>
                    <a:pt x="208" y="211"/>
                    <a:pt x="208" y="211"/>
                    <a:pt x="208" y="211"/>
                  </a:cubicBezTo>
                  <a:cubicBezTo>
                    <a:pt x="209" y="209"/>
                    <a:pt x="209" y="208"/>
                    <a:pt x="210" y="206"/>
                  </a:cubicBezTo>
                  <a:cubicBezTo>
                    <a:pt x="220" y="179"/>
                    <a:pt x="248" y="160"/>
                    <a:pt x="277" y="160"/>
                  </a:cubicBezTo>
                  <a:cubicBezTo>
                    <a:pt x="316" y="160"/>
                    <a:pt x="347" y="191"/>
                    <a:pt x="347" y="230"/>
                  </a:cubicBezTo>
                  <a:cubicBezTo>
                    <a:pt x="347" y="231"/>
                    <a:pt x="347" y="232"/>
                    <a:pt x="347" y="234"/>
                  </a:cubicBezTo>
                  <a:cubicBezTo>
                    <a:pt x="347" y="236"/>
                    <a:pt x="347" y="237"/>
                    <a:pt x="347" y="239"/>
                  </a:cubicBezTo>
                  <a:cubicBezTo>
                    <a:pt x="346" y="243"/>
                    <a:pt x="348" y="247"/>
                    <a:pt x="350" y="249"/>
                  </a:cubicBezTo>
                  <a:cubicBezTo>
                    <a:pt x="353" y="251"/>
                    <a:pt x="357" y="252"/>
                    <a:pt x="361" y="251"/>
                  </a:cubicBezTo>
                  <a:cubicBezTo>
                    <a:pt x="362" y="250"/>
                    <a:pt x="363" y="250"/>
                    <a:pt x="363" y="250"/>
                  </a:cubicBezTo>
                  <a:cubicBezTo>
                    <a:pt x="364" y="250"/>
                    <a:pt x="364" y="250"/>
                    <a:pt x="365" y="250"/>
                  </a:cubicBezTo>
                  <a:cubicBezTo>
                    <a:pt x="381" y="250"/>
                    <a:pt x="394" y="263"/>
                    <a:pt x="394" y="28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80"/>
                  </a:moveTo>
                  <a:cubicBezTo>
                    <a:pt x="416" y="253"/>
                    <a:pt x="395" y="231"/>
                    <a:pt x="369" y="229"/>
                  </a:cubicBezTo>
                  <a:cubicBezTo>
                    <a:pt x="368" y="179"/>
                    <a:pt x="327" y="138"/>
                    <a:pt x="277" y="138"/>
                  </a:cubicBezTo>
                  <a:cubicBezTo>
                    <a:pt x="240" y="138"/>
                    <a:pt x="206" y="161"/>
                    <a:pt x="192" y="194"/>
                  </a:cubicBezTo>
                  <a:cubicBezTo>
                    <a:pt x="184" y="190"/>
                    <a:pt x="176" y="189"/>
                    <a:pt x="167" y="189"/>
                  </a:cubicBezTo>
                  <a:cubicBezTo>
                    <a:pt x="127" y="189"/>
                    <a:pt x="96" y="220"/>
                    <a:pt x="96" y="259"/>
                  </a:cubicBezTo>
                  <a:cubicBezTo>
                    <a:pt x="96" y="299"/>
                    <a:pt x="127" y="330"/>
                    <a:pt x="167" y="330"/>
                  </a:cubicBezTo>
                  <a:cubicBezTo>
                    <a:pt x="365" y="330"/>
                    <a:pt x="365" y="330"/>
                    <a:pt x="365" y="330"/>
                  </a:cubicBezTo>
                  <a:cubicBezTo>
                    <a:pt x="393" y="330"/>
                    <a:pt x="416" y="308"/>
                    <a:pt x="416" y="280"/>
                  </a:cubicBezTo>
                  <a:close/>
                </a:path>
              </a:pathLst>
            </a:custGeom>
            <a:solidFill>
              <a:schemeClr val="accent2"/>
            </a:solidFill>
            <a:ln>
              <a:noFill/>
            </a:ln>
          </p:spPr>
          <p:txBody>
            <a:bodyPr vert="horz" wrap="square" lIns="68750" tIns="34375" rIns="68750" bIns="34375" numCol="1" anchor="t" anchorCtr="0" compatLnSpc="1">
              <a:prstTxWarp prst="textNoShape">
                <a:avLst/>
              </a:prstTxWarp>
            </a:bodyPr>
            <a:lstStyle/>
            <a:p>
              <a:pPr marL="0" marR="0" lvl="0" indent="0" algn="l" defTabSz="687537" rtl="0" eaLnBrk="1" fontAlgn="auto" latinLnBrk="0" hangingPunct="1">
                <a:lnSpc>
                  <a:spcPct val="100000"/>
                </a:lnSpc>
                <a:spcBef>
                  <a:spcPts val="0"/>
                </a:spcBef>
                <a:spcAft>
                  <a:spcPts val="0"/>
                </a:spcAft>
                <a:buClrTx/>
                <a:buSzTx/>
                <a:buFontTx/>
                <a:buNone/>
                <a:tabLst/>
                <a:defRPr/>
              </a:pPr>
              <a:endParaRPr kumimoji="0" lang="en-GB" sz="1353"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sp>
        <p:nvSpPr>
          <p:cNvPr id="27" name="Oval 26">
            <a:extLst>
              <a:ext uri="{FF2B5EF4-FFF2-40B4-BE49-F238E27FC236}">
                <a16:creationId xmlns:a16="http://schemas.microsoft.com/office/drawing/2014/main" id="{87F2F360-36E3-4EFA-8EFD-D27DBD420FEB}"/>
              </a:ext>
            </a:extLst>
          </p:cNvPr>
          <p:cNvSpPr/>
          <p:nvPr/>
        </p:nvSpPr>
        <p:spPr>
          <a:xfrm>
            <a:off x="6152574" y="4671976"/>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4</a:t>
            </a:r>
          </a:p>
        </p:txBody>
      </p:sp>
      <p:sp>
        <p:nvSpPr>
          <p:cNvPr id="28" name="Rectangle 27">
            <a:extLst>
              <a:ext uri="{FF2B5EF4-FFF2-40B4-BE49-F238E27FC236}">
                <a16:creationId xmlns:a16="http://schemas.microsoft.com/office/drawing/2014/main" id="{DE10B145-1709-4932-9FCA-0271960AD823}"/>
              </a:ext>
            </a:extLst>
          </p:cNvPr>
          <p:cNvSpPr/>
          <p:nvPr/>
        </p:nvSpPr>
        <p:spPr bwMode="gray">
          <a:xfrm>
            <a:off x="7346499" y="2225937"/>
            <a:ext cx="739934" cy="355802"/>
          </a:xfrm>
          <a:prstGeom prst="rect">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Bulk Refresh</a:t>
            </a:r>
          </a:p>
        </p:txBody>
      </p:sp>
      <p:sp>
        <p:nvSpPr>
          <p:cNvPr id="29" name="Rectangle 28">
            <a:extLst>
              <a:ext uri="{FF2B5EF4-FFF2-40B4-BE49-F238E27FC236}">
                <a16:creationId xmlns:a16="http://schemas.microsoft.com/office/drawing/2014/main" id="{F97A60FC-D982-496E-9EE9-E2E5127E6D5A}"/>
              </a:ext>
            </a:extLst>
          </p:cNvPr>
          <p:cNvSpPr/>
          <p:nvPr/>
        </p:nvSpPr>
        <p:spPr bwMode="gray">
          <a:xfrm>
            <a:off x="7350191" y="3090222"/>
            <a:ext cx="732549" cy="278085"/>
          </a:xfrm>
          <a:prstGeom prst="rect">
            <a:avLst/>
          </a:prstGeom>
          <a:solidFill>
            <a:schemeClr val="bg1">
              <a:lumMod val="65000"/>
            </a:schemeClr>
          </a:solidFill>
          <a:ln w="19050" algn="ctr">
            <a:solidFill>
              <a:schemeClr val="bg1">
                <a:lumMod val="6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white"/>
                </a:solidFill>
                <a:effectLst/>
                <a:uLnTx/>
                <a:uFillTx/>
                <a:latin typeface="Calibri" panose="020F0502020204030204"/>
                <a:ea typeface="+mn-ea"/>
                <a:cs typeface="+mn-cs"/>
              </a:rPr>
              <a:t>POM</a:t>
            </a:r>
          </a:p>
        </p:txBody>
      </p:sp>
      <p:cxnSp>
        <p:nvCxnSpPr>
          <p:cNvPr id="30" name="Straight Arrow Connector 29">
            <a:extLst>
              <a:ext uri="{FF2B5EF4-FFF2-40B4-BE49-F238E27FC236}">
                <a16:creationId xmlns:a16="http://schemas.microsoft.com/office/drawing/2014/main" id="{9948B812-FD3F-4114-9AA0-53199BB9255C}"/>
              </a:ext>
            </a:extLst>
          </p:cNvPr>
          <p:cNvCxnSpPr>
            <a:cxnSpLocks/>
          </p:cNvCxnSpPr>
          <p:nvPr/>
        </p:nvCxnSpPr>
        <p:spPr>
          <a:xfrm>
            <a:off x="10117934" y="1573104"/>
            <a:ext cx="8030" cy="40233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7AFE6F3-23DF-44D1-85DE-96DF9FF8C21F}"/>
              </a:ext>
            </a:extLst>
          </p:cNvPr>
          <p:cNvCxnSpPr>
            <a:cxnSpLocks/>
          </p:cNvCxnSpPr>
          <p:nvPr/>
        </p:nvCxnSpPr>
        <p:spPr>
          <a:xfrm>
            <a:off x="7716466" y="2581739"/>
            <a:ext cx="0" cy="50531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01175F5-3B4C-4C4E-AC15-58B3554F7145}"/>
              </a:ext>
            </a:extLst>
          </p:cNvPr>
          <p:cNvCxnSpPr>
            <a:cxnSpLocks/>
          </p:cNvCxnSpPr>
          <p:nvPr/>
        </p:nvCxnSpPr>
        <p:spPr>
          <a:xfrm>
            <a:off x="8082740" y="3229264"/>
            <a:ext cx="1308490"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06843B0-38ED-4294-9FDB-C8E58C275AB1}"/>
              </a:ext>
            </a:extLst>
          </p:cNvPr>
          <p:cNvCxnSpPr/>
          <p:nvPr/>
        </p:nvCxnSpPr>
        <p:spPr>
          <a:xfrm>
            <a:off x="7716945" y="1664654"/>
            <a:ext cx="0" cy="56002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75F02A36-113A-444E-AB91-7CC8CB064CA2}"/>
              </a:ext>
            </a:extLst>
          </p:cNvPr>
          <p:cNvSpPr txBox="1"/>
          <p:nvPr/>
        </p:nvSpPr>
        <p:spPr>
          <a:xfrm>
            <a:off x="10405470" y="3681579"/>
            <a:ext cx="63470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sz="800">
                <a:solidFill>
                  <a:srgbClr val="313131"/>
                </a:solidFill>
                <a:latin typeface="Calibri" panose="020F0502020204030204"/>
              </a:rPr>
              <a:t>Invoke RestAPI by Boundary App</a:t>
            </a:r>
            <a:endParaRPr kumimoji="0" lang="en-US" sz="800" b="0" i="0" u="none" strike="noStrike" kern="1200" cap="none" spc="0" normalizeH="0" baseline="0" noProof="0">
              <a:ln>
                <a:noFill/>
              </a:ln>
              <a:solidFill>
                <a:srgbClr val="313131"/>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6908CD2C-C426-431A-9981-D0633A8F9CA3}"/>
              </a:ext>
            </a:extLst>
          </p:cNvPr>
          <p:cNvSpPr/>
          <p:nvPr/>
        </p:nvSpPr>
        <p:spPr>
          <a:xfrm>
            <a:off x="9906669" y="2480592"/>
            <a:ext cx="160870" cy="1422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2</a:t>
            </a:r>
          </a:p>
        </p:txBody>
      </p:sp>
      <p:sp>
        <p:nvSpPr>
          <p:cNvPr id="36" name="Oval 35">
            <a:extLst>
              <a:ext uri="{FF2B5EF4-FFF2-40B4-BE49-F238E27FC236}">
                <a16:creationId xmlns:a16="http://schemas.microsoft.com/office/drawing/2014/main" id="{9E2379A6-BD80-41DF-A6F6-558500566DE9}"/>
              </a:ext>
            </a:extLst>
          </p:cNvPr>
          <p:cNvSpPr/>
          <p:nvPr/>
        </p:nvSpPr>
        <p:spPr>
          <a:xfrm>
            <a:off x="9926346" y="3710802"/>
            <a:ext cx="160870" cy="1422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3</a:t>
            </a:r>
          </a:p>
        </p:txBody>
      </p:sp>
      <p:sp>
        <p:nvSpPr>
          <p:cNvPr id="37" name="Oval 36">
            <a:extLst>
              <a:ext uri="{FF2B5EF4-FFF2-40B4-BE49-F238E27FC236}">
                <a16:creationId xmlns:a16="http://schemas.microsoft.com/office/drawing/2014/main" id="{F46525FC-F5CB-4A44-8D8F-95FD0DF58B6B}"/>
              </a:ext>
            </a:extLst>
          </p:cNvPr>
          <p:cNvSpPr/>
          <p:nvPr/>
        </p:nvSpPr>
        <p:spPr>
          <a:xfrm>
            <a:off x="8144858" y="2333135"/>
            <a:ext cx="160870" cy="1422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4</a:t>
            </a:r>
          </a:p>
        </p:txBody>
      </p:sp>
      <p:sp>
        <p:nvSpPr>
          <p:cNvPr id="38" name="Oval 37">
            <a:extLst>
              <a:ext uri="{FF2B5EF4-FFF2-40B4-BE49-F238E27FC236}">
                <a16:creationId xmlns:a16="http://schemas.microsoft.com/office/drawing/2014/main" id="{57F3543C-5D6F-4483-A103-A5ED8B2CF7FA}"/>
              </a:ext>
            </a:extLst>
          </p:cNvPr>
          <p:cNvSpPr/>
          <p:nvPr/>
        </p:nvSpPr>
        <p:spPr>
          <a:xfrm>
            <a:off x="8654142" y="3050825"/>
            <a:ext cx="160870" cy="1422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5</a:t>
            </a:r>
          </a:p>
        </p:txBody>
      </p:sp>
      <p:sp>
        <p:nvSpPr>
          <p:cNvPr id="39" name="TextBox 38">
            <a:extLst>
              <a:ext uri="{FF2B5EF4-FFF2-40B4-BE49-F238E27FC236}">
                <a16:creationId xmlns:a16="http://schemas.microsoft.com/office/drawing/2014/main" id="{234F5C6D-5C6C-4368-8ADD-8A8FC1461424}"/>
              </a:ext>
            </a:extLst>
          </p:cNvPr>
          <p:cNvSpPr txBox="1"/>
          <p:nvPr/>
        </p:nvSpPr>
        <p:spPr>
          <a:xfrm>
            <a:off x="6489472" y="4987655"/>
            <a:ext cx="6148451" cy="1838965"/>
          </a:xfrm>
          <a:prstGeom prst="rect">
            <a:avLst/>
          </a:prstGeom>
          <a:noFill/>
        </p:spPr>
        <p:txBody>
          <a:bodyPr wrap="square" numCol="2" rtlCol="0">
            <a:spAutoFit/>
          </a:bodyPr>
          <a:lstStyle/>
          <a:p>
            <a:pPr marL="0" marR="0" lvl="0" indent="0" algn="l" defTabSz="957998" rtl="0" eaLnBrk="1" fontAlgn="auto" latinLnBrk="0" hangingPunct="1">
              <a:lnSpc>
                <a:spcPct val="100000"/>
              </a:lnSpc>
              <a:spcBef>
                <a:spcPts val="300"/>
              </a:spcBef>
              <a:spcAft>
                <a:spcPts val="0"/>
              </a:spcAft>
              <a:buClrTx/>
              <a:buSzTx/>
              <a:buFontTx/>
              <a:buNone/>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MFCS to Internal Oracle Retail Apps:</a:t>
            </a: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Oracle Retail Order Broker</a:t>
            </a: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Oracle Retail </a:t>
            </a:r>
            <a:r>
              <a:rPr kumimoji="0" lang="en-US" sz="1200" b="0" i="1" u="none" strike="noStrike" kern="1200" cap="none" spc="0" normalizeH="0" baseline="0" noProof="0" err="1">
                <a:ln>
                  <a:noFill/>
                </a:ln>
                <a:solidFill>
                  <a:srgbClr val="44546A"/>
                </a:solidFill>
                <a:effectLst/>
                <a:uLnTx/>
                <a:uFillTx/>
                <a:latin typeface="Calibri" panose="020F0502020204030204"/>
                <a:ea typeface="+mn-ea"/>
                <a:cs typeface="Arial" panose="020B0604020202020204" pitchFamily="34" charset="0"/>
              </a:rPr>
              <a:t>Xstore</a:t>
            </a: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 Suite</a:t>
            </a: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Oracle Retail Supplier Evaluation</a:t>
            </a:r>
          </a:p>
          <a:p>
            <a:pPr defTabSz="957998">
              <a:spcBef>
                <a:spcPts val="300"/>
              </a:spcBef>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MFCS to external applications Examples- Items, </a:t>
            </a:r>
          </a:p>
          <a:p>
            <a:pPr defTabSz="957998">
              <a:spcBef>
                <a:spcPts val="300"/>
              </a:spcBef>
              <a:defRPr/>
            </a:pPr>
            <a:endParaRPr lang="en-US" sz="1200" i="1">
              <a:solidFill>
                <a:srgbClr val="44546A"/>
              </a:solidFill>
              <a:latin typeface="Calibri" panose="020F0502020204030204"/>
              <a:cs typeface="Arial" panose="020B0604020202020204" pitchFamily="34" charset="0"/>
            </a:endParaRPr>
          </a:p>
          <a:p>
            <a:pPr defTabSz="957998">
              <a:spcBef>
                <a:spcPts val="300"/>
              </a:spcBef>
              <a:defRPr/>
            </a:pPr>
            <a:endPar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endParaRPr>
          </a:p>
          <a:p>
            <a:pPr defTabSz="957998">
              <a:spcBef>
                <a:spcPts val="300"/>
              </a:spcBef>
              <a:defRPr/>
            </a:pPr>
            <a:endParaRPr lang="en-US" sz="1200" i="1">
              <a:solidFill>
                <a:srgbClr val="44546A"/>
              </a:solidFill>
              <a:latin typeface="Calibri" panose="020F0502020204030204"/>
              <a:cs typeface="Arial" panose="020B0604020202020204" pitchFamily="34" charset="0"/>
            </a:endParaRPr>
          </a:p>
          <a:p>
            <a:pPr defTabSz="957998">
              <a:spcBef>
                <a:spcPts val="300"/>
              </a:spcBef>
              <a:defRPr/>
            </a:pPr>
            <a:endPar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endParaRPr>
          </a:p>
          <a:p>
            <a:pPr defTabSz="957998">
              <a:spcBef>
                <a:spcPts val="300"/>
              </a:spcBef>
              <a:defRPr/>
            </a:pPr>
            <a:endParaRPr lang="en-US" sz="1200" i="1">
              <a:solidFill>
                <a:srgbClr val="44546A"/>
              </a:solidFill>
              <a:latin typeface="Calibri" panose="020F0502020204030204"/>
              <a:cs typeface="Arial" panose="020B0604020202020204" pitchFamily="34" charset="0"/>
            </a:endParaRPr>
          </a:p>
          <a:p>
            <a:pPr defTabSz="957998">
              <a:spcBef>
                <a:spcPts val="300"/>
              </a:spcBef>
              <a:defRPr/>
            </a:pPr>
            <a:endPar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endParaRPr>
          </a:p>
          <a:p>
            <a:pPr defTabSz="957998">
              <a:spcBef>
                <a:spcPts val="300"/>
              </a:spcBef>
              <a:defRPr/>
            </a:pPr>
            <a:endParaRPr lang="en-US" sz="1200" i="1" noProof="0">
              <a:solidFill>
                <a:srgbClr val="44546A"/>
              </a:solidFill>
              <a:latin typeface="Calibri" panose="020F0502020204030204"/>
              <a:cs typeface="Arial" panose="020B0604020202020204" pitchFamily="34" charset="0"/>
            </a:endParaRPr>
          </a:p>
          <a:p>
            <a:pPr defTabSz="957998">
              <a:spcBef>
                <a:spcPts val="300"/>
              </a:spcBef>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Merchandise Hierarchy etc.</a:t>
            </a:r>
          </a:p>
          <a:p>
            <a:pPr defTabSz="957998">
              <a:spcBef>
                <a:spcPts val="300"/>
              </a:spcBef>
              <a:defRPr/>
            </a:pPr>
            <a:endPar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endParaRP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endParaRPr>
          </a:p>
        </p:txBody>
      </p:sp>
      <p:sp>
        <p:nvSpPr>
          <p:cNvPr id="41" name="Title 1">
            <a:extLst>
              <a:ext uri="{FF2B5EF4-FFF2-40B4-BE49-F238E27FC236}">
                <a16:creationId xmlns:a16="http://schemas.microsoft.com/office/drawing/2014/main" id="{300B80FA-A138-4230-BC8F-87F96E0B6C0D}"/>
              </a:ext>
            </a:extLst>
          </p:cNvPr>
          <p:cNvSpPr txBox="1">
            <a:spLocks/>
          </p:cNvSpPr>
          <p:nvPr/>
        </p:nvSpPr>
        <p:spPr bwMode="gray">
          <a:xfrm>
            <a:off x="434898" y="409575"/>
            <a:ext cx="11247120" cy="430887"/>
          </a:xfrm>
          <a:prstGeom prst="rect">
            <a:avLst/>
          </a:prstGeom>
        </p:spPr>
        <p:txBody>
          <a:bodyPr vert="horz" lIns="0" tIns="0" rIns="0" bIns="0" rtlCol="0" anchor="t" anchorCtr="0">
            <a:spAutoFit/>
          </a:bodyPr>
          <a:lstStyle>
            <a:lvl1pPr algn="l" defTabSz="1217613" rtl="0" eaLnBrk="1" fontAlgn="base" latinLnBrk="0" hangingPunct="1">
              <a:spcBef>
                <a:spcPct val="0"/>
              </a:spcBef>
              <a:spcAft>
                <a:spcPct val="0"/>
              </a:spcAft>
              <a:buNone/>
              <a:defRPr lang="en-US" sz="3200" b="0" kern="1200" spc="-50" noProof="0" dirty="0">
                <a:solidFill>
                  <a:schemeClr val="tx1"/>
                </a:solidFill>
                <a:latin typeface="+mj-lt"/>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2800">
                <a:latin typeface="+mj-lt"/>
                <a:ea typeface="+mj-ea"/>
                <a:cs typeface="Calibri Light" panose="020F0302020204030204" pitchFamily="34" charset="0"/>
              </a:rPr>
              <a:t>4 – MERCHAPI Publish Services</a:t>
            </a:r>
            <a:endParaRPr kumimoji="0" lang="en-US" sz="2800" b="0" i="0" u="none" strike="noStrike" kern="1200" cap="none" spc="0" normalizeH="0" baseline="0" noProof="0">
              <a:ln>
                <a:noFill/>
              </a:ln>
              <a:solidFill>
                <a:prstClr val="black"/>
              </a:solidFill>
              <a:effectLst/>
              <a:uLnTx/>
              <a:uFillTx/>
              <a:latin typeface="Open Sans Light"/>
              <a:ea typeface="+mj-ea"/>
              <a:cs typeface="+mj-cs"/>
            </a:endParaRPr>
          </a:p>
        </p:txBody>
      </p:sp>
      <p:sp>
        <p:nvSpPr>
          <p:cNvPr id="42" name="Freeform 27">
            <a:extLst>
              <a:ext uri="{FF2B5EF4-FFF2-40B4-BE49-F238E27FC236}">
                <a16:creationId xmlns:a16="http://schemas.microsoft.com/office/drawing/2014/main" id="{ACF80E3B-6D1A-43EA-B093-6911B0BEA437}"/>
              </a:ext>
            </a:extLst>
          </p:cNvPr>
          <p:cNvSpPr>
            <a:spLocks noEditPoints="1"/>
          </p:cNvSpPr>
          <p:nvPr/>
        </p:nvSpPr>
        <p:spPr bwMode="auto">
          <a:xfrm>
            <a:off x="7550974" y="1214308"/>
            <a:ext cx="332114" cy="337695"/>
          </a:xfrm>
          <a:custGeom>
            <a:avLst/>
            <a:gdLst>
              <a:gd name="T0" fmla="*/ 1000 w 1116"/>
              <a:gd name="T1" fmla="*/ 2 h 1184"/>
              <a:gd name="T2" fmla="*/ 64 w 1116"/>
              <a:gd name="T3" fmla="*/ 724 h 1184"/>
              <a:gd name="T4" fmla="*/ 1060 w 1116"/>
              <a:gd name="T5" fmla="*/ 1184 h 1184"/>
              <a:gd name="T6" fmla="*/ 992 w 1116"/>
              <a:gd name="T7" fmla="*/ 948 h 1184"/>
              <a:gd name="T8" fmla="*/ 932 w 1116"/>
              <a:gd name="T9" fmla="*/ 910 h 1184"/>
              <a:gd name="T10" fmla="*/ 986 w 1116"/>
              <a:gd name="T11" fmla="*/ 910 h 1184"/>
              <a:gd name="T12" fmla="*/ 922 w 1116"/>
              <a:gd name="T13" fmla="*/ 874 h 1184"/>
              <a:gd name="T14" fmla="*/ 976 w 1116"/>
              <a:gd name="T15" fmla="*/ 826 h 1184"/>
              <a:gd name="T16" fmla="*/ 918 w 1116"/>
              <a:gd name="T17" fmla="*/ 952 h 1184"/>
              <a:gd name="T18" fmla="*/ 852 w 1116"/>
              <a:gd name="T19" fmla="*/ 906 h 1184"/>
              <a:gd name="T20" fmla="*/ 836 w 1116"/>
              <a:gd name="T21" fmla="*/ 830 h 1184"/>
              <a:gd name="T22" fmla="*/ 900 w 1116"/>
              <a:gd name="T23" fmla="*/ 870 h 1184"/>
              <a:gd name="T24" fmla="*/ 956 w 1116"/>
              <a:gd name="T25" fmla="*/ 76 h 1184"/>
              <a:gd name="T26" fmla="*/ 820 w 1116"/>
              <a:gd name="T27" fmla="*/ 870 h 1184"/>
              <a:gd name="T28" fmla="*/ 758 w 1116"/>
              <a:gd name="T29" fmla="*/ 830 h 1184"/>
              <a:gd name="T30" fmla="*/ 702 w 1116"/>
              <a:gd name="T31" fmla="*/ 900 h 1184"/>
              <a:gd name="T32" fmla="*/ 748 w 1116"/>
              <a:gd name="T33" fmla="*/ 958 h 1184"/>
              <a:gd name="T34" fmla="*/ 702 w 1116"/>
              <a:gd name="T35" fmla="*/ 900 h 1184"/>
              <a:gd name="T36" fmla="*/ 684 w 1116"/>
              <a:gd name="T37" fmla="*/ 822 h 1184"/>
              <a:gd name="T38" fmla="*/ 736 w 1116"/>
              <a:gd name="T39" fmla="*/ 880 h 1184"/>
              <a:gd name="T40" fmla="*/ 674 w 1116"/>
              <a:gd name="T41" fmla="*/ 952 h 1184"/>
              <a:gd name="T42" fmla="*/ 612 w 1116"/>
              <a:gd name="T43" fmla="*/ 906 h 1184"/>
              <a:gd name="T44" fmla="*/ 600 w 1116"/>
              <a:gd name="T45" fmla="*/ 830 h 1184"/>
              <a:gd name="T46" fmla="*/ 662 w 1116"/>
              <a:gd name="T47" fmla="*/ 870 h 1184"/>
              <a:gd name="T48" fmla="*/ 584 w 1116"/>
              <a:gd name="T49" fmla="*/ 900 h 1184"/>
              <a:gd name="T50" fmla="*/ 542 w 1116"/>
              <a:gd name="T51" fmla="*/ 958 h 1184"/>
              <a:gd name="T52" fmla="*/ 522 w 1116"/>
              <a:gd name="T53" fmla="*/ 870 h 1184"/>
              <a:gd name="T54" fmla="*/ 584 w 1116"/>
              <a:gd name="T55" fmla="*/ 830 h 1184"/>
              <a:gd name="T56" fmla="*/ 458 w 1116"/>
              <a:gd name="T57" fmla="*/ 900 h 1184"/>
              <a:gd name="T58" fmla="*/ 508 w 1116"/>
              <a:gd name="T59" fmla="*/ 958 h 1184"/>
              <a:gd name="T60" fmla="*/ 444 w 1116"/>
              <a:gd name="T61" fmla="*/ 826 h 1184"/>
              <a:gd name="T62" fmla="*/ 504 w 1116"/>
              <a:gd name="T63" fmla="*/ 874 h 1184"/>
              <a:gd name="T64" fmla="*/ 372 w 1116"/>
              <a:gd name="T65" fmla="*/ 910 h 1184"/>
              <a:gd name="T66" fmla="*/ 432 w 1116"/>
              <a:gd name="T67" fmla="*/ 948 h 1184"/>
              <a:gd name="T68" fmla="*/ 364 w 1116"/>
              <a:gd name="T69" fmla="*/ 870 h 1184"/>
              <a:gd name="T70" fmla="*/ 426 w 1116"/>
              <a:gd name="T71" fmla="*/ 830 h 1184"/>
              <a:gd name="T72" fmla="*/ 364 w 1116"/>
              <a:gd name="T73" fmla="*/ 870 h 1184"/>
              <a:gd name="T74" fmla="*/ 354 w 1116"/>
              <a:gd name="T75" fmla="*/ 906 h 1184"/>
              <a:gd name="T76" fmla="*/ 290 w 1116"/>
              <a:gd name="T77" fmla="*/ 952 h 1184"/>
              <a:gd name="T78" fmla="*/ 344 w 1116"/>
              <a:gd name="T79" fmla="*/ 822 h 1184"/>
              <a:gd name="T80" fmla="*/ 290 w 1116"/>
              <a:gd name="T81" fmla="*/ 880 h 1184"/>
              <a:gd name="T82" fmla="*/ 214 w 1116"/>
              <a:gd name="T83" fmla="*/ 880 h 1184"/>
              <a:gd name="T84" fmla="*/ 262 w 1116"/>
              <a:gd name="T85" fmla="*/ 820 h 1184"/>
              <a:gd name="T86" fmla="*/ 142 w 1116"/>
              <a:gd name="T87" fmla="*/ 820 h 1184"/>
              <a:gd name="T88" fmla="*/ 178 w 1116"/>
              <a:gd name="T89" fmla="*/ 880 h 1184"/>
              <a:gd name="T90" fmla="*/ 130 w 1116"/>
              <a:gd name="T91" fmla="*/ 900 h 1184"/>
              <a:gd name="T92" fmla="*/ 184 w 1116"/>
              <a:gd name="T93" fmla="*/ 958 h 1184"/>
              <a:gd name="T94" fmla="*/ 154 w 1116"/>
              <a:gd name="T95" fmla="*/ 1034 h 1184"/>
              <a:gd name="T96" fmla="*/ 116 w 1116"/>
              <a:gd name="T97" fmla="*/ 980 h 1184"/>
              <a:gd name="T98" fmla="*/ 248 w 1116"/>
              <a:gd name="T99" fmla="*/ 1032 h 1184"/>
              <a:gd name="T100" fmla="*/ 182 w 1116"/>
              <a:gd name="T101" fmla="*/ 984 h 1184"/>
              <a:gd name="T102" fmla="*/ 218 w 1116"/>
              <a:gd name="T103" fmla="*/ 958 h 1184"/>
              <a:gd name="T104" fmla="*/ 266 w 1116"/>
              <a:gd name="T105" fmla="*/ 900 h 1184"/>
              <a:gd name="T106" fmla="*/ 260 w 1116"/>
              <a:gd name="T107" fmla="*/ 958 h 1184"/>
              <a:gd name="T108" fmla="*/ 278 w 1116"/>
              <a:gd name="T109" fmla="*/ 978 h 1184"/>
              <a:gd name="T110" fmla="*/ 776 w 1116"/>
              <a:gd name="T111" fmla="*/ 1036 h 1184"/>
              <a:gd name="T112" fmla="*/ 828 w 1116"/>
              <a:gd name="T113" fmla="*/ 900 h 1184"/>
              <a:gd name="T114" fmla="*/ 780 w 1116"/>
              <a:gd name="T115" fmla="*/ 958 h 1184"/>
              <a:gd name="T116" fmla="*/ 798 w 1116"/>
              <a:gd name="T117" fmla="*/ 988 h 1184"/>
              <a:gd name="T118" fmla="*/ 874 w 1116"/>
              <a:gd name="T119" fmla="*/ 1028 h 1184"/>
              <a:gd name="T120" fmla="*/ 892 w 1116"/>
              <a:gd name="T121" fmla="*/ 1032 h 1184"/>
              <a:gd name="T122" fmla="*/ 994 w 1116"/>
              <a:gd name="T123" fmla="*/ 984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6" h="1184">
                <a:moveTo>
                  <a:pt x="1116" y="1124"/>
                </a:moveTo>
                <a:lnTo>
                  <a:pt x="1046" y="724"/>
                </a:lnTo>
                <a:lnTo>
                  <a:pt x="1046" y="724"/>
                </a:lnTo>
                <a:lnTo>
                  <a:pt x="1046" y="62"/>
                </a:lnTo>
                <a:lnTo>
                  <a:pt x="1046" y="62"/>
                </a:lnTo>
                <a:lnTo>
                  <a:pt x="1044" y="50"/>
                </a:lnTo>
                <a:lnTo>
                  <a:pt x="1040" y="38"/>
                </a:lnTo>
                <a:lnTo>
                  <a:pt x="1036" y="28"/>
                </a:lnTo>
                <a:lnTo>
                  <a:pt x="1028" y="18"/>
                </a:lnTo>
                <a:lnTo>
                  <a:pt x="1020" y="12"/>
                </a:lnTo>
                <a:lnTo>
                  <a:pt x="1010" y="6"/>
                </a:lnTo>
                <a:lnTo>
                  <a:pt x="1000" y="2"/>
                </a:lnTo>
                <a:lnTo>
                  <a:pt x="988" y="0"/>
                </a:lnTo>
                <a:lnTo>
                  <a:pt x="124" y="0"/>
                </a:lnTo>
                <a:lnTo>
                  <a:pt x="124" y="0"/>
                </a:lnTo>
                <a:lnTo>
                  <a:pt x="112" y="2"/>
                </a:lnTo>
                <a:lnTo>
                  <a:pt x="100" y="6"/>
                </a:lnTo>
                <a:lnTo>
                  <a:pt x="90" y="12"/>
                </a:lnTo>
                <a:lnTo>
                  <a:pt x="82" y="18"/>
                </a:lnTo>
                <a:lnTo>
                  <a:pt x="74" y="28"/>
                </a:lnTo>
                <a:lnTo>
                  <a:pt x="70" y="38"/>
                </a:lnTo>
                <a:lnTo>
                  <a:pt x="66" y="50"/>
                </a:lnTo>
                <a:lnTo>
                  <a:pt x="64" y="62"/>
                </a:lnTo>
                <a:lnTo>
                  <a:pt x="64" y="724"/>
                </a:lnTo>
                <a:lnTo>
                  <a:pt x="64" y="724"/>
                </a:lnTo>
                <a:lnTo>
                  <a:pt x="2" y="1124"/>
                </a:lnTo>
                <a:lnTo>
                  <a:pt x="2" y="1124"/>
                </a:lnTo>
                <a:lnTo>
                  <a:pt x="0" y="1136"/>
                </a:lnTo>
                <a:lnTo>
                  <a:pt x="2" y="1148"/>
                </a:lnTo>
                <a:lnTo>
                  <a:pt x="8" y="1158"/>
                </a:lnTo>
                <a:lnTo>
                  <a:pt x="14" y="1166"/>
                </a:lnTo>
                <a:lnTo>
                  <a:pt x="22" y="1174"/>
                </a:lnTo>
                <a:lnTo>
                  <a:pt x="34" y="1180"/>
                </a:lnTo>
                <a:lnTo>
                  <a:pt x="44" y="1184"/>
                </a:lnTo>
                <a:lnTo>
                  <a:pt x="58" y="1184"/>
                </a:lnTo>
                <a:lnTo>
                  <a:pt x="1060" y="1184"/>
                </a:lnTo>
                <a:lnTo>
                  <a:pt x="1060" y="1184"/>
                </a:lnTo>
                <a:lnTo>
                  <a:pt x="1074" y="1184"/>
                </a:lnTo>
                <a:lnTo>
                  <a:pt x="1086" y="1180"/>
                </a:lnTo>
                <a:lnTo>
                  <a:pt x="1096" y="1174"/>
                </a:lnTo>
                <a:lnTo>
                  <a:pt x="1104" y="1166"/>
                </a:lnTo>
                <a:lnTo>
                  <a:pt x="1110" y="1158"/>
                </a:lnTo>
                <a:lnTo>
                  <a:pt x="1114" y="1148"/>
                </a:lnTo>
                <a:lnTo>
                  <a:pt x="1116" y="1136"/>
                </a:lnTo>
                <a:lnTo>
                  <a:pt x="1116" y="1124"/>
                </a:lnTo>
                <a:lnTo>
                  <a:pt x="1116" y="1124"/>
                </a:lnTo>
                <a:close/>
                <a:moveTo>
                  <a:pt x="986" y="910"/>
                </a:moveTo>
                <a:lnTo>
                  <a:pt x="992" y="948"/>
                </a:lnTo>
                <a:lnTo>
                  <a:pt x="992" y="948"/>
                </a:lnTo>
                <a:lnTo>
                  <a:pt x="992" y="952"/>
                </a:lnTo>
                <a:lnTo>
                  <a:pt x="990" y="956"/>
                </a:lnTo>
                <a:lnTo>
                  <a:pt x="986" y="958"/>
                </a:lnTo>
                <a:lnTo>
                  <a:pt x="982" y="958"/>
                </a:lnTo>
                <a:lnTo>
                  <a:pt x="946" y="958"/>
                </a:lnTo>
                <a:lnTo>
                  <a:pt x="946" y="958"/>
                </a:lnTo>
                <a:lnTo>
                  <a:pt x="942" y="958"/>
                </a:lnTo>
                <a:lnTo>
                  <a:pt x="938" y="956"/>
                </a:lnTo>
                <a:lnTo>
                  <a:pt x="936" y="952"/>
                </a:lnTo>
                <a:lnTo>
                  <a:pt x="936" y="948"/>
                </a:lnTo>
                <a:lnTo>
                  <a:pt x="932" y="910"/>
                </a:lnTo>
                <a:lnTo>
                  <a:pt x="932" y="910"/>
                </a:lnTo>
                <a:lnTo>
                  <a:pt x="932" y="906"/>
                </a:lnTo>
                <a:lnTo>
                  <a:pt x="934" y="902"/>
                </a:lnTo>
                <a:lnTo>
                  <a:pt x="936" y="900"/>
                </a:lnTo>
                <a:lnTo>
                  <a:pt x="940" y="900"/>
                </a:lnTo>
                <a:lnTo>
                  <a:pt x="976" y="900"/>
                </a:lnTo>
                <a:lnTo>
                  <a:pt x="976" y="900"/>
                </a:lnTo>
                <a:lnTo>
                  <a:pt x="980" y="900"/>
                </a:lnTo>
                <a:lnTo>
                  <a:pt x="984" y="902"/>
                </a:lnTo>
                <a:lnTo>
                  <a:pt x="986" y="906"/>
                </a:lnTo>
                <a:lnTo>
                  <a:pt x="986" y="910"/>
                </a:lnTo>
                <a:lnTo>
                  <a:pt x="986" y="910"/>
                </a:lnTo>
                <a:close/>
                <a:moveTo>
                  <a:pt x="978" y="830"/>
                </a:moveTo>
                <a:lnTo>
                  <a:pt x="982" y="870"/>
                </a:lnTo>
                <a:lnTo>
                  <a:pt x="982" y="870"/>
                </a:lnTo>
                <a:lnTo>
                  <a:pt x="982" y="874"/>
                </a:lnTo>
                <a:lnTo>
                  <a:pt x="980" y="878"/>
                </a:lnTo>
                <a:lnTo>
                  <a:pt x="978" y="880"/>
                </a:lnTo>
                <a:lnTo>
                  <a:pt x="974" y="880"/>
                </a:lnTo>
                <a:lnTo>
                  <a:pt x="932" y="880"/>
                </a:lnTo>
                <a:lnTo>
                  <a:pt x="932" y="880"/>
                </a:lnTo>
                <a:lnTo>
                  <a:pt x="928" y="880"/>
                </a:lnTo>
                <a:lnTo>
                  <a:pt x="924" y="878"/>
                </a:lnTo>
                <a:lnTo>
                  <a:pt x="922" y="874"/>
                </a:lnTo>
                <a:lnTo>
                  <a:pt x="920" y="870"/>
                </a:lnTo>
                <a:lnTo>
                  <a:pt x="916" y="830"/>
                </a:lnTo>
                <a:lnTo>
                  <a:pt x="916" y="830"/>
                </a:lnTo>
                <a:lnTo>
                  <a:pt x="918" y="826"/>
                </a:lnTo>
                <a:lnTo>
                  <a:pt x="918" y="824"/>
                </a:lnTo>
                <a:lnTo>
                  <a:pt x="922" y="822"/>
                </a:lnTo>
                <a:lnTo>
                  <a:pt x="926" y="820"/>
                </a:lnTo>
                <a:lnTo>
                  <a:pt x="968" y="820"/>
                </a:lnTo>
                <a:lnTo>
                  <a:pt x="968" y="820"/>
                </a:lnTo>
                <a:lnTo>
                  <a:pt x="970" y="822"/>
                </a:lnTo>
                <a:lnTo>
                  <a:pt x="974" y="824"/>
                </a:lnTo>
                <a:lnTo>
                  <a:pt x="976" y="826"/>
                </a:lnTo>
                <a:lnTo>
                  <a:pt x="978" y="830"/>
                </a:lnTo>
                <a:lnTo>
                  <a:pt x="978" y="830"/>
                </a:lnTo>
                <a:close/>
                <a:moveTo>
                  <a:pt x="860" y="900"/>
                </a:moveTo>
                <a:lnTo>
                  <a:pt x="904" y="900"/>
                </a:lnTo>
                <a:lnTo>
                  <a:pt x="904" y="900"/>
                </a:lnTo>
                <a:lnTo>
                  <a:pt x="908" y="900"/>
                </a:lnTo>
                <a:lnTo>
                  <a:pt x="910" y="902"/>
                </a:lnTo>
                <a:lnTo>
                  <a:pt x="912" y="906"/>
                </a:lnTo>
                <a:lnTo>
                  <a:pt x="914" y="910"/>
                </a:lnTo>
                <a:lnTo>
                  <a:pt x="918" y="948"/>
                </a:lnTo>
                <a:lnTo>
                  <a:pt x="918" y="948"/>
                </a:lnTo>
                <a:lnTo>
                  <a:pt x="918" y="952"/>
                </a:lnTo>
                <a:lnTo>
                  <a:pt x="916" y="956"/>
                </a:lnTo>
                <a:lnTo>
                  <a:pt x="914" y="958"/>
                </a:lnTo>
                <a:lnTo>
                  <a:pt x="910" y="958"/>
                </a:lnTo>
                <a:lnTo>
                  <a:pt x="866" y="958"/>
                </a:lnTo>
                <a:lnTo>
                  <a:pt x="866" y="958"/>
                </a:lnTo>
                <a:lnTo>
                  <a:pt x="862" y="958"/>
                </a:lnTo>
                <a:lnTo>
                  <a:pt x="858" y="956"/>
                </a:lnTo>
                <a:lnTo>
                  <a:pt x="856" y="952"/>
                </a:lnTo>
                <a:lnTo>
                  <a:pt x="856" y="948"/>
                </a:lnTo>
                <a:lnTo>
                  <a:pt x="852" y="910"/>
                </a:lnTo>
                <a:lnTo>
                  <a:pt x="852" y="910"/>
                </a:lnTo>
                <a:lnTo>
                  <a:pt x="852" y="906"/>
                </a:lnTo>
                <a:lnTo>
                  <a:pt x="854" y="902"/>
                </a:lnTo>
                <a:lnTo>
                  <a:pt x="856" y="900"/>
                </a:lnTo>
                <a:lnTo>
                  <a:pt x="860" y="900"/>
                </a:lnTo>
                <a:lnTo>
                  <a:pt x="860" y="900"/>
                </a:lnTo>
                <a:close/>
                <a:moveTo>
                  <a:pt x="848" y="880"/>
                </a:moveTo>
                <a:lnTo>
                  <a:pt x="848" y="880"/>
                </a:lnTo>
                <a:lnTo>
                  <a:pt x="846" y="880"/>
                </a:lnTo>
                <a:lnTo>
                  <a:pt x="842" y="878"/>
                </a:lnTo>
                <a:lnTo>
                  <a:pt x="840" y="874"/>
                </a:lnTo>
                <a:lnTo>
                  <a:pt x="838" y="870"/>
                </a:lnTo>
                <a:lnTo>
                  <a:pt x="836" y="830"/>
                </a:lnTo>
                <a:lnTo>
                  <a:pt x="836" y="830"/>
                </a:lnTo>
                <a:lnTo>
                  <a:pt x="836" y="826"/>
                </a:lnTo>
                <a:lnTo>
                  <a:pt x="838" y="824"/>
                </a:lnTo>
                <a:lnTo>
                  <a:pt x="840" y="822"/>
                </a:lnTo>
                <a:lnTo>
                  <a:pt x="844" y="820"/>
                </a:lnTo>
                <a:lnTo>
                  <a:pt x="886" y="820"/>
                </a:lnTo>
                <a:lnTo>
                  <a:pt x="886" y="820"/>
                </a:lnTo>
                <a:lnTo>
                  <a:pt x="890" y="822"/>
                </a:lnTo>
                <a:lnTo>
                  <a:pt x="892" y="824"/>
                </a:lnTo>
                <a:lnTo>
                  <a:pt x="896" y="826"/>
                </a:lnTo>
                <a:lnTo>
                  <a:pt x="896" y="830"/>
                </a:lnTo>
                <a:lnTo>
                  <a:pt x="900" y="870"/>
                </a:lnTo>
                <a:lnTo>
                  <a:pt x="900" y="870"/>
                </a:lnTo>
                <a:lnTo>
                  <a:pt x="900" y="874"/>
                </a:lnTo>
                <a:lnTo>
                  <a:pt x="898" y="878"/>
                </a:lnTo>
                <a:lnTo>
                  <a:pt x="896" y="880"/>
                </a:lnTo>
                <a:lnTo>
                  <a:pt x="892" y="880"/>
                </a:lnTo>
                <a:lnTo>
                  <a:pt x="848" y="880"/>
                </a:lnTo>
                <a:close/>
                <a:moveTo>
                  <a:pt x="148" y="80"/>
                </a:moveTo>
                <a:lnTo>
                  <a:pt x="148" y="80"/>
                </a:lnTo>
                <a:lnTo>
                  <a:pt x="150" y="76"/>
                </a:lnTo>
                <a:lnTo>
                  <a:pt x="156" y="72"/>
                </a:lnTo>
                <a:lnTo>
                  <a:pt x="950" y="72"/>
                </a:lnTo>
                <a:lnTo>
                  <a:pt x="950" y="72"/>
                </a:lnTo>
                <a:lnTo>
                  <a:pt x="956" y="76"/>
                </a:lnTo>
                <a:lnTo>
                  <a:pt x="958" y="80"/>
                </a:lnTo>
                <a:lnTo>
                  <a:pt x="958" y="644"/>
                </a:lnTo>
                <a:lnTo>
                  <a:pt x="958" y="644"/>
                </a:lnTo>
                <a:lnTo>
                  <a:pt x="956" y="650"/>
                </a:lnTo>
                <a:lnTo>
                  <a:pt x="950" y="652"/>
                </a:lnTo>
                <a:lnTo>
                  <a:pt x="156" y="652"/>
                </a:lnTo>
                <a:lnTo>
                  <a:pt x="156" y="652"/>
                </a:lnTo>
                <a:lnTo>
                  <a:pt x="150" y="650"/>
                </a:lnTo>
                <a:lnTo>
                  <a:pt x="148" y="644"/>
                </a:lnTo>
                <a:lnTo>
                  <a:pt x="148" y="80"/>
                </a:lnTo>
                <a:close/>
                <a:moveTo>
                  <a:pt x="820" y="870"/>
                </a:moveTo>
                <a:lnTo>
                  <a:pt x="820" y="870"/>
                </a:lnTo>
                <a:lnTo>
                  <a:pt x="820" y="874"/>
                </a:lnTo>
                <a:lnTo>
                  <a:pt x="818" y="878"/>
                </a:lnTo>
                <a:lnTo>
                  <a:pt x="816" y="880"/>
                </a:lnTo>
                <a:lnTo>
                  <a:pt x="812" y="880"/>
                </a:lnTo>
                <a:lnTo>
                  <a:pt x="770" y="880"/>
                </a:lnTo>
                <a:lnTo>
                  <a:pt x="770" y="880"/>
                </a:lnTo>
                <a:lnTo>
                  <a:pt x="766" y="880"/>
                </a:lnTo>
                <a:lnTo>
                  <a:pt x="762" y="878"/>
                </a:lnTo>
                <a:lnTo>
                  <a:pt x="760" y="874"/>
                </a:lnTo>
                <a:lnTo>
                  <a:pt x="760" y="870"/>
                </a:lnTo>
                <a:lnTo>
                  <a:pt x="758" y="830"/>
                </a:lnTo>
                <a:lnTo>
                  <a:pt x="758" y="830"/>
                </a:lnTo>
                <a:lnTo>
                  <a:pt x="758" y="826"/>
                </a:lnTo>
                <a:lnTo>
                  <a:pt x="760" y="824"/>
                </a:lnTo>
                <a:lnTo>
                  <a:pt x="762" y="822"/>
                </a:lnTo>
                <a:lnTo>
                  <a:pt x="766" y="820"/>
                </a:lnTo>
                <a:lnTo>
                  <a:pt x="808" y="820"/>
                </a:lnTo>
                <a:lnTo>
                  <a:pt x="808" y="820"/>
                </a:lnTo>
                <a:lnTo>
                  <a:pt x="812" y="822"/>
                </a:lnTo>
                <a:lnTo>
                  <a:pt x="814" y="824"/>
                </a:lnTo>
                <a:lnTo>
                  <a:pt x="818" y="826"/>
                </a:lnTo>
                <a:lnTo>
                  <a:pt x="818" y="830"/>
                </a:lnTo>
                <a:lnTo>
                  <a:pt x="820" y="870"/>
                </a:lnTo>
                <a:close/>
                <a:moveTo>
                  <a:pt x="702" y="900"/>
                </a:moveTo>
                <a:lnTo>
                  <a:pt x="744" y="900"/>
                </a:lnTo>
                <a:lnTo>
                  <a:pt x="744" y="900"/>
                </a:lnTo>
                <a:lnTo>
                  <a:pt x="748" y="900"/>
                </a:lnTo>
                <a:lnTo>
                  <a:pt x="750" y="902"/>
                </a:lnTo>
                <a:lnTo>
                  <a:pt x="754" y="906"/>
                </a:lnTo>
                <a:lnTo>
                  <a:pt x="754" y="910"/>
                </a:lnTo>
                <a:lnTo>
                  <a:pt x="756" y="948"/>
                </a:lnTo>
                <a:lnTo>
                  <a:pt x="756" y="948"/>
                </a:lnTo>
                <a:lnTo>
                  <a:pt x="756" y="952"/>
                </a:lnTo>
                <a:lnTo>
                  <a:pt x="754" y="956"/>
                </a:lnTo>
                <a:lnTo>
                  <a:pt x="750" y="958"/>
                </a:lnTo>
                <a:lnTo>
                  <a:pt x="748" y="958"/>
                </a:lnTo>
                <a:lnTo>
                  <a:pt x="704" y="958"/>
                </a:lnTo>
                <a:lnTo>
                  <a:pt x="704" y="958"/>
                </a:lnTo>
                <a:lnTo>
                  <a:pt x="700" y="958"/>
                </a:lnTo>
                <a:lnTo>
                  <a:pt x="696" y="956"/>
                </a:lnTo>
                <a:lnTo>
                  <a:pt x="694" y="952"/>
                </a:lnTo>
                <a:lnTo>
                  <a:pt x="694" y="948"/>
                </a:lnTo>
                <a:lnTo>
                  <a:pt x="692" y="910"/>
                </a:lnTo>
                <a:lnTo>
                  <a:pt x="692" y="910"/>
                </a:lnTo>
                <a:lnTo>
                  <a:pt x="692" y="906"/>
                </a:lnTo>
                <a:lnTo>
                  <a:pt x="694" y="902"/>
                </a:lnTo>
                <a:lnTo>
                  <a:pt x="698" y="900"/>
                </a:lnTo>
                <a:lnTo>
                  <a:pt x="702" y="900"/>
                </a:lnTo>
                <a:lnTo>
                  <a:pt x="702" y="900"/>
                </a:lnTo>
                <a:close/>
                <a:moveTo>
                  <a:pt x="690" y="880"/>
                </a:moveTo>
                <a:lnTo>
                  <a:pt x="690" y="880"/>
                </a:lnTo>
                <a:lnTo>
                  <a:pt x="686" y="880"/>
                </a:lnTo>
                <a:lnTo>
                  <a:pt x="684" y="878"/>
                </a:lnTo>
                <a:lnTo>
                  <a:pt x="682" y="874"/>
                </a:lnTo>
                <a:lnTo>
                  <a:pt x="680" y="870"/>
                </a:lnTo>
                <a:lnTo>
                  <a:pt x="678" y="830"/>
                </a:lnTo>
                <a:lnTo>
                  <a:pt x="678" y="830"/>
                </a:lnTo>
                <a:lnTo>
                  <a:pt x="680" y="826"/>
                </a:lnTo>
                <a:lnTo>
                  <a:pt x="682" y="824"/>
                </a:lnTo>
                <a:lnTo>
                  <a:pt x="684" y="822"/>
                </a:lnTo>
                <a:lnTo>
                  <a:pt x="688" y="820"/>
                </a:lnTo>
                <a:lnTo>
                  <a:pt x="730" y="820"/>
                </a:lnTo>
                <a:lnTo>
                  <a:pt x="730" y="820"/>
                </a:lnTo>
                <a:lnTo>
                  <a:pt x="734" y="822"/>
                </a:lnTo>
                <a:lnTo>
                  <a:pt x="736" y="824"/>
                </a:lnTo>
                <a:lnTo>
                  <a:pt x="738" y="826"/>
                </a:lnTo>
                <a:lnTo>
                  <a:pt x="740" y="830"/>
                </a:lnTo>
                <a:lnTo>
                  <a:pt x="742" y="870"/>
                </a:lnTo>
                <a:lnTo>
                  <a:pt x="742" y="870"/>
                </a:lnTo>
                <a:lnTo>
                  <a:pt x="742" y="874"/>
                </a:lnTo>
                <a:lnTo>
                  <a:pt x="740" y="878"/>
                </a:lnTo>
                <a:lnTo>
                  <a:pt x="736" y="880"/>
                </a:lnTo>
                <a:lnTo>
                  <a:pt x="732" y="880"/>
                </a:lnTo>
                <a:lnTo>
                  <a:pt x="690" y="880"/>
                </a:lnTo>
                <a:close/>
                <a:moveTo>
                  <a:pt x="622" y="900"/>
                </a:moveTo>
                <a:lnTo>
                  <a:pt x="664" y="900"/>
                </a:lnTo>
                <a:lnTo>
                  <a:pt x="664" y="900"/>
                </a:lnTo>
                <a:lnTo>
                  <a:pt x="668" y="900"/>
                </a:lnTo>
                <a:lnTo>
                  <a:pt x="672" y="902"/>
                </a:lnTo>
                <a:lnTo>
                  <a:pt x="674" y="906"/>
                </a:lnTo>
                <a:lnTo>
                  <a:pt x="674" y="910"/>
                </a:lnTo>
                <a:lnTo>
                  <a:pt x="676" y="948"/>
                </a:lnTo>
                <a:lnTo>
                  <a:pt x="676" y="948"/>
                </a:lnTo>
                <a:lnTo>
                  <a:pt x="674" y="952"/>
                </a:lnTo>
                <a:lnTo>
                  <a:pt x="672" y="956"/>
                </a:lnTo>
                <a:lnTo>
                  <a:pt x="670" y="958"/>
                </a:lnTo>
                <a:lnTo>
                  <a:pt x="666" y="958"/>
                </a:lnTo>
                <a:lnTo>
                  <a:pt x="622" y="958"/>
                </a:lnTo>
                <a:lnTo>
                  <a:pt x="622" y="958"/>
                </a:lnTo>
                <a:lnTo>
                  <a:pt x="618" y="958"/>
                </a:lnTo>
                <a:lnTo>
                  <a:pt x="616" y="956"/>
                </a:lnTo>
                <a:lnTo>
                  <a:pt x="614" y="952"/>
                </a:lnTo>
                <a:lnTo>
                  <a:pt x="612" y="948"/>
                </a:lnTo>
                <a:lnTo>
                  <a:pt x="612" y="910"/>
                </a:lnTo>
                <a:lnTo>
                  <a:pt x="612" y="910"/>
                </a:lnTo>
                <a:lnTo>
                  <a:pt x="612" y="906"/>
                </a:lnTo>
                <a:lnTo>
                  <a:pt x="614" y="902"/>
                </a:lnTo>
                <a:lnTo>
                  <a:pt x="618" y="900"/>
                </a:lnTo>
                <a:lnTo>
                  <a:pt x="622" y="900"/>
                </a:lnTo>
                <a:lnTo>
                  <a:pt x="622" y="900"/>
                </a:lnTo>
                <a:close/>
                <a:moveTo>
                  <a:pt x="610" y="880"/>
                </a:moveTo>
                <a:lnTo>
                  <a:pt x="610" y="880"/>
                </a:lnTo>
                <a:lnTo>
                  <a:pt x="608" y="880"/>
                </a:lnTo>
                <a:lnTo>
                  <a:pt x="604" y="878"/>
                </a:lnTo>
                <a:lnTo>
                  <a:pt x="602" y="874"/>
                </a:lnTo>
                <a:lnTo>
                  <a:pt x="602" y="870"/>
                </a:lnTo>
                <a:lnTo>
                  <a:pt x="600" y="830"/>
                </a:lnTo>
                <a:lnTo>
                  <a:pt x="600" y="830"/>
                </a:lnTo>
                <a:lnTo>
                  <a:pt x="602" y="826"/>
                </a:lnTo>
                <a:lnTo>
                  <a:pt x="604" y="824"/>
                </a:lnTo>
                <a:lnTo>
                  <a:pt x="606" y="822"/>
                </a:lnTo>
                <a:lnTo>
                  <a:pt x="610" y="820"/>
                </a:lnTo>
                <a:lnTo>
                  <a:pt x="652" y="820"/>
                </a:lnTo>
                <a:lnTo>
                  <a:pt x="652" y="820"/>
                </a:lnTo>
                <a:lnTo>
                  <a:pt x="656" y="822"/>
                </a:lnTo>
                <a:lnTo>
                  <a:pt x="658" y="824"/>
                </a:lnTo>
                <a:lnTo>
                  <a:pt x="660" y="826"/>
                </a:lnTo>
                <a:lnTo>
                  <a:pt x="662" y="830"/>
                </a:lnTo>
                <a:lnTo>
                  <a:pt x="662" y="870"/>
                </a:lnTo>
                <a:lnTo>
                  <a:pt x="662" y="870"/>
                </a:lnTo>
                <a:lnTo>
                  <a:pt x="662" y="874"/>
                </a:lnTo>
                <a:lnTo>
                  <a:pt x="660" y="878"/>
                </a:lnTo>
                <a:lnTo>
                  <a:pt x="658" y="880"/>
                </a:lnTo>
                <a:lnTo>
                  <a:pt x="654" y="880"/>
                </a:lnTo>
                <a:lnTo>
                  <a:pt x="610" y="880"/>
                </a:lnTo>
                <a:close/>
                <a:moveTo>
                  <a:pt x="532" y="910"/>
                </a:moveTo>
                <a:lnTo>
                  <a:pt x="532" y="910"/>
                </a:lnTo>
                <a:lnTo>
                  <a:pt x="532" y="906"/>
                </a:lnTo>
                <a:lnTo>
                  <a:pt x="534" y="902"/>
                </a:lnTo>
                <a:lnTo>
                  <a:pt x="538" y="900"/>
                </a:lnTo>
                <a:lnTo>
                  <a:pt x="542" y="900"/>
                </a:lnTo>
                <a:lnTo>
                  <a:pt x="584" y="900"/>
                </a:lnTo>
                <a:lnTo>
                  <a:pt x="584" y="900"/>
                </a:lnTo>
                <a:lnTo>
                  <a:pt x="588" y="900"/>
                </a:lnTo>
                <a:lnTo>
                  <a:pt x="592" y="902"/>
                </a:lnTo>
                <a:lnTo>
                  <a:pt x="594" y="906"/>
                </a:lnTo>
                <a:lnTo>
                  <a:pt x="594" y="910"/>
                </a:lnTo>
                <a:lnTo>
                  <a:pt x="594" y="948"/>
                </a:lnTo>
                <a:lnTo>
                  <a:pt x="594" y="948"/>
                </a:lnTo>
                <a:lnTo>
                  <a:pt x="594" y="952"/>
                </a:lnTo>
                <a:lnTo>
                  <a:pt x="592" y="956"/>
                </a:lnTo>
                <a:lnTo>
                  <a:pt x="588" y="958"/>
                </a:lnTo>
                <a:lnTo>
                  <a:pt x="584" y="958"/>
                </a:lnTo>
                <a:lnTo>
                  <a:pt x="542" y="958"/>
                </a:lnTo>
                <a:lnTo>
                  <a:pt x="542" y="958"/>
                </a:lnTo>
                <a:lnTo>
                  <a:pt x="538" y="958"/>
                </a:lnTo>
                <a:lnTo>
                  <a:pt x="534" y="956"/>
                </a:lnTo>
                <a:lnTo>
                  <a:pt x="532" y="952"/>
                </a:lnTo>
                <a:lnTo>
                  <a:pt x="532" y="948"/>
                </a:lnTo>
                <a:lnTo>
                  <a:pt x="532" y="910"/>
                </a:lnTo>
                <a:close/>
                <a:moveTo>
                  <a:pt x="532" y="880"/>
                </a:moveTo>
                <a:lnTo>
                  <a:pt x="532" y="880"/>
                </a:lnTo>
                <a:lnTo>
                  <a:pt x="528" y="880"/>
                </a:lnTo>
                <a:lnTo>
                  <a:pt x="524" y="878"/>
                </a:lnTo>
                <a:lnTo>
                  <a:pt x="522" y="874"/>
                </a:lnTo>
                <a:lnTo>
                  <a:pt x="522" y="870"/>
                </a:lnTo>
                <a:lnTo>
                  <a:pt x="522" y="830"/>
                </a:lnTo>
                <a:lnTo>
                  <a:pt x="522" y="830"/>
                </a:lnTo>
                <a:lnTo>
                  <a:pt x="524" y="826"/>
                </a:lnTo>
                <a:lnTo>
                  <a:pt x="526" y="824"/>
                </a:lnTo>
                <a:lnTo>
                  <a:pt x="528" y="822"/>
                </a:lnTo>
                <a:lnTo>
                  <a:pt x="532" y="820"/>
                </a:lnTo>
                <a:lnTo>
                  <a:pt x="574" y="820"/>
                </a:lnTo>
                <a:lnTo>
                  <a:pt x="574" y="820"/>
                </a:lnTo>
                <a:lnTo>
                  <a:pt x="578" y="822"/>
                </a:lnTo>
                <a:lnTo>
                  <a:pt x="580" y="824"/>
                </a:lnTo>
                <a:lnTo>
                  <a:pt x="582" y="826"/>
                </a:lnTo>
                <a:lnTo>
                  <a:pt x="584" y="830"/>
                </a:lnTo>
                <a:lnTo>
                  <a:pt x="584" y="870"/>
                </a:lnTo>
                <a:lnTo>
                  <a:pt x="584" y="870"/>
                </a:lnTo>
                <a:lnTo>
                  <a:pt x="582" y="874"/>
                </a:lnTo>
                <a:lnTo>
                  <a:pt x="580" y="878"/>
                </a:lnTo>
                <a:lnTo>
                  <a:pt x="578" y="880"/>
                </a:lnTo>
                <a:lnTo>
                  <a:pt x="574" y="880"/>
                </a:lnTo>
                <a:lnTo>
                  <a:pt x="532" y="880"/>
                </a:lnTo>
                <a:close/>
                <a:moveTo>
                  <a:pt x="452" y="910"/>
                </a:moveTo>
                <a:lnTo>
                  <a:pt x="452" y="910"/>
                </a:lnTo>
                <a:lnTo>
                  <a:pt x="452" y="906"/>
                </a:lnTo>
                <a:lnTo>
                  <a:pt x="454" y="902"/>
                </a:lnTo>
                <a:lnTo>
                  <a:pt x="458" y="900"/>
                </a:lnTo>
                <a:lnTo>
                  <a:pt x="462" y="900"/>
                </a:lnTo>
                <a:lnTo>
                  <a:pt x="504" y="900"/>
                </a:lnTo>
                <a:lnTo>
                  <a:pt x="504" y="900"/>
                </a:lnTo>
                <a:lnTo>
                  <a:pt x="508" y="900"/>
                </a:lnTo>
                <a:lnTo>
                  <a:pt x="512" y="902"/>
                </a:lnTo>
                <a:lnTo>
                  <a:pt x="514" y="906"/>
                </a:lnTo>
                <a:lnTo>
                  <a:pt x="514" y="910"/>
                </a:lnTo>
                <a:lnTo>
                  <a:pt x="514" y="948"/>
                </a:lnTo>
                <a:lnTo>
                  <a:pt x="514" y="948"/>
                </a:lnTo>
                <a:lnTo>
                  <a:pt x="512" y="952"/>
                </a:lnTo>
                <a:lnTo>
                  <a:pt x="510" y="956"/>
                </a:lnTo>
                <a:lnTo>
                  <a:pt x="508" y="958"/>
                </a:lnTo>
                <a:lnTo>
                  <a:pt x="504" y="958"/>
                </a:lnTo>
                <a:lnTo>
                  <a:pt x="460" y="958"/>
                </a:lnTo>
                <a:lnTo>
                  <a:pt x="460" y="958"/>
                </a:lnTo>
                <a:lnTo>
                  <a:pt x="456" y="958"/>
                </a:lnTo>
                <a:lnTo>
                  <a:pt x="454" y="956"/>
                </a:lnTo>
                <a:lnTo>
                  <a:pt x="452" y="952"/>
                </a:lnTo>
                <a:lnTo>
                  <a:pt x="450" y="948"/>
                </a:lnTo>
                <a:lnTo>
                  <a:pt x="452" y="910"/>
                </a:lnTo>
                <a:close/>
                <a:moveTo>
                  <a:pt x="442" y="870"/>
                </a:moveTo>
                <a:lnTo>
                  <a:pt x="444" y="830"/>
                </a:lnTo>
                <a:lnTo>
                  <a:pt x="444" y="830"/>
                </a:lnTo>
                <a:lnTo>
                  <a:pt x="444" y="826"/>
                </a:lnTo>
                <a:lnTo>
                  <a:pt x="446" y="824"/>
                </a:lnTo>
                <a:lnTo>
                  <a:pt x="450" y="822"/>
                </a:lnTo>
                <a:lnTo>
                  <a:pt x="454" y="820"/>
                </a:lnTo>
                <a:lnTo>
                  <a:pt x="496" y="820"/>
                </a:lnTo>
                <a:lnTo>
                  <a:pt x="496" y="820"/>
                </a:lnTo>
                <a:lnTo>
                  <a:pt x="500" y="822"/>
                </a:lnTo>
                <a:lnTo>
                  <a:pt x="502" y="824"/>
                </a:lnTo>
                <a:lnTo>
                  <a:pt x="504" y="826"/>
                </a:lnTo>
                <a:lnTo>
                  <a:pt x="504" y="830"/>
                </a:lnTo>
                <a:lnTo>
                  <a:pt x="504" y="870"/>
                </a:lnTo>
                <a:lnTo>
                  <a:pt x="504" y="870"/>
                </a:lnTo>
                <a:lnTo>
                  <a:pt x="504" y="874"/>
                </a:lnTo>
                <a:lnTo>
                  <a:pt x="502" y="878"/>
                </a:lnTo>
                <a:lnTo>
                  <a:pt x="498" y="880"/>
                </a:lnTo>
                <a:lnTo>
                  <a:pt x="494" y="880"/>
                </a:lnTo>
                <a:lnTo>
                  <a:pt x="452" y="880"/>
                </a:lnTo>
                <a:lnTo>
                  <a:pt x="452" y="880"/>
                </a:lnTo>
                <a:lnTo>
                  <a:pt x="448" y="880"/>
                </a:lnTo>
                <a:lnTo>
                  <a:pt x="446" y="878"/>
                </a:lnTo>
                <a:lnTo>
                  <a:pt x="444" y="874"/>
                </a:lnTo>
                <a:lnTo>
                  <a:pt x="442" y="870"/>
                </a:lnTo>
                <a:lnTo>
                  <a:pt x="442" y="870"/>
                </a:lnTo>
                <a:close/>
                <a:moveTo>
                  <a:pt x="372" y="910"/>
                </a:moveTo>
                <a:lnTo>
                  <a:pt x="372" y="910"/>
                </a:lnTo>
                <a:lnTo>
                  <a:pt x="372" y="906"/>
                </a:lnTo>
                <a:lnTo>
                  <a:pt x="376" y="902"/>
                </a:lnTo>
                <a:lnTo>
                  <a:pt x="378" y="900"/>
                </a:lnTo>
                <a:lnTo>
                  <a:pt x="382" y="900"/>
                </a:lnTo>
                <a:lnTo>
                  <a:pt x="424" y="900"/>
                </a:lnTo>
                <a:lnTo>
                  <a:pt x="424" y="900"/>
                </a:lnTo>
                <a:lnTo>
                  <a:pt x="428" y="900"/>
                </a:lnTo>
                <a:lnTo>
                  <a:pt x="432" y="902"/>
                </a:lnTo>
                <a:lnTo>
                  <a:pt x="434" y="906"/>
                </a:lnTo>
                <a:lnTo>
                  <a:pt x="434" y="910"/>
                </a:lnTo>
                <a:lnTo>
                  <a:pt x="432" y="948"/>
                </a:lnTo>
                <a:lnTo>
                  <a:pt x="432" y="948"/>
                </a:lnTo>
                <a:lnTo>
                  <a:pt x="432" y="952"/>
                </a:lnTo>
                <a:lnTo>
                  <a:pt x="430" y="956"/>
                </a:lnTo>
                <a:lnTo>
                  <a:pt x="426" y="958"/>
                </a:lnTo>
                <a:lnTo>
                  <a:pt x="422" y="958"/>
                </a:lnTo>
                <a:lnTo>
                  <a:pt x="380" y="958"/>
                </a:lnTo>
                <a:lnTo>
                  <a:pt x="380" y="958"/>
                </a:lnTo>
                <a:lnTo>
                  <a:pt x="376" y="958"/>
                </a:lnTo>
                <a:lnTo>
                  <a:pt x="372" y="956"/>
                </a:lnTo>
                <a:lnTo>
                  <a:pt x="370" y="952"/>
                </a:lnTo>
                <a:lnTo>
                  <a:pt x="370" y="948"/>
                </a:lnTo>
                <a:lnTo>
                  <a:pt x="372" y="910"/>
                </a:lnTo>
                <a:close/>
                <a:moveTo>
                  <a:pt x="364" y="870"/>
                </a:moveTo>
                <a:lnTo>
                  <a:pt x="366" y="830"/>
                </a:lnTo>
                <a:lnTo>
                  <a:pt x="366" y="830"/>
                </a:lnTo>
                <a:lnTo>
                  <a:pt x="366" y="826"/>
                </a:lnTo>
                <a:lnTo>
                  <a:pt x="368" y="824"/>
                </a:lnTo>
                <a:lnTo>
                  <a:pt x="372" y="822"/>
                </a:lnTo>
                <a:lnTo>
                  <a:pt x="376" y="820"/>
                </a:lnTo>
                <a:lnTo>
                  <a:pt x="418" y="820"/>
                </a:lnTo>
                <a:lnTo>
                  <a:pt x="418" y="820"/>
                </a:lnTo>
                <a:lnTo>
                  <a:pt x="422" y="822"/>
                </a:lnTo>
                <a:lnTo>
                  <a:pt x="424" y="824"/>
                </a:lnTo>
                <a:lnTo>
                  <a:pt x="426" y="826"/>
                </a:lnTo>
                <a:lnTo>
                  <a:pt x="426" y="830"/>
                </a:lnTo>
                <a:lnTo>
                  <a:pt x="426" y="870"/>
                </a:lnTo>
                <a:lnTo>
                  <a:pt x="426" y="870"/>
                </a:lnTo>
                <a:lnTo>
                  <a:pt x="424" y="874"/>
                </a:lnTo>
                <a:lnTo>
                  <a:pt x="422" y="878"/>
                </a:lnTo>
                <a:lnTo>
                  <a:pt x="420" y="880"/>
                </a:lnTo>
                <a:lnTo>
                  <a:pt x="416" y="880"/>
                </a:lnTo>
                <a:lnTo>
                  <a:pt x="372" y="880"/>
                </a:lnTo>
                <a:lnTo>
                  <a:pt x="372" y="880"/>
                </a:lnTo>
                <a:lnTo>
                  <a:pt x="368" y="880"/>
                </a:lnTo>
                <a:lnTo>
                  <a:pt x="366" y="878"/>
                </a:lnTo>
                <a:lnTo>
                  <a:pt x="364" y="874"/>
                </a:lnTo>
                <a:lnTo>
                  <a:pt x="364" y="870"/>
                </a:lnTo>
                <a:lnTo>
                  <a:pt x="364" y="870"/>
                </a:lnTo>
                <a:close/>
                <a:moveTo>
                  <a:pt x="292" y="910"/>
                </a:moveTo>
                <a:lnTo>
                  <a:pt x="292" y="910"/>
                </a:lnTo>
                <a:lnTo>
                  <a:pt x="292" y="906"/>
                </a:lnTo>
                <a:lnTo>
                  <a:pt x="296" y="902"/>
                </a:lnTo>
                <a:lnTo>
                  <a:pt x="298" y="900"/>
                </a:lnTo>
                <a:lnTo>
                  <a:pt x="302" y="900"/>
                </a:lnTo>
                <a:lnTo>
                  <a:pt x="346" y="900"/>
                </a:lnTo>
                <a:lnTo>
                  <a:pt x="346" y="900"/>
                </a:lnTo>
                <a:lnTo>
                  <a:pt x="348" y="900"/>
                </a:lnTo>
                <a:lnTo>
                  <a:pt x="352" y="902"/>
                </a:lnTo>
                <a:lnTo>
                  <a:pt x="354" y="906"/>
                </a:lnTo>
                <a:lnTo>
                  <a:pt x="354" y="910"/>
                </a:lnTo>
                <a:lnTo>
                  <a:pt x="352" y="948"/>
                </a:lnTo>
                <a:lnTo>
                  <a:pt x="352" y="948"/>
                </a:lnTo>
                <a:lnTo>
                  <a:pt x="352" y="952"/>
                </a:lnTo>
                <a:lnTo>
                  <a:pt x="348" y="956"/>
                </a:lnTo>
                <a:lnTo>
                  <a:pt x="346" y="958"/>
                </a:lnTo>
                <a:lnTo>
                  <a:pt x="342" y="958"/>
                </a:lnTo>
                <a:lnTo>
                  <a:pt x="298" y="958"/>
                </a:lnTo>
                <a:lnTo>
                  <a:pt x="298" y="958"/>
                </a:lnTo>
                <a:lnTo>
                  <a:pt x="294" y="958"/>
                </a:lnTo>
                <a:lnTo>
                  <a:pt x="292" y="956"/>
                </a:lnTo>
                <a:lnTo>
                  <a:pt x="290" y="952"/>
                </a:lnTo>
                <a:lnTo>
                  <a:pt x="290" y="948"/>
                </a:lnTo>
                <a:lnTo>
                  <a:pt x="292" y="910"/>
                </a:lnTo>
                <a:close/>
                <a:moveTo>
                  <a:pt x="284" y="870"/>
                </a:moveTo>
                <a:lnTo>
                  <a:pt x="288" y="830"/>
                </a:lnTo>
                <a:lnTo>
                  <a:pt x="288" y="830"/>
                </a:lnTo>
                <a:lnTo>
                  <a:pt x="288" y="826"/>
                </a:lnTo>
                <a:lnTo>
                  <a:pt x="290" y="824"/>
                </a:lnTo>
                <a:lnTo>
                  <a:pt x="294" y="822"/>
                </a:lnTo>
                <a:lnTo>
                  <a:pt x="298" y="820"/>
                </a:lnTo>
                <a:lnTo>
                  <a:pt x="340" y="820"/>
                </a:lnTo>
                <a:lnTo>
                  <a:pt x="340" y="820"/>
                </a:lnTo>
                <a:lnTo>
                  <a:pt x="344" y="822"/>
                </a:lnTo>
                <a:lnTo>
                  <a:pt x="346" y="824"/>
                </a:lnTo>
                <a:lnTo>
                  <a:pt x="348" y="826"/>
                </a:lnTo>
                <a:lnTo>
                  <a:pt x="348" y="830"/>
                </a:lnTo>
                <a:lnTo>
                  <a:pt x="346" y="870"/>
                </a:lnTo>
                <a:lnTo>
                  <a:pt x="346" y="870"/>
                </a:lnTo>
                <a:lnTo>
                  <a:pt x="346" y="874"/>
                </a:lnTo>
                <a:lnTo>
                  <a:pt x="342" y="878"/>
                </a:lnTo>
                <a:lnTo>
                  <a:pt x="340" y="880"/>
                </a:lnTo>
                <a:lnTo>
                  <a:pt x="336" y="880"/>
                </a:lnTo>
                <a:lnTo>
                  <a:pt x="294" y="880"/>
                </a:lnTo>
                <a:lnTo>
                  <a:pt x="294" y="880"/>
                </a:lnTo>
                <a:lnTo>
                  <a:pt x="290" y="880"/>
                </a:lnTo>
                <a:lnTo>
                  <a:pt x="286" y="878"/>
                </a:lnTo>
                <a:lnTo>
                  <a:pt x="284" y="874"/>
                </a:lnTo>
                <a:lnTo>
                  <a:pt x="284" y="870"/>
                </a:lnTo>
                <a:lnTo>
                  <a:pt x="284" y="870"/>
                </a:lnTo>
                <a:close/>
                <a:moveTo>
                  <a:pt x="270" y="830"/>
                </a:moveTo>
                <a:lnTo>
                  <a:pt x="266" y="870"/>
                </a:lnTo>
                <a:lnTo>
                  <a:pt x="266" y="870"/>
                </a:lnTo>
                <a:lnTo>
                  <a:pt x="266" y="874"/>
                </a:lnTo>
                <a:lnTo>
                  <a:pt x="264" y="878"/>
                </a:lnTo>
                <a:lnTo>
                  <a:pt x="260" y="880"/>
                </a:lnTo>
                <a:lnTo>
                  <a:pt x="256" y="880"/>
                </a:lnTo>
                <a:lnTo>
                  <a:pt x="214" y="880"/>
                </a:lnTo>
                <a:lnTo>
                  <a:pt x="214" y="880"/>
                </a:lnTo>
                <a:lnTo>
                  <a:pt x="210" y="880"/>
                </a:lnTo>
                <a:lnTo>
                  <a:pt x="208" y="878"/>
                </a:lnTo>
                <a:lnTo>
                  <a:pt x="206" y="874"/>
                </a:lnTo>
                <a:lnTo>
                  <a:pt x="206" y="870"/>
                </a:lnTo>
                <a:lnTo>
                  <a:pt x="210" y="830"/>
                </a:lnTo>
                <a:lnTo>
                  <a:pt x="210" y="830"/>
                </a:lnTo>
                <a:lnTo>
                  <a:pt x="210" y="826"/>
                </a:lnTo>
                <a:lnTo>
                  <a:pt x="212" y="824"/>
                </a:lnTo>
                <a:lnTo>
                  <a:pt x="216" y="822"/>
                </a:lnTo>
                <a:lnTo>
                  <a:pt x="220" y="820"/>
                </a:lnTo>
                <a:lnTo>
                  <a:pt x="262" y="820"/>
                </a:lnTo>
                <a:lnTo>
                  <a:pt x="262" y="820"/>
                </a:lnTo>
                <a:lnTo>
                  <a:pt x="266" y="822"/>
                </a:lnTo>
                <a:lnTo>
                  <a:pt x="268" y="824"/>
                </a:lnTo>
                <a:lnTo>
                  <a:pt x="270" y="826"/>
                </a:lnTo>
                <a:lnTo>
                  <a:pt x="270" y="830"/>
                </a:lnTo>
                <a:lnTo>
                  <a:pt x="270" y="830"/>
                </a:lnTo>
                <a:close/>
                <a:moveTo>
                  <a:pt x="132" y="830"/>
                </a:moveTo>
                <a:lnTo>
                  <a:pt x="132" y="830"/>
                </a:lnTo>
                <a:lnTo>
                  <a:pt x="132" y="826"/>
                </a:lnTo>
                <a:lnTo>
                  <a:pt x="136" y="824"/>
                </a:lnTo>
                <a:lnTo>
                  <a:pt x="138" y="822"/>
                </a:lnTo>
                <a:lnTo>
                  <a:pt x="142" y="820"/>
                </a:lnTo>
                <a:lnTo>
                  <a:pt x="184" y="820"/>
                </a:lnTo>
                <a:lnTo>
                  <a:pt x="184" y="820"/>
                </a:lnTo>
                <a:lnTo>
                  <a:pt x="186" y="822"/>
                </a:lnTo>
                <a:lnTo>
                  <a:pt x="190" y="824"/>
                </a:lnTo>
                <a:lnTo>
                  <a:pt x="192" y="826"/>
                </a:lnTo>
                <a:lnTo>
                  <a:pt x="192" y="830"/>
                </a:lnTo>
                <a:lnTo>
                  <a:pt x="188" y="870"/>
                </a:lnTo>
                <a:lnTo>
                  <a:pt x="188" y="870"/>
                </a:lnTo>
                <a:lnTo>
                  <a:pt x="186" y="874"/>
                </a:lnTo>
                <a:lnTo>
                  <a:pt x="184" y="878"/>
                </a:lnTo>
                <a:lnTo>
                  <a:pt x="180" y="880"/>
                </a:lnTo>
                <a:lnTo>
                  <a:pt x="178" y="880"/>
                </a:lnTo>
                <a:lnTo>
                  <a:pt x="136" y="880"/>
                </a:lnTo>
                <a:lnTo>
                  <a:pt x="136" y="880"/>
                </a:lnTo>
                <a:lnTo>
                  <a:pt x="132" y="880"/>
                </a:lnTo>
                <a:lnTo>
                  <a:pt x="128" y="878"/>
                </a:lnTo>
                <a:lnTo>
                  <a:pt x="128" y="874"/>
                </a:lnTo>
                <a:lnTo>
                  <a:pt x="128" y="870"/>
                </a:lnTo>
                <a:lnTo>
                  <a:pt x="132" y="830"/>
                </a:lnTo>
                <a:close/>
                <a:moveTo>
                  <a:pt x="122" y="908"/>
                </a:moveTo>
                <a:lnTo>
                  <a:pt x="122" y="908"/>
                </a:lnTo>
                <a:lnTo>
                  <a:pt x="124" y="906"/>
                </a:lnTo>
                <a:lnTo>
                  <a:pt x="126" y="902"/>
                </a:lnTo>
                <a:lnTo>
                  <a:pt x="130" y="900"/>
                </a:lnTo>
                <a:lnTo>
                  <a:pt x="134" y="900"/>
                </a:lnTo>
                <a:lnTo>
                  <a:pt x="186" y="900"/>
                </a:lnTo>
                <a:lnTo>
                  <a:pt x="186" y="900"/>
                </a:lnTo>
                <a:lnTo>
                  <a:pt x="190" y="900"/>
                </a:lnTo>
                <a:lnTo>
                  <a:pt x="192" y="902"/>
                </a:lnTo>
                <a:lnTo>
                  <a:pt x="194" y="906"/>
                </a:lnTo>
                <a:lnTo>
                  <a:pt x="194" y="908"/>
                </a:lnTo>
                <a:lnTo>
                  <a:pt x="190" y="948"/>
                </a:lnTo>
                <a:lnTo>
                  <a:pt x="190" y="948"/>
                </a:lnTo>
                <a:lnTo>
                  <a:pt x="190" y="952"/>
                </a:lnTo>
                <a:lnTo>
                  <a:pt x="186" y="956"/>
                </a:lnTo>
                <a:lnTo>
                  <a:pt x="184" y="958"/>
                </a:lnTo>
                <a:lnTo>
                  <a:pt x="180" y="958"/>
                </a:lnTo>
                <a:lnTo>
                  <a:pt x="126" y="958"/>
                </a:lnTo>
                <a:lnTo>
                  <a:pt x="126" y="958"/>
                </a:lnTo>
                <a:lnTo>
                  <a:pt x="122" y="958"/>
                </a:lnTo>
                <a:lnTo>
                  <a:pt x="120" y="956"/>
                </a:lnTo>
                <a:lnTo>
                  <a:pt x="118" y="952"/>
                </a:lnTo>
                <a:lnTo>
                  <a:pt x="118" y="948"/>
                </a:lnTo>
                <a:lnTo>
                  <a:pt x="122" y="908"/>
                </a:lnTo>
                <a:close/>
                <a:moveTo>
                  <a:pt x="158" y="1028"/>
                </a:moveTo>
                <a:lnTo>
                  <a:pt x="158" y="1028"/>
                </a:lnTo>
                <a:lnTo>
                  <a:pt x="158" y="1032"/>
                </a:lnTo>
                <a:lnTo>
                  <a:pt x="154" y="1034"/>
                </a:lnTo>
                <a:lnTo>
                  <a:pt x="152" y="1036"/>
                </a:lnTo>
                <a:lnTo>
                  <a:pt x="148" y="1038"/>
                </a:lnTo>
                <a:lnTo>
                  <a:pt x="118" y="1038"/>
                </a:lnTo>
                <a:lnTo>
                  <a:pt x="118" y="1038"/>
                </a:lnTo>
                <a:lnTo>
                  <a:pt x="114" y="1036"/>
                </a:lnTo>
                <a:lnTo>
                  <a:pt x="110" y="1034"/>
                </a:lnTo>
                <a:lnTo>
                  <a:pt x="108" y="1032"/>
                </a:lnTo>
                <a:lnTo>
                  <a:pt x="108" y="1028"/>
                </a:lnTo>
                <a:lnTo>
                  <a:pt x="114" y="988"/>
                </a:lnTo>
                <a:lnTo>
                  <a:pt x="114" y="988"/>
                </a:lnTo>
                <a:lnTo>
                  <a:pt x="114" y="984"/>
                </a:lnTo>
                <a:lnTo>
                  <a:pt x="116" y="980"/>
                </a:lnTo>
                <a:lnTo>
                  <a:pt x="120" y="978"/>
                </a:lnTo>
                <a:lnTo>
                  <a:pt x="124" y="978"/>
                </a:lnTo>
                <a:lnTo>
                  <a:pt x="154" y="978"/>
                </a:lnTo>
                <a:lnTo>
                  <a:pt x="154" y="978"/>
                </a:lnTo>
                <a:lnTo>
                  <a:pt x="158" y="978"/>
                </a:lnTo>
                <a:lnTo>
                  <a:pt x="160" y="980"/>
                </a:lnTo>
                <a:lnTo>
                  <a:pt x="162" y="984"/>
                </a:lnTo>
                <a:lnTo>
                  <a:pt x="162" y="988"/>
                </a:lnTo>
                <a:lnTo>
                  <a:pt x="158" y="1028"/>
                </a:lnTo>
                <a:close/>
                <a:moveTo>
                  <a:pt x="250" y="1028"/>
                </a:moveTo>
                <a:lnTo>
                  <a:pt x="250" y="1028"/>
                </a:lnTo>
                <a:lnTo>
                  <a:pt x="248" y="1032"/>
                </a:lnTo>
                <a:lnTo>
                  <a:pt x="246" y="1034"/>
                </a:lnTo>
                <a:lnTo>
                  <a:pt x="244" y="1036"/>
                </a:lnTo>
                <a:lnTo>
                  <a:pt x="240" y="1038"/>
                </a:lnTo>
                <a:lnTo>
                  <a:pt x="186" y="1038"/>
                </a:lnTo>
                <a:lnTo>
                  <a:pt x="186" y="1038"/>
                </a:lnTo>
                <a:lnTo>
                  <a:pt x="182" y="1036"/>
                </a:lnTo>
                <a:lnTo>
                  <a:pt x="180" y="1034"/>
                </a:lnTo>
                <a:lnTo>
                  <a:pt x="178" y="1032"/>
                </a:lnTo>
                <a:lnTo>
                  <a:pt x="176" y="1028"/>
                </a:lnTo>
                <a:lnTo>
                  <a:pt x="180" y="988"/>
                </a:lnTo>
                <a:lnTo>
                  <a:pt x="180" y="988"/>
                </a:lnTo>
                <a:lnTo>
                  <a:pt x="182" y="984"/>
                </a:lnTo>
                <a:lnTo>
                  <a:pt x="184" y="980"/>
                </a:lnTo>
                <a:lnTo>
                  <a:pt x="188" y="978"/>
                </a:lnTo>
                <a:lnTo>
                  <a:pt x="192" y="978"/>
                </a:lnTo>
                <a:lnTo>
                  <a:pt x="244" y="978"/>
                </a:lnTo>
                <a:lnTo>
                  <a:pt x="244" y="978"/>
                </a:lnTo>
                <a:lnTo>
                  <a:pt x="248" y="978"/>
                </a:lnTo>
                <a:lnTo>
                  <a:pt x="250" y="980"/>
                </a:lnTo>
                <a:lnTo>
                  <a:pt x="252" y="984"/>
                </a:lnTo>
                <a:lnTo>
                  <a:pt x="254" y="988"/>
                </a:lnTo>
                <a:lnTo>
                  <a:pt x="250" y="1028"/>
                </a:lnTo>
                <a:close/>
                <a:moveTo>
                  <a:pt x="260" y="958"/>
                </a:moveTo>
                <a:lnTo>
                  <a:pt x="218" y="958"/>
                </a:lnTo>
                <a:lnTo>
                  <a:pt x="218" y="958"/>
                </a:lnTo>
                <a:lnTo>
                  <a:pt x="214" y="958"/>
                </a:lnTo>
                <a:lnTo>
                  <a:pt x="210" y="956"/>
                </a:lnTo>
                <a:lnTo>
                  <a:pt x="208" y="952"/>
                </a:lnTo>
                <a:lnTo>
                  <a:pt x="208" y="948"/>
                </a:lnTo>
                <a:lnTo>
                  <a:pt x="212" y="910"/>
                </a:lnTo>
                <a:lnTo>
                  <a:pt x="212" y="910"/>
                </a:lnTo>
                <a:lnTo>
                  <a:pt x="214" y="906"/>
                </a:lnTo>
                <a:lnTo>
                  <a:pt x="216" y="902"/>
                </a:lnTo>
                <a:lnTo>
                  <a:pt x="218" y="900"/>
                </a:lnTo>
                <a:lnTo>
                  <a:pt x="222" y="900"/>
                </a:lnTo>
                <a:lnTo>
                  <a:pt x="266" y="900"/>
                </a:lnTo>
                <a:lnTo>
                  <a:pt x="266" y="900"/>
                </a:lnTo>
                <a:lnTo>
                  <a:pt x="270" y="900"/>
                </a:lnTo>
                <a:lnTo>
                  <a:pt x="272" y="902"/>
                </a:lnTo>
                <a:lnTo>
                  <a:pt x="274" y="906"/>
                </a:lnTo>
                <a:lnTo>
                  <a:pt x="274" y="910"/>
                </a:lnTo>
                <a:lnTo>
                  <a:pt x="272" y="948"/>
                </a:lnTo>
                <a:lnTo>
                  <a:pt x="272" y="948"/>
                </a:lnTo>
                <a:lnTo>
                  <a:pt x="270" y="952"/>
                </a:lnTo>
                <a:lnTo>
                  <a:pt x="268" y="956"/>
                </a:lnTo>
                <a:lnTo>
                  <a:pt x="264" y="958"/>
                </a:lnTo>
                <a:lnTo>
                  <a:pt x="260" y="958"/>
                </a:lnTo>
                <a:lnTo>
                  <a:pt x="260" y="958"/>
                </a:lnTo>
                <a:close/>
                <a:moveTo>
                  <a:pt x="772" y="1038"/>
                </a:moveTo>
                <a:lnTo>
                  <a:pt x="278" y="1038"/>
                </a:lnTo>
                <a:lnTo>
                  <a:pt x="278" y="1038"/>
                </a:lnTo>
                <a:lnTo>
                  <a:pt x="274" y="1036"/>
                </a:lnTo>
                <a:lnTo>
                  <a:pt x="270" y="1034"/>
                </a:lnTo>
                <a:lnTo>
                  <a:pt x="268" y="1032"/>
                </a:lnTo>
                <a:lnTo>
                  <a:pt x="268" y="1028"/>
                </a:lnTo>
                <a:lnTo>
                  <a:pt x="272" y="988"/>
                </a:lnTo>
                <a:lnTo>
                  <a:pt x="272" y="988"/>
                </a:lnTo>
                <a:lnTo>
                  <a:pt x="272" y="984"/>
                </a:lnTo>
                <a:lnTo>
                  <a:pt x="274" y="980"/>
                </a:lnTo>
                <a:lnTo>
                  <a:pt x="278" y="978"/>
                </a:lnTo>
                <a:lnTo>
                  <a:pt x="282" y="978"/>
                </a:lnTo>
                <a:lnTo>
                  <a:pt x="768" y="978"/>
                </a:lnTo>
                <a:lnTo>
                  <a:pt x="768" y="978"/>
                </a:lnTo>
                <a:lnTo>
                  <a:pt x="772" y="978"/>
                </a:lnTo>
                <a:lnTo>
                  <a:pt x="776" y="980"/>
                </a:lnTo>
                <a:lnTo>
                  <a:pt x="778" y="984"/>
                </a:lnTo>
                <a:lnTo>
                  <a:pt x="780" y="988"/>
                </a:lnTo>
                <a:lnTo>
                  <a:pt x="782" y="1028"/>
                </a:lnTo>
                <a:lnTo>
                  <a:pt x="782" y="1028"/>
                </a:lnTo>
                <a:lnTo>
                  <a:pt x="782" y="1032"/>
                </a:lnTo>
                <a:lnTo>
                  <a:pt x="780" y="1034"/>
                </a:lnTo>
                <a:lnTo>
                  <a:pt x="776" y="1036"/>
                </a:lnTo>
                <a:lnTo>
                  <a:pt x="772" y="1038"/>
                </a:lnTo>
                <a:lnTo>
                  <a:pt x="772" y="1038"/>
                </a:lnTo>
                <a:close/>
                <a:moveTo>
                  <a:pt x="774" y="948"/>
                </a:moveTo>
                <a:lnTo>
                  <a:pt x="772" y="910"/>
                </a:lnTo>
                <a:lnTo>
                  <a:pt x="772" y="910"/>
                </a:lnTo>
                <a:lnTo>
                  <a:pt x="772" y="906"/>
                </a:lnTo>
                <a:lnTo>
                  <a:pt x="774" y="902"/>
                </a:lnTo>
                <a:lnTo>
                  <a:pt x="778" y="900"/>
                </a:lnTo>
                <a:lnTo>
                  <a:pt x="780" y="900"/>
                </a:lnTo>
                <a:lnTo>
                  <a:pt x="824" y="900"/>
                </a:lnTo>
                <a:lnTo>
                  <a:pt x="824" y="900"/>
                </a:lnTo>
                <a:lnTo>
                  <a:pt x="828" y="900"/>
                </a:lnTo>
                <a:lnTo>
                  <a:pt x="830" y="902"/>
                </a:lnTo>
                <a:lnTo>
                  <a:pt x="834" y="906"/>
                </a:lnTo>
                <a:lnTo>
                  <a:pt x="834" y="910"/>
                </a:lnTo>
                <a:lnTo>
                  <a:pt x="838" y="948"/>
                </a:lnTo>
                <a:lnTo>
                  <a:pt x="838" y="948"/>
                </a:lnTo>
                <a:lnTo>
                  <a:pt x="836" y="952"/>
                </a:lnTo>
                <a:lnTo>
                  <a:pt x="834" y="956"/>
                </a:lnTo>
                <a:lnTo>
                  <a:pt x="832" y="958"/>
                </a:lnTo>
                <a:lnTo>
                  <a:pt x="828" y="958"/>
                </a:lnTo>
                <a:lnTo>
                  <a:pt x="784" y="958"/>
                </a:lnTo>
                <a:lnTo>
                  <a:pt x="784" y="958"/>
                </a:lnTo>
                <a:lnTo>
                  <a:pt x="780" y="958"/>
                </a:lnTo>
                <a:lnTo>
                  <a:pt x="778" y="956"/>
                </a:lnTo>
                <a:lnTo>
                  <a:pt x="776" y="952"/>
                </a:lnTo>
                <a:lnTo>
                  <a:pt x="774" y="948"/>
                </a:lnTo>
                <a:lnTo>
                  <a:pt x="774" y="948"/>
                </a:lnTo>
                <a:close/>
                <a:moveTo>
                  <a:pt x="864" y="1038"/>
                </a:moveTo>
                <a:lnTo>
                  <a:pt x="810" y="1038"/>
                </a:lnTo>
                <a:lnTo>
                  <a:pt x="810" y="1038"/>
                </a:lnTo>
                <a:lnTo>
                  <a:pt x="806" y="1036"/>
                </a:lnTo>
                <a:lnTo>
                  <a:pt x="804" y="1034"/>
                </a:lnTo>
                <a:lnTo>
                  <a:pt x="802" y="1032"/>
                </a:lnTo>
                <a:lnTo>
                  <a:pt x="800" y="1028"/>
                </a:lnTo>
                <a:lnTo>
                  <a:pt x="798" y="988"/>
                </a:lnTo>
                <a:lnTo>
                  <a:pt x="798" y="988"/>
                </a:lnTo>
                <a:lnTo>
                  <a:pt x="798" y="984"/>
                </a:lnTo>
                <a:lnTo>
                  <a:pt x="800" y="980"/>
                </a:lnTo>
                <a:lnTo>
                  <a:pt x="802" y="978"/>
                </a:lnTo>
                <a:lnTo>
                  <a:pt x="806" y="978"/>
                </a:lnTo>
                <a:lnTo>
                  <a:pt x="860" y="978"/>
                </a:lnTo>
                <a:lnTo>
                  <a:pt x="860" y="978"/>
                </a:lnTo>
                <a:lnTo>
                  <a:pt x="864" y="978"/>
                </a:lnTo>
                <a:lnTo>
                  <a:pt x="866" y="980"/>
                </a:lnTo>
                <a:lnTo>
                  <a:pt x="868" y="984"/>
                </a:lnTo>
                <a:lnTo>
                  <a:pt x="870" y="988"/>
                </a:lnTo>
                <a:lnTo>
                  <a:pt x="874" y="1028"/>
                </a:lnTo>
                <a:lnTo>
                  <a:pt x="874" y="1028"/>
                </a:lnTo>
                <a:lnTo>
                  <a:pt x="872" y="1032"/>
                </a:lnTo>
                <a:lnTo>
                  <a:pt x="870" y="1034"/>
                </a:lnTo>
                <a:lnTo>
                  <a:pt x="868" y="1036"/>
                </a:lnTo>
                <a:lnTo>
                  <a:pt x="864" y="1038"/>
                </a:lnTo>
                <a:lnTo>
                  <a:pt x="864" y="1038"/>
                </a:lnTo>
                <a:close/>
                <a:moveTo>
                  <a:pt x="992" y="1038"/>
                </a:moveTo>
                <a:lnTo>
                  <a:pt x="902" y="1038"/>
                </a:lnTo>
                <a:lnTo>
                  <a:pt x="902" y="1038"/>
                </a:lnTo>
                <a:lnTo>
                  <a:pt x="898" y="1036"/>
                </a:lnTo>
                <a:lnTo>
                  <a:pt x="896" y="1034"/>
                </a:lnTo>
                <a:lnTo>
                  <a:pt x="892" y="1032"/>
                </a:lnTo>
                <a:lnTo>
                  <a:pt x="892" y="1028"/>
                </a:lnTo>
                <a:lnTo>
                  <a:pt x="888" y="988"/>
                </a:lnTo>
                <a:lnTo>
                  <a:pt x="888" y="988"/>
                </a:lnTo>
                <a:lnTo>
                  <a:pt x="888" y="984"/>
                </a:lnTo>
                <a:lnTo>
                  <a:pt x="890" y="980"/>
                </a:lnTo>
                <a:lnTo>
                  <a:pt x="894" y="978"/>
                </a:lnTo>
                <a:lnTo>
                  <a:pt x="896" y="978"/>
                </a:lnTo>
                <a:lnTo>
                  <a:pt x="986" y="978"/>
                </a:lnTo>
                <a:lnTo>
                  <a:pt x="986" y="978"/>
                </a:lnTo>
                <a:lnTo>
                  <a:pt x="990" y="978"/>
                </a:lnTo>
                <a:lnTo>
                  <a:pt x="992" y="980"/>
                </a:lnTo>
                <a:lnTo>
                  <a:pt x="994" y="984"/>
                </a:lnTo>
                <a:lnTo>
                  <a:pt x="996" y="988"/>
                </a:lnTo>
                <a:lnTo>
                  <a:pt x="1000" y="1028"/>
                </a:lnTo>
                <a:lnTo>
                  <a:pt x="1000" y="1028"/>
                </a:lnTo>
                <a:lnTo>
                  <a:pt x="1000" y="1032"/>
                </a:lnTo>
                <a:lnTo>
                  <a:pt x="998" y="1034"/>
                </a:lnTo>
                <a:lnTo>
                  <a:pt x="996" y="1036"/>
                </a:lnTo>
                <a:lnTo>
                  <a:pt x="992" y="1038"/>
                </a:lnTo>
                <a:lnTo>
                  <a:pt x="992" y="1038"/>
                </a:lnTo>
                <a:close/>
              </a:path>
            </a:pathLst>
          </a:custGeom>
          <a:solidFill>
            <a:srgbClr val="007CB0"/>
          </a:solidFill>
          <a:ln>
            <a:noFill/>
          </a:ln>
        </p:spPr>
        <p:txBody>
          <a:bodyPr vert="horz" wrap="square" lIns="68750" tIns="34375" rIns="68750" bIns="34375" numCol="1" anchor="t" anchorCtr="0" compatLnSpc="1">
            <a:prstTxWarp prst="textNoShape">
              <a:avLst/>
            </a:prstTxWarp>
          </a:bodyP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1200" cap="none" spc="0" normalizeH="0" baseline="0" noProof="0">
              <a:ln>
                <a:noFill/>
              </a:ln>
              <a:solidFill>
                <a:srgbClr val="000000"/>
              </a:solidFill>
              <a:effectLst/>
              <a:uLnTx/>
              <a:uFillTx/>
              <a:latin typeface="Calibri" panose="020F0502020204030204"/>
              <a:ea typeface="+mn-ea"/>
              <a:cs typeface="Arial" pitchFamily="34" charset="0"/>
            </a:endParaRPr>
          </a:p>
        </p:txBody>
      </p:sp>
      <p:cxnSp>
        <p:nvCxnSpPr>
          <p:cNvPr id="43" name="Straight Arrow Connector 42">
            <a:extLst>
              <a:ext uri="{FF2B5EF4-FFF2-40B4-BE49-F238E27FC236}">
                <a16:creationId xmlns:a16="http://schemas.microsoft.com/office/drawing/2014/main" id="{A92E3F45-A00D-42C8-8678-1B9E955409DE}"/>
              </a:ext>
            </a:extLst>
          </p:cNvPr>
          <p:cNvCxnSpPr>
            <a:cxnSpLocks/>
            <a:stCxn id="14" idx="0"/>
            <a:endCxn id="21" idx="2"/>
          </p:cNvCxnSpPr>
          <p:nvPr/>
        </p:nvCxnSpPr>
        <p:spPr>
          <a:xfrm flipV="1">
            <a:off x="10144452" y="3596399"/>
            <a:ext cx="429" cy="28848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1D15A1F-7336-41B9-ABB3-D8F2FE1E2009}"/>
              </a:ext>
            </a:extLst>
          </p:cNvPr>
          <p:cNvCxnSpPr>
            <a:cxnSpLocks/>
            <a:stCxn id="21" idx="2"/>
            <a:endCxn id="14" idx="0"/>
          </p:cNvCxnSpPr>
          <p:nvPr/>
        </p:nvCxnSpPr>
        <p:spPr>
          <a:xfrm flipH="1">
            <a:off x="10144452" y="3596399"/>
            <a:ext cx="429" cy="28848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45" name="Picture 44" descr="A picture containing text&#10;&#10;Description automatically generated">
            <a:extLst>
              <a:ext uri="{FF2B5EF4-FFF2-40B4-BE49-F238E27FC236}">
                <a16:creationId xmlns:a16="http://schemas.microsoft.com/office/drawing/2014/main" id="{FB215D96-5DC3-4342-A6E2-F358AD7A50FA}"/>
              </a:ext>
            </a:extLst>
          </p:cNvPr>
          <p:cNvPicPr>
            <a:picLocks noChangeAspect="1"/>
          </p:cNvPicPr>
          <p:nvPr/>
        </p:nvPicPr>
        <p:blipFill rotWithShape="1">
          <a:blip r:embed="rId2"/>
          <a:srcRect t="90178" r="32706" b="-593"/>
          <a:stretch/>
        </p:blipFill>
        <p:spPr>
          <a:xfrm>
            <a:off x="5677" y="6269474"/>
            <a:ext cx="6372225" cy="554599"/>
          </a:xfrm>
          <a:prstGeom prst="rect">
            <a:avLst/>
          </a:prstGeom>
        </p:spPr>
      </p:pic>
      <p:pic>
        <p:nvPicPr>
          <p:cNvPr id="46" name="Picture 45" descr="A picture containing text&#10;&#10;Description automatically generated">
            <a:extLst>
              <a:ext uri="{FF2B5EF4-FFF2-40B4-BE49-F238E27FC236}">
                <a16:creationId xmlns:a16="http://schemas.microsoft.com/office/drawing/2014/main" id="{F3A92E95-29CF-40D2-A0EE-3990332F2B1F}"/>
              </a:ext>
            </a:extLst>
          </p:cNvPr>
          <p:cNvPicPr>
            <a:picLocks noChangeAspect="1"/>
          </p:cNvPicPr>
          <p:nvPr/>
        </p:nvPicPr>
        <p:blipFill rotWithShape="1">
          <a:blip r:embed="rId2"/>
          <a:srcRect t="86960" r="37534" b="-593"/>
          <a:stretch/>
        </p:blipFill>
        <p:spPr>
          <a:xfrm flipH="1">
            <a:off x="7072311" y="6269474"/>
            <a:ext cx="5119687" cy="628346"/>
          </a:xfrm>
          <a:prstGeom prst="rect">
            <a:avLst/>
          </a:prstGeom>
        </p:spPr>
      </p:pic>
    </p:spTree>
    <p:extLst>
      <p:ext uri="{BB962C8B-B14F-4D97-AF65-F5344CB8AC3E}">
        <p14:creationId xmlns:p14="http://schemas.microsoft.com/office/powerpoint/2010/main" val="2654740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94E618-9687-4B71-95C9-F7D2D7CB9F65}"/>
              </a:ext>
            </a:extLst>
          </p:cNvPr>
          <p:cNvSpPr txBox="1"/>
          <p:nvPr/>
        </p:nvSpPr>
        <p:spPr>
          <a:xfrm>
            <a:off x="608919" y="1261100"/>
            <a:ext cx="4792298" cy="723275"/>
          </a:xfrm>
          <a:prstGeom prst="rect">
            <a:avLst/>
          </a:prstGeom>
          <a:noFill/>
        </p:spPr>
        <p:txBody>
          <a:bodyPr wrap="square" rtlCol="0">
            <a:spAutoFit/>
          </a:bodyPr>
          <a:lstStyle/>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MFCS/PCS application</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Data Access Schema (DAS) or Retail Data Store (RDS)</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RDS Rest API</a:t>
            </a:r>
          </a:p>
        </p:txBody>
      </p:sp>
      <p:sp>
        <p:nvSpPr>
          <p:cNvPr id="3" name="TextBox 2">
            <a:extLst>
              <a:ext uri="{FF2B5EF4-FFF2-40B4-BE49-F238E27FC236}">
                <a16:creationId xmlns:a16="http://schemas.microsoft.com/office/drawing/2014/main" id="{8C7E80C1-4127-4C68-B8BC-987DB79DCD58}"/>
              </a:ext>
            </a:extLst>
          </p:cNvPr>
          <p:cNvSpPr txBox="1"/>
          <p:nvPr/>
        </p:nvSpPr>
        <p:spPr>
          <a:xfrm>
            <a:off x="600136" y="2448383"/>
            <a:ext cx="4798216" cy="1384995"/>
          </a:xfrm>
          <a:prstGeom prst="rect">
            <a:avLst/>
          </a:prstGeom>
          <a:noFill/>
        </p:spPr>
        <p:txBody>
          <a:bodyPr wrap="square" lIns="91440" tIns="45720" rIns="91440" bIns="45720" rtlCol="0" anchor="t">
            <a:spAutoFit/>
          </a:bodyPr>
          <a:lstStyle/>
          <a:p>
            <a:pPr marL="228600" marR="0" lvl="0" indent="-2286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a:solidFill>
                  <a:srgbClr val="1A1816"/>
                </a:solidFill>
                <a:effectLst/>
                <a:latin typeface="Calibri"/>
                <a:cs typeface="Calibri"/>
              </a:rPr>
              <a:t>RDS is a data replication implementation that uses Oracle Golden Gate to replicate application data from Retail applications to a centralized Autonomous Data Warehouse (ADW) database. The data is kept in sync with the source application database in near-real-time. </a:t>
            </a:r>
          </a:p>
          <a:p>
            <a:pPr marL="228600" indent="-228600" algn="just">
              <a:buFont typeface="Arial" panose="020B0604020202020204" pitchFamily="34" charset="0"/>
              <a:buChar char="•"/>
              <a:defRPr/>
            </a:pPr>
            <a:r>
              <a:rPr lang="en-US" sz="1200">
                <a:latin typeface="Calibri"/>
                <a:cs typeface="Calibri"/>
              </a:rPr>
              <a:t>RDS provides Oracle APEX instance which has RESTful Services feature to build Oracle Rest Data Services (ORDS). Data is exposed via these Rest Services to third party systems.</a:t>
            </a:r>
            <a:endParaRPr lang="en-US" sz="1200" b="0" i="0" u="none" strike="noStrike" kern="1200" cap="none" spc="0" normalizeH="0" baseline="0" noProof="0">
              <a:ln>
                <a:noFill/>
              </a:ln>
              <a:effectLst/>
              <a:uLnTx/>
              <a:uFillTx/>
              <a:latin typeface="Calibri"/>
              <a:cs typeface="Calibri"/>
            </a:endParaRPr>
          </a:p>
        </p:txBody>
      </p:sp>
      <p:sp>
        <p:nvSpPr>
          <p:cNvPr id="4" name="TextBox 3">
            <a:extLst>
              <a:ext uri="{FF2B5EF4-FFF2-40B4-BE49-F238E27FC236}">
                <a16:creationId xmlns:a16="http://schemas.microsoft.com/office/drawing/2014/main" id="{4C8B0DE9-A37E-4279-8A30-28420DD89A74}"/>
              </a:ext>
            </a:extLst>
          </p:cNvPr>
          <p:cNvSpPr txBox="1"/>
          <p:nvPr/>
        </p:nvSpPr>
        <p:spPr>
          <a:xfrm>
            <a:off x="620326" y="3693193"/>
            <a:ext cx="4869476" cy="2762295"/>
          </a:xfrm>
          <a:prstGeom prst="rect">
            <a:avLst/>
          </a:prstGeom>
          <a:noFill/>
        </p:spPr>
        <p:txBody>
          <a:bodyPr wrap="square" rtlCol="0">
            <a:spAutoFit/>
          </a:bodyPr>
          <a:lstStyle>
            <a:defPPr>
              <a:defRPr lang="en-US"/>
            </a:defPPr>
            <a:lvl1pPr>
              <a:defRPr sz="900"/>
            </a:lvl1pPr>
          </a:lstStyle>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endParaRP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endParaRP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Data is replicated from Oracle Retail cloud applications to RDS in near real-time via Golden Gate. In case of DAS (Oracle ATP database), there is a source/target Golden Gate to enable the replication.</a:t>
            </a:r>
          </a:p>
          <a:p>
            <a:pPr marL="228600" marR="0" lvl="1" indent="-228600" algn="just" defTabSz="914400" rtl="0" eaLnBrk="1" fontAlgn="auto" latinLnBrk="0" hangingPunct="1">
              <a:lnSpc>
                <a:spcPct val="100000"/>
              </a:lnSpc>
              <a:spcBef>
                <a:spcPts val="300"/>
              </a:spcBef>
              <a:spcAft>
                <a:spcPts val="0"/>
              </a:spcAft>
              <a:buClrTx/>
              <a:buSzPct val="100000"/>
              <a:buFont typeface="+mj-lt"/>
              <a:buAutoNum type="arabicPeriod"/>
              <a:tabLst/>
              <a:defRPr/>
            </a:pPr>
            <a:r>
              <a:rPr lang="en-US" sz="1200">
                <a:solidFill>
                  <a:prstClr val="black"/>
                </a:solidFill>
                <a:latin typeface="Calibri" panose="020F0502020204030204"/>
                <a:ea typeface="Verdana" panose="020B0604030504040204" pitchFamily="34" charset="0"/>
                <a:cs typeface="Arial" panose="020B0604020202020204" pitchFamily="34" charset="0"/>
              </a:rPr>
              <a:t>Data is exposed via Rest Services . Middleware invokes these Rest APIs and response is received in JSON format.</a:t>
            </a:r>
          </a:p>
          <a:p>
            <a:pPr marL="0" marR="0" lvl="1" algn="just" defTabSz="914400" rtl="0" eaLnBrk="1" fontAlgn="auto" latinLnBrk="0" hangingPunct="1">
              <a:lnSpc>
                <a:spcPct val="100000"/>
              </a:lnSpc>
              <a:spcBef>
                <a:spcPts val="300"/>
              </a:spcBef>
              <a:spcAft>
                <a:spcPts val="0"/>
              </a:spcAft>
              <a:buClrTx/>
              <a:buSzPct val="100000"/>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OR</a:t>
            </a:r>
          </a:p>
          <a:p>
            <a:pPr marL="0" marR="0" lvl="1" algn="just" defTabSz="914400" rtl="0" eaLnBrk="1" fontAlgn="auto" latinLnBrk="0" hangingPunct="1">
              <a:lnSpc>
                <a:spcPct val="100000"/>
              </a:lnSpc>
              <a:spcBef>
                <a:spcPts val="300"/>
              </a:spcBef>
              <a:spcAft>
                <a:spcPts val="0"/>
              </a:spcAft>
              <a:buClrTx/>
              <a:buSzPct val="100000"/>
              <a:tabLst/>
              <a:defRPr/>
            </a:pPr>
            <a:r>
              <a:rPr lang="en-US" sz="1200">
                <a:solidFill>
                  <a:prstClr val="black"/>
                </a:solidFill>
                <a:latin typeface="Calibri" panose="020F0502020204030204"/>
                <a:ea typeface="Verdana" panose="020B0604030504040204" pitchFamily="34" charset="0"/>
                <a:cs typeface="Arial" panose="020B0604020202020204" pitchFamily="34" charset="0"/>
              </a:rPr>
              <a:t>     In Case of DAS, Middleware connects to the database through JDBC connection and executes queries to extract data in required format.</a:t>
            </a:r>
            <a:endPar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endParaRPr>
          </a:p>
          <a:p>
            <a:pPr marL="228600" marR="0" lvl="1" indent="-228600" algn="just" defTabSz="914400" rtl="0" eaLnBrk="1" fontAlgn="auto" latinLnBrk="0" hangingPunct="1">
              <a:lnSpc>
                <a:spcPct val="100000"/>
              </a:lnSpc>
              <a:spcBef>
                <a:spcPts val="300"/>
              </a:spcBef>
              <a:spcAft>
                <a:spcPts val="0"/>
              </a:spcAft>
              <a:buClrTx/>
              <a:buSzPct val="100000"/>
              <a:buAutoNum type="arabicPeriod" startAt="3"/>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Data is transformed per the required format.</a:t>
            </a:r>
          </a:p>
          <a:p>
            <a:pPr marL="228600" marR="0" lvl="1" indent="-228600" algn="just" defTabSz="914400" rtl="0" eaLnBrk="1" fontAlgn="auto" latinLnBrk="0" hangingPunct="1">
              <a:lnSpc>
                <a:spcPct val="100000"/>
              </a:lnSpc>
              <a:spcBef>
                <a:spcPts val="300"/>
              </a:spcBef>
              <a:spcAft>
                <a:spcPts val="0"/>
              </a:spcAft>
              <a:buClrTx/>
              <a:buSzPct val="100000"/>
              <a:buAutoNum type="arabicPeriod" startAt="3"/>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Verdana" panose="020B0604030504040204" pitchFamily="34" charset="0"/>
                <a:cs typeface="Arial" panose="020B0604020202020204" pitchFamily="34" charset="0"/>
              </a:rPr>
              <a:t>Data can be published as file extracts or loaded in staging tables in Boundary applications.</a:t>
            </a:r>
          </a:p>
        </p:txBody>
      </p:sp>
      <p:sp>
        <p:nvSpPr>
          <p:cNvPr id="5" name="Text Box 4">
            <a:extLst>
              <a:ext uri="{FF2B5EF4-FFF2-40B4-BE49-F238E27FC236}">
                <a16:creationId xmlns:a16="http://schemas.microsoft.com/office/drawing/2014/main" id="{F74F1CC9-DDB7-4F4B-A0FD-426770C04F53}"/>
              </a:ext>
            </a:extLst>
          </p:cNvPr>
          <p:cNvSpPr txBox="1">
            <a:spLocks noChangeArrowheads="1"/>
          </p:cNvSpPr>
          <p:nvPr/>
        </p:nvSpPr>
        <p:spPr bwMode="gray">
          <a:xfrm>
            <a:off x="561581" y="1011190"/>
            <a:ext cx="4844995" cy="228434"/>
          </a:xfrm>
          <a:prstGeom prst="rect">
            <a:avLst/>
          </a:prstGeom>
          <a:noFill/>
          <a:ln w="9525" cap="flat" cmpd="sng" algn="ctr">
            <a:solidFill>
              <a:srgbClr val="007CB0"/>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Architectural Components</a:t>
            </a:r>
          </a:p>
        </p:txBody>
      </p:sp>
      <p:sp>
        <p:nvSpPr>
          <p:cNvPr id="6" name="Oval 5">
            <a:extLst>
              <a:ext uri="{FF2B5EF4-FFF2-40B4-BE49-F238E27FC236}">
                <a16:creationId xmlns:a16="http://schemas.microsoft.com/office/drawing/2014/main" id="{1A3F34D7-323E-40AE-B3C7-A94A8EBBFED8}"/>
              </a:ext>
            </a:extLst>
          </p:cNvPr>
          <p:cNvSpPr/>
          <p:nvPr/>
        </p:nvSpPr>
        <p:spPr>
          <a:xfrm>
            <a:off x="332982" y="965470"/>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1</a:t>
            </a:r>
          </a:p>
        </p:txBody>
      </p:sp>
      <p:sp>
        <p:nvSpPr>
          <p:cNvPr id="7" name="Text Box 4">
            <a:extLst>
              <a:ext uri="{FF2B5EF4-FFF2-40B4-BE49-F238E27FC236}">
                <a16:creationId xmlns:a16="http://schemas.microsoft.com/office/drawing/2014/main" id="{41F14822-D193-46B8-B304-4CE8599C10A3}"/>
              </a:ext>
            </a:extLst>
          </p:cNvPr>
          <p:cNvSpPr txBox="1">
            <a:spLocks noChangeArrowheads="1"/>
          </p:cNvSpPr>
          <p:nvPr/>
        </p:nvSpPr>
        <p:spPr bwMode="gray">
          <a:xfrm>
            <a:off x="584247" y="2142672"/>
            <a:ext cx="4844995" cy="217053"/>
          </a:xfrm>
          <a:prstGeom prst="rect">
            <a:avLst/>
          </a:prstGeom>
          <a:noFill/>
          <a:ln w="9525" cap="flat" cmpd="sng" algn="ctr">
            <a:solidFill>
              <a:srgbClr val="007CB0"/>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Overview</a:t>
            </a:r>
          </a:p>
        </p:txBody>
      </p:sp>
      <p:sp>
        <p:nvSpPr>
          <p:cNvPr id="8" name="Oval 7">
            <a:extLst>
              <a:ext uri="{FF2B5EF4-FFF2-40B4-BE49-F238E27FC236}">
                <a16:creationId xmlns:a16="http://schemas.microsoft.com/office/drawing/2014/main" id="{641CF761-C791-4D14-AADA-ACAA4DFE1FD9}"/>
              </a:ext>
            </a:extLst>
          </p:cNvPr>
          <p:cNvSpPr/>
          <p:nvPr/>
        </p:nvSpPr>
        <p:spPr>
          <a:xfrm>
            <a:off x="332982" y="2187934"/>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2</a:t>
            </a:r>
          </a:p>
        </p:txBody>
      </p:sp>
      <p:sp>
        <p:nvSpPr>
          <p:cNvPr id="9" name="Text Box 4">
            <a:extLst>
              <a:ext uri="{FF2B5EF4-FFF2-40B4-BE49-F238E27FC236}">
                <a16:creationId xmlns:a16="http://schemas.microsoft.com/office/drawing/2014/main" id="{CEB3FB32-69BC-4764-AAA5-DBB134B8254D}"/>
              </a:ext>
            </a:extLst>
          </p:cNvPr>
          <p:cNvSpPr txBox="1">
            <a:spLocks noChangeArrowheads="1"/>
          </p:cNvSpPr>
          <p:nvPr/>
        </p:nvSpPr>
        <p:spPr bwMode="gray">
          <a:xfrm>
            <a:off x="533432" y="3895851"/>
            <a:ext cx="4938467" cy="247650"/>
          </a:xfrm>
          <a:prstGeom prst="rect">
            <a:avLst/>
          </a:prstGeom>
          <a:noFill/>
          <a:ln w="9525" cap="flat" cmpd="sng" algn="ctr">
            <a:solidFill>
              <a:srgbClr val="007CB0"/>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Steps</a:t>
            </a:r>
          </a:p>
        </p:txBody>
      </p:sp>
      <p:sp>
        <p:nvSpPr>
          <p:cNvPr id="10" name="Oval 9">
            <a:extLst>
              <a:ext uri="{FF2B5EF4-FFF2-40B4-BE49-F238E27FC236}">
                <a16:creationId xmlns:a16="http://schemas.microsoft.com/office/drawing/2014/main" id="{1F05825D-D1EF-44E1-AAD7-679134028AFF}"/>
              </a:ext>
            </a:extLst>
          </p:cNvPr>
          <p:cNvSpPr/>
          <p:nvPr/>
        </p:nvSpPr>
        <p:spPr>
          <a:xfrm>
            <a:off x="332982" y="3866160"/>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3</a:t>
            </a:r>
          </a:p>
        </p:txBody>
      </p:sp>
      <p:sp>
        <p:nvSpPr>
          <p:cNvPr id="11" name="Text Box 4">
            <a:extLst>
              <a:ext uri="{FF2B5EF4-FFF2-40B4-BE49-F238E27FC236}">
                <a16:creationId xmlns:a16="http://schemas.microsoft.com/office/drawing/2014/main" id="{60884BDF-D3C3-4B49-83C2-53033EBD7C36}"/>
              </a:ext>
            </a:extLst>
          </p:cNvPr>
          <p:cNvSpPr txBox="1">
            <a:spLocks noChangeArrowheads="1"/>
          </p:cNvSpPr>
          <p:nvPr/>
        </p:nvSpPr>
        <p:spPr bwMode="gray">
          <a:xfrm>
            <a:off x="6181438" y="5078732"/>
            <a:ext cx="4938467" cy="247650"/>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Typical Use-Cases</a:t>
            </a:r>
          </a:p>
        </p:txBody>
      </p:sp>
      <p:sp>
        <p:nvSpPr>
          <p:cNvPr id="12" name="Oval 11">
            <a:extLst>
              <a:ext uri="{FF2B5EF4-FFF2-40B4-BE49-F238E27FC236}">
                <a16:creationId xmlns:a16="http://schemas.microsoft.com/office/drawing/2014/main" id="{2E7F99A1-CA98-467A-8D6D-4F7D1DAAD05B}"/>
              </a:ext>
            </a:extLst>
          </p:cNvPr>
          <p:cNvSpPr/>
          <p:nvPr/>
        </p:nvSpPr>
        <p:spPr>
          <a:xfrm>
            <a:off x="5982637" y="5042537"/>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4</a:t>
            </a:r>
          </a:p>
        </p:txBody>
      </p:sp>
      <p:grpSp>
        <p:nvGrpSpPr>
          <p:cNvPr id="13" name="Group 12">
            <a:extLst>
              <a:ext uri="{FF2B5EF4-FFF2-40B4-BE49-F238E27FC236}">
                <a16:creationId xmlns:a16="http://schemas.microsoft.com/office/drawing/2014/main" id="{2356E545-8ED9-4FCC-A023-B70ED1F06F80}"/>
              </a:ext>
            </a:extLst>
          </p:cNvPr>
          <p:cNvGrpSpPr/>
          <p:nvPr/>
        </p:nvGrpSpPr>
        <p:grpSpPr>
          <a:xfrm>
            <a:off x="6097477" y="1174360"/>
            <a:ext cx="5904795" cy="1638259"/>
            <a:chOff x="1573078" y="3529191"/>
            <a:chExt cx="5904795" cy="1638259"/>
          </a:xfrm>
        </p:grpSpPr>
        <p:grpSp>
          <p:nvGrpSpPr>
            <p:cNvPr id="14" name="Group 13">
              <a:extLst>
                <a:ext uri="{FF2B5EF4-FFF2-40B4-BE49-F238E27FC236}">
                  <a16:creationId xmlns:a16="http://schemas.microsoft.com/office/drawing/2014/main" id="{220A9487-AAEB-4FB2-8B48-24F2A5ABBEF4}"/>
                </a:ext>
              </a:extLst>
            </p:cNvPr>
            <p:cNvGrpSpPr/>
            <p:nvPr/>
          </p:nvGrpSpPr>
          <p:grpSpPr>
            <a:xfrm>
              <a:off x="1573078" y="3529191"/>
              <a:ext cx="5904795" cy="1638259"/>
              <a:chOff x="1764412" y="3348575"/>
              <a:chExt cx="5904795" cy="1638259"/>
            </a:xfrm>
          </p:grpSpPr>
          <p:sp>
            <p:nvSpPr>
              <p:cNvPr id="19" name="TextBox 18">
                <a:extLst>
                  <a:ext uri="{FF2B5EF4-FFF2-40B4-BE49-F238E27FC236}">
                    <a16:creationId xmlns:a16="http://schemas.microsoft.com/office/drawing/2014/main" id="{C6969740-D574-4613-BCFD-8C4DD04C965C}"/>
                  </a:ext>
                </a:extLst>
              </p:cNvPr>
              <p:cNvSpPr txBox="1"/>
              <p:nvPr/>
            </p:nvSpPr>
            <p:spPr>
              <a:xfrm>
                <a:off x="6882573" y="4709835"/>
                <a:ext cx="78663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0">
                    <a:solidFill>
                      <a:prstClr val="black"/>
                    </a:solidFill>
                    <a:latin typeface="Calibri" panose="020F0502020204030204"/>
                  </a:rPr>
                  <a:t>Boundary Application</a:t>
                </a:r>
                <a:endParaRPr kumimoji="0" lang="en-US" sz="6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B1ED0EFC-A22F-4D56-B5CB-D63F298D0670}"/>
                  </a:ext>
                </a:extLst>
              </p:cNvPr>
              <p:cNvGrpSpPr/>
              <p:nvPr/>
            </p:nvGrpSpPr>
            <p:grpSpPr>
              <a:xfrm>
                <a:off x="1764412" y="3348575"/>
                <a:ext cx="5766418" cy="1612548"/>
                <a:chOff x="1633538" y="3376471"/>
                <a:chExt cx="5766418" cy="1612548"/>
              </a:xfrm>
            </p:grpSpPr>
            <p:sp>
              <p:nvSpPr>
                <p:cNvPr id="21" name="Rectangle 20">
                  <a:extLst>
                    <a:ext uri="{FF2B5EF4-FFF2-40B4-BE49-F238E27FC236}">
                      <a16:creationId xmlns:a16="http://schemas.microsoft.com/office/drawing/2014/main" id="{F86DB10E-5315-4D5F-8C59-35E983B6268A}"/>
                    </a:ext>
                  </a:extLst>
                </p:cNvPr>
                <p:cNvSpPr/>
                <p:nvPr/>
              </p:nvSpPr>
              <p:spPr bwMode="auto">
                <a:xfrm>
                  <a:off x="4709672" y="3687796"/>
                  <a:ext cx="1656599" cy="1301223"/>
                </a:xfrm>
                <a:prstGeom prst="rect">
                  <a:avLst/>
                </a:prstGeom>
                <a:solidFill>
                  <a:sysClr val="window" lastClr="FFFFFF"/>
                </a:solidFill>
                <a:ln w="12700" cap="flat" cmpd="sng" algn="ctr">
                  <a:solidFill>
                    <a:sysClr val="windowText" lastClr="000000"/>
                  </a:solidFill>
                  <a:prstDash val="solid"/>
                  <a:round/>
                  <a:headEnd type="none" w="med" len="med"/>
                  <a:tailEnd type="none" w="med" len="med"/>
                </a:ln>
                <a:effectLst/>
              </p:spPr>
              <p:txBody>
                <a:bodyPr lIns="50650" tIns="25326" rIns="50650" bIns="25326" rtlCol="0" anchor="ctr"/>
                <a:lstStyle/>
                <a:p>
                  <a:pPr marL="0" marR="0" lvl="0" indent="0" algn="ctr" defTabSz="515151" rtl="0" eaLnBrk="1" fontAlgn="base" latinLnBrk="0" hangingPunct="1">
                    <a:lnSpc>
                      <a:spcPct val="106000"/>
                    </a:lnSpc>
                    <a:spcBef>
                      <a:spcPct val="80000"/>
                    </a:spcBef>
                    <a:spcAft>
                      <a:spcPct val="0"/>
                    </a:spcAft>
                    <a:buClr>
                      <a:srgbClr val="000000"/>
                    </a:buClr>
                    <a:buSzPct val="80000"/>
                    <a:buFontTx/>
                    <a:buNone/>
                    <a:tabLst/>
                    <a:defRPr/>
                  </a:pPr>
                  <a:r>
                    <a:rPr kumimoji="0" lang="en-US" sz="525" b="1" i="0" u="none" strike="noStrike" kern="0" cap="none" spc="0" normalizeH="0" baseline="0" noProof="0">
                      <a:ln>
                        <a:noFill/>
                      </a:ln>
                      <a:solidFill>
                        <a:srgbClr val="FFFFFF"/>
                      </a:solidFill>
                      <a:effectLst/>
                      <a:uLnTx/>
                      <a:uFillTx/>
                      <a:latin typeface="Calibri" panose="020F0502020204030204"/>
                      <a:ea typeface="+mn-ea"/>
                      <a:cs typeface="Arial" pitchFamily="34" charset="0"/>
                    </a:rPr>
                    <a:t>1</a:t>
                  </a:r>
                </a:p>
              </p:txBody>
            </p:sp>
            <p:sp>
              <p:nvSpPr>
                <p:cNvPr id="22" name="Freeform 778">
                  <a:extLst>
                    <a:ext uri="{FF2B5EF4-FFF2-40B4-BE49-F238E27FC236}">
                      <a16:creationId xmlns:a16="http://schemas.microsoft.com/office/drawing/2014/main" id="{2434DBA7-0075-4753-8419-BC9FA00A7029}"/>
                    </a:ext>
                  </a:extLst>
                </p:cNvPr>
                <p:cNvSpPr>
                  <a:spLocks noEditPoints="1"/>
                </p:cNvSpPr>
                <p:nvPr/>
              </p:nvSpPr>
              <p:spPr bwMode="auto">
                <a:xfrm>
                  <a:off x="6904656" y="4182204"/>
                  <a:ext cx="495300" cy="482583"/>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23" name="Freeform 27">
                  <a:extLst>
                    <a:ext uri="{FF2B5EF4-FFF2-40B4-BE49-F238E27FC236}">
                      <a16:creationId xmlns:a16="http://schemas.microsoft.com/office/drawing/2014/main" id="{36AC2766-2DBF-4D6D-B81D-0FA3C13894B7}"/>
                    </a:ext>
                  </a:extLst>
                </p:cNvPr>
                <p:cNvSpPr>
                  <a:spLocks noEditPoints="1"/>
                </p:cNvSpPr>
                <p:nvPr/>
              </p:nvSpPr>
              <p:spPr bwMode="auto">
                <a:xfrm>
                  <a:off x="7005750" y="4255148"/>
                  <a:ext cx="293112" cy="280290"/>
                </a:xfrm>
                <a:custGeom>
                  <a:avLst/>
                  <a:gdLst>
                    <a:gd name="T0" fmla="*/ 1000 w 1116"/>
                    <a:gd name="T1" fmla="*/ 2 h 1184"/>
                    <a:gd name="T2" fmla="*/ 64 w 1116"/>
                    <a:gd name="T3" fmla="*/ 724 h 1184"/>
                    <a:gd name="T4" fmla="*/ 1060 w 1116"/>
                    <a:gd name="T5" fmla="*/ 1184 h 1184"/>
                    <a:gd name="T6" fmla="*/ 992 w 1116"/>
                    <a:gd name="T7" fmla="*/ 948 h 1184"/>
                    <a:gd name="T8" fmla="*/ 932 w 1116"/>
                    <a:gd name="T9" fmla="*/ 910 h 1184"/>
                    <a:gd name="T10" fmla="*/ 986 w 1116"/>
                    <a:gd name="T11" fmla="*/ 910 h 1184"/>
                    <a:gd name="T12" fmla="*/ 922 w 1116"/>
                    <a:gd name="T13" fmla="*/ 874 h 1184"/>
                    <a:gd name="T14" fmla="*/ 976 w 1116"/>
                    <a:gd name="T15" fmla="*/ 826 h 1184"/>
                    <a:gd name="T16" fmla="*/ 918 w 1116"/>
                    <a:gd name="T17" fmla="*/ 952 h 1184"/>
                    <a:gd name="T18" fmla="*/ 852 w 1116"/>
                    <a:gd name="T19" fmla="*/ 906 h 1184"/>
                    <a:gd name="T20" fmla="*/ 836 w 1116"/>
                    <a:gd name="T21" fmla="*/ 830 h 1184"/>
                    <a:gd name="T22" fmla="*/ 900 w 1116"/>
                    <a:gd name="T23" fmla="*/ 870 h 1184"/>
                    <a:gd name="T24" fmla="*/ 956 w 1116"/>
                    <a:gd name="T25" fmla="*/ 76 h 1184"/>
                    <a:gd name="T26" fmla="*/ 820 w 1116"/>
                    <a:gd name="T27" fmla="*/ 870 h 1184"/>
                    <a:gd name="T28" fmla="*/ 758 w 1116"/>
                    <a:gd name="T29" fmla="*/ 830 h 1184"/>
                    <a:gd name="T30" fmla="*/ 702 w 1116"/>
                    <a:gd name="T31" fmla="*/ 900 h 1184"/>
                    <a:gd name="T32" fmla="*/ 748 w 1116"/>
                    <a:gd name="T33" fmla="*/ 958 h 1184"/>
                    <a:gd name="T34" fmla="*/ 702 w 1116"/>
                    <a:gd name="T35" fmla="*/ 900 h 1184"/>
                    <a:gd name="T36" fmla="*/ 684 w 1116"/>
                    <a:gd name="T37" fmla="*/ 822 h 1184"/>
                    <a:gd name="T38" fmla="*/ 736 w 1116"/>
                    <a:gd name="T39" fmla="*/ 880 h 1184"/>
                    <a:gd name="T40" fmla="*/ 674 w 1116"/>
                    <a:gd name="T41" fmla="*/ 952 h 1184"/>
                    <a:gd name="T42" fmla="*/ 612 w 1116"/>
                    <a:gd name="T43" fmla="*/ 906 h 1184"/>
                    <a:gd name="T44" fmla="*/ 600 w 1116"/>
                    <a:gd name="T45" fmla="*/ 830 h 1184"/>
                    <a:gd name="T46" fmla="*/ 662 w 1116"/>
                    <a:gd name="T47" fmla="*/ 870 h 1184"/>
                    <a:gd name="T48" fmla="*/ 584 w 1116"/>
                    <a:gd name="T49" fmla="*/ 900 h 1184"/>
                    <a:gd name="T50" fmla="*/ 542 w 1116"/>
                    <a:gd name="T51" fmla="*/ 958 h 1184"/>
                    <a:gd name="T52" fmla="*/ 522 w 1116"/>
                    <a:gd name="T53" fmla="*/ 870 h 1184"/>
                    <a:gd name="T54" fmla="*/ 584 w 1116"/>
                    <a:gd name="T55" fmla="*/ 830 h 1184"/>
                    <a:gd name="T56" fmla="*/ 458 w 1116"/>
                    <a:gd name="T57" fmla="*/ 900 h 1184"/>
                    <a:gd name="T58" fmla="*/ 508 w 1116"/>
                    <a:gd name="T59" fmla="*/ 958 h 1184"/>
                    <a:gd name="T60" fmla="*/ 444 w 1116"/>
                    <a:gd name="T61" fmla="*/ 826 h 1184"/>
                    <a:gd name="T62" fmla="*/ 504 w 1116"/>
                    <a:gd name="T63" fmla="*/ 874 h 1184"/>
                    <a:gd name="T64" fmla="*/ 372 w 1116"/>
                    <a:gd name="T65" fmla="*/ 910 h 1184"/>
                    <a:gd name="T66" fmla="*/ 432 w 1116"/>
                    <a:gd name="T67" fmla="*/ 948 h 1184"/>
                    <a:gd name="T68" fmla="*/ 364 w 1116"/>
                    <a:gd name="T69" fmla="*/ 870 h 1184"/>
                    <a:gd name="T70" fmla="*/ 426 w 1116"/>
                    <a:gd name="T71" fmla="*/ 830 h 1184"/>
                    <a:gd name="T72" fmla="*/ 364 w 1116"/>
                    <a:gd name="T73" fmla="*/ 870 h 1184"/>
                    <a:gd name="T74" fmla="*/ 354 w 1116"/>
                    <a:gd name="T75" fmla="*/ 906 h 1184"/>
                    <a:gd name="T76" fmla="*/ 290 w 1116"/>
                    <a:gd name="T77" fmla="*/ 952 h 1184"/>
                    <a:gd name="T78" fmla="*/ 344 w 1116"/>
                    <a:gd name="T79" fmla="*/ 822 h 1184"/>
                    <a:gd name="T80" fmla="*/ 290 w 1116"/>
                    <a:gd name="T81" fmla="*/ 880 h 1184"/>
                    <a:gd name="T82" fmla="*/ 214 w 1116"/>
                    <a:gd name="T83" fmla="*/ 880 h 1184"/>
                    <a:gd name="T84" fmla="*/ 262 w 1116"/>
                    <a:gd name="T85" fmla="*/ 820 h 1184"/>
                    <a:gd name="T86" fmla="*/ 142 w 1116"/>
                    <a:gd name="T87" fmla="*/ 820 h 1184"/>
                    <a:gd name="T88" fmla="*/ 178 w 1116"/>
                    <a:gd name="T89" fmla="*/ 880 h 1184"/>
                    <a:gd name="T90" fmla="*/ 130 w 1116"/>
                    <a:gd name="T91" fmla="*/ 900 h 1184"/>
                    <a:gd name="T92" fmla="*/ 184 w 1116"/>
                    <a:gd name="T93" fmla="*/ 958 h 1184"/>
                    <a:gd name="T94" fmla="*/ 154 w 1116"/>
                    <a:gd name="T95" fmla="*/ 1034 h 1184"/>
                    <a:gd name="T96" fmla="*/ 116 w 1116"/>
                    <a:gd name="T97" fmla="*/ 980 h 1184"/>
                    <a:gd name="T98" fmla="*/ 248 w 1116"/>
                    <a:gd name="T99" fmla="*/ 1032 h 1184"/>
                    <a:gd name="T100" fmla="*/ 182 w 1116"/>
                    <a:gd name="T101" fmla="*/ 984 h 1184"/>
                    <a:gd name="T102" fmla="*/ 218 w 1116"/>
                    <a:gd name="T103" fmla="*/ 958 h 1184"/>
                    <a:gd name="T104" fmla="*/ 266 w 1116"/>
                    <a:gd name="T105" fmla="*/ 900 h 1184"/>
                    <a:gd name="T106" fmla="*/ 260 w 1116"/>
                    <a:gd name="T107" fmla="*/ 958 h 1184"/>
                    <a:gd name="T108" fmla="*/ 278 w 1116"/>
                    <a:gd name="T109" fmla="*/ 978 h 1184"/>
                    <a:gd name="T110" fmla="*/ 776 w 1116"/>
                    <a:gd name="T111" fmla="*/ 1036 h 1184"/>
                    <a:gd name="T112" fmla="*/ 828 w 1116"/>
                    <a:gd name="T113" fmla="*/ 900 h 1184"/>
                    <a:gd name="T114" fmla="*/ 780 w 1116"/>
                    <a:gd name="T115" fmla="*/ 958 h 1184"/>
                    <a:gd name="T116" fmla="*/ 798 w 1116"/>
                    <a:gd name="T117" fmla="*/ 988 h 1184"/>
                    <a:gd name="T118" fmla="*/ 874 w 1116"/>
                    <a:gd name="T119" fmla="*/ 1028 h 1184"/>
                    <a:gd name="T120" fmla="*/ 892 w 1116"/>
                    <a:gd name="T121" fmla="*/ 1032 h 1184"/>
                    <a:gd name="T122" fmla="*/ 994 w 1116"/>
                    <a:gd name="T123" fmla="*/ 984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6" h="1184">
                      <a:moveTo>
                        <a:pt x="1116" y="1124"/>
                      </a:moveTo>
                      <a:lnTo>
                        <a:pt x="1046" y="724"/>
                      </a:lnTo>
                      <a:lnTo>
                        <a:pt x="1046" y="724"/>
                      </a:lnTo>
                      <a:lnTo>
                        <a:pt x="1046" y="62"/>
                      </a:lnTo>
                      <a:lnTo>
                        <a:pt x="1046" y="62"/>
                      </a:lnTo>
                      <a:lnTo>
                        <a:pt x="1044" y="50"/>
                      </a:lnTo>
                      <a:lnTo>
                        <a:pt x="1040" y="38"/>
                      </a:lnTo>
                      <a:lnTo>
                        <a:pt x="1036" y="28"/>
                      </a:lnTo>
                      <a:lnTo>
                        <a:pt x="1028" y="18"/>
                      </a:lnTo>
                      <a:lnTo>
                        <a:pt x="1020" y="12"/>
                      </a:lnTo>
                      <a:lnTo>
                        <a:pt x="1010" y="6"/>
                      </a:lnTo>
                      <a:lnTo>
                        <a:pt x="1000" y="2"/>
                      </a:lnTo>
                      <a:lnTo>
                        <a:pt x="988" y="0"/>
                      </a:lnTo>
                      <a:lnTo>
                        <a:pt x="124" y="0"/>
                      </a:lnTo>
                      <a:lnTo>
                        <a:pt x="124" y="0"/>
                      </a:lnTo>
                      <a:lnTo>
                        <a:pt x="112" y="2"/>
                      </a:lnTo>
                      <a:lnTo>
                        <a:pt x="100" y="6"/>
                      </a:lnTo>
                      <a:lnTo>
                        <a:pt x="90" y="12"/>
                      </a:lnTo>
                      <a:lnTo>
                        <a:pt x="82" y="18"/>
                      </a:lnTo>
                      <a:lnTo>
                        <a:pt x="74" y="28"/>
                      </a:lnTo>
                      <a:lnTo>
                        <a:pt x="70" y="38"/>
                      </a:lnTo>
                      <a:lnTo>
                        <a:pt x="66" y="50"/>
                      </a:lnTo>
                      <a:lnTo>
                        <a:pt x="64" y="62"/>
                      </a:lnTo>
                      <a:lnTo>
                        <a:pt x="64" y="724"/>
                      </a:lnTo>
                      <a:lnTo>
                        <a:pt x="64" y="724"/>
                      </a:lnTo>
                      <a:lnTo>
                        <a:pt x="2" y="1124"/>
                      </a:lnTo>
                      <a:lnTo>
                        <a:pt x="2" y="1124"/>
                      </a:lnTo>
                      <a:lnTo>
                        <a:pt x="0" y="1136"/>
                      </a:lnTo>
                      <a:lnTo>
                        <a:pt x="2" y="1148"/>
                      </a:lnTo>
                      <a:lnTo>
                        <a:pt x="8" y="1158"/>
                      </a:lnTo>
                      <a:lnTo>
                        <a:pt x="14" y="1166"/>
                      </a:lnTo>
                      <a:lnTo>
                        <a:pt x="22" y="1174"/>
                      </a:lnTo>
                      <a:lnTo>
                        <a:pt x="34" y="1180"/>
                      </a:lnTo>
                      <a:lnTo>
                        <a:pt x="44" y="1184"/>
                      </a:lnTo>
                      <a:lnTo>
                        <a:pt x="58" y="1184"/>
                      </a:lnTo>
                      <a:lnTo>
                        <a:pt x="1060" y="1184"/>
                      </a:lnTo>
                      <a:lnTo>
                        <a:pt x="1060" y="1184"/>
                      </a:lnTo>
                      <a:lnTo>
                        <a:pt x="1074" y="1184"/>
                      </a:lnTo>
                      <a:lnTo>
                        <a:pt x="1086" y="1180"/>
                      </a:lnTo>
                      <a:lnTo>
                        <a:pt x="1096" y="1174"/>
                      </a:lnTo>
                      <a:lnTo>
                        <a:pt x="1104" y="1166"/>
                      </a:lnTo>
                      <a:lnTo>
                        <a:pt x="1110" y="1158"/>
                      </a:lnTo>
                      <a:lnTo>
                        <a:pt x="1114" y="1148"/>
                      </a:lnTo>
                      <a:lnTo>
                        <a:pt x="1116" y="1136"/>
                      </a:lnTo>
                      <a:lnTo>
                        <a:pt x="1116" y="1124"/>
                      </a:lnTo>
                      <a:lnTo>
                        <a:pt x="1116" y="1124"/>
                      </a:lnTo>
                      <a:close/>
                      <a:moveTo>
                        <a:pt x="986" y="910"/>
                      </a:moveTo>
                      <a:lnTo>
                        <a:pt x="992" y="948"/>
                      </a:lnTo>
                      <a:lnTo>
                        <a:pt x="992" y="948"/>
                      </a:lnTo>
                      <a:lnTo>
                        <a:pt x="992" y="952"/>
                      </a:lnTo>
                      <a:lnTo>
                        <a:pt x="990" y="956"/>
                      </a:lnTo>
                      <a:lnTo>
                        <a:pt x="986" y="958"/>
                      </a:lnTo>
                      <a:lnTo>
                        <a:pt x="982" y="958"/>
                      </a:lnTo>
                      <a:lnTo>
                        <a:pt x="946" y="958"/>
                      </a:lnTo>
                      <a:lnTo>
                        <a:pt x="946" y="958"/>
                      </a:lnTo>
                      <a:lnTo>
                        <a:pt x="942" y="958"/>
                      </a:lnTo>
                      <a:lnTo>
                        <a:pt x="938" y="956"/>
                      </a:lnTo>
                      <a:lnTo>
                        <a:pt x="936" y="952"/>
                      </a:lnTo>
                      <a:lnTo>
                        <a:pt x="936" y="948"/>
                      </a:lnTo>
                      <a:lnTo>
                        <a:pt x="932" y="910"/>
                      </a:lnTo>
                      <a:lnTo>
                        <a:pt x="932" y="910"/>
                      </a:lnTo>
                      <a:lnTo>
                        <a:pt x="932" y="906"/>
                      </a:lnTo>
                      <a:lnTo>
                        <a:pt x="934" y="902"/>
                      </a:lnTo>
                      <a:lnTo>
                        <a:pt x="936" y="900"/>
                      </a:lnTo>
                      <a:lnTo>
                        <a:pt x="940" y="900"/>
                      </a:lnTo>
                      <a:lnTo>
                        <a:pt x="976" y="900"/>
                      </a:lnTo>
                      <a:lnTo>
                        <a:pt x="976" y="900"/>
                      </a:lnTo>
                      <a:lnTo>
                        <a:pt x="980" y="900"/>
                      </a:lnTo>
                      <a:lnTo>
                        <a:pt x="984" y="902"/>
                      </a:lnTo>
                      <a:lnTo>
                        <a:pt x="986" y="906"/>
                      </a:lnTo>
                      <a:lnTo>
                        <a:pt x="986" y="910"/>
                      </a:lnTo>
                      <a:lnTo>
                        <a:pt x="986" y="910"/>
                      </a:lnTo>
                      <a:close/>
                      <a:moveTo>
                        <a:pt x="978" y="830"/>
                      </a:moveTo>
                      <a:lnTo>
                        <a:pt x="982" y="870"/>
                      </a:lnTo>
                      <a:lnTo>
                        <a:pt x="982" y="870"/>
                      </a:lnTo>
                      <a:lnTo>
                        <a:pt x="982" y="874"/>
                      </a:lnTo>
                      <a:lnTo>
                        <a:pt x="980" y="878"/>
                      </a:lnTo>
                      <a:lnTo>
                        <a:pt x="978" y="880"/>
                      </a:lnTo>
                      <a:lnTo>
                        <a:pt x="974" y="880"/>
                      </a:lnTo>
                      <a:lnTo>
                        <a:pt x="932" y="880"/>
                      </a:lnTo>
                      <a:lnTo>
                        <a:pt x="932" y="880"/>
                      </a:lnTo>
                      <a:lnTo>
                        <a:pt x="928" y="880"/>
                      </a:lnTo>
                      <a:lnTo>
                        <a:pt x="924" y="878"/>
                      </a:lnTo>
                      <a:lnTo>
                        <a:pt x="922" y="874"/>
                      </a:lnTo>
                      <a:lnTo>
                        <a:pt x="920" y="870"/>
                      </a:lnTo>
                      <a:lnTo>
                        <a:pt x="916" y="830"/>
                      </a:lnTo>
                      <a:lnTo>
                        <a:pt x="916" y="830"/>
                      </a:lnTo>
                      <a:lnTo>
                        <a:pt x="918" y="826"/>
                      </a:lnTo>
                      <a:lnTo>
                        <a:pt x="918" y="824"/>
                      </a:lnTo>
                      <a:lnTo>
                        <a:pt x="922" y="822"/>
                      </a:lnTo>
                      <a:lnTo>
                        <a:pt x="926" y="820"/>
                      </a:lnTo>
                      <a:lnTo>
                        <a:pt x="968" y="820"/>
                      </a:lnTo>
                      <a:lnTo>
                        <a:pt x="968" y="820"/>
                      </a:lnTo>
                      <a:lnTo>
                        <a:pt x="970" y="822"/>
                      </a:lnTo>
                      <a:lnTo>
                        <a:pt x="974" y="824"/>
                      </a:lnTo>
                      <a:lnTo>
                        <a:pt x="976" y="826"/>
                      </a:lnTo>
                      <a:lnTo>
                        <a:pt x="978" y="830"/>
                      </a:lnTo>
                      <a:lnTo>
                        <a:pt x="978" y="830"/>
                      </a:lnTo>
                      <a:close/>
                      <a:moveTo>
                        <a:pt x="860" y="900"/>
                      </a:moveTo>
                      <a:lnTo>
                        <a:pt x="904" y="900"/>
                      </a:lnTo>
                      <a:lnTo>
                        <a:pt x="904" y="900"/>
                      </a:lnTo>
                      <a:lnTo>
                        <a:pt x="908" y="900"/>
                      </a:lnTo>
                      <a:lnTo>
                        <a:pt x="910" y="902"/>
                      </a:lnTo>
                      <a:lnTo>
                        <a:pt x="912" y="906"/>
                      </a:lnTo>
                      <a:lnTo>
                        <a:pt x="914" y="910"/>
                      </a:lnTo>
                      <a:lnTo>
                        <a:pt x="918" y="948"/>
                      </a:lnTo>
                      <a:lnTo>
                        <a:pt x="918" y="948"/>
                      </a:lnTo>
                      <a:lnTo>
                        <a:pt x="918" y="952"/>
                      </a:lnTo>
                      <a:lnTo>
                        <a:pt x="916" y="956"/>
                      </a:lnTo>
                      <a:lnTo>
                        <a:pt x="914" y="958"/>
                      </a:lnTo>
                      <a:lnTo>
                        <a:pt x="910" y="958"/>
                      </a:lnTo>
                      <a:lnTo>
                        <a:pt x="866" y="958"/>
                      </a:lnTo>
                      <a:lnTo>
                        <a:pt x="866" y="958"/>
                      </a:lnTo>
                      <a:lnTo>
                        <a:pt x="862" y="958"/>
                      </a:lnTo>
                      <a:lnTo>
                        <a:pt x="858" y="956"/>
                      </a:lnTo>
                      <a:lnTo>
                        <a:pt x="856" y="952"/>
                      </a:lnTo>
                      <a:lnTo>
                        <a:pt x="856" y="948"/>
                      </a:lnTo>
                      <a:lnTo>
                        <a:pt x="852" y="910"/>
                      </a:lnTo>
                      <a:lnTo>
                        <a:pt x="852" y="910"/>
                      </a:lnTo>
                      <a:lnTo>
                        <a:pt x="852" y="906"/>
                      </a:lnTo>
                      <a:lnTo>
                        <a:pt x="854" y="902"/>
                      </a:lnTo>
                      <a:lnTo>
                        <a:pt x="856" y="900"/>
                      </a:lnTo>
                      <a:lnTo>
                        <a:pt x="860" y="900"/>
                      </a:lnTo>
                      <a:lnTo>
                        <a:pt x="860" y="900"/>
                      </a:lnTo>
                      <a:close/>
                      <a:moveTo>
                        <a:pt x="848" y="880"/>
                      </a:moveTo>
                      <a:lnTo>
                        <a:pt x="848" y="880"/>
                      </a:lnTo>
                      <a:lnTo>
                        <a:pt x="846" y="880"/>
                      </a:lnTo>
                      <a:lnTo>
                        <a:pt x="842" y="878"/>
                      </a:lnTo>
                      <a:lnTo>
                        <a:pt x="840" y="874"/>
                      </a:lnTo>
                      <a:lnTo>
                        <a:pt x="838" y="870"/>
                      </a:lnTo>
                      <a:lnTo>
                        <a:pt x="836" y="830"/>
                      </a:lnTo>
                      <a:lnTo>
                        <a:pt x="836" y="830"/>
                      </a:lnTo>
                      <a:lnTo>
                        <a:pt x="836" y="826"/>
                      </a:lnTo>
                      <a:lnTo>
                        <a:pt x="838" y="824"/>
                      </a:lnTo>
                      <a:lnTo>
                        <a:pt x="840" y="822"/>
                      </a:lnTo>
                      <a:lnTo>
                        <a:pt x="844" y="820"/>
                      </a:lnTo>
                      <a:lnTo>
                        <a:pt x="886" y="820"/>
                      </a:lnTo>
                      <a:lnTo>
                        <a:pt x="886" y="820"/>
                      </a:lnTo>
                      <a:lnTo>
                        <a:pt x="890" y="822"/>
                      </a:lnTo>
                      <a:lnTo>
                        <a:pt x="892" y="824"/>
                      </a:lnTo>
                      <a:lnTo>
                        <a:pt x="896" y="826"/>
                      </a:lnTo>
                      <a:lnTo>
                        <a:pt x="896" y="830"/>
                      </a:lnTo>
                      <a:lnTo>
                        <a:pt x="900" y="870"/>
                      </a:lnTo>
                      <a:lnTo>
                        <a:pt x="900" y="870"/>
                      </a:lnTo>
                      <a:lnTo>
                        <a:pt x="900" y="874"/>
                      </a:lnTo>
                      <a:lnTo>
                        <a:pt x="898" y="878"/>
                      </a:lnTo>
                      <a:lnTo>
                        <a:pt x="896" y="880"/>
                      </a:lnTo>
                      <a:lnTo>
                        <a:pt x="892" y="880"/>
                      </a:lnTo>
                      <a:lnTo>
                        <a:pt x="848" y="880"/>
                      </a:lnTo>
                      <a:close/>
                      <a:moveTo>
                        <a:pt x="148" y="80"/>
                      </a:moveTo>
                      <a:lnTo>
                        <a:pt x="148" y="80"/>
                      </a:lnTo>
                      <a:lnTo>
                        <a:pt x="150" y="76"/>
                      </a:lnTo>
                      <a:lnTo>
                        <a:pt x="156" y="72"/>
                      </a:lnTo>
                      <a:lnTo>
                        <a:pt x="950" y="72"/>
                      </a:lnTo>
                      <a:lnTo>
                        <a:pt x="950" y="72"/>
                      </a:lnTo>
                      <a:lnTo>
                        <a:pt x="956" y="76"/>
                      </a:lnTo>
                      <a:lnTo>
                        <a:pt x="958" y="80"/>
                      </a:lnTo>
                      <a:lnTo>
                        <a:pt x="958" y="644"/>
                      </a:lnTo>
                      <a:lnTo>
                        <a:pt x="958" y="644"/>
                      </a:lnTo>
                      <a:lnTo>
                        <a:pt x="956" y="650"/>
                      </a:lnTo>
                      <a:lnTo>
                        <a:pt x="950" y="652"/>
                      </a:lnTo>
                      <a:lnTo>
                        <a:pt x="156" y="652"/>
                      </a:lnTo>
                      <a:lnTo>
                        <a:pt x="156" y="652"/>
                      </a:lnTo>
                      <a:lnTo>
                        <a:pt x="150" y="650"/>
                      </a:lnTo>
                      <a:lnTo>
                        <a:pt x="148" y="644"/>
                      </a:lnTo>
                      <a:lnTo>
                        <a:pt x="148" y="80"/>
                      </a:lnTo>
                      <a:close/>
                      <a:moveTo>
                        <a:pt x="820" y="870"/>
                      </a:moveTo>
                      <a:lnTo>
                        <a:pt x="820" y="870"/>
                      </a:lnTo>
                      <a:lnTo>
                        <a:pt x="820" y="874"/>
                      </a:lnTo>
                      <a:lnTo>
                        <a:pt x="818" y="878"/>
                      </a:lnTo>
                      <a:lnTo>
                        <a:pt x="816" y="880"/>
                      </a:lnTo>
                      <a:lnTo>
                        <a:pt x="812" y="880"/>
                      </a:lnTo>
                      <a:lnTo>
                        <a:pt x="770" y="880"/>
                      </a:lnTo>
                      <a:lnTo>
                        <a:pt x="770" y="880"/>
                      </a:lnTo>
                      <a:lnTo>
                        <a:pt x="766" y="880"/>
                      </a:lnTo>
                      <a:lnTo>
                        <a:pt x="762" y="878"/>
                      </a:lnTo>
                      <a:lnTo>
                        <a:pt x="760" y="874"/>
                      </a:lnTo>
                      <a:lnTo>
                        <a:pt x="760" y="870"/>
                      </a:lnTo>
                      <a:lnTo>
                        <a:pt x="758" y="830"/>
                      </a:lnTo>
                      <a:lnTo>
                        <a:pt x="758" y="830"/>
                      </a:lnTo>
                      <a:lnTo>
                        <a:pt x="758" y="826"/>
                      </a:lnTo>
                      <a:lnTo>
                        <a:pt x="760" y="824"/>
                      </a:lnTo>
                      <a:lnTo>
                        <a:pt x="762" y="822"/>
                      </a:lnTo>
                      <a:lnTo>
                        <a:pt x="766" y="820"/>
                      </a:lnTo>
                      <a:lnTo>
                        <a:pt x="808" y="820"/>
                      </a:lnTo>
                      <a:lnTo>
                        <a:pt x="808" y="820"/>
                      </a:lnTo>
                      <a:lnTo>
                        <a:pt x="812" y="822"/>
                      </a:lnTo>
                      <a:lnTo>
                        <a:pt x="814" y="824"/>
                      </a:lnTo>
                      <a:lnTo>
                        <a:pt x="818" y="826"/>
                      </a:lnTo>
                      <a:lnTo>
                        <a:pt x="818" y="830"/>
                      </a:lnTo>
                      <a:lnTo>
                        <a:pt x="820" y="870"/>
                      </a:lnTo>
                      <a:close/>
                      <a:moveTo>
                        <a:pt x="702" y="900"/>
                      </a:moveTo>
                      <a:lnTo>
                        <a:pt x="744" y="900"/>
                      </a:lnTo>
                      <a:lnTo>
                        <a:pt x="744" y="900"/>
                      </a:lnTo>
                      <a:lnTo>
                        <a:pt x="748" y="900"/>
                      </a:lnTo>
                      <a:lnTo>
                        <a:pt x="750" y="902"/>
                      </a:lnTo>
                      <a:lnTo>
                        <a:pt x="754" y="906"/>
                      </a:lnTo>
                      <a:lnTo>
                        <a:pt x="754" y="910"/>
                      </a:lnTo>
                      <a:lnTo>
                        <a:pt x="756" y="948"/>
                      </a:lnTo>
                      <a:lnTo>
                        <a:pt x="756" y="948"/>
                      </a:lnTo>
                      <a:lnTo>
                        <a:pt x="756" y="952"/>
                      </a:lnTo>
                      <a:lnTo>
                        <a:pt x="754" y="956"/>
                      </a:lnTo>
                      <a:lnTo>
                        <a:pt x="750" y="958"/>
                      </a:lnTo>
                      <a:lnTo>
                        <a:pt x="748" y="958"/>
                      </a:lnTo>
                      <a:lnTo>
                        <a:pt x="704" y="958"/>
                      </a:lnTo>
                      <a:lnTo>
                        <a:pt x="704" y="958"/>
                      </a:lnTo>
                      <a:lnTo>
                        <a:pt x="700" y="958"/>
                      </a:lnTo>
                      <a:lnTo>
                        <a:pt x="696" y="956"/>
                      </a:lnTo>
                      <a:lnTo>
                        <a:pt x="694" y="952"/>
                      </a:lnTo>
                      <a:lnTo>
                        <a:pt x="694" y="948"/>
                      </a:lnTo>
                      <a:lnTo>
                        <a:pt x="692" y="910"/>
                      </a:lnTo>
                      <a:lnTo>
                        <a:pt x="692" y="910"/>
                      </a:lnTo>
                      <a:lnTo>
                        <a:pt x="692" y="906"/>
                      </a:lnTo>
                      <a:lnTo>
                        <a:pt x="694" y="902"/>
                      </a:lnTo>
                      <a:lnTo>
                        <a:pt x="698" y="900"/>
                      </a:lnTo>
                      <a:lnTo>
                        <a:pt x="702" y="900"/>
                      </a:lnTo>
                      <a:lnTo>
                        <a:pt x="702" y="900"/>
                      </a:lnTo>
                      <a:close/>
                      <a:moveTo>
                        <a:pt x="690" y="880"/>
                      </a:moveTo>
                      <a:lnTo>
                        <a:pt x="690" y="880"/>
                      </a:lnTo>
                      <a:lnTo>
                        <a:pt x="686" y="880"/>
                      </a:lnTo>
                      <a:lnTo>
                        <a:pt x="684" y="878"/>
                      </a:lnTo>
                      <a:lnTo>
                        <a:pt x="682" y="874"/>
                      </a:lnTo>
                      <a:lnTo>
                        <a:pt x="680" y="870"/>
                      </a:lnTo>
                      <a:lnTo>
                        <a:pt x="678" y="830"/>
                      </a:lnTo>
                      <a:lnTo>
                        <a:pt x="678" y="830"/>
                      </a:lnTo>
                      <a:lnTo>
                        <a:pt x="680" y="826"/>
                      </a:lnTo>
                      <a:lnTo>
                        <a:pt x="682" y="824"/>
                      </a:lnTo>
                      <a:lnTo>
                        <a:pt x="684" y="822"/>
                      </a:lnTo>
                      <a:lnTo>
                        <a:pt x="688" y="820"/>
                      </a:lnTo>
                      <a:lnTo>
                        <a:pt x="730" y="820"/>
                      </a:lnTo>
                      <a:lnTo>
                        <a:pt x="730" y="820"/>
                      </a:lnTo>
                      <a:lnTo>
                        <a:pt x="734" y="822"/>
                      </a:lnTo>
                      <a:lnTo>
                        <a:pt x="736" y="824"/>
                      </a:lnTo>
                      <a:lnTo>
                        <a:pt x="738" y="826"/>
                      </a:lnTo>
                      <a:lnTo>
                        <a:pt x="740" y="830"/>
                      </a:lnTo>
                      <a:lnTo>
                        <a:pt x="742" y="870"/>
                      </a:lnTo>
                      <a:lnTo>
                        <a:pt x="742" y="870"/>
                      </a:lnTo>
                      <a:lnTo>
                        <a:pt x="742" y="874"/>
                      </a:lnTo>
                      <a:lnTo>
                        <a:pt x="740" y="878"/>
                      </a:lnTo>
                      <a:lnTo>
                        <a:pt x="736" y="880"/>
                      </a:lnTo>
                      <a:lnTo>
                        <a:pt x="732" y="880"/>
                      </a:lnTo>
                      <a:lnTo>
                        <a:pt x="690" y="880"/>
                      </a:lnTo>
                      <a:close/>
                      <a:moveTo>
                        <a:pt x="622" y="900"/>
                      </a:moveTo>
                      <a:lnTo>
                        <a:pt x="664" y="900"/>
                      </a:lnTo>
                      <a:lnTo>
                        <a:pt x="664" y="900"/>
                      </a:lnTo>
                      <a:lnTo>
                        <a:pt x="668" y="900"/>
                      </a:lnTo>
                      <a:lnTo>
                        <a:pt x="672" y="902"/>
                      </a:lnTo>
                      <a:lnTo>
                        <a:pt x="674" y="906"/>
                      </a:lnTo>
                      <a:lnTo>
                        <a:pt x="674" y="910"/>
                      </a:lnTo>
                      <a:lnTo>
                        <a:pt x="676" y="948"/>
                      </a:lnTo>
                      <a:lnTo>
                        <a:pt x="676" y="948"/>
                      </a:lnTo>
                      <a:lnTo>
                        <a:pt x="674" y="952"/>
                      </a:lnTo>
                      <a:lnTo>
                        <a:pt x="672" y="956"/>
                      </a:lnTo>
                      <a:lnTo>
                        <a:pt x="670" y="958"/>
                      </a:lnTo>
                      <a:lnTo>
                        <a:pt x="666" y="958"/>
                      </a:lnTo>
                      <a:lnTo>
                        <a:pt x="622" y="958"/>
                      </a:lnTo>
                      <a:lnTo>
                        <a:pt x="622" y="958"/>
                      </a:lnTo>
                      <a:lnTo>
                        <a:pt x="618" y="958"/>
                      </a:lnTo>
                      <a:lnTo>
                        <a:pt x="616" y="956"/>
                      </a:lnTo>
                      <a:lnTo>
                        <a:pt x="614" y="952"/>
                      </a:lnTo>
                      <a:lnTo>
                        <a:pt x="612" y="948"/>
                      </a:lnTo>
                      <a:lnTo>
                        <a:pt x="612" y="910"/>
                      </a:lnTo>
                      <a:lnTo>
                        <a:pt x="612" y="910"/>
                      </a:lnTo>
                      <a:lnTo>
                        <a:pt x="612" y="906"/>
                      </a:lnTo>
                      <a:lnTo>
                        <a:pt x="614" y="902"/>
                      </a:lnTo>
                      <a:lnTo>
                        <a:pt x="618" y="900"/>
                      </a:lnTo>
                      <a:lnTo>
                        <a:pt x="622" y="900"/>
                      </a:lnTo>
                      <a:lnTo>
                        <a:pt x="622" y="900"/>
                      </a:lnTo>
                      <a:close/>
                      <a:moveTo>
                        <a:pt x="610" y="880"/>
                      </a:moveTo>
                      <a:lnTo>
                        <a:pt x="610" y="880"/>
                      </a:lnTo>
                      <a:lnTo>
                        <a:pt x="608" y="880"/>
                      </a:lnTo>
                      <a:lnTo>
                        <a:pt x="604" y="878"/>
                      </a:lnTo>
                      <a:lnTo>
                        <a:pt x="602" y="874"/>
                      </a:lnTo>
                      <a:lnTo>
                        <a:pt x="602" y="870"/>
                      </a:lnTo>
                      <a:lnTo>
                        <a:pt x="600" y="830"/>
                      </a:lnTo>
                      <a:lnTo>
                        <a:pt x="600" y="830"/>
                      </a:lnTo>
                      <a:lnTo>
                        <a:pt x="602" y="826"/>
                      </a:lnTo>
                      <a:lnTo>
                        <a:pt x="604" y="824"/>
                      </a:lnTo>
                      <a:lnTo>
                        <a:pt x="606" y="822"/>
                      </a:lnTo>
                      <a:lnTo>
                        <a:pt x="610" y="820"/>
                      </a:lnTo>
                      <a:lnTo>
                        <a:pt x="652" y="820"/>
                      </a:lnTo>
                      <a:lnTo>
                        <a:pt x="652" y="820"/>
                      </a:lnTo>
                      <a:lnTo>
                        <a:pt x="656" y="822"/>
                      </a:lnTo>
                      <a:lnTo>
                        <a:pt x="658" y="824"/>
                      </a:lnTo>
                      <a:lnTo>
                        <a:pt x="660" y="826"/>
                      </a:lnTo>
                      <a:lnTo>
                        <a:pt x="662" y="830"/>
                      </a:lnTo>
                      <a:lnTo>
                        <a:pt x="662" y="870"/>
                      </a:lnTo>
                      <a:lnTo>
                        <a:pt x="662" y="870"/>
                      </a:lnTo>
                      <a:lnTo>
                        <a:pt x="662" y="874"/>
                      </a:lnTo>
                      <a:lnTo>
                        <a:pt x="660" y="878"/>
                      </a:lnTo>
                      <a:lnTo>
                        <a:pt x="658" y="880"/>
                      </a:lnTo>
                      <a:lnTo>
                        <a:pt x="654" y="880"/>
                      </a:lnTo>
                      <a:lnTo>
                        <a:pt x="610" y="880"/>
                      </a:lnTo>
                      <a:close/>
                      <a:moveTo>
                        <a:pt x="532" y="910"/>
                      </a:moveTo>
                      <a:lnTo>
                        <a:pt x="532" y="910"/>
                      </a:lnTo>
                      <a:lnTo>
                        <a:pt x="532" y="906"/>
                      </a:lnTo>
                      <a:lnTo>
                        <a:pt x="534" y="902"/>
                      </a:lnTo>
                      <a:lnTo>
                        <a:pt x="538" y="900"/>
                      </a:lnTo>
                      <a:lnTo>
                        <a:pt x="542" y="900"/>
                      </a:lnTo>
                      <a:lnTo>
                        <a:pt x="584" y="900"/>
                      </a:lnTo>
                      <a:lnTo>
                        <a:pt x="584" y="900"/>
                      </a:lnTo>
                      <a:lnTo>
                        <a:pt x="588" y="900"/>
                      </a:lnTo>
                      <a:lnTo>
                        <a:pt x="592" y="902"/>
                      </a:lnTo>
                      <a:lnTo>
                        <a:pt x="594" y="906"/>
                      </a:lnTo>
                      <a:lnTo>
                        <a:pt x="594" y="910"/>
                      </a:lnTo>
                      <a:lnTo>
                        <a:pt x="594" y="948"/>
                      </a:lnTo>
                      <a:lnTo>
                        <a:pt x="594" y="948"/>
                      </a:lnTo>
                      <a:lnTo>
                        <a:pt x="594" y="952"/>
                      </a:lnTo>
                      <a:lnTo>
                        <a:pt x="592" y="956"/>
                      </a:lnTo>
                      <a:lnTo>
                        <a:pt x="588" y="958"/>
                      </a:lnTo>
                      <a:lnTo>
                        <a:pt x="584" y="958"/>
                      </a:lnTo>
                      <a:lnTo>
                        <a:pt x="542" y="958"/>
                      </a:lnTo>
                      <a:lnTo>
                        <a:pt x="542" y="958"/>
                      </a:lnTo>
                      <a:lnTo>
                        <a:pt x="538" y="958"/>
                      </a:lnTo>
                      <a:lnTo>
                        <a:pt x="534" y="956"/>
                      </a:lnTo>
                      <a:lnTo>
                        <a:pt x="532" y="952"/>
                      </a:lnTo>
                      <a:lnTo>
                        <a:pt x="532" y="948"/>
                      </a:lnTo>
                      <a:lnTo>
                        <a:pt x="532" y="910"/>
                      </a:lnTo>
                      <a:close/>
                      <a:moveTo>
                        <a:pt x="532" y="880"/>
                      </a:moveTo>
                      <a:lnTo>
                        <a:pt x="532" y="880"/>
                      </a:lnTo>
                      <a:lnTo>
                        <a:pt x="528" y="880"/>
                      </a:lnTo>
                      <a:lnTo>
                        <a:pt x="524" y="878"/>
                      </a:lnTo>
                      <a:lnTo>
                        <a:pt x="522" y="874"/>
                      </a:lnTo>
                      <a:lnTo>
                        <a:pt x="522" y="870"/>
                      </a:lnTo>
                      <a:lnTo>
                        <a:pt x="522" y="830"/>
                      </a:lnTo>
                      <a:lnTo>
                        <a:pt x="522" y="830"/>
                      </a:lnTo>
                      <a:lnTo>
                        <a:pt x="524" y="826"/>
                      </a:lnTo>
                      <a:lnTo>
                        <a:pt x="526" y="824"/>
                      </a:lnTo>
                      <a:lnTo>
                        <a:pt x="528" y="822"/>
                      </a:lnTo>
                      <a:lnTo>
                        <a:pt x="532" y="820"/>
                      </a:lnTo>
                      <a:lnTo>
                        <a:pt x="574" y="820"/>
                      </a:lnTo>
                      <a:lnTo>
                        <a:pt x="574" y="820"/>
                      </a:lnTo>
                      <a:lnTo>
                        <a:pt x="578" y="822"/>
                      </a:lnTo>
                      <a:lnTo>
                        <a:pt x="580" y="824"/>
                      </a:lnTo>
                      <a:lnTo>
                        <a:pt x="582" y="826"/>
                      </a:lnTo>
                      <a:lnTo>
                        <a:pt x="584" y="830"/>
                      </a:lnTo>
                      <a:lnTo>
                        <a:pt x="584" y="870"/>
                      </a:lnTo>
                      <a:lnTo>
                        <a:pt x="584" y="870"/>
                      </a:lnTo>
                      <a:lnTo>
                        <a:pt x="582" y="874"/>
                      </a:lnTo>
                      <a:lnTo>
                        <a:pt x="580" y="878"/>
                      </a:lnTo>
                      <a:lnTo>
                        <a:pt x="578" y="880"/>
                      </a:lnTo>
                      <a:lnTo>
                        <a:pt x="574" y="880"/>
                      </a:lnTo>
                      <a:lnTo>
                        <a:pt x="532" y="880"/>
                      </a:lnTo>
                      <a:close/>
                      <a:moveTo>
                        <a:pt x="452" y="910"/>
                      </a:moveTo>
                      <a:lnTo>
                        <a:pt x="452" y="910"/>
                      </a:lnTo>
                      <a:lnTo>
                        <a:pt x="452" y="906"/>
                      </a:lnTo>
                      <a:lnTo>
                        <a:pt x="454" y="902"/>
                      </a:lnTo>
                      <a:lnTo>
                        <a:pt x="458" y="900"/>
                      </a:lnTo>
                      <a:lnTo>
                        <a:pt x="462" y="900"/>
                      </a:lnTo>
                      <a:lnTo>
                        <a:pt x="504" y="900"/>
                      </a:lnTo>
                      <a:lnTo>
                        <a:pt x="504" y="900"/>
                      </a:lnTo>
                      <a:lnTo>
                        <a:pt x="508" y="900"/>
                      </a:lnTo>
                      <a:lnTo>
                        <a:pt x="512" y="902"/>
                      </a:lnTo>
                      <a:lnTo>
                        <a:pt x="514" y="906"/>
                      </a:lnTo>
                      <a:lnTo>
                        <a:pt x="514" y="910"/>
                      </a:lnTo>
                      <a:lnTo>
                        <a:pt x="514" y="948"/>
                      </a:lnTo>
                      <a:lnTo>
                        <a:pt x="514" y="948"/>
                      </a:lnTo>
                      <a:lnTo>
                        <a:pt x="512" y="952"/>
                      </a:lnTo>
                      <a:lnTo>
                        <a:pt x="510" y="956"/>
                      </a:lnTo>
                      <a:lnTo>
                        <a:pt x="508" y="958"/>
                      </a:lnTo>
                      <a:lnTo>
                        <a:pt x="504" y="958"/>
                      </a:lnTo>
                      <a:lnTo>
                        <a:pt x="460" y="958"/>
                      </a:lnTo>
                      <a:lnTo>
                        <a:pt x="460" y="958"/>
                      </a:lnTo>
                      <a:lnTo>
                        <a:pt x="456" y="958"/>
                      </a:lnTo>
                      <a:lnTo>
                        <a:pt x="454" y="956"/>
                      </a:lnTo>
                      <a:lnTo>
                        <a:pt x="452" y="952"/>
                      </a:lnTo>
                      <a:lnTo>
                        <a:pt x="450" y="948"/>
                      </a:lnTo>
                      <a:lnTo>
                        <a:pt x="452" y="910"/>
                      </a:lnTo>
                      <a:close/>
                      <a:moveTo>
                        <a:pt x="442" y="870"/>
                      </a:moveTo>
                      <a:lnTo>
                        <a:pt x="444" y="830"/>
                      </a:lnTo>
                      <a:lnTo>
                        <a:pt x="444" y="830"/>
                      </a:lnTo>
                      <a:lnTo>
                        <a:pt x="444" y="826"/>
                      </a:lnTo>
                      <a:lnTo>
                        <a:pt x="446" y="824"/>
                      </a:lnTo>
                      <a:lnTo>
                        <a:pt x="450" y="822"/>
                      </a:lnTo>
                      <a:lnTo>
                        <a:pt x="454" y="820"/>
                      </a:lnTo>
                      <a:lnTo>
                        <a:pt x="496" y="820"/>
                      </a:lnTo>
                      <a:lnTo>
                        <a:pt x="496" y="820"/>
                      </a:lnTo>
                      <a:lnTo>
                        <a:pt x="500" y="822"/>
                      </a:lnTo>
                      <a:lnTo>
                        <a:pt x="502" y="824"/>
                      </a:lnTo>
                      <a:lnTo>
                        <a:pt x="504" y="826"/>
                      </a:lnTo>
                      <a:lnTo>
                        <a:pt x="504" y="830"/>
                      </a:lnTo>
                      <a:lnTo>
                        <a:pt x="504" y="870"/>
                      </a:lnTo>
                      <a:lnTo>
                        <a:pt x="504" y="870"/>
                      </a:lnTo>
                      <a:lnTo>
                        <a:pt x="504" y="874"/>
                      </a:lnTo>
                      <a:lnTo>
                        <a:pt x="502" y="878"/>
                      </a:lnTo>
                      <a:lnTo>
                        <a:pt x="498" y="880"/>
                      </a:lnTo>
                      <a:lnTo>
                        <a:pt x="494" y="880"/>
                      </a:lnTo>
                      <a:lnTo>
                        <a:pt x="452" y="880"/>
                      </a:lnTo>
                      <a:lnTo>
                        <a:pt x="452" y="880"/>
                      </a:lnTo>
                      <a:lnTo>
                        <a:pt x="448" y="880"/>
                      </a:lnTo>
                      <a:lnTo>
                        <a:pt x="446" y="878"/>
                      </a:lnTo>
                      <a:lnTo>
                        <a:pt x="444" y="874"/>
                      </a:lnTo>
                      <a:lnTo>
                        <a:pt x="442" y="870"/>
                      </a:lnTo>
                      <a:lnTo>
                        <a:pt x="442" y="870"/>
                      </a:lnTo>
                      <a:close/>
                      <a:moveTo>
                        <a:pt x="372" y="910"/>
                      </a:moveTo>
                      <a:lnTo>
                        <a:pt x="372" y="910"/>
                      </a:lnTo>
                      <a:lnTo>
                        <a:pt x="372" y="906"/>
                      </a:lnTo>
                      <a:lnTo>
                        <a:pt x="376" y="902"/>
                      </a:lnTo>
                      <a:lnTo>
                        <a:pt x="378" y="900"/>
                      </a:lnTo>
                      <a:lnTo>
                        <a:pt x="382" y="900"/>
                      </a:lnTo>
                      <a:lnTo>
                        <a:pt x="424" y="900"/>
                      </a:lnTo>
                      <a:lnTo>
                        <a:pt x="424" y="900"/>
                      </a:lnTo>
                      <a:lnTo>
                        <a:pt x="428" y="900"/>
                      </a:lnTo>
                      <a:lnTo>
                        <a:pt x="432" y="902"/>
                      </a:lnTo>
                      <a:lnTo>
                        <a:pt x="434" y="906"/>
                      </a:lnTo>
                      <a:lnTo>
                        <a:pt x="434" y="910"/>
                      </a:lnTo>
                      <a:lnTo>
                        <a:pt x="432" y="948"/>
                      </a:lnTo>
                      <a:lnTo>
                        <a:pt x="432" y="948"/>
                      </a:lnTo>
                      <a:lnTo>
                        <a:pt x="432" y="952"/>
                      </a:lnTo>
                      <a:lnTo>
                        <a:pt x="430" y="956"/>
                      </a:lnTo>
                      <a:lnTo>
                        <a:pt x="426" y="958"/>
                      </a:lnTo>
                      <a:lnTo>
                        <a:pt x="422" y="958"/>
                      </a:lnTo>
                      <a:lnTo>
                        <a:pt x="380" y="958"/>
                      </a:lnTo>
                      <a:lnTo>
                        <a:pt x="380" y="958"/>
                      </a:lnTo>
                      <a:lnTo>
                        <a:pt x="376" y="958"/>
                      </a:lnTo>
                      <a:lnTo>
                        <a:pt x="372" y="956"/>
                      </a:lnTo>
                      <a:lnTo>
                        <a:pt x="370" y="952"/>
                      </a:lnTo>
                      <a:lnTo>
                        <a:pt x="370" y="948"/>
                      </a:lnTo>
                      <a:lnTo>
                        <a:pt x="372" y="910"/>
                      </a:lnTo>
                      <a:close/>
                      <a:moveTo>
                        <a:pt x="364" y="870"/>
                      </a:moveTo>
                      <a:lnTo>
                        <a:pt x="366" y="830"/>
                      </a:lnTo>
                      <a:lnTo>
                        <a:pt x="366" y="830"/>
                      </a:lnTo>
                      <a:lnTo>
                        <a:pt x="366" y="826"/>
                      </a:lnTo>
                      <a:lnTo>
                        <a:pt x="368" y="824"/>
                      </a:lnTo>
                      <a:lnTo>
                        <a:pt x="372" y="822"/>
                      </a:lnTo>
                      <a:lnTo>
                        <a:pt x="376" y="820"/>
                      </a:lnTo>
                      <a:lnTo>
                        <a:pt x="418" y="820"/>
                      </a:lnTo>
                      <a:lnTo>
                        <a:pt x="418" y="820"/>
                      </a:lnTo>
                      <a:lnTo>
                        <a:pt x="422" y="822"/>
                      </a:lnTo>
                      <a:lnTo>
                        <a:pt x="424" y="824"/>
                      </a:lnTo>
                      <a:lnTo>
                        <a:pt x="426" y="826"/>
                      </a:lnTo>
                      <a:lnTo>
                        <a:pt x="426" y="830"/>
                      </a:lnTo>
                      <a:lnTo>
                        <a:pt x="426" y="870"/>
                      </a:lnTo>
                      <a:lnTo>
                        <a:pt x="426" y="870"/>
                      </a:lnTo>
                      <a:lnTo>
                        <a:pt x="424" y="874"/>
                      </a:lnTo>
                      <a:lnTo>
                        <a:pt x="422" y="878"/>
                      </a:lnTo>
                      <a:lnTo>
                        <a:pt x="420" y="880"/>
                      </a:lnTo>
                      <a:lnTo>
                        <a:pt x="416" y="880"/>
                      </a:lnTo>
                      <a:lnTo>
                        <a:pt x="372" y="880"/>
                      </a:lnTo>
                      <a:lnTo>
                        <a:pt x="372" y="880"/>
                      </a:lnTo>
                      <a:lnTo>
                        <a:pt x="368" y="880"/>
                      </a:lnTo>
                      <a:lnTo>
                        <a:pt x="366" y="878"/>
                      </a:lnTo>
                      <a:lnTo>
                        <a:pt x="364" y="874"/>
                      </a:lnTo>
                      <a:lnTo>
                        <a:pt x="364" y="870"/>
                      </a:lnTo>
                      <a:lnTo>
                        <a:pt x="364" y="870"/>
                      </a:lnTo>
                      <a:close/>
                      <a:moveTo>
                        <a:pt x="292" y="910"/>
                      </a:moveTo>
                      <a:lnTo>
                        <a:pt x="292" y="910"/>
                      </a:lnTo>
                      <a:lnTo>
                        <a:pt x="292" y="906"/>
                      </a:lnTo>
                      <a:lnTo>
                        <a:pt x="296" y="902"/>
                      </a:lnTo>
                      <a:lnTo>
                        <a:pt x="298" y="900"/>
                      </a:lnTo>
                      <a:lnTo>
                        <a:pt x="302" y="900"/>
                      </a:lnTo>
                      <a:lnTo>
                        <a:pt x="346" y="900"/>
                      </a:lnTo>
                      <a:lnTo>
                        <a:pt x="346" y="900"/>
                      </a:lnTo>
                      <a:lnTo>
                        <a:pt x="348" y="900"/>
                      </a:lnTo>
                      <a:lnTo>
                        <a:pt x="352" y="902"/>
                      </a:lnTo>
                      <a:lnTo>
                        <a:pt x="354" y="906"/>
                      </a:lnTo>
                      <a:lnTo>
                        <a:pt x="354" y="910"/>
                      </a:lnTo>
                      <a:lnTo>
                        <a:pt x="352" y="948"/>
                      </a:lnTo>
                      <a:lnTo>
                        <a:pt x="352" y="948"/>
                      </a:lnTo>
                      <a:lnTo>
                        <a:pt x="352" y="952"/>
                      </a:lnTo>
                      <a:lnTo>
                        <a:pt x="348" y="956"/>
                      </a:lnTo>
                      <a:lnTo>
                        <a:pt x="346" y="958"/>
                      </a:lnTo>
                      <a:lnTo>
                        <a:pt x="342" y="958"/>
                      </a:lnTo>
                      <a:lnTo>
                        <a:pt x="298" y="958"/>
                      </a:lnTo>
                      <a:lnTo>
                        <a:pt x="298" y="958"/>
                      </a:lnTo>
                      <a:lnTo>
                        <a:pt x="294" y="958"/>
                      </a:lnTo>
                      <a:lnTo>
                        <a:pt x="292" y="956"/>
                      </a:lnTo>
                      <a:lnTo>
                        <a:pt x="290" y="952"/>
                      </a:lnTo>
                      <a:lnTo>
                        <a:pt x="290" y="948"/>
                      </a:lnTo>
                      <a:lnTo>
                        <a:pt x="292" y="910"/>
                      </a:lnTo>
                      <a:close/>
                      <a:moveTo>
                        <a:pt x="284" y="870"/>
                      </a:moveTo>
                      <a:lnTo>
                        <a:pt x="288" y="830"/>
                      </a:lnTo>
                      <a:lnTo>
                        <a:pt x="288" y="830"/>
                      </a:lnTo>
                      <a:lnTo>
                        <a:pt x="288" y="826"/>
                      </a:lnTo>
                      <a:lnTo>
                        <a:pt x="290" y="824"/>
                      </a:lnTo>
                      <a:lnTo>
                        <a:pt x="294" y="822"/>
                      </a:lnTo>
                      <a:lnTo>
                        <a:pt x="298" y="820"/>
                      </a:lnTo>
                      <a:lnTo>
                        <a:pt x="340" y="820"/>
                      </a:lnTo>
                      <a:lnTo>
                        <a:pt x="340" y="820"/>
                      </a:lnTo>
                      <a:lnTo>
                        <a:pt x="344" y="822"/>
                      </a:lnTo>
                      <a:lnTo>
                        <a:pt x="346" y="824"/>
                      </a:lnTo>
                      <a:lnTo>
                        <a:pt x="348" y="826"/>
                      </a:lnTo>
                      <a:lnTo>
                        <a:pt x="348" y="830"/>
                      </a:lnTo>
                      <a:lnTo>
                        <a:pt x="346" y="870"/>
                      </a:lnTo>
                      <a:lnTo>
                        <a:pt x="346" y="870"/>
                      </a:lnTo>
                      <a:lnTo>
                        <a:pt x="346" y="874"/>
                      </a:lnTo>
                      <a:lnTo>
                        <a:pt x="342" y="878"/>
                      </a:lnTo>
                      <a:lnTo>
                        <a:pt x="340" y="880"/>
                      </a:lnTo>
                      <a:lnTo>
                        <a:pt x="336" y="880"/>
                      </a:lnTo>
                      <a:lnTo>
                        <a:pt x="294" y="880"/>
                      </a:lnTo>
                      <a:lnTo>
                        <a:pt x="294" y="880"/>
                      </a:lnTo>
                      <a:lnTo>
                        <a:pt x="290" y="880"/>
                      </a:lnTo>
                      <a:lnTo>
                        <a:pt x="286" y="878"/>
                      </a:lnTo>
                      <a:lnTo>
                        <a:pt x="284" y="874"/>
                      </a:lnTo>
                      <a:lnTo>
                        <a:pt x="284" y="870"/>
                      </a:lnTo>
                      <a:lnTo>
                        <a:pt x="284" y="870"/>
                      </a:lnTo>
                      <a:close/>
                      <a:moveTo>
                        <a:pt x="270" y="830"/>
                      </a:moveTo>
                      <a:lnTo>
                        <a:pt x="266" y="870"/>
                      </a:lnTo>
                      <a:lnTo>
                        <a:pt x="266" y="870"/>
                      </a:lnTo>
                      <a:lnTo>
                        <a:pt x="266" y="874"/>
                      </a:lnTo>
                      <a:lnTo>
                        <a:pt x="264" y="878"/>
                      </a:lnTo>
                      <a:lnTo>
                        <a:pt x="260" y="880"/>
                      </a:lnTo>
                      <a:lnTo>
                        <a:pt x="256" y="880"/>
                      </a:lnTo>
                      <a:lnTo>
                        <a:pt x="214" y="880"/>
                      </a:lnTo>
                      <a:lnTo>
                        <a:pt x="214" y="880"/>
                      </a:lnTo>
                      <a:lnTo>
                        <a:pt x="210" y="880"/>
                      </a:lnTo>
                      <a:lnTo>
                        <a:pt x="208" y="878"/>
                      </a:lnTo>
                      <a:lnTo>
                        <a:pt x="206" y="874"/>
                      </a:lnTo>
                      <a:lnTo>
                        <a:pt x="206" y="870"/>
                      </a:lnTo>
                      <a:lnTo>
                        <a:pt x="210" y="830"/>
                      </a:lnTo>
                      <a:lnTo>
                        <a:pt x="210" y="830"/>
                      </a:lnTo>
                      <a:lnTo>
                        <a:pt x="210" y="826"/>
                      </a:lnTo>
                      <a:lnTo>
                        <a:pt x="212" y="824"/>
                      </a:lnTo>
                      <a:lnTo>
                        <a:pt x="216" y="822"/>
                      </a:lnTo>
                      <a:lnTo>
                        <a:pt x="220" y="820"/>
                      </a:lnTo>
                      <a:lnTo>
                        <a:pt x="262" y="820"/>
                      </a:lnTo>
                      <a:lnTo>
                        <a:pt x="262" y="820"/>
                      </a:lnTo>
                      <a:lnTo>
                        <a:pt x="266" y="822"/>
                      </a:lnTo>
                      <a:lnTo>
                        <a:pt x="268" y="824"/>
                      </a:lnTo>
                      <a:lnTo>
                        <a:pt x="270" y="826"/>
                      </a:lnTo>
                      <a:lnTo>
                        <a:pt x="270" y="830"/>
                      </a:lnTo>
                      <a:lnTo>
                        <a:pt x="270" y="830"/>
                      </a:lnTo>
                      <a:close/>
                      <a:moveTo>
                        <a:pt x="132" y="830"/>
                      </a:moveTo>
                      <a:lnTo>
                        <a:pt x="132" y="830"/>
                      </a:lnTo>
                      <a:lnTo>
                        <a:pt x="132" y="826"/>
                      </a:lnTo>
                      <a:lnTo>
                        <a:pt x="136" y="824"/>
                      </a:lnTo>
                      <a:lnTo>
                        <a:pt x="138" y="822"/>
                      </a:lnTo>
                      <a:lnTo>
                        <a:pt x="142" y="820"/>
                      </a:lnTo>
                      <a:lnTo>
                        <a:pt x="184" y="820"/>
                      </a:lnTo>
                      <a:lnTo>
                        <a:pt x="184" y="820"/>
                      </a:lnTo>
                      <a:lnTo>
                        <a:pt x="186" y="822"/>
                      </a:lnTo>
                      <a:lnTo>
                        <a:pt x="190" y="824"/>
                      </a:lnTo>
                      <a:lnTo>
                        <a:pt x="192" y="826"/>
                      </a:lnTo>
                      <a:lnTo>
                        <a:pt x="192" y="830"/>
                      </a:lnTo>
                      <a:lnTo>
                        <a:pt x="188" y="870"/>
                      </a:lnTo>
                      <a:lnTo>
                        <a:pt x="188" y="870"/>
                      </a:lnTo>
                      <a:lnTo>
                        <a:pt x="186" y="874"/>
                      </a:lnTo>
                      <a:lnTo>
                        <a:pt x="184" y="878"/>
                      </a:lnTo>
                      <a:lnTo>
                        <a:pt x="180" y="880"/>
                      </a:lnTo>
                      <a:lnTo>
                        <a:pt x="178" y="880"/>
                      </a:lnTo>
                      <a:lnTo>
                        <a:pt x="136" y="880"/>
                      </a:lnTo>
                      <a:lnTo>
                        <a:pt x="136" y="880"/>
                      </a:lnTo>
                      <a:lnTo>
                        <a:pt x="132" y="880"/>
                      </a:lnTo>
                      <a:lnTo>
                        <a:pt x="128" y="878"/>
                      </a:lnTo>
                      <a:lnTo>
                        <a:pt x="128" y="874"/>
                      </a:lnTo>
                      <a:lnTo>
                        <a:pt x="128" y="870"/>
                      </a:lnTo>
                      <a:lnTo>
                        <a:pt x="132" y="830"/>
                      </a:lnTo>
                      <a:close/>
                      <a:moveTo>
                        <a:pt x="122" y="908"/>
                      </a:moveTo>
                      <a:lnTo>
                        <a:pt x="122" y="908"/>
                      </a:lnTo>
                      <a:lnTo>
                        <a:pt x="124" y="906"/>
                      </a:lnTo>
                      <a:lnTo>
                        <a:pt x="126" y="902"/>
                      </a:lnTo>
                      <a:lnTo>
                        <a:pt x="130" y="900"/>
                      </a:lnTo>
                      <a:lnTo>
                        <a:pt x="134" y="900"/>
                      </a:lnTo>
                      <a:lnTo>
                        <a:pt x="186" y="900"/>
                      </a:lnTo>
                      <a:lnTo>
                        <a:pt x="186" y="900"/>
                      </a:lnTo>
                      <a:lnTo>
                        <a:pt x="190" y="900"/>
                      </a:lnTo>
                      <a:lnTo>
                        <a:pt x="192" y="902"/>
                      </a:lnTo>
                      <a:lnTo>
                        <a:pt x="194" y="906"/>
                      </a:lnTo>
                      <a:lnTo>
                        <a:pt x="194" y="908"/>
                      </a:lnTo>
                      <a:lnTo>
                        <a:pt x="190" y="948"/>
                      </a:lnTo>
                      <a:lnTo>
                        <a:pt x="190" y="948"/>
                      </a:lnTo>
                      <a:lnTo>
                        <a:pt x="190" y="952"/>
                      </a:lnTo>
                      <a:lnTo>
                        <a:pt x="186" y="956"/>
                      </a:lnTo>
                      <a:lnTo>
                        <a:pt x="184" y="958"/>
                      </a:lnTo>
                      <a:lnTo>
                        <a:pt x="180" y="958"/>
                      </a:lnTo>
                      <a:lnTo>
                        <a:pt x="126" y="958"/>
                      </a:lnTo>
                      <a:lnTo>
                        <a:pt x="126" y="958"/>
                      </a:lnTo>
                      <a:lnTo>
                        <a:pt x="122" y="958"/>
                      </a:lnTo>
                      <a:lnTo>
                        <a:pt x="120" y="956"/>
                      </a:lnTo>
                      <a:lnTo>
                        <a:pt x="118" y="952"/>
                      </a:lnTo>
                      <a:lnTo>
                        <a:pt x="118" y="948"/>
                      </a:lnTo>
                      <a:lnTo>
                        <a:pt x="122" y="908"/>
                      </a:lnTo>
                      <a:close/>
                      <a:moveTo>
                        <a:pt x="158" y="1028"/>
                      </a:moveTo>
                      <a:lnTo>
                        <a:pt x="158" y="1028"/>
                      </a:lnTo>
                      <a:lnTo>
                        <a:pt x="158" y="1032"/>
                      </a:lnTo>
                      <a:lnTo>
                        <a:pt x="154" y="1034"/>
                      </a:lnTo>
                      <a:lnTo>
                        <a:pt x="152" y="1036"/>
                      </a:lnTo>
                      <a:lnTo>
                        <a:pt x="148" y="1038"/>
                      </a:lnTo>
                      <a:lnTo>
                        <a:pt x="118" y="1038"/>
                      </a:lnTo>
                      <a:lnTo>
                        <a:pt x="118" y="1038"/>
                      </a:lnTo>
                      <a:lnTo>
                        <a:pt x="114" y="1036"/>
                      </a:lnTo>
                      <a:lnTo>
                        <a:pt x="110" y="1034"/>
                      </a:lnTo>
                      <a:lnTo>
                        <a:pt x="108" y="1032"/>
                      </a:lnTo>
                      <a:lnTo>
                        <a:pt x="108" y="1028"/>
                      </a:lnTo>
                      <a:lnTo>
                        <a:pt x="114" y="988"/>
                      </a:lnTo>
                      <a:lnTo>
                        <a:pt x="114" y="988"/>
                      </a:lnTo>
                      <a:lnTo>
                        <a:pt x="114" y="984"/>
                      </a:lnTo>
                      <a:lnTo>
                        <a:pt x="116" y="980"/>
                      </a:lnTo>
                      <a:lnTo>
                        <a:pt x="120" y="978"/>
                      </a:lnTo>
                      <a:lnTo>
                        <a:pt x="124" y="978"/>
                      </a:lnTo>
                      <a:lnTo>
                        <a:pt x="154" y="978"/>
                      </a:lnTo>
                      <a:lnTo>
                        <a:pt x="154" y="978"/>
                      </a:lnTo>
                      <a:lnTo>
                        <a:pt x="158" y="978"/>
                      </a:lnTo>
                      <a:lnTo>
                        <a:pt x="160" y="980"/>
                      </a:lnTo>
                      <a:lnTo>
                        <a:pt x="162" y="984"/>
                      </a:lnTo>
                      <a:lnTo>
                        <a:pt x="162" y="988"/>
                      </a:lnTo>
                      <a:lnTo>
                        <a:pt x="158" y="1028"/>
                      </a:lnTo>
                      <a:close/>
                      <a:moveTo>
                        <a:pt x="250" y="1028"/>
                      </a:moveTo>
                      <a:lnTo>
                        <a:pt x="250" y="1028"/>
                      </a:lnTo>
                      <a:lnTo>
                        <a:pt x="248" y="1032"/>
                      </a:lnTo>
                      <a:lnTo>
                        <a:pt x="246" y="1034"/>
                      </a:lnTo>
                      <a:lnTo>
                        <a:pt x="244" y="1036"/>
                      </a:lnTo>
                      <a:lnTo>
                        <a:pt x="240" y="1038"/>
                      </a:lnTo>
                      <a:lnTo>
                        <a:pt x="186" y="1038"/>
                      </a:lnTo>
                      <a:lnTo>
                        <a:pt x="186" y="1038"/>
                      </a:lnTo>
                      <a:lnTo>
                        <a:pt x="182" y="1036"/>
                      </a:lnTo>
                      <a:lnTo>
                        <a:pt x="180" y="1034"/>
                      </a:lnTo>
                      <a:lnTo>
                        <a:pt x="178" y="1032"/>
                      </a:lnTo>
                      <a:lnTo>
                        <a:pt x="176" y="1028"/>
                      </a:lnTo>
                      <a:lnTo>
                        <a:pt x="180" y="988"/>
                      </a:lnTo>
                      <a:lnTo>
                        <a:pt x="180" y="988"/>
                      </a:lnTo>
                      <a:lnTo>
                        <a:pt x="182" y="984"/>
                      </a:lnTo>
                      <a:lnTo>
                        <a:pt x="184" y="980"/>
                      </a:lnTo>
                      <a:lnTo>
                        <a:pt x="188" y="978"/>
                      </a:lnTo>
                      <a:lnTo>
                        <a:pt x="192" y="978"/>
                      </a:lnTo>
                      <a:lnTo>
                        <a:pt x="244" y="978"/>
                      </a:lnTo>
                      <a:lnTo>
                        <a:pt x="244" y="978"/>
                      </a:lnTo>
                      <a:lnTo>
                        <a:pt x="248" y="978"/>
                      </a:lnTo>
                      <a:lnTo>
                        <a:pt x="250" y="980"/>
                      </a:lnTo>
                      <a:lnTo>
                        <a:pt x="252" y="984"/>
                      </a:lnTo>
                      <a:lnTo>
                        <a:pt x="254" y="988"/>
                      </a:lnTo>
                      <a:lnTo>
                        <a:pt x="250" y="1028"/>
                      </a:lnTo>
                      <a:close/>
                      <a:moveTo>
                        <a:pt x="260" y="958"/>
                      </a:moveTo>
                      <a:lnTo>
                        <a:pt x="218" y="958"/>
                      </a:lnTo>
                      <a:lnTo>
                        <a:pt x="218" y="958"/>
                      </a:lnTo>
                      <a:lnTo>
                        <a:pt x="214" y="958"/>
                      </a:lnTo>
                      <a:lnTo>
                        <a:pt x="210" y="956"/>
                      </a:lnTo>
                      <a:lnTo>
                        <a:pt x="208" y="952"/>
                      </a:lnTo>
                      <a:lnTo>
                        <a:pt x="208" y="948"/>
                      </a:lnTo>
                      <a:lnTo>
                        <a:pt x="212" y="910"/>
                      </a:lnTo>
                      <a:lnTo>
                        <a:pt x="212" y="910"/>
                      </a:lnTo>
                      <a:lnTo>
                        <a:pt x="214" y="906"/>
                      </a:lnTo>
                      <a:lnTo>
                        <a:pt x="216" y="902"/>
                      </a:lnTo>
                      <a:lnTo>
                        <a:pt x="218" y="900"/>
                      </a:lnTo>
                      <a:lnTo>
                        <a:pt x="222" y="900"/>
                      </a:lnTo>
                      <a:lnTo>
                        <a:pt x="266" y="900"/>
                      </a:lnTo>
                      <a:lnTo>
                        <a:pt x="266" y="900"/>
                      </a:lnTo>
                      <a:lnTo>
                        <a:pt x="270" y="900"/>
                      </a:lnTo>
                      <a:lnTo>
                        <a:pt x="272" y="902"/>
                      </a:lnTo>
                      <a:lnTo>
                        <a:pt x="274" y="906"/>
                      </a:lnTo>
                      <a:lnTo>
                        <a:pt x="274" y="910"/>
                      </a:lnTo>
                      <a:lnTo>
                        <a:pt x="272" y="948"/>
                      </a:lnTo>
                      <a:lnTo>
                        <a:pt x="272" y="948"/>
                      </a:lnTo>
                      <a:lnTo>
                        <a:pt x="270" y="952"/>
                      </a:lnTo>
                      <a:lnTo>
                        <a:pt x="268" y="956"/>
                      </a:lnTo>
                      <a:lnTo>
                        <a:pt x="264" y="958"/>
                      </a:lnTo>
                      <a:lnTo>
                        <a:pt x="260" y="958"/>
                      </a:lnTo>
                      <a:lnTo>
                        <a:pt x="260" y="958"/>
                      </a:lnTo>
                      <a:close/>
                      <a:moveTo>
                        <a:pt x="772" y="1038"/>
                      </a:moveTo>
                      <a:lnTo>
                        <a:pt x="278" y="1038"/>
                      </a:lnTo>
                      <a:lnTo>
                        <a:pt x="278" y="1038"/>
                      </a:lnTo>
                      <a:lnTo>
                        <a:pt x="274" y="1036"/>
                      </a:lnTo>
                      <a:lnTo>
                        <a:pt x="270" y="1034"/>
                      </a:lnTo>
                      <a:lnTo>
                        <a:pt x="268" y="1032"/>
                      </a:lnTo>
                      <a:lnTo>
                        <a:pt x="268" y="1028"/>
                      </a:lnTo>
                      <a:lnTo>
                        <a:pt x="272" y="988"/>
                      </a:lnTo>
                      <a:lnTo>
                        <a:pt x="272" y="988"/>
                      </a:lnTo>
                      <a:lnTo>
                        <a:pt x="272" y="984"/>
                      </a:lnTo>
                      <a:lnTo>
                        <a:pt x="274" y="980"/>
                      </a:lnTo>
                      <a:lnTo>
                        <a:pt x="278" y="978"/>
                      </a:lnTo>
                      <a:lnTo>
                        <a:pt x="282" y="978"/>
                      </a:lnTo>
                      <a:lnTo>
                        <a:pt x="768" y="978"/>
                      </a:lnTo>
                      <a:lnTo>
                        <a:pt x="768" y="978"/>
                      </a:lnTo>
                      <a:lnTo>
                        <a:pt x="772" y="978"/>
                      </a:lnTo>
                      <a:lnTo>
                        <a:pt x="776" y="980"/>
                      </a:lnTo>
                      <a:lnTo>
                        <a:pt x="778" y="984"/>
                      </a:lnTo>
                      <a:lnTo>
                        <a:pt x="780" y="988"/>
                      </a:lnTo>
                      <a:lnTo>
                        <a:pt x="782" y="1028"/>
                      </a:lnTo>
                      <a:lnTo>
                        <a:pt x="782" y="1028"/>
                      </a:lnTo>
                      <a:lnTo>
                        <a:pt x="782" y="1032"/>
                      </a:lnTo>
                      <a:lnTo>
                        <a:pt x="780" y="1034"/>
                      </a:lnTo>
                      <a:lnTo>
                        <a:pt x="776" y="1036"/>
                      </a:lnTo>
                      <a:lnTo>
                        <a:pt x="772" y="1038"/>
                      </a:lnTo>
                      <a:lnTo>
                        <a:pt x="772" y="1038"/>
                      </a:lnTo>
                      <a:close/>
                      <a:moveTo>
                        <a:pt x="774" y="948"/>
                      </a:moveTo>
                      <a:lnTo>
                        <a:pt x="772" y="910"/>
                      </a:lnTo>
                      <a:lnTo>
                        <a:pt x="772" y="910"/>
                      </a:lnTo>
                      <a:lnTo>
                        <a:pt x="772" y="906"/>
                      </a:lnTo>
                      <a:lnTo>
                        <a:pt x="774" y="902"/>
                      </a:lnTo>
                      <a:lnTo>
                        <a:pt x="778" y="900"/>
                      </a:lnTo>
                      <a:lnTo>
                        <a:pt x="780" y="900"/>
                      </a:lnTo>
                      <a:lnTo>
                        <a:pt x="824" y="900"/>
                      </a:lnTo>
                      <a:lnTo>
                        <a:pt x="824" y="900"/>
                      </a:lnTo>
                      <a:lnTo>
                        <a:pt x="828" y="900"/>
                      </a:lnTo>
                      <a:lnTo>
                        <a:pt x="830" y="902"/>
                      </a:lnTo>
                      <a:lnTo>
                        <a:pt x="834" y="906"/>
                      </a:lnTo>
                      <a:lnTo>
                        <a:pt x="834" y="910"/>
                      </a:lnTo>
                      <a:lnTo>
                        <a:pt x="838" y="948"/>
                      </a:lnTo>
                      <a:lnTo>
                        <a:pt x="838" y="948"/>
                      </a:lnTo>
                      <a:lnTo>
                        <a:pt x="836" y="952"/>
                      </a:lnTo>
                      <a:lnTo>
                        <a:pt x="834" y="956"/>
                      </a:lnTo>
                      <a:lnTo>
                        <a:pt x="832" y="958"/>
                      </a:lnTo>
                      <a:lnTo>
                        <a:pt x="828" y="958"/>
                      </a:lnTo>
                      <a:lnTo>
                        <a:pt x="784" y="958"/>
                      </a:lnTo>
                      <a:lnTo>
                        <a:pt x="784" y="958"/>
                      </a:lnTo>
                      <a:lnTo>
                        <a:pt x="780" y="958"/>
                      </a:lnTo>
                      <a:lnTo>
                        <a:pt x="778" y="956"/>
                      </a:lnTo>
                      <a:lnTo>
                        <a:pt x="776" y="952"/>
                      </a:lnTo>
                      <a:lnTo>
                        <a:pt x="774" y="948"/>
                      </a:lnTo>
                      <a:lnTo>
                        <a:pt x="774" y="948"/>
                      </a:lnTo>
                      <a:close/>
                      <a:moveTo>
                        <a:pt x="864" y="1038"/>
                      </a:moveTo>
                      <a:lnTo>
                        <a:pt x="810" y="1038"/>
                      </a:lnTo>
                      <a:lnTo>
                        <a:pt x="810" y="1038"/>
                      </a:lnTo>
                      <a:lnTo>
                        <a:pt x="806" y="1036"/>
                      </a:lnTo>
                      <a:lnTo>
                        <a:pt x="804" y="1034"/>
                      </a:lnTo>
                      <a:lnTo>
                        <a:pt x="802" y="1032"/>
                      </a:lnTo>
                      <a:lnTo>
                        <a:pt x="800" y="1028"/>
                      </a:lnTo>
                      <a:lnTo>
                        <a:pt x="798" y="988"/>
                      </a:lnTo>
                      <a:lnTo>
                        <a:pt x="798" y="988"/>
                      </a:lnTo>
                      <a:lnTo>
                        <a:pt x="798" y="984"/>
                      </a:lnTo>
                      <a:lnTo>
                        <a:pt x="800" y="980"/>
                      </a:lnTo>
                      <a:lnTo>
                        <a:pt x="802" y="978"/>
                      </a:lnTo>
                      <a:lnTo>
                        <a:pt x="806" y="978"/>
                      </a:lnTo>
                      <a:lnTo>
                        <a:pt x="860" y="978"/>
                      </a:lnTo>
                      <a:lnTo>
                        <a:pt x="860" y="978"/>
                      </a:lnTo>
                      <a:lnTo>
                        <a:pt x="864" y="978"/>
                      </a:lnTo>
                      <a:lnTo>
                        <a:pt x="866" y="980"/>
                      </a:lnTo>
                      <a:lnTo>
                        <a:pt x="868" y="984"/>
                      </a:lnTo>
                      <a:lnTo>
                        <a:pt x="870" y="988"/>
                      </a:lnTo>
                      <a:lnTo>
                        <a:pt x="874" y="1028"/>
                      </a:lnTo>
                      <a:lnTo>
                        <a:pt x="874" y="1028"/>
                      </a:lnTo>
                      <a:lnTo>
                        <a:pt x="872" y="1032"/>
                      </a:lnTo>
                      <a:lnTo>
                        <a:pt x="870" y="1034"/>
                      </a:lnTo>
                      <a:lnTo>
                        <a:pt x="868" y="1036"/>
                      </a:lnTo>
                      <a:lnTo>
                        <a:pt x="864" y="1038"/>
                      </a:lnTo>
                      <a:lnTo>
                        <a:pt x="864" y="1038"/>
                      </a:lnTo>
                      <a:close/>
                      <a:moveTo>
                        <a:pt x="992" y="1038"/>
                      </a:moveTo>
                      <a:lnTo>
                        <a:pt x="902" y="1038"/>
                      </a:lnTo>
                      <a:lnTo>
                        <a:pt x="902" y="1038"/>
                      </a:lnTo>
                      <a:lnTo>
                        <a:pt x="898" y="1036"/>
                      </a:lnTo>
                      <a:lnTo>
                        <a:pt x="896" y="1034"/>
                      </a:lnTo>
                      <a:lnTo>
                        <a:pt x="892" y="1032"/>
                      </a:lnTo>
                      <a:lnTo>
                        <a:pt x="892" y="1028"/>
                      </a:lnTo>
                      <a:lnTo>
                        <a:pt x="888" y="988"/>
                      </a:lnTo>
                      <a:lnTo>
                        <a:pt x="888" y="988"/>
                      </a:lnTo>
                      <a:lnTo>
                        <a:pt x="888" y="984"/>
                      </a:lnTo>
                      <a:lnTo>
                        <a:pt x="890" y="980"/>
                      </a:lnTo>
                      <a:lnTo>
                        <a:pt x="894" y="978"/>
                      </a:lnTo>
                      <a:lnTo>
                        <a:pt x="896" y="978"/>
                      </a:lnTo>
                      <a:lnTo>
                        <a:pt x="986" y="978"/>
                      </a:lnTo>
                      <a:lnTo>
                        <a:pt x="986" y="978"/>
                      </a:lnTo>
                      <a:lnTo>
                        <a:pt x="990" y="978"/>
                      </a:lnTo>
                      <a:lnTo>
                        <a:pt x="992" y="980"/>
                      </a:lnTo>
                      <a:lnTo>
                        <a:pt x="994" y="984"/>
                      </a:lnTo>
                      <a:lnTo>
                        <a:pt x="996" y="988"/>
                      </a:lnTo>
                      <a:lnTo>
                        <a:pt x="1000" y="1028"/>
                      </a:lnTo>
                      <a:lnTo>
                        <a:pt x="1000" y="1028"/>
                      </a:lnTo>
                      <a:lnTo>
                        <a:pt x="1000" y="1032"/>
                      </a:lnTo>
                      <a:lnTo>
                        <a:pt x="998" y="1034"/>
                      </a:lnTo>
                      <a:lnTo>
                        <a:pt x="996" y="1036"/>
                      </a:lnTo>
                      <a:lnTo>
                        <a:pt x="992" y="1038"/>
                      </a:lnTo>
                      <a:lnTo>
                        <a:pt x="992" y="1038"/>
                      </a:lnTo>
                      <a:close/>
                    </a:path>
                  </a:pathLst>
                </a:custGeom>
                <a:solidFill>
                  <a:srgbClr val="007CB0"/>
                </a:solidFill>
                <a:ln>
                  <a:noFill/>
                </a:ln>
              </p:spPr>
              <p:txBody>
                <a:bodyPr vert="horz" wrap="square" lIns="68750" tIns="34375" rIns="68750" bIns="34375" numCol="1" anchor="t" anchorCtr="0" compatLnSpc="1">
                  <a:prstTxWarp prst="textNoShape">
                    <a:avLst/>
                  </a:prstTxWarp>
                </a:bodyP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1200" cap="none" spc="0" normalizeH="0" baseline="0" noProof="0">
                    <a:ln>
                      <a:noFill/>
                    </a:ln>
                    <a:solidFill>
                      <a:srgbClr val="000000"/>
                    </a:solidFill>
                    <a:effectLst/>
                    <a:uLnTx/>
                    <a:uFillTx/>
                    <a:latin typeface="Calibri" panose="020F0502020204030204"/>
                    <a:ea typeface="+mn-ea"/>
                    <a:cs typeface="Arial" pitchFamily="34" charset="0"/>
                  </a:endParaRPr>
                </a:p>
              </p:txBody>
            </p:sp>
            <p:sp>
              <p:nvSpPr>
                <p:cNvPr id="24" name="Line 13">
                  <a:extLst>
                    <a:ext uri="{FF2B5EF4-FFF2-40B4-BE49-F238E27FC236}">
                      <a16:creationId xmlns:a16="http://schemas.microsoft.com/office/drawing/2014/main" id="{37BCE17D-D44A-46D4-86AD-128B5D83B515}"/>
                    </a:ext>
                  </a:extLst>
                </p:cNvPr>
                <p:cNvSpPr>
                  <a:spLocks noChangeShapeType="1"/>
                </p:cNvSpPr>
                <p:nvPr/>
              </p:nvSpPr>
              <p:spPr bwMode="auto">
                <a:xfrm flipV="1">
                  <a:off x="6299726" y="4369343"/>
                  <a:ext cx="574202" cy="4631"/>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25" name="Rectangle 24">
                  <a:extLst>
                    <a:ext uri="{FF2B5EF4-FFF2-40B4-BE49-F238E27FC236}">
                      <a16:creationId xmlns:a16="http://schemas.microsoft.com/office/drawing/2014/main" id="{2AEDA018-4A0D-4353-9052-CFCB085E90A0}"/>
                    </a:ext>
                  </a:extLst>
                </p:cNvPr>
                <p:cNvSpPr/>
                <p:nvPr/>
              </p:nvSpPr>
              <p:spPr bwMode="auto">
                <a:xfrm>
                  <a:off x="1633538" y="3687796"/>
                  <a:ext cx="2632900" cy="1295057"/>
                </a:xfrm>
                <a:prstGeom prst="rect">
                  <a:avLst/>
                </a:prstGeom>
                <a:solidFill>
                  <a:sysClr val="window" lastClr="FFFFFF"/>
                </a:solidFill>
                <a:ln w="12700" cap="flat" cmpd="sng" algn="ctr">
                  <a:solidFill>
                    <a:sysClr val="windowText" lastClr="000000"/>
                  </a:solidFill>
                  <a:prstDash val="solid"/>
                  <a:round/>
                  <a:headEnd type="none" w="med" len="med"/>
                  <a:tailEnd type="none" w="med" len="med"/>
                </a:ln>
                <a:effectLst/>
              </p:spPr>
              <p:txBody>
                <a:bodyPr lIns="50650" tIns="25326" rIns="50650" bIns="25326" rtlCol="0" anchor="ctr"/>
                <a:lstStyle/>
                <a:p>
                  <a:pPr marL="0" marR="0" lvl="0" indent="0" algn="ctr" defTabSz="515151" rtl="0" eaLnBrk="1" fontAlgn="base" latinLnBrk="0" hangingPunct="1">
                    <a:lnSpc>
                      <a:spcPct val="106000"/>
                    </a:lnSpc>
                    <a:spcBef>
                      <a:spcPct val="80000"/>
                    </a:spcBef>
                    <a:spcAft>
                      <a:spcPct val="0"/>
                    </a:spcAft>
                    <a:buClr>
                      <a:srgbClr val="000000"/>
                    </a:buClr>
                    <a:buSzPct val="80000"/>
                    <a:buFontTx/>
                    <a:buNone/>
                    <a:tabLst/>
                    <a:defRPr/>
                  </a:pPr>
                  <a:r>
                    <a:rPr kumimoji="0" lang="en-US" sz="525" b="1" i="0" u="none" strike="noStrike" kern="0" cap="none" spc="0" normalizeH="0" baseline="0" noProof="0">
                      <a:ln>
                        <a:noFill/>
                      </a:ln>
                      <a:solidFill>
                        <a:srgbClr val="FFFFFF"/>
                      </a:solidFill>
                      <a:effectLst/>
                      <a:uLnTx/>
                      <a:uFillTx/>
                      <a:latin typeface="Calibri" panose="020F0502020204030204"/>
                      <a:ea typeface="+mn-ea"/>
                      <a:cs typeface="Arial" pitchFamily="34" charset="0"/>
                    </a:rPr>
                    <a:t>1</a:t>
                  </a:r>
                </a:p>
              </p:txBody>
            </p:sp>
            <p:sp>
              <p:nvSpPr>
                <p:cNvPr id="26" name="Freeform 1001">
                  <a:extLst>
                    <a:ext uri="{FF2B5EF4-FFF2-40B4-BE49-F238E27FC236}">
                      <a16:creationId xmlns:a16="http://schemas.microsoft.com/office/drawing/2014/main" id="{8B3165F2-09CE-49B9-8287-F22A6E02DC5A}"/>
                    </a:ext>
                  </a:extLst>
                </p:cNvPr>
                <p:cNvSpPr>
                  <a:spLocks noEditPoints="1"/>
                </p:cNvSpPr>
                <p:nvPr/>
              </p:nvSpPr>
              <p:spPr bwMode="auto">
                <a:xfrm>
                  <a:off x="1849109" y="4183480"/>
                  <a:ext cx="786634" cy="354281"/>
                </a:xfrm>
                <a:custGeom>
                  <a:avLst/>
                  <a:gdLst>
                    <a:gd name="T0" fmla="*/ 269 w 320"/>
                    <a:gd name="T1" fmla="*/ 192 h 192"/>
                    <a:gd name="T2" fmla="*/ 71 w 320"/>
                    <a:gd name="T3" fmla="*/ 192 h 192"/>
                    <a:gd name="T4" fmla="*/ 0 w 320"/>
                    <a:gd name="T5" fmla="*/ 121 h 192"/>
                    <a:gd name="T6" fmla="*/ 71 w 320"/>
                    <a:gd name="T7" fmla="*/ 51 h 192"/>
                    <a:gd name="T8" fmla="*/ 96 w 320"/>
                    <a:gd name="T9" fmla="*/ 56 h 192"/>
                    <a:gd name="T10" fmla="*/ 181 w 320"/>
                    <a:gd name="T11" fmla="*/ 0 h 192"/>
                    <a:gd name="T12" fmla="*/ 273 w 320"/>
                    <a:gd name="T13" fmla="*/ 91 h 192"/>
                    <a:gd name="T14" fmla="*/ 320 w 320"/>
                    <a:gd name="T15" fmla="*/ 142 h 192"/>
                    <a:gd name="T16" fmla="*/ 269 w 320"/>
                    <a:gd name="T17" fmla="*/ 192 h 192"/>
                    <a:gd name="T18" fmla="*/ 71 w 320"/>
                    <a:gd name="T19" fmla="*/ 72 h 192"/>
                    <a:gd name="T20" fmla="*/ 21 w 320"/>
                    <a:gd name="T21" fmla="*/ 121 h 192"/>
                    <a:gd name="T22" fmla="*/ 71 w 320"/>
                    <a:gd name="T23" fmla="*/ 171 h 192"/>
                    <a:gd name="T24" fmla="*/ 269 w 320"/>
                    <a:gd name="T25" fmla="*/ 171 h 192"/>
                    <a:gd name="T26" fmla="*/ 298 w 320"/>
                    <a:gd name="T27" fmla="*/ 142 h 192"/>
                    <a:gd name="T28" fmla="*/ 269 w 320"/>
                    <a:gd name="T29" fmla="*/ 112 h 192"/>
                    <a:gd name="T30" fmla="*/ 267 w 320"/>
                    <a:gd name="T31" fmla="*/ 112 h 192"/>
                    <a:gd name="T32" fmla="*/ 265 w 320"/>
                    <a:gd name="T33" fmla="*/ 113 h 192"/>
                    <a:gd name="T34" fmla="*/ 254 w 320"/>
                    <a:gd name="T35" fmla="*/ 111 h 192"/>
                    <a:gd name="T36" fmla="*/ 251 w 320"/>
                    <a:gd name="T37" fmla="*/ 101 h 192"/>
                    <a:gd name="T38" fmla="*/ 251 w 320"/>
                    <a:gd name="T39" fmla="*/ 96 h 192"/>
                    <a:gd name="T40" fmla="*/ 251 w 320"/>
                    <a:gd name="T41" fmla="*/ 92 h 192"/>
                    <a:gd name="T42" fmla="*/ 181 w 320"/>
                    <a:gd name="T43" fmla="*/ 22 h 192"/>
                    <a:gd name="T44" fmla="*/ 114 w 320"/>
                    <a:gd name="T45" fmla="*/ 68 h 192"/>
                    <a:gd name="T46" fmla="*/ 112 w 320"/>
                    <a:gd name="T47" fmla="*/ 73 h 192"/>
                    <a:gd name="T48" fmla="*/ 112 w 320"/>
                    <a:gd name="T49" fmla="*/ 75 h 192"/>
                    <a:gd name="T50" fmla="*/ 103 w 320"/>
                    <a:gd name="T51" fmla="*/ 83 h 192"/>
                    <a:gd name="T52" fmla="*/ 93 w 320"/>
                    <a:gd name="T53" fmla="*/ 79 h 192"/>
                    <a:gd name="T54" fmla="*/ 71 w 320"/>
                    <a:gd name="T55" fmla="*/ 7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0" h="192">
                      <a:moveTo>
                        <a:pt x="269" y="192"/>
                      </a:moveTo>
                      <a:cubicBezTo>
                        <a:pt x="71" y="192"/>
                        <a:pt x="71" y="192"/>
                        <a:pt x="71" y="192"/>
                      </a:cubicBezTo>
                      <a:cubicBezTo>
                        <a:pt x="31" y="192"/>
                        <a:pt x="0" y="161"/>
                        <a:pt x="0" y="121"/>
                      </a:cubicBezTo>
                      <a:cubicBezTo>
                        <a:pt x="0" y="82"/>
                        <a:pt x="31" y="51"/>
                        <a:pt x="71" y="51"/>
                      </a:cubicBezTo>
                      <a:cubicBezTo>
                        <a:pt x="80" y="51"/>
                        <a:pt x="88" y="52"/>
                        <a:pt x="96" y="56"/>
                      </a:cubicBezTo>
                      <a:cubicBezTo>
                        <a:pt x="110" y="23"/>
                        <a:pt x="144" y="0"/>
                        <a:pt x="181" y="0"/>
                      </a:cubicBezTo>
                      <a:cubicBezTo>
                        <a:pt x="231" y="0"/>
                        <a:pt x="272" y="41"/>
                        <a:pt x="273" y="91"/>
                      </a:cubicBezTo>
                      <a:cubicBezTo>
                        <a:pt x="299" y="93"/>
                        <a:pt x="320" y="115"/>
                        <a:pt x="320" y="142"/>
                      </a:cubicBezTo>
                      <a:cubicBezTo>
                        <a:pt x="320" y="170"/>
                        <a:pt x="297" y="192"/>
                        <a:pt x="269" y="192"/>
                      </a:cubicBezTo>
                      <a:close/>
                      <a:moveTo>
                        <a:pt x="71" y="72"/>
                      </a:moveTo>
                      <a:cubicBezTo>
                        <a:pt x="43" y="72"/>
                        <a:pt x="21" y="94"/>
                        <a:pt x="21" y="121"/>
                      </a:cubicBezTo>
                      <a:cubicBezTo>
                        <a:pt x="21" y="149"/>
                        <a:pt x="43" y="171"/>
                        <a:pt x="71" y="171"/>
                      </a:cubicBezTo>
                      <a:cubicBezTo>
                        <a:pt x="269" y="171"/>
                        <a:pt x="269" y="171"/>
                        <a:pt x="269" y="171"/>
                      </a:cubicBezTo>
                      <a:cubicBezTo>
                        <a:pt x="285" y="171"/>
                        <a:pt x="298" y="158"/>
                        <a:pt x="298" y="142"/>
                      </a:cubicBezTo>
                      <a:cubicBezTo>
                        <a:pt x="298" y="125"/>
                        <a:pt x="285" y="112"/>
                        <a:pt x="269" y="112"/>
                      </a:cubicBezTo>
                      <a:cubicBezTo>
                        <a:pt x="268" y="112"/>
                        <a:pt x="268" y="112"/>
                        <a:pt x="267" y="112"/>
                      </a:cubicBezTo>
                      <a:cubicBezTo>
                        <a:pt x="267" y="112"/>
                        <a:pt x="266" y="112"/>
                        <a:pt x="265" y="113"/>
                      </a:cubicBezTo>
                      <a:cubicBezTo>
                        <a:pt x="261" y="114"/>
                        <a:pt x="257" y="113"/>
                        <a:pt x="254" y="111"/>
                      </a:cubicBezTo>
                      <a:cubicBezTo>
                        <a:pt x="252" y="109"/>
                        <a:pt x="250" y="105"/>
                        <a:pt x="251" y="101"/>
                      </a:cubicBezTo>
                      <a:cubicBezTo>
                        <a:pt x="251" y="99"/>
                        <a:pt x="251" y="98"/>
                        <a:pt x="251" y="96"/>
                      </a:cubicBezTo>
                      <a:cubicBezTo>
                        <a:pt x="251" y="94"/>
                        <a:pt x="251" y="93"/>
                        <a:pt x="251" y="92"/>
                      </a:cubicBezTo>
                      <a:cubicBezTo>
                        <a:pt x="251" y="53"/>
                        <a:pt x="220" y="22"/>
                        <a:pt x="181" y="22"/>
                      </a:cubicBezTo>
                      <a:cubicBezTo>
                        <a:pt x="152" y="22"/>
                        <a:pt x="124" y="41"/>
                        <a:pt x="114" y="68"/>
                      </a:cubicBezTo>
                      <a:cubicBezTo>
                        <a:pt x="113" y="70"/>
                        <a:pt x="113" y="71"/>
                        <a:pt x="112" y="73"/>
                      </a:cubicBezTo>
                      <a:cubicBezTo>
                        <a:pt x="112" y="75"/>
                        <a:pt x="112" y="75"/>
                        <a:pt x="112" y="75"/>
                      </a:cubicBezTo>
                      <a:cubicBezTo>
                        <a:pt x="111" y="79"/>
                        <a:pt x="108" y="82"/>
                        <a:pt x="103" y="83"/>
                      </a:cubicBezTo>
                      <a:cubicBezTo>
                        <a:pt x="99" y="84"/>
                        <a:pt x="95" y="82"/>
                        <a:pt x="93" y="79"/>
                      </a:cubicBezTo>
                      <a:cubicBezTo>
                        <a:pt x="86" y="74"/>
                        <a:pt x="79" y="72"/>
                        <a:pt x="71" y="72"/>
                      </a:cubicBezTo>
                      <a:close/>
                    </a:path>
                  </a:pathLst>
                </a:custGeom>
                <a:solidFill>
                  <a:srgbClr val="007CB0"/>
                </a:solidFill>
                <a:ln>
                  <a:solidFill>
                    <a:srgbClr val="007CB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3B54B971-420B-484A-AA3D-3F07B80F016D}"/>
                    </a:ext>
                  </a:extLst>
                </p:cNvPr>
                <p:cNvSpPr txBox="1"/>
                <p:nvPr/>
              </p:nvSpPr>
              <p:spPr>
                <a:xfrm>
                  <a:off x="1840215" y="4541939"/>
                  <a:ext cx="78663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Retail Cloud</a:t>
                  </a:r>
                </a:p>
              </p:txBody>
            </p:sp>
            <p:sp>
              <p:nvSpPr>
                <p:cNvPr id="28" name="Line 13">
                  <a:extLst>
                    <a:ext uri="{FF2B5EF4-FFF2-40B4-BE49-F238E27FC236}">
                      <a16:creationId xmlns:a16="http://schemas.microsoft.com/office/drawing/2014/main" id="{9291627A-A40B-4F0A-B392-2A2A9549D7E0}"/>
                    </a:ext>
                  </a:extLst>
                </p:cNvPr>
                <p:cNvSpPr>
                  <a:spLocks noChangeShapeType="1"/>
                </p:cNvSpPr>
                <p:nvPr/>
              </p:nvSpPr>
              <p:spPr bwMode="auto">
                <a:xfrm flipV="1">
                  <a:off x="2772010" y="4369343"/>
                  <a:ext cx="574202" cy="4631"/>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29" name="Freeform 350">
                  <a:extLst>
                    <a:ext uri="{FF2B5EF4-FFF2-40B4-BE49-F238E27FC236}">
                      <a16:creationId xmlns:a16="http://schemas.microsoft.com/office/drawing/2014/main" id="{5935F4A8-8847-4F6A-AB52-FF8D48E3ADDE}"/>
                    </a:ext>
                  </a:extLst>
                </p:cNvPr>
                <p:cNvSpPr>
                  <a:spLocks noEditPoints="1"/>
                </p:cNvSpPr>
                <p:nvPr/>
              </p:nvSpPr>
              <p:spPr bwMode="auto">
                <a:xfrm>
                  <a:off x="2942361" y="4032807"/>
                  <a:ext cx="247650" cy="300904"/>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solidFill>
                  <a:srgbClr val="007CB0"/>
                </a:solidFill>
                <a:ln>
                  <a:solidFill>
                    <a:srgbClr val="007CB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30" name="Flowchart: Magnetic Disk 29">
                  <a:extLst>
                    <a:ext uri="{FF2B5EF4-FFF2-40B4-BE49-F238E27FC236}">
                      <a16:creationId xmlns:a16="http://schemas.microsoft.com/office/drawing/2014/main" id="{6ECBC6A6-29EF-41F9-8735-72016FC97A1B}"/>
                    </a:ext>
                  </a:extLst>
                </p:cNvPr>
                <p:cNvSpPr/>
                <p:nvPr/>
              </p:nvSpPr>
              <p:spPr bwMode="gray">
                <a:xfrm>
                  <a:off x="3409034" y="4214063"/>
                  <a:ext cx="578375" cy="364685"/>
                </a:xfrm>
                <a:prstGeom prst="flowChartMagneticDisk">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en-US" sz="800">
                      <a:solidFill>
                        <a:prstClr val="black"/>
                      </a:solidFill>
                      <a:latin typeface="Calibri" panose="020F0502020204030204"/>
                    </a:rPr>
                    <a:t>RDS</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52A5D287-7922-46A6-A171-3C9843A630BC}"/>
                    </a:ext>
                  </a:extLst>
                </p:cNvPr>
                <p:cNvSpPr txBox="1"/>
                <p:nvPr/>
              </p:nvSpPr>
              <p:spPr>
                <a:xfrm>
                  <a:off x="2658260" y="4378214"/>
                  <a:ext cx="78663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Data Replication via Golden Gate</a:t>
                  </a:r>
                </a:p>
              </p:txBody>
            </p:sp>
            <p:sp>
              <p:nvSpPr>
                <p:cNvPr id="32" name="Text Box 10">
                  <a:extLst>
                    <a:ext uri="{FF2B5EF4-FFF2-40B4-BE49-F238E27FC236}">
                      <a16:creationId xmlns:a16="http://schemas.microsoft.com/office/drawing/2014/main" id="{D11263C0-85AC-4282-8FE8-97933D02B0F4}"/>
                    </a:ext>
                  </a:extLst>
                </p:cNvPr>
                <p:cNvSpPr txBox="1">
                  <a:spLocks noChangeArrowheads="1"/>
                </p:cNvSpPr>
                <p:nvPr/>
              </p:nvSpPr>
              <p:spPr bwMode="auto">
                <a:xfrm>
                  <a:off x="1633538" y="3376471"/>
                  <a:ext cx="2646943" cy="254906"/>
                </a:xfrm>
                <a:prstGeom prst="rect">
                  <a:avLst/>
                </a:prstGeom>
                <a:solidFill>
                  <a:srgbClr val="007CB0"/>
                </a:solidFill>
                <a:ln w="12700" algn="ctr">
                  <a:noFill/>
                  <a:miter lim="800000"/>
                  <a:headEnd/>
                  <a:tailEnd type="none" w="sm" len="med"/>
                </a:ln>
              </p:spPr>
              <p:txBody>
                <a:bodyPr lIns="19902" tIns="19902" rIns="19902" bIns="19902" anchor="ctr" anchorCtr="1"/>
                <a:lstStyle/>
                <a:p>
                  <a:pPr marL="0" marR="0" lvl="0" indent="0" algn="ctr" defTabSz="528601" rtl="0" eaLnBrk="1" fontAlgn="base" latinLnBrk="0" hangingPunct="1">
                    <a:lnSpc>
                      <a:spcPct val="100000"/>
                    </a:lnSpc>
                    <a:spcBef>
                      <a:spcPct val="2000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Calibri" panose="020F0502020204030204"/>
                      <a:ea typeface="+mn-ea"/>
                      <a:cs typeface="Arial" pitchFamily="34" charset="0"/>
                    </a:rPr>
                    <a:t>Oracle Cloud</a:t>
                  </a:r>
                </a:p>
              </p:txBody>
            </p:sp>
            <p:sp>
              <p:nvSpPr>
                <p:cNvPr id="33" name="Text Box 10">
                  <a:extLst>
                    <a:ext uri="{FF2B5EF4-FFF2-40B4-BE49-F238E27FC236}">
                      <a16:creationId xmlns:a16="http://schemas.microsoft.com/office/drawing/2014/main" id="{15F9A36E-A222-4FE1-AD1C-D6C43F2B8276}"/>
                    </a:ext>
                  </a:extLst>
                </p:cNvPr>
                <p:cNvSpPr txBox="1">
                  <a:spLocks noChangeArrowheads="1"/>
                </p:cNvSpPr>
                <p:nvPr/>
              </p:nvSpPr>
              <p:spPr bwMode="auto">
                <a:xfrm>
                  <a:off x="4706300" y="3387674"/>
                  <a:ext cx="1676633" cy="234859"/>
                </a:xfrm>
                <a:prstGeom prst="rect">
                  <a:avLst/>
                </a:prstGeom>
                <a:solidFill>
                  <a:srgbClr val="007CB0"/>
                </a:solidFill>
                <a:ln w="12700" algn="ctr">
                  <a:noFill/>
                  <a:miter lim="800000"/>
                  <a:headEnd/>
                  <a:tailEnd type="none" w="sm" len="med"/>
                </a:ln>
              </p:spPr>
              <p:txBody>
                <a:bodyPr lIns="19902" tIns="19902" rIns="19902" bIns="19902" anchor="ctr" anchorCtr="1"/>
                <a:lstStyle/>
                <a:p>
                  <a:pPr marL="0" marR="0" lvl="0" indent="0" algn="ctr" defTabSz="528601" rtl="0" eaLnBrk="1" fontAlgn="base" latinLnBrk="0" hangingPunct="1">
                    <a:lnSpc>
                      <a:spcPct val="100000"/>
                    </a:lnSpc>
                    <a:spcBef>
                      <a:spcPct val="20000"/>
                    </a:spcBef>
                    <a:spcAft>
                      <a:spcPct val="0"/>
                    </a:spcAft>
                    <a:buClrTx/>
                    <a:buSzTx/>
                    <a:buFontTx/>
                    <a:buNone/>
                    <a:tabLst/>
                    <a:defRPr/>
                  </a:pPr>
                  <a:r>
                    <a:rPr lang="en-US" sz="1000" b="1" kern="0">
                      <a:solidFill>
                        <a:srgbClr val="FFFFFF"/>
                      </a:solidFill>
                      <a:latin typeface="Calibri" panose="020F0502020204030204"/>
                      <a:cs typeface="Arial" pitchFamily="34" charset="0"/>
                    </a:rPr>
                    <a:t>Middleware</a:t>
                  </a:r>
                  <a:endParaRPr kumimoji="0" lang="en-US" sz="1000" b="1" i="0" u="none" strike="noStrike" kern="0" cap="none" spc="0" normalizeH="0" baseline="0" noProof="0">
                    <a:ln>
                      <a:noFill/>
                    </a:ln>
                    <a:solidFill>
                      <a:srgbClr val="FFFFFF"/>
                    </a:solidFill>
                    <a:effectLst/>
                    <a:uLnTx/>
                    <a:uFillTx/>
                    <a:latin typeface="Calibri" panose="020F0502020204030204"/>
                    <a:ea typeface="+mn-ea"/>
                    <a:cs typeface="Arial" pitchFamily="34" charset="0"/>
                  </a:endParaRPr>
                </a:p>
              </p:txBody>
            </p:sp>
            <p:grpSp>
              <p:nvGrpSpPr>
                <p:cNvPr id="34" name="Media_Technology_Border_81">
                  <a:extLst>
                    <a:ext uri="{FF2B5EF4-FFF2-40B4-BE49-F238E27FC236}">
                      <a16:creationId xmlns:a16="http://schemas.microsoft.com/office/drawing/2014/main" id="{F1EEBA6A-8E91-498A-BFBA-243A555B1965}"/>
                    </a:ext>
                  </a:extLst>
                </p:cNvPr>
                <p:cNvGrpSpPr>
                  <a:grpSpLocks noChangeAspect="1"/>
                </p:cNvGrpSpPr>
                <p:nvPr/>
              </p:nvGrpSpPr>
              <p:grpSpPr bwMode="auto">
                <a:xfrm>
                  <a:off x="5841694" y="4217510"/>
                  <a:ext cx="420866" cy="410059"/>
                  <a:chOff x="5779" y="1137"/>
                  <a:chExt cx="340" cy="340"/>
                </a:xfrm>
                <a:solidFill>
                  <a:schemeClr val="accent1"/>
                </a:solidFill>
              </p:grpSpPr>
              <p:sp>
                <p:nvSpPr>
                  <p:cNvPr id="43" name="Freeform 100">
                    <a:extLst>
                      <a:ext uri="{FF2B5EF4-FFF2-40B4-BE49-F238E27FC236}">
                        <a16:creationId xmlns:a16="http://schemas.microsoft.com/office/drawing/2014/main" id="{B9461E4D-70ED-45E6-8150-E3E317F3C1C2}"/>
                      </a:ext>
                    </a:extLst>
                  </p:cNvPr>
                  <p:cNvSpPr>
                    <a:spLocks noEditPoints="1"/>
                  </p:cNvSpPr>
                  <p:nvPr/>
                </p:nvSpPr>
                <p:spPr bwMode="auto">
                  <a:xfrm>
                    <a:off x="5878" y="1207"/>
                    <a:ext cx="163" cy="199"/>
                  </a:xfrm>
                  <a:custGeom>
                    <a:avLst/>
                    <a:gdLst>
                      <a:gd name="T0" fmla="*/ 244 w 245"/>
                      <a:gd name="T1" fmla="*/ 60 h 299"/>
                      <a:gd name="T2" fmla="*/ 242 w 245"/>
                      <a:gd name="T3" fmla="*/ 56 h 299"/>
                      <a:gd name="T4" fmla="*/ 190 w 245"/>
                      <a:gd name="T5" fmla="*/ 3 h 299"/>
                      <a:gd name="T6" fmla="*/ 182 w 245"/>
                      <a:gd name="T7" fmla="*/ 0 h 299"/>
                      <a:gd name="T8" fmla="*/ 85 w 245"/>
                      <a:gd name="T9" fmla="*/ 0 h 299"/>
                      <a:gd name="T10" fmla="*/ 75 w 245"/>
                      <a:gd name="T11" fmla="*/ 11 h 299"/>
                      <a:gd name="T12" fmla="*/ 75 w 245"/>
                      <a:gd name="T13" fmla="*/ 64 h 299"/>
                      <a:gd name="T14" fmla="*/ 11 w 245"/>
                      <a:gd name="T15" fmla="*/ 64 h 299"/>
                      <a:gd name="T16" fmla="*/ 0 w 245"/>
                      <a:gd name="T17" fmla="*/ 75 h 299"/>
                      <a:gd name="T18" fmla="*/ 0 w 245"/>
                      <a:gd name="T19" fmla="*/ 288 h 299"/>
                      <a:gd name="T20" fmla="*/ 11 w 245"/>
                      <a:gd name="T21" fmla="*/ 299 h 299"/>
                      <a:gd name="T22" fmla="*/ 160 w 245"/>
                      <a:gd name="T23" fmla="*/ 299 h 299"/>
                      <a:gd name="T24" fmla="*/ 171 w 245"/>
                      <a:gd name="T25" fmla="*/ 288 h 299"/>
                      <a:gd name="T26" fmla="*/ 171 w 245"/>
                      <a:gd name="T27" fmla="*/ 235 h 299"/>
                      <a:gd name="T28" fmla="*/ 235 w 245"/>
                      <a:gd name="T29" fmla="*/ 235 h 299"/>
                      <a:gd name="T30" fmla="*/ 245 w 245"/>
                      <a:gd name="T31" fmla="*/ 224 h 299"/>
                      <a:gd name="T32" fmla="*/ 245 w 245"/>
                      <a:gd name="T33" fmla="*/ 64 h 299"/>
                      <a:gd name="T34" fmla="*/ 244 w 245"/>
                      <a:gd name="T35" fmla="*/ 60 h 299"/>
                      <a:gd name="T36" fmla="*/ 192 w 245"/>
                      <a:gd name="T37" fmla="*/ 36 h 299"/>
                      <a:gd name="T38" fmla="*/ 210 w 245"/>
                      <a:gd name="T39" fmla="*/ 54 h 299"/>
                      <a:gd name="T40" fmla="*/ 192 w 245"/>
                      <a:gd name="T41" fmla="*/ 54 h 299"/>
                      <a:gd name="T42" fmla="*/ 192 w 245"/>
                      <a:gd name="T43" fmla="*/ 36 h 299"/>
                      <a:gd name="T44" fmla="*/ 149 w 245"/>
                      <a:gd name="T45" fmla="*/ 278 h 299"/>
                      <a:gd name="T46" fmla="*/ 21 w 245"/>
                      <a:gd name="T47" fmla="*/ 278 h 299"/>
                      <a:gd name="T48" fmla="*/ 21 w 245"/>
                      <a:gd name="T49" fmla="*/ 86 h 299"/>
                      <a:gd name="T50" fmla="*/ 96 w 245"/>
                      <a:gd name="T51" fmla="*/ 86 h 299"/>
                      <a:gd name="T52" fmla="*/ 96 w 245"/>
                      <a:gd name="T53" fmla="*/ 128 h 299"/>
                      <a:gd name="T54" fmla="*/ 107 w 245"/>
                      <a:gd name="T55" fmla="*/ 139 h 299"/>
                      <a:gd name="T56" fmla="*/ 149 w 245"/>
                      <a:gd name="T57" fmla="*/ 139 h 299"/>
                      <a:gd name="T58" fmla="*/ 149 w 245"/>
                      <a:gd name="T59" fmla="*/ 278 h 299"/>
                      <a:gd name="T60" fmla="*/ 117 w 245"/>
                      <a:gd name="T61" fmla="*/ 118 h 299"/>
                      <a:gd name="T62" fmla="*/ 117 w 245"/>
                      <a:gd name="T63" fmla="*/ 100 h 299"/>
                      <a:gd name="T64" fmla="*/ 135 w 245"/>
                      <a:gd name="T65" fmla="*/ 118 h 299"/>
                      <a:gd name="T66" fmla="*/ 117 w 245"/>
                      <a:gd name="T67" fmla="*/ 118 h 299"/>
                      <a:gd name="T68" fmla="*/ 224 w 245"/>
                      <a:gd name="T69" fmla="*/ 214 h 299"/>
                      <a:gd name="T70" fmla="*/ 171 w 245"/>
                      <a:gd name="T71" fmla="*/ 214 h 299"/>
                      <a:gd name="T72" fmla="*/ 171 w 245"/>
                      <a:gd name="T73" fmla="*/ 128 h 299"/>
                      <a:gd name="T74" fmla="*/ 169 w 245"/>
                      <a:gd name="T75" fmla="*/ 123 h 299"/>
                      <a:gd name="T76" fmla="*/ 167 w 245"/>
                      <a:gd name="T77" fmla="*/ 120 h 299"/>
                      <a:gd name="T78" fmla="*/ 115 w 245"/>
                      <a:gd name="T79" fmla="*/ 67 h 299"/>
                      <a:gd name="T80" fmla="*/ 108 w 245"/>
                      <a:gd name="T81" fmla="*/ 64 h 299"/>
                      <a:gd name="T82" fmla="*/ 96 w 245"/>
                      <a:gd name="T83" fmla="*/ 64 h 299"/>
                      <a:gd name="T84" fmla="*/ 96 w 245"/>
                      <a:gd name="T85" fmla="*/ 22 h 299"/>
                      <a:gd name="T86" fmla="*/ 171 w 245"/>
                      <a:gd name="T87" fmla="*/ 22 h 299"/>
                      <a:gd name="T88" fmla="*/ 171 w 245"/>
                      <a:gd name="T89" fmla="*/ 64 h 299"/>
                      <a:gd name="T90" fmla="*/ 181 w 245"/>
                      <a:gd name="T91" fmla="*/ 75 h 299"/>
                      <a:gd name="T92" fmla="*/ 224 w 245"/>
                      <a:gd name="T93" fmla="*/ 75 h 299"/>
                      <a:gd name="T94" fmla="*/ 224 w 245"/>
                      <a:gd name="T95" fmla="*/ 214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5" h="299">
                        <a:moveTo>
                          <a:pt x="244" y="60"/>
                        </a:moveTo>
                        <a:cubicBezTo>
                          <a:pt x="244" y="58"/>
                          <a:pt x="243" y="57"/>
                          <a:pt x="242" y="56"/>
                        </a:cubicBezTo>
                        <a:cubicBezTo>
                          <a:pt x="190" y="3"/>
                          <a:pt x="190" y="3"/>
                          <a:pt x="190" y="3"/>
                        </a:cubicBezTo>
                        <a:cubicBezTo>
                          <a:pt x="188" y="1"/>
                          <a:pt x="185" y="0"/>
                          <a:pt x="182" y="0"/>
                        </a:cubicBezTo>
                        <a:cubicBezTo>
                          <a:pt x="85" y="0"/>
                          <a:pt x="85" y="0"/>
                          <a:pt x="85" y="0"/>
                        </a:cubicBezTo>
                        <a:cubicBezTo>
                          <a:pt x="79" y="0"/>
                          <a:pt x="75" y="5"/>
                          <a:pt x="75" y="11"/>
                        </a:cubicBezTo>
                        <a:cubicBezTo>
                          <a:pt x="75" y="64"/>
                          <a:pt x="75" y="64"/>
                          <a:pt x="75" y="64"/>
                        </a:cubicBezTo>
                        <a:cubicBezTo>
                          <a:pt x="11" y="64"/>
                          <a:pt x="11" y="64"/>
                          <a:pt x="11" y="64"/>
                        </a:cubicBezTo>
                        <a:cubicBezTo>
                          <a:pt x="5" y="64"/>
                          <a:pt x="0" y="69"/>
                          <a:pt x="0" y="75"/>
                        </a:cubicBezTo>
                        <a:cubicBezTo>
                          <a:pt x="0" y="288"/>
                          <a:pt x="0" y="288"/>
                          <a:pt x="0" y="288"/>
                        </a:cubicBezTo>
                        <a:cubicBezTo>
                          <a:pt x="0" y="294"/>
                          <a:pt x="5" y="299"/>
                          <a:pt x="11" y="299"/>
                        </a:cubicBezTo>
                        <a:cubicBezTo>
                          <a:pt x="160" y="299"/>
                          <a:pt x="160" y="299"/>
                          <a:pt x="160" y="299"/>
                        </a:cubicBezTo>
                        <a:cubicBezTo>
                          <a:pt x="166" y="299"/>
                          <a:pt x="171" y="294"/>
                          <a:pt x="171" y="288"/>
                        </a:cubicBezTo>
                        <a:cubicBezTo>
                          <a:pt x="171" y="235"/>
                          <a:pt x="171" y="235"/>
                          <a:pt x="171" y="235"/>
                        </a:cubicBezTo>
                        <a:cubicBezTo>
                          <a:pt x="235" y="235"/>
                          <a:pt x="235" y="235"/>
                          <a:pt x="235" y="235"/>
                        </a:cubicBezTo>
                        <a:cubicBezTo>
                          <a:pt x="241" y="235"/>
                          <a:pt x="245" y="230"/>
                          <a:pt x="245" y="224"/>
                        </a:cubicBezTo>
                        <a:cubicBezTo>
                          <a:pt x="245" y="64"/>
                          <a:pt x="245" y="64"/>
                          <a:pt x="245" y="64"/>
                        </a:cubicBezTo>
                        <a:cubicBezTo>
                          <a:pt x="245" y="63"/>
                          <a:pt x="245" y="61"/>
                          <a:pt x="244" y="60"/>
                        </a:cubicBezTo>
                        <a:close/>
                        <a:moveTo>
                          <a:pt x="192" y="36"/>
                        </a:moveTo>
                        <a:cubicBezTo>
                          <a:pt x="210" y="54"/>
                          <a:pt x="210" y="54"/>
                          <a:pt x="210" y="54"/>
                        </a:cubicBezTo>
                        <a:cubicBezTo>
                          <a:pt x="192" y="54"/>
                          <a:pt x="192" y="54"/>
                          <a:pt x="192" y="54"/>
                        </a:cubicBezTo>
                        <a:lnTo>
                          <a:pt x="192" y="36"/>
                        </a:lnTo>
                        <a:close/>
                        <a:moveTo>
                          <a:pt x="149" y="278"/>
                        </a:moveTo>
                        <a:cubicBezTo>
                          <a:pt x="21" y="278"/>
                          <a:pt x="21" y="278"/>
                          <a:pt x="21" y="278"/>
                        </a:cubicBezTo>
                        <a:cubicBezTo>
                          <a:pt x="21" y="86"/>
                          <a:pt x="21" y="86"/>
                          <a:pt x="21" y="86"/>
                        </a:cubicBezTo>
                        <a:cubicBezTo>
                          <a:pt x="96" y="86"/>
                          <a:pt x="96" y="86"/>
                          <a:pt x="96" y="86"/>
                        </a:cubicBezTo>
                        <a:cubicBezTo>
                          <a:pt x="96" y="128"/>
                          <a:pt x="96" y="128"/>
                          <a:pt x="96" y="128"/>
                        </a:cubicBezTo>
                        <a:cubicBezTo>
                          <a:pt x="96" y="134"/>
                          <a:pt x="101" y="139"/>
                          <a:pt x="107" y="139"/>
                        </a:cubicBezTo>
                        <a:cubicBezTo>
                          <a:pt x="149" y="139"/>
                          <a:pt x="149" y="139"/>
                          <a:pt x="149" y="139"/>
                        </a:cubicBezTo>
                        <a:lnTo>
                          <a:pt x="149" y="278"/>
                        </a:lnTo>
                        <a:close/>
                        <a:moveTo>
                          <a:pt x="117" y="118"/>
                        </a:moveTo>
                        <a:cubicBezTo>
                          <a:pt x="117" y="100"/>
                          <a:pt x="117" y="100"/>
                          <a:pt x="117" y="100"/>
                        </a:cubicBezTo>
                        <a:cubicBezTo>
                          <a:pt x="135" y="118"/>
                          <a:pt x="135" y="118"/>
                          <a:pt x="135" y="118"/>
                        </a:cubicBezTo>
                        <a:lnTo>
                          <a:pt x="117" y="118"/>
                        </a:lnTo>
                        <a:close/>
                        <a:moveTo>
                          <a:pt x="224" y="214"/>
                        </a:moveTo>
                        <a:cubicBezTo>
                          <a:pt x="171" y="214"/>
                          <a:pt x="171" y="214"/>
                          <a:pt x="171" y="214"/>
                        </a:cubicBezTo>
                        <a:cubicBezTo>
                          <a:pt x="171" y="128"/>
                          <a:pt x="171" y="128"/>
                          <a:pt x="171" y="128"/>
                        </a:cubicBezTo>
                        <a:cubicBezTo>
                          <a:pt x="171" y="126"/>
                          <a:pt x="170" y="125"/>
                          <a:pt x="169" y="123"/>
                        </a:cubicBezTo>
                        <a:cubicBezTo>
                          <a:pt x="169" y="122"/>
                          <a:pt x="168" y="121"/>
                          <a:pt x="167" y="120"/>
                        </a:cubicBezTo>
                        <a:cubicBezTo>
                          <a:pt x="115" y="67"/>
                          <a:pt x="115" y="67"/>
                          <a:pt x="115" y="67"/>
                        </a:cubicBezTo>
                        <a:cubicBezTo>
                          <a:pt x="113" y="65"/>
                          <a:pt x="111" y="64"/>
                          <a:pt x="108" y="64"/>
                        </a:cubicBezTo>
                        <a:cubicBezTo>
                          <a:pt x="96" y="64"/>
                          <a:pt x="96" y="64"/>
                          <a:pt x="96" y="64"/>
                        </a:cubicBezTo>
                        <a:cubicBezTo>
                          <a:pt x="96" y="22"/>
                          <a:pt x="96" y="22"/>
                          <a:pt x="96" y="22"/>
                        </a:cubicBezTo>
                        <a:cubicBezTo>
                          <a:pt x="171" y="22"/>
                          <a:pt x="171" y="22"/>
                          <a:pt x="171" y="22"/>
                        </a:cubicBezTo>
                        <a:cubicBezTo>
                          <a:pt x="171" y="64"/>
                          <a:pt x="171" y="64"/>
                          <a:pt x="171" y="64"/>
                        </a:cubicBezTo>
                        <a:cubicBezTo>
                          <a:pt x="171" y="70"/>
                          <a:pt x="175" y="75"/>
                          <a:pt x="181" y="75"/>
                        </a:cubicBezTo>
                        <a:cubicBezTo>
                          <a:pt x="224" y="75"/>
                          <a:pt x="224" y="75"/>
                          <a:pt x="224" y="75"/>
                        </a:cubicBezTo>
                        <a:lnTo>
                          <a:pt x="224" y="214"/>
                        </a:ln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44" name="Freeform 101">
                    <a:extLst>
                      <a:ext uri="{FF2B5EF4-FFF2-40B4-BE49-F238E27FC236}">
                        <a16:creationId xmlns:a16="http://schemas.microsoft.com/office/drawing/2014/main" id="{70D6BEEC-A389-41D2-8312-340A4C92F7A5}"/>
                      </a:ext>
                    </a:extLst>
                  </p:cNvPr>
                  <p:cNvSpPr>
                    <a:spLocks noEditPoints="1"/>
                  </p:cNvSpPr>
                  <p:nvPr/>
                </p:nvSpPr>
                <p:spPr bwMode="auto">
                  <a:xfrm>
                    <a:off x="5779" y="113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sp>
              <p:nvSpPr>
                <p:cNvPr id="35" name="Line 13">
                  <a:extLst>
                    <a:ext uri="{FF2B5EF4-FFF2-40B4-BE49-F238E27FC236}">
                      <a16:creationId xmlns:a16="http://schemas.microsoft.com/office/drawing/2014/main" id="{426B93F1-F522-4A9A-92CD-03472554A474}"/>
                    </a:ext>
                  </a:extLst>
                </p:cNvPr>
                <p:cNvSpPr>
                  <a:spLocks noChangeShapeType="1"/>
                </p:cNvSpPr>
                <p:nvPr/>
              </p:nvSpPr>
              <p:spPr bwMode="auto">
                <a:xfrm flipH="1">
                  <a:off x="4125463" y="4376354"/>
                  <a:ext cx="540633" cy="1"/>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36" name="Freeform 978">
                  <a:extLst>
                    <a:ext uri="{FF2B5EF4-FFF2-40B4-BE49-F238E27FC236}">
                      <a16:creationId xmlns:a16="http://schemas.microsoft.com/office/drawing/2014/main" id="{54654153-BC45-4840-AEBB-3554D4566E38}"/>
                    </a:ext>
                  </a:extLst>
                </p:cNvPr>
                <p:cNvSpPr>
                  <a:spLocks/>
                </p:cNvSpPr>
                <p:nvPr/>
              </p:nvSpPr>
              <p:spPr bwMode="auto">
                <a:xfrm>
                  <a:off x="5418048" y="4517394"/>
                  <a:ext cx="259515" cy="186538"/>
                </a:xfrm>
                <a:custGeom>
                  <a:avLst/>
                  <a:gdLst>
                    <a:gd name="T0" fmla="*/ 259 w 320"/>
                    <a:gd name="T1" fmla="*/ 90 h 257"/>
                    <a:gd name="T2" fmla="*/ 284 w 320"/>
                    <a:gd name="T3" fmla="*/ 65 h 257"/>
                    <a:gd name="T4" fmla="*/ 256 w 320"/>
                    <a:gd name="T5" fmla="*/ 65 h 257"/>
                    <a:gd name="T6" fmla="*/ 191 w 320"/>
                    <a:gd name="T7" fmla="*/ 110 h 257"/>
                    <a:gd name="T8" fmla="*/ 179 w 320"/>
                    <a:gd name="T9" fmla="*/ 124 h 257"/>
                    <a:gd name="T10" fmla="*/ 174 w 320"/>
                    <a:gd name="T11" fmla="*/ 129 h 257"/>
                    <a:gd name="T12" fmla="*/ 179 w 320"/>
                    <a:gd name="T13" fmla="*/ 135 h 257"/>
                    <a:gd name="T14" fmla="*/ 191 w 320"/>
                    <a:gd name="T15" fmla="*/ 149 h 257"/>
                    <a:gd name="T16" fmla="*/ 256 w 320"/>
                    <a:gd name="T17" fmla="*/ 193 h 257"/>
                    <a:gd name="T18" fmla="*/ 284 w 320"/>
                    <a:gd name="T19" fmla="*/ 193 h 257"/>
                    <a:gd name="T20" fmla="*/ 259 w 320"/>
                    <a:gd name="T21" fmla="*/ 169 h 257"/>
                    <a:gd name="T22" fmla="*/ 259 w 320"/>
                    <a:gd name="T23" fmla="*/ 154 h 257"/>
                    <a:gd name="T24" fmla="*/ 274 w 320"/>
                    <a:gd name="T25" fmla="*/ 154 h 257"/>
                    <a:gd name="T26" fmla="*/ 317 w 320"/>
                    <a:gd name="T27" fmla="*/ 196 h 257"/>
                    <a:gd name="T28" fmla="*/ 319 w 320"/>
                    <a:gd name="T29" fmla="*/ 200 h 257"/>
                    <a:gd name="T30" fmla="*/ 319 w 320"/>
                    <a:gd name="T31" fmla="*/ 208 h 257"/>
                    <a:gd name="T32" fmla="*/ 317 w 320"/>
                    <a:gd name="T33" fmla="*/ 212 h 257"/>
                    <a:gd name="T34" fmla="*/ 274 w 320"/>
                    <a:gd name="T35" fmla="*/ 254 h 257"/>
                    <a:gd name="T36" fmla="*/ 267 w 320"/>
                    <a:gd name="T37" fmla="*/ 257 h 257"/>
                    <a:gd name="T38" fmla="*/ 259 w 320"/>
                    <a:gd name="T39" fmla="*/ 254 h 257"/>
                    <a:gd name="T40" fmla="*/ 259 w 320"/>
                    <a:gd name="T41" fmla="*/ 239 h 257"/>
                    <a:gd name="T42" fmla="*/ 284 w 320"/>
                    <a:gd name="T43" fmla="*/ 215 h 257"/>
                    <a:gd name="T44" fmla="*/ 256 w 320"/>
                    <a:gd name="T45" fmla="*/ 215 h 257"/>
                    <a:gd name="T46" fmla="*/ 174 w 320"/>
                    <a:gd name="T47" fmla="*/ 162 h 257"/>
                    <a:gd name="T48" fmla="*/ 163 w 320"/>
                    <a:gd name="T49" fmla="*/ 149 h 257"/>
                    <a:gd name="T50" fmla="*/ 160 w 320"/>
                    <a:gd name="T51" fmla="*/ 146 h 257"/>
                    <a:gd name="T52" fmla="*/ 157 w 320"/>
                    <a:gd name="T53" fmla="*/ 149 h 257"/>
                    <a:gd name="T54" fmla="*/ 146 w 320"/>
                    <a:gd name="T55" fmla="*/ 162 h 257"/>
                    <a:gd name="T56" fmla="*/ 64 w 320"/>
                    <a:gd name="T57" fmla="*/ 215 h 257"/>
                    <a:gd name="T58" fmla="*/ 11 w 320"/>
                    <a:gd name="T59" fmla="*/ 215 h 257"/>
                    <a:gd name="T60" fmla="*/ 0 w 320"/>
                    <a:gd name="T61" fmla="*/ 204 h 257"/>
                    <a:gd name="T62" fmla="*/ 11 w 320"/>
                    <a:gd name="T63" fmla="*/ 193 h 257"/>
                    <a:gd name="T64" fmla="*/ 64 w 320"/>
                    <a:gd name="T65" fmla="*/ 193 h 257"/>
                    <a:gd name="T66" fmla="*/ 129 w 320"/>
                    <a:gd name="T67" fmla="*/ 149 h 257"/>
                    <a:gd name="T68" fmla="*/ 141 w 320"/>
                    <a:gd name="T69" fmla="*/ 134 h 257"/>
                    <a:gd name="T70" fmla="*/ 146 w 320"/>
                    <a:gd name="T71" fmla="*/ 129 h 257"/>
                    <a:gd name="T72" fmla="*/ 141 w 320"/>
                    <a:gd name="T73" fmla="*/ 124 h 257"/>
                    <a:gd name="T74" fmla="*/ 129 w 320"/>
                    <a:gd name="T75" fmla="*/ 110 h 257"/>
                    <a:gd name="T76" fmla="*/ 64 w 320"/>
                    <a:gd name="T77" fmla="*/ 65 h 257"/>
                    <a:gd name="T78" fmla="*/ 11 w 320"/>
                    <a:gd name="T79" fmla="*/ 65 h 257"/>
                    <a:gd name="T80" fmla="*/ 0 w 320"/>
                    <a:gd name="T81" fmla="*/ 55 h 257"/>
                    <a:gd name="T82" fmla="*/ 11 w 320"/>
                    <a:gd name="T83" fmla="*/ 44 h 257"/>
                    <a:gd name="T84" fmla="*/ 64 w 320"/>
                    <a:gd name="T85" fmla="*/ 44 h 257"/>
                    <a:gd name="T86" fmla="*/ 146 w 320"/>
                    <a:gd name="T87" fmla="*/ 96 h 257"/>
                    <a:gd name="T88" fmla="*/ 157 w 320"/>
                    <a:gd name="T89" fmla="*/ 110 h 257"/>
                    <a:gd name="T90" fmla="*/ 160 w 320"/>
                    <a:gd name="T91" fmla="*/ 113 h 257"/>
                    <a:gd name="T92" fmla="*/ 163 w 320"/>
                    <a:gd name="T93" fmla="*/ 110 h 257"/>
                    <a:gd name="T94" fmla="*/ 174 w 320"/>
                    <a:gd name="T95" fmla="*/ 96 h 257"/>
                    <a:gd name="T96" fmla="*/ 256 w 320"/>
                    <a:gd name="T97" fmla="*/ 44 h 257"/>
                    <a:gd name="T98" fmla="*/ 284 w 320"/>
                    <a:gd name="T99" fmla="*/ 44 h 257"/>
                    <a:gd name="T100" fmla="*/ 259 w 320"/>
                    <a:gd name="T101" fmla="*/ 20 h 257"/>
                    <a:gd name="T102" fmla="*/ 259 w 320"/>
                    <a:gd name="T103" fmla="*/ 4 h 257"/>
                    <a:gd name="T104" fmla="*/ 274 w 320"/>
                    <a:gd name="T105" fmla="*/ 4 h 257"/>
                    <a:gd name="T106" fmla="*/ 317 w 320"/>
                    <a:gd name="T107" fmla="*/ 47 h 257"/>
                    <a:gd name="T108" fmla="*/ 319 w 320"/>
                    <a:gd name="T109" fmla="*/ 51 h 257"/>
                    <a:gd name="T110" fmla="*/ 319 w 320"/>
                    <a:gd name="T111" fmla="*/ 59 h 257"/>
                    <a:gd name="T112" fmla="*/ 317 w 320"/>
                    <a:gd name="T113" fmla="*/ 62 h 257"/>
                    <a:gd name="T114" fmla="*/ 274 w 320"/>
                    <a:gd name="T115" fmla="*/ 105 h 257"/>
                    <a:gd name="T116" fmla="*/ 267 w 320"/>
                    <a:gd name="T117" fmla="*/ 108 h 257"/>
                    <a:gd name="T118" fmla="*/ 259 w 320"/>
                    <a:gd name="T119" fmla="*/ 105 h 257"/>
                    <a:gd name="T120" fmla="*/ 259 w 320"/>
                    <a:gd name="T121" fmla="*/ 9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20" h="257">
                      <a:moveTo>
                        <a:pt x="259" y="90"/>
                      </a:moveTo>
                      <a:cubicBezTo>
                        <a:pt x="284" y="65"/>
                        <a:pt x="284" y="65"/>
                        <a:pt x="284" y="65"/>
                      </a:cubicBezTo>
                      <a:cubicBezTo>
                        <a:pt x="256" y="65"/>
                        <a:pt x="256" y="65"/>
                        <a:pt x="256" y="65"/>
                      </a:cubicBezTo>
                      <a:cubicBezTo>
                        <a:pt x="225" y="65"/>
                        <a:pt x="207" y="89"/>
                        <a:pt x="191" y="110"/>
                      </a:cubicBezTo>
                      <a:cubicBezTo>
                        <a:pt x="186" y="115"/>
                        <a:pt x="182" y="120"/>
                        <a:pt x="179" y="124"/>
                      </a:cubicBezTo>
                      <a:cubicBezTo>
                        <a:pt x="174" y="129"/>
                        <a:pt x="174" y="129"/>
                        <a:pt x="174" y="129"/>
                      </a:cubicBezTo>
                      <a:cubicBezTo>
                        <a:pt x="179" y="135"/>
                        <a:pt x="179" y="135"/>
                        <a:pt x="179" y="135"/>
                      </a:cubicBezTo>
                      <a:cubicBezTo>
                        <a:pt x="182" y="139"/>
                        <a:pt x="186" y="144"/>
                        <a:pt x="191" y="149"/>
                      </a:cubicBezTo>
                      <a:cubicBezTo>
                        <a:pt x="207" y="170"/>
                        <a:pt x="225" y="193"/>
                        <a:pt x="256" y="193"/>
                      </a:cubicBezTo>
                      <a:cubicBezTo>
                        <a:pt x="284" y="193"/>
                        <a:pt x="284" y="193"/>
                        <a:pt x="284" y="193"/>
                      </a:cubicBezTo>
                      <a:cubicBezTo>
                        <a:pt x="259" y="169"/>
                        <a:pt x="259" y="169"/>
                        <a:pt x="259" y="169"/>
                      </a:cubicBezTo>
                      <a:cubicBezTo>
                        <a:pt x="255" y="165"/>
                        <a:pt x="255" y="158"/>
                        <a:pt x="259" y="154"/>
                      </a:cubicBezTo>
                      <a:cubicBezTo>
                        <a:pt x="263" y="150"/>
                        <a:pt x="270" y="150"/>
                        <a:pt x="274" y="154"/>
                      </a:cubicBezTo>
                      <a:cubicBezTo>
                        <a:pt x="317" y="196"/>
                        <a:pt x="317" y="196"/>
                        <a:pt x="317" y="196"/>
                      </a:cubicBezTo>
                      <a:cubicBezTo>
                        <a:pt x="318" y="197"/>
                        <a:pt x="319" y="199"/>
                        <a:pt x="319" y="200"/>
                      </a:cubicBezTo>
                      <a:cubicBezTo>
                        <a:pt x="320" y="203"/>
                        <a:pt x="320" y="205"/>
                        <a:pt x="319" y="208"/>
                      </a:cubicBezTo>
                      <a:cubicBezTo>
                        <a:pt x="319" y="209"/>
                        <a:pt x="318" y="211"/>
                        <a:pt x="317" y="212"/>
                      </a:cubicBezTo>
                      <a:cubicBezTo>
                        <a:pt x="274" y="254"/>
                        <a:pt x="274" y="254"/>
                        <a:pt x="274" y="254"/>
                      </a:cubicBezTo>
                      <a:cubicBezTo>
                        <a:pt x="272" y="256"/>
                        <a:pt x="269" y="257"/>
                        <a:pt x="267" y="257"/>
                      </a:cubicBezTo>
                      <a:cubicBezTo>
                        <a:pt x="264" y="257"/>
                        <a:pt x="261" y="256"/>
                        <a:pt x="259" y="254"/>
                      </a:cubicBezTo>
                      <a:cubicBezTo>
                        <a:pt x="255" y="250"/>
                        <a:pt x="255" y="243"/>
                        <a:pt x="259" y="239"/>
                      </a:cubicBezTo>
                      <a:cubicBezTo>
                        <a:pt x="284" y="215"/>
                        <a:pt x="284" y="215"/>
                        <a:pt x="284" y="215"/>
                      </a:cubicBezTo>
                      <a:cubicBezTo>
                        <a:pt x="256" y="215"/>
                        <a:pt x="256" y="215"/>
                        <a:pt x="256" y="215"/>
                      </a:cubicBezTo>
                      <a:cubicBezTo>
                        <a:pt x="215" y="215"/>
                        <a:pt x="191" y="184"/>
                        <a:pt x="174" y="162"/>
                      </a:cubicBezTo>
                      <a:cubicBezTo>
                        <a:pt x="170" y="157"/>
                        <a:pt x="166" y="153"/>
                        <a:pt x="163" y="149"/>
                      </a:cubicBezTo>
                      <a:cubicBezTo>
                        <a:pt x="160" y="146"/>
                        <a:pt x="160" y="146"/>
                        <a:pt x="160" y="146"/>
                      </a:cubicBezTo>
                      <a:cubicBezTo>
                        <a:pt x="157" y="149"/>
                        <a:pt x="157" y="149"/>
                        <a:pt x="157" y="149"/>
                      </a:cubicBezTo>
                      <a:cubicBezTo>
                        <a:pt x="154" y="153"/>
                        <a:pt x="150" y="157"/>
                        <a:pt x="146" y="162"/>
                      </a:cubicBezTo>
                      <a:cubicBezTo>
                        <a:pt x="129" y="184"/>
                        <a:pt x="105" y="215"/>
                        <a:pt x="64" y="215"/>
                      </a:cubicBezTo>
                      <a:cubicBezTo>
                        <a:pt x="11" y="215"/>
                        <a:pt x="11" y="215"/>
                        <a:pt x="11" y="215"/>
                      </a:cubicBezTo>
                      <a:cubicBezTo>
                        <a:pt x="5" y="215"/>
                        <a:pt x="0" y="210"/>
                        <a:pt x="0" y="204"/>
                      </a:cubicBezTo>
                      <a:cubicBezTo>
                        <a:pt x="0" y="198"/>
                        <a:pt x="5" y="193"/>
                        <a:pt x="11" y="193"/>
                      </a:cubicBezTo>
                      <a:cubicBezTo>
                        <a:pt x="64" y="193"/>
                        <a:pt x="64" y="193"/>
                        <a:pt x="64" y="193"/>
                      </a:cubicBezTo>
                      <a:cubicBezTo>
                        <a:pt x="95" y="193"/>
                        <a:pt x="113" y="170"/>
                        <a:pt x="129" y="149"/>
                      </a:cubicBezTo>
                      <a:cubicBezTo>
                        <a:pt x="134" y="144"/>
                        <a:pt x="138" y="139"/>
                        <a:pt x="141" y="134"/>
                      </a:cubicBezTo>
                      <a:cubicBezTo>
                        <a:pt x="146" y="129"/>
                        <a:pt x="146" y="129"/>
                        <a:pt x="146" y="129"/>
                      </a:cubicBezTo>
                      <a:cubicBezTo>
                        <a:pt x="141" y="124"/>
                        <a:pt x="141" y="124"/>
                        <a:pt x="141" y="124"/>
                      </a:cubicBezTo>
                      <a:cubicBezTo>
                        <a:pt x="138" y="120"/>
                        <a:pt x="134" y="115"/>
                        <a:pt x="129" y="110"/>
                      </a:cubicBezTo>
                      <a:cubicBezTo>
                        <a:pt x="113" y="89"/>
                        <a:pt x="95" y="65"/>
                        <a:pt x="64" y="65"/>
                      </a:cubicBezTo>
                      <a:cubicBezTo>
                        <a:pt x="11" y="65"/>
                        <a:pt x="11" y="65"/>
                        <a:pt x="11" y="65"/>
                      </a:cubicBezTo>
                      <a:cubicBezTo>
                        <a:pt x="5" y="65"/>
                        <a:pt x="0" y="61"/>
                        <a:pt x="0" y="55"/>
                      </a:cubicBezTo>
                      <a:cubicBezTo>
                        <a:pt x="0" y="49"/>
                        <a:pt x="5" y="44"/>
                        <a:pt x="11" y="44"/>
                      </a:cubicBezTo>
                      <a:cubicBezTo>
                        <a:pt x="64" y="44"/>
                        <a:pt x="64" y="44"/>
                        <a:pt x="64" y="44"/>
                      </a:cubicBezTo>
                      <a:cubicBezTo>
                        <a:pt x="105" y="44"/>
                        <a:pt x="129" y="74"/>
                        <a:pt x="146" y="96"/>
                      </a:cubicBezTo>
                      <a:cubicBezTo>
                        <a:pt x="150" y="101"/>
                        <a:pt x="154" y="106"/>
                        <a:pt x="157" y="110"/>
                      </a:cubicBezTo>
                      <a:cubicBezTo>
                        <a:pt x="160" y="113"/>
                        <a:pt x="160" y="113"/>
                        <a:pt x="160" y="113"/>
                      </a:cubicBezTo>
                      <a:cubicBezTo>
                        <a:pt x="163" y="110"/>
                        <a:pt x="163" y="110"/>
                        <a:pt x="163" y="110"/>
                      </a:cubicBezTo>
                      <a:cubicBezTo>
                        <a:pt x="166" y="106"/>
                        <a:pt x="170" y="101"/>
                        <a:pt x="174" y="96"/>
                      </a:cubicBezTo>
                      <a:cubicBezTo>
                        <a:pt x="191" y="74"/>
                        <a:pt x="215" y="44"/>
                        <a:pt x="256" y="44"/>
                      </a:cubicBezTo>
                      <a:cubicBezTo>
                        <a:pt x="284" y="44"/>
                        <a:pt x="284" y="44"/>
                        <a:pt x="284" y="44"/>
                      </a:cubicBezTo>
                      <a:cubicBezTo>
                        <a:pt x="259" y="20"/>
                        <a:pt x="259" y="20"/>
                        <a:pt x="259" y="20"/>
                      </a:cubicBezTo>
                      <a:cubicBezTo>
                        <a:pt x="255" y="15"/>
                        <a:pt x="255" y="9"/>
                        <a:pt x="259" y="4"/>
                      </a:cubicBezTo>
                      <a:cubicBezTo>
                        <a:pt x="263" y="0"/>
                        <a:pt x="270" y="0"/>
                        <a:pt x="274" y="4"/>
                      </a:cubicBezTo>
                      <a:cubicBezTo>
                        <a:pt x="317" y="47"/>
                        <a:pt x="317" y="47"/>
                        <a:pt x="317" y="47"/>
                      </a:cubicBezTo>
                      <a:cubicBezTo>
                        <a:pt x="318" y="48"/>
                        <a:pt x="319" y="49"/>
                        <a:pt x="319" y="51"/>
                      </a:cubicBezTo>
                      <a:cubicBezTo>
                        <a:pt x="320" y="53"/>
                        <a:pt x="320" y="56"/>
                        <a:pt x="319" y="59"/>
                      </a:cubicBezTo>
                      <a:cubicBezTo>
                        <a:pt x="319" y="60"/>
                        <a:pt x="318" y="61"/>
                        <a:pt x="317" y="62"/>
                      </a:cubicBezTo>
                      <a:cubicBezTo>
                        <a:pt x="274" y="105"/>
                        <a:pt x="274" y="105"/>
                        <a:pt x="274" y="105"/>
                      </a:cubicBezTo>
                      <a:cubicBezTo>
                        <a:pt x="272" y="107"/>
                        <a:pt x="269" y="108"/>
                        <a:pt x="267" y="108"/>
                      </a:cubicBezTo>
                      <a:cubicBezTo>
                        <a:pt x="264" y="108"/>
                        <a:pt x="261" y="107"/>
                        <a:pt x="259" y="105"/>
                      </a:cubicBezTo>
                      <a:cubicBezTo>
                        <a:pt x="255" y="101"/>
                        <a:pt x="255" y="94"/>
                        <a:pt x="259" y="90"/>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37" name="Line 13">
                  <a:extLst>
                    <a:ext uri="{FF2B5EF4-FFF2-40B4-BE49-F238E27FC236}">
                      <a16:creationId xmlns:a16="http://schemas.microsoft.com/office/drawing/2014/main" id="{D42588FE-1EDC-46C6-8306-7EA1AFC37658}"/>
                    </a:ext>
                  </a:extLst>
                </p:cNvPr>
                <p:cNvSpPr>
                  <a:spLocks noChangeShapeType="1"/>
                </p:cNvSpPr>
                <p:nvPr/>
              </p:nvSpPr>
              <p:spPr bwMode="auto">
                <a:xfrm flipV="1">
                  <a:off x="4140331" y="4493608"/>
                  <a:ext cx="535857" cy="5376"/>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38" name="Freeform 41">
                  <a:extLst>
                    <a:ext uri="{FF2B5EF4-FFF2-40B4-BE49-F238E27FC236}">
                      <a16:creationId xmlns:a16="http://schemas.microsoft.com/office/drawing/2014/main" id="{6DEDB7B8-840F-4C7A-801B-6C4CA92FD9E3}"/>
                    </a:ext>
                  </a:extLst>
                </p:cNvPr>
                <p:cNvSpPr>
                  <a:spLocks noEditPoints="1"/>
                </p:cNvSpPr>
                <p:nvPr/>
              </p:nvSpPr>
              <p:spPr bwMode="auto">
                <a:xfrm>
                  <a:off x="4898923" y="4324788"/>
                  <a:ext cx="255544" cy="214896"/>
                </a:xfrm>
                <a:custGeom>
                  <a:avLst/>
                  <a:gdLst>
                    <a:gd name="T0" fmla="*/ 168 w 324"/>
                    <a:gd name="T1" fmla="*/ 177 h 322"/>
                    <a:gd name="T2" fmla="*/ 123 w 324"/>
                    <a:gd name="T3" fmla="*/ 143 h 322"/>
                    <a:gd name="T4" fmla="*/ 65 w 324"/>
                    <a:gd name="T5" fmla="*/ 142 h 322"/>
                    <a:gd name="T6" fmla="*/ 18 w 324"/>
                    <a:gd name="T7" fmla="*/ 175 h 322"/>
                    <a:gd name="T8" fmla="*/ 0 w 324"/>
                    <a:gd name="T9" fmla="*/ 229 h 322"/>
                    <a:gd name="T10" fmla="*/ 17 w 324"/>
                    <a:gd name="T11" fmla="*/ 284 h 322"/>
                    <a:gd name="T12" fmla="*/ 63 w 324"/>
                    <a:gd name="T13" fmla="*/ 319 h 322"/>
                    <a:gd name="T14" fmla="*/ 115 w 324"/>
                    <a:gd name="T15" fmla="*/ 320 h 322"/>
                    <a:gd name="T16" fmla="*/ 145 w 324"/>
                    <a:gd name="T17" fmla="*/ 294 h 322"/>
                    <a:gd name="T18" fmla="*/ 172 w 324"/>
                    <a:gd name="T19" fmla="*/ 252 h 322"/>
                    <a:gd name="T20" fmla="*/ 146 w 324"/>
                    <a:gd name="T21" fmla="*/ 249 h 322"/>
                    <a:gd name="T22" fmla="*/ 125 w 324"/>
                    <a:gd name="T23" fmla="*/ 277 h 322"/>
                    <a:gd name="T24" fmla="*/ 92 w 324"/>
                    <a:gd name="T25" fmla="*/ 284 h 322"/>
                    <a:gd name="T26" fmla="*/ 69 w 324"/>
                    <a:gd name="T27" fmla="*/ 293 h 322"/>
                    <a:gd name="T28" fmla="*/ 37 w 324"/>
                    <a:gd name="T29" fmla="*/ 267 h 322"/>
                    <a:gd name="T30" fmla="*/ 26 w 324"/>
                    <a:gd name="T31" fmla="*/ 227 h 322"/>
                    <a:gd name="T32" fmla="*/ 41 w 324"/>
                    <a:gd name="T33" fmla="*/ 189 h 322"/>
                    <a:gd name="T34" fmla="*/ 76 w 324"/>
                    <a:gd name="T35" fmla="*/ 168 h 322"/>
                    <a:gd name="T36" fmla="*/ 115 w 324"/>
                    <a:gd name="T37" fmla="*/ 164 h 322"/>
                    <a:gd name="T38" fmla="*/ 150 w 324"/>
                    <a:gd name="T39" fmla="*/ 190 h 322"/>
                    <a:gd name="T40" fmla="*/ 163 w 324"/>
                    <a:gd name="T41" fmla="*/ 232 h 322"/>
                    <a:gd name="T42" fmla="*/ 61 w 324"/>
                    <a:gd name="T43" fmla="*/ 214 h 322"/>
                    <a:gd name="T44" fmla="*/ 103 w 324"/>
                    <a:gd name="T45" fmla="*/ 265 h 322"/>
                    <a:gd name="T46" fmla="*/ 105 w 324"/>
                    <a:gd name="T47" fmla="*/ 237 h 322"/>
                    <a:gd name="T48" fmla="*/ 80 w 324"/>
                    <a:gd name="T49" fmla="*/ 224 h 322"/>
                    <a:gd name="T50" fmla="*/ 106 w 324"/>
                    <a:gd name="T51" fmla="*/ 226 h 322"/>
                    <a:gd name="T52" fmla="*/ 308 w 324"/>
                    <a:gd name="T53" fmla="*/ 62 h 322"/>
                    <a:gd name="T54" fmla="*/ 276 w 324"/>
                    <a:gd name="T55" fmla="*/ 23 h 322"/>
                    <a:gd name="T56" fmla="*/ 227 w 324"/>
                    <a:gd name="T57" fmla="*/ 10 h 322"/>
                    <a:gd name="T58" fmla="*/ 180 w 324"/>
                    <a:gd name="T59" fmla="*/ 29 h 322"/>
                    <a:gd name="T60" fmla="*/ 152 w 324"/>
                    <a:gd name="T61" fmla="*/ 71 h 322"/>
                    <a:gd name="T62" fmla="*/ 155 w 324"/>
                    <a:gd name="T63" fmla="*/ 122 h 322"/>
                    <a:gd name="T64" fmla="*/ 187 w 324"/>
                    <a:gd name="T65" fmla="*/ 161 h 322"/>
                    <a:gd name="T66" fmla="*/ 236 w 324"/>
                    <a:gd name="T67" fmla="*/ 174 h 322"/>
                    <a:gd name="T68" fmla="*/ 276 w 324"/>
                    <a:gd name="T69" fmla="*/ 156 h 322"/>
                    <a:gd name="T70" fmla="*/ 305 w 324"/>
                    <a:gd name="T71" fmla="*/ 117 h 322"/>
                    <a:gd name="T72" fmla="*/ 298 w 324"/>
                    <a:gd name="T73" fmla="*/ 96 h 322"/>
                    <a:gd name="T74" fmla="*/ 283 w 324"/>
                    <a:gd name="T75" fmla="*/ 134 h 322"/>
                    <a:gd name="T76" fmla="*/ 248 w 324"/>
                    <a:gd name="T77" fmla="*/ 155 h 322"/>
                    <a:gd name="T78" fmla="*/ 209 w 324"/>
                    <a:gd name="T79" fmla="*/ 158 h 322"/>
                    <a:gd name="T80" fmla="*/ 174 w 324"/>
                    <a:gd name="T81" fmla="*/ 132 h 322"/>
                    <a:gd name="T82" fmla="*/ 161 w 324"/>
                    <a:gd name="T83" fmla="*/ 91 h 322"/>
                    <a:gd name="T84" fmla="*/ 175 w 324"/>
                    <a:gd name="T85" fmla="*/ 50 h 322"/>
                    <a:gd name="T86" fmla="*/ 211 w 324"/>
                    <a:gd name="T87" fmla="*/ 26 h 322"/>
                    <a:gd name="T88" fmla="*/ 250 w 324"/>
                    <a:gd name="T89" fmla="*/ 30 h 322"/>
                    <a:gd name="T90" fmla="*/ 284 w 324"/>
                    <a:gd name="T91" fmla="*/ 51 h 322"/>
                    <a:gd name="T92" fmla="*/ 298 w 324"/>
                    <a:gd name="T93" fmla="*/ 90 h 322"/>
                    <a:gd name="T94" fmla="*/ 221 w 324"/>
                    <a:gd name="T95" fmla="*/ 58 h 322"/>
                    <a:gd name="T96" fmla="*/ 231 w 324"/>
                    <a:gd name="T97" fmla="*/ 128 h 322"/>
                    <a:gd name="T98" fmla="*/ 248 w 324"/>
                    <a:gd name="T99" fmla="*/ 61 h 322"/>
                    <a:gd name="T100" fmla="*/ 218 w 324"/>
                    <a:gd name="T101" fmla="*/ 96 h 322"/>
                    <a:gd name="T102" fmla="*/ 238 w 324"/>
                    <a:gd name="T103" fmla="*/ 7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4" h="322">
                      <a:moveTo>
                        <a:pt x="172" y="212"/>
                      </a:moveTo>
                      <a:cubicBezTo>
                        <a:pt x="171" y="211"/>
                        <a:pt x="168" y="209"/>
                        <a:pt x="167" y="208"/>
                      </a:cubicBezTo>
                      <a:cubicBezTo>
                        <a:pt x="167" y="206"/>
                        <a:pt x="168" y="203"/>
                        <a:pt x="169" y="201"/>
                      </a:cubicBezTo>
                      <a:cubicBezTo>
                        <a:pt x="171" y="194"/>
                        <a:pt x="174" y="185"/>
                        <a:pt x="168" y="177"/>
                      </a:cubicBezTo>
                      <a:cubicBezTo>
                        <a:pt x="163" y="169"/>
                        <a:pt x="153" y="169"/>
                        <a:pt x="146" y="169"/>
                      </a:cubicBezTo>
                      <a:cubicBezTo>
                        <a:pt x="144" y="169"/>
                        <a:pt x="141" y="168"/>
                        <a:pt x="139" y="168"/>
                      </a:cubicBezTo>
                      <a:cubicBezTo>
                        <a:pt x="139" y="167"/>
                        <a:pt x="138" y="164"/>
                        <a:pt x="137" y="162"/>
                      </a:cubicBezTo>
                      <a:cubicBezTo>
                        <a:pt x="135" y="155"/>
                        <a:pt x="132" y="146"/>
                        <a:pt x="123" y="143"/>
                      </a:cubicBezTo>
                      <a:cubicBezTo>
                        <a:pt x="114" y="140"/>
                        <a:pt x="105" y="145"/>
                        <a:pt x="100" y="149"/>
                      </a:cubicBezTo>
                      <a:cubicBezTo>
                        <a:pt x="98" y="150"/>
                        <a:pt x="95" y="152"/>
                        <a:pt x="94" y="153"/>
                      </a:cubicBezTo>
                      <a:cubicBezTo>
                        <a:pt x="92" y="152"/>
                        <a:pt x="90" y="150"/>
                        <a:pt x="88" y="149"/>
                      </a:cubicBezTo>
                      <a:cubicBezTo>
                        <a:pt x="83" y="145"/>
                        <a:pt x="74" y="139"/>
                        <a:pt x="65" y="142"/>
                      </a:cubicBezTo>
                      <a:cubicBezTo>
                        <a:pt x="56" y="145"/>
                        <a:pt x="53" y="154"/>
                        <a:pt x="50" y="161"/>
                      </a:cubicBezTo>
                      <a:cubicBezTo>
                        <a:pt x="49" y="163"/>
                        <a:pt x="48" y="166"/>
                        <a:pt x="48" y="167"/>
                      </a:cubicBezTo>
                      <a:cubicBezTo>
                        <a:pt x="46" y="167"/>
                        <a:pt x="43" y="167"/>
                        <a:pt x="41" y="167"/>
                      </a:cubicBezTo>
                      <a:cubicBezTo>
                        <a:pt x="34" y="167"/>
                        <a:pt x="24" y="168"/>
                        <a:pt x="18" y="175"/>
                      </a:cubicBezTo>
                      <a:cubicBezTo>
                        <a:pt x="13" y="183"/>
                        <a:pt x="15" y="192"/>
                        <a:pt x="17" y="199"/>
                      </a:cubicBezTo>
                      <a:cubicBezTo>
                        <a:pt x="18" y="201"/>
                        <a:pt x="19" y="204"/>
                        <a:pt x="19" y="206"/>
                      </a:cubicBezTo>
                      <a:cubicBezTo>
                        <a:pt x="18" y="207"/>
                        <a:pt x="15" y="209"/>
                        <a:pt x="14" y="210"/>
                      </a:cubicBezTo>
                      <a:cubicBezTo>
                        <a:pt x="8" y="214"/>
                        <a:pt x="0" y="220"/>
                        <a:pt x="0" y="229"/>
                      </a:cubicBezTo>
                      <a:cubicBezTo>
                        <a:pt x="0" y="239"/>
                        <a:pt x="7" y="245"/>
                        <a:pt x="13" y="249"/>
                      </a:cubicBezTo>
                      <a:cubicBezTo>
                        <a:pt x="15" y="251"/>
                        <a:pt x="18" y="253"/>
                        <a:pt x="18" y="253"/>
                      </a:cubicBezTo>
                      <a:cubicBezTo>
                        <a:pt x="18" y="255"/>
                        <a:pt x="17" y="258"/>
                        <a:pt x="16" y="261"/>
                      </a:cubicBezTo>
                      <a:cubicBezTo>
                        <a:pt x="14" y="268"/>
                        <a:pt x="11" y="277"/>
                        <a:pt x="17" y="284"/>
                      </a:cubicBezTo>
                      <a:cubicBezTo>
                        <a:pt x="22" y="292"/>
                        <a:pt x="32" y="292"/>
                        <a:pt x="39" y="293"/>
                      </a:cubicBezTo>
                      <a:cubicBezTo>
                        <a:pt x="41" y="293"/>
                        <a:pt x="44" y="293"/>
                        <a:pt x="46" y="293"/>
                      </a:cubicBezTo>
                      <a:cubicBezTo>
                        <a:pt x="47" y="295"/>
                        <a:pt x="48" y="298"/>
                        <a:pt x="48" y="299"/>
                      </a:cubicBezTo>
                      <a:cubicBezTo>
                        <a:pt x="51" y="306"/>
                        <a:pt x="54" y="315"/>
                        <a:pt x="63" y="319"/>
                      </a:cubicBezTo>
                      <a:cubicBezTo>
                        <a:pt x="72" y="322"/>
                        <a:pt x="80" y="316"/>
                        <a:pt x="86" y="312"/>
                      </a:cubicBezTo>
                      <a:cubicBezTo>
                        <a:pt x="87" y="311"/>
                        <a:pt x="90" y="309"/>
                        <a:pt x="92" y="309"/>
                      </a:cubicBezTo>
                      <a:cubicBezTo>
                        <a:pt x="93" y="309"/>
                        <a:pt x="95" y="311"/>
                        <a:pt x="97" y="312"/>
                      </a:cubicBezTo>
                      <a:cubicBezTo>
                        <a:pt x="102" y="316"/>
                        <a:pt x="108" y="320"/>
                        <a:pt x="115" y="320"/>
                      </a:cubicBezTo>
                      <a:cubicBezTo>
                        <a:pt x="117" y="320"/>
                        <a:pt x="118" y="320"/>
                        <a:pt x="120" y="319"/>
                      </a:cubicBezTo>
                      <a:cubicBezTo>
                        <a:pt x="129" y="316"/>
                        <a:pt x="133" y="307"/>
                        <a:pt x="135" y="300"/>
                      </a:cubicBezTo>
                      <a:cubicBezTo>
                        <a:pt x="136" y="298"/>
                        <a:pt x="137" y="296"/>
                        <a:pt x="138" y="294"/>
                      </a:cubicBezTo>
                      <a:cubicBezTo>
                        <a:pt x="139" y="294"/>
                        <a:pt x="142" y="294"/>
                        <a:pt x="145" y="294"/>
                      </a:cubicBezTo>
                      <a:cubicBezTo>
                        <a:pt x="152" y="294"/>
                        <a:pt x="161" y="294"/>
                        <a:pt x="167" y="286"/>
                      </a:cubicBezTo>
                      <a:cubicBezTo>
                        <a:pt x="173" y="279"/>
                        <a:pt x="170" y="269"/>
                        <a:pt x="168" y="262"/>
                      </a:cubicBezTo>
                      <a:cubicBezTo>
                        <a:pt x="168" y="260"/>
                        <a:pt x="167" y="257"/>
                        <a:pt x="167" y="256"/>
                      </a:cubicBezTo>
                      <a:cubicBezTo>
                        <a:pt x="168" y="255"/>
                        <a:pt x="170" y="253"/>
                        <a:pt x="172" y="252"/>
                      </a:cubicBezTo>
                      <a:cubicBezTo>
                        <a:pt x="177" y="247"/>
                        <a:pt x="185" y="242"/>
                        <a:pt x="185" y="232"/>
                      </a:cubicBezTo>
                      <a:cubicBezTo>
                        <a:pt x="186" y="223"/>
                        <a:pt x="178" y="217"/>
                        <a:pt x="172" y="212"/>
                      </a:cubicBezTo>
                      <a:close/>
                      <a:moveTo>
                        <a:pt x="159" y="235"/>
                      </a:moveTo>
                      <a:cubicBezTo>
                        <a:pt x="154" y="238"/>
                        <a:pt x="148" y="242"/>
                        <a:pt x="146" y="249"/>
                      </a:cubicBezTo>
                      <a:cubicBezTo>
                        <a:pt x="144" y="255"/>
                        <a:pt x="146" y="262"/>
                        <a:pt x="148" y="268"/>
                      </a:cubicBezTo>
                      <a:cubicBezTo>
                        <a:pt x="148" y="269"/>
                        <a:pt x="148" y="271"/>
                        <a:pt x="149" y="272"/>
                      </a:cubicBezTo>
                      <a:cubicBezTo>
                        <a:pt x="147" y="273"/>
                        <a:pt x="145" y="273"/>
                        <a:pt x="144" y="273"/>
                      </a:cubicBezTo>
                      <a:cubicBezTo>
                        <a:pt x="138" y="273"/>
                        <a:pt x="131" y="273"/>
                        <a:pt x="125" y="277"/>
                      </a:cubicBezTo>
                      <a:cubicBezTo>
                        <a:pt x="120" y="281"/>
                        <a:pt x="117" y="287"/>
                        <a:pt x="115" y="293"/>
                      </a:cubicBezTo>
                      <a:cubicBezTo>
                        <a:pt x="115" y="294"/>
                        <a:pt x="114" y="295"/>
                        <a:pt x="113" y="297"/>
                      </a:cubicBezTo>
                      <a:cubicBezTo>
                        <a:pt x="112" y="296"/>
                        <a:pt x="110" y="294"/>
                        <a:pt x="109" y="293"/>
                      </a:cubicBezTo>
                      <a:cubicBezTo>
                        <a:pt x="104" y="290"/>
                        <a:pt x="99" y="284"/>
                        <a:pt x="92" y="284"/>
                      </a:cubicBezTo>
                      <a:cubicBezTo>
                        <a:pt x="92" y="284"/>
                        <a:pt x="92" y="284"/>
                        <a:pt x="92" y="284"/>
                      </a:cubicBezTo>
                      <a:cubicBezTo>
                        <a:pt x="85" y="284"/>
                        <a:pt x="79" y="289"/>
                        <a:pt x="74" y="293"/>
                      </a:cubicBezTo>
                      <a:cubicBezTo>
                        <a:pt x="73" y="294"/>
                        <a:pt x="71" y="296"/>
                        <a:pt x="70" y="297"/>
                      </a:cubicBezTo>
                      <a:cubicBezTo>
                        <a:pt x="70" y="296"/>
                        <a:pt x="69" y="294"/>
                        <a:pt x="69" y="293"/>
                      </a:cubicBezTo>
                      <a:cubicBezTo>
                        <a:pt x="67" y="287"/>
                        <a:pt x="64" y="280"/>
                        <a:pt x="59" y="276"/>
                      </a:cubicBezTo>
                      <a:cubicBezTo>
                        <a:pt x="53" y="272"/>
                        <a:pt x="46" y="272"/>
                        <a:pt x="40" y="271"/>
                      </a:cubicBezTo>
                      <a:cubicBezTo>
                        <a:pt x="39" y="271"/>
                        <a:pt x="37" y="271"/>
                        <a:pt x="36" y="271"/>
                      </a:cubicBezTo>
                      <a:cubicBezTo>
                        <a:pt x="36" y="270"/>
                        <a:pt x="36" y="268"/>
                        <a:pt x="37" y="267"/>
                      </a:cubicBezTo>
                      <a:cubicBezTo>
                        <a:pt x="39" y="261"/>
                        <a:pt x="41" y="254"/>
                        <a:pt x="39" y="247"/>
                      </a:cubicBezTo>
                      <a:cubicBezTo>
                        <a:pt x="37" y="241"/>
                        <a:pt x="31" y="236"/>
                        <a:pt x="26" y="232"/>
                      </a:cubicBezTo>
                      <a:cubicBezTo>
                        <a:pt x="25" y="232"/>
                        <a:pt x="24" y="231"/>
                        <a:pt x="23" y="230"/>
                      </a:cubicBezTo>
                      <a:cubicBezTo>
                        <a:pt x="24" y="229"/>
                        <a:pt x="25" y="228"/>
                        <a:pt x="26" y="227"/>
                      </a:cubicBezTo>
                      <a:cubicBezTo>
                        <a:pt x="31" y="223"/>
                        <a:pt x="37" y="219"/>
                        <a:pt x="39" y="213"/>
                      </a:cubicBezTo>
                      <a:cubicBezTo>
                        <a:pt x="41" y="206"/>
                        <a:pt x="39" y="199"/>
                        <a:pt x="38" y="193"/>
                      </a:cubicBezTo>
                      <a:cubicBezTo>
                        <a:pt x="37" y="192"/>
                        <a:pt x="37" y="190"/>
                        <a:pt x="37" y="189"/>
                      </a:cubicBezTo>
                      <a:cubicBezTo>
                        <a:pt x="38" y="189"/>
                        <a:pt x="40" y="189"/>
                        <a:pt x="41" y="189"/>
                      </a:cubicBezTo>
                      <a:cubicBezTo>
                        <a:pt x="47" y="189"/>
                        <a:pt x="54" y="189"/>
                        <a:pt x="60" y="185"/>
                      </a:cubicBezTo>
                      <a:cubicBezTo>
                        <a:pt x="66" y="181"/>
                        <a:pt x="68" y="174"/>
                        <a:pt x="70" y="169"/>
                      </a:cubicBezTo>
                      <a:cubicBezTo>
                        <a:pt x="71" y="167"/>
                        <a:pt x="71" y="166"/>
                        <a:pt x="72" y="164"/>
                      </a:cubicBezTo>
                      <a:cubicBezTo>
                        <a:pt x="73" y="165"/>
                        <a:pt x="75" y="167"/>
                        <a:pt x="76" y="168"/>
                      </a:cubicBezTo>
                      <a:cubicBezTo>
                        <a:pt x="81" y="172"/>
                        <a:pt x="87" y="177"/>
                        <a:pt x="93" y="177"/>
                      </a:cubicBezTo>
                      <a:cubicBezTo>
                        <a:pt x="94" y="177"/>
                        <a:pt x="94" y="177"/>
                        <a:pt x="94" y="177"/>
                      </a:cubicBezTo>
                      <a:cubicBezTo>
                        <a:pt x="101" y="177"/>
                        <a:pt x="106" y="172"/>
                        <a:pt x="111" y="168"/>
                      </a:cubicBezTo>
                      <a:cubicBezTo>
                        <a:pt x="112" y="168"/>
                        <a:pt x="114" y="165"/>
                        <a:pt x="115" y="164"/>
                      </a:cubicBezTo>
                      <a:cubicBezTo>
                        <a:pt x="116" y="166"/>
                        <a:pt x="116" y="168"/>
                        <a:pt x="117" y="169"/>
                      </a:cubicBezTo>
                      <a:cubicBezTo>
                        <a:pt x="119" y="175"/>
                        <a:pt x="121" y="181"/>
                        <a:pt x="127" y="185"/>
                      </a:cubicBezTo>
                      <a:cubicBezTo>
                        <a:pt x="132" y="189"/>
                        <a:pt x="139" y="190"/>
                        <a:pt x="145" y="190"/>
                      </a:cubicBezTo>
                      <a:cubicBezTo>
                        <a:pt x="146" y="190"/>
                        <a:pt x="148" y="190"/>
                        <a:pt x="150" y="190"/>
                      </a:cubicBezTo>
                      <a:cubicBezTo>
                        <a:pt x="149" y="192"/>
                        <a:pt x="149" y="193"/>
                        <a:pt x="149" y="194"/>
                      </a:cubicBezTo>
                      <a:cubicBezTo>
                        <a:pt x="147" y="200"/>
                        <a:pt x="145" y="207"/>
                        <a:pt x="147" y="214"/>
                      </a:cubicBezTo>
                      <a:cubicBezTo>
                        <a:pt x="149" y="221"/>
                        <a:pt x="154" y="225"/>
                        <a:pt x="159" y="229"/>
                      </a:cubicBezTo>
                      <a:cubicBezTo>
                        <a:pt x="160" y="230"/>
                        <a:pt x="162" y="231"/>
                        <a:pt x="163" y="232"/>
                      </a:cubicBezTo>
                      <a:cubicBezTo>
                        <a:pt x="161" y="233"/>
                        <a:pt x="160" y="234"/>
                        <a:pt x="159" y="235"/>
                      </a:cubicBezTo>
                      <a:close/>
                      <a:moveTo>
                        <a:pt x="109" y="199"/>
                      </a:moveTo>
                      <a:cubicBezTo>
                        <a:pt x="101" y="195"/>
                        <a:pt x="91" y="194"/>
                        <a:pt x="82" y="197"/>
                      </a:cubicBezTo>
                      <a:cubicBezTo>
                        <a:pt x="73" y="200"/>
                        <a:pt x="66" y="206"/>
                        <a:pt x="61" y="214"/>
                      </a:cubicBezTo>
                      <a:cubicBezTo>
                        <a:pt x="57" y="223"/>
                        <a:pt x="56" y="232"/>
                        <a:pt x="59" y="241"/>
                      </a:cubicBezTo>
                      <a:cubicBezTo>
                        <a:pt x="62" y="250"/>
                        <a:pt x="68" y="258"/>
                        <a:pt x="76" y="262"/>
                      </a:cubicBezTo>
                      <a:cubicBezTo>
                        <a:pt x="81" y="265"/>
                        <a:pt x="87" y="266"/>
                        <a:pt x="93" y="266"/>
                      </a:cubicBezTo>
                      <a:cubicBezTo>
                        <a:pt x="96" y="266"/>
                        <a:pt x="100" y="266"/>
                        <a:pt x="103" y="265"/>
                      </a:cubicBezTo>
                      <a:cubicBezTo>
                        <a:pt x="112" y="262"/>
                        <a:pt x="120" y="256"/>
                        <a:pt x="124" y="247"/>
                      </a:cubicBezTo>
                      <a:cubicBezTo>
                        <a:pt x="129" y="239"/>
                        <a:pt x="129" y="229"/>
                        <a:pt x="127" y="220"/>
                      </a:cubicBezTo>
                      <a:cubicBezTo>
                        <a:pt x="124" y="211"/>
                        <a:pt x="118" y="204"/>
                        <a:pt x="109" y="199"/>
                      </a:cubicBezTo>
                      <a:close/>
                      <a:moveTo>
                        <a:pt x="105" y="237"/>
                      </a:moveTo>
                      <a:cubicBezTo>
                        <a:pt x="103" y="241"/>
                        <a:pt x="101" y="243"/>
                        <a:pt x="97" y="244"/>
                      </a:cubicBezTo>
                      <a:cubicBezTo>
                        <a:pt x="93" y="245"/>
                        <a:pt x="89" y="245"/>
                        <a:pt x="86" y="243"/>
                      </a:cubicBezTo>
                      <a:cubicBezTo>
                        <a:pt x="83" y="241"/>
                        <a:pt x="80" y="239"/>
                        <a:pt x="79" y="235"/>
                      </a:cubicBezTo>
                      <a:cubicBezTo>
                        <a:pt x="78" y="231"/>
                        <a:pt x="78" y="227"/>
                        <a:pt x="80" y="224"/>
                      </a:cubicBezTo>
                      <a:cubicBezTo>
                        <a:pt x="82" y="221"/>
                        <a:pt x="85" y="218"/>
                        <a:pt x="88" y="217"/>
                      </a:cubicBezTo>
                      <a:cubicBezTo>
                        <a:pt x="90" y="217"/>
                        <a:pt x="91" y="216"/>
                        <a:pt x="93" y="216"/>
                      </a:cubicBezTo>
                      <a:cubicBezTo>
                        <a:pt x="95" y="216"/>
                        <a:pt x="97" y="217"/>
                        <a:pt x="99" y="218"/>
                      </a:cubicBezTo>
                      <a:cubicBezTo>
                        <a:pt x="103" y="220"/>
                        <a:pt x="105" y="223"/>
                        <a:pt x="106" y="226"/>
                      </a:cubicBezTo>
                      <a:cubicBezTo>
                        <a:pt x="107" y="230"/>
                        <a:pt x="107" y="234"/>
                        <a:pt x="105" y="237"/>
                      </a:cubicBezTo>
                      <a:close/>
                      <a:moveTo>
                        <a:pt x="311" y="74"/>
                      </a:moveTo>
                      <a:cubicBezTo>
                        <a:pt x="309" y="72"/>
                        <a:pt x="307" y="70"/>
                        <a:pt x="306" y="69"/>
                      </a:cubicBezTo>
                      <a:cubicBezTo>
                        <a:pt x="306" y="67"/>
                        <a:pt x="307" y="64"/>
                        <a:pt x="308" y="62"/>
                      </a:cubicBezTo>
                      <a:cubicBezTo>
                        <a:pt x="310" y="55"/>
                        <a:pt x="313" y="46"/>
                        <a:pt x="307" y="38"/>
                      </a:cubicBezTo>
                      <a:cubicBezTo>
                        <a:pt x="302" y="31"/>
                        <a:pt x="292" y="30"/>
                        <a:pt x="285" y="30"/>
                      </a:cubicBezTo>
                      <a:cubicBezTo>
                        <a:pt x="283" y="30"/>
                        <a:pt x="280" y="30"/>
                        <a:pt x="278" y="29"/>
                      </a:cubicBezTo>
                      <a:cubicBezTo>
                        <a:pt x="277" y="28"/>
                        <a:pt x="276" y="25"/>
                        <a:pt x="276" y="23"/>
                      </a:cubicBezTo>
                      <a:cubicBezTo>
                        <a:pt x="273" y="16"/>
                        <a:pt x="270" y="7"/>
                        <a:pt x="261" y="4"/>
                      </a:cubicBezTo>
                      <a:cubicBezTo>
                        <a:pt x="252" y="1"/>
                        <a:pt x="244" y="6"/>
                        <a:pt x="238" y="10"/>
                      </a:cubicBezTo>
                      <a:cubicBezTo>
                        <a:pt x="237" y="12"/>
                        <a:pt x="234" y="13"/>
                        <a:pt x="232" y="14"/>
                      </a:cubicBezTo>
                      <a:cubicBezTo>
                        <a:pt x="231" y="13"/>
                        <a:pt x="229" y="12"/>
                        <a:pt x="227" y="10"/>
                      </a:cubicBezTo>
                      <a:cubicBezTo>
                        <a:pt x="221" y="6"/>
                        <a:pt x="213" y="0"/>
                        <a:pt x="204" y="3"/>
                      </a:cubicBezTo>
                      <a:cubicBezTo>
                        <a:pt x="195" y="6"/>
                        <a:pt x="191" y="16"/>
                        <a:pt x="189" y="22"/>
                      </a:cubicBezTo>
                      <a:cubicBezTo>
                        <a:pt x="188" y="24"/>
                        <a:pt x="187" y="27"/>
                        <a:pt x="186" y="28"/>
                      </a:cubicBezTo>
                      <a:cubicBezTo>
                        <a:pt x="185" y="29"/>
                        <a:pt x="182" y="29"/>
                        <a:pt x="180" y="29"/>
                      </a:cubicBezTo>
                      <a:cubicBezTo>
                        <a:pt x="172" y="29"/>
                        <a:pt x="163" y="29"/>
                        <a:pt x="157" y="36"/>
                      </a:cubicBezTo>
                      <a:cubicBezTo>
                        <a:pt x="151" y="44"/>
                        <a:pt x="154" y="53"/>
                        <a:pt x="156" y="60"/>
                      </a:cubicBezTo>
                      <a:cubicBezTo>
                        <a:pt x="156" y="62"/>
                        <a:pt x="157" y="65"/>
                        <a:pt x="157" y="67"/>
                      </a:cubicBezTo>
                      <a:cubicBezTo>
                        <a:pt x="156" y="68"/>
                        <a:pt x="154" y="70"/>
                        <a:pt x="152" y="71"/>
                      </a:cubicBezTo>
                      <a:cubicBezTo>
                        <a:pt x="147" y="75"/>
                        <a:pt x="139" y="81"/>
                        <a:pt x="139" y="91"/>
                      </a:cubicBezTo>
                      <a:cubicBezTo>
                        <a:pt x="138" y="100"/>
                        <a:pt x="146" y="106"/>
                        <a:pt x="152" y="110"/>
                      </a:cubicBezTo>
                      <a:cubicBezTo>
                        <a:pt x="153" y="112"/>
                        <a:pt x="156" y="114"/>
                        <a:pt x="157" y="115"/>
                      </a:cubicBezTo>
                      <a:cubicBezTo>
                        <a:pt x="157" y="116"/>
                        <a:pt x="156" y="120"/>
                        <a:pt x="155" y="122"/>
                      </a:cubicBezTo>
                      <a:cubicBezTo>
                        <a:pt x="153" y="129"/>
                        <a:pt x="150" y="138"/>
                        <a:pt x="156" y="146"/>
                      </a:cubicBezTo>
                      <a:cubicBezTo>
                        <a:pt x="161" y="153"/>
                        <a:pt x="171" y="154"/>
                        <a:pt x="178" y="154"/>
                      </a:cubicBezTo>
                      <a:cubicBezTo>
                        <a:pt x="180" y="154"/>
                        <a:pt x="183" y="154"/>
                        <a:pt x="185" y="155"/>
                      </a:cubicBezTo>
                      <a:cubicBezTo>
                        <a:pt x="185" y="156"/>
                        <a:pt x="186" y="159"/>
                        <a:pt x="187" y="161"/>
                      </a:cubicBezTo>
                      <a:cubicBezTo>
                        <a:pt x="189" y="168"/>
                        <a:pt x="192" y="177"/>
                        <a:pt x="201" y="180"/>
                      </a:cubicBezTo>
                      <a:cubicBezTo>
                        <a:pt x="210" y="183"/>
                        <a:pt x="218" y="178"/>
                        <a:pt x="224" y="174"/>
                      </a:cubicBezTo>
                      <a:cubicBezTo>
                        <a:pt x="226" y="172"/>
                        <a:pt x="229" y="171"/>
                        <a:pt x="230" y="170"/>
                      </a:cubicBezTo>
                      <a:cubicBezTo>
                        <a:pt x="232" y="171"/>
                        <a:pt x="234" y="172"/>
                        <a:pt x="236" y="174"/>
                      </a:cubicBezTo>
                      <a:cubicBezTo>
                        <a:pt x="240" y="177"/>
                        <a:pt x="247" y="181"/>
                        <a:pt x="254" y="181"/>
                      </a:cubicBezTo>
                      <a:cubicBezTo>
                        <a:pt x="255" y="181"/>
                        <a:pt x="257" y="181"/>
                        <a:pt x="259" y="181"/>
                      </a:cubicBezTo>
                      <a:cubicBezTo>
                        <a:pt x="268" y="178"/>
                        <a:pt x="271" y="168"/>
                        <a:pt x="274" y="162"/>
                      </a:cubicBezTo>
                      <a:cubicBezTo>
                        <a:pt x="275" y="160"/>
                        <a:pt x="276" y="157"/>
                        <a:pt x="276" y="156"/>
                      </a:cubicBezTo>
                      <a:cubicBezTo>
                        <a:pt x="278" y="155"/>
                        <a:pt x="281" y="155"/>
                        <a:pt x="283" y="155"/>
                      </a:cubicBezTo>
                      <a:cubicBezTo>
                        <a:pt x="290" y="155"/>
                        <a:pt x="300" y="155"/>
                        <a:pt x="306" y="148"/>
                      </a:cubicBezTo>
                      <a:cubicBezTo>
                        <a:pt x="311" y="140"/>
                        <a:pt x="309" y="131"/>
                        <a:pt x="307" y="124"/>
                      </a:cubicBezTo>
                      <a:cubicBezTo>
                        <a:pt x="306" y="122"/>
                        <a:pt x="305" y="119"/>
                        <a:pt x="305" y="117"/>
                      </a:cubicBezTo>
                      <a:cubicBezTo>
                        <a:pt x="306" y="116"/>
                        <a:pt x="309" y="114"/>
                        <a:pt x="310" y="113"/>
                      </a:cubicBezTo>
                      <a:cubicBezTo>
                        <a:pt x="316" y="109"/>
                        <a:pt x="324" y="103"/>
                        <a:pt x="324" y="93"/>
                      </a:cubicBezTo>
                      <a:cubicBezTo>
                        <a:pt x="324" y="84"/>
                        <a:pt x="317" y="78"/>
                        <a:pt x="311" y="74"/>
                      </a:cubicBezTo>
                      <a:close/>
                      <a:moveTo>
                        <a:pt x="298" y="96"/>
                      </a:moveTo>
                      <a:cubicBezTo>
                        <a:pt x="293" y="100"/>
                        <a:pt x="287" y="104"/>
                        <a:pt x="285" y="110"/>
                      </a:cubicBezTo>
                      <a:cubicBezTo>
                        <a:pt x="283" y="117"/>
                        <a:pt x="285" y="123"/>
                        <a:pt x="286" y="129"/>
                      </a:cubicBezTo>
                      <a:cubicBezTo>
                        <a:pt x="287" y="131"/>
                        <a:pt x="287" y="132"/>
                        <a:pt x="287" y="134"/>
                      </a:cubicBezTo>
                      <a:cubicBezTo>
                        <a:pt x="286" y="134"/>
                        <a:pt x="284" y="134"/>
                        <a:pt x="283" y="134"/>
                      </a:cubicBezTo>
                      <a:cubicBezTo>
                        <a:pt x="277" y="134"/>
                        <a:pt x="270" y="134"/>
                        <a:pt x="264" y="138"/>
                      </a:cubicBezTo>
                      <a:cubicBezTo>
                        <a:pt x="258" y="142"/>
                        <a:pt x="256" y="148"/>
                        <a:pt x="254" y="154"/>
                      </a:cubicBezTo>
                      <a:cubicBezTo>
                        <a:pt x="253" y="155"/>
                        <a:pt x="253" y="157"/>
                        <a:pt x="252" y="158"/>
                      </a:cubicBezTo>
                      <a:cubicBezTo>
                        <a:pt x="251" y="157"/>
                        <a:pt x="249" y="155"/>
                        <a:pt x="248" y="155"/>
                      </a:cubicBezTo>
                      <a:cubicBezTo>
                        <a:pt x="243" y="151"/>
                        <a:pt x="237" y="145"/>
                        <a:pt x="231" y="145"/>
                      </a:cubicBezTo>
                      <a:cubicBezTo>
                        <a:pt x="230" y="145"/>
                        <a:pt x="230" y="145"/>
                        <a:pt x="230" y="145"/>
                      </a:cubicBezTo>
                      <a:cubicBezTo>
                        <a:pt x="223" y="145"/>
                        <a:pt x="218" y="151"/>
                        <a:pt x="213" y="154"/>
                      </a:cubicBezTo>
                      <a:cubicBezTo>
                        <a:pt x="212" y="155"/>
                        <a:pt x="210" y="157"/>
                        <a:pt x="209" y="158"/>
                      </a:cubicBezTo>
                      <a:cubicBezTo>
                        <a:pt x="208" y="157"/>
                        <a:pt x="208" y="155"/>
                        <a:pt x="207" y="154"/>
                      </a:cubicBezTo>
                      <a:cubicBezTo>
                        <a:pt x="205" y="148"/>
                        <a:pt x="203" y="141"/>
                        <a:pt x="197" y="137"/>
                      </a:cubicBezTo>
                      <a:cubicBezTo>
                        <a:pt x="192" y="133"/>
                        <a:pt x="185" y="133"/>
                        <a:pt x="179" y="133"/>
                      </a:cubicBezTo>
                      <a:cubicBezTo>
                        <a:pt x="178" y="133"/>
                        <a:pt x="176" y="133"/>
                        <a:pt x="174" y="132"/>
                      </a:cubicBezTo>
                      <a:cubicBezTo>
                        <a:pt x="175" y="131"/>
                        <a:pt x="175" y="129"/>
                        <a:pt x="175" y="128"/>
                      </a:cubicBezTo>
                      <a:cubicBezTo>
                        <a:pt x="177" y="122"/>
                        <a:pt x="179" y="115"/>
                        <a:pt x="177" y="109"/>
                      </a:cubicBezTo>
                      <a:cubicBezTo>
                        <a:pt x="175" y="102"/>
                        <a:pt x="170" y="98"/>
                        <a:pt x="165" y="94"/>
                      </a:cubicBezTo>
                      <a:cubicBezTo>
                        <a:pt x="164" y="93"/>
                        <a:pt x="162" y="92"/>
                        <a:pt x="161" y="91"/>
                      </a:cubicBezTo>
                      <a:cubicBezTo>
                        <a:pt x="163" y="90"/>
                        <a:pt x="164" y="89"/>
                        <a:pt x="165" y="88"/>
                      </a:cubicBezTo>
                      <a:cubicBezTo>
                        <a:pt x="170" y="84"/>
                        <a:pt x="176" y="80"/>
                        <a:pt x="178" y="74"/>
                      </a:cubicBezTo>
                      <a:cubicBezTo>
                        <a:pt x="180" y="67"/>
                        <a:pt x="178" y="61"/>
                        <a:pt x="176" y="55"/>
                      </a:cubicBezTo>
                      <a:cubicBezTo>
                        <a:pt x="176" y="53"/>
                        <a:pt x="176" y="52"/>
                        <a:pt x="175" y="50"/>
                      </a:cubicBezTo>
                      <a:cubicBezTo>
                        <a:pt x="177" y="50"/>
                        <a:pt x="179" y="50"/>
                        <a:pt x="180" y="50"/>
                      </a:cubicBezTo>
                      <a:cubicBezTo>
                        <a:pt x="186" y="50"/>
                        <a:pt x="193" y="50"/>
                        <a:pt x="199" y="46"/>
                      </a:cubicBezTo>
                      <a:cubicBezTo>
                        <a:pt x="204" y="42"/>
                        <a:pt x="207" y="36"/>
                        <a:pt x="209" y="30"/>
                      </a:cubicBezTo>
                      <a:cubicBezTo>
                        <a:pt x="209" y="29"/>
                        <a:pt x="210" y="27"/>
                        <a:pt x="211" y="26"/>
                      </a:cubicBezTo>
                      <a:cubicBezTo>
                        <a:pt x="212" y="27"/>
                        <a:pt x="214" y="29"/>
                        <a:pt x="215" y="29"/>
                      </a:cubicBezTo>
                      <a:cubicBezTo>
                        <a:pt x="220" y="33"/>
                        <a:pt x="225" y="39"/>
                        <a:pt x="232" y="39"/>
                      </a:cubicBezTo>
                      <a:cubicBezTo>
                        <a:pt x="232" y="39"/>
                        <a:pt x="232" y="39"/>
                        <a:pt x="232" y="39"/>
                      </a:cubicBezTo>
                      <a:cubicBezTo>
                        <a:pt x="239" y="39"/>
                        <a:pt x="245" y="33"/>
                        <a:pt x="250" y="30"/>
                      </a:cubicBezTo>
                      <a:cubicBezTo>
                        <a:pt x="251" y="29"/>
                        <a:pt x="253" y="27"/>
                        <a:pt x="254" y="26"/>
                      </a:cubicBezTo>
                      <a:cubicBezTo>
                        <a:pt x="254" y="27"/>
                        <a:pt x="255" y="29"/>
                        <a:pt x="255" y="30"/>
                      </a:cubicBezTo>
                      <a:cubicBezTo>
                        <a:pt x="257" y="36"/>
                        <a:pt x="260" y="43"/>
                        <a:pt x="265" y="47"/>
                      </a:cubicBezTo>
                      <a:cubicBezTo>
                        <a:pt x="271" y="51"/>
                        <a:pt x="278" y="51"/>
                        <a:pt x="284" y="51"/>
                      </a:cubicBezTo>
                      <a:cubicBezTo>
                        <a:pt x="285" y="51"/>
                        <a:pt x="287" y="51"/>
                        <a:pt x="288" y="52"/>
                      </a:cubicBezTo>
                      <a:cubicBezTo>
                        <a:pt x="288" y="53"/>
                        <a:pt x="288" y="55"/>
                        <a:pt x="287" y="56"/>
                      </a:cubicBezTo>
                      <a:cubicBezTo>
                        <a:pt x="285" y="62"/>
                        <a:pt x="283" y="69"/>
                        <a:pt x="285" y="75"/>
                      </a:cubicBezTo>
                      <a:cubicBezTo>
                        <a:pt x="287" y="82"/>
                        <a:pt x="293" y="86"/>
                        <a:pt x="298" y="90"/>
                      </a:cubicBezTo>
                      <a:cubicBezTo>
                        <a:pt x="299" y="91"/>
                        <a:pt x="300" y="92"/>
                        <a:pt x="301" y="93"/>
                      </a:cubicBezTo>
                      <a:cubicBezTo>
                        <a:pt x="300" y="94"/>
                        <a:pt x="299" y="95"/>
                        <a:pt x="298" y="96"/>
                      </a:cubicBezTo>
                      <a:close/>
                      <a:moveTo>
                        <a:pt x="248" y="61"/>
                      </a:moveTo>
                      <a:cubicBezTo>
                        <a:pt x="239" y="56"/>
                        <a:pt x="230" y="55"/>
                        <a:pt x="221" y="58"/>
                      </a:cubicBezTo>
                      <a:cubicBezTo>
                        <a:pt x="212" y="61"/>
                        <a:pt x="204" y="67"/>
                        <a:pt x="200" y="75"/>
                      </a:cubicBezTo>
                      <a:cubicBezTo>
                        <a:pt x="195" y="84"/>
                        <a:pt x="195" y="93"/>
                        <a:pt x="197" y="103"/>
                      </a:cubicBezTo>
                      <a:cubicBezTo>
                        <a:pt x="200" y="112"/>
                        <a:pt x="206" y="119"/>
                        <a:pt x="215" y="123"/>
                      </a:cubicBezTo>
                      <a:cubicBezTo>
                        <a:pt x="220" y="126"/>
                        <a:pt x="226" y="128"/>
                        <a:pt x="231" y="128"/>
                      </a:cubicBezTo>
                      <a:cubicBezTo>
                        <a:pt x="235" y="128"/>
                        <a:pt x="238" y="127"/>
                        <a:pt x="242" y="126"/>
                      </a:cubicBezTo>
                      <a:cubicBezTo>
                        <a:pt x="251" y="123"/>
                        <a:pt x="258" y="117"/>
                        <a:pt x="263" y="109"/>
                      </a:cubicBezTo>
                      <a:cubicBezTo>
                        <a:pt x="267" y="100"/>
                        <a:pt x="268" y="91"/>
                        <a:pt x="265" y="81"/>
                      </a:cubicBezTo>
                      <a:cubicBezTo>
                        <a:pt x="262" y="72"/>
                        <a:pt x="256" y="65"/>
                        <a:pt x="248" y="61"/>
                      </a:cubicBezTo>
                      <a:close/>
                      <a:moveTo>
                        <a:pt x="244" y="99"/>
                      </a:moveTo>
                      <a:cubicBezTo>
                        <a:pt x="242" y="102"/>
                        <a:pt x="239" y="104"/>
                        <a:pt x="236" y="106"/>
                      </a:cubicBezTo>
                      <a:cubicBezTo>
                        <a:pt x="232" y="107"/>
                        <a:pt x="228" y="106"/>
                        <a:pt x="225" y="105"/>
                      </a:cubicBezTo>
                      <a:cubicBezTo>
                        <a:pt x="221" y="103"/>
                        <a:pt x="219" y="100"/>
                        <a:pt x="218" y="96"/>
                      </a:cubicBezTo>
                      <a:cubicBezTo>
                        <a:pt x="217" y="93"/>
                        <a:pt x="217" y="89"/>
                        <a:pt x="219" y="85"/>
                      </a:cubicBezTo>
                      <a:cubicBezTo>
                        <a:pt x="221" y="82"/>
                        <a:pt x="223" y="80"/>
                        <a:pt x="227" y="78"/>
                      </a:cubicBezTo>
                      <a:cubicBezTo>
                        <a:pt x="229" y="78"/>
                        <a:pt x="230" y="78"/>
                        <a:pt x="231" y="78"/>
                      </a:cubicBezTo>
                      <a:cubicBezTo>
                        <a:pt x="234" y="78"/>
                        <a:pt x="236" y="78"/>
                        <a:pt x="238" y="79"/>
                      </a:cubicBezTo>
                      <a:cubicBezTo>
                        <a:pt x="241" y="81"/>
                        <a:pt x="244" y="84"/>
                        <a:pt x="245" y="88"/>
                      </a:cubicBezTo>
                      <a:cubicBezTo>
                        <a:pt x="246" y="91"/>
                        <a:pt x="246" y="95"/>
                        <a:pt x="244" y="99"/>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39" name="Freeform 40">
                  <a:extLst>
                    <a:ext uri="{FF2B5EF4-FFF2-40B4-BE49-F238E27FC236}">
                      <a16:creationId xmlns:a16="http://schemas.microsoft.com/office/drawing/2014/main" id="{8B013521-1C9D-493B-B273-AFB58F435EAF}"/>
                    </a:ext>
                  </a:extLst>
                </p:cNvPr>
                <p:cNvSpPr>
                  <a:spLocks noEditPoints="1"/>
                </p:cNvSpPr>
                <p:nvPr/>
              </p:nvSpPr>
              <p:spPr bwMode="auto">
                <a:xfrm>
                  <a:off x="4795802" y="4235358"/>
                  <a:ext cx="445469" cy="41006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7CB0"/>
                </a:solidFill>
                <a:ln>
                  <a:solidFill>
                    <a:srgbClr val="007CB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40" name="Line 13">
                  <a:extLst>
                    <a:ext uri="{FF2B5EF4-FFF2-40B4-BE49-F238E27FC236}">
                      <a16:creationId xmlns:a16="http://schemas.microsoft.com/office/drawing/2014/main" id="{D511FA8A-83FA-4CB1-AAFA-8D5DD1A506E4}"/>
                    </a:ext>
                  </a:extLst>
                </p:cNvPr>
                <p:cNvSpPr>
                  <a:spLocks noChangeShapeType="1"/>
                </p:cNvSpPr>
                <p:nvPr/>
              </p:nvSpPr>
              <p:spPr bwMode="auto">
                <a:xfrm flipV="1">
                  <a:off x="5327401" y="4387499"/>
                  <a:ext cx="455738" cy="5263"/>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41" name="TextBox 40">
                  <a:extLst>
                    <a:ext uri="{FF2B5EF4-FFF2-40B4-BE49-F238E27FC236}">
                      <a16:creationId xmlns:a16="http://schemas.microsoft.com/office/drawing/2014/main" id="{5CF764A8-E8F8-44B8-99A9-AADEF2F93F67}"/>
                    </a:ext>
                  </a:extLst>
                </p:cNvPr>
                <p:cNvSpPr txBox="1"/>
                <p:nvPr/>
              </p:nvSpPr>
              <p:spPr>
                <a:xfrm>
                  <a:off x="4082576" y="4165138"/>
                  <a:ext cx="786634"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Rest API Call</a:t>
                  </a:r>
                </a:p>
              </p:txBody>
            </p:sp>
            <p:sp>
              <p:nvSpPr>
                <p:cNvPr id="42" name="TextBox 41">
                  <a:extLst>
                    <a:ext uri="{FF2B5EF4-FFF2-40B4-BE49-F238E27FC236}">
                      <a16:creationId xmlns:a16="http://schemas.microsoft.com/office/drawing/2014/main" id="{8368644F-0CE0-459C-AF1E-7B5752B38025}"/>
                    </a:ext>
                  </a:extLst>
                </p:cNvPr>
                <p:cNvSpPr txBox="1"/>
                <p:nvPr/>
              </p:nvSpPr>
              <p:spPr>
                <a:xfrm>
                  <a:off x="5828539" y="4608634"/>
                  <a:ext cx="516143"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0">
                      <a:solidFill>
                        <a:prstClr val="black"/>
                      </a:solidFill>
                      <a:latin typeface="Calibri" panose="020F0502020204030204"/>
                    </a:rPr>
                    <a:t>Data Extract </a:t>
                  </a:r>
                  <a:endParaRPr kumimoji="0" lang="en-US" sz="6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sp>
          <p:nvSpPr>
            <p:cNvPr id="15" name="Oval 14">
              <a:extLst>
                <a:ext uri="{FF2B5EF4-FFF2-40B4-BE49-F238E27FC236}">
                  <a16:creationId xmlns:a16="http://schemas.microsoft.com/office/drawing/2014/main" id="{3DEA60BB-5AAF-43B6-A2CA-39BBAD1E6644}"/>
                </a:ext>
              </a:extLst>
            </p:cNvPr>
            <p:cNvSpPr/>
            <p:nvPr/>
          </p:nvSpPr>
          <p:spPr>
            <a:xfrm>
              <a:off x="2622866" y="4207254"/>
              <a:ext cx="200053" cy="1666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1</a:t>
              </a:r>
            </a:p>
          </p:txBody>
        </p:sp>
        <p:sp>
          <p:nvSpPr>
            <p:cNvPr id="16" name="Oval 15">
              <a:extLst>
                <a:ext uri="{FF2B5EF4-FFF2-40B4-BE49-F238E27FC236}">
                  <a16:creationId xmlns:a16="http://schemas.microsoft.com/office/drawing/2014/main" id="{3B43325E-F169-4910-8098-EC421853458A}"/>
                </a:ext>
              </a:extLst>
            </p:cNvPr>
            <p:cNvSpPr/>
            <p:nvPr/>
          </p:nvSpPr>
          <p:spPr>
            <a:xfrm>
              <a:off x="5336464" y="4304738"/>
              <a:ext cx="200053" cy="1666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3</a:t>
              </a:r>
            </a:p>
          </p:txBody>
        </p:sp>
        <p:sp>
          <p:nvSpPr>
            <p:cNvPr id="17" name="Oval 16">
              <a:extLst>
                <a:ext uri="{FF2B5EF4-FFF2-40B4-BE49-F238E27FC236}">
                  <a16:creationId xmlns:a16="http://schemas.microsoft.com/office/drawing/2014/main" id="{9E201EC2-357B-4B83-80D5-847319C17F97}"/>
                </a:ext>
              </a:extLst>
            </p:cNvPr>
            <p:cNvSpPr/>
            <p:nvPr/>
          </p:nvSpPr>
          <p:spPr>
            <a:xfrm>
              <a:off x="6449878" y="4275675"/>
              <a:ext cx="147105" cy="15315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2">
                  <a:solidFill>
                    <a:prstClr val="white"/>
                  </a:solidFill>
                  <a:latin typeface="Calibri" panose="020F0502020204030204"/>
                </a:rPr>
                <a:t>4</a:t>
              </a:r>
              <a:endParaRPr kumimoji="0" lang="en-US" sz="902"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8CF72BE5-CBD2-456C-9458-3E1D6BD34E23}"/>
                </a:ext>
              </a:extLst>
            </p:cNvPr>
            <p:cNvSpPr/>
            <p:nvPr/>
          </p:nvSpPr>
          <p:spPr>
            <a:xfrm>
              <a:off x="3962075" y="4239284"/>
              <a:ext cx="200053" cy="1666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2</a:t>
              </a:r>
            </a:p>
          </p:txBody>
        </p:sp>
      </p:grpSp>
      <p:sp>
        <p:nvSpPr>
          <p:cNvPr id="45" name="TextBox 44">
            <a:extLst>
              <a:ext uri="{FF2B5EF4-FFF2-40B4-BE49-F238E27FC236}">
                <a16:creationId xmlns:a16="http://schemas.microsoft.com/office/drawing/2014/main" id="{DA2B35F0-BD8B-445A-8315-DCB1918FAD02}"/>
              </a:ext>
            </a:extLst>
          </p:cNvPr>
          <p:cNvSpPr txBox="1"/>
          <p:nvPr/>
        </p:nvSpPr>
        <p:spPr>
          <a:xfrm>
            <a:off x="6302677" y="5363942"/>
            <a:ext cx="5229678" cy="946413"/>
          </a:xfrm>
          <a:prstGeom prst="rect">
            <a:avLst/>
          </a:prstGeom>
          <a:noFill/>
        </p:spPr>
        <p:txBody>
          <a:bodyPr wrap="square" rtlCol="0">
            <a:spAutoFit/>
          </a:bodyPr>
          <a:lstStyle/>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200" i="1">
                <a:solidFill>
                  <a:srgbClr val="44546A"/>
                </a:solidFill>
                <a:latin typeface="Calibri" panose="020F0502020204030204"/>
                <a:cs typeface="Arial" panose="020B0604020202020204" pitchFamily="34" charset="0"/>
              </a:rPr>
              <a:t>Entities </a:t>
            </a: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which do not have existing Retail Integration pattern </a:t>
            </a: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Change Data capture/Auditing</a:t>
            </a: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For Reporting/Data warehousing by </a:t>
            </a:r>
            <a:r>
              <a:rPr lang="en-US" sz="1200" i="1">
                <a:solidFill>
                  <a:srgbClr val="44546A"/>
                </a:solidFill>
                <a:latin typeface="Calibri" panose="020F0502020204030204"/>
                <a:cs typeface="Arial" panose="020B0604020202020204" pitchFamily="34" charset="0"/>
              </a:rPr>
              <a:t>Boundary applications</a:t>
            </a:r>
            <a:endPar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endParaRPr>
          </a:p>
          <a:p>
            <a:pPr marL="182880" marR="0" lvl="0" indent="-18288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200" i="1">
                <a:solidFill>
                  <a:srgbClr val="44546A"/>
                </a:solidFill>
                <a:latin typeface="Calibri" panose="020F0502020204030204"/>
                <a:cs typeface="Arial" panose="020B0604020202020204" pitchFamily="34" charset="0"/>
              </a:rPr>
              <a:t>Example- Cost Changes, Supplier Attributes etc.</a:t>
            </a:r>
            <a:endPar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endParaRPr>
          </a:p>
        </p:txBody>
      </p:sp>
      <p:sp>
        <p:nvSpPr>
          <p:cNvPr id="46" name="Rectangle 45">
            <a:extLst>
              <a:ext uri="{FF2B5EF4-FFF2-40B4-BE49-F238E27FC236}">
                <a16:creationId xmlns:a16="http://schemas.microsoft.com/office/drawing/2014/main" id="{4FE1D4B5-2BB1-4C08-8FE5-5C0A98BA09B2}"/>
              </a:ext>
            </a:extLst>
          </p:cNvPr>
          <p:cNvSpPr/>
          <p:nvPr/>
        </p:nvSpPr>
        <p:spPr bwMode="auto">
          <a:xfrm>
            <a:off x="6088373" y="3512399"/>
            <a:ext cx="1818983" cy="1159043"/>
          </a:xfrm>
          <a:prstGeom prst="rect">
            <a:avLst/>
          </a:prstGeom>
          <a:solidFill>
            <a:sysClr val="window" lastClr="FFFFFF"/>
          </a:solidFill>
          <a:ln w="12700" cap="flat" cmpd="sng" algn="ctr">
            <a:solidFill>
              <a:sysClr val="windowText" lastClr="000000"/>
            </a:solidFill>
            <a:prstDash val="solid"/>
            <a:round/>
            <a:headEnd type="none" w="med" len="med"/>
            <a:tailEnd type="none" w="med" len="med"/>
          </a:ln>
          <a:effectLst/>
        </p:spPr>
        <p:txBody>
          <a:bodyPr lIns="50650" tIns="25326" rIns="50650" bIns="25326" rtlCol="0" anchor="ctr"/>
          <a:lstStyle/>
          <a:p>
            <a:pPr marL="0" marR="0" lvl="0" indent="0" algn="ctr" defTabSz="515151" rtl="0" eaLnBrk="1" fontAlgn="base" latinLnBrk="0" hangingPunct="1">
              <a:lnSpc>
                <a:spcPct val="106000"/>
              </a:lnSpc>
              <a:spcBef>
                <a:spcPct val="80000"/>
              </a:spcBef>
              <a:spcAft>
                <a:spcPct val="0"/>
              </a:spcAft>
              <a:buClr>
                <a:srgbClr val="000000"/>
              </a:buClr>
              <a:buSzPct val="80000"/>
              <a:buFontTx/>
              <a:buNone/>
              <a:tabLst/>
              <a:defRPr/>
            </a:pPr>
            <a:r>
              <a:rPr kumimoji="0" lang="en-US" sz="525" b="1" i="0" u="none" strike="noStrike" kern="0" cap="none" spc="0" normalizeH="0" baseline="0" noProof="0">
                <a:ln>
                  <a:noFill/>
                </a:ln>
                <a:solidFill>
                  <a:srgbClr val="FFFFFF"/>
                </a:solidFill>
                <a:effectLst/>
                <a:uLnTx/>
                <a:uFillTx/>
                <a:latin typeface="Calibri" panose="020F0502020204030204"/>
                <a:ea typeface="+mn-ea"/>
                <a:cs typeface="Arial" pitchFamily="34" charset="0"/>
              </a:rPr>
              <a:t>1</a:t>
            </a:r>
          </a:p>
        </p:txBody>
      </p:sp>
      <p:sp>
        <p:nvSpPr>
          <p:cNvPr id="47" name="Freeform 1001">
            <a:extLst>
              <a:ext uri="{FF2B5EF4-FFF2-40B4-BE49-F238E27FC236}">
                <a16:creationId xmlns:a16="http://schemas.microsoft.com/office/drawing/2014/main" id="{640E4B51-9C62-46AF-9AB1-6E0782800FBA}"/>
              </a:ext>
            </a:extLst>
          </p:cNvPr>
          <p:cNvSpPr>
            <a:spLocks noEditPoints="1"/>
          </p:cNvSpPr>
          <p:nvPr/>
        </p:nvSpPr>
        <p:spPr bwMode="auto">
          <a:xfrm>
            <a:off x="6359828" y="3928551"/>
            <a:ext cx="786634" cy="354281"/>
          </a:xfrm>
          <a:custGeom>
            <a:avLst/>
            <a:gdLst>
              <a:gd name="T0" fmla="*/ 269 w 320"/>
              <a:gd name="T1" fmla="*/ 192 h 192"/>
              <a:gd name="T2" fmla="*/ 71 w 320"/>
              <a:gd name="T3" fmla="*/ 192 h 192"/>
              <a:gd name="T4" fmla="*/ 0 w 320"/>
              <a:gd name="T5" fmla="*/ 121 h 192"/>
              <a:gd name="T6" fmla="*/ 71 w 320"/>
              <a:gd name="T7" fmla="*/ 51 h 192"/>
              <a:gd name="T8" fmla="*/ 96 w 320"/>
              <a:gd name="T9" fmla="*/ 56 h 192"/>
              <a:gd name="T10" fmla="*/ 181 w 320"/>
              <a:gd name="T11" fmla="*/ 0 h 192"/>
              <a:gd name="T12" fmla="*/ 273 w 320"/>
              <a:gd name="T13" fmla="*/ 91 h 192"/>
              <a:gd name="T14" fmla="*/ 320 w 320"/>
              <a:gd name="T15" fmla="*/ 142 h 192"/>
              <a:gd name="T16" fmla="*/ 269 w 320"/>
              <a:gd name="T17" fmla="*/ 192 h 192"/>
              <a:gd name="T18" fmla="*/ 71 w 320"/>
              <a:gd name="T19" fmla="*/ 72 h 192"/>
              <a:gd name="T20" fmla="*/ 21 w 320"/>
              <a:gd name="T21" fmla="*/ 121 h 192"/>
              <a:gd name="T22" fmla="*/ 71 w 320"/>
              <a:gd name="T23" fmla="*/ 171 h 192"/>
              <a:gd name="T24" fmla="*/ 269 w 320"/>
              <a:gd name="T25" fmla="*/ 171 h 192"/>
              <a:gd name="T26" fmla="*/ 298 w 320"/>
              <a:gd name="T27" fmla="*/ 142 h 192"/>
              <a:gd name="T28" fmla="*/ 269 w 320"/>
              <a:gd name="T29" fmla="*/ 112 h 192"/>
              <a:gd name="T30" fmla="*/ 267 w 320"/>
              <a:gd name="T31" fmla="*/ 112 h 192"/>
              <a:gd name="T32" fmla="*/ 265 w 320"/>
              <a:gd name="T33" fmla="*/ 113 h 192"/>
              <a:gd name="T34" fmla="*/ 254 w 320"/>
              <a:gd name="T35" fmla="*/ 111 h 192"/>
              <a:gd name="T36" fmla="*/ 251 w 320"/>
              <a:gd name="T37" fmla="*/ 101 h 192"/>
              <a:gd name="T38" fmla="*/ 251 w 320"/>
              <a:gd name="T39" fmla="*/ 96 h 192"/>
              <a:gd name="T40" fmla="*/ 251 w 320"/>
              <a:gd name="T41" fmla="*/ 92 h 192"/>
              <a:gd name="T42" fmla="*/ 181 w 320"/>
              <a:gd name="T43" fmla="*/ 22 h 192"/>
              <a:gd name="T44" fmla="*/ 114 w 320"/>
              <a:gd name="T45" fmla="*/ 68 h 192"/>
              <a:gd name="T46" fmla="*/ 112 w 320"/>
              <a:gd name="T47" fmla="*/ 73 h 192"/>
              <a:gd name="T48" fmla="*/ 112 w 320"/>
              <a:gd name="T49" fmla="*/ 75 h 192"/>
              <a:gd name="T50" fmla="*/ 103 w 320"/>
              <a:gd name="T51" fmla="*/ 83 h 192"/>
              <a:gd name="T52" fmla="*/ 93 w 320"/>
              <a:gd name="T53" fmla="*/ 79 h 192"/>
              <a:gd name="T54" fmla="*/ 71 w 320"/>
              <a:gd name="T55" fmla="*/ 7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0" h="192">
                <a:moveTo>
                  <a:pt x="269" y="192"/>
                </a:moveTo>
                <a:cubicBezTo>
                  <a:pt x="71" y="192"/>
                  <a:pt x="71" y="192"/>
                  <a:pt x="71" y="192"/>
                </a:cubicBezTo>
                <a:cubicBezTo>
                  <a:pt x="31" y="192"/>
                  <a:pt x="0" y="161"/>
                  <a:pt x="0" y="121"/>
                </a:cubicBezTo>
                <a:cubicBezTo>
                  <a:pt x="0" y="82"/>
                  <a:pt x="31" y="51"/>
                  <a:pt x="71" y="51"/>
                </a:cubicBezTo>
                <a:cubicBezTo>
                  <a:pt x="80" y="51"/>
                  <a:pt x="88" y="52"/>
                  <a:pt x="96" y="56"/>
                </a:cubicBezTo>
                <a:cubicBezTo>
                  <a:pt x="110" y="23"/>
                  <a:pt x="144" y="0"/>
                  <a:pt x="181" y="0"/>
                </a:cubicBezTo>
                <a:cubicBezTo>
                  <a:pt x="231" y="0"/>
                  <a:pt x="272" y="41"/>
                  <a:pt x="273" y="91"/>
                </a:cubicBezTo>
                <a:cubicBezTo>
                  <a:pt x="299" y="93"/>
                  <a:pt x="320" y="115"/>
                  <a:pt x="320" y="142"/>
                </a:cubicBezTo>
                <a:cubicBezTo>
                  <a:pt x="320" y="170"/>
                  <a:pt x="297" y="192"/>
                  <a:pt x="269" y="192"/>
                </a:cubicBezTo>
                <a:close/>
                <a:moveTo>
                  <a:pt x="71" y="72"/>
                </a:moveTo>
                <a:cubicBezTo>
                  <a:pt x="43" y="72"/>
                  <a:pt x="21" y="94"/>
                  <a:pt x="21" y="121"/>
                </a:cubicBezTo>
                <a:cubicBezTo>
                  <a:pt x="21" y="149"/>
                  <a:pt x="43" y="171"/>
                  <a:pt x="71" y="171"/>
                </a:cubicBezTo>
                <a:cubicBezTo>
                  <a:pt x="269" y="171"/>
                  <a:pt x="269" y="171"/>
                  <a:pt x="269" y="171"/>
                </a:cubicBezTo>
                <a:cubicBezTo>
                  <a:pt x="285" y="171"/>
                  <a:pt x="298" y="158"/>
                  <a:pt x="298" y="142"/>
                </a:cubicBezTo>
                <a:cubicBezTo>
                  <a:pt x="298" y="125"/>
                  <a:pt x="285" y="112"/>
                  <a:pt x="269" y="112"/>
                </a:cubicBezTo>
                <a:cubicBezTo>
                  <a:pt x="268" y="112"/>
                  <a:pt x="268" y="112"/>
                  <a:pt x="267" y="112"/>
                </a:cubicBezTo>
                <a:cubicBezTo>
                  <a:pt x="267" y="112"/>
                  <a:pt x="266" y="112"/>
                  <a:pt x="265" y="113"/>
                </a:cubicBezTo>
                <a:cubicBezTo>
                  <a:pt x="261" y="114"/>
                  <a:pt x="257" y="113"/>
                  <a:pt x="254" y="111"/>
                </a:cubicBezTo>
                <a:cubicBezTo>
                  <a:pt x="252" y="109"/>
                  <a:pt x="250" y="105"/>
                  <a:pt x="251" y="101"/>
                </a:cubicBezTo>
                <a:cubicBezTo>
                  <a:pt x="251" y="99"/>
                  <a:pt x="251" y="98"/>
                  <a:pt x="251" y="96"/>
                </a:cubicBezTo>
                <a:cubicBezTo>
                  <a:pt x="251" y="94"/>
                  <a:pt x="251" y="93"/>
                  <a:pt x="251" y="92"/>
                </a:cubicBezTo>
                <a:cubicBezTo>
                  <a:pt x="251" y="53"/>
                  <a:pt x="220" y="22"/>
                  <a:pt x="181" y="22"/>
                </a:cubicBezTo>
                <a:cubicBezTo>
                  <a:pt x="152" y="22"/>
                  <a:pt x="124" y="41"/>
                  <a:pt x="114" y="68"/>
                </a:cubicBezTo>
                <a:cubicBezTo>
                  <a:pt x="113" y="70"/>
                  <a:pt x="113" y="71"/>
                  <a:pt x="112" y="73"/>
                </a:cubicBezTo>
                <a:cubicBezTo>
                  <a:pt x="112" y="75"/>
                  <a:pt x="112" y="75"/>
                  <a:pt x="112" y="75"/>
                </a:cubicBezTo>
                <a:cubicBezTo>
                  <a:pt x="111" y="79"/>
                  <a:pt x="108" y="82"/>
                  <a:pt x="103" y="83"/>
                </a:cubicBezTo>
                <a:cubicBezTo>
                  <a:pt x="99" y="84"/>
                  <a:pt x="95" y="82"/>
                  <a:pt x="93" y="79"/>
                </a:cubicBezTo>
                <a:cubicBezTo>
                  <a:pt x="86" y="74"/>
                  <a:pt x="79" y="72"/>
                  <a:pt x="71" y="72"/>
                </a:cubicBezTo>
                <a:close/>
              </a:path>
            </a:pathLst>
          </a:custGeom>
          <a:solidFill>
            <a:srgbClr val="007CB0"/>
          </a:solidFill>
          <a:ln>
            <a:solidFill>
              <a:srgbClr val="007CB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8" name="Freeform 350">
            <a:extLst>
              <a:ext uri="{FF2B5EF4-FFF2-40B4-BE49-F238E27FC236}">
                <a16:creationId xmlns:a16="http://schemas.microsoft.com/office/drawing/2014/main" id="{17E8FFCB-01F6-484B-88DA-824A24FC3E88}"/>
              </a:ext>
            </a:extLst>
          </p:cNvPr>
          <p:cNvSpPr>
            <a:spLocks noEditPoints="1"/>
          </p:cNvSpPr>
          <p:nvPr/>
        </p:nvSpPr>
        <p:spPr bwMode="auto">
          <a:xfrm>
            <a:off x="7348775" y="3727157"/>
            <a:ext cx="247650" cy="300904"/>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solidFill>
            <a:srgbClr val="007CB0"/>
          </a:solidFill>
          <a:ln>
            <a:solidFill>
              <a:srgbClr val="007CB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49" name="TextBox 48">
            <a:extLst>
              <a:ext uri="{FF2B5EF4-FFF2-40B4-BE49-F238E27FC236}">
                <a16:creationId xmlns:a16="http://schemas.microsoft.com/office/drawing/2014/main" id="{4E419A12-8B0A-4719-A295-83624345FBBC}"/>
              </a:ext>
            </a:extLst>
          </p:cNvPr>
          <p:cNvSpPr txBox="1"/>
          <p:nvPr/>
        </p:nvSpPr>
        <p:spPr>
          <a:xfrm>
            <a:off x="7089311" y="4171333"/>
            <a:ext cx="78663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Data Replication via Source Golden Gate</a:t>
            </a:r>
          </a:p>
        </p:txBody>
      </p:sp>
      <p:sp>
        <p:nvSpPr>
          <p:cNvPr id="50" name="Line 13">
            <a:extLst>
              <a:ext uri="{FF2B5EF4-FFF2-40B4-BE49-F238E27FC236}">
                <a16:creationId xmlns:a16="http://schemas.microsoft.com/office/drawing/2014/main" id="{B7AD12A2-603A-411E-B1A1-07078073EACF}"/>
              </a:ext>
            </a:extLst>
          </p:cNvPr>
          <p:cNvSpPr>
            <a:spLocks noChangeShapeType="1"/>
          </p:cNvSpPr>
          <p:nvPr/>
        </p:nvSpPr>
        <p:spPr bwMode="auto">
          <a:xfrm flipV="1">
            <a:off x="7234472" y="4143068"/>
            <a:ext cx="574202" cy="4631"/>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51" name="Rectangle 50">
            <a:extLst>
              <a:ext uri="{FF2B5EF4-FFF2-40B4-BE49-F238E27FC236}">
                <a16:creationId xmlns:a16="http://schemas.microsoft.com/office/drawing/2014/main" id="{A15C94A6-77C2-4E3E-A453-84C37621BB41}"/>
              </a:ext>
            </a:extLst>
          </p:cNvPr>
          <p:cNvSpPr/>
          <p:nvPr/>
        </p:nvSpPr>
        <p:spPr bwMode="auto">
          <a:xfrm>
            <a:off x="8053314" y="3496317"/>
            <a:ext cx="1308072" cy="1175125"/>
          </a:xfrm>
          <a:prstGeom prst="rect">
            <a:avLst/>
          </a:prstGeom>
          <a:solidFill>
            <a:sysClr val="window" lastClr="FFFFFF"/>
          </a:solidFill>
          <a:ln w="12700" cap="flat" cmpd="sng" algn="ctr">
            <a:solidFill>
              <a:sysClr val="windowText" lastClr="000000"/>
            </a:solidFill>
            <a:prstDash val="solid"/>
            <a:round/>
            <a:headEnd type="none" w="med" len="med"/>
            <a:tailEnd type="none" w="med" len="med"/>
          </a:ln>
          <a:effectLst/>
        </p:spPr>
        <p:txBody>
          <a:bodyPr lIns="50650" tIns="25326" rIns="50650" bIns="25326" rtlCol="0" anchor="ctr"/>
          <a:lstStyle/>
          <a:p>
            <a:pPr marL="0" marR="0" lvl="0" indent="0" algn="ctr" defTabSz="515151" rtl="0" eaLnBrk="1" fontAlgn="base" latinLnBrk="0" hangingPunct="1">
              <a:lnSpc>
                <a:spcPct val="106000"/>
              </a:lnSpc>
              <a:spcBef>
                <a:spcPct val="80000"/>
              </a:spcBef>
              <a:spcAft>
                <a:spcPct val="0"/>
              </a:spcAft>
              <a:buClr>
                <a:srgbClr val="000000"/>
              </a:buClr>
              <a:buSzPct val="80000"/>
              <a:buFontTx/>
              <a:buNone/>
              <a:tabLst/>
              <a:defRPr/>
            </a:pPr>
            <a:r>
              <a:rPr kumimoji="0" lang="en-US" sz="525" b="1" i="0" u="none" strike="noStrike" kern="0" cap="none" spc="0" normalizeH="0" baseline="0" noProof="0">
                <a:ln>
                  <a:noFill/>
                </a:ln>
                <a:solidFill>
                  <a:srgbClr val="FFFFFF"/>
                </a:solidFill>
                <a:effectLst/>
                <a:uLnTx/>
                <a:uFillTx/>
                <a:latin typeface="Calibri" panose="020F0502020204030204"/>
                <a:ea typeface="+mn-ea"/>
                <a:cs typeface="Arial" pitchFamily="34" charset="0"/>
              </a:rPr>
              <a:t>1</a:t>
            </a:r>
          </a:p>
        </p:txBody>
      </p:sp>
      <p:sp>
        <p:nvSpPr>
          <p:cNvPr id="52" name="Flowchart: Magnetic Disk 51">
            <a:extLst>
              <a:ext uri="{FF2B5EF4-FFF2-40B4-BE49-F238E27FC236}">
                <a16:creationId xmlns:a16="http://schemas.microsoft.com/office/drawing/2014/main" id="{8372ACBE-FD69-4121-81CC-0B52160CC04D}"/>
              </a:ext>
            </a:extLst>
          </p:cNvPr>
          <p:cNvSpPr/>
          <p:nvPr/>
        </p:nvSpPr>
        <p:spPr bwMode="gray">
          <a:xfrm>
            <a:off x="8684348" y="3960725"/>
            <a:ext cx="578375" cy="364685"/>
          </a:xfrm>
          <a:prstGeom prst="flowChartMagneticDisk">
            <a:avLst/>
          </a:prstGeom>
          <a:solidFill>
            <a:schemeClr val="bg1"/>
          </a:solidFill>
          <a:ln w="15875">
            <a:solidFill>
              <a:srgbClr val="007CB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en-US" sz="800">
                <a:solidFill>
                  <a:prstClr val="black"/>
                </a:solidFill>
                <a:latin typeface="Calibri" panose="020F0502020204030204"/>
              </a:rPr>
              <a:t>DAS</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Freeform 350">
            <a:extLst>
              <a:ext uri="{FF2B5EF4-FFF2-40B4-BE49-F238E27FC236}">
                <a16:creationId xmlns:a16="http://schemas.microsoft.com/office/drawing/2014/main" id="{9E989290-4EF0-4932-B046-B576FB2B5E4C}"/>
              </a:ext>
            </a:extLst>
          </p:cNvPr>
          <p:cNvSpPr>
            <a:spLocks noEditPoints="1"/>
          </p:cNvSpPr>
          <p:nvPr/>
        </p:nvSpPr>
        <p:spPr bwMode="auto">
          <a:xfrm>
            <a:off x="8283039" y="3706129"/>
            <a:ext cx="247650" cy="300904"/>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solidFill>
            <a:srgbClr val="007CB0"/>
          </a:solidFill>
          <a:ln>
            <a:solidFill>
              <a:srgbClr val="007CB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54" name="TextBox 53">
            <a:extLst>
              <a:ext uri="{FF2B5EF4-FFF2-40B4-BE49-F238E27FC236}">
                <a16:creationId xmlns:a16="http://schemas.microsoft.com/office/drawing/2014/main" id="{A17A7974-FE68-4415-A23D-EE0658ABBE4F}"/>
              </a:ext>
            </a:extLst>
          </p:cNvPr>
          <p:cNvSpPr txBox="1"/>
          <p:nvPr/>
        </p:nvSpPr>
        <p:spPr>
          <a:xfrm>
            <a:off x="8040333" y="4188362"/>
            <a:ext cx="78663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Target Golden Gate Replication</a:t>
            </a:r>
          </a:p>
        </p:txBody>
      </p:sp>
      <p:sp>
        <p:nvSpPr>
          <p:cNvPr id="55" name="Line 13">
            <a:extLst>
              <a:ext uri="{FF2B5EF4-FFF2-40B4-BE49-F238E27FC236}">
                <a16:creationId xmlns:a16="http://schemas.microsoft.com/office/drawing/2014/main" id="{BF5C4BB7-C11F-4222-86DF-A2F3B6C594A1}"/>
              </a:ext>
            </a:extLst>
          </p:cNvPr>
          <p:cNvSpPr>
            <a:spLocks noChangeShapeType="1"/>
          </p:cNvSpPr>
          <p:nvPr/>
        </p:nvSpPr>
        <p:spPr bwMode="auto">
          <a:xfrm flipV="1">
            <a:off x="8053925" y="4153187"/>
            <a:ext cx="578374" cy="1634"/>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56" name="Text Box 10">
            <a:extLst>
              <a:ext uri="{FF2B5EF4-FFF2-40B4-BE49-F238E27FC236}">
                <a16:creationId xmlns:a16="http://schemas.microsoft.com/office/drawing/2014/main" id="{FD24D835-A3BF-4653-882E-8FA8B9DC06CA}"/>
              </a:ext>
            </a:extLst>
          </p:cNvPr>
          <p:cNvSpPr txBox="1">
            <a:spLocks noChangeArrowheads="1"/>
          </p:cNvSpPr>
          <p:nvPr/>
        </p:nvSpPr>
        <p:spPr bwMode="auto">
          <a:xfrm>
            <a:off x="6081957" y="3177872"/>
            <a:ext cx="1825399" cy="295257"/>
          </a:xfrm>
          <a:prstGeom prst="rect">
            <a:avLst/>
          </a:prstGeom>
          <a:solidFill>
            <a:srgbClr val="007CB0"/>
          </a:solidFill>
          <a:ln w="12700" algn="ctr">
            <a:noFill/>
            <a:miter lim="800000"/>
            <a:headEnd/>
            <a:tailEnd type="none" w="sm" len="med"/>
          </a:ln>
        </p:spPr>
        <p:txBody>
          <a:bodyPr lIns="19902" tIns="19902" rIns="19902" bIns="19902" anchor="ctr" anchorCtr="1"/>
          <a:lstStyle/>
          <a:p>
            <a:pPr marL="0" marR="0" lvl="0" indent="0" algn="ctr" defTabSz="528601" rtl="0" eaLnBrk="1" fontAlgn="base" latinLnBrk="0" hangingPunct="1">
              <a:lnSpc>
                <a:spcPct val="100000"/>
              </a:lnSpc>
              <a:spcBef>
                <a:spcPct val="2000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Calibri" panose="020F0502020204030204"/>
                <a:ea typeface="+mn-ea"/>
                <a:cs typeface="Arial" pitchFamily="34" charset="0"/>
              </a:rPr>
              <a:t>Oracle SaaS</a:t>
            </a:r>
          </a:p>
        </p:txBody>
      </p:sp>
      <p:sp>
        <p:nvSpPr>
          <p:cNvPr id="57" name="Text Box 10">
            <a:extLst>
              <a:ext uri="{FF2B5EF4-FFF2-40B4-BE49-F238E27FC236}">
                <a16:creationId xmlns:a16="http://schemas.microsoft.com/office/drawing/2014/main" id="{C4355762-97EE-47C9-958C-E9C2A2A8D315}"/>
              </a:ext>
            </a:extLst>
          </p:cNvPr>
          <p:cNvSpPr txBox="1">
            <a:spLocks noChangeArrowheads="1"/>
          </p:cNvSpPr>
          <p:nvPr/>
        </p:nvSpPr>
        <p:spPr bwMode="auto">
          <a:xfrm>
            <a:off x="8050620" y="3183510"/>
            <a:ext cx="1308072" cy="289620"/>
          </a:xfrm>
          <a:prstGeom prst="rect">
            <a:avLst/>
          </a:prstGeom>
          <a:solidFill>
            <a:srgbClr val="007CB0"/>
          </a:solidFill>
          <a:ln w="12700" algn="ctr">
            <a:noFill/>
            <a:miter lim="800000"/>
            <a:headEnd/>
            <a:tailEnd type="none" w="sm" len="med"/>
          </a:ln>
        </p:spPr>
        <p:txBody>
          <a:bodyPr lIns="19902" tIns="19902" rIns="19902" bIns="19902" anchor="ctr" anchorCtr="1"/>
          <a:lstStyle/>
          <a:p>
            <a:pPr marL="0" marR="0" lvl="0" indent="0" algn="ctr" defTabSz="528601" rtl="0" eaLnBrk="1" fontAlgn="base" latinLnBrk="0" hangingPunct="1">
              <a:lnSpc>
                <a:spcPct val="100000"/>
              </a:lnSpc>
              <a:spcBef>
                <a:spcPct val="2000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Calibri" panose="020F0502020204030204"/>
                <a:ea typeface="+mn-ea"/>
                <a:cs typeface="Arial" pitchFamily="34" charset="0"/>
              </a:rPr>
              <a:t>Oracle </a:t>
            </a:r>
            <a:r>
              <a:rPr lang="en-US" sz="1000" b="1" kern="0">
                <a:solidFill>
                  <a:srgbClr val="FFFFFF"/>
                </a:solidFill>
                <a:latin typeface="Calibri" panose="020F0502020204030204"/>
                <a:cs typeface="Arial" pitchFamily="34" charset="0"/>
              </a:rPr>
              <a:t>PaaS or client database</a:t>
            </a:r>
            <a:endParaRPr kumimoji="0" lang="en-US" sz="1000" b="1" i="0" u="none" strike="noStrike" kern="0" cap="none" spc="0" normalizeH="0" baseline="0" noProof="0">
              <a:ln>
                <a:noFill/>
              </a:ln>
              <a:solidFill>
                <a:srgbClr val="FFFFFF"/>
              </a:solidFill>
              <a:effectLst/>
              <a:uLnTx/>
              <a:uFillTx/>
              <a:latin typeface="Calibri" panose="020F0502020204030204"/>
              <a:ea typeface="+mn-ea"/>
              <a:cs typeface="Arial" pitchFamily="34" charset="0"/>
            </a:endParaRPr>
          </a:p>
        </p:txBody>
      </p:sp>
      <p:sp>
        <p:nvSpPr>
          <p:cNvPr id="58" name="Rectangle 57">
            <a:extLst>
              <a:ext uri="{FF2B5EF4-FFF2-40B4-BE49-F238E27FC236}">
                <a16:creationId xmlns:a16="http://schemas.microsoft.com/office/drawing/2014/main" id="{B4D7B7EE-6029-4ECE-9370-7347B40C73FF}"/>
              </a:ext>
            </a:extLst>
          </p:cNvPr>
          <p:cNvSpPr/>
          <p:nvPr/>
        </p:nvSpPr>
        <p:spPr bwMode="auto">
          <a:xfrm>
            <a:off x="9507954" y="3476581"/>
            <a:ext cx="1656599" cy="1194861"/>
          </a:xfrm>
          <a:prstGeom prst="rect">
            <a:avLst/>
          </a:prstGeom>
          <a:solidFill>
            <a:sysClr val="window" lastClr="FFFFFF"/>
          </a:solidFill>
          <a:ln w="12700" cap="flat" cmpd="sng" algn="ctr">
            <a:solidFill>
              <a:sysClr val="windowText" lastClr="000000"/>
            </a:solidFill>
            <a:prstDash val="solid"/>
            <a:round/>
            <a:headEnd type="none" w="med" len="med"/>
            <a:tailEnd type="none" w="med" len="med"/>
          </a:ln>
          <a:effectLst/>
        </p:spPr>
        <p:txBody>
          <a:bodyPr lIns="50650" tIns="25326" rIns="50650" bIns="25326" rtlCol="0" anchor="ctr"/>
          <a:lstStyle/>
          <a:p>
            <a:pPr marL="0" marR="0" lvl="0" indent="0" algn="ctr" defTabSz="515151" rtl="0" eaLnBrk="1" fontAlgn="base" latinLnBrk="0" hangingPunct="1">
              <a:lnSpc>
                <a:spcPct val="106000"/>
              </a:lnSpc>
              <a:spcBef>
                <a:spcPct val="80000"/>
              </a:spcBef>
              <a:spcAft>
                <a:spcPct val="0"/>
              </a:spcAft>
              <a:buClr>
                <a:srgbClr val="000000"/>
              </a:buClr>
              <a:buSzPct val="80000"/>
              <a:buFontTx/>
              <a:buNone/>
              <a:tabLst/>
              <a:defRPr/>
            </a:pPr>
            <a:r>
              <a:rPr kumimoji="0" lang="en-US" sz="525" b="1" i="0" u="none" strike="noStrike" kern="0" cap="none" spc="0" normalizeH="0" baseline="0" noProof="0">
                <a:ln>
                  <a:noFill/>
                </a:ln>
                <a:solidFill>
                  <a:srgbClr val="FFFFFF"/>
                </a:solidFill>
                <a:effectLst/>
                <a:uLnTx/>
                <a:uFillTx/>
                <a:latin typeface="Calibri" panose="020F0502020204030204"/>
                <a:ea typeface="+mn-ea"/>
                <a:cs typeface="Arial" pitchFamily="34" charset="0"/>
              </a:rPr>
              <a:t>1</a:t>
            </a:r>
          </a:p>
        </p:txBody>
      </p:sp>
      <p:sp>
        <p:nvSpPr>
          <p:cNvPr id="59" name="Freeform 978">
            <a:extLst>
              <a:ext uri="{FF2B5EF4-FFF2-40B4-BE49-F238E27FC236}">
                <a16:creationId xmlns:a16="http://schemas.microsoft.com/office/drawing/2014/main" id="{36EB5B6F-F114-45AF-8002-D698DC648ECF}"/>
              </a:ext>
            </a:extLst>
          </p:cNvPr>
          <p:cNvSpPr>
            <a:spLocks/>
          </p:cNvSpPr>
          <p:nvPr/>
        </p:nvSpPr>
        <p:spPr bwMode="auto">
          <a:xfrm>
            <a:off x="10113782" y="4198907"/>
            <a:ext cx="259515" cy="186538"/>
          </a:xfrm>
          <a:custGeom>
            <a:avLst/>
            <a:gdLst>
              <a:gd name="T0" fmla="*/ 259 w 320"/>
              <a:gd name="T1" fmla="*/ 90 h 257"/>
              <a:gd name="T2" fmla="*/ 284 w 320"/>
              <a:gd name="T3" fmla="*/ 65 h 257"/>
              <a:gd name="T4" fmla="*/ 256 w 320"/>
              <a:gd name="T5" fmla="*/ 65 h 257"/>
              <a:gd name="T6" fmla="*/ 191 w 320"/>
              <a:gd name="T7" fmla="*/ 110 h 257"/>
              <a:gd name="T8" fmla="*/ 179 w 320"/>
              <a:gd name="T9" fmla="*/ 124 h 257"/>
              <a:gd name="T10" fmla="*/ 174 w 320"/>
              <a:gd name="T11" fmla="*/ 129 h 257"/>
              <a:gd name="T12" fmla="*/ 179 w 320"/>
              <a:gd name="T13" fmla="*/ 135 h 257"/>
              <a:gd name="T14" fmla="*/ 191 w 320"/>
              <a:gd name="T15" fmla="*/ 149 h 257"/>
              <a:gd name="T16" fmla="*/ 256 w 320"/>
              <a:gd name="T17" fmla="*/ 193 h 257"/>
              <a:gd name="T18" fmla="*/ 284 w 320"/>
              <a:gd name="T19" fmla="*/ 193 h 257"/>
              <a:gd name="T20" fmla="*/ 259 w 320"/>
              <a:gd name="T21" fmla="*/ 169 h 257"/>
              <a:gd name="T22" fmla="*/ 259 w 320"/>
              <a:gd name="T23" fmla="*/ 154 h 257"/>
              <a:gd name="T24" fmla="*/ 274 w 320"/>
              <a:gd name="T25" fmla="*/ 154 h 257"/>
              <a:gd name="T26" fmla="*/ 317 w 320"/>
              <a:gd name="T27" fmla="*/ 196 h 257"/>
              <a:gd name="T28" fmla="*/ 319 w 320"/>
              <a:gd name="T29" fmla="*/ 200 h 257"/>
              <a:gd name="T30" fmla="*/ 319 w 320"/>
              <a:gd name="T31" fmla="*/ 208 h 257"/>
              <a:gd name="T32" fmla="*/ 317 w 320"/>
              <a:gd name="T33" fmla="*/ 212 h 257"/>
              <a:gd name="T34" fmla="*/ 274 w 320"/>
              <a:gd name="T35" fmla="*/ 254 h 257"/>
              <a:gd name="T36" fmla="*/ 267 w 320"/>
              <a:gd name="T37" fmla="*/ 257 h 257"/>
              <a:gd name="T38" fmla="*/ 259 w 320"/>
              <a:gd name="T39" fmla="*/ 254 h 257"/>
              <a:gd name="T40" fmla="*/ 259 w 320"/>
              <a:gd name="T41" fmla="*/ 239 h 257"/>
              <a:gd name="T42" fmla="*/ 284 w 320"/>
              <a:gd name="T43" fmla="*/ 215 h 257"/>
              <a:gd name="T44" fmla="*/ 256 w 320"/>
              <a:gd name="T45" fmla="*/ 215 h 257"/>
              <a:gd name="T46" fmla="*/ 174 w 320"/>
              <a:gd name="T47" fmla="*/ 162 h 257"/>
              <a:gd name="T48" fmla="*/ 163 w 320"/>
              <a:gd name="T49" fmla="*/ 149 h 257"/>
              <a:gd name="T50" fmla="*/ 160 w 320"/>
              <a:gd name="T51" fmla="*/ 146 h 257"/>
              <a:gd name="T52" fmla="*/ 157 w 320"/>
              <a:gd name="T53" fmla="*/ 149 h 257"/>
              <a:gd name="T54" fmla="*/ 146 w 320"/>
              <a:gd name="T55" fmla="*/ 162 h 257"/>
              <a:gd name="T56" fmla="*/ 64 w 320"/>
              <a:gd name="T57" fmla="*/ 215 h 257"/>
              <a:gd name="T58" fmla="*/ 11 w 320"/>
              <a:gd name="T59" fmla="*/ 215 h 257"/>
              <a:gd name="T60" fmla="*/ 0 w 320"/>
              <a:gd name="T61" fmla="*/ 204 h 257"/>
              <a:gd name="T62" fmla="*/ 11 w 320"/>
              <a:gd name="T63" fmla="*/ 193 h 257"/>
              <a:gd name="T64" fmla="*/ 64 w 320"/>
              <a:gd name="T65" fmla="*/ 193 h 257"/>
              <a:gd name="T66" fmla="*/ 129 w 320"/>
              <a:gd name="T67" fmla="*/ 149 h 257"/>
              <a:gd name="T68" fmla="*/ 141 w 320"/>
              <a:gd name="T69" fmla="*/ 134 h 257"/>
              <a:gd name="T70" fmla="*/ 146 w 320"/>
              <a:gd name="T71" fmla="*/ 129 h 257"/>
              <a:gd name="T72" fmla="*/ 141 w 320"/>
              <a:gd name="T73" fmla="*/ 124 h 257"/>
              <a:gd name="T74" fmla="*/ 129 w 320"/>
              <a:gd name="T75" fmla="*/ 110 h 257"/>
              <a:gd name="T76" fmla="*/ 64 w 320"/>
              <a:gd name="T77" fmla="*/ 65 h 257"/>
              <a:gd name="T78" fmla="*/ 11 w 320"/>
              <a:gd name="T79" fmla="*/ 65 h 257"/>
              <a:gd name="T80" fmla="*/ 0 w 320"/>
              <a:gd name="T81" fmla="*/ 55 h 257"/>
              <a:gd name="T82" fmla="*/ 11 w 320"/>
              <a:gd name="T83" fmla="*/ 44 h 257"/>
              <a:gd name="T84" fmla="*/ 64 w 320"/>
              <a:gd name="T85" fmla="*/ 44 h 257"/>
              <a:gd name="T86" fmla="*/ 146 w 320"/>
              <a:gd name="T87" fmla="*/ 96 h 257"/>
              <a:gd name="T88" fmla="*/ 157 w 320"/>
              <a:gd name="T89" fmla="*/ 110 h 257"/>
              <a:gd name="T90" fmla="*/ 160 w 320"/>
              <a:gd name="T91" fmla="*/ 113 h 257"/>
              <a:gd name="T92" fmla="*/ 163 w 320"/>
              <a:gd name="T93" fmla="*/ 110 h 257"/>
              <a:gd name="T94" fmla="*/ 174 w 320"/>
              <a:gd name="T95" fmla="*/ 96 h 257"/>
              <a:gd name="T96" fmla="*/ 256 w 320"/>
              <a:gd name="T97" fmla="*/ 44 h 257"/>
              <a:gd name="T98" fmla="*/ 284 w 320"/>
              <a:gd name="T99" fmla="*/ 44 h 257"/>
              <a:gd name="T100" fmla="*/ 259 w 320"/>
              <a:gd name="T101" fmla="*/ 20 h 257"/>
              <a:gd name="T102" fmla="*/ 259 w 320"/>
              <a:gd name="T103" fmla="*/ 4 h 257"/>
              <a:gd name="T104" fmla="*/ 274 w 320"/>
              <a:gd name="T105" fmla="*/ 4 h 257"/>
              <a:gd name="T106" fmla="*/ 317 w 320"/>
              <a:gd name="T107" fmla="*/ 47 h 257"/>
              <a:gd name="T108" fmla="*/ 319 w 320"/>
              <a:gd name="T109" fmla="*/ 51 h 257"/>
              <a:gd name="T110" fmla="*/ 319 w 320"/>
              <a:gd name="T111" fmla="*/ 59 h 257"/>
              <a:gd name="T112" fmla="*/ 317 w 320"/>
              <a:gd name="T113" fmla="*/ 62 h 257"/>
              <a:gd name="T114" fmla="*/ 274 w 320"/>
              <a:gd name="T115" fmla="*/ 105 h 257"/>
              <a:gd name="T116" fmla="*/ 267 w 320"/>
              <a:gd name="T117" fmla="*/ 108 h 257"/>
              <a:gd name="T118" fmla="*/ 259 w 320"/>
              <a:gd name="T119" fmla="*/ 105 h 257"/>
              <a:gd name="T120" fmla="*/ 259 w 320"/>
              <a:gd name="T121" fmla="*/ 9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20" h="257">
                <a:moveTo>
                  <a:pt x="259" y="90"/>
                </a:moveTo>
                <a:cubicBezTo>
                  <a:pt x="284" y="65"/>
                  <a:pt x="284" y="65"/>
                  <a:pt x="284" y="65"/>
                </a:cubicBezTo>
                <a:cubicBezTo>
                  <a:pt x="256" y="65"/>
                  <a:pt x="256" y="65"/>
                  <a:pt x="256" y="65"/>
                </a:cubicBezTo>
                <a:cubicBezTo>
                  <a:pt x="225" y="65"/>
                  <a:pt x="207" y="89"/>
                  <a:pt x="191" y="110"/>
                </a:cubicBezTo>
                <a:cubicBezTo>
                  <a:pt x="186" y="115"/>
                  <a:pt x="182" y="120"/>
                  <a:pt x="179" y="124"/>
                </a:cubicBezTo>
                <a:cubicBezTo>
                  <a:pt x="174" y="129"/>
                  <a:pt x="174" y="129"/>
                  <a:pt x="174" y="129"/>
                </a:cubicBezTo>
                <a:cubicBezTo>
                  <a:pt x="179" y="135"/>
                  <a:pt x="179" y="135"/>
                  <a:pt x="179" y="135"/>
                </a:cubicBezTo>
                <a:cubicBezTo>
                  <a:pt x="182" y="139"/>
                  <a:pt x="186" y="144"/>
                  <a:pt x="191" y="149"/>
                </a:cubicBezTo>
                <a:cubicBezTo>
                  <a:pt x="207" y="170"/>
                  <a:pt x="225" y="193"/>
                  <a:pt x="256" y="193"/>
                </a:cubicBezTo>
                <a:cubicBezTo>
                  <a:pt x="284" y="193"/>
                  <a:pt x="284" y="193"/>
                  <a:pt x="284" y="193"/>
                </a:cubicBezTo>
                <a:cubicBezTo>
                  <a:pt x="259" y="169"/>
                  <a:pt x="259" y="169"/>
                  <a:pt x="259" y="169"/>
                </a:cubicBezTo>
                <a:cubicBezTo>
                  <a:pt x="255" y="165"/>
                  <a:pt x="255" y="158"/>
                  <a:pt x="259" y="154"/>
                </a:cubicBezTo>
                <a:cubicBezTo>
                  <a:pt x="263" y="150"/>
                  <a:pt x="270" y="150"/>
                  <a:pt x="274" y="154"/>
                </a:cubicBezTo>
                <a:cubicBezTo>
                  <a:pt x="317" y="196"/>
                  <a:pt x="317" y="196"/>
                  <a:pt x="317" y="196"/>
                </a:cubicBezTo>
                <a:cubicBezTo>
                  <a:pt x="318" y="197"/>
                  <a:pt x="319" y="199"/>
                  <a:pt x="319" y="200"/>
                </a:cubicBezTo>
                <a:cubicBezTo>
                  <a:pt x="320" y="203"/>
                  <a:pt x="320" y="205"/>
                  <a:pt x="319" y="208"/>
                </a:cubicBezTo>
                <a:cubicBezTo>
                  <a:pt x="319" y="209"/>
                  <a:pt x="318" y="211"/>
                  <a:pt x="317" y="212"/>
                </a:cubicBezTo>
                <a:cubicBezTo>
                  <a:pt x="274" y="254"/>
                  <a:pt x="274" y="254"/>
                  <a:pt x="274" y="254"/>
                </a:cubicBezTo>
                <a:cubicBezTo>
                  <a:pt x="272" y="256"/>
                  <a:pt x="269" y="257"/>
                  <a:pt x="267" y="257"/>
                </a:cubicBezTo>
                <a:cubicBezTo>
                  <a:pt x="264" y="257"/>
                  <a:pt x="261" y="256"/>
                  <a:pt x="259" y="254"/>
                </a:cubicBezTo>
                <a:cubicBezTo>
                  <a:pt x="255" y="250"/>
                  <a:pt x="255" y="243"/>
                  <a:pt x="259" y="239"/>
                </a:cubicBezTo>
                <a:cubicBezTo>
                  <a:pt x="284" y="215"/>
                  <a:pt x="284" y="215"/>
                  <a:pt x="284" y="215"/>
                </a:cubicBezTo>
                <a:cubicBezTo>
                  <a:pt x="256" y="215"/>
                  <a:pt x="256" y="215"/>
                  <a:pt x="256" y="215"/>
                </a:cubicBezTo>
                <a:cubicBezTo>
                  <a:pt x="215" y="215"/>
                  <a:pt x="191" y="184"/>
                  <a:pt x="174" y="162"/>
                </a:cubicBezTo>
                <a:cubicBezTo>
                  <a:pt x="170" y="157"/>
                  <a:pt x="166" y="153"/>
                  <a:pt x="163" y="149"/>
                </a:cubicBezTo>
                <a:cubicBezTo>
                  <a:pt x="160" y="146"/>
                  <a:pt x="160" y="146"/>
                  <a:pt x="160" y="146"/>
                </a:cubicBezTo>
                <a:cubicBezTo>
                  <a:pt x="157" y="149"/>
                  <a:pt x="157" y="149"/>
                  <a:pt x="157" y="149"/>
                </a:cubicBezTo>
                <a:cubicBezTo>
                  <a:pt x="154" y="153"/>
                  <a:pt x="150" y="157"/>
                  <a:pt x="146" y="162"/>
                </a:cubicBezTo>
                <a:cubicBezTo>
                  <a:pt x="129" y="184"/>
                  <a:pt x="105" y="215"/>
                  <a:pt x="64" y="215"/>
                </a:cubicBezTo>
                <a:cubicBezTo>
                  <a:pt x="11" y="215"/>
                  <a:pt x="11" y="215"/>
                  <a:pt x="11" y="215"/>
                </a:cubicBezTo>
                <a:cubicBezTo>
                  <a:pt x="5" y="215"/>
                  <a:pt x="0" y="210"/>
                  <a:pt x="0" y="204"/>
                </a:cubicBezTo>
                <a:cubicBezTo>
                  <a:pt x="0" y="198"/>
                  <a:pt x="5" y="193"/>
                  <a:pt x="11" y="193"/>
                </a:cubicBezTo>
                <a:cubicBezTo>
                  <a:pt x="64" y="193"/>
                  <a:pt x="64" y="193"/>
                  <a:pt x="64" y="193"/>
                </a:cubicBezTo>
                <a:cubicBezTo>
                  <a:pt x="95" y="193"/>
                  <a:pt x="113" y="170"/>
                  <a:pt x="129" y="149"/>
                </a:cubicBezTo>
                <a:cubicBezTo>
                  <a:pt x="134" y="144"/>
                  <a:pt x="138" y="139"/>
                  <a:pt x="141" y="134"/>
                </a:cubicBezTo>
                <a:cubicBezTo>
                  <a:pt x="146" y="129"/>
                  <a:pt x="146" y="129"/>
                  <a:pt x="146" y="129"/>
                </a:cubicBezTo>
                <a:cubicBezTo>
                  <a:pt x="141" y="124"/>
                  <a:pt x="141" y="124"/>
                  <a:pt x="141" y="124"/>
                </a:cubicBezTo>
                <a:cubicBezTo>
                  <a:pt x="138" y="120"/>
                  <a:pt x="134" y="115"/>
                  <a:pt x="129" y="110"/>
                </a:cubicBezTo>
                <a:cubicBezTo>
                  <a:pt x="113" y="89"/>
                  <a:pt x="95" y="65"/>
                  <a:pt x="64" y="65"/>
                </a:cubicBezTo>
                <a:cubicBezTo>
                  <a:pt x="11" y="65"/>
                  <a:pt x="11" y="65"/>
                  <a:pt x="11" y="65"/>
                </a:cubicBezTo>
                <a:cubicBezTo>
                  <a:pt x="5" y="65"/>
                  <a:pt x="0" y="61"/>
                  <a:pt x="0" y="55"/>
                </a:cubicBezTo>
                <a:cubicBezTo>
                  <a:pt x="0" y="49"/>
                  <a:pt x="5" y="44"/>
                  <a:pt x="11" y="44"/>
                </a:cubicBezTo>
                <a:cubicBezTo>
                  <a:pt x="64" y="44"/>
                  <a:pt x="64" y="44"/>
                  <a:pt x="64" y="44"/>
                </a:cubicBezTo>
                <a:cubicBezTo>
                  <a:pt x="105" y="44"/>
                  <a:pt x="129" y="74"/>
                  <a:pt x="146" y="96"/>
                </a:cubicBezTo>
                <a:cubicBezTo>
                  <a:pt x="150" y="101"/>
                  <a:pt x="154" y="106"/>
                  <a:pt x="157" y="110"/>
                </a:cubicBezTo>
                <a:cubicBezTo>
                  <a:pt x="160" y="113"/>
                  <a:pt x="160" y="113"/>
                  <a:pt x="160" y="113"/>
                </a:cubicBezTo>
                <a:cubicBezTo>
                  <a:pt x="163" y="110"/>
                  <a:pt x="163" y="110"/>
                  <a:pt x="163" y="110"/>
                </a:cubicBezTo>
                <a:cubicBezTo>
                  <a:pt x="166" y="106"/>
                  <a:pt x="170" y="101"/>
                  <a:pt x="174" y="96"/>
                </a:cubicBezTo>
                <a:cubicBezTo>
                  <a:pt x="191" y="74"/>
                  <a:pt x="215" y="44"/>
                  <a:pt x="256" y="44"/>
                </a:cubicBezTo>
                <a:cubicBezTo>
                  <a:pt x="284" y="44"/>
                  <a:pt x="284" y="44"/>
                  <a:pt x="284" y="44"/>
                </a:cubicBezTo>
                <a:cubicBezTo>
                  <a:pt x="259" y="20"/>
                  <a:pt x="259" y="20"/>
                  <a:pt x="259" y="20"/>
                </a:cubicBezTo>
                <a:cubicBezTo>
                  <a:pt x="255" y="15"/>
                  <a:pt x="255" y="9"/>
                  <a:pt x="259" y="4"/>
                </a:cubicBezTo>
                <a:cubicBezTo>
                  <a:pt x="263" y="0"/>
                  <a:pt x="270" y="0"/>
                  <a:pt x="274" y="4"/>
                </a:cubicBezTo>
                <a:cubicBezTo>
                  <a:pt x="317" y="47"/>
                  <a:pt x="317" y="47"/>
                  <a:pt x="317" y="47"/>
                </a:cubicBezTo>
                <a:cubicBezTo>
                  <a:pt x="318" y="48"/>
                  <a:pt x="319" y="49"/>
                  <a:pt x="319" y="51"/>
                </a:cubicBezTo>
                <a:cubicBezTo>
                  <a:pt x="320" y="53"/>
                  <a:pt x="320" y="56"/>
                  <a:pt x="319" y="59"/>
                </a:cubicBezTo>
                <a:cubicBezTo>
                  <a:pt x="319" y="60"/>
                  <a:pt x="318" y="61"/>
                  <a:pt x="317" y="62"/>
                </a:cubicBezTo>
                <a:cubicBezTo>
                  <a:pt x="274" y="105"/>
                  <a:pt x="274" y="105"/>
                  <a:pt x="274" y="105"/>
                </a:cubicBezTo>
                <a:cubicBezTo>
                  <a:pt x="272" y="107"/>
                  <a:pt x="269" y="108"/>
                  <a:pt x="267" y="108"/>
                </a:cubicBezTo>
                <a:cubicBezTo>
                  <a:pt x="264" y="108"/>
                  <a:pt x="261" y="107"/>
                  <a:pt x="259" y="105"/>
                </a:cubicBezTo>
                <a:cubicBezTo>
                  <a:pt x="255" y="101"/>
                  <a:pt x="255" y="94"/>
                  <a:pt x="259" y="90"/>
                </a:cubicBezTo>
                <a:close/>
              </a:path>
            </a:pathLst>
          </a:custGeom>
          <a:solidFill>
            <a:srgbClr val="007CB0"/>
          </a:solidFill>
          <a:ln>
            <a:solidFill>
              <a:srgbClr val="007CB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60" name="Line 13">
            <a:extLst>
              <a:ext uri="{FF2B5EF4-FFF2-40B4-BE49-F238E27FC236}">
                <a16:creationId xmlns:a16="http://schemas.microsoft.com/office/drawing/2014/main" id="{EE52C4D7-7840-4614-8FE3-6A6C955D72D6}"/>
              </a:ext>
            </a:extLst>
          </p:cNvPr>
          <p:cNvSpPr>
            <a:spLocks noChangeShapeType="1"/>
          </p:cNvSpPr>
          <p:nvPr/>
        </p:nvSpPr>
        <p:spPr bwMode="auto">
          <a:xfrm flipV="1">
            <a:off x="10101451" y="4115915"/>
            <a:ext cx="381260" cy="12575"/>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61" name="Freeform 101">
            <a:extLst>
              <a:ext uri="{FF2B5EF4-FFF2-40B4-BE49-F238E27FC236}">
                <a16:creationId xmlns:a16="http://schemas.microsoft.com/office/drawing/2014/main" id="{01F01CD8-7312-4FCD-8551-A87404A4D00A}"/>
              </a:ext>
            </a:extLst>
          </p:cNvPr>
          <p:cNvSpPr>
            <a:spLocks noEditPoints="1"/>
          </p:cNvSpPr>
          <p:nvPr/>
        </p:nvSpPr>
        <p:spPr bwMode="auto">
          <a:xfrm>
            <a:off x="10536973" y="3880684"/>
            <a:ext cx="420866" cy="410059"/>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62" name="Freeform 100">
            <a:extLst>
              <a:ext uri="{FF2B5EF4-FFF2-40B4-BE49-F238E27FC236}">
                <a16:creationId xmlns:a16="http://schemas.microsoft.com/office/drawing/2014/main" id="{212281AE-E221-40E3-BB62-9B924CDF2DDE}"/>
              </a:ext>
            </a:extLst>
          </p:cNvPr>
          <p:cNvSpPr>
            <a:spLocks noEditPoints="1"/>
          </p:cNvSpPr>
          <p:nvPr/>
        </p:nvSpPr>
        <p:spPr bwMode="auto">
          <a:xfrm>
            <a:off x="10633872" y="3951038"/>
            <a:ext cx="201768" cy="240005"/>
          </a:xfrm>
          <a:custGeom>
            <a:avLst/>
            <a:gdLst>
              <a:gd name="T0" fmla="*/ 244 w 245"/>
              <a:gd name="T1" fmla="*/ 60 h 299"/>
              <a:gd name="T2" fmla="*/ 242 w 245"/>
              <a:gd name="T3" fmla="*/ 56 h 299"/>
              <a:gd name="T4" fmla="*/ 190 w 245"/>
              <a:gd name="T5" fmla="*/ 3 h 299"/>
              <a:gd name="T6" fmla="*/ 182 w 245"/>
              <a:gd name="T7" fmla="*/ 0 h 299"/>
              <a:gd name="T8" fmla="*/ 85 w 245"/>
              <a:gd name="T9" fmla="*/ 0 h 299"/>
              <a:gd name="T10" fmla="*/ 75 w 245"/>
              <a:gd name="T11" fmla="*/ 11 h 299"/>
              <a:gd name="T12" fmla="*/ 75 w 245"/>
              <a:gd name="T13" fmla="*/ 64 h 299"/>
              <a:gd name="T14" fmla="*/ 11 w 245"/>
              <a:gd name="T15" fmla="*/ 64 h 299"/>
              <a:gd name="T16" fmla="*/ 0 w 245"/>
              <a:gd name="T17" fmla="*/ 75 h 299"/>
              <a:gd name="T18" fmla="*/ 0 w 245"/>
              <a:gd name="T19" fmla="*/ 288 h 299"/>
              <a:gd name="T20" fmla="*/ 11 w 245"/>
              <a:gd name="T21" fmla="*/ 299 h 299"/>
              <a:gd name="T22" fmla="*/ 160 w 245"/>
              <a:gd name="T23" fmla="*/ 299 h 299"/>
              <a:gd name="T24" fmla="*/ 171 w 245"/>
              <a:gd name="T25" fmla="*/ 288 h 299"/>
              <a:gd name="T26" fmla="*/ 171 w 245"/>
              <a:gd name="T27" fmla="*/ 235 h 299"/>
              <a:gd name="T28" fmla="*/ 235 w 245"/>
              <a:gd name="T29" fmla="*/ 235 h 299"/>
              <a:gd name="T30" fmla="*/ 245 w 245"/>
              <a:gd name="T31" fmla="*/ 224 h 299"/>
              <a:gd name="T32" fmla="*/ 245 w 245"/>
              <a:gd name="T33" fmla="*/ 64 h 299"/>
              <a:gd name="T34" fmla="*/ 244 w 245"/>
              <a:gd name="T35" fmla="*/ 60 h 299"/>
              <a:gd name="T36" fmla="*/ 192 w 245"/>
              <a:gd name="T37" fmla="*/ 36 h 299"/>
              <a:gd name="T38" fmla="*/ 210 w 245"/>
              <a:gd name="T39" fmla="*/ 54 h 299"/>
              <a:gd name="T40" fmla="*/ 192 w 245"/>
              <a:gd name="T41" fmla="*/ 54 h 299"/>
              <a:gd name="T42" fmla="*/ 192 w 245"/>
              <a:gd name="T43" fmla="*/ 36 h 299"/>
              <a:gd name="T44" fmla="*/ 149 w 245"/>
              <a:gd name="T45" fmla="*/ 278 h 299"/>
              <a:gd name="T46" fmla="*/ 21 w 245"/>
              <a:gd name="T47" fmla="*/ 278 h 299"/>
              <a:gd name="T48" fmla="*/ 21 w 245"/>
              <a:gd name="T49" fmla="*/ 86 h 299"/>
              <a:gd name="T50" fmla="*/ 96 w 245"/>
              <a:gd name="T51" fmla="*/ 86 h 299"/>
              <a:gd name="T52" fmla="*/ 96 w 245"/>
              <a:gd name="T53" fmla="*/ 128 h 299"/>
              <a:gd name="T54" fmla="*/ 107 w 245"/>
              <a:gd name="T55" fmla="*/ 139 h 299"/>
              <a:gd name="T56" fmla="*/ 149 w 245"/>
              <a:gd name="T57" fmla="*/ 139 h 299"/>
              <a:gd name="T58" fmla="*/ 149 w 245"/>
              <a:gd name="T59" fmla="*/ 278 h 299"/>
              <a:gd name="T60" fmla="*/ 117 w 245"/>
              <a:gd name="T61" fmla="*/ 118 h 299"/>
              <a:gd name="T62" fmla="*/ 117 w 245"/>
              <a:gd name="T63" fmla="*/ 100 h 299"/>
              <a:gd name="T64" fmla="*/ 135 w 245"/>
              <a:gd name="T65" fmla="*/ 118 h 299"/>
              <a:gd name="T66" fmla="*/ 117 w 245"/>
              <a:gd name="T67" fmla="*/ 118 h 299"/>
              <a:gd name="T68" fmla="*/ 224 w 245"/>
              <a:gd name="T69" fmla="*/ 214 h 299"/>
              <a:gd name="T70" fmla="*/ 171 w 245"/>
              <a:gd name="T71" fmla="*/ 214 h 299"/>
              <a:gd name="T72" fmla="*/ 171 w 245"/>
              <a:gd name="T73" fmla="*/ 128 h 299"/>
              <a:gd name="T74" fmla="*/ 169 w 245"/>
              <a:gd name="T75" fmla="*/ 123 h 299"/>
              <a:gd name="T76" fmla="*/ 167 w 245"/>
              <a:gd name="T77" fmla="*/ 120 h 299"/>
              <a:gd name="T78" fmla="*/ 115 w 245"/>
              <a:gd name="T79" fmla="*/ 67 h 299"/>
              <a:gd name="T80" fmla="*/ 108 w 245"/>
              <a:gd name="T81" fmla="*/ 64 h 299"/>
              <a:gd name="T82" fmla="*/ 96 w 245"/>
              <a:gd name="T83" fmla="*/ 64 h 299"/>
              <a:gd name="T84" fmla="*/ 96 w 245"/>
              <a:gd name="T85" fmla="*/ 22 h 299"/>
              <a:gd name="T86" fmla="*/ 171 w 245"/>
              <a:gd name="T87" fmla="*/ 22 h 299"/>
              <a:gd name="T88" fmla="*/ 171 w 245"/>
              <a:gd name="T89" fmla="*/ 64 h 299"/>
              <a:gd name="T90" fmla="*/ 181 w 245"/>
              <a:gd name="T91" fmla="*/ 75 h 299"/>
              <a:gd name="T92" fmla="*/ 224 w 245"/>
              <a:gd name="T93" fmla="*/ 75 h 299"/>
              <a:gd name="T94" fmla="*/ 224 w 245"/>
              <a:gd name="T95" fmla="*/ 214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5" h="299">
                <a:moveTo>
                  <a:pt x="244" y="60"/>
                </a:moveTo>
                <a:cubicBezTo>
                  <a:pt x="244" y="58"/>
                  <a:pt x="243" y="57"/>
                  <a:pt x="242" y="56"/>
                </a:cubicBezTo>
                <a:cubicBezTo>
                  <a:pt x="190" y="3"/>
                  <a:pt x="190" y="3"/>
                  <a:pt x="190" y="3"/>
                </a:cubicBezTo>
                <a:cubicBezTo>
                  <a:pt x="188" y="1"/>
                  <a:pt x="185" y="0"/>
                  <a:pt x="182" y="0"/>
                </a:cubicBezTo>
                <a:cubicBezTo>
                  <a:pt x="85" y="0"/>
                  <a:pt x="85" y="0"/>
                  <a:pt x="85" y="0"/>
                </a:cubicBezTo>
                <a:cubicBezTo>
                  <a:pt x="79" y="0"/>
                  <a:pt x="75" y="5"/>
                  <a:pt x="75" y="11"/>
                </a:cubicBezTo>
                <a:cubicBezTo>
                  <a:pt x="75" y="64"/>
                  <a:pt x="75" y="64"/>
                  <a:pt x="75" y="64"/>
                </a:cubicBezTo>
                <a:cubicBezTo>
                  <a:pt x="11" y="64"/>
                  <a:pt x="11" y="64"/>
                  <a:pt x="11" y="64"/>
                </a:cubicBezTo>
                <a:cubicBezTo>
                  <a:pt x="5" y="64"/>
                  <a:pt x="0" y="69"/>
                  <a:pt x="0" y="75"/>
                </a:cubicBezTo>
                <a:cubicBezTo>
                  <a:pt x="0" y="288"/>
                  <a:pt x="0" y="288"/>
                  <a:pt x="0" y="288"/>
                </a:cubicBezTo>
                <a:cubicBezTo>
                  <a:pt x="0" y="294"/>
                  <a:pt x="5" y="299"/>
                  <a:pt x="11" y="299"/>
                </a:cubicBezTo>
                <a:cubicBezTo>
                  <a:pt x="160" y="299"/>
                  <a:pt x="160" y="299"/>
                  <a:pt x="160" y="299"/>
                </a:cubicBezTo>
                <a:cubicBezTo>
                  <a:pt x="166" y="299"/>
                  <a:pt x="171" y="294"/>
                  <a:pt x="171" y="288"/>
                </a:cubicBezTo>
                <a:cubicBezTo>
                  <a:pt x="171" y="235"/>
                  <a:pt x="171" y="235"/>
                  <a:pt x="171" y="235"/>
                </a:cubicBezTo>
                <a:cubicBezTo>
                  <a:pt x="235" y="235"/>
                  <a:pt x="235" y="235"/>
                  <a:pt x="235" y="235"/>
                </a:cubicBezTo>
                <a:cubicBezTo>
                  <a:pt x="241" y="235"/>
                  <a:pt x="245" y="230"/>
                  <a:pt x="245" y="224"/>
                </a:cubicBezTo>
                <a:cubicBezTo>
                  <a:pt x="245" y="64"/>
                  <a:pt x="245" y="64"/>
                  <a:pt x="245" y="64"/>
                </a:cubicBezTo>
                <a:cubicBezTo>
                  <a:pt x="245" y="63"/>
                  <a:pt x="245" y="61"/>
                  <a:pt x="244" y="60"/>
                </a:cubicBezTo>
                <a:close/>
                <a:moveTo>
                  <a:pt x="192" y="36"/>
                </a:moveTo>
                <a:cubicBezTo>
                  <a:pt x="210" y="54"/>
                  <a:pt x="210" y="54"/>
                  <a:pt x="210" y="54"/>
                </a:cubicBezTo>
                <a:cubicBezTo>
                  <a:pt x="192" y="54"/>
                  <a:pt x="192" y="54"/>
                  <a:pt x="192" y="54"/>
                </a:cubicBezTo>
                <a:lnTo>
                  <a:pt x="192" y="36"/>
                </a:lnTo>
                <a:close/>
                <a:moveTo>
                  <a:pt x="149" y="278"/>
                </a:moveTo>
                <a:cubicBezTo>
                  <a:pt x="21" y="278"/>
                  <a:pt x="21" y="278"/>
                  <a:pt x="21" y="278"/>
                </a:cubicBezTo>
                <a:cubicBezTo>
                  <a:pt x="21" y="86"/>
                  <a:pt x="21" y="86"/>
                  <a:pt x="21" y="86"/>
                </a:cubicBezTo>
                <a:cubicBezTo>
                  <a:pt x="96" y="86"/>
                  <a:pt x="96" y="86"/>
                  <a:pt x="96" y="86"/>
                </a:cubicBezTo>
                <a:cubicBezTo>
                  <a:pt x="96" y="128"/>
                  <a:pt x="96" y="128"/>
                  <a:pt x="96" y="128"/>
                </a:cubicBezTo>
                <a:cubicBezTo>
                  <a:pt x="96" y="134"/>
                  <a:pt x="101" y="139"/>
                  <a:pt x="107" y="139"/>
                </a:cubicBezTo>
                <a:cubicBezTo>
                  <a:pt x="149" y="139"/>
                  <a:pt x="149" y="139"/>
                  <a:pt x="149" y="139"/>
                </a:cubicBezTo>
                <a:lnTo>
                  <a:pt x="149" y="278"/>
                </a:lnTo>
                <a:close/>
                <a:moveTo>
                  <a:pt x="117" y="118"/>
                </a:moveTo>
                <a:cubicBezTo>
                  <a:pt x="117" y="100"/>
                  <a:pt x="117" y="100"/>
                  <a:pt x="117" y="100"/>
                </a:cubicBezTo>
                <a:cubicBezTo>
                  <a:pt x="135" y="118"/>
                  <a:pt x="135" y="118"/>
                  <a:pt x="135" y="118"/>
                </a:cubicBezTo>
                <a:lnTo>
                  <a:pt x="117" y="118"/>
                </a:lnTo>
                <a:close/>
                <a:moveTo>
                  <a:pt x="224" y="214"/>
                </a:moveTo>
                <a:cubicBezTo>
                  <a:pt x="171" y="214"/>
                  <a:pt x="171" y="214"/>
                  <a:pt x="171" y="214"/>
                </a:cubicBezTo>
                <a:cubicBezTo>
                  <a:pt x="171" y="128"/>
                  <a:pt x="171" y="128"/>
                  <a:pt x="171" y="128"/>
                </a:cubicBezTo>
                <a:cubicBezTo>
                  <a:pt x="171" y="126"/>
                  <a:pt x="170" y="125"/>
                  <a:pt x="169" y="123"/>
                </a:cubicBezTo>
                <a:cubicBezTo>
                  <a:pt x="169" y="122"/>
                  <a:pt x="168" y="121"/>
                  <a:pt x="167" y="120"/>
                </a:cubicBezTo>
                <a:cubicBezTo>
                  <a:pt x="115" y="67"/>
                  <a:pt x="115" y="67"/>
                  <a:pt x="115" y="67"/>
                </a:cubicBezTo>
                <a:cubicBezTo>
                  <a:pt x="113" y="65"/>
                  <a:pt x="111" y="64"/>
                  <a:pt x="108" y="64"/>
                </a:cubicBezTo>
                <a:cubicBezTo>
                  <a:pt x="96" y="64"/>
                  <a:pt x="96" y="64"/>
                  <a:pt x="96" y="64"/>
                </a:cubicBezTo>
                <a:cubicBezTo>
                  <a:pt x="96" y="22"/>
                  <a:pt x="96" y="22"/>
                  <a:pt x="96" y="22"/>
                </a:cubicBezTo>
                <a:cubicBezTo>
                  <a:pt x="171" y="22"/>
                  <a:pt x="171" y="22"/>
                  <a:pt x="171" y="22"/>
                </a:cubicBezTo>
                <a:cubicBezTo>
                  <a:pt x="171" y="64"/>
                  <a:pt x="171" y="64"/>
                  <a:pt x="171" y="64"/>
                </a:cubicBezTo>
                <a:cubicBezTo>
                  <a:pt x="171" y="70"/>
                  <a:pt x="175" y="75"/>
                  <a:pt x="181" y="75"/>
                </a:cubicBezTo>
                <a:cubicBezTo>
                  <a:pt x="224" y="75"/>
                  <a:pt x="224" y="75"/>
                  <a:pt x="224" y="75"/>
                </a:cubicBezTo>
                <a:lnTo>
                  <a:pt x="224" y="214"/>
                </a:ln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63" name="Freeform 41">
            <a:extLst>
              <a:ext uri="{FF2B5EF4-FFF2-40B4-BE49-F238E27FC236}">
                <a16:creationId xmlns:a16="http://schemas.microsoft.com/office/drawing/2014/main" id="{B964921D-A72A-40AB-8503-FACEA5A453F8}"/>
              </a:ext>
            </a:extLst>
          </p:cNvPr>
          <p:cNvSpPr>
            <a:spLocks noEditPoints="1"/>
          </p:cNvSpPr>
          <p:nvPr/>
        </p:nvSpPr>
        <p:spPr bwMode="auto">
          <a:xfrm>
            <a:off x="9699338" y="3979204"/>
            <a:ext cx="255544" cy="214896"/>
          </a:xfrm>
          <a:custGeom>
            <a:avLst/>
            <a:gdLst>
              <a:gd name="T0" fmla="*/ 168 w 324"/>
              <a:gd name="T1" fmla="*/ 177 h 322"/>
              <a:gd name="T2" fmla="*/ 123 w 324"/>
              <a:gd name="T3" fmla="*/ 143 h 322"/>
              <a:gd name="T4" fmla="*/ 65 w 324"/>
              <a:gd name="T5" fmla="*/ 142 h 322"/>
              <a:gd name="T6" fmla="*/ 18 w 324"/>
              <a:gd name="T7" fmla="*/ 175 h 322"/>
              <a:gd name="T8" fmla="*/ 0 w 324"/>
              <a:gd name="T9" fmla="*/ 229 h 322"/>
              <a:gd name="T10" fmla="*/ 17 w 324"/>
              <a:gd name="T11" fmla="*/ 284 h 322"/>
              <a:gd name="T12" fmla="*/ 63 w 324"/>
              <a:gd name="T13" fmla="*/ 319 h 322"/>
              <a:gd name="T14" fmla="*/ 115 w 324"/>
              <a:gd name="T15" fmla="*/ 320 h 322"/>
              <a:gd name="T16" fmla="*/ 145 w 324"/>
              <a:gd name="T17" fmla="*/ 294 h 322"/>
              <a:gd name="T18" fmla="*/ 172 w 324"/>
              <a:gd name="T19" fmla="*/ 252 h 322"/>
              <a:gd name="T20" fmla="*/ 146 w 324"/>
              <a:gd name="T21" fmla="*/ 249 h 322"/>
              <a:gd name="T22" fmla="*/ 125 w 324"/>
              <a:gd name="T23" fmla="*/ 277 h 322"/>
              <a:gd name="T24" fmla="*/ 92 w 324"/>
              <a:gd name="T25" fmla="*/ 284 h 322"/>
              <a:gd name="T26" fmla="*/ 69 w 324"/>
              <a:gd name="T27" fmla="*/ 293 h 322"/>
              <a:gd name="T28" fmla="*/ 37 w 324"/>
              <a:gd name="T29" fmla="*/ 267 h 322"/>
              <a:gd name="T30" fmla="*/ 26 w 324"/>
              <a:gd name="T31" fmla="*/ 227 h 322"/>
              <a:gd name="T32" fmla="*/ 41 w 324"/>
              <a:gd name="T33" fmla="*/ 189 h 322"/>
              <a:gd name="T34" fmla="*/ 76 w 324"/>
              <a:gd name="T35" fmla="*/ 168 h 322"/>
              <a:gd name="T36" fmla="*/ 115 w 324"/>
              <a:gd name="T37" fmla="*/ 164 h 322"/>
              <a:gd name="T38" fmla="*/ 150 w 324"/>
              <a:gd name="T39" fmla="*/ 190 h 322"/>
              <a:gd name="T40" fmla="*/ 163 w 324"/>
              <a:gd name="T41" fmla="*/ 232 h 322"/>
              <a:gd name="T42" fmla="*/ 61 w 324"/>
              <a:gd name="T43" fmla="*/ 214 h 322"/>
              <a:gd name="T44" fmla="*/ 103 w 324"/>
              <a:gd name="T45" fmla="*/ 265 h 322"/>
              <a:gd name="T46" fmla="*/ 105 w 324"/>
              <a:gd name="T47" fmla="*/ 237 h 322"/>
              <a:gd name="T48" fmla="*/ 80 w 324"/>
              <a:gd name="T49" fmla="*/ 224 h 322"/>
              <a:gd name="T50" fmla="*/ 106 w 324"/>
              <a:gd name="T51" fmla="*/ 226 h 322"/>
              <a:gd name="T52" fmla="*/ 308 w 324"/>
              <a:gd name="T53" fmla="*/ 62 h 322"/>
              <a:gd name="T54" fmla="*/ 276 w 324"/>
              <a:gd name="T55" fmla="*/ 23 h 322"/>
              <a:gd name="T56" fmla="*/ 227 w 324"/>
              <a:gd name="T57" fmla="*/ 10 h 322"/>
              <a:gd name="T58" fmla="*/ 180 w 324"/>
              <a:gd name="T59" fmla="*/ 29 h 322"/>
              <a:gd name="T60" fmla="*/ 152 w 324"/>
              <a:gd name="T61" fmla="*/ 71 h 322"/>
              <a:gd name="T62" fmla="*/ 155 w 324"/>
              <a:gd name="T63" fmla="*/ 122 h 322"/>
              <a:gd name="T64" fmla="*/ 187 w 324"/>
              <a:gd name="T65" fmla="*/ 161 h 322"/>
              <a:gd name="T66" fmla="*/ 236 w 324"/>
              <a:gd name="T67" fmla="*/ 174 h 322"/>
              <a:gd name="T68" fmla="*/ 276 w 324"/>
              <a:gd name="T69" fmla="*/ 156 h 322"/>
              <a:gd name="T70" fmla="*/ 305 w 324"/>
              <a:gd name="T71" fmla="*/ 117 h 322"/>
              <a:gd name="T72" fmla="*/ 298 w 324"/>
              <a:gd name="T73" fmla="*/ 96 h 322"/>
              <a:gd name="T74" fmla="*/ 283 w 324"/>
              <a:gd name="T75" fmla="*/ 134 h 322"/>
              <a:gd name="T76" fmla="*/ 248 w 324"/>
              <a:gd name="T77" fmla="*/ 155 h 322"/>
              <a:gd name="T78" fmla="*/ 209 w 324"/>
              <a:gd name="T79" fmla="*/ 158 h 322"/>
              <a:gd name="T80" fmla="*/ 174 w 324"/>
              <a:gd name="T81" fmla="*/ 132 h 322"/>
              <a:gd name="T82" fmla="*/ 161 w 324"/>
              <a:gd name="T83" fmla="*/ 91 h 322"/>
              <a:gd name="T84" fmla="*/ 175 w 324"/>
              <a:gd name="T85" fmla="*/ 50 h 322"/>
              <a:gd name="T86" fmla="*/ 211 w 324"/>
              <a:gd name="T87" fmla="*/ 26 h 322"/>
              <a:gd name="T88" fmla="*/ 250 w 324"/>
              <a:gd name="T89" fmla="*/ 30 h 322"/>
              <a:gd name="T90" fmla="*/ 284 w 324"/>
              <a:gd name="T91" fmla="*/ 51 h 322"/>
              <a:gd name="T92" fmla="*/ 298 w 324"/>
              <a:gd name="T93" fmla="*/ 90 h 322"/>
              <a:gd name="T94" fmla="*/ 221 w 324"/>
              <a:gd name="T95" fmla="*/ 58 h 322"/>
              <a:gd name="T96" fmla="*/ 231 w 324"/>
              <a:gd name="T97" fmla="*/ 128 h 322"/>
              <a:gd name="T98" fmla="*/ 248 w 324"/>
              <a:gd name="T99" fmla="*/ 61 h 322"/>
              <a:gd name="T100" fmla="*/ 218 w 324"/>
              <a:gd name="T101" fmla="*/ 96 h 322"/>
              <a:gd name="T102" fmla="*/ 238 w 324"/>
              <a:gd name="T103" fmla="*/ 7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4" h="322">
                <a:moveTo>
                  <a:pt x="172" y="212"/>
                </a:moveTo>
                <a:cubicBezTo>
                  <a:pt x="171" y="211"/>
                  <a:pt x="168" y="209"/>
                  <a:pt x="167" y="208"/>
                </a:cubicBezTo>
                <a:cubicBezTo>
                  <a:pt x="167" y="206"/>
                  <a:pt x="168" y="203"/>
                  <a:pt x="169" y="201"/>
                </a:cubicBezTo>
                <a:cubicBezTo>
                  <a:pt x="171" y="194"/>
                  <a:pt x="174" y="185"/>
                  <a:pt x="168" y="177"/>
                </a:cubicBezTo>
                <a:cubicBezTo>
                  <a:pt x="163" y="169"/>
                  <a:pt x="153" y="169"/>
                  <a:pt x="146" y="169"/>
                </a:cubicBezTo>
                <a:cubicBezTo>
                  <a:pt x="144" y="169"/>
                  <a:pt x="141" y="168"/>
                  <a:pt x="139" y="168"/>
                </a:cubicBezTo>
                <a:cubicBezTo>
                  <a:pt x="139" y="167"/>
                  <a:pt x="138" y="164"/>
                  <a:pt x="137" y="162"/>
                </a:cubicBezTo>
                <a:cubicBezTo>
                  <a:pt x="135" y="155"/>
                  <a:pt x="132" y="146"/>
                  <a:pt x="123" y="143"/>
                </a:cubicBezTo>
                <a:cubicBezTo>
                  <a:pt x="114" y="140"/>
                  <a:pt x="105" y="145"/>
                  <a:pt x="100" y="149"/>
                </a:cubicBezTo>
                <a:cubicBezTo>
                  <a:pt x="98" y="150"/>
                  <a:pt x="95" y="152"/>
                  <a:pt x="94" y="153"/>
                </a:cubicBezTo>
                <a:cubicBezTo>
                  <a:pt x="92" y="152"/>
                  <a:pt x="90" y="150"/>
                  <a:pt x="88" y="149"/>
                </a:cubicBezTo>
                <a:cubicBezTo>
                  <a:pt x="83" y="145"/>
                  <a:pt x="74" y="139"/>
                  <a:pt x="65" y="142"/>
                </a:cubicBezTo>
                <a:cubicBezTo>
                  <a:pt x="56" y="145"/>
                  <a:pt x="53" y="154"/>
                  <a:pt x="50" y="161"/>
                </a:cubicBezTo>
                <a:cubicBezTo>
                  <a:pt x="49" y="163"/>
                  <a:pt x="48" y="166"/>
                  <a:pt x="48" y="167"/>
                </a:cubicBezTo>
                <a:cubicBezTo>
                  <a:pt x="46" y="167"/>
                  <a:pt x="43" y="167"/>
                  <a:pt x="41" y="167"/>
                </a:cubicBezTo>
                <a:cubicBezTo>
                  <a:pt x="34" y="167"/>
                  <a:pt x="24" y="168"/>
                  <a:pt x="18" y="175"/>
                </a:cubicBezTo>
                <a:cubicBezTo>
                  <a:pt x="13" y="183"/>
                  <a:pt x="15" y="192"/>
                  <a:pt x="17" y="199"/>
                </a:cubicBezTo>
                <a:cubicBezTo>
                  <a:pt x="18" y="201"/>
                  <a:pt x="19" y="204"/>
                  <a:pt x="19" y="206"/>
                </a:cubicBezTo>
                <a:cubicBezTo>
                  <a:pt x="18" y="207"/>
                  <a:pt x="15" y="209"/>
                  <a:pt x="14" y="210"/>
                </a:cubicBezTo>
                <a:cubicBezTo>
                  <a:pt x="8" y="214"/>
                  <a:pt x="0" y="220"/>
                  <a:pt x="0" y="229"/>
                </a:cubicBezTo>
                <a:cubicBezTo>
                  <a:pt x="0" y="239"/>
                  <a:pt x="7" y="245"/>
                  <a:pt x="13" y="249"/>
                </a:cubicBezTo>
                <a:cubicBezTo>
                  <a:pt x="15" y="251"/>
                  <a:pt x="18" y="253"/>
                  <a:pt x="18" y="253"/>
                </a:cubicBezTo>
                <a:cubicBezTo>
                  <a:pt x="18" y="255"/>
                  <a:pt x="17" y="258"/>
                  <a:pt x="16" y="261"/>
                </a:cubicBezTo>
                <a:cubicBezTo>
                  <a:pt x="14" y="268"/>
                  <a:pt x="11" y="277"/>
                  <a:pt x="17" y="284"/>
                </a:cubicBezTo>
                <a:cubicBezTo>
                  <a:pt x="22" y="292"/>
                  <a:pt x="32" y="292"/>
                  <a:pt x="39" y="293"/>
                </a:cubicBezTo>
                <a:cubicBezTo>
                  <a:pt x="41" y="293"/>
                  <a:pt x="44" y="293"/>
                  <a:pt x="46" y="293"/>
                </a:cubicBezTo>
                <a:cubicBezTo>
                  <a:pt x="47" y="295"/>
                  <a:pt x="48" y="298"/>
                  <a:pt x="48" y="299"/>
                </a:cubicBezTo>
                <a:cubicBezTo>
                  <a:pt x="51" y="306"/>
                  <a:pt x="54" y="315"/>
                  <a:pt x="63" y="319"/>
                </a:cubicBezTo>
                <a:cubicBezTo>
                  <a:pt x="72" y="322"/>
                  <a:pt x="80" y="316"/>
                  <a:pt x="86" y="312"/>
                </a:cubicBezTo>
                <a:cubicBezTo>
                  <a:pt x="87" y="311"/>
                  <a:pt x="90" y="309"/>
                  <a:pt x="92" y="309"/>
                </a:cubicBezTo>
                <a:cubicBezTo>
                  <a:pt x="93" y="309"/>
                  <a:pt x="95" y="311"/>
                  <a:pt x="97" y="312"/>
                </a:cubicBezTo>
                <a:cubicBezTo>
                  <a:pt x="102" y="316"/>
                  <a:pt x="108" y="320"/>
                  <a:pt x="115" y="320"/>
                </a:cubicBezTo>
                <a:cubicBezTo>
                  <a:pt x="117" y="320"/>
                  <a:pt x="118" y="320"/>
                  <a:pt x="120" y="319"/>
                </a:cubicBezTo>
                <a:cubicBezTo>
                  <a:pt x="129" y="316"/>
                  <a:pt x="133" y="307"/>
                  <a:pt x="135" y="300"/>
                </a:cubicBezTo>
                <a:cubicBezTo>
                  <a:pt x="136" y="298"/>
                  <a:pt x="137" y="296"/>
                  <a:pt x="138" y="294"/>
                </a:cubicBezTo>
                <a:cubicBezTo>
                  <a:pt x="139" y="294"/>
                  <a:pt x="142" y="294"/>
                  <a:pt x="145" y="294"/>
                </a:cubicBezTo>
                <a:cubicBezTo>
                  <a:pt x="152" y="294"/>
                  <a:pt x="161" y="294"/>
                  <a:pt x="167" y="286"/>
                </a:cubicBezTo>
                <a:cubicBezTo>
                  <a:pt x="173" y="279"/>
                  <a:pt x="170" y="269"/>
                  <a:pt x="168" y="262"/>
                </a:cubicBezTo>
                <a:cubicBezTo>
                  <a:pt x="168" y="260"/>
                  <a:pt x="167" y="257"/>
                  <a:pt x="167" y="256"/>
                </a:cubicBezTo>
                <a:cubicBezTo>
                  <a:pt x="168" y="255"/>
                  <a:pt x="170" y="253"/>
                  <a:pt x="172" y="252"/>
                </a:cubicBezTo>
                <a:cubicBezTo>
                  <a:pt x="177" y="247"/>
                  <a:pt x="185" y="242"/>
                  <a:pt x="185" y="232"/>
                </a:cubicBezTo>
                <a:cubicBezTo>
                  <a:pt x="186" y="223"/>
                  <a:pt x="178" y="217"/>
                  <a:pt x="172" y="212"/>
                </a:cubicBezTo>
                <a:close/>
                <a:moveTo>
                  <a:pt x="159" y="235"/>
                </a:moveTo>
                <a:cubicBezTo>
                  <a:pt x="154" y="238"/>
                  <a:pt x="148" y="242"/>
                  <a:pt x="146" y="249"/>
                </a:cubicBezTo>
                <a:cubicBezTo>
                  <a:pt x="144" y="255"/>
                  <a:pt x="146" y="262"/>
                  <a:pt x="148" y="268"/>
                </a:cubicBezTo>
                <a:cubicBezTo>
                  <a:pt x="148" y="269"/>
                  <a:pt x="148" y="271"/>
                  <a:pt x="149" y="272"/>
                </a:cubicBezTo>
                <a:cubicBezTo>
                  <a:pt x="147" y="273"/>
                  <a:pt x="145" y="273"/>
                  <a:pt x="144" y="273"/>
                </a:cubicBezTo>
                <a:cubicBezTo>
                  <a:pt x="138" y="273"/>
                  <a:pt x="131" y="273"/>
                  <a:pt x="125" y="277"/>
                </a:cubicBezTo>
                <a:cubicBezTo>
                  <a:pt x="120" y="281"/>
                  <a:pt x="117" y="287"/>
                  <a:pt x="115" y="293"/>
                </a:cubicBezTo>
                <a:cubicBezTo>
                  <a:pt x="115" y="294"/>
                  <a:pt x="114" y="295"/>
                  <a:pt x="113" y="297"/>
                </a:cubicBezTo>
                <a:cubicBezTo>
                  <a:pt x="112" y="296"/>
                  <a:pt x="110" y="294"/>
                  <a:pt x="109" y="293"/>
                </a:cubicBezTo>
                <a:cubicBezTo>
                  <a:pt x="104" y="290"/>
                  <a:pt x="99" y="284"/>
                  <a:pt x="92" y="284"/>
                </a:cubicBezTo>
                <a:cubicBezTo>
                  <a:pt x="92" y="284"/>
                  <a:pt x="92" y="284"/>
                  <a:pt x="92" y="284"/>
                </a:cubicBezTo>
                <a:cubicBezTo>
                  <a:pt x="85" y="284"/>
                  <a:pt x="79" y="289"/>
                  <a:pt x="74" y="293"/>
                </a:cubicBezTo>
                <a:cubicBezTo>
                  <a:pt x="73" y="294"/>
                  <a:pt x="71" y="296"/>
                  <a:pt x="70" y="297"/>
                </a:cubicBezTo>
                <a:cubicBezTo>
                  <a:pt x="70" y="296"/>
                  <a:pt x="69" y="294"/>
                  <a:pt x="69" y="293"/>
                </a:cubicBezTo>
                <a:cubicBezTo>
                  <a:pt x="67" y="287"/>
                  <a:pt x="64" y="280"/>
                  <a:pt x="59" y="276"/>
                </a:cubicBezTo>
                <a:cubicBezTo>
                  <a:pt x="53" y="272"/>
                  <a:pt x="46" y="272"/>
                  <a:pt x="40" y="271"/>
                </a:cubicBezTo>
                <a:cubicBezTo>
                  <a:pt x="39" y="271"/>
                  <a:pt x="37" y="271"/>
                  <a:pt x="36" y="271"/>
                </a:cubicBezTo>
                <a:cubicBezTo>
                  <a:pt x="36" y="270"/>
                  <a:pt x="36" y="268"/>
                  <a:pt x="37" y="267"/>
                </a:cubicBezTo>
                <a:cubicBezTo>
                  <a:pt x="39" y="261"/>
                  <a:pt x="41" y="254"/>
                  <a:pt x="39" y="247"/>
                </a:cubicBezTo>
                <a:cubicBezTo>
                  <a:pt x="37" y="241"/>
                  <a:pt x="31" y="236"/>
                  <a:pt x="26" y="232"/>
                </a:cubicBezTo>
                <a:cubicBezTo>
                  <a:pt x="25" y="232"/>
                  <a:pt x="24" y="231"/>
                  <a:pt x="23" y="230"/>
                </a:cubicBezTo>
                <a:cubicBezTo>
                  <a:pt x="24" y="229"/>
                  <a:pt x="25" y="228"/>
                  <a:pt x="26" y="227"/>
                </a:cubicBezTo>
                <a:cubicBezTo>
                  <a:pt x="31" y="223"/>
                  <a:pt x="37" y="219"/>
                  <a:pt x="39" y="213"/>
                </a:cubicBezTo>
                <a:cubicBezTo>
                  <a:pt x="41" y="206"/>
                  <a:pt x="39" y="199"/>
                  <a:pt x="38" y="193"/>
                </a:cubicBezTo>
                <a:cubicBezTo>
                  <a:pt x="37" y="192"/>
                  <a:pt x="37" y="190"/>
                  <a:pt x="37" y="189"/>
                </a:cubicBezTo>
                <a:cubicBezTo>
                  <a:pt x="38" y="189"/>
                  <a:pt x="40" y="189"/>
                  <a:pt x="41" y="189"/>
                </a:cubicBezTo>
                <a:cubicBezTo>
                  <a:pt x="47" y="189"/>
                  <a:pt x="54" y="189"/>
                  <a:pt x="60" y="185"/>
                </a:cubicBezTo>
                <a:cubicBezTo>
                  <a:pt x="66" y="181"/>
                  <a:pt x="68" y="174"/>
                  <a:pt x="70" y="169"/>
                </a:cubicBezTo>
                <a:cubicBezTo>
                  <a:pt x="71" y="167"/>
                  <a:pt x="71" y="166"/>
                  <a:pt x="72" y="164"/>
                </a:cubicBezTo>
                <a:cubicBezTo>
                  <a:pt x="73" y="165"/>
                  <a:pt x="75" y="167"/>
                  <a:pt x="76" y="168"/>
                </a:cubicBezTo>
                <a:cubicBezTo>
                  <a:pt x="81" y="172"/>
                  <a:pt x="87" y="177"/>
                  <a:pt x="93" y="177"/>
                </a:cubicBezTo>
                <a:cubicBezTo>
                  <a:pt x="94" y="177"/>
                  <a:pt x="94" y="177"/>
                  <a:pt x="94" y="177"/>
                </a:cubicBezTo>
                <a:cubicBezTo>
                  <a:pt x="101" y="177"/>
                  <a:pt x="106" y="172"/>
                  <a:pt x="111" y="168"/>
                </a:cubicBezTo>
                <a:cubicBezTo>
                  <a:pt x="112" y="168"/>
                  <a:pt x="114" y="165"/>
                  <a:pt x="115" y="164"/>
                </a:cubicBezTo>
                <a:cubicBezTo>
                  <a:pt x="116" y="166"/>
                  <a:pt x="116" y="168"/>
                  <a:pt x="117" y="169"/>
                </a:cubicBezTo>
                <a:cubicBezTo>
                  <a:pt x="119" y="175"/>
                  <a:pt x="121" y="181"/>
                  <a:pt x="127" y="185"/>
                </a:cubicBezTo>
                <a:cubicBezTo>
                  <a:pt x="132" y="189"/>
                  <a:pt x="139" y="190"/>
                  <a:pt x="145" y="190"/>
                </a:cubicBezTo>
                <a:cubicBezTo>
                  <a:pt x="146" y="190"/>
                  <a:pt x="148" y="190"/>
                  <a:pt x="150" y="190"/>
                </a:cubicBezTo>
                <a:cubicBezTo>
                  <a:pt x="149" y="192"/>
                  <a:pt x="149" y="193"/>
                  <a:pt x="149" y="194"/>
                </a:cubicBezTo>
                <a:cubicBezTo>
                  <a:pt x="147" y="200"/>
                  <a:pt x="145" y="207"/>
                  <a:pt x="147" y="214"/>
                </a:cubicBezTo>
                <a:cubicBezTo>
                  <a:pt x="149" y="221"/>
                  <a:pt x="154" y="225"/>
                  <a:pt x="159" y="229"/>
                </a:cubicBezTo>
                <a:cubicBezTo>
                  <a:pt x="160" y="230"/>
                  <a:pt x="162" y="231"/>
                  <a:pt x="163" y="232"/>
                </a:cubicBezTo>
                <a:cubicBezTo>
                  <a:pt x="161" y="233"/>
                  <a:pt x="160" y="234"/>
                  <a:pt x="159" y="235"/>
                </a:cubicBezTo>
                <a:close/>
                <a:moveTo>
                  <a:pt x="109" y="199"/>
                </a:moveTo>
                <a:cubicBezTo>
                  <a:pt x="101" y="195"/>
                  <a:pt x="91" y="194"/>
                  <a:pt x="82" y="197"/>
                </a:cubicBezTo>
                <a:cubicBezTo>
                  <a:pt x="73" y="200"/>
                  <a:pt x="66" y="206"/>
                  <a:pt x="61" y="214"/>
                </a:cubicBezTo>
                <a:cubicBezTo>
                  <a:pt x="57" y="223"/>
                  <a:pt x="56" y="232"/>
                  <a:pt x="59" y="241"/>
                </a:cubicBezTo>
                <a:cubicBezTo>
                  <a:pt x="62" y="250"/>
                  <a:pt x="68" y="258"/>
                  <a:pt x="76" y="262"/>
                </a:cubicBezTo>
                <a:cubicBezTo>
                  <a:pt x="81" y="265"/>
                  <a:pt x="87" y="266"/>
                  <a:pt x="93" y="266"/>
                </a:cubicBezTo>
                <a:cubicBezTo>
                  <a:pt x="96" y="266"/>
                  <a:pt x="100" y="266"/>
                  <a:pt x="103" y="265"/>
                </a:cubicBezTo>
                <a:cubicBezTo>
                  <a:pt x="112" y="262"/>
                  <a:pt x="120" y="256"/>
                  <a:pt x="124" y="247"/>
                </a:cubicBezTo>
                <a:cubicBezTo>
                  <a:pt x="129" y="239"/>
                  <a:pt x="129" y="229"/>
                  <a:pt x="127" y="220"/>
                </a:cubicBezTo>
                <a:cubicBezTo>
                  <a:pt x="124" y="211"/>
                  <a:pt x="118" y="204"/>
                  <a:pt x="109" y="199"/>
                </a:cubicBezTo>
                <a:close/>
                <a:moveTo>
                  <a:pt x="105" y="237"/>
                </a:moveTo>
                <a:cubicBezTo>
                  <a:pt x="103" y="241"/>
                  <a:pt x="101" y="243"/>
                  <a:pt x="97" y="244"/>
                </a:cubicBezTo>
                <a:cubicBezTo>
                  <a:pt x="93" y="245"/>
                  <a:pt x="89" y="245"/>
                  <a:pt x="86" y="243"/>
                </a:cubicBezTo>
                <a:cubicBezTo>
                  <a:pt x="83" y="241"/>
                  <a:pt x="80" y="239"/>
                  <a:pt x="79" y="235"/>
                </a:cubicBezTo>
                <a:cubicBezTo>
                  <a:pt x="78" y="231"/>
                  <a:pt x="78" y="227"/>
                  <a:pt x="80" y="224"/>
                </a:cubicBezTo>
                <a:cubicBezTo>
                  <a:pt x="82" y="221"/>
                  <a:pt x="85" y="218"/>
                  <a:pt x="88" y="217"/>
                </a:cubicBezTo>
                <a:cubicBezTo>
                  <a:pt x="90" y="217"/>
                  <a:pt x="91" y="216"/>
                  <a:pt x="93" y="216"/>
                </a:cubicBezTo>
                <a:cubicBezTo>
                  <a:pt x="95" y="216"/>
                  <a:pt x="97" y="217"/>
                  <a:pt x="99" y="218"/>
                </a:cubicBezTo>
                <a:cubicBezTo>
                  <a:pt x="103" y="220"/>
                  <a:pt x="105" y="223"/>
                  <a:pt x="106" y="226"/>
                </a:cubicBezTo>
                <a:cubicBezTo>
                  <a:pt x="107" y="230"/>
                  <a:pt x="107" y="234"/>
                  <a:pt x="105" y="237"/>
                </a:cubicBezTo>
                <a:close/>
                <a:moveTo>
                  <a:pt x="311" y="74"/>
                </a:moveTo>
                <a:cubicBezTo>
                  <a:pt x="309" y="72"/>
                  <a:pt x="307" y="70"/>
                  <a:pt x="306" y="69"/>
                </a:cubicBezTo>
                <a:cubicBezTo>
                  <a:pt x="306" y="67"/>
                  <a:pt x="307" y="64"/>
                  <a:pt x="308" y="62"/>
                </a:cubicBezTo>
                <a:cubicBezTo>
                  <a:pt x="310" y="55"/>
                  <a:pt x="313" y="46"/>
                  <a:pt x="307" y="38"/>
                </a:cubicBezTo>
                <a:cubicBezTo>
                  <a:pt x="302" y="31"/>
                  <a:pt x="292" y="30"/>
                  <a:pt x="285" y="30"/>
                </a:cubicBezTo>
                <a:cubicBezTo>
                  <a:pt x="283" y="30"/>
                  <a:pt x="280" y="30"/>
                  <a:pt x="278" y="29"/>
                </a:cubicBezTo>
                <a:cubicBezTo>
                  <a:pt x="277" y="28"/>
                  <a:pt x="276" y="25"/>
                  <a:pt x="276" y="23"/>
                </a:cubicBezTo>
                <a:cubicBezTo>
                  <a:pt x="273" y="16"/>
                  <a:pt x="270" y="7"/>
                  <a:pt x="261" y="4"/>
                </a:cubicBezTo>
                <a:cubicBezTo>
                  <a:pt x="252" y="1"/>
                  <a:pt x="244" y="6"/>
                  <a:pt x="238" y="10"/>
                </a:cubicBezTo>
                <a:cubicBezTo>
                  <a:pt x="237" y="12"/>
                  <a:pt x="234" y="13"/>
                  <a:pt x="232" y="14"/>
                </a:cubicBezTo>
                <a:cubicBezTo>
                  <a:pt x="231" y="13"/>
                  <a:pt x="229" y="12"/>
                  <a:pt x="227" y="10"/>
                </a:cubicBezTo>
                <a:cubicBezTo>
                  <a:pt x="221" y="6"/>
                  <a:pt x="213" y="0"/>
                  <a:pt x="204" y="3"/>
                </a:cubicBezTo>
                <a:cubicBezTo>
                  <a:pt x="195" y="6"/>
                  <a:pt x="191" y="16"/>
                  <a:pt x="189" y="22"/>
                </a:cubicBezTo>
                <a:cubicBezTo>
                  <a:pt x="188" y="24"/>
                  <a:pt x="187" y="27"/>
                  <a:pt x="186" y="28"/>
                </a:cubicBezTo>
                <a:cubicBezTo>
                  <a:pt x="185" y="29"/>
                  <a:pt x="182" y="29"/>
                  <a:pt x="180" y="29"/>
                </a:cubicBezTo>
                <a:cubicBezTo>
                  <a:pt x="172" y="29"/>
                  <a:pt x="163" y="29"/>
                  <a:pt x="157" y="36"/>
                </a:cubicBezTo>
                <a:cubicBezTo>
                  <a:pt x="151" y="44"/>
                  <a:pt x="154" y="53"/>
                  <a:pt x="156" y="60"/>
                </a:cubicBezTo>
                <a:cubicBezTo>
                  <a:pt x="156" y="62"/>
                  <a:pt x="157" y="65"/>
                  <a:pt x="157" y="67"/>
                </a:cubicBezTo>
                <a:cubicBezTo>
                  <a:pt x="156" y="68"/>
                  <a:pt x="154" y="70"/>
                  <a:pt x="152" y="71"/>
                </a:cubicBezTo>
                <a:cubicBezTo>
                  <a:pt x="147" y="75"/>
                  <a:pt x="139" y="81"/>
                  <a:pt x="139" y="91"/>
                </a:cubicBezTo>
                <a:cubicBezTo>
                  <a:pt x="138" y="100"/>
                  <a:pt x="146" y="106"/>
                  <a:pt x="152" y="110"/>
                </a:cubicBezTo>
                <a:cubicBezTo>
                  <a:pt x="153" y="112"/>
                  <a:pt x="156" y="114"/>
                  <a:pt x="157" y="115"/>
                </a:cubicBezTo>
                <a:cubicBezTo>
                  <a:pt x="157" y="116"/>
                  <a:pt x="156" y="120"/>
                  <a:pt x="155" y="122"/>
                </a:cubicBezTo>
                <a:cubicBezTo>
                  <a:pt x="153" y="129"/>
                  <a:pt x="150" y="138"/>
                  <a:pt x="156" y="146"/>
                </a:cubicBezTo>
                <a:cubicBezTo>
                  <a:pt x="161" y="153"/>
                  <a:pt x="171" y="154"/>
                  <a:pt x="178" y="154"/>
                </a:cubicBezTo>
                <a:cubicBezTo>
                  <a:pt x="180" y="154"/>
                  <a:pt x="183" y="154"/>
                  <a:pt x="185" y="155"/>
                </a:cubicBezTo>
                <a:cubicBezTo>
                  <a:pt x="185" y="156"/>
                  <a:pt x="186" y="159"/>
                  <a:pt x="187" y="161"/>
                </a:cubicBezTo>
                <a:cubicBezTo>
                  <a:pt x="189" y="168"/>
                  <a:pt x="192" y="177"/>
                  <a:pt x="201" y="180"/>
                </a:cubicBezTo>
                <a:cubicBezTo>
                  <a:pt x="210" y="183"/>
                  <a:pt x="218" y="178"/>
                  <a:pt x="224" y="174"/>
                </a:cubicBezTo>
                <a:cubicBezTo>
                  <a:pt x="226" y="172"/>
                  <a:pt x="229" y="171"/>
                  <a:pt x="230" y="170"/>
                </a:cubicBezTo>
                <a:cubicBezTo>
                  <a:pt x="232" y="171"/>
                  <a:pt x="234" y="172"/>
                  <a:pt x="236" y="174"/>
                </a:cubicBezTo>
                <a:cubicBezTo>
                  <a:pt x="240" y="177"/>
                  <a:pt x="247" y="181"/>
                  <a:pt x="254" y="181"/>
                </a:cubicBezTo>
                <a:cubicBezTo>
                  <a:pt x="255" y="181"/>
                  <a:pt x="257" y="181"/>
                  <a:pt x="259" y="181"/>
                </a:cubicBezTo>
                <a:cubicBezTo>
                  <a:pt x="268" y="178"/>
                  <a:pt x="271" y="168"/>
                  <a:pt x="274" y="162"/>
                </a:cubicBezTo>
                <a:cubicBezTo>
                  <a:pt x="275" y="160"/>
                  <a:pt x="276" y="157"/>
                  <a:pt x="276" y="156"/>
                </a:cubicBezTo>
                <a:cubicBezTo>
                  <a:pt x="278" y="155"/>
                  <a:pt x="281" y="155"/>
                  <a:pt x="283" y="155"/>
                </a:cubicBezTo>
                <a:cubicBezTo>
                  <a:pt x="290" y="155"/>
                  <a:pt x="300" y="155"/>
                  <a:pt x="306" y="148"/>
                </a:cubicBezTo>
                <a:cubicBezTo>
                  <a:pt x="311" y="140"/>
                  <a:pt x="309" y="131"/>
                  <a:pt x="307" y="124"/>
                </a:cubicBezTo>
                <a:cubicBezTo>
                  <a:pt x="306" y="122"/>
                  <a:pt x="305" y="119"/>
                  <a:pt x="305" y="117"/>
                </a:cubicBezTo>
                <a:cubicBezTo>
                  <a:pt x="306" y="116"/>
                  <a:pt x="309" y="114"/>
                  <a:pt x="310" y="113"/>
                </a:cubicBezTo>
                <a:cubicBezTo>
                  <a:pt x="316" y="109"/>
                  <a:pt x="324" y="103"/>
                  <a:pt x="324" y="93"/>
                </a:cubicBezTo>
                <a:cubicBezTo>
                  <a:pt x="324" y="84"/>
                  <a:pt x="317" y="78"/>
                  <a:pt x="311" y="74"/>
                </a:cubicBezTo>
                <a:close/>
                <a:moveTo>
                  <a:pt x="298" y="96"/>
                </a:moveTo>
                <a:cubicBezTo>
                  <a:pt x="293" y="100"/>
                  <a:pt x="287" y="104"/>
                  <a:pt x="285" y="110"/>
                </a:cubicBezTo>
                <a:cubicBezTo>
                  <a:pt x="283" y="117"/>
                  <a:pt x="285" y="123"/>
                  <a:pt x="286" y="129"/>
                </a:cubicBezTo>
                <a:cubicBezTo>
                  <a:pt x="287" y="131"/>
                  <a:pt x="287" y="132"/>
                  <a:pt x="287" y="134"/>
                </a:cubicBezTo>
                <a:cubicBezTo>
                  <a:pt x="286" y="134"/>
                  <a:pt x="284" y="134"/>
                  <a:pt x="283" y="134"/>
                </a:cubicBezTo>
                <a:cubicBezTo>
                  <a:pt x="277" y="134"/>
                  <a:pt x="270" y="134"/>
                  <a:pt x="264" y="138"/>
                </a:cubicBezTo>
                <a:cubicBezTo>
                  <a:pt x="258" y="142"/>
                  <a:pt x="256" y="148"/>
                  <a:pt x="254" y="154"/>
                </a:cubicBezTo>
                <a:cubicBezTo>
                  <a:pt x="253" y="155"/>
                  <a:pt x="253" y="157"/>
                  <a:pt x="252" y="158"/>
                </a:cubicBezTo>
                <a:cubicBezTo>
                  <a:pt x="251" y="157"/>
                  <a:pt x="249" y="155"/>
                  <a:pt x="248" y="155"/>
                </a:cubicBezTo>
                <a:cubicBezTo>
                  <a:pt x="243" y="151"/>
                  <a:pt x="237" y="145"/>
                  <a:pt x="231" y="145"/>
                </a:cubicBezTo>
                <a:cubicBezTo>
                  <a:pt x="230" y="145"/>
                  <a:pt x="230" y="145"/>
                  <a:pt x="230" y="145"/>
                </a:cubicBezTo>
                <a:cubicBezTo>
                  <a:pt x="223" y="145"/>
                  <a:pt x="218" y="151"/>
                  <a:pt x="213" y="154"/>
                </a:cubicBezTo>
                <a:cubicBezTo>
                  <a:pt x="212" y="155"/>
                  <a:pt x="210" y="157"/>
                  <a:pt x="209" y="158"/>
                </a:cubicBezTo>
                <a:cubicBezTo>
                  <a:pt x="208" y="157"/>
                  <a:pt x="208" y="155"/>
                  <a:pt x="207" y="154"/>
                </a:cubicBezTo>
                <a:cubicBezTo>
                  <a:pt x="205" y="148"/>
                  <a:pt x="203" y="141"/>
                  <a:pt x="197" y="137"/>
                </a:cubicBezTo>
                <a:cubicBezTo>
                  <a:pt x="192" y="133"/>
                  <a:pt x="185" y="133"/>
                  <a:pt x="179" y="133"/>
                </a:cubicBezTo>
                <a:cubicBezTo>
                  <a:pt x="178" y="133"/>
                  <a:pt x="176" y="133"/>
                  <a:pt x="174" y="132"/>
                </a:cubicBezTo>
                <a:cubicBezTo>
                  <a:pt x="175" y="131"/>
                  <a:pt x="175" y="129"/>
                  <a:pt x="175" y="128"/>
                </a:cubicBezTo>
                <a:cubicBezTo>
                  <a:pt x="177" y="122"/>
                  <a:pt x="179" y="115"/>
                  <a:pt x="177" y="109"/>
                </a:cubicBezTo>
                <a:cubicBezTo>
                  <a:pt x="175" y="102"/>
                  <a:pt x="170" y="98"/>
                  <a:pt x="165" y="94"/>
                </a:cubicBezTo>
                <a:cubicBezTo>
                  <a:pt x="164" y="93"/>
                  <a:pt x="162" y="92"/>
                  <a:pt x="161" y="91"/>
                </a:cubicBezTo>
                <a:cubicBezTo>
                  <a:pt x="163" y="90"/>
                  <a:pt x="164" y="89"/>
                  <a:pt x="165" y="88"/>
                </a:cubicBezTo>
                <a:cubicBezTo>
                  <a:pt x="170" y="84"/>
                  <a:pt x="176" y="80"/>
                  <a:pt x="178" y="74"/>
                </a:cubicBezTo>
                <a:cubicBezTo>
                  <a:pt x="180" y="67"/>
                  <a:pt x="178" y="61"/>
                  <a:pt x="176" y="55"/>
                </a:cubicBezTo>
                <a:cubicBezTo>
                  <a:pt x="176" y="53"/>
                  <a:pt x="176" y="52"/>
                  <a:pt x="175" y="50"/>
                </a:cubicBezTo>
                <a:cubicBezTo>
                  <a:pt x="177" y="50"/>
                  <a:pt x="179" y="50"/>
                  <a:pt x="180" y="50"/>
                </a:cubicBezTo>
                <a:cubicBezTo>
                  <a:pt x="186" y="50"/>
                  <a:pt x="193" y="50"/>
                  <a:pt x="199" y="46"/>
                </a:cubicBezTo>
                <a:cubicBezTo>
                  <a:pt x="204" y="42"/>
                  <a:pt x="207" y="36"/>
                  <a:pt x="209" y="30"/>
                </a:cubicBezTo>
                <a:cubicBezTo>
                  <a:pt x="209" y="29"/>
                  <a:pt x="210" y="27"/>
                  <a:pt x="211" y="26"/>
                </a:cubicBezTo>
                <a:cubicBezTo>
                  <a:pt x="212" y="27"/>
                  <a:pt x="214" y="29"/>
                  <a:pt x="215" y="29"/>
                </a:cubicBezTo>
                <a:cubicBezTo>
                  <a:pt x="220" y="33"/>
                  <a:pt x="225" y="39"/>
                  <a:pt x="232" y="39"/>
                </a:cubicBezTo>
                <a:cubicBezTo>
                  <a:pt x="232" y="39"/>
                  <a:pt x="232" y="39"/>
                  <a:pt x="232" y="39"/>
                </a:cubicBezTo>
                <a:cubicBezTo>
                  <a:pt x="239" y="39"/>
                  <a:pt x="245" y="33"/>
                  <a:pt x="250" y="30"/>
                </a:cubicBezTo>
                <a:cubicBezTo>
                  <a:pt x="251" y="29"/>
                  <a:pt x="253" y="27"/>
                  <a:pt x="254" y="26"/>
                </a:cubicBezTo>
                <a:cubicBezTo>
                  <a:pt x="254" y="27"/>
                  <a:pt x="255" y="29"/>
                  <a:pt x="255" y="30"/>
                </a:cubicBezTo>
                <a:cubicBezTo>
                  <a:pt x="257" y="36"/>
                  <a:pt x="260" y="43"/>
                  <a:pt x="265" y="47"/>
                </a:cubicBezTo>
                <a:cubicBezTo>
                  <a:pt x="271" y="51"/>
                  <a:pt x="278" y="51"/>
                  <a:pt x="284" y="51"/>
                </a:cubicBezTo>
                <a:cubicBezTo>
                  <a:pt x="285" y="51"/>
                  <a:pt x="287" y="51"/>
                  <a:pt x="288" y="52"/>
                </a:cubicBezTo>
                <a:cubicBezTo>
                  <a:pt x="288" y="53"/>
                  <a:pt x="288" y="55"/>
                  <a:pt x="287" y="56"/>
                </a:cubicBezTo>
                <a:cubicBezTo>
                  <a:pt x="285" y="62"/>
                  <a:pt x="283" y="69"/>
                  <a:pt x="285" y="75"/>
                </a:cubicBezTo>
                <a:cubicBezTo>
                  <a:pt x="287" y="82"/>
                  <a:pt x="293" y="86"/>
                  <a:pt x="298" y="90"/>
                </a:cubicBezTo>
                <a:cubicBezTo>
                  <a:pt x="299" y="91"/>
                  <a:pt x="300" y="92"/>
                  <a:pt x="301" y="93"/>
                </a:cubicBezTo>
                <a:cubicBezTo>
                  <a:pt x="300" y="94"/>
                  <a:pt x="299" y="95"/>
                  <a:pt x="298" y="96"/>
                </a:cubicBezTo>
                <a:close/>
                <a:moveTo>
                  <a:pt x="248" y="61"/>
                </a:moveTo>
                <a:cubicBezTo>
                  <a:pt x="239" y="56"/>
                  <a:pt x="230" y="55"/>
                  <a:pt x="221" y="58"/>
                </a:cubicBezTo>
                <a:cubicBezTo>
                  <a:pt x="212" y="61"/>
                  <a:pt x="204" y="67"/>
                  <a:pt x="200" y="75"/>
                </a:cubicBezTo>
                <a:cubicBezTo>
                  <a:pt x="195" y="84"/>
                  <a:pt x="195" y="93"/>
                  <a:pt x="197" y="103"/>
                </a:cubicBezTo>
                <a:cubicBezTo>
                  <a:pt x="200" y="112"/>
                  <a:pt x="206" y="119"/>
                  <a:pt x="215" y="123"/>
                </a:cubicBezTo>
                <a:cubicBezTo>
                  <a:pt x="220" y="126"/>
                  <a:pt x="226" y="128"/>
                  <a:pt x="231" y="128"/>
                </a:cubicBezTo>
                <a:cubicBezTo>
                  <a:pt x="235" y="128"/>
                  <a:pt x="238" y="127"/>
                  <a:pt x="242" y="126"/>
                </a:cubicBezTo>
                <a:cubicBezTo>
                  <a:pt x="251" y="123"/>
                  <a:pt x="258" y="117"/>
                  <a:pt x="263" y="109"/>
                </a:cubicBezTo>
                <a:cubicBezTo>
                  <a:pt x="267" y="100"/>
                  <a:pt x="268" y="91"/>
                  <a:pt x="265" y="81"/>
                </a:cubicBezTo>
                <a:cubicBezTo>
                  <a:pt x="262" y="72"/>
                  <a:pt x="256" y="65"/>
                  <a:pt x="248" y="61"/>
                </a:cubicBezTo>
                <a:close/>
                <a:moveTo>
                  <a:pt x="244" y="99"/>
                </a:moveTo>
                <a:cubicBezTo>
                  <a:pt x="242" y="102"/>
                  <a:pt x="239" y="104"/>
                  <a:pt x="236" y="106"/>
                </a:cubicBezTo>
                <a:cubicBezTo>
                  <a:pt x="232" y="107"/>
                  <a:pt x="228" y="106"/>
                  <a:pt x="225" y="105"/>
                </a:cubicBezTo>
                <a:cubicBezTo>
                  <a:pt x="221" y="103"/>
                  <a:pt x="219" y="100"/>
                  <a:pt x="218" y="96"/>
                </a:cubicBezTo>
                <a:cubicBezTo>
                  <a:pt x="217" y="93"/>
                  <a:pt x="217" y="89"/>
                  <a:pt x="219" y="85"/>
                </a:cubicBezTo>
                <a:cubicBezTo>
                  <a:pt x="221" y="82"/>
                  <a:pt x="223" y="80"/>
                  <a:pt x="227" y="78"/>
                </a:cubicBezTo>
                <a:cubicBezTo>
                  <a:pt x="229" y="78"/>
                  <a:pt x="230" y="78"/>
                  <a:pt x="231" y="78"/>
                </a:cubicBezTo>
                <a:cubicBezTo>
                  <a:pt x="234" y="78"/>
                  <a:pt x="236" y="78"/>
                  <a:pt x="238" y="79"/>
                </a:cubicBezTo>
                <a:cubicBezTo>
                  <a:pt x="241" y="81"/>
                  <a:pt x="244" y="84"/>
                  <a:pt x="245" y="88"/>
                </a:cubicBezTo>
                <a:cubicBezTo>
                  <a:pt x="246" y="91"/>
                  <a:pt x="246" y="95"/>
                  <a:pt x="244" y="99"/>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64" name="Freeform 40">
            <a:extLst>
              <a:ext uri="{FF2B5EF4-FFF2-40B4-BE49-F238E27FC236}">
                <a16:creationId xmlns:a16="http://schemas.microsoft.com/office/drawing/2014/main" id="{6FF8D7AC-E411-42C5-B74B-F1C38C49543A}"/>
              </a:ext>
            </a:extLst>
          </p:cNvPr>
          <p:cNvSpPr>
            <a:spLocks noEditPoints="1"/>
          </p:cNvSpPr>
          <p:nvPr/>
        </p:nvSpPr>
        <p:spPr bwMode="auto">
          <a:xfrm>
            <a:off x="9604375" y="3903061"/>
            <a:ext cx="445469" cy="41006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65" name="Freeform 27">
            <a:extLst>
              <a:ext uri="{FF2B5EF4-FFF2-40B4-BE49-F238E27FC236}">
                <a16:creationId xmlns:a16="http://schemas.microsoft.com/office/drawing/2014/main" id="{502A2000-2DB5-467C-B4DC-74359D77B2B1}"/>
              </a:ext>
            </a:extLst>
          </p:cNvPr>
          <p:cNvSpPr>
            <a:spLocks noEditPoints="1"/>
          </p:cNvSpPr>
          <p:nvPr/>
        </p:nvSpPr>
        <p:spPr bwMode="auto">
          <a:xfrm>
            <a:off x="11452341" y="4001910"/>
            <a:ext cx="293112" cy="280290"/>
          </a:xfrm>
          <a:custGeom>
            <a:avLst/>
            <a:gdLst>
              <a:gd name="T0" fmla="*/ 1000 w 1116"/>
              <a:gd name="T1" fmla="*/ 2 h 1184"/>
              <a:gd name="T2" fmla="*/ 64 w 1116"/>
              <a:gd name="T3" fmla="*/ 724 h 1184"/>
              <a:gd name="T4" fmla="*/ 1060 w 1116"/>
              <a:gd name="T5" fmla="*/ 1184 h 1184"/>
              <a:gd name="T6" fmla="*/ 992 w 1116"/>
              <a:gd name="T7" fmla="*/ 948 h 1184"/>
              <a:gd name="T8" fmla="*/ 932 w 1116"/>
              <a:gd name="T9" fmla="*/ 910 h 1184"/>
              <a:gd name="T10" fmla="*/ 986 w 1116"/>
              <a:gd name="T11" fmla="*/ 910 h 1184"/>
              <a:gd name="T12" fmla="*/ 922 w 1116"/>
              <a:gd name="T13" fmla="*/ 874 h 1184"/>
              <a:gd name="T14" fmla="*/ 976 w 1116"/>
              <a:gd name="T15" fmla="*/ 826 h 1184"/>
              <a:gd name="T16" fmla="*/ 918 w 1116"/>
              <a:gd name="T17" fmla="*/ 952 h 1184"/>
              <a:gd name="T18" fmla="*/ 852 w 1116"/>
              <a:gd name="T19" fmla="*/ 906 h 1184"/>
              <a:gd name="T20" fmla="*/ 836 w 1116"/>
              <a:gd name="T21" fmla="*/ 830 h 1184"/>
              <a:gd name="T22" fmla="*/ 900 w 1116"/>
              <a:gd name="T23" fmla="*/ 870 h 1184"/>
              <a:gd name="T24" fmla="*/ 956 w 1116"/>
              <a:gd name="T25" fmla="*/ 76 h 1184"/>
              <a:gd name="T26" fmla="*/ 820 w 1116"/>
              <a:gd name="T27" fmla="*/ 870 h 1184"/>
              <a:gd name="T28" fmla="*/ 758 w 1116"/>
              <a:gd name="T29" fmla="*/ 830 h 1184"/>
              <a:gd name="T30" fmla="*/ 702 w 1116"/>
              <a:gd name="T31" fmla="*/ 900 h 1184"/>
              <a:gd name="T32" fmla="*/ 748 w 1116"/>
              <a:gd name="T33" fmla="*/ 958 h 1184"/>
              <a:gd name="T34" fmla="*/ 702 w 1116"/>
              <a:gd name="T35" fmla="*/ 900 h 1184"/>
              <a:gd name="T36" fmla="*/ 684 w 1116"/>
              <a:gd name="T37" fmla="*/ 822 h 1184"/>
              <a:gd name="T38" fmla="*/ 736 w 1116"/>
              <a:gd name="T39" fmla="*/ 880 h 1184"/>
              <a:gd name="T40" fmla="*/ 674 w 1116"/>
              <a:gd name="T41" fmla="*/ 952 h 1184"/>
              <a:gd name="T42" fmla="*/ 612 w 1116"/>
              <a:gd name="T43" fmla="*/ 906 h 1184"/>
              <a:gd name="T44" fmla="*/ 600 w 1116"/>
              <a:gd name="T45" fmla="*/ 830 h 1184"/>
              <a:gd name="T46" fmla="*/ 662 w 1116"/>
              <a:gd name="T47" fmla="*/ 870 h 1184"/>
              <a:gd name="T48" fmla="*/ 584 w 1116"/>
              <a:gd name="T49" fmla="*/ 900 h 1184"/>
              <a:gd name="T50" fmla="*/ 542 w 1116"/>
              <a:gd name="T51" fmla="*/ 958 h 1184"/>
              <a:gd name="T52" fmla="*/ 522 w 1116"/>
              <a:gd name="T53" fmla="*/ 870 h 1184"/>
              <a:gd name="T54" fmla="*/ 584 w 1116"/>
              <a:gd name="T55" fmla="*/ 830 h 1184"/>
              <a:gd name="T56" fmla="*/ 458 w 1116"/>
              <a:gd name="T57" fmla="*/ 900 h 1184"/>
              <a:gd name="T58" fmla="*/ 508 w 1116"/>
              <a:gd name="T59" fmla="*/ 958 h 1184"/>
              <a:gd name="T60" fmla="*/ 444 w 1116"/>
              <a:gd name="T61" fmla="*/ 826 h 1184"/>
              <a:gd name="T62" fmla="*/ 504 w 1116"/>
              <a:gd name="T63" fmla="*/ 874 h 1184"/>
              <a:gd name="T64" fmla="*/ 372 w 1116"/>
              <a:gd name="T65" fmla="*/ 910 h 1184"/>
              <a:gd name="T66" fmla="*/ 432 w 1116"/>
              <a:gd name="T67" fmla="*/ 948 h 1184"/>
              <a:gd name="T68" fmla="*/ 364 w 1116"/>
              <a:gd name="T69" fmla="*/ 870 h 1184"/>
              <a:gd name="T70" fmla="*/ 426 w 1116"/>
              <a:gd name="T71" fmla="*/ 830 h 1184"/>
              <a:gd name="T72" fmla="*/ 364 w 1116"/>
              <a:gd name="T73" fmla="*/ 870 h 1184"/>
              <a:gd name="T74" fmla="*/ 354 w 1116"/>
              <a:gd name="T75" fmla="*/ 906 h 1184"/>
              <a:gd name="T76" fmla="*/ 290 w 1116"/>
              <a:gd name="T77" fmla="*/ 952 h 1184"/>
              <a:gd name="T78" fmla="*/ 344 w 1116"/>
              <a:gd name="T79" fmla="*/ 822 h 1184"/>
              <a:gd name="T80" fmla="*/ 290 w 1116"/>
              <a:gd name="T81" fmla="*/ 880 h 1184"/>
              <a:gd name="T82" fmla="*/ 214 w 1116"/>
              <a:gd name="T83" fmla="*/ 880 h 1184"/>
              <a:gd name="T84" fmla="*/ 262 w 1116"/>
              <a:gd name="T85" fmla="*/ 820 h 1184"/>
              <a:gd name="T86" fmla="*/ 142 w 1116"/>
              <a:gd name="T87" fmla="*/ 820 h 1184"/>
              <a:gd name="T88" fmla="*/ 178 w 1116"/>
              <a:gd name="T89" fmla="*/ 880 h 1184"/>
              <a:gd name="T90" fmla="*/ 130 w 1116"/>
              <a:gd name="T91" fmla="*/ 900 h 1184"/>
              <a:gd name="T92" fmla="*/ 184 w 1116"/>
              <a:gd name="T93" fmla="*/ 958 h 1184"/>
              <a:gd name="T94" fmla="*/ 154 w 1116"/>
              <a:gd name="T95" fmla="*/ 1034 h 1184"/>
              <a:gd name="T96" fmla="*/ 116 w 1116"/>
              <a:gd name="T97" fmla="*/ 980 h 1184"/>
              <a:gd name="T98" fmla="*/ 248 w 1116"/>
              <a:gd name="T99" fmla="*/ 1032 h 1184"/>
              <a:gd name="T100" fmla="*/ 182 w 1116"/>
              <a:gd name="T101" fmla="*/ 984 h 1184"/>
              <a:gd name="T102" fmla="*/ 218 w 1116"/>
              <a:gd name="T103" fmla="*/ 958 h 1184"/>
              <a:gd name="T104" fmla="*/ 266 w 1116"/>
              <a:gd name="T105" fmla="*/ 900 h 1184"/>
              <a:gd name="T106" fmla="*/ 260 w 1116"/>
              <a:gd name="T107" fmla="*/ 958 h 1184"/>
              <a:gd name="T108" fmla="*/ 278 w 1116"/>
              <a:gd name="T109" fmla="*/ 978 h 1184"/>
              <a:gd name="T110" fmla="*/ 776 w 1116"/>
              <a:gd name="T111" fmla="*/ 1036 h 1184"/>
              <a:gd name="T112" fmla="*/ 828 w 1116"/>
              <a:gd name="T113" fmla="*/ 900 h 1184"/>
              <a:gd name="T114" fmla="*/ 780 w 1116"/>
              <a:gd name="T115" fmla="*/ 958 h 1184"/>
              <a:gd name="T116" fmla="*/ 798 w 1116"/>
              <a:gd name="T117" fmla="*/ 988 h 1184"/>
              <a:gd name="T118" fmla="*/ 874 w 1116"/>
              <a:gd name="T119" fmla="*/ 1028 h 1184"/>
              <a:gd name="T120" fmla="*/ 892 w 1116"/>
              <a:gd name="T121" fmla="*/ 1032 h 1184"/>
              <a:gd name="T122" fmla="*/ 994 w 1116"/>
              <a:gd name="T123" fmla="*/ 984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6" h="1184">
                <a:moveTo>
                  <a:pt x="1116" y="1124"/>
                </a:moveTo>
                <a:lnTo>
                  <a:pt x="1046" y="724"/>
                </a:lnTo>
                <a:lnTo>
                  <a:pt x="1046" y="724"/>
                </a:lnTo>
                <a:lnTo>
                  <a:pt x="1046" y="62"/>
                </a:lnTo>
                <a:lnTo>
                  <a:pt x="1046" y="62"/>
                </a:lnTo>
                <a:lnTo>
                  <a:pt x="1044" y="50"/>
                </a:lnTo>
                <a:lnTo>
                  <a:pt x="1040" y="38"/>
                </a:lnTo>
                <a:lnTo>
                  <a:pt x="1036" y="28"/>
                </a:lnTo>
                <a:lnTo>
                  <a:pt x="1028" y="18"/>
                </a:lnTo>
                <a:lnTo>
                  <a:pt x="1020" y="12"/>
                </a:lnTo>
                <a:lnTo>
                  <a:pt x="1010" y="6"/>
                </a:lnTo>
                <a:lnTo>
                  <a:pt x="1000" y="2"/>
                </a:lnTo>
                <a:lnTo>
                  <a:pt x="988" y="0"/>
                </a:lnTo>
                <a:lnTo>
                  <a:pt x="124" y="0"/>
                </a:lnTo>
                <a:lnTo>
                  <a:pt x="124" y="0"/>
                </a:lnTo>
                <a:lnTo>
                  <a:pt x="112" y="2"/>
                </a:lnTo>
                <a:lnTo>
                  <a:pt x="100" y="6"/>
                </a:lnTo>
                <a:lnTo>
                  <a:pt x="90" y="12"/>
                </a:lnTo>
                <a:lnTo>
                  <a:pt x="82" y="18"/>
                </a:lnTo>
                <a:lnTo>
                  <a:pt x="74" y="28"/>
                </a:lnTo>
                <a:lnTo>
                  <a:pt x="70" y="38"/>
                </a:lnTo>
                <a:lnTo>
                  <a:pt x="66" y="50"/>
                </a:lnTo>
                <a:lnTo>
                  <a:pt x="64" y="62"/>
                </a:lnTo>
                <a:lnTo>
                  <a:pt x="64" y="724"/>
                </a:lnTo>
                <a:lnTo>
                  <a:pt x="64" y="724"/>
                </a:lnTo>
                <a:lnTo>
                  <a:pt x="2" y="1124"/>
                </a:lnTo>
                <a:lnTo>
                  <a:pt x="2" y="1124"/>
                </a:lnTo>
                <a:lnTo>
                  <a:pt x="0" y="1136"/>
                </a:lnTo>
                <a:lnTo>
                  <a:pt x="2" y="1148"/>
                </a:lnTo>
                <a:lnTo>
                  <a:pt x="8" y="1158"/>
                </a:lnTo>
                <a:lnTo>
                  <a:pt x="14" y="1166"/>
                </a:lnTo>
                <a:lnTo>
                  <a:pt x="22" y="1174"/>
                </a:lnTo>
                <a:lnTo>
                  <a:pt x="34" y="1180"/>
                </a:lnTo>
                <a:lnTo>
                  <a:pt x="44" y="1184"/>
                </a:lnTo>
                <a:lnTo>
                  <a:pt x="58" y="1184"/>
                </a:lnTo>
                <a:lnTo>
                  <a:pt x="1060" y="1184"/>
                </a:lnTo>
                <a:lnTo>
                  <a:pt x="1060" y="1184"/>
                </a:lnTo>
                <a:lnTo>
                  <a:pt x="1074" y="1184"/>
                </a:lnTo>
                <a:lnTo>
                  <a:pt x="1086" y="1180"/>
                </a:lnTo>
                <a:lnTo>
                  <a:pt x="1096" y="1174"/>
                </a:lnTo>
                <a:lnTo>
                  <a:pt x="1104" y="1166"/>
                </a:lnTo>
                <a:lnTo>
                  <a:pt x="1110" y="1158"/>
                </a:lnTo>
                <a:lnTo>
                  <a:pt x="1114" y="1148"/>
                </a:lnTo>
                <a:lnTo>
                  <a:pt x="1116" y="1136"/>
                </a:lnTo>
                <a:lnTo>
                  <a:pt x="1116" y="1124"/>
                </a:lnTo>
                <a:lnTo>
                  <a:pt x="1116" y="1124"/>
                </a:lnTo>
                <a:close/>
                <a:moveTo>
                  <a:pt x="986" y="910"/>
                </a:moveTo>
                <a:lnTo>
                  <a:pt x="992" y="948"/>
                </a:lnTo>
                <a:lnTo>
                  <a:pt x="992" y="948"/>
                </a:lnTo>
                <a:lnTo>
                  <a:pt x="992" y="952"/>
                </a:lnTo>
                <a:lnTo>
                  <a:pt x="990" y="956"/>
                </a:lnTo>
                <a:lnTo>
                  <a:pt x="986" y="958"/>
                </a:lnTo>
                <a:lnTo>
                  <a:pt x="982" y="958"/>
                </a:lnTo>
                <a:lnTo>
                  <a:pt x="946" y="958"/>
                </a:lnTo>
                <a:lnTo>
                  <a:pt x="946" y="958"/>
                </a:lnTo>
                <a:lnTo>
                  <a:pt x="942" y="958"/>
                </a:lnTo>
                <a:lnTo>
                  <a:pt x="938" y="956"/>
                </a:lnTo>
                <a:lnTo>
                  <a:pt x="936" y="952"/>
                </a:lnTo>
                <a:lnTo>
                  <a:pt x="936" y="948"/>
                </a:lnTo>
                <a:lnTo>
                  <a:pt x="932" y="910"/>
                </a:lnTo>
                <a:lnTo>
                  <a:pt x="932" y="910"/>
                </a:lnTo>
                <a:lnTo>
                  <a:pt x="932" y="906"/>
                </a:lnTo>
                <a:lnTo>
                  <a:pt x="934" y="902"/>
                </a:lnTo>
                <a:lnTo>
                  <a:pt x="936" y="900"/>
                </a:lnTo>
                <a:lnTo>
                  <a:pt x="940" y="900"/>
                </a:lnTo>
                <a:lnTo>
                  <a:pt x="976" y="900"/>
                </a:lnTo>
                <a:lnTo>
                  <a:pt x="976" y="900"/>
                </a:lnTo>
                <a:lnTo>
                  <a:pt x="980" y="900"/>
                </a:lnTo>
                <a:lnTo>
                  <a:pt x="984" y="902"/>
                </a:lnTo>
                <a:lnTo>
                  <a:pt x="986" y="906"/>
                </a:lnTo>
                <a:lnTo>
                  <a:pt x="986" y="910"/>
                </a:lnTo>
                <a:lnTo>
                  <a:pt x="986" y="910"/>
                </a:lnTo>
                <a:close/>
                <a:moveTo>
                  <a:pt x="978" y="830"/>
                </a:moveTo>
                <a:lnTo>
                  <a:pt x="982" y="870"/>
                </a:lnTo>
                <a:lnTo>
                  <a:pt x="982" y="870"/>
                </a:lnTo>
                <a:lnTo>
                  <a:pt x="982" y="874"/>
                </a:lnTo>
                <a:lnTo>
                  <a:pt x="980" y="878"/>
                </a:lnTo>
                <a:lnTo>
                  <a:pt x="978" y="880"/>
                </a:lnTo>
                <a:lnTo>
                  <a:pt x="974" y="880"/>
                </a:lnTo>
                <a:lnTo>
                  <a:pt x="932" y="880"/>
                </a:lnTo>
                <a:lnTo>
                  <a:pt x="932" y="880"/>
                </a:lnTo>
                <a:lnTo>
                  <a:pt x="928" y="880"/>
                </a:lnTo>
                <a:lnTo>
                  <a:pt x="924" y="878"/>
                </a:lnTo>
                <a:lnTo>
                  <a:pt x="922" y="874"/>
                </a:lnTo>
                <a:lnTo>
                  <a:pt x="920" y="870"/>
                </a:lnTo>
                <a:lnTo>
                  <a:pt x="916" y="830"/>
                </a:lnTo>
                <a:lnTo>
                  <a:pt x="916" y="830"/>
                </a:lnTo>
                <a:lnTo>
                  <a:pt x="918" y="826"/>
                </a:lnTo>
                <a:lnTo>
                  <a:pt x="918" y="824"/>
                </a:lnTo>
                <a:lnTo>
                  <a:pt x="922" y="822"/>
                </a:lnTo>
                <a:lnTo>
                  <a:pt x="926" y="820"/>
                </a:lnTo>
                <a:lnTo>
                  <a:pt x="968" y="820"/>
                </a:lnTo>
                <a:lnTo>
                  <a:pt x="968" y="820"/>
                </a:lnTo>
                <a:lnTo>
                  <a:pt x="970" y="822"/>
                </a:lnTo>
                <a:lnTo>
                  <a:pt x="974" y="824"/>
                </a:lnTo>
                <a:lnTo>
                  <a:pt x="976" y="826"/>
                </a:lnTo>
                <a:lnTo>
                  <a:pt x="978" y="830"/>
                </a:lnTo>
                <a:lnTo>
                  <a:pt x="978" y="830"/>
                </a:lnTo>
                <a:close/>
                <a:moveTo>
                  <a:pt x="860" y="900"/>
                </a:moveTo>
                <a:lnTo>
                  <a:pt x="904" y="900"/>
                </a:lnTo>
                <a:lnTo>
                  <a:pt x="904" y="900"/>
                </a:lnTo>
                <a:lnTo>
                  <a:pt x="908" y="900"/>
                </a:lnTo>
                <a:lnTo>
                  <a:pt x="910" y="902"/>
                </a:lnTo>
                <a:lnTo>
                  <a:pt x="912" y="906"/>
                </a:lnTo>
                <a:lnTo>
                  <a:pt x="914" y="910"/>
                </a:lnTo>
                <a:lnTo>
                  <a:pt x="918" y="948"/>
                </a:lnTo>
                <a:lnTo>
                  <a:pt x="918" y="948"/>
                </a:lnTo>
                <a:lnTo>
                  <a:pt x="918" y="952"/>
                </a:lnTo>
                <a:lnTo>
                  <a:pt x="916" y="956"/>
                </a:lnTo>
                <a:lnTo>
                  <a:pt x="914" y="958"/>
                </a:lnTo>
                <a:lnTo>
                  <a:pt x="910" y="958"/>
                </a:lnTo>
                <a:lnTo>
                  <a:pt x="866" y="958"/>
                </a:lnTo>
                <a:lnTo>
                  <a:pt x="866" y="958"/>
                </a:lnTo>
                <a:lnTo>
                  <a:pt x="862" y="958"/>
                </a:lnTo>
                <a:lnTo>
                  <a:pt x="858" y="956"/>
                </a:lnTo>
                <a:lnTo>
                  <a:pt x="856" y="952"/>
                </a:lnTo>
                <a:lnTo>
                  <a:pt x="856" y="948"/>
                </a:lnTo>
                <a:lnTo>
                  <a:pt x="852" y="910"/>
                </a:lnTo>
                <a:lnTo>
                  <a:pt x="852" y="910"/>
                </a:lnTo>
                <a:lnTo>
                  <a:pt x="852" y="906"/>
                </a:lnTo>
                <a:lnTo>
                  <a:pt x="854" y="902"/>
                </a:lnTo>
                <a:lnTo>
                  <a:pt x="856" y="900"/>
                </a:lnTo>
                <a:lnTo>
                  <a:pt x="860" y="900"/>
                </a:lnTo>
                <a:lnTo>
                  <a:pt x="860" y="900"/>
                </a:lnTo>
                <a:close/>
                <a:moveTo>
                  <a:pt x="848" y="880"/>
                </a:moveTo>
                <a:lnTo>
                  <a:pt x="848" y="880"/>
                </a:lnTo>
                <a:lnTo>
                  <a:pt x="846" y="880"/>
                </a:lnTo>
                <a:lnTo>
                  <a:pt x="842" y="878"/>
                </a:lnTo>
                <a:lnTo>
                  <a:pt x="840" y="874"/>
                </a:lnTo>
                <a:lnTo>
                  <a:pt x="838" y="870"/>
                </a:lnTo>
                <a:lnTo>
                  <a:pt x="836" y="830"/>
                </a:lnTo>
                <a:lnTo>
                  <a:pt x="836" y="830"/>
                </a:lnTo>
                <a:lnTo>
                  <a:pt x="836" y="826"/>
                </a:lnTo>
                <a:lnTo>
                  <a:pt x="838" y="824"/>
                </a:lnTo>
                <a:lnTo>
                  <a:pt x="840" y="822"/>
                </a:lnTo>
                <a:lnTo>
                  <a:pt x="844" y="820"/>
                </a:lnTo>
                <a:lnTo>
                  <a:pt x="886" y="820"/>
                </a:lnTo>
                <a:lnTo>
                  <a:pt x="886" y="820"/>
                </a:lnTo>
                <a:lnTo>
                  <a:pt x="890" y="822"/>
                </a:lnTo>
                <a:lnTo>
                  <a:pt x="892" y="824"/>
                </a:lnTo>
                <a:lnTo>
                  <a:pt x="896" y="826"/>
                </a:lnTo>
                <a:lnTo>
                  <a:pt x="896" y="830"/>
                </a:lnTo>
                <a:lnTo>
                  <a:pt x="900" y="870"/>
                </a:lnTo>
                <a:lnTo>
                  <a:pt x="900" y="870"/>
                </a:lnTo>
                <a:lnTo>
                  <a:pt x="900" y="874"/>
                </a:lnTo>
                <a:lnTo>
                  <a:pt x="898" y="878"/>
                </a:lnTo>
                <a:lnTo>
                  <a:pt x="896" y="880"/>
                </a:lnTo>
                <a:lnTo>
                  <a:pt x="892" y="880"/>
                </a:lnTo>
                <a:lnTo>
                  <a:pt x="848" y="880"/>
                </a:lnTo>
                <a:close/>
                <a:moveTo>
                  <a:pt x="148" y="80"/>
                </a:moveTo>
                <a:lnTo>
                  <a:pt x="148" y="80"/>
                </a:lnTo>
                <a:lnTo>
                  <a:pt x="150" y="76"/>
                </a:lnTo>
                <a:lnTo>
                  <a:pt x="156" y="72"/>
                </a:lnTo>
                <a:lnTo>
                  <a:pt x="950" y="72"/>
                </a:lnTo>
                <a:lnTo>
                  <a:pt x="950" y="72"/>
                </a:lnTo>
                <a:lnTo>
                  <a:pt x="956" y="76"/>
                </a:lnTo>
                <a:lnTo>
                  <a:pt x="958" y="80"/>
                </a:lnTo>
                <a:lnTo>
                  <a:pt x="958" y="644"/>
                </a:lnTo>
                <a:lnTo>
                  <a:pt x="958" y="644"/>
                </a:lnTo>
                <a:lnTo>
                  <a:pt x="956" y="650"/>
                </a:lnTo>
                <a:lnTo>
                  <a:pt x="950" y="652"/>
                </a:lnTo>
                <a:lnTo>
                  <a:pt x="156" y="652"/>
                </a:lnTo>
                <a:lnTo>
                  <a:pt x="156" y="652"/>
                </a:lnTo>
                <a:lnTo>
                  <a:pt x="150" y="650"/>
                </a:lnTo>
                <a:lnTo>
                  <a:pt x="148" y="644"/>
                </a:lnTo>
                <a:lnTo>
                  <a:pt x="148" y="80"/>
                </a:lnTo>
                <a:close/>
                <a:moveTo>
                  <a:pt x="820" y="870"/>
                </a:moveTo>
                <a:lnTo>
                  <a:pt x="820" y="870"/>
                </a:lnTo>
                <a:lnTo>
                  <a:pt x="820" y="874"/>
                </a:lnTo>
                <a:lnTo>
                  <a:pt x="818" y="878"/>
                </a:lnTo>
                <a:lnTo>
                  <a:pt x="816" y="880"/>
                </a:lnTo>
                <a:lnTo>
                  <a:pt x="812" y="880"/>
                </a:lnTo>
                <a:lnTo>
                  <a:pt x="770" y="880"/>
                </a:lnTo>
                <a:lnTo>
                  <a:pt x="770" y="880"/>
                </a:lnTo>
                <a:lnTo>
                  <a:pt x="766" y="880"/>
                </a:lnTo>
                <a:lnTo>
                  <a:pt x="762" y="878"/>
                </a:lnTo>
                <a:lnTo>
                  <a:pt x="760" y="874"/>
                </a:lnTo>
                <a:lnTo>
                  <a:pt x="760" y="870"/>
                </a:lnTo>
                <a:lnTo>
                  <a:pt x="758" y="830"/>
                </a:lnTo>
                <a:lnTo>
                  <a:pt x="758" y="830"/>
                </a:lnTo>
                <a:lnTo>
                  <a:pt x="758" y="826"/>
                </a:lnTo>
                <a:lnTo>
                  <a:pt x="760" y="824"/>
                </a:lnTo>
                <a:lnTo>
                  <a:pt x="762" y="822"/>
                </a:lnTo>
                <a:lnTo>
                  <a:pt x="766" y="820"/>
                </a:lnTo>
                <a:lnTo>
                  <a:pt x="808" y="820"/>
                </a:lnTo>
                <a:lnTo>
                  <a:pt x="808" y="820"/>
                </a:lnTo>
                <a:lnTo>
                  <a:pt x="812" y="822"/>
                </a:lnTo>
                <a:lnTo>
                  <a:pt x="814" y="824"/>
                </a:lnTo>
                <a:lnTo>
                  <a:pt x="818" y="826"/>
                </a:lnTo>
                <a:lnTo>
                  <a:pt x="818" y="830"/>
                </a:lnTo>
                <a:lnTo>
                  <a:pt x="820" y="870"/>
                </a:lnTo>
                <a:close/>
                <a:moveTo>
                  <a:pt x="702" y="900"/>
                </a:moveTo>
                <a:lnTo>
                  <a:pt x="744" y="900"/>
                </a:lnTo>
                <a:lnTo>
                  <a:pt x="744" y="900"/>
                </a:lnTo>
                <a:lnTo>
                  <a:pt x="748" y="900"/>
                </a:lnTo>
                <a:lnTo>
                  <a:pt x="750" y="902"/>
                </a:lnTo>
                <a:lnTo>
                  <a:pt x="754" y="906"/>
                </a:lnTo>
                <a:lnTo>
                  <a:pt x="754" y="910"/>
                </a:lnTo>
                <a:lnTo>
                  <a:pt x="756" y="948"/>
                </a:lnTo>
                <a:lnTo>
                  <a:pt x="756" y="948"/>
                </a:lnTo>
                <a:lnTo>
                  <a:pt x="756" y="952"/>
                </a:lnTo>
                <a:lnTo>
                  <a:pt x="754" y="956"/>
                </a:lnTo>
                <a:lnTo>
                  <a:pt x="750" y="958"/>
                </a:lnTo>
                <a:lnTo>
                  <a:pt x="748" y="958"/>
                </a:lnTo>
                <a:lnTo>
                  <a:pt x="704" y="958"/>
                </a:lnTo>
                <a:lnTo>
                  <a:pt x="704" y="958"/>
                </a:lnTo>
                <a:lnTo>
                  <a:pt x="700" y="958"/>
                </a:lnTo>
                <a:lnTo>
                  <a:pt x="696" y="956"/>
                </a:lnTo>
                <a:lnTo>
                  <a:pt x="694" y="952"/>
                </a:lnTo>
                <a:lnTo>
                  <a:pt x="694" y="948"/>
                </a:lnTo>
                <a:lnTo>
                  <a:pt x="692" y="910"/>
                </a:lnTo>
                <a:lnTo>
                  <a:pt x="692" y="910"/>
                </a:lnTo>
                <a:lnTo>
                  <a:pt x="692" y="906"/>
                </a:lnTo>
                <a:lnTo>
                  <a:pt x="694" y="902"/>
                </a:lnTo>
                <a:lnTo>
                  <a:pt x="698" y="900"/>
                </a:lnTo>
                <a:lnTo>
                  <a:pt x="702" y="900"/>
                </a:lnTo>
                <a:lnTo>
                  <a:pt x="702" y="900"/>
                </a:lnTo>
                <a:close/>
                <a:moveTo>
                  <a:pt x="690" y="880"/>
                </a:moveTo>
                <a:lnTo>
                  <a:pt x="690" y="880"/>
                </a:lnTo>
                <a:lnTo>
                  <a:pt x="686" y="880"/>
                </a:lnTo>
                <a:lnTo>
                  <a:pt x="684" y="878"/>
                </a:lnTo>
                <a:lnTo>
                  <a:pt x="682" y="874"/>
                </a:lnTo>
                <a:lnTo>
                  <a:pt x="680" y="870"/>
                </a:lnTo>
                <a:lnTo>
                  <a:pt x="678" y="830"/>
                </a:lnTo>
                <a:lnTo>
                  <a:pt x="678" y="830"/>
                </a:lnTo>
                <a:lnTo>
                  <a:pt x="680" y="826"/>
                </a:lnTo>
                <a:lnTo>
                  <a:pt x="682" y="824"/>
                </a:lnTo>
                <a:lnTo>
                  <a:pt x="684" y="822"/>
                </a:lnTo>
                <a:lnTo>
                  <a:pt x="688" y="820"/>
                </a:lnTo>
                <a:lnTo>
                  <a:pt x="730" y="820"/>
                </a:lnTo>
                <a:lnTo>
                  <a:pt x="730" y="820"/>
                </a:lnTo>
                <a:lnTo>
                  <a:pt x="734" y="822"/>
                </a:lnTo>
                <a:lnTo>
                  <a:pt x="736" y="824"/>
                </a:lnTo>
                <a:lnTo>
                  <a:pt x="738" y="826"/>
                </a:lnTo>
                <a:lnTo>
                  <a:pt x="740" y="830"/>
                </a:lnTo>
                <a:lnTo>
                  <a:pt x="742" y="870"/>
                </a:lnTo>
                <a:lnTo>
                  <a:pt x="742" y="870"/>
                </a:lnTo>
                <a:lnTo>
                  <a:pt x="742" y="874"/>
                </a:lnTo>
                <a:lnTo>
                  <a:pt x="740" y="878"/>
                </a:lnTo>
                <a:lnTo>
                  <a:pt x="736" y="880"/>
                </a:lnTo>
                <a:lnTo>
                  <a:pt x="732" y="880"/>
                </a:lnTo>
                <a:lnTo>
                  <a:pt x="690" y="880"/>
                </a:lnTo>
                <a:close/>
                <a:moveTo>
                  <a:pt x="622" y="900"/>
                </a:moveTo>
                <a:lnTo>
                  <a:pt x="664" y="900"/>
                </a:lnTo>
                <a:lnTo>
                  <a:pt x="664" y="900"/>
                </a:lnTo>
                <a:lnTo>
                  <a:pt x="668" y="900"/>
                </a:lnTo>
                <a:lnTo>
                  <a:pt x="672" y="902"/>
                </a:lnTo>
                <a:lnTo>
                  <a:pt x="674" y="906"/>
                </a:lnTo>
                <a:lnTo>
                  <a:pt x="674" y="910"/>
                </a:lnTo>
                <a:lnTo>
                  <a:pt x="676" y="948"/>
                </a:lnTo>
                <a:lnTo>
                  <a:pt x="676" y="948"/>
                </a:lnTo>
                <a:lnTo>
                  <a:pt x="674" y="952"/>
                </a:lnTo>
                <a:lnTo>
                  <a:pt x="672" y="956"/>
                </a:lnTo>
                <a:lnTo>
                  <a:pt x="670" y="958"/>
                </a:lnTo>
                <a:lnTo>
                  <a:pt x="666" y="958"/>
                </a:lnTo>
                <a:lnTo>
                  <a:pt x="622" y="958"/>
                </a:lnTo>
                <a:lnTo>
                  <a:pt x="622" y="958"/>
                </a:lnTo>
                <a:lnTo>
                  <a:pt x="618" y="958"/>
                </a:lnTo>
                <a:lnTo>
                  <a:pt x="616" y="956"/>
                </a:lnTo>
                <a:lnTo>
                  <a:pt x="614" y="952"/>
                </a:lnTo>
                <a:lnTo>
                  <a:pt x="612" y="948"/>
                </a:lnTo>
                <a:lnTo>
                  <a:pt x="612" y="910"/>
                </a:lnTo>
                <a:lnTo>
                  <a:pt x="612" y="910"/>
                </a:lnTo>
                <a:lnTo>
                  <a:pt x="612" y="906"/>
                </a:lnTo>
                <a:lnTo>
                  <a:pt x="614" y="902"/>
                </a:lnTo>
                <a:lnTo>
                  <a:pt x="618" y="900"/>
                </a:lnTo>
                <a:lnTo>
                  <a:pt x="622" y="900"/>
                </a:lnTo>
                <a:lnTo>
                  <a:pt x="622" y="900"/>
                </a:lnTo>
                <a:close/>
                <a:moveTo>
                  <a:pt x="610" y="880"/>
                </a:moveTo>
                <a:lnTo>
                  <a:pt x="610" y="880"/>
                </a:lnTo>
                <a:lnTo>
                  <a:pt x="608" y="880"/>
                </a:lnTo>
                <a:lnTo>
                  <a:pt x="604" y="878"/>
                </a:lnTo>
                <a:lnTo>
                  <a:pt x="602" y="874"/>
                </a:lnTo>
                <a:lnTo>
                  <a:pt x="602" y="870"/>
                </a:lnTo>
                <a:lnTo>
                  <a:pt x="600" y="830"/>
                </a:lnTo>
                <a:lnTo>
                  <a:pt x="600" y="830"/>
                </a:lnTo>
                <a:lnTo>
                  <a:pt x="602" y="826"/>
                </a:lnTo>
                <a:lnTo>
                  <a:pt x="604" y="824"/>
                </a:lnTo>
                <a:lnTo>
                  <a:pt x="606" y="822"/>
                </a:lnTo>
                <a:lnTo>
                  <a:pt x="610" y="820"/>
                </a:lnTo>
                <a:lnTo>
                  <a:pt x="652" y="820"/>
                </a:lnTo>
                <a:lnTo>
                  <a:pt x="652" y="820"/>
                </a:lnTo>
                <a:lnTo>
                  <a:pt x="656" y="822"/>
                </a:lnTo>
                <a:lnTo>
                  <a:pt x="658" y="824"/>
                </a:lnTo>
                <a:lnTo>
                  <a:pt x="660" y="826"/>
                </a:lnTo>
                <a:lnTo>
                  <a:pt x="662" y="830"/>
                </a:lnTo>
                <a:lnTo>
                  <a:pt x="662" y="870"/>
                </a:lnTo>
                <a:lnTo>
                  <a:pt x="662" y="870"/>
                </a:lnTo>
                <a:lnTo>
                  <a:pt x="662" y="874"/>
                </a:lnTo>
                <a:lnTo>
                  <a:pt x="660" y="878"/>
                </a:lnTo>
                <a:lnTo>
                  <a:pt x="658" y="880"/>
                </a:lnTo>
                <a:lnTo>
                  <a:pt x="654" y="880"/>
                </a:lnTo>
                <a:lnTo>
                  <a:pt x="610" y="880"/>
                </a:lnTo>
                <a:close/>
                <a:moveTo>
                  <a:pt x="532" y="910"/>
                </a:moveTo>
                <a:lnTo>
                  <a:pt x="532" y="910"/>
                </a:lnTo>
                <a:lnTo>
                  <a:pt x="532" y="906"/>
                </a:lnTo>
                <a:lnTo>
                  <a:pt x="534" y="902"/>
                </a:lnTo>
                <a:lnTo>
                  <a:pt x="538" y="900"/>
                </a:lnTo>
                <a:lnTo>
                  <a:pt x="542" y="900"/>
                </a:lnTo>
                <a:lnTo>
                  <a:pt x="584" y="900"/>
                </a:lnTo>
                <a:lnTo>
                  <a:pt x="584" y="900"/>
                </a:lnTo>
                <a:lnTo>
                  <a:pt x="588" y="900"/>
                </a:lnTo>
                <a:lnTo>
                  <a:pt x="592" y="902"/>
                </a:lnTo>
                <a:lnTo>
                  <a:pt x="594" y="906"/>
                </a:lnTo>
                <a:lnTo>
                  <a:pt x="594" y="910"/>
                </a:lnTo>
                <a:lnTo>
                  <a:pt x="594" y="948"/>
                </a:lnTo>
                <a:lnTo>
                  <a:pt x="594" y="948"/>
                </a:lnTo>
                <a:lnTo>
                  <a:pt x="594" y="952"/>
                </a:lnTo>
                <a:lnTo>
                  <a:pt x="592" y="956"/>
                </a:lnTo>
                <a:lnTo>
                  <a:pt x="588" y="958"/>
                </a:lnTo>
                <a:lnTo>
                  <a:pt x="584" y="958"/>
                </a:lnTo>
                <a:lnTo>
                  <a:pt x="542" y="958"/>
                </a:lnTo>
                <a:lnTo>
                  <a:pt x="542" y="958"/>
                </a:lnTo>
                <a:lnTo>
                  <a:pt x="538" y="958"/>
                </a:lnTo>
                <a:lnTo>
                  <a:pt x="534" y="956"/>
                </a:lnTo>
                <a:lnTo>
                  <a:pt x="532" y="952"/>
                </a:lnTo>
                <a:lnTo>
                  <a:pt x="532" y="948"/>
                </a:lnTo>
                <a:lnTo>
                  <a:pt x="532" y="910"/>
                </a:lnTo>
                <a:close/>
                <a:moveTo>
                  <a:pt x="532" y="880"/>
                </a:moveTo>
                <a:lnTo>
                  <a:pt x="532" y="880"/>
                </a:lnTo>
                <a:lnTo>
                  <a:pt x="528" y="880"/>
                </a:lnTo>
                <a:lnTo>
                  <a:pt x="524" y="878"/>
                </a:lnTo>
                <a:lnTo>
                  <a:pt x="522" y="874"/>
                </a:lnTo>
                <a:lnTo>
                  <a:pt x="522" y="870"/>
                </a:lnTo>
                <a:lnTo>
                  <a:pt x="522" y="830"/>
                </a:lnTo>
                <a:lnTo>
                  <a:pt x="522" y="830"/>
                </a:lnTo>
                <a:lnTo>
                  <a:pt x="524" y="826"/>
                </a:lnTo>
                <a:lnTo>
                  <a:pt x="526" y="824"/>
                </a:lnTo>
                <a:lnTo>
                  <a:pt x="528" y="822"/>
                </a:lnTo>
                <a:lnTo>
                  <a:pt x="532" y="820"/>
                </a:lnTo>
                <a:lnTo>
                  <a:pt x="574" y="820"/>
                </a:lnTo>
                <a:lnTo>
                  <a:pt x="574" y="820"/>
                </a:lnTo>
                <a:lnTo>
                  <a:pt x="578" y="822"/>
                </a:lnTo>
                <a:lnTo>
                  <a:pt x="580" y="824"/>
                </a:lnTo>
                <a:lnTo>
                  <a:pt x="582" y="826"/>
                </a:lnTo>
                <a:lnTo>
                  <a:pt x="584" y="830"/>
                </a:lnTo>
                <a:lnTo>
                  <a:pt x="584" y="870"/>
                </a:lnTo>
                <a:lnTo>
                  <a:pt x="584" y="870"/>
                </a:lnTo>
                <a:lnTo>
                  <a:pt x="582" y="874"/>
                </a:lnTo>
                <a:lnTo>
                  <a:pt x="580" y="878"/>
                </a:lnTo>
                <a:lnTo>
                  <a:pt x="578" y="880"/>
                </a:lnTo>
                <a:lnTo>
                  <a:pt x="574" y="880"/>
                </a:lnTo>
                <a:lnTo>
                  <a:pt x="532" y="880"/>
                </a:lnTo>
                <a:close/>
                <a:moveTo>
                  <a:pt x="452" y="910"/>
                </a:moveTo>
                <a:lnTo>
                  <a:pt x="452" y="910"/>
                </a:lnTo>
                <a:lnTo>
                  <a:pt x="452" y="906"/>
                </a:lnTo>
                <a:lnTo>
                  <a:pt x="454" y="902"/>
                </a:lnTo>
                <a:lnTo>
                  <a:pt x="458" y="900"/>
                </a:lnTo>
                <a:lnTo>
                  <a:pt x="462" y="900"/>
                </a:lnTo>
                <a:lnTo>
                  <a:pt x="504" y="900"/>
                </a:lnTo>
                <a:lnTo>
                  <a:pt x="504" y="900"/>
                </a:lnTo>
                <a:lnTo>
                  <a:pt x="508" y="900"/>
                </a:lnTo>
                <a:lnTo>
                  <a:pt x="512" y="902"/>
                </a:lnTo>
                <a:lnTo>
                  <a:pt x="514" y="906"/>
                </a:lnTo>
                <a:lnTo>
                  <a:pt x="514" y="910"/>
                </a:lnTo>
                <a:lnTo>
                  <a:pt x="514" y="948"/>
                </a:lnTo>
                <a:lnTo>
                  <a:pt x="514" y="948"/>
                </a:lnTo>
                <a:lnTo>
                  <a:pt x="512" y="952"/>
                </a:lnTo>
                <a:lnTo>
                  <a:pt x="510" y="956"/>
                </a:lnTo>
                <a:lnTo>
                  <a:pt x="508" y="958"/>
                </a:lnTo>
                <a:lnTo>
                  <a:pt x="504" y="958"/>
                </a:lnTo>
                <a:lnTo>
                  <a:pt x="460" y="958"/>
                </a:lnTo>
                <a:lnTo>
                  <a:pt x="460" y="958"/>
                </a:lnTo>
                <a:lnTo>
                  <a:pt x="456" y="958"/>
                </a:lnTo>
                <a:lnTo>
                  <a:pt x="454" y="956"/>
                </a:lnTo>
                <a:lnTo>
                  <a:pt x="452" y="952"/>
                </a:lnTo>
                <a:lnTo>
                  <a:pt x="450" y="948"/>
                </a:lnTo>
                <a:lnTo>
                  <a:pt x="452" y="910"/>
                </a:lnTo>
                <a:close/>
                <a:moveTo>
                  <a:pt x="442" y="870"/>
                </a:moveTo>
                <a:lnTo>
                  <a:pt x="444" y="830"/>
                </a:lnTo>
                <a:lnTo>
                  <a:pt x="444" y="830"/>
                </a:lnTo>
                <a:lnTo>
                  <a:pt x="444" y="826"/>
                </a:lnTo>
                <a:lnTo>
                  <a:pt x="446" y="824"/>
                </a:lnTo>
                <a:lnTo>
                  <a:pt x="450" y="822"/>
                </a:lnTo>
                <a:lnTo>
                  <a:pt x="454" y="820"/>
                </a:lnTo>
                <a:lnTo>
                  <a:pt x="496" y="820"/>
                </a:lnTo>
                <a:lnTo>
                  <a:pt x="496" y="820"/>
                </a:lnTo>
                <a:lnTo>
                  <a:pt x="500" y="822"/>
                </a:lnTo>
                <a:lnTo>
                  <a:pt x="502" y="824"/>
                </a:lnTo>
                <a:lnTo>
                  <a:pt x="504" y="826"/>
                </a:lnTo>
                <a:lnTo>
                  <a:pt x="504" y="830"/>
                </a:lnTo>
                <a:lnTo>
                  <a:pt x="504" y="870"/>
                </a:lnTo>
                <a:lnTo>
                  <a:pt x="504" y="870"/>
                </a:lnTo>
                <a:lnTo>
                  <a:pt x="504" y="874"/>
                </a:lnTo>
                <a:lnTo>
                  <a:pt x="502" y="878"/>
                </a:lnTo>
                <a:lnTo>
                  <a:pt x="498" y="880"/>
                </a:lnTo>
                <a:lnTo>
                  <a:pt x="494" y="880"/>
                </a:lnTo>
                <a:lnTo>
                  <a:pt x="452" y="880"/>
                </a:lnTo>
                <a:lnTo>
                  <a:pt x="452" y="880"/>
                </a:lnTo>
                <a:lnTo>
                  <a:pt x="448" y="880"/>
                </a:lnTo>
                <a:lnTo>
                  <a:pt x="446" y="878"/>
                </a:lnTo>
                <a:lnTo>
                  <a:pt x="444" y="874"/>
                </a:lnTo>
                <a:lnTo>
                  <a:pt x="442" y="870"/>
                </a:lnTo>
                <a:lnTo>
                  <a:pt x="442" y="870"/>
                </a:lnTo>
                <a:close/>
                <a:moveTo>
                  <a:pt x="372" y="910"/>
                </a:moveTo>
                <a:lnTo>
                  <a:pt x="372" y="910"/>
                </a:lnTo>
                <a:lnTo>
                  <a:pt x="372" y="906"/>
                </a:lnTo>
                <a:lnTo>
                  <a:pt x="376" y="902"/>
                </a:lnTo>
                <a:lnTo>
                  <a:pt x="378" y="900"/>
                </a:lnTo>
                <a:lnTo>
                  <a:pt x="382" y="900"/>
                </a:lnTo>
                <a:lnTo>
                  <a:pt x="424" y="900"/>
                </a:lnTo>
                <a:lnTo>
                  <a:pt x="424" y="900"/>
                </a:lnTo>
                <a:lnTo>
                  <a:pt x="428" y="900"/>
                </a:lnTo>
                <a:lnTo>
                  <a:pt x="432" y="902"/>
                </a:lnTo>
                <a:lnTo>
                  <a:pt x="434" y="906"/>
                </a:lnTo>
                <a:lnTo>
                  <a:pt x="434" y="910"/>
                </a:lnTo>
                <a:lnTo>
                  <a:pt x="432" y="948"/>
                </a:lnTo>
                <a:lnTo>
                  <a:pt x="432" y="948"/>
                </a:lnTo>
                <a:lnTo>
                  <a:pt x="432" y="952"/>
                </a:lnTo>
                <a:lnTo>
                  <a:pt x="430" y="956"/>
                </a:lnTo>
                <a:lnTo>
                  <a:pt x="426" y="958"/>
                </a:lnTo>
                <a:lnTo>
                  <a:pt x="422" y="958"/>
                </a:lnTo>
                <a:lnTo>
                  <a:pt x="380" y="958"/>
                </a:lnTo>
                <a:lnTo>
                  <a:pt x="380" y="958"/>
                </a:lnTo>
                <a:lnTo>
                  <a:pt x="376" y="958"/>
                </a:lnTo>
                <a:lnTo>
                  <a:pt x="372" y="956"/>
                </a:lnTo>
                <a:lnTo>
                  <a:pt x="370" y="952"/>
                </a:lnTo>
                <a:lnTo>
                  <a:pt x="370" y="948"/>
                </a:lnTo>
                <a:lnTo>
                  <a:pt x="372" y="910"/>
                </a:lnTo>
                <a:close/>
                <a:moveTo>
                  <a:pt x="364" y="870"/>
                </a:moveTo>
                <a:lnTo>
                  <a:pt x="366" y="830"/>
                </a:lnTo>
                <a:lnTo>
                  <a:pt x="366" y="830"/>
                </a:lnTo>
                <a:lnTo>
                  <a:pt x="366" y="826"/>
                </a:lnTo>
                <a:lnTo>
                  <a:pt x="368" y="824"/>
                </a:lnTo>
                <a:lnTo>
                  <a:pt x="372" y="822"/>
                </a:lnTo>
                <a:lnTo>
                  <a:pt x="376" y="820"/>
                </a:lnTo>
                <a:lnTo>
                  <a:pt x="418" y="820"/>
                </a:lnTo>
                <a:lnTo>
                  <a:pt x="418" y="820"/>
                </a:lnTo>
                <a:lnTo>
                  <a:pt x="422" y="822"/>
                </a:lnTo>
                <a:lnTo>
                  <a:pt x="424" y="824"/>
                </a:lnTo>
                <a:lnTo>
                  <a:pt x="426" y="826"/>
                </a:lnTo>
                <a:lnTo>
                  <a:pt x="426" y="830"/>
                </a:lnTo>
                <a:lnTo>
                  <a:pt x="426" y="870"/>
                </a:lnTo>
                <a:lnTo>
                  <a:pt x="426" y="870"/>
                </a:lnTo>
                <a:lnTo>
                  <a:pt x="424" y="874"/>
                </a:lnTo>
                <a:lnTo>
                  <a:pt x="422" y="878"/>
                </a:lnTo>
                <a:lnTo>
                  <a:pt x="420" y="880"/>
                </a:lnTo>
                <a:lnTo>
                  <a:pt x="416" y="880"/>
                </a:lnTo>
                <a:lnTo>
                  <a:pt x="372" y="880"/>
                </a:lnTo>
                <a:lnTo>
                  <a:pt x="372" y="880"/>
                </a:lnTo>
                <a:lnTo>
                  <a:pt x="368" y="880"/>
                </a:lnTo>
                <a:lnTo>
                  <a:pt x="366" y="878"/>
                </a:lnTo>
                <a:lnTo>
                  <a:pt x="364" y="874"/>
                </a:lnTo>
                <a:lnTo>
                  <a:pt x="364" y="870"/>
                </a:lnTo>
                <a:lnTo>
                  <a:pt x="364" y="870"/>
                </a:lnTo>
                <a:close/>
                <a:moveTo>
                  <a:pt x="292" y="910"/>
                </a:moveTo>
                <a:lnTo>
                  <a:pt x="292" y="910"/>
                </a:lnTo>
                <a:lnTo>
                  <a:pt x="292" y="906"/>
                </a:lnTo>
                <a:lnTo>
                  <a:pt x="296" y="902"/>
                </a:lnTo>
                <a:lnTo>
                  <a:pt x="298" y="900"/>
                </a:lnTo>
                <a:lnTo>
                  <a:pt x="302" y="900"/>
                </a:lnTo>
                <a:lnTo>
                  <a:pt x="346" y="900"/>
                </a:lnTo>
                <a:lnTo>
                  <a:pt x="346" y="900"/>
                </a:lnTo>
                <a:lnTo>
                  <a:pt x="348" y="900"/>
                </a:lnTo>
                <a:lnTo>
                  <a:pt x="352" y="902"/>
                </a:lnTo>
                <a:lnTo>
                  <a:pt x="354" y="906"/>
                </a:lnTo>
                <a:lnTo>
                  <a:pt x="354" y="910"/>
                </a:lnTo>
                <a:lnTo>
                  <a:pt x="352" y="948"/>
                </a:lnTo>
                <a:lnTo>
                  <a:pt x="352" y="948"/>
                </a:lnTo>
                <a:lnTo>
                  <a:pt x="352" y="952"/>
                </a:lnTo>
                <a:lnTo>
                  <a:pt x="348" y="956"/>
                </a:lnTo>
                <a:lnTo>
                  <a:pt x="346" y="958"/>
                </a:lnTo>
                <a:lnTo>
                  <a:pt x="342" y="958"/>
                </a:lnTo>
                <a:lnTo>
                  <a:pt x="298" y="958"/>
                </a:lnTo>
                <a:lnTo>
                  <a:pt x="298" y="958"/>
                </a:lnTo>
                <a:lnTo>
                  <a:pt x="294" y="958"/>
                </a:lnTo>
                <a:lnTo>
                  <a:pt x="292" y="956"/>
                </a:lnTo>
                <a:lnTo>
                  <a:pt x="290" y="952"/>
                </a:lnTo>
                <a:lnTo>
                  <a:pt x="290" y="948"/>
                </a:lnTo>
                <a:lnTo>
                  <a:pt x="292" y="910"/>
                </a:lnTo>
                <a:close/>
                <a:moveTo>
                  <a:pt x="284" y="870"/>
                </a:moveTo>
                <a:lnTo>
                  <a:pt x="288" y="830"/>
                </a:lnTo>
                <a:lnTo>
                  <a:pt x="288" y="830"/>
                </a:lnTo>
                <a:lnTo>
                  <a:pt x="288" y="826"/>
                </a:lnTo>
                <a:lnTo>
                  <a:pt x="290" y="824"/>
                </a:lnTo>
                <a:lnTo>
                  <a:pt x="294" y="822"/>
                </a:lnTo>
                <a:lnTo>
                  <a:pt x="298" y="820"/>
                </a:lnTo>
                <a:lnTo>
                  <a:pt x="340" y="820"/>
                </a:lnTo>
                <a:lnTo>
                  <a:pt x="340" y="820"/>
                </a:lnTo>
                <a:lnTo>
                  <a:pt x="344" y="822"/>
                </a:lnTo>
                <a:lnTo>
                  <a:pt x="346" y="824"/>
                </a:lnTo>
                <a:lnTo>
                  <a:pt x="348" y="826"/>
                </a:lnTo>
                <a:lnTo>
                  <a:pt x="348" y="830"/>
                </a:lnTo>
                <a:lnTo>
                  <a:pt x="346" y="870"/>
                </a:lnTo>
                <a:lnTo>
                  <a:pt x="346" y="870"/>
                </a:lnTo>
                <a:lnTo>
                  <a:pt x="346" y="874"/>
                </a:lnTo>
                <a:lnTo>
                  <a:pt x="342" y="878"/>
                </a:lnTo>
                <a:lnTo>
                  <a:pt x="340" y="880"/>
                </a:lnTo>
                <a:lnTo>
                  <a:pt x="336" y="880"/>
                </a:lnTo>
                <a:lnTo>
                  <a:pt x="294" y="880"/>
                </a:lnTo>
                <a:lnTo>
                  <a:pt x="294" y="880"/>
                </a:lnTo>
                <a:lnTo>
                  <a:pt x="290" y="880"/>
                </a:lnTo>
                <a:lnTo>
                  <a:pt x="286" y="878"/>
                </a:lnTo>
                <a:lnTo>
                  <a:pt x="284" y="874"/>
                </a:lnTo>
                <a:lnTo>
                  <a:pt x="284" y="870"/>
                </a:lnTo>
                <a:lnTo>
                  <a:pt x="284" y="870"/>
                </a:lnTo>
                <a:close/>
                <a:moveTo>
                  <a:pt x="270" y="830"/>
                </a:moveTo>
                <a:lnTo>
                  <a:pt x="266" y="870"/>
                </a:lnTo>
                <a:lnTo>
                  <a:pt x="266" y="870"/>
                </a:lnTo>
                <a:lnTo>
                  <a:pt x="266" y="874"/>
                </a:lnTo>
                <a:lnTo>
                  <a:pt x="264" y="878"/>
                </a:lnTo>
                <a:lnTo>
                  <a:pt x="260" y="880"/>
                </a:lnTo>
                <a:lnTo>
                  <a:pt x="256" y="880"/>
                </a:lnTo>
                <a:lnTo>
                  <a:pt x="214" y="880"/>
                </a:lnTo>
                <a:lnTo>
                  <a:pt x="214" y="880"/>
                </a:lnTo>
                <a:lnTo>
                  <a:pt x="210" y="880"/>
                </a:lnTo>
                <a:lnTo>
                  <a:pt x="208" y="878"/>
                </a:lnTo>
                <a:lnTo>
                  <a:pt x="206" y="874"/>
                </a:lnTo>
                <a:lnTo>
                  <a:pt x="206" y="870"/>
                </a:lnTo>
                <a:lnTo>
                  <a:pt x="210" y="830"/>
                </a:lnTo>
                <a:lnTo>
                  <a:pt x="210" y="830"/>
                </a:lnTo>
                <a:lnTo>
                  <a:pt x="210" y="826"/>
                </a:lnTo>
                <a:lnTo>
                  <a:pt x="212" y="824"/>
                </a:lnTo>
                <a:lnTo>
                  <a:pt x="216" y="822"/>
                </a:lnTo>
                <a:lnTo>
                  <a:pt x="220" y="820"/>
                </a:lnTo>
                <a:lnTo>
                  <a:pt x="262" y="820"/>
                </a:lnTo>
                <a:lnTo>
                  <a:pt x="262" y="820"/>
                </a:lnTo>
                <a:lnTo>
                  <a:pt x="266" y="822"/>
                </a:lnTo>
                <a:lnTo>
                  <a:pt x="268" y="824"/>
                </a:lnTo>
                <a:lnTo>
                  <a:pt x="270" y="826"/>
                </a:lnTo>
                <a:lnTo>
                  <a:pt x="270" y="830"/>
                </a:lnTo>
                <a:lnTo>
                  <a:pt x="270" y="830"/>
                </a:lnTo>
                <a:close/>
                <a:moveTo>
                  <a:pt x="132" y="830"/>
                </a:moveTo>
                <a:lnTo>
                  <a:pt x="132" y="830"/>
                </a:lnTo>
                <a:lnTo>
                  <a:pt x="132" y="826"/>
                </a:lnTo>
                <a:lnTo>
                  <a:pt x="136" y="824"/>
                </a:lnTo>
                <a:lnTo>
                  <a:pt x="138" y="822"/>
                </a:lnTo>
                <a:lnTo>
                  <a:pt x="142" y="820"/>
                </a:lnTo>
                <a:lnTo>
                  <a:pt x="184" y="820"/>
                </a:lnTo>
                <a:lnTo>
                  <a:pt x="184" y="820"/>
                </a:lnTo>
                <a:lnTo>
                  <a:pt x="186" y="822"/>
                </a:lnTo>
                <a:lnTo>
                  <a:pt x="190" y="824"/>
                </a:lnTo>
                <a:lnTo>
                  <a:pt x="192" y="826"/>
                </a:lnTo>
                <a:lnTo>
                  <a:pt x="192" y="830"/>
                </a:lnTo>
                <a:lnTo>
                  <a:pt x="188" y="870"/>
                </a:lnTo>
                <a:lnTo>
                  <a:pt x="188" y="870"/>
                </a:lnTo>
                <a:lnTo>
                  <a:pt x="186" y="874"/>
                </a:lnTo>
                <a:lnTo>
                  <a:pt x="184" y="878"/>
                </a:lnTo>
                <a:lnTo>
                  <a:pt x="180" y="880"/>
                </a:lnTo>
                <a:lnTo>
                  <a:pt x="178" y="880"/>
                </a:lnTo>
                <a:lnTo>
                  <a:pt x="136" y="880"/>
                </a:lnTo>
                <a:lnTo>
                  <a:pt x="136" y="880"/>
                </a:lnTo>
                <a:lnTo>
                  <a:pt x="132" y="880"/>
                </a:lnTo>
                <a:lnTo>
                  <a:pt x="128" y="878"/>
                </a:lnTo>
                <a:lnTo>
                  <a:pt x="128" y="874"/>
                </a:lnTo>
                <a:lnTo>
                  <a:pt x="128" y="870"/>
                </a:lnTo>
                <a:lnTo>
                  <a:pt x="132" y="830"/>
                </a:lnTo>
                <a:close/>
                <a:moveTo>
                  <a:pt x="122" y="908"/>
                </a:moveTo>
                <a:lnTo>
                  <a:pt x="122" y="908"/>
                </a:lnTo>
                <a:lnTo>
                  <a:pt x="124" y="906"/>
                </a:lnTo>
                <a:lnTo>
                  <a:pt x="126" y="902"/>
                </a:lnTo>
                <a:lnTo>
                  <a:pt x="130" y="900"/>
                </a:lnTo>
                <a:lnTo>
                  <a:pt x="134" y="900"/>
                </a:lnTo>
                <a:lnTo>
                  <a:pt x="186" y="900"/>
                </a:lnTo>
                <a:lnTo>
                  <a:pt x="186" y="900"/>
                </a:lnTo>
                <a:lnTo>
                  <a:pt x="190" y="900"/>
                </a:lnTo>
                <a:lnTo>
                  <a:pt x="192" y="902"/>
                </a:lnTo>
                <a:lnTo>
                  <a:pt x="194" y="906"/>
                </a:lnTo>
                <a:lnTo>
                  <a:pt x="194" y="908"/>
                </a:lnTo>
                <a:lnTo>
                  <a:pt x="190" y="948"/>
                </a:lnTo>
                <a:lnTo>
                  <a:pt x="190" y="948"/>
                </a:lnTo>
                <a:lnTo>
                  <a:pt x="190" y="952"/>
                </a:lnTo>
                <a:lnTo>
                  <a:pt x="186" y="956"/>
                </a:lnTo>
                <a:lnTo>
                  <a:pt x="184" y="958"/>
                </a:lnTo>
                <a:lnTo>
                  <a:pt x="180" y="958"/>
                </a:lnTo>
                <a:lnTo>
                  <a:pt x="126" y="958"/>
                </a:lnTo>
                <a:lnTo>
                  <a:pt x="126" y="958"/>
                </a:lnTo>
                <a:lnTo>
                  <a:pt x="122" y="958"/>
                </a:lnTo>
                <a:lnTo>
                  <a:pt x="120" y="956"/>
                </a:lnTo>
                <a:lnTo>
                  <a:pt x="118" y="952"/>
                </a:lnTo>
                <a:lnTo>
                  <a:pt x="118" y="948"/>
                </a:lnTo>
                <a:lnTo>
                  <a:pt x="122" y="908"/>
                </a:lnTo>
                <a:close/>
                <a:moveTo>
                  <a:pt x="158" y="1028"/>
                </a:moveTo>
                <a:lnTo>
                  <a:pt x="158" y="1028"/>
                </a:lnTo>
                <a:lnTo>
                  <a:pt x="158" y="1032"/>
                </a:lnTo>
                <a:lnTo>
                  <a:pt x="154" y="1034"/>
                </a:lnTo>
                <a:lnTo>
                  <a:pt x="152" y="1036"/>
                </a:lnTo>
                <a:lnTo>
                  <a:pt x="148" y="1038"/>
                </a:lnTo>
                <a:lnTo>
                  <a:pt x="118" y="1038"/>
                </a:lnTo>
                <a:lnTo>
                  <a:pt x="118" y="1038"/>
                </a:lnTo>
                <a:lnTo>
                  <a:pt x="114" y="1036"/>
                </a:lnTo>
                <a:lnTo>
                  <a:pt x="110" y="1034"/>
                </a:lnTo>
                <a:lnTo>
                  <a:pt x="108" y="1032"/>
                </a:lnTo>
                <a:lnTo>
                  <a:pt x="108" y="1028"/>
                </a:lnTo>
                <a:lnTo>
                  <a:pt x="114" y="988"/>
                </a:lnTo>
                <a:lnTo>
                  <a:pt x="114" y="988"/>
                </a:lnTo>
                <a:lnTo>
                  <a:pt x="114" y="984"/>
                </a:lnTo>
                <a:lnTo>
                  <a:pt x="116" y="980"/>
                </a:lnTo>
                <a:lnTo>
                  <a:pt x="120" y="978"/>
                </a:lnTo>
                <a:lnTo>
                  <a:pt x="124" y="978"/>
                </a:lnTo>
                <a:lnTo>
                  <a:pt x="154" y="978"/>
                </a:lnTo>
                <a:lnTo>
                  <a:pt x="154" y="978"/>
                </a:lnTo>
                <a:lnTo>
                  <a:pt x="158" y="978"/>
                </a:lnTo>
                <a:lnTo>
                  <a:pt x="160" y="980"/>
                </a:lnTo>
                <a:lnTo>
                  <a:pt x="162" y="984"/>
                </a:lnTo>
                <a:lnTo>
                  <a:pt x="162" y="988"/>
                </a:lnTo>
                <a:lnTo>
                  <a:pt x="158" y="1028"/>
                </a:lnTo>
                <a:close/>
                <a:moveTo>
                  <a:pt x="250" y="1028"/>
                </a:moveTo>
                <a:lnTo>
                  <a:pt x="250" y="1028"/>
                </a:lnTo>
                <a:lnTo>
                  <a:pt x="248" y="1032"/>
                </a:lnTo>
                <a:lnTo>
                  <a:pt x="246" y="1034"/>
                </a:lnTo>
                <a:lnTo>
                  <a:pt x="244" y="1036"/>
                </a:lnTo>
                <a:lnTo>
                  <a:pt x="240" y="1038"/>
                </a:lnTo>
                <a:lnTo>
                  <a:pt x="186" y="1038"/>
                </a:lnTo>
                <a:lnTo>
                  <a:pt x="186" y="1038"/>
                </a:lnTo>
                <a:lnTo>
                  <a:pt x="182" y="1036"/>
                </a:lnTo>
                <a:lnTo>
                  <a:pt x="180" y="1034"/>
                </a:lnTo>
                <a:lnTo>
                  <a:pt x="178" y="1032"/>
                </a:lnTo>
                <a:lnTo>
                  <a:pt x="176" y="1028"/>
                </a:lnTo>
                <a:lnTo>
                  <a:pt x="180" y="988"/>
                </a:lnTo>
                <a:lnTo>
                  <a:pt x="180" y="988"/>
                </a:lnTo>
                <a:lnTo>
                  <a:pt x="182" y="984"/>
                </a:lnTo>
                <a:lnTo>
                  <a:pt x="184" y="980"/>
                </a:lnTo>
                <a:lnTo>
                  <a:pt x="188" y="978"/>
                </a:lnTo>
                <a:lnTo>
                  <a:pt x="192" y="978"/>
                </a:lnTo>
                <a:lnTo>
                  <a:pt x="244" y="978"/>
                </a:lnTo>
                <a:lnTo>
                  <a:pt x="244" y="978"/>
                </a:lnTo>
                <a:lnTo>
                  <a:pt x="248" y="978"/>
                </a:lnTo>
                <a:lnTo>
                  <a:pt x="250" y="980"/>
                </a:lnTo>
                <a:lnTo>
                  <a:pt x="252" y="984"/>
                </a:lnTo>
                <a:lnTo>
                  <a:pt x="254" y="988"/>
                </a:lnTo>
                <a:lnTo>
                  <a:pt x="250" y="1028"/>
                </a:lnTo>
                <a:close/>
                <a:moveTo>
                  <a:pt x="260" y="958"/>
                </a:moveTo>
                <a:lnTo>
                  <a:pt x="218" y="958"/>
                </a:lnTo>
                <a:lnTo>
                  <a:pt x="218" y="958"/>
                </a:lnTo>
                <a:lnTo>
                  <a:pt x="214" y="958"/>
                </a:lnTo>
                <a:lnTo>
                  <a:pt x="210" y="956"/>
                </a:lnTo>
                <a:lnTo>
                  <a:pt x="208" y="952"/>
                </a:lnTo>
                <a:lnTo>
                  <a:pt x="208" y="948"/>
                </a:lnTo>
                <a:lnTo>
                  <a:pt x="212" y="910"/>
                </a:lnTo>
                <a:lnTo>
                  <a:pt x="212" y="910"/>
                </a:lnTo>
                <a:lnTo>
                  <a:pt x="214" y="906"/>
                </a:lnTo>
                <a:lnTo>
                  <a:pt x="216" y="902"/>
                </a:lnTo>
                <a:lnTo>
                  <a:pt x="218" y="900"/>
                </a:lnTo>
                <a:lnTo>
                  <a:pt x="222" y="900"/>
                </a:lnTo>
                <a:lnTo>
                  <a:pt x="266" y="900"/>
                </a:lnTo>
                <a:lnTo>
                  <a:pt x="266" y="900"/>
                </a:lnTo>
                <a:lnTo>
                  <a:pt x="270" y="900"/>
                </a:lnTo>
                <a:lnTo>
                  <a:pt x="272" y="902"/>
                </a:lnTo>
                <a:lnTo>
                  <a:pt x="274" y="906"/>
                </a:lnTo>
                <a:lnTo>
                  <a:pt x="274" y="910"/>
                </a:lnTo>
                <a:lnTo>
                  <a:pt x="272" y="948"/>
                </a:lnTo>
                <a:lnTo>
                  <a:pt x="272" y="948"/>
                </a:lnTo>
                <a:lnTo>
                  <a:pt x="270" y="952"/>
                </a:lnTo>
                <a:lnTo>
                  <a:pt x="268" y="956"/>
                </a:lnTo>
                <a:lnTo>
                  <a:pt x="264" y="958"/>
                </a:lnTo>
                <a:lnTo>
                  <a:pt x="260" y="958"/>
                </a:lnTo>
                <a:lnTo>
                  <a:pt x="260" y="958"/>
                </a:lnTo>
                <a:close/>
                <a:moveTo>
                  <a:pt x="772" y="1038"/>
                </a:moveTo>
                <a:lnTo>
                  <a:pt x="278" y="1038"/>
                </a:lnTo>
                <a:lnTo>
                  <a:pt x="278" y="1038"/>
                </a:lnTo>
                <a:lnTo>
                  <a:pt x="274" y="1036"/>
                </a:lnTo>
                <a:lnTo>
                  <a:pt x="270" y="1034"/>
                </a:lnTo>
                <a:lnTo>
                  <a:pt x="268" y="1032"/>
                </a:lnTo>
                <a:lnTo>
                  <a:pt x="268" y="1028"/>
                </a:lnTo>
                <a:lnTo>
                  <a:pt x="272" y="988"/>
                </a:lnTo>
                <a:lnTo>
                  <a:pt x="272" y="988"/>
                </a:lnTo>
                <a:lnTo>
                  <a:pt x="272" y="984"/>
                </a:lnTo>
                <a:lnTo>
                  <a:pt x="274" y="980"/>
                </a:lnTo>
                <a:lnTo>
                  <a:pt x="278" y="978"/>
                </a:lnTo>
                <a:lnTo>
                  <a:pt x="282" y="978"/>
                </a:lnTo>
                <a:lnTo>
                  <a:pt x="768" y="978"/>
                </a:lnTo>
                <a:lnTo>
                  <a:pt x="768" y="978"/>
                </a:lnTo>
                <a:lnTo>
                  <a:pt x="772" y="978"/>
                </a:lnTo>
                <a:lnTo>
                  <a:pt x="776" y="980"/>
                </a:lnTo>
                <a:lnTo>
                  <a:pt x="778" y="984"/>
                </a:lnTo>
                <a:lnTo>
                  <a:pt x="780" y="988"/>
                </a:lnTo>
                <a:lnTo>
                  <a:pt x="782" y="1028"/>
                </a:lnTo>
                <a:lnTo>
                  <a:pt x="782" y="1028"/>
                </a:lnTo>
                <a:lnTo>
                  <a:pt x="782" y="1032"/>
                </a:lnTo>
                <a:lnTo>
                  <a:pt x="780" y="1034"/>
                </a:lnTo>
                <a:lnTo>
                  <a:pt x="776" y="1036"/>
                </a:lnTo>
                <a:lnTo>
                  <a:pt x="772" y="1038"/>
                </a:lnTo>
                <a:lnTo>
                  <a:pt x="772" y="1038"/>
                </a:lnTo>
                <a:close/>
                <a:moveTo>
                  <a:pt x="774" y="948"/>
                </a:moveTo>
                <a:lnTo>
                  <a:pt x="772" y="910"/>
                </a:lnTo>
                <a:lnTo>
                  <a:pt x="772" y="910"/>
                </a:lnTo>
                <a:lnTo>
                  <a:pt x="772" y="906"/>
                </a:lnTo>
                <a:lnTo>
                  <a:pt x="774" y="902"/>
                </a:lnTo>
                <a:lnTo>
                  <a:pt x="778" y="900"/>
                </a:lnTo>
                <a:lnTo>
                  <a:pt x="780" y="900"/>
                </a:lnTo>
                <a:lnTo>
                  <a:pt x="824" y="900"/>
                </a:lnTo>
                <a:lnTo>
                  <a:pt x="824" y="900"/>
                </a:lnTo>
                <a:lnTo>
                  <a:pt x="828" y="900"/>
                </a:lnTo>
                <a:lnTo>
                  <a:pt x="830" y="902"/>
                </a:lnTo>
                <a:lnTo>
                  <a:pt x="834" y="906"/>
                </a:lnTo>
                <a:lnTo>
                  <a:pt x="834" y="910"/>
                </a:lnTo>
                <a:lnTo>
                  <a:pt x="838" y="948"/>
                </a:lnTo>
                <a:lnTo>
                  <a:pt x="838" y="948"/>
                </a:lnTo>
                <a:lnTo>
                  <a:pt x="836" y="952"/>
                </a:lnTo>
                <a:lnTo>
                  <a:pt x="834" y="956"/>
                </a:lnTo>
                <a:lnTo>
                  <a:pt x="832" y="958"/>
                </a:lnTo>
                <a:lnTo>
                  <a:pt x="828" y="958"/>
                </a:lnTo>
                <a:lnTo>
                  <a:pt x="784" y="958"/>
                </a:lnTo>
                <a:lnTo>
                  <a:pt x="784" y="958"/>
                </a:lnTo>
                <a:lnTo>
                  <a:pt x="780" y="958"/>
                </a:lnTo>
                <a:lnTo>
                  <a:pt x="778" y="956"/>
                </a:lnTo>
                <a:lnTo>
                  <a:pt x="776" y="952"/>
                </a:lnTo>
                <a:lnTo>
                  <a:pt x="774" y="948"/>
                </a:lnTo>
                <a:lnTo>
                  <a:pt x="774" y="948"/>
                </a:lnTo>
                <a:close/>
                <a:moveTo>
                  <a:pt x="864" y="1038"/>
                </a:moveTo>
                <a:lnTo>
                  <a:pt x="810" y="1038"/>
                </a:lnTo>
                <a:lnTo>
                  <a:pt x="810" y="1038"/>
                </a:lnTo>
                <a:lnTo>
                  <a:pt x="806" y="1036"/>
                </a:lnTo>
                <a:lnTo>
                  <a:pt x="804" y="1034"/>
                </a:lnTo>
                <a:lnTo>
                  <a:pt x="802" y="1032"/>
                </a:lnTo>
                <a:lnTo>
                  <a:pt x="800" y="1028"/>
                </a:lnTo>
                <a:lnTo>
                  <a:pt x="798" y="988"/>
                </a:lnTo>
                <a:lnTo>
                  <a:pt x="798" y="988"/>
                </a:lnTo>
                <a:lnTo>
                  <a:pt x="798" y="984"/>
                </a:lnTo>
                <a:lnTo>
                  <a:pt x="800" y="980"/>
                </a:lnTo>
                <a:lnTo>
                  <a:pt x="802" y="978"/>
                </a:lnTo>
                <a:lnTo>
                  <a:pt x="806" y="978"/>
                </a:lnTo>
                <a:lnTo>
                  <a:pt x="860" y="978"/>
                </a:lnTo>
                <a:lnTo>
                  <a:pt x="860" y="978"/>
                </a:lnTo>
                <a:lnTo>
                  <a:pt x="864" y="978"/>
                </a:lnTo>
                <a:lnTo>
                  <a:pt x="866" y="980"/>
                </a:lnTo>
                <a:lnTo>
                  <a:pt x="868" y="984"/>
                </a:lnTo>
                <a:lnTo>
                  <a:pt x="870" y="988"/>
                </a:lnTo>
                <a:lnTo>
                  <a:pt x="874" y="1028"/>
                </a:lnTo>
                <a:lnTo>
                  <a:pt x="874" y="1028"/>
                </a:lnTo>
                <a:lnTo>
                  <a:pt x="872" y="1032"/>
                </a:lnTo>
                <a:lnTo>
                  <a:pt x="870" y="1034"/>
                </a:lnTo>
                <a:lnTo>
                  <a:pt x="868" y="1036"/>
                </a:lnTo>
                <a:lnTo>
                  <a:pt x="864" y="1038"/>
                </a:lnTo>
                <a:lnTo>
                  <a:pt x="864" y="1038"/>
                </a:lnTo>
                <a:close/>
                <a:moveTo>
                  <a:pt x="992" y="1038"/>
                </a:moveTo>
                <a:lnTo>
                  <a:pt x="902" y="1038"/>
                </a:lnTo>
                <a:lnTo>
                  <a:pt x="902" y="1038"/>
                </a:lnTo>
                <a:lnTo>
                  <a:pt x="898" y="1036"/>
                </a:lnTo>
                <a:lnTo>
                  <a:pt x="896" y="1034"/>
                </a:lnTo>
                <a:lnTo>
                  <a:pt x="892" y="1032"/>
                </a:lnTo>
                <a:lnTo>
                  <a:pt x="892" y="1028"/>
                </a:lnTo>
                <a:lnTo>
                  <a:pt x="888" y="988"/>
                </a:lnTo>
                <a:lnTo>
                  <a:pt x="888" y="988"/>
                </a:lnTo>
                <a:lnTo>
                  <a:pt x="888" y="984"/>
                </a:lnTo>
                <a:lnTo>
                  <a:pt x="890" y="980"/>
                </a:lnTo>
                <a:lnTo>
                  <a:pt x="894" y="978"/>
                </a:lnTo>
                <a:lnTo>
                  <a:pt x="896" y="978"/>
                </a:lnTo>
                <a:lnTo>
                  <a:pt x="986" y="978"/>
                </a:lnTo>
                <a:lnTo>
                  <a:pt x="986" y="978"/>
                </a:lnTo>
                <a:lnTo>
                  <a:pt x="990" y="978"/>
                </a:lnTo>
                <a:lnTo>
                  <a:pt x="992" y="980"/>
                </a:lnTo>
                <a:lnTo>
                  <a:pt x="994" y="984"/>
                </a:lnTo>
                <a:lnTo>
                  <a:pt x="996" y="988"/>
                </a:lnTo>
                <a:lnTo>
                  <a:pt x="1000" y="1028"/>
                </a:lnTo>
                <a:lnTo>
                  <a:pt x="1000" y="1028"/>
                </a:lnTo>
                <a:lnTo>
                  <a:pt x="1000" y="1032"/>
                </a:lnTo>
                <a:lnTo>
                  <a:pt x="998" y="1034"/>
                </a:lnTo>
                <a:lnTo>
                  <a:pt x="996" y="1036"/>
                </a:lnTo>
                <a:lnTo>
                  <a:pt x="992" y="1038"/>
                </a:lnTo>
                <a:lnTo>
                  <a:pt x="992" y="1038"/>
                </a:lnTo>
                <a:close/>
              </a:path>
            </a:pathLst>
          </a:custGeom>
          <a:solidFill>
            <a:srgbClr val="007CB0"/>
          </a:solidFill>
          <a:ln>
            <a:noFill/>
          </a:ln>
        </p:spPr>
        <p:txBody>
          <a:bodyPr vert="horz" wrap="square" lIns="68750" tIns="34375" rIns="68750" bIns="34375" numCol="1" anchor="t" anchorCtr="0" compatLnSpc="1">
            <a:prstTxWarp prst="textNoShape">
              <a:avLst/>
            </a:prstTxWarp>
          </a:bodyPr>
          <a:lstStyle/>
          <a:p>
            <a:pPr marL="0" marR="0" lvl="0" indent="0" algn="ctr" defTabSz="687537" rtl="0" eaLnBrk="1" fontAlgn="base" latinLnBrk="0" hangingPunct="1">
              <a:lnSpc>
                <a:spcPct val="100000"/>
              </a:lnSpc>
              <a:spcBef>
                <a:spcPct val="20000"/>
              </a:spcBef>
              <a:spcAft>
                <a:spcPct val="0"/>
              </a:spcAft>
              <a:buClrTx/>
              <a:buSzTx/>
              <a:buFontTx/>
              <a:buNone/>
              <a:tabLst/>
              <a:defRPr/>
            </a:pPr>
            <a:endParaRPr kumimoji="0" lang="en-US" sz="827" b="1" i="0" u="none" strike="noStrike" kern="1200" cap="none" spc="0" normalizeH="0" baseline="0" noProof="0">
              <a:ln>
                <a:noFill/>
              </a:ln>
              <a:solidFill>
                <a:srgbClr val="000000"/>
              </a:solidFill>
              <a:effectLst/>
              <a:uLnTx/>
              <a:uFillTx/>
              <a:latin typeface="Calibri" panose="020F0502020204030204"/>
              <a:ea typeface="+mn-ea"/>
              <a:cs typeface="Arial" pitchFamily="34" charset="0"/>
            </a:endParaRPr>
          </a:p>
        </p:txBody>
      </p:sp>
      <p:sp>
        <p:nvSpPr>
          <p:cNvPr id="66" name="Freeform 778">
            <a:extLst>
              <a:ext uri="{FF2B5EF4-FFF2-40B4-BE49-F238E27FC236}">
                <a16:creationId xmlns:a16="http://schemas.microsoft.com/office/drawing/2014/main" id="{F3CA276A-0923-4A88-AD89-87A58B7FB1F6}"/>
              </a:ext>
            </a:extLst>
          </p:cNvPr>
          <p:cNvSpPr>
            <a:spLocks noEditPoints="1"/>
          </p:cNvSpPr>
          <p:nvPr/>
        </p:nvSpPr>
        <p:spPr bwMode="auto">
          <a:xfrm>
            <a:off x="11341921" y="3900763"/>
            <a:ext cx="495300" cy="482583"/>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7CB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67" name="TextBox 66">
            <a:extLst>
              <a:ext uri="{FF2B5EF4-FFF2-40B4-BE49-F238E27FC236}">
                <a16:creationId xmlns:a16="http://schemas.microsoft.com/office/drawing/2014/main" id="{983EFBBE-907C-4647-9992-509B1B4274D8}"/>
              </a:ext>
            </a:extLst>
          </p:cNvPr>
          <p:cNvSpPr txBox="1"/>
          <p:nvPr/>
        </p:nvSpPr>
        <p:spPr>
          <a:xfrm>
            <a:off x="11183270" y="4394443"/>
            <a:ext cx="78663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0">
                <a:solidFill>
                  <a:prstClr val="black"/>
                </a:solidFill>
                <a:latin typeface="Calibri" panose="020F0502020204030204"/>
              </a:rPr>
              <a:t>Boundary Application</a:t>
            </a:r>
            <a:endParaRPr kumimoji="0" lang="en-US" sz="6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68" name="Line 13">
            <a:extLst>
              <a:ext uri="{FF2B5EF4-FFF2-40B4-BE49-F238E27FC236}">
                <a16:creationId xmlns:a16="http://schemas.microsoft.com/office/drawing/2014/main" id="{439D017F-D607-48C7-8238-E48252CACD33}"/>
              </a:ext>
            </a:extLst>
          </p:cNvPr>
          <p:cNvSpPr>
            <a:spLocks noChangeShapeType="1"/>
          </p:cNvSpPr>
          <p:nvPr/>
        </p:nvSpPr>
        <p:spPr bwMode="auto">
          <a:xfrm flipV="1">
            <a:off x="10998074" y="4112386"/>
            <a:ext cx="370391" cy="0"/>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69" name="Oval 68">
            <a:extLst>
              <a:ext uri="{FF2B5EF4-FFF2-40B4-BE49-F238E27FC236}">
                <a16:creationId xmlns:a16="http://schemas.microsoft.com/office/drawing/2014/main" id="{8E337D7A-008C-4094-AAC0-F0753CA86EC9}"/>
              </a:ext>
            </a:extLst>
          </p:cNvPr>
          <p:cNvSpPr/>
          <p:nvPr/>
        </p:nvSpPr>
        <p:spPr>
          <a:xfrm>
            <a:off x="11049289" y="3837181"/>
            <a:ext cx="200053" cy="1666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2">
                <a:solidFill>
                  <a:prstClr val="white"/>
                </a:solidFill>
                <a:latin typeface="Calibri" panose="020F0502020204030204"/>
              </a:rPr>
              <a:t>4</a:t>
            </a:r>
            <a:endParaRPr kumimoji="0" lang="en-US" sz="902"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Oval 69">
            <a:extLst>
              <a:ext uri="{FF2B5EF4-FFF2-40B4-BE49-F238E27FC236}">
                <a16:creationId xmlns:a16="http://schemas.microsoft.com/office/drawing/2014/main" id="{AE1DDB1D-2DBB-418A-9518-89FA7DF93F07}"/>
              </a:ext>
            </a:extLst>
          </p:cNvPr>
          <p:cNvSpPr/>
          <p:nvPr/>
        </p:nvSpPr>
        <p:spPr>
          <a:xfrm>
            <a:off x="10122490" y="3804746"/>
            <a:ext cx="200053" cy="17154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3</a:t>
            </a:r>
          </a:p>
        </p:txBody>
      </p:sp>
      <p:sp>
        <p:nvSpPr>
          <p:cNvPr id="71" name="Text Box 10">
            <a:extLst>
              <a:ext uri="{FF2B5EF4-FFF2-40B4-BE49-F238E27FC236}">
                <a16:creationId xmlns:a16="http://schemas.microsoft.com/office/drawing/2014/main" id="{414AF7F5-6A39-4CBE-B4E6-C72E639D4F3F}"/>
              </a:ext>
            </a:extLst>
          </p:cNvPr>
          <p:cNvSpPr txBox="1">
            <a:spLocks noChangeArrowheads="1"/>
          </p:cNvSpPr>
          <p:nvPr/>
        </p:nvSpPr>
        <p:spPr bwMode="auto">
          <a:xfrm>
            <a:off x="9499779" y="3147508"/>
            <a:ext cx="1683491" cy="304872"/>
          </a:xfrm>
          <a:prstGeom prst="rect">
            <a:avLst/>
          </a:prstGeom>
          <a:solidFill>
            <a:srgbClr val="007CB0"/>
          </a:solidFill>
          <a:ln w="12700" algn="ctr">
            <a:noFill/>
            <a:miter lim="800000"/>
            <a:headEnd/>
            <a:tailEnd type="none" w="sm" len="med"/>
          </a:ln>
        </p:spPr>
        <p:txBody>
          <a:bodyPr lIns="19902" tIns="19902" rIns="19902" bIns="19902" anchor="ctr" anchorCtr="1"/>
          <a:lstStyle/>
          <a:p>
            <a:pPr marL="0" marR="0" lvl="0" indent="0" algn="ctr" defTabSz="528601" rtl="0" eaLnBrk="1" fontAlgn="base" latinLnBrk="0" hangingPunct="1">
              <a:lnSpc>
                <a:spcPct val="100000"/>
              </a:lnSpc>
              <a:spcBef>
                <a:spcPct val="20000"/>
              </a:spcBef>
              <a:spcAft>
                <a:spcPct val="0"/>
              </a:spcAft>
              <a:buClrTx/>
              <a:buSzTx/>
              <a:buFontTx/>
              <a:buNone/>
              <a:tabLst/>
              <a:defRPr/>
            </a:pPr>
            <a:r>
              <a:rPr lang="en-US" sz="1000" b="1" kern="0">
                <a:solidFill>
                  <a:srgbClr val="FFFFFF"/>
                </a:solidFill>
                <a:latin typeface="Calibri" panose="020F0502020204030204"/>
                <a:cs typeface="Arial" pitchFamily="34" charset="0"/>
              </a:rPr>
              <a:t>Middleware</a:t>
            </a:r>
            <a:endParaRPr kumimoji="0" lang="en-US" sz="1000" b="1" i="0" u="none" strike="noStrike" kern="0" cap="none" spc="0" normalizeH="0" baseline="0" noProof="0">
              <a:ln>
                <a:noFill/>
              </a:ln>
              <a:solidFill>
                <a:srgbClr val="FFFFFF"/>
              </a:solidFill>
              <a:effectLst/>
              <a:uLnTx/>
              <a:uFillTx/>
              <a:latin typeface="Calibri" panose="020F0502020204030204"/>
              <a:ea typeface="+mn-ea"/>
              <a:cs typeface="Arial" pitchFamily="34" charset="0"/>
            </a:endParaRPr>
          </a:p>
        </p:txBody>
      </p:sp>
      <p:sp>
        <p:nvSpPr>
          <p:cNvPr id="72" name="Line 13">
            <a:extLst>
              <a:ext uri="{FF2B5EF4-FFF2-40B4-BE49-F238E27FC236}">
                <a16:creationId xmlns:a16="http://schemas.microsoft.com/office/drawing/2014/main" id="{AD99FA7B-2639-439C-BEAF-F8EC0019E1F9}"/>
              </a:ext>
            </a:extLst>
          </p:cNvPr>
          <p:cNvSpPr>
            <a:spLocks noChangeShapeType="1"/>
          </p:cNvSpPr>
          <p:nvPr/>
        </p:nvSpPr>
        <p:spPr bwMode="auto">
          <a:xfrm flipH="1">
            <a:off x="9276550" y="4143068"/>
            <a:ext cx="294506" cy="9143"/>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73" name="Line 13">
            <a:extLst>
              <a:ext uri="{FF2B5EF4-FFF2-40B4-BE49-F238E27FC236}">
                <a16:creationId xmlns:a16="http://schemas.microsoft.com/office/drawing/2014/main" id="{D568C296-0712-4645-BD30-1C2D27374E17}"/>
              </a:ext>
            </a:extLst>
          </p:cNvPr>
          <p:cNvSpPr>
            <a:spLocks noChangeShapeType="1"/>
          </p:cNvSpPr>
          <p:nvPr/>
        </p:nvSpPr>
        <p:spPr bwMode="auto">
          <a:xfrm flipV="1">
            <a:off x="9295575" y="4211959"/>
            <a:ext cx="327394" cy="6984"/>
          </a:xfrm>
          <a:prstGeom prst="line">
            <a:avLst/>
          </a:prstGeom>
          <a:noFill/>
          <a:ln w="19050">
            <a:solidFill>
              <a:srgbClr val="000000"/>
            </a:solidFill>
            <a:round/>
            <a:headEnd/>
            <a:tailEnd type="triangle" w="med" len="med"/>
          </a:ln>
          <a:effectLst/>
        </p:spPr>
        <p:txBody>
          <a:bodyPr/>
          <a:lstStyle/>
          <a:p>
            <a:pPr marL="0" marR="0" lvl="0" indent="0" algn="ctr" defTabSz="687537" rtl="0" eaLnBrk="1" fontAlgn="auto" latinLnBrk="0" hangingPunct="1">
              <a:lnSpc>
                <a:spcPct val="100000"/>
              </a:lnSpc>
              <a:spcBef>
                <a:spcPts val="0"/>
              </a:spcBef>
              <a:spcAft>
                <a:spcPts val="0"/>
              </a:spcAft>
              <a:buClrTx/>
              <a:buSzTx/>
              <a:buFontTx/>
              <a:buNone/>
              <a:tabLst/>
              <a:defRPr/>
            </a:pPr>
            <a:endParaRPr kumimoji="0" lang="en-US" sz="752" b="0" i="0" u="none" strike="noStrike" kern="0" cap="none" spc="0" normalizeH="0" baseline="0" noProof="0">
              <a:ln>
                <a:noFill/>
              </a:ln>
              <a:solidFill>
                <a:sysClr val="windowText" lastClr="000000"/>
              </a:solidFill>
              <a:effectLst/>
              <a:uLnTx/>
              <a:uFillTx/>
              <a:latin typeface="Calibri" panose="020F0502020204030204"/>
              <a:ea typeface="+mn-ea"/>
              <a:cs typeface="Arial" pitchFamily="34" charset="0"/>
            </a:endParaRPr>
          </a:p>
        </p:txBody>
      </p:sp>
      <p:sp>
        <p:nvSpPr>
          <p:cNvPr id="74" name="TextBox 73">
            <a:extLst>
              <a:ext uri="{FF2B5EF4-FFF2-40B4-BE49-F238E27FC236}">
                <a16:creationId xmlns:a16="http://schemas.microsoft.com/office/drawing/2014/main" id="{C3FDF9F6-9C56-4421-B837-14B33359B0D9}"/>
              </a:ext>
            </a:extLst>
          </p:cNvPr>
          <p:cNvSpPr txBox="1"/>
          <p:nvPr/>
        </p:nvSpPr>
        <p:spPr>
          <a:xfrm>
            <a:off x="9078488" y="3938404"/>
            <a:ext cx="620850"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0">
                <a:solidFill>
                  <a:prstClr val="black"/>
                </a:solidFill>
                <a:latin typeface="Calibri" panose="020F0502020204030204"/>
              </a:rPr>
              <a:t>DB </a:t>
            </a:r>
            <a:r>
              <a:rPr kumimoji="0" lang="en-US" sz="600" b="0" i="0" u="none" strike="noStrike" kern="0" cap="none" spc="0" normalizeH="0" baseline="0" noProof="0">
                <a:ln>
                  <a:noFill/>
                </a:ln>
                <a:solidFill>
                  <a:prstClr val="black"/>
                </a:solidFill>
                <a:effectLst/>
                <a:uLnTx/>
                <a:uFillTx/>
                <a:latin typeface="Calibri" panose="020F0502020204030204"/>
                <a:ea typeface="+mn-ea"/>
                <a:cs typeface="+mn-cs"/>
              </a:rPr>
              <a:t>Call</a:t>
            </a:r>
          </a:p>
        </p:txBody>
      </p:sp>
      <p:sp>
        <p:nvSpPr>
          <p:cNvPr id="75" name="TextBox 74">
            <a:extLst>
              <a:ext uri="{FF2B5EF4-FFF2-40B4-BE49-F238E27FC236}">
                <a16:creationId xmlns:a16="http://schemas.microsoft.com/office/drawing/2014/main" id="{1D9CD869-6E26-4E6F-B210-E5D517113A93}"/>
              </a:ext>
            </a:extLst>
          </p:cNvPr>
          <p:cNvSpPr txBox="1"/>
          <p:nvPr/>
        </p:nvSpPr>
        <p:spPr>
          <a:xfrm>
            <a:off x="6081957" y="980086"/>
            <a:ext cx="803911" cy="184666"/>
          </a:xfrm>
          <a:prstGeom prst="rect">
            <a:avLst/>
          </a:prstGeom>
          <a:noFill/>
        </p:spPr>
        <p:txBody>
          <a:bodyPr wrap="square" lIns="0" tIns="0" rIns="0" bIns="0" rtlCol="0">
            <a:spAutoFit/>
          </a:bodyPr>
          <a:lstStyle/>
          <a:p>
            <a:pPr>
              <a:spcBef>
                <a:spcPts val="600"/>
              </a:spcBef>
              <a:buSzPct val="100000"/>
            </a:pPr>
            <a:r>
              <a:rPr lang="en-US" sz="1200">
                <a:solidFill>
                  <a:srgbClr val="313131"/>
                </a:solidFill>
              </a:rPr>
              <a:t>RDS:</a:t>
            </a:r>
          </a:p>
        </p:txBody>
      </p:sp>
      <p:sp>
        <p:nvSpPr>
          <p:cNvPr id="76" name="TextBox 75">
            <a:extLst>
              <a:ext uri="{FF2B5EF4-FFF2-40B4-BE49-F238E27FC236}">
                <a16:creationId xmlns:a16="http://schemas.microsoft.com/office/drawing/2014/main" id="{82DEE82C-F5B5-4CA5-8FAF-D5205ACB3CA8}"/>
              </a:ext>
            </a:extLst>
          </p:cNvPr>
          <p:cNvSpPr txBox="1"/>
          <p:nvPr/>
        </p:nvSpPr>
        <p:spPr>
          <a:xfrm>
            <a:off x="6096000" y="2975479"/>
            <a:ext cx="803911" cy="184666"/>
          </a:xfrm>
          <a:prstGeom prst="rect">
            <a:avLst/>
          </a:prstGeom>
          <a:noFill/>
        </p:spPr>
        <p:txBody>
          <a:bodyPr wrap="square" lIns="0" tIns="0" rIns="0" bIns="0" rtlCol="0">
            <a:spAutoFit/>
          </a:bodyPr>
          <a:lstStyle/>
          <a:p>
            <a:pPr>
              <a:spcBef>
                <a:spcPts val="600"/>
              </a:spcBef>
              <a:buSzPct val="100000"/>
            </a:pPr>
            <a:r>
              <a:rPr lang="en-US" sz="1200">
                <a:solidFill>
                  <a:srgbClr val="313131"/>
                </a:solidFill>
              </a:rPr>
              <a:t>DAS:</a:t>
            </a:r>
          </a:p>
        </p:txBody>
      </p:sp>
      <p:sp>
        <p:nvSpPr>
          <p:cNvPr id="77" name="Oval 76">
            <a:extLst>
              <a:ext uri="{FF2B5EF4-FFF2-40B4-BE49-F238E27FC236}">
                <a16:creationId xmlns:a16="http://schemas.microsoft.com/office/drawing/2014/main" id="{92B33745-6CED-4EC2-B097-7924BCF73B92}"/>
              </a:ext>
            </a:extLst>
          </p:cNvPr>
          <p:cNvSpPr/>
          <p:nvPr/>
        </p:nvSpPr>
        <p:spPr>
          <a:xfrm>
            <a:off x="7637665" y="3778173"/>
            <a:ext cx="200053" cy="1666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1</a:t>
            </a:r>
          </a:p>
        </p:txBody>
      </p:sp>
      <p:sp>
        <p:nvSpPr>
          <p:cNvPr id="78" name="Oval 77">
            <a:extLst>
              <a:ext uri="{FF2B5EF4-FFF2-40B4-BE49-F238E27FC236}">
                <a16:creationId xmlns:a16="http://schemas.microsoft.com/office/drawing/2014/main" id="{7B645E09-DDA4-490F-8538-CA129AB4EB3A}"/>
              </a:ext>
            </a:extLst>
          </p:cNvPr>
          <p:cNvSpPr/>
          <p:nvPr/>
        </p:nvSpPr>
        <p:spPr>
          <a:xfrm>
            <a:off x="8581686" y="3782307"/>
            <a:ext cx="200053" cy="1666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2" b="0" i="0" u="none" strike="noStrike" kern="1200" cap="none" spc="0" normalizeH="0" baseline="0" noProof="0">
                <a:ln>
                  <a:noFill/>
                </a:ln>
                <a:solidFill>
                  <a:prstClr val="white"/>
                </a:solidFill>
                <a:effectLst/>
                <a:uLnTx/>
                <a:uFillTx/>
                <a:latin typeface="Calibri" panose="020F0502020204030204"/>
                <a:ea typeface="+mn-ea"/>
                <a:cs typeface="+mn-cs"/>
              </a:rPr>
              <a:t>2</a:t>
            </a:r>
          </a:p>
        </p:txBody>
      </p:sp>
      <p:sp>
        <p:nvSpPr>
          <p:cNvPr id="80" name="TextBox 79">
            <a:extLst>
              <a:ext uri="{FF2B5EF4-FFF2-40B4-BE49-F238E27FC236}">
                <a16:creationId xmlns:a16="http://schemas.microsoft.com/office/drawing/2014/main" id="{1962ADAD-F244-42F5-8603-8AA0C9F4DDE0}"/>
              </a:ext>
            </a:extLst>
          </p:cNvPr>
          <p:cNvSpPr txBox="1"/>
          <p:nvPr/>
        </p:nvSpPr>
        <p:spPr>
          <a:xfrm>
            <a:off x="10476684" y="4316253"/>
            <a:ext cx="516143"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0">
                <a:solidFill>
                  <a:prstClr val="black"/>
                </a:solidFill>
                <a:latin typeface="Calibri" panose="020F0502020204030204"/>
              </a:rPr>
              <a:t>Data Extract </a:t>
            </a:r>
            <a:endParaRPr kumimoji="0" lang="en-US" sz="6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81" name="Title 1">
            <a:extLst>
              <a:ext uri="{FF2B5EF4-FFF2-40B4-BE49-F238E27FC236}">
                <a16:creationId xmlns:a16="http://schemas.microsoft.com/office/drawing/2014/main" id="{E85E204F-DF18-436D-A87D-00D14F6ED6E9}"/>
              </a:ext>
            </a:extLst>
          </p:cNvPr>
          <p:cNvSpPr txBox="1">
            <a:spLocks/>
          </p:cNvSpPr>
          <p:nvPr/>
        </p:nvSpPr>
        <p:spPr bwMode="gray">
          <a:xfrm>
            <a:off x="434898" y="409575"/>
            <a:ext cx="11247120" cy="430887"/>
          </a:xfrm>
          <a:prstGeom prst="rect">
            <a:avLst/>
          </a:prstGeom>
        </p:spPr>
        <p:txBody>
          <a:bodyPr vert="horz" lIns="0" tIns="0" rIns="0" bIns="0" rtlCol="0" anchor="t" anchorCtr="0">
            <a:spAutoFit/>
          </a:bodyPr>
          <a:lstStyle>
            <a:lvl1pPr algn="l" defTabSz="1217613" rtl="0" eaLnBrk="1" fontAlgn="base" latinLnBrk="0" hangingPunct="1">
              <a:spcBef>
                <a:spcPct val="0"/>
              </a:spcBef>
              <a:spcAft>
                <a:spcPct val="0"/>
              </a:spcAft>
              <a:buNone/>
              <a:defRPr lang="en-US" sz="3200" b="0" kern="1200" spc="-50" noProof="0" dirty="0">
                <a:solidFill>
                  <a:schemeClr val="tx1"/>
                </a:solidFill>
                <a:latin typeface="+mj-lt"/>
                <a:ea typeface="Open Sans Light" panose="020B0306030504020204" pitchFamily="34" charset="0"/>
                <a:cs typeface="Open Sans Light" panose="020B0306030504020204" pitchFamily="34" charset="0"/>
              </a:defRPr>
            </a:lvl1pPr>
          </a:lstStyle>
          <a:p>
            <a:r>
              <a:rPr lang="en-US" sz="2800">
                <a:latin typeface="+mj-lt"/>
                <a:ea typeface="+mj-ea"/>
                <a:cs typeface="Calibri Light" panose="020F0302020204030204" pitchFamily="34" charset="0"/>
              </a:rPr>
              <a:t>5 – Retail Data Store /DAS (Outbound)</a:t>
            </a:r>
          </a:p>
        </p:txBody>
      </p:sp>
      <p:pic>
        <p:nvPicPr>
          <p:cNvPr id="82" name="Picture 81" descr="A picture containing text&#10;&#10;Description automatically generated">
            <a:extLst>
              <a:ext uri="{FF2B5EF4-FFF2-40B4-BE49-F238E27FC236}">
                <a16:creationId xmlns:a16="http://schemas.microsoft.com/office/drawing/2014/main" id="{47A0871B-1D39-4F4F-8ABA-7589084CDD04}"/>
              </a:ext>
            </a:extLst>
          </p:cNvPr>
          <p:cNvPicPr>
            <a:picLocks noChangeAspect="1"/>
          </p:cNvPicPr>
          <p:nvPr/>
        </p:nvPicPr>
        <p:blipFill rotWithShape="1">
          <a:blip r:embed="rId2"/>
          <a:srcRect t="91185" r="32706" b="-593"/>
          <a:stretch/>
        </p:blipFill>
        <p:spPr>
          <a:xfrm>
            <a:off x="5677" y="6385758"/>
            <a:ext cx="6372225" cy="503065"/>
          </a:xfrm>
          <a:prstGeom prst="rect">
            <a:avLst/>
          </a:prstGeom>
        </p:spPr>
      </p:pic>
      <p:pic>
        <p:nvPicPr>
          <p:cNvPr id="83" name="Picture 82" descr="A picture containing text&#10;&#10;Description automatically generated">
            <a:extLst>
              <a:ext uri="{FF2B5EF4-FFF2-40B4-BE49-F238E27FC236}">
                <a16:creationId xmlns:a16="http://schemas.microsoft.com/office/drawing/2014/main" id="{A23B8748-9B27-4DA6-9B73-31451705F7CB}"/>
              </a:ext>
            </a:extLst>
          </p:cNvPr>
          <p:cNvPicPr>
            <a:picLocks noChangeAspect="1"/>
          </p:cNvPicPr>
          <p:nvPr/>
        </p:nvPicPr>
        <p:blipFill rotWithShape="1">
          <a:blip r:embed="rId2"/>
          <a:srcRect t="86960" r="37534" b="-593"/>
          <a:stretch/>
        </p:blipFill>
        <p:spPr>
          <a:xfrm flipH="1">
            <a:off x="7072310" y="6182240"/>
            <a:ext cx="5119687" cy="746403"/>
          </a:xfrm>
          <a:prstGeom prst="rect">
            <a:avLst/>
          </a:prstGeom>
        </p:spPr>
      </p:pic>
    </p:spTree>
    <p:extLst>
      <p:ext uri="{BB962C8B-B14F-4D97-AF65-F5344CB8AC3E}">
        <p14:creationId xmlns:p14="http://schemas.microsoft.com/office/powerpoint/2010/main" val="365313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3B130-E447-4339-96BB-AE78169747D4}"/>
              </a:ext>
            </a:extLst>
          </p:cNvPr>
          <p:cNvSpPr txBox="1"/>
          <p:nvPr/>
        </p:nvSpPr>
        <p:spPr>
          <a:xfrm>
            <a:off x="295793" y="951916"/>
            <a:ext cx="11406685" cy="8976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1000"/>
              </a:spcAft>
              <a:buClrTx/>
              <a:buSzPct val="100000"/>
              <a:buFontTx/>
              <a:buNone/>
              <a:tabLst/>
              <a:defRPr/>
            </a:pPr>
            <a:r>
              <a:rPr kumimoji="0" lang="en-US" sz="1400" b="1" i="0" u="none" strike="noStrike" kern="1200" cap="none" spc="0" normalizeH="0" baseline="0" noProof="0">
                <a:ln>
                  <a:noFill/>
                </a:ln>
                <a:effectLst/>
                <a:uLnTx/>
                <a:uFillTx/>
                <a:ea typeface="+mn-ea"/>
                <a:cs typeface="Calibri Light" panose="020F0302020204030204" pitchFamily="34" charset="0"/>
              </a:rPr>
              <a:t>The following table lists the tool/Integration pattern, along with key evaluation aspects used when deciding the pattern that best fits specific integration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effectLst/>
              <a:uLnTx/>
              <a:uFillTx/>
              <a:ea typeface="+mn-ea"/>
              <a:cs typeface="+mn-cs"/>
            </a:endParaRPr>
          </a:p>
        </p:txBody>
      </p:sp>
      <p:graphicFrame>
        <p:nvGraphicFramePr>
          <p:cNvPr id="3" name="Table 2">
            <a:extLst>
              <a:ext uri="{FF2B5EF4-FFF2-40B4-BE49-F238E27FC236}">
                <a16:creationId xmlns:a16="http://schemas.microsoft.com/office/drawing/2014/main" id="{1EADC82A-C410-4AEA-B450-78315EEE69C6}"/>
              </a:ext>
            </a:extLst>
          </p:cNvPr>
          <p:cNvGraphicFramePr>
            <a:graphicFrameLocks noGrp="1"/>
          </p:cNvGraphicFramePr>
          <p:nvPr>
            <p:extLst>
              <p:ext uri="{D42A27DB-BD31-4B8C-83A1-F6EECF244321}">
                <p14:modId xmlns:p14="http://schemas.microsoft.com/office/powerpoint/2010/main" val="2431012968"/>
              </p:ext>
            </p:extLst>
          </p:nvPr>
        </p:nvGraphicFramePr>
        <p:xfrm>
          <a:off x="295793" y="1581220"/>
          <a:ext cx="11290466" cy="4479335"/>
        </p:xfrm>
        <a:graphic>
          <a:graphicData uri="http://schemas.openxmlformats.org/drawingml/2006/table">
            <a:tbl>
              <a:tblPr firstRow="1" firstCol="1">
                <a:tableStyleId>{793D81CF-94F2-401A-BA57-92F5A7B2D0C5}</a:tableStyleId>
              </a:tblPr>
              <a:tblGrid>
                <a:gridCol w="2265800">
                  <a:extLst>
                    <a:ext uri="{9D8B030D-6E8A-4147-A177-3AD203B41FA5}">
                      <a16:colId xmlns:a16="http://schemas.microsoft.com/office/drawing/2014/main" val="489255297"/>
                    </a:ext>
                  </a:extLst>
                </a:gridCol>
                <a:gridCol w="1203408">
                  <a:extLst>
                    <a:ext uri="{9D8B030D-6E8A-4147-A177-3AD203B41FA5}">
                      <a16:colId xmlns:a16="http://schemas.microsoft.com/office/drawing/2014/main" val="2261639817"/>
                    </a:ext>
                  </a:extLst>
                </a:gridCol>
                <a:gridCol w="1442058">
                  <a:extLst>
                    <a:ext uri="{9D8B030D-6E8A-4147-A177-3AD203B41FA5}">
                      <a16:colId xmlns:a16="http://schemas.microsoft.com/office/drawing/2014/main" val="1814184278"/>
                    </a:ext>
                  </a:extLst>
                </a:gridCol>
                <a:gridCol w="1424930">
                  <a:extLst>
                    <a:ext uri="{9D8B030D-6E8A-4147-A177-3AD203B41FA5}">
                      <a16:colId xmlns:a16="http://schemas.microsoft.com/office/drawing/2014/main" val="1275806057"/>
                    </a:ext>
                  </a:extLst>
                </a:gridCol>
                <a:gridCol w="1671213">
                  <a:extLst>
                    <a:ext uri="{9D8B030D-6E8A-4147-A177-3AD203B41FA5}">
                      <a16:colId xmlns:a16="http://schemas.microsoft.com/office/drawing/2014/main" val="536387774"/>
                    </a:ext>
                  </a:extLst>
                </a:gridCol>
                <a:gridCol w="1864725">
                  <a:extLst>
                    <a:ext uri="{9D8B030D-6E8A-4147-A177-3AD203B41FA5}">
                      <a16:colId xmlns:a16="http://schemas.microsoft.com/office/drawing/2014/main" val="2426835719"/>
                    </a:ext>
                  </a:extLst>
                </a:gridCol>
                <a:gridCol w="1418332">
                  <a:extLst>
                    <a:ext uri="{9D8B030D-6E8A-4147-A177-3AD203B41FA5}">
                      <a16:colId xmlns:a16="http://schemas.microsoft.com/office/drawing/2014/main" val="3861219326"/>
                    </a:ext>
                  </a:extLst>
                </a:gridCol>
              </a:tblGrid>
              <a:tr h="385428">
                <a:tc rowSpan="2">
                  <a:txBody>
                    <a:bodyPr/>
                    <a:lstStyle/>
                    <a:p>
                      <a:pPr marL="42545" marR="0" algn="ctr">
                        <a:lnSpc>
                          <a:spcPts val="1300"/>
                        </a:lnSpc>
                        <a:spcBef>
                          <a:spcPts val="0"/>
                        </a:spcBef>
                        <a:spcAft>
                          <a:spcPts val="600"/>
                        </a:spcAft>
                      </a:pPr>
                      <a:r>
                        <a:rPr lang="en-US" sz="1100">
                          <a:solidFill>
                            <a:schemeClr val="bg1"/>
                          </a:solidFill>
                          <a:effectLst/>
                          <a:latin typeface="+mn-lt"/>
                        </a:rPr>
                        <a:t>Evaluation Criteria</a:t>
                      </a:r>
                      <a:endParaRPr lang="en-US" sz="1100" b="1">
                        <a:solidFill>
                          <a:schemeClr val="bg1"/>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rgbClr val="007CB0"/>
                    </a:solidFill>
                  </a:tcPr>
                </a:tc>
                <a:tc gridSpan="3">
                  <a:txBody>
                    <a:bodyPr/>
                    <a:lstStyle/>
                    <a:p>
                      <a:pPr marL="42545" marR="0" algn="ctr">
                        <a:lnSpc>
                          <a:spcPts val="1300"/>
                        </a:lnSpc>
                        <a:spcBef>
                          <a:spcPts val="0"/>
                        </a:spcBef>
                        <a:spcAft>
                          <a:spcPts val="600"/>
                        </a:spcAft>
                      </a:pPr>
                      <a:r>
                        <a:rPr lang="en-US" sz="1100">
                          <a:effectLst/>
                          <a:latin typeface="+mn-lt"/>
                        </a:rPr>
                        <a:t>Inbound Interface</a:t>
                      </a:r>
                      <a:endParaRPr lang="en-US" sz="1100" b="1">
                        <a:solidFill>
                          <a:srgbClr val="A5A5A5"/>
                        </a:solidFill>
                        <a:effectLst/>
                        <a:latin typeface="+mn-lt"/>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CB0"/>
                    </a:solidFill>
                  </a:tcPr>
                </a:tc>
                <a:tc hMerge="1">
                  <a:txBody>
                    <a:bodyPr/>
                    <a:lstStyle/>
                    <a:p>
                      <a:pPr marL="42545" marR="0" algn="ctr">
                        <a:lnSpc>
                          <a:spcPts val="1300"/>
                        </a:lnSpc>
                        <a:spcBef>
                          <a:spcPts val="0"/>
                        </a:spcBef>
                        <a:spcAft>
                          <a:spcPts val="600"/>
                        </a:spcAft>
                      </a:pPr>
                      <a:r>
                        <a:rPr lang="en-US" sz="1100">
                          <a:effectLst/>
                          <a:latin typeface="+mn-lt"/>
                        </a:rPr>
                        <a:t>Inbound Interface</a:t>
                      </a:r>
                      <a:endParaRPr lang="en-US" sz="1100" b="1">
                        <a:solidFill>
                          <a:srgbClr val="A5A5A5"/>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43B02A"/>
                    </a:solidFill>
                  </a:tcPr>
                </a:tc>
                <a:tc hMerge="1">
                  <a:txBody>
                    <a:bodyPr/>
                    <a:lstStyle/>
                    <a:p>
                      <a:pPr marL="42545" marR="0">
                        <a:lnSpc>
                          <a:spcPts val="1300"/>
                        </a:lnSpc>
                        <a:spcBef>
                          <a:spcPts val="0"/>
                        </a:spcBef>
                        <a:spcAft>
                          <a:spcPts val="600"/>
                        </a:spcAft>
                      </a:pPr>
                      <a:endParaRPr lang="en-US" sz="1200" b="1">
                        <a:solidFill>
                          <a:srgbClr val="A5A5A5"/>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CB0"/>
                    </a:solidFill>
                  </a:tcPr>
                </a:tc>
                <a:tc gridSpan="3">
                  <a:txBody>
                    <a:bodyPr/>
                    <a:lstStyle/>
                    <a:p>
                      <a:pPr algn="ctr"/>
                      <a:r>
                        <a:rPr lang="en-US" sz="1100">
                          <a:effectLst/>
                          <a:latin typeface="+mn-lt"/>
                        </a:rPr>
                        <a:t>Outbound Interface</a:t>
                      </a:r>
                      <a:endParaRPr lang="en-US"/>
                    </a:p>
                  </a:txBody>
                  <a:tcPr marL="68580" marR="68580" marT="0" marB="0" anchor="ctr">
                    <a:lnL w="12700" cap="flat" cmpd="sng" algn="ctr">
                      <a:solidFill>
                        <a:schemeClr val="tx1"/>
                      </a:solidFill>
                      <a:prstDash val="solid"/>
                      <a:round/>
                      <a:headEnd type="none" w="med" len="med"/>
                      <a:tailEnd type="none" w="med" len="med"/>
                    </a:lnL>
                    <a:solidFill>
                      <a:srgbClr val="007CB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51419786"/>
                  </a:ext>
                </a:extLst>
              </a:tr>
              <a:tr h="574610">
                <a:tc vMerge="1">
                  <a:txBody>
                    <a:bodyPr/>
                    <a:lstStyle/>
                    <a:p>
                      <a:pPr marL="42545" marR="0">
                        <a:lnSpc>
                          <a:spcPts val="1300"/>
                        </a:lnSpc>
                        <a:spcBef>
                          <a:spcPts val="0"/>
                        </a:spcBef>
                        <a:spcAft>
                          <a:spcPts val="600"/>
                        </a:spcAft>
                      </a:pPr>
                      <a:endParaRPr lang="en-US" sz="1000" b="1">
                        <a:solidFill>
                          <a:schemeClr val="bg1"/>
                        </a:solidFill>
                        <a:effectLst/>
                        <a:latin typeface="+mn-lt"/>
                        <a:ea typeface="Times" panose="02020603050405020304" pitchFamily="18" charset="0"/>
                        <a:cs typeface="Times New Roman" panose="02020603050405020304" pitchFamily="18" charset="0"/>
                      </a:endParaRPr>
                    </a:p>
                  </a:txBody>
                  <a:tcPr marL="68580" marR="68580" marT="0" marB="0">
                    <a:lnR w="12700" cap="flat" cmpd="sng" algn="ctr">
                      <a:solidFill>
                        <a:schemeClr val="tx1"/>
                      </a:solidFill>
                      <a:prstDash val="solid"/>
                      <a:round/>
                      <a:headEnd type="none" w="med" len="med"/>
                      <a:tailEnd type="none" w="med" len="med"/>
                    </a:lnR>
                    <a:solidFill>
                      <a:schemeClr val="tx1"/>
                    </a:solidFill>
                  </a:tcPr>
                </a:tc>
                <a:tc>
                  <a:txBody>
                    <a:bodyPr/>
                    <a:lstStyle/>
                    <a:p>
                      <a:pPr marL="42545" marR="0" algn="ctr" defTabSz="914400" rtl="0" eaLnBrk="1" latinLnBrk="0" hangingPunct="1">
                        <a:lnSpc>
                          <a:spcPts val="1300"/>
                        </a:lnSpc>
                        <a:spcBef>
                          <a:spcPts val="0"/>
                        </a:spcBef>
                        <a:spcAft>
                          <a:spcPts val="600"/>
                        </a:spcAft>
                      </a:pPr>
                      <a:r>
                        <a:rPr lang="en-US" sz="1050" b="1" kern="1200">
                          <a:solidFill>
                            <a:schemeClr val="bg1"/>
                          </a:solidFill>
                          <a:effectLst/>
                          <a:latin typeface="+mn-lt"/>
                          <a:ea typeface="+mn-ea"/>
                          <a:cs typeface="+mn-cs"/>
                        </a:rPr>
                        <a:t>File based (PMO) Jobs</a:t>
                      </a: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2B5E5"/>
                    </a:solidFill>
                  </a:tcPr>
                </a:tc>
                <a:tc>
                  <a:txBody>
                    <a:bodyPr/>
                    <a:lstStyle/>
                    <a:p>
                      <a:pPr marL="42545" marR="0" algn="ctr" defTabSz="914400" rtl="0" eaLnBrk="1" latinLnBrk="0" hangingPunct="1">
                        <a:lnSpc>
                          <a:spcPts val="1300"/>
                        </a:lnSpc>
                        <a:spcBef>
                          <a:spcPts val="0"/>
                        </a:spcBef>
                        <a:spcAft>
                          <a:spcPts val="600"/>
                        </a:spcAft>
                      </a:pPr>
                      <a:r>
                        <a:rPr lang="en-US" sz="1050" b="1" kern="1200">
                          <a:solidFill>
                            <a:schemeClr val="bg1"/>
                          </a:solidFill>
                          <a:effectLst/>
                          <a:latin typeface="+mn-lt"/>
                          <a:ea typeface="+mn-ea"/>
                          <a:cs typeface="+mn-cs"/>
                        </a:rPr>
                        <a:t>RIB</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2B5E5"/>
                    </a:solidFill>
                  </a:tcPr>
                </a:tc>
                <a:tc>
                  <a:txBody>
                    <a:bodyPr/>
                    <a:lstStyle/>
                    <a:p>
                      <a:pPr marL="42545" marR="0" algn="ctr">
                        <a:lnSpc>
                          <a:spcPts val="1300"/>
                        </a:lnSpc>
                        <a:spcBef>
                          <a:spcPts val="0"/>
                        </a:spcBef>
                        <a:spcAft>
                          <a:spcPts val="600"/>
                        </a:spcAft>
                      </a:pPr>
                      <a:r>
                        <a:rPr lang="en-US" sz="1050" b="1">
                          <a:solidFill>
                            <a:schemeClr val="bg1"/>
                          </a:solidFill>
                          <a:effectLst/>
                          <a:latin typeface="+mn-lt"/>
                        </a:rPr>
                        <a:t>Web Services</a:t>
                      </a:r>
                      <a:endParaRPr lang="en-US" sz="1050" b="1">
                        <a:solidFill>
                          <a:schemeClr val="bg1"/>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2B5E5"/>
                    </a:solidFill>
                  </a:tcPr>
                </a:tc>
                <a:tc>
                  <a:txBody>
                    <a:bodyPr/>
                    <a:lstStyle/>
                    <a:p>
                      <a:pPr marL="0" marR="0" algn="ctr" defTabSz="914400" rtl="0" eaLnBrk="1" latinLnBrk="0" hangingPunct="1">
                        <a:spcBef>
                          <a:spcPts val="0"/>
                        </a:spcBef>
                        <a:spcAft>
                          <a:spcPts val="600"/>
                        </a:spcAft>
                      </a:pPr>
                      <a:r>
                        <a:rPr lang="en-GB" sz="1050" b="1" kern="1200">
                          <a:solidFill>
                            <a:schemeClr val="bg1"/>
                          </a:solidFill>
                          <a:effectLst/>
                          <a:latin typeface="+mn-lt"/>
                          <a:ea typeface="Times" panose="02020603050405020304" pitchFamily="18" charset="0"/>
                          <a:cs typeface="Times New Roman"/>
                        </a:rPr>
                        <a:t>Web Service</a:t>
                      </a:r>
                      <a:endParaRPr lang="en-US" sz="1050" b="1" kern="1200">
                        <a:solidFill>
                          <a:schemeClr val="bg1"/>
                        </a:solidFill>
                        <a:effectLst/>
                        <a:latin typeface="+mn-lt"/>
                        <a:ea typeface="Times" panose="02020603050405020304" pitchFamily="18"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2B5E5"/>
                    </a:solidFill>
                  </a:tcPr>
                </a:tc>
                <a:tc>
                  <a:txBody>
                    <a:bodyPr/>
                    <a:lstStyle/>
                    <a:p>
                      <a:pPr marL="0" marR="0" algn="ctr" defTabSz="914400" rtl="0" eaLnBrk="1" latinLnBrk="0" hangingPunct="1">
                        <a:spcBef>
                          <a:spcPts val="0"/>
                        </a:spcBef>
                        <a:spcAft>
                          <a:spcPts val="600"/>
                        </a:spcAft>
                      </a:pPr>
                      <a:r>
                        <a:rPr lang="en-GB" sz="1050" b="1" kern="1200">
                          <a:solidFill>
                            <a:schemeClr val="bg1"/>
                          </a:solidFill>
                          <a:effectLst/>
                          <a:latin typeface="+mn-lt"/>
                          <a:ea typeface="Times" panose="02020603050405020304" pitchFamily="18" charset="0"/>
                          <a:cs typeface="Times New Roman"/>
                        </a:rPr>
                        <a:t>Merch API Publish Service</a:t>
                      </a:r>
                      <a:endParaRPr lang="en-US" sz="1050" b="1" kern="1200">
                        <a:solidFill>
                          <a:schemeClr val="bg1"/>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2B5E5"/>
                    </a:solidFill>
                  </a:tcPr>
                </a:tc>
                <a:tc>
                  <a:txBody>
                    <a:bodyPr/>
                    <a:lstStyle/>
                    <a:p>
                      <a:pPr marL="0" marR="0" algn="ctr">
                        <a:spcBef>
                          <a:spcPts val="0"/>
                        </a:spcBef>
                        <a:spcAft>
                          <a:spcPts val="600"/>
                        </a:spcAft>
                      </a:pPr>
                      <a:r>
                        <a:rPr lang="en-GB" sz="1050" b="1">
                          <a:solidFill>
                            <a:schemeClr val="bg1"/>
                          </a:solidFill>
                          <a:effectLst/>
                          <a:latin typeface="+mn-lt"/>
                          <a:ea typeface="Times" panose="02020603050405020304" pitchFamily="18" charset="0"/>
                          <a:cs typeface="Times New Roman"/>
                        </a:rPr>
                        <a:t>Data Extraction: (DAS)</a:t>
                      </a:r>
                      <a:endParaRPr lang="en-US" sz="1050" b="1">
                        <a:solidFill>
                          <a:srgbClr val="000000"/>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2B5E5"/>
                    </a:solidFill>
                  </a:tcPr>
                </a:tc>
                <a:extLst>
                  <a:ext uri="{0D108BD9-81ED-4DB2-BD59-A6C34878D82A}">
                    <a16:rowId xmlns:a16="http://schemas.microsoft.com/office/drawing/2014/main" val="4186235429"/>
                  </a:ext>
                </a:extLst>
              </a:tr>
              <a:tr h="535472">
                <a:tc>
                  <a:txBody>
                    <a:bodyPr/>
                    <a:lstStyle/>
                    <a:p>
                      <a:pPr marL="42545" marR="0" algn="l">
                        <a:lnSpc>
                          <a:spcPts val="1300"/>
                        </a:lnSpc>
                        <a:spcBef>
                          <a:spcPts val="0"/>
                        </a:spcBef>
                        <a:spcAft>
                          <a:spcPts val="600"/>
                        </a:spcAft>
                      </a:pPr>
                      <a:r>
                        <a:rPr lang="en-US" sz="1100">
                          <a:effectLst/>
                          <a:latin typeface="+mn-lt"/>
                        </a:rPr>
                        <a:t>Data Volume</a:t>
                      </a:r>
                      <a:endParaRPr lang="en-US" sz="1100" b="1">
                        <a:solidFill>
                          <a:schemeClr val="tx1"/>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2545" marR="0" algn="ctr">
                        <a:lnSpc>
                          <a:spcPts val="1300"/>
                        </a:lnSpc>
                        <a:spcBef>
                          <a:spcPts val="0"/>
                        </a:spcBef>
                        <a:spcAft>
                          <a:spcPts val="600"/>
                        </a:spcAft>
                      </a:pPr>
                      <a:r>
                        <a:rPr lang="en-US" sz="1100" kern="1200">
                          <a:solidFill>
                            <a:schemeClr val="dk1"/>
                          </a:solidFill>
                          <a:effectLst/>
                          <a:latin typeface="+mn-lt"/>
                          <a:ea typeface="+mn-ea"/>
                          <a:cs typeface="+mn-cs"/>
                        </a:rPr>
                        <a:t>High</a:t>
                      </a: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Medium to High</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Low</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Low</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2545" marR="0" algn="ctr">
                        <a:lnSpc>
                          <a:spcPts val="1300"/>
                        </a:lnSpc>
                        <a:spcBef>
                          <a:spcPts val="0"/>
                        </a:spcBef>
                        <a:spcAft>
                          <a:spcPts val="600"/>
                        </a:spcAft>
                      </a:pPr>
                      <a:r>
                        <a:rPr lang="en-US" sz="1100" b="0" kern="1200">
                          <a:solidFill>
                            <a:schemeClr val="tx1"/>
                          </a:solidFill>
                          <a:effectLst/>
                          <a:latin typeface="+mn-lt"/>
                          <a:ea typeface="Times" panose="02020603050405020304" pitchFamily="18" charset="0"/>
                          <a:cs typeface="Times New Roman"/>
                        </a:rPr>
                        <a:t>Medium</a:t>
                      </a:r>
                    </a:p>
                  </a:txBody>
                  <a:tcPr marL="68580" marR="6858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2545" marR="0" algn="ctr">
                        <a:lnSpc>
                          <a:spcPts val="1300"/>
                        </a:lnSpc>
                        <a:spcBef>
                          <a:spcPts val="0"/>
                        </a:spcBef>
                        <a:spcAft>
                          <a:spcPts val="600"/>
                        </a:spcAft>
                      </a:pPr>
                      <a:r>
                        <a:rPr lang="en-US" sz="1100" b="0">
                          <a:solidFill>
                            <a:schemeClr val="tx1"/>
                          </a:solidFill>
                          <a:effectLst/>
                          <a:latin typeface="+mn-lt"/>
                          <a:ea typeface="Times" panose="02020603050405020304" pitchFamily="18" charset="0"/>
                          <a:cs typeface="Times New Roman"/>
                        </a:rPr>
                        <a:t>High</a:t>
                      </a:r>
                    </a:p>
                  </a:txBody>
                  <a:tcPr marL="68580" marR="6858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0666077"/>
                  </a:ext>
                </a:extLst>
              </a:tr>
              <a:tr h="685441">
                <a:tc>
                  <a:txBody>
                    <a:bodyPr/>
                    <a:lstStyle/>
                    <a:p>
                      <a:pPr marL="42545" marR="0" algn="l">
                        <a:lnSpc>
                          <a:spcPts val="1300"/>
                        </a:lnSpc>
                        <a:spcBef>
                          <a:spcPts val="0"/>
                        </a:spcBef>
                        <a:spcAft>
                          <a:spcPts val="600"/>
                        </a:spcAft>
                      </a:pPr>
                      <a:r>
                        <a:rPr lang="en-US" sz="1100">
                          <a:effectLst/>
                          <a:latin typeface="+mn-lt"/>
                        </a:rPr>
                        <a:t>Recommended volume ranges</a:t>
                      </a:r>
                      <a:endParaRPr lang="en-US" sz="1100" b="1">
                        <a:solidFill>
                          <a:schemeClr val="tx1"/>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fontAlgn="ctr">
                        <a:spcBef>
                          <a:spcPts val="0"/>
                        </a:spcBef>
                        <a:spcAft>
                          <a:spcPts val="0"/>
                        </a:spcAft>
                      </a:pPr>
                      <a:r>
                        <a:rPr lang="en-GB" sz="1100" kern="1200">
                          <a:solidFill>
                            <a:schemeClr val="dk1"/>
                          </a:solidFill>
                          <a:effectLst/>
                          <a:latin typeface="+mn-lt"/>
                          <a:ea typeface="+mn-ea"/>
                          <a:cs typeface="+mn-cs"/>
                        </a:rPr>
                        <a:t>&lt; 100K records</a:t>
                      </a:r>
                      <a:endParaRPr lang="en-US" sz="1100" kern="1200">
                        <a:solidFill>
                          <a:schemeClr val="dk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&lt; 100K records</a:t>
                      </a: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&lt; 100</a:t>
                      </a:r>
                    </a:p>
                    <a:p>
                      <a:pPr marL="0" marR="0" algn="ctr" rtl="0" eaLnBrk="1" latinLnBrk="0" hangingPunct="1">
                        <a:lnSpc>
                          <a:spcPts val="1300"/>
                        </a:lnSpc>
                        <a:spcBef>
                          <a:spcPts val="0"/>
                        </a:spcBef>
                        <a:spcAft>
                          <a:spcPts val="600"/>
                        </a:spcAft>
                      </a:pPr>
                      <a:r>
                        <a:rPr lang="en-US" sz="1100" b="0" kern="1200">
                          <a:solidFill>
                            <a:schemeClr val="tx1"/>
                          </a:solidFill>
                          <a:effectLst/>
                          <a:latin typeface="+mn-lt"/>
                          <a:cs typeface="Times New Roman"/>
                        </a:rPr>
                        <a:t> records</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&lt; 100</a:t>
                      </a:r>
                    </a:p>
                    <a:p>
                      <a:pPr marL="0" marR="0" algn="ctr" rtl="0" eaLnBrk="1" latinLnBrk="0" hangingPunct="1">
                        <a:lnSpc>
                          <a:spcPts val="1300"/>
                        </a:lnSpc>
                        <a:spcBef>
                          <a:spcPts val="0"/>
                        </a:spcBef>
                        <a:spcAft>
                          <a:spcPts val="600"/>
                        </a:spcAft>
                      </a:pPr>
                      <a:r>
                        <a:rPr lang="en-US" sz="1100" b="0" kern="1200">
                          <a:solidFill>
                            <a:schemeClr val="tx1"/>
                          </a:solidFill>
                          <a:effectLst/>
                          <a:latin typeface="+mn-lt"/>
                          <a:cs typeface="Times New Roman"/>
                        </a:rPr>
                        <a:t> records</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GB" sz="1100" b="0" kern="1200">
                          <a:solidFill>
                            <a:schemeClr val="tx1"/>
                          </a:solidFill>
                          <a:effectLst/>
                          <a:latin typeface="+mn-lt"/>
                          <a:ea typeface="Times" panose="02020603050405020304" pitchFamily="18" charset="0"/>
                          <a:cs typeface="Times New Roman"/>
                        </a:rPr>
                        <a:t>~ 1000 records per poll</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US" sz="1100" b="0">
                          <a:solidFill>
                            <a:schemeClr val="tx1"/>
                          </a:solidFill>
                          <a:effectLst/>
                          <a:latin typeface="+mn-lt"/>
                          <a:ea typeface="Times" panose="02020603050405020304" pitchFamily="18" charset="0"/>
                          <a:cs typeface="Times New Roman"/>
                        </a:rPr>
                        <a:t>Table level extractions</a:t>
                      </a: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6856218"/>
                  </a:ext>
                </a:extLst>
              </a:tr>
              <a:tr h="319115">
                <a:tc>
                  <a:txBody>
                    <a:bodyPr/>
                    <a:lstStyle/>
                    <a:p>
                      <a:pPr marL="42545" marR="0" algn="l">
                        <a:lnSpc>
                          <a:spcPts val="1300"/>
                        </a:lnSpc>
                        <a:spcBef>
                          <a:spcPts val="0"/>
                        </a:spcBef>
                        <a:spcAft>
                          <a:spcPts val="600"/>
                        </a:spcAft>
                      </a:pPr>
                      <a:r>
                        <a:rPr lang="en-US" sz="1100">
                          <a:effectLst/>
                          <a:latin typeface="+mn-lt"/>
                        </a:rPr>
                        <a:t>Real Time</a:t>
                      </a:r>
                      <a:endParaRPr lang="en-US" sz="1100" b="1">
                        <a:solidFill>
                          <a:schemeClr val="tx1"/>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GB" sz="1100" kern="1200">
                          <a:solidFill>
                            <a:schemeClr val="dk1"/>
                          </a:solidFill>
                          <a:effectLst/>
                          <a:latin typeface="+mn-lt"/>
                          <a:ea typeface="+mn-ea"/>
                          <a:cs typeface="+mn-cs"/>
                        </a:rPr>
                        <a:t>No</a:t>
                      </a:r>
                      <a:endParaRPr lang="en-US" sz="1100" kern="1200">
                        <a:solidFill>
                          <a:schemeClr val="dk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ea typeface="Times" panose="02020603050405020304" pitchFamily="18" charset="0"/>
                          <a:cs typeface="Times New Roman"/>
                        </a:rPr>
                        <a:t>Yes</a:t>
                      </a: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Yes</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Yes</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GB" sz="1100" b="0" kern="1200">
                          <a:solidFill>
                            <a:schemeClr val="tx1"/>
                          </a:solidFill>
                          <a:effectLst/>
                          <a:latin typeface="+mn-lt"/>
                          <a:ea typeface="Times" panose="02020603050405020304" pitchFamily="18" charset="0"/>
                          <a:cs typeface="Times New Roman"/>
                        </a:rPr>
                        <a:t>Yes</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US" sz="1100" b="0">
                          <a:solidFill>
                            <a:schemeClr val="tx1"/>
                          </a:solidFill>
                          <a:effectLst/>
                          <a:latin typeface="+mn-lt"/>
                          <a:ea typeface="Times" panose="02020603050405020304" pitchFamily="18" charset="0"/>
                          <a:cs typeface="Times New Roman"/>
                        </a:rPr>
                        <a:t>Yes</a:t>
                      </a: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22035205"/>
                  </a:ext>
                </a:extLst>
              </a:tr>
              <a:tr h="319115">
                <a:tc>
                  <a:txBody>
                    <a:bodyPr/>
                    <a:lstStyle/>
                    <a:p>
                      <a:pPr marL="42545" marR="0" algn="l">
                        <a:lnSpc>
                          <a:spcPts val="1300"/>
                        </a:lnSpc>
                        <a:spcBef>
                          <a:spcPts val="0"/>
                        </a:spcBef>
                        <a:spcAft>
                          <a:spcPts val="600"/>
                        </a:spcAft>
                      </a:pPr>
                      <a:r>
                        <a:rPr lang="en-US" sz="1100">
                          <a:effectLst/>
                          <a:latin typeface="+mn-lt"/>
                        </a:rPr>
                        <a:t>Batch</a:t>
                      </a:r>
                      <a:endParaRPr lang="en-US" sz="1100" b="1">
                        <a:solidFill>
                          <a:schemeClr val="tx1"/>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GB" sz="1100" kern="1200">
                          <a:solidFill>
                            <a:schemeClr val="dk1"/>
                          </a:solidFill>
                          <a:effectLst/>
                          <a:latin typeface="+mn-lt"/>
                          <a:ea typeface="+mn-ea"/>
                          <a:cs typeface="+mn-cs"/>
                        </a:rPr>
                        <a:t>Yes</a:t>
                      </a:r>
                      <a:endParaRPr lang="en-US" sz="1100" kern="1200">
                        <a:solidFill>
                          <a:schemeClr val="dk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No</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No</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No</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GB" sz="1100" b="0" kern="1200">
                          <a:solidFill>
                            <a:schemeClr val="tx1"/>
                          </a:solidFill>
                          <a:effectLst/>
                          <a:latin typeface="+mn-lt"/>
                          <a:ea typeface="Times" panose="02020603050405020304" pitchFamily="18" charset="0"/>
                          <a:cs typeface="Times New Roman"/>
                        </a:rPr>
                        <a:t>No</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US" sz="1100" b="0">
                          <a:solidFill>
                            <a:schemeClr val="tx1"/>
                          </a:solidFill>
                          <a:effectLst/>
                          <a:latin typeface="+mn-lt"/>
                          <a:ea typeface="Times" panose="02020603050405020304" pitchFamily="18" charset="0"/>
                          <a:cs typeface="Times New Roman"/>
                        </a:rPr>
                        <a:t>No</a:t>
                      </a: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6872571"/>
                  </a:ext>
                </a:extLst>
              </a:tr>
              <a:tr h="529103">
                <a:tc>
                  <a:txBody>
                    <a:bodyPr/>
                    <a:lstStyle/>
                    <a:p>
                      <a:pPr marL="42545" marR="0" algn="l">
                        <a:lnSpc>
                          <a:spcPts val="1300"/>
                        </a:lnSpc>
                        <a:spcBef>
                          <a:spcPts val="0"/>
                        </a:spcBef>
                        <a:spcAft>
                          <a:spcPts val="600"/>
                        </a:spcAft>
                      </a:pPr>
                      <a:r>
                        <a:rPr lang="en-US" sz="1100">
                          <a:effectLst/>
                          <a:latin typeface="+mn-lt"/>
                        </a:rPr>
                        <a:t>Multithreaded processing</a:t>
                      </a:r>
                      <a:endParaRPr lang="en-US" sz="1100" b="1">
                        <a:solidFill>
                          <a:schemeClr val="tx1"/>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GB" sz="1100" kern="1200">
                          <a:solidFill>
                            <a:schemeClr val="dk1"/>
                          </a:solidFill>
                          <a:effectLst/>
                          <a:latin typeface="+mn-lt"/>
                          <a:ea typeface="+mn-ea"/>
                          <a:cs typeface="+mn-cs"/>
                        </a:rPr>
                        <a:t>Yes</a:t>
                      </a:r>
                      <a:endParaRPr lang="en-US" sz="1100" kern="1200">
                        <a:solidFill>
                          <a:schemeClr val="dk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Yes</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No</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No</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GB" sz="1100" b="0" kern="1200">
                          <a:solidFill>
                            <a:schemeClr val="tx1"/>
                          </a:solidFill>
                          <a:effectLst/>
                          <a:latin typeface="+mn-lt"/>
                          <a:ea typeface="Times" panose="02020603050405020304" pitchFamily="18" charset="0"/>
                          <a:cs typeface="Times New Roman"/>
                        </a:rPr>
                        <a:t>No</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US" sz="1100" b="0">
                          <a:solidFill>
                            <a:schemeClr val="tx1"/>
                          </a:solidFill>
                          <a:effectLst/>
                          <a:latin typeface="+mn-lt"/>
                          <a:ea typeface="Times" panose="02020603050405020304" pitchFamily="18" charset="0"/>
                          <a:cs typeface="Times New Roman"/>
                        </a:rPr>
                        <a:t>No</a:t>
                      </a: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7148615"/>
                  </a:ext>
                </a:extLst>
              </a:tr>
              <a:tr h="538199">
                <a:tc>
                  <a:txBody>
                    <a:bodyPr/>
                    <a:lstStyle/>
                    <a:p>
                      <a:pPr marL="42545" marR="0" algn="l">
                        <a:lnSpc>
                          <a:spcPts val="1300"/>
                        </a:lnSpc>
                        <a:spcBef>
                          <a:spcPts val="0"/>
                        </a:spcBef>
                        <a:spcAft>
                          <a:spcPts val="600"/>
                        </a:spcAft>
                      </a:pPr>
                      <a:r>
                        <a:rPr lang="en-US" sz="1100">
                          <a:effectLst/>
                          <a:latin typeface="+mn-lt"/>
                        </a:rPr>
                        <a:t>Implementation Complexity</a:t>
                      </a:r>
                      <a:endParaRPr lang="en-US" sz="1100" b="1">
                        <a:solidFill>
                          <a:schemeClr val="tx1"/>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GB" sz="1100" kern="1200">
                          <a:solidFill>
                            <a:schemeClr val="dk1"/>
                          </a:solidFill>
                          <a:effectLst/>
                          <a:latin typeface="+mn-lt"/>
                          <a:ea typeface="+mn-ea"/>
                          <a:cs typeface="+mn-cs"/>
                        </a:rPr>
                        <a:t>Low</a:t>
                      </a:r>
                      <a:endParaRPr lang="en-US" sz="1100" kern="1200">
                        <a:solidFill>
                          <a:schemeClr val="dk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Low</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Low</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cs typeface="Times New Roman"/>
                        </a:rPr>
                        <a:t>Low</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GB" sz="1100" b="0" kern="1200">
                          <a:solidFill>
                            <a:schemeClr val="tx1"/>
                          </a:solidFill>
                          <a:effectLst/>
                          <a:latin typeface="+mn-lt"/>
                          <a:ea typeface="Times" panose="02020603050405020304" pitchFamily="18" charset="0"/>
                          <a:cs typeface="Times New Roman"/>
                        </a:rPr>
                        <a:t>Medium</a:t>
                      </a:r>
                      <a:endParaRPr lang="en-US" sz="1100" b="0" kern="1200">
                        <a:solidFill>
                          <a:schemeClr val="tx1"/>
                        </a:solidFill>
                        <a:effectLst/>
                        <a:latin typeface="+mn-lt"/>
                        <a:ea typeface="Times" panose="02020603050405020304" pitchFamily="18" charset="0"/>
                        <a:cs typeface="Times New Roman"/>
                      </a:endParaRP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US" sz="1100" b="0">
                          <a:solidFill>
                            <a:schemeClr val="tx1"/>
                          </a:solidFill>
                          <a:effectLst/>
                          <a:latin typeface="+mn-lt"/>
                          <a:ea typeface="Times" panose="02020603050405020304" pitchFamily="18" charset="0"/>
                          <a:cs typeface="Times New Roman"/>
                        </a:rPr>
                        <a:t>High</a:t>
                      </a: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09137704"/>
                  </a:ext>
                </a:extLst>
              </a:tr>
              <a:tr h="592852">
                <a:tc>
                  <a:txBody>
                    <a:bodyPr/>
                    <a:lstStyle/>
                    <a:p>
                      <a:pPr marL="42545" marR="0" algn="l">
                        <a:lnSpc>
                          <a:spcPts val="1300"/>
                        </a:lnSpc>
                        <a:spcBef>
                          <a:spcPts val="0"/>
                        </a:spcBef>
                        <a:spcAft>
                          <a:spcPts val="600"/>
                        </a:spcAft>
                      </a:pPr>
                      <a:r>
                        <a:rPr lang="en-US" sz="1100" b="1">
                          <a:solidFill>
                            <a:schemeClr val="tx1"/>
                          </a:solidFill>
                          <a:effectLst/>
                          <a:latin typeface="+mn-lt"/>
                          <a:ea typeface="Times" panose="02020603050405020304" pitchFamily="18" charset="0"/>
                          <a:cs typeface="Times New Roman"/>
                        </a:rPr>
                        <a:t>Full Extract/Delta only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2545" marR="0" algn="ctr" defTabSz="914400" rtl="0" eaLnBrk="1" latinLnBrk="0" hangingPunct="1">
                        <a:lnSpc>
                          <a:spcPts val="1300"/>
                        </a:lnSpc>
                        <a:spcBef>
                          <a:spcPts val="0"/>
                        </a:spcBef>
                        <a:spcAft>
                          <a:spcPts val="600"/>
                        </a:spcAft>
                      </a:pPr>
                      <a:r>
                        <a:rPr lang="en-US" sz="1100" kern="1200">
                          <a:solidFill>
                            <a:schemeClr val="dk1"/>
                          </a:solidFill>
                          <a:effectLst/>
                          <a:latin typeface="+mn-lt"/>
                          <a:ea typeface="+mn-ea"/>
                          <a:cs typeface="+mn-cs"/>
                        </a:rPr>
                        <a:t>Delta</a:t>
                      </a: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ea typeface="+mn-ea"/>
                          <a:cs typeface="Times New Roman"/>
                        </a:rPr>
                        <a:t>Delta</a:t>
                      </a: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ea typeface="+mn-ea"/>
                          <a:cs typeface="Times New Roman"/>
                        </a:rPr>
                        <a:t>Delta</a:t>
                      </a:r>
                    </a:p>
                  </a:txBody>
                  <a:tcPr marL="68580" marR="6858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0" eaLnBrk="1" latinLnBrk="0" hangingPunct="1">
                        <a:lnSpc>
                          <a:spcPts val="1300"/>
                        </a:lnSpc>
                        <a:spcBef>
                          <a:spcPts val="0"/>
                        </a:spcBef>
                        <a:spcAft>
                          <a:spcPts val="600"/>
                        </a:spcAft>
                      </a:pPr>
                      <a:r>
                        <a:rPr lang="en-US" sz="1100" b="0" kern="1200">
                          <a:solidFill>
                            <a:schemeClr val="tx1"/>
                          </a:solidFill>
                          <a:effectLst/>
                          <a:latin typeface="+mn-lt"/>
                          <a:ea typeface="+mn-ea"/>
                          <a:cs typeface="Times New Roman"/>
                        </a:rPr>
                        <a:t>Delta</a:t>
                      </a:r>
                    </a:p>
                  </a:txBody>
                  <a:tcPr marL="68580" marR="6858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US" sz="1100" b="0" kern="1200">
                          <a:solidFill>
                            <a:schemeClr val="tx1"/>
                          </a:solidFill>
                          <a:effectLst/>
                          <a:latin typeface="+mn-lt"/>
                          <a:ea typeface="Times" panose="02020603050405020304" pitchFamily="18" charset="0"/>
                          <a:cs typeface="Times New Roman"/>
                        </a:rPr>
                        <a:t>Delta &amp; Full</a:t>
                      </a: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600"/>
                        </a:spcAft>
                      </a:pPr>
                      <a:r>
                        <a:rPr lang="en-US" sz="1100" b="0">
                          <a:solidFill>
                            <a:schemeClr val="tx1"/>
                          </a:solidFill>
                          <a:effectLst/>
                          <a:latin typeface="+mn-lt"/>
                          <a:ea typeface="Times" panose="02020603050405020304" pitchFamily="18" charset="0"/>
                          <a:cs typeface="Times New Roman"/>
                        </a:rPr>
                        <a:t>Delta &amp; Full</a:t>
                      </a:r>
                    </a:p>
                  </a:txBody>
                  <a:tcPr marL="68580" marR="6858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96740466"/>
                  </a:ext>
                </a:extLst>
              </a:tr>
            </a:tbl>
          </a:graphicData>
        </a:graphic>
      </p:graphicFrame>
      <p:sp>
        <p:nvSpPr>
          <p:cNvPr id="5" name="Title 1">
            <a:extLst>
              <a:ext uri="{FF2B5EF4-FFF2-40B4-BE49-F238E27FC236}">
                <a16:creationId xmlns:a16="http://schemas.microsoft.com/office/drawing/2014/main" id="{B52494FE-0899-421E-B49A-BB7F4EDA5B1B}"/>
              </a:ext>
            </a:extLst>
          </p:cNvPr>
          <p:cNvSpPr txBox="1">
            <a:spLocks/>
          </p:cNvSpPr>
          <p:nvPr/>
        </p:nvSpPr>
        <p:spPr bwMode="gray">
          <a:xfrm>
            <a:off x="434898" y="409575"/>
            <a:ext cx="11247120" cy="430887"/>
          </a:xfrm>
          <a:prstGeom prst="rect">
            <a:avLst/>
          </a:prstGeom>
        </p:spPr>
        <p:txBody>
          <a:bodyPr vert="horz" lIns="0" tIns="0" rIns="0" bIns="0" rtlCol="0" anchor="t" anchorCtr="0">
            <a:spAutoFit/>
          </a:bodyPr>
          <a:lstStyle>
            <a:lvl1pPr algn="l" defTabSz="1217613" rtl="0" eaLnBrk="1" fontAlgn="base" latinLnBrk="0" hangingPunct="1">
              <a:spcBef>
                <a:spcPct val="0"/>
              </a:spcBef>
              <a:spcAft>
                <a:spcPct val="0"/>
              </a:spcAft>
              <a:buNone/>
              <a:defRPr lang="en-US" sz="3200" b="0" kern="1200" spc="-50" noProof="0" dirty="0">
                <a:solidFill>
                  <a:schemeClr val="tx1"/>
                </a:solidFill>
                <a:latin typeface="+mj-lt"/>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2800">
                <a:ea typeface="+mj-ea"/>
                <a:cs typeface="Calibri Light" panose="020F0302020204030204" pitchFamily="34" charset="0"/>
              </a:rPr>
              <a:t>Integration Tool Selection Matrix</a:t>
            </a:r>
          </a:p>
        </p:txBody>
      </p:sp>
      <p:pic>
        <p:nvPicPr>
          <p:cNvPr id="6" name="Picture 5" descr="A picture containing text&#10;&#10;Description automatically generated">
            <a:extLst>
              <a:ext uri="{FF2B5EF4-FFF2-40B4-BE49-F238E27FC236}">
                <a16:creationId xmlns:a16="http://schemas.microsoft.com/office/drawing/2014/main" id="{B22FF567-E900-4C8A-833E-C9DBFE05447C}"/>
              </a:ext>
            </a:extLst>
          </p:cNvPr>
          <p:cNvPicPr>
            <a:picLocks noChangeAspect="1"/>
          </p:cNvPicPr>
          <p:nvPr/>
        </p:nvPicPr>
        <p:blipFill rotWithShape="1">
          <a:blip r:embed="rId3"/>
          <a:srcRect t="72253" r="32706" b="-593"/>
          <a:stretch/>
        </p:blipFill>
        <p:spPr>
          <a:xfrm>
            <a:off x="5677" y="5373400"/>
            <a:ext cx="6372225" cy="1515424"/>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688B79E0-AF5B-4FAA-93E3-448701D14539}"/>
              </a:ext>
            </a:extLst>
          </p:cNvPr>
          <p:cNvPicPr>
            <a:picLocks noChangeAspect="1"/>
          </p:cNvPicPr>
          <p:nvPr/>
        </p:nvPicPr>
        <p:blipFill rotWithShape="1">
          <a:blip r:embed="rId3"/>
          <a:srcRect t="86960" r="37534" b="-593"/>
          <a:stretch/>
        </p:blipFill>
        <p:spPr>
          <a:xfrm flipH="1">
            <a:off x="7072310" y="6182240"/>
            <a:ext cx="5119687" cy="746403"/>
          </a:xfrm>
          <a:prstGeom prst="rect">
            <a:avLst/>
          </a:prstGeom>
        </p:spPr>
      </p:pic>
    </p:spTree>
    <p:extLst>
      <p:ext uri="{BB962C8B-B14F-4D97-AF65-F5344CB8AC3E}">
        <p14:creationId xmlns:p14="http://schemas.microsoft.com/office/powerpoint/2010/main" val="2509133036"/>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a:xfrm>
            <a:off x="457200" y="1735048"/>
            <a:ext cx="6934200" cy="2786063"/>
          </a:xfrm>
        </p:spPr>
        <p:txBody>
          <a:bodyPr/>
          <a:lstStyle/>
          <a:p>
            <a:pPr marL="0" indent="0">
              <a:buNone/>
            </a:pPr>
            <a:r>
              <a:rPr lang="en-US"/>
              <a:t>Third Party / Next Gen  Integration Patterns</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154007208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Picture 81" descr="A picture containing text&#10;&#10;Description automatically generated">
            <a:extLst>
              <a:ext uri="{FF2B5EF4-FFF2-40B4-BE49-F238E27FC236}">
                <a16:creationId xmlns:a16="http://schemas.microsoft.com/office/drawing/2014/main" id="{47A0871B-1D39-4F4F-8ABA-7589084CDD04}"/>
              </a:ext>
            </a:extLst>
          </p:cNvPr>
          <p:cNvPicPr>
            <a:picLocks noChangeAspect="1"/>
          </p:cNvPicPr>
          <p:nvPr/>
        </p:nvPicPr>
        <p:blipFill rotWithShape="1">
          <a:blip r:embed="rId2"/>
          <a:srcRect t="91185" r="32706" b="-593"/>
          <a:stretch/>
        </p:blipFill>
        <p:spPr>
          <a:xfrm>
            <a:off x="5677" y="6385758"/>
            <a:ext cx="6372225" cy="503065"/>
          </a:xfrm>
          <a:prstGeom prst="rect">
            <a:avLst/>
          </a:prstGeom>
        </p:spPr>
      </p:pic>
      <p:pic>
        <p:nvPicPr>
          <p:cNvPr id="83" name="Picture 82" descr="A picture containing text&#10;&#10;Description automatically generated">
            <a:extLst>
              <a:ext uri="{FF2B5EF4-FFF2-40B4-BE49-F238E27FC236}">
                <a16:creationId xmlns:a16="http://schemas.microsoft.com/office/drawing/2014/main" id="{A23B8748-9B27-4DA6-9B73-31451705F7CB}"/>
              </a:ext>
            </a:extLst>
          </p:cNvPr>
          <p:cNvPicPr>
            <a:picLocks noChangeAspect="1"/>
          </p:cNvPicPr>
          <p:nvPr/>
        </p:nvPicPr>
        <p:blipFill rotWithShape="1">
          <a:blip r:embed="rId2"/>
          <a:srcRect t="86960" r="37534" b="-593"/>
          <a:stretch/>
        </p:blipFill>
        <p:spPr>
          <a:xfrm flipH="1">
            <a:off x="7072310" y="6182240"/>
            <a:ext cx="5119687" cy="746403"/>
          </a:xfrm>
          <a:prstGeom prst="rect">
            <a:avLst/>
          </a:prstGeom>
        </p:spPr>
      </p:pic>
      <p:sp>
        <p:nvSpPr>
          <p:cNvPr id="84" name="Rectangle 83">
            <a:extLst>
              <a:ext uri="{FF2B5EF4-FFF2-40B4-BE49-F238E27FC236}">
                <a16:creationId xmlns:a16="http://schemas.microsoft.com/office/drawing/2014/main" id="{5E9C80CE-4707-40E0-B110-5CF420701B78}"/>
              </a:ext>
            </a:extLst>
          </p:cNvPr>
          <p:cNvSpPr/>
          <p:nvPr/>
        </p:nvSpPr>
        <p:spPr>
          <a:xfrm>
            <a:off x="9780608" y="170623"/>
            <a:ext cx="2210764" cy="120676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n w="0"/>
                <a:solidFill>
                  <a:schemeClr val="tx1"/>
                </a:solidFill>
                <a:effectLst>
                  <a:outerShdw blurRad="38100" dist="19050" dir="2700000" algn="tl" rotWithShape="0">
                    <a:schemeClr val="dk1">
                      <a:alpha val="40000"/>
                    </a:schemeClr>
                  </a:outerShdw>
                </a:effectLst>
              </a:rPr>
              <a:t>Need to be added by if anything generic is required</a:t>
            </a:r>
          </a:p>
        </p:txBody>
      </p:sp>
    </p:spTree>
    <p:extLst>
      <p:ext uri="{BB962C8B-B14F-4D97-AF65-F5344CB8AC3E}">
        <p14:creationId xmlns:p14="http://schemas.microsoft.com/office/powerpoint/2010/main" val="2165145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a:xfrm>
            <a:off x="457200" y="1735048"/>
            <a:ext cx="6934200" cy="2786063"/>
          </a:xfrm>
        </p:spPr>
        <p:txBody>
          <a:bodyPr/>
          <a:lstStyle/>
          <a:p>
            <a:pPr marL="0" indent="0">
              <a:buNone/>
            </a:pPr>
            <a:r>
              <a:rPr lang="en-US"/>
              <a:t>Integration Strategy</a:t>
            </a:r>
          </a:p>
          <a:p>
            <a:pPr marL="0" indent="0">
              <a:buNone/>
            </a:pPr>
            <a:r>
              <a:rPr lang="en-US"/>
              <a:t>Errors and Corrections</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3"/>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1668157395"/>
      </p:ext>
    </p:extLst>
  </p:cSld>
  <p:clrMapOvr>
    <a:masterClrMapping/>
  </p:clrMapOvr>
  <p:transition>
    <p:fade/>
  </p:transition>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6DC2-92DF-48AD-B1B3-91F356F63881}"/>
              </a:ext>
            </a:extLst>
          </p:cNvPr>
          <p:cNvSpPr>
            <a:spLocks noGrp="1"/>
          </p:cNvSpPr>
          <p:nvPr>
            <p:ph type="title"/>
          </p:nvPr>
        </p:nvSpPr>
        <p:spPr>
          <a:xfrm>
            <a:off x="629173" y="303628"/>
            <a:ext cx="10469461" cy="50330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p>
            <a:r>
              <a:rPr lang="en-US" sz="2000">
                <a:latin typeface="Calibri" panose="020F0502020204030204" pitchFamily="34" charset="0"/>
                <a:cs typeface="Calibri" panose="020F0502020204030204" pitchFamily="34" charset="0"/>
              </a:rPr>
              <a:t>Error Handling Strategy – </a:t>
            </a:r>
            <a:r>
              <a:rPr lang="en-US" altLang="ja-JP" sz="2000">
                <a:latin typeface="Calibri" panose="020F0502020204030204" pitchFamily="34" charset="0"/>
                <a:cs typeface="Calibri" panose="020F0502020204030204" pitchFamily="34" charset="0"/>
              </a:rPr>
              <a:t>Exception Categories</a:t>
            </a:r>
            <a:endParaRPr lang="en-US" sz="2000">
              <a:latin typeface="Calibri" panose="020F0502020204030204" pitchFamily="34" charset="0"/>
              <a:cs typeface="Calibri" panose="020F0502020204030204" pitchFamily="34" charset="0"/>
            </a:endParaRPr>
          </a:p>
        </p:txBody>
      </p:sp>
      <p:sp>
        <p:nvSpPr>
          <p:cNvPr id="3" name="Pentagon 38">
            <a:extLst>
              <a:ext uri="{FF2B5EF4-FFF2-40B4-BE49-F238E27FC236}">
                <a16:creationId xmlns:a16="http://schemas.microsoft.com/office/drawing/2014/main" id="{B0B0A1A7-809A-4C01-ABBB-4FB4AE9271D0}"/>
              </a:ext>
            </a:extLst>
          </p:cNvPr>
          <p:cNvSpPr/>
          <p:nvPr/>
        </p:nvSpPr>
        <p:spPr>
          <a:xfrm flipH="1">
            <a:off x="2008528" y="1649757"/>
            <a:ext cx="2508514" cy="1299976"/>
          </a:xfrm>
          <a:prstGeom prst="homePlate">
            <a:avLst/>
          </a:prstGeom>
          <a:solidFill>
            <a:schemeClr val="accent6">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1400"/>
          </a:p>
        </p:txBody>
      </p:sp>
      <p:sp>
        <p:nvSpPr>
          <p:cNvPr id="4" name="Rectangle 8">
            <a:extLst>
              <a:ext uri="{FF2B5EF4-FFF2-40B4-BE49-F238E27FC236}">
                <a16:creationId xmlns:a16="http://schemas.microsoft.com/office/drawing/2014/main" id="{FC30E349-E947-4CDD-87BC-80C2FA74637F}"/>
              </a:ext>
            </a:extLst>
          </p:cNvPr>
          <p:cNvSpPr/>
          <p:nvPr/>
        </p:nvSpPr>
        <p:spPr>
          <a:xfrm>
            <a:off x="4517044" y="2727374"/>
            <a:ext cx="660400" cy="1714106"/>
          </a:xfrm>
          <a:custGeom>
            <a:avLst/>
            <a:gdLst>
              <a:gd name="connsiteX0" fmla="*/ 0 w 1696507"/>
              <a:gd name="connsiteY0" fmla="*/ 0 h 1018645"/>
              <a:gd name="connsiteX1" fmla="*/ 1696507 w 1696507"/>
              <a:gd name="connsiteY1" fmla="*/ 0 h 1018645"/>
              <a:gd name="connsiteX2" fmla="*/ 1696507 w 1696507"/>
              <a:gd name="connsiteY2" fmla="*/ 1018645 h 1018645"/>
              <a:gd name="connsiteX3" fmla="*/ 0 w 1696507"/>
              <a:gd name="connsiteY3" fmla="*/ 1018645 h 1018645"/>
              <a:gd name="connsiteX4" fmla="*/ 0 w 1696507"/>
              <a:gd name="connsiteY4" fmla="*/ 0 h 1018645"/>
              <a:gd name="connsiteX0" fmla="*/ 0 w 1696507"/>
              <a:gd name="connsiteY0" fmla="*/ 165100 h 1183745"/>
              <a:gd name="connsiteX1" fmla="*/ 1696507 w 1696507"/>
              <a:gd name="connsiteY1" fmla="*/ 0 h 1183745"/>
              <a:gd name="connsiteX2" fmla="*/ 1696507 w 1696507"/>
              <a:gd name="connsiteY2" fmla="*/ 1183745 h 1183745"/>
              <a:gd name="connsiteX3" fmla="*/ 0 w 1696507"/>
              <a:gd name="connsiteY3" fmla="*/ 1183745 h 1183745"/>
              <a:gd name="connsiteX4" fmla="*/ 0 w 1696507"/>
              <a:gd name="connsiteY4" fmla="*/ 165100 h 1183745"/>
              <a:gd name="connsiteX0" fmla="*/ 0 w 1696507"/>
              <a:gd name="connsiteY0" fmla="*/ 165100 h 1352020"/>
              <a:gd name="connsiteX1" fmla="*/ 1696507 w 1696507"/>
              <a:gd name="connsiteY1" fmla="*/ 0 h 1352020"/>
              <a:gd name="connsiteX2" fmla="*/ 1696507 w 1696507"/>
              <a:gd name="connsiteY2" fmla="*/ 1352020 h 1352020"/>
              <a:gd name="connsiteX3" fmla="*/ 0 w 1696507"/>
              <a:gd name="connsiteY3" fmla="*/ 1183745 h 1352020"/>
              <a:gd name="connsiteX4" fmla="*/ 0 w 1696507"/>
              <a:gd name="connsiteY4" fmla="*/ 165100 h 1352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507" h="1352020">
                <a:moveTo>
                  <a:pt x="0" y="165100"/>
                </a:moveTo>
                <a:lnTo>
                  <a:pt x="1696507" y="0"/>
                </a:lnTo>
                <a:lnTo>
                  <a:pt x="1696507" y="1352020"/>
                </a:lnTo>
                <a:lnTo>
                  <a:pt x="0" y="1183745"/>
                </a:lnTo>
                <a:lnTo>
                  <a:pt x="0" y="165100"/>
                </a:lnTo>
                <a:close/>
              </a:path>
            </a:pathLst>
          </a:custGeom>
          <a:solidFill>
            <a:schemeClr val="accent3">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2000"/>
          </a:p>
        </p:txBody>
      </p:sp>
      <p:sp>
        <p:nvSpPr>
          <p:cNvPr id="5" name="Rectangle 9">
            <a:extLst>
              <a:ext uri="{FF2B5EF4-FFF2-40B4-BE49-F238E27FC236}">
                <a16:creationId xmlns:a16="http://schemas.microsoft.com/office/drawing/2014/main" id="{DA0359F0-DBA6-4E22-98C5-035C0DCD6D39}"/>
              </a:ext>
            </a:extLst>
          </p:cNvPr>
          <p:cNvSpPr/>
          <p:nvPr/>
        </p:nvSpPr>
        <p:spPr>
          <a:xfrm>
            <a:off x="4517044" y="996156"/>
            <a:ext cx="660400" cy="1953575"/>
          </a:xfrm>
          <a:custGeom>
            <a:avLst/>
            <a:gdLst>
              <a:gd name="connsiteX0" fmla="*/ 0 w 1696507"/>
              <a:gd name="connsiteY0" fmla="*/ 0 h 1018645"/>
              <a:gd name="connsiteX1" fmla="*/ 1696507 w 1696507"/>
              <a:gd name="connsiteY1" fmla="*/ 0 h 1018645"/>
              <a:gd name="connsiteX2" fmla="*/ 1696507 w 1696507"/>
              <a:gd name="connsiteY2" fmla="*/ 1018645 h 1018645"/>
              <a:gd name="connsiteX3" fmla="*/ 0 w 1696507"/>
              <a:gd name="connsiteY3" fmla="*/ 1018645 h 1018645"/>
              <a:gd name="connsiteX4" fmla="*/ 0 w 1696507"/>
              <a:gd name="connsiteY4" fmla="*/ 0 h 1018645"/>
              <a:gd name="connsiteX0" fmla="*/ 0 w 1696507"/>
              <a:gd name="connsiteY0" fmla="*/ 482600 h 1501245"/>
              <a:gd name="connsiteX1" fmla="*/ 1696507 w 1696507"/>
              <a:gd name="connsiteY1" fmla="*/ 0 h 1501245"/>
              <a:gd name="connsiteX2" fmla="*/ 1696507 w 1696507"/>
              <a:gd name="connsiteY2" fmla="*/ 1501245 h 1501245"/>
              <a:gd name="connsiteX3" fmla="*/ 0 w 1696507"/>
              <a:gd name="connsiteY3" fmla="*/ 1501245 h 1501245"/>
              <a:gd name="connsiteX4" fmla="*/ 0 w 1696507"/>
              <a:gd name="connsiteY4" fmla="*/ 482600 h 1501245"/>
              <a:gd name="connsiteX0" fmla="*/ 0 w 1696507"/>
              <a:gd name="connsiteY0" fmla="*/ 482600 h 1501245"/>
              <a:gd name="connsiteX1" fmla="*/ 1696507 w 1696507"/>
              <a:gd name="connsiteY1" fmla="*/ 0 h 1501245"/>
              <a:gd name="connsiteX2" fmla="*/ 1696507 w 1696507"/>
              <a:gd name="connsiteY2" fmla="*/ 1332970 h 1501245"/>
              <a:gd name="connsiteX3" fmla="*/ 0 w 1696507"/>
              <a:gd name="connsiteY3" fmla="*/ 1501245 h 1501245"/>
              <a:gd name="connsiteX4" fmla="*/ 0 w 1696507"/>
              <a:gd name="connsiteY4" fmla="*/ 482600 h 1501245"/>
              <a:gd name="connsiteX0" fmla="*/ 0 w 1696507"/>
              <a:gd name="connsiteY0" fmla="*/ 482600 h 1501245"/>
              <a:gd name="connsiteX1" fmla="*/ 1696507 w 1696507"/>
              <a:gd name="connsiteY1" fmla="*/ 0 h 1501245"/>
              <a:gd name="connsiteX2" fmla="*/ 1696507 w 1696507"/>
              <a:gd name="connsiteY2" fmla="*/ 1332970 h 1501245"/>
              <a:gd name="connsiteX3" fmla="*/ 0 w 1696507"/>
              <a:gd name="connsiteY3" fmla="*/ 1501245 h 1501245"/>
              <a:gd name="connsiteX4" fmla="*/ 0 w 1696507"/>
              <a:gd name="connsiteY4" fmla="*/ 482600 h 1501245"/>
              <a:gd name="connsiteX0" fmla="*/ 0 w 1696507"/>
              <a:gd name="connsiteY0" fmla="*/ 492125 h 1510770"/>
              <a:gd name="connsiteX1" fmla="*/ 1693332 w 1696507"/>
              <a:gd name="connsiteY1" fmla="*/ 0 h 1510770"/>
              <a:gd name="connsiteX2" fmla="*/ 1696507 w 1696507"/>
              <a:gd name="connsiteY2" fmla="*/ 1342495 h 1510770"/>
              <a:gd name="connsiteX3" fmla="*/ 0 w 1696507"/>
              <a:gd name="connsiteY3" fmla="*/ 1510770 h 1510770"/>
              <a:gd name="connsiteX4" fmla="*/ 0 w 1696507"/>
              <a:gd name="connsiteY4" fmla="*/ 492125 h 1510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507" h="1510770">
                <a:moveTo>
                  <a:pt x="0" y="492125"/>
                </a:moveTo>
                <a:lnTo>
                  <a:pt x="1693332" y="0"/>
                </a:lnTo>
                <a:cubicBezTo>
                  <a:pt x="1694390" y="447498"/>
                  <a:pt x="1695449" y="894997"/>
                  <a:pt x="1696507" y="1342495"/>
                </a:cubicBezTo>
                <a:lnTo>
                  <a:pt x="0" y="1510770"/>
                </a:lnTo>
                <a:lnTo>
                  <a:pt x="0" y="492125"/>
                </a:lnTo>
                <a:close/>
              </a:path>
            </a:pathLst>
          </a:custGeom>
          <a:solidFill>
            <a:schemeClr val="accent6">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2000"/>
          </a:p>
        </p:txBody>
      </p:sp>
      <p:sp>
        <p:nvSpPr>
          <p:cNvPr id="6" name="Rectangle 5">
            <a:extLst>
              <a:ext uri="{FF2B5EF4-FFF2-40B4-BE49-F238E27FC236}">
                <a16:creationId xmlns:a16="http://schemas.microsoft.com/office/drawing/2014/main" id="{F7888E6C-30EA-442B-B78B-B3274B06F4F1}"/>
              </a:ext>
            </a:extLst>
          </p:cNvPr>
          <p:cNvSpPr/>
          <p:nvPr/>
        </p:nvSpPr>
        <p:spPr>
          <a:xfrm>
            <a:off x="2761899" y="1780491"/>
            <a:ext cx="1533182" cy="707886"/>
          </a:xfrm>
          <a:prstGeom prst="rect">
            <a:avLst/>
          </a:prstGeom>
          <a:ln>
            <a:noFill/>
          </a:ln>
        </p:spPr>
        <p:txBody>
          <a:bodyPr wrap="square" lIns="0" tIns="0" rIns="0" bIns="0">
            <a:spAutoFit/>
          </a:bodyPr>
          <a:lstStyle/>
          <a:p>
            <a:pPr>
              <a:spcAft>
                <a:spcPts val="600"/>
              </a:spcAft>
            </a:pPr>
            <a:r>
              <a:rPr lang="en-US" sz="1200" b="1">
                <a:latin typeface="Calibri" panose="020F0502020204030204" pitchFamily="34" charset="0"/>
                <a:cs typeface="Calibri" panose="020F0502020204030204" pitchFamily="34" charset="0"/>
              </a:rPr>
              <a:t>System Exceptions</a:t>
            </a:r>
          </a:p>
          <a:p>
            <a:pPr marL="171450" indent="-171450">
              <a:spcAft>
                <a:spcPts val="600"/>
              </a:spcAft>
              <a:buFont typeface="Arial" panose="020B0604020202020204" pitchFamily="34" charset="0"/>
              <a:buChar char="•"/>
            </a:pPr>
            <a:r>
              <a:rPr lang="en-US" sz="1200">
                <a:latin typeface="Calibri" panose="020F0502020204030204" pitchFamily="34" charset="0"/>
                <a:cs typeface="Calibri" panose="020F0502020204030204" pitchFamily="34" charset="0"/>
              </a:rPr>
              <a:t>Server downtime</a:t>
            </a:r>
          </a:p>
          <a:p>
            <a:pPr marL="171450" indent="-171450">
              <a:spcAft>
                <a:spcPts val="600"/>
              </a:spcAft>
              <a:buFont typeface="Arial" panose="020B0604020202020204" pitchFamily="34" charset="0"/>
              <a:buChar char="•"/>
            </a:pPr>
            <a:r>
              <a:rPr lang="en-US" sz="1200">
                <a:latin typeface="Calibri" panose="020F0502020204030204" pitchFamily="34" charset="0"/>
                <a:cs typeface="Calibri" panose="020F0502020204030204" pitchFamily="34" charset="0"/>
              </a:rPr>
              <a:t>Adapter Exception</a:t>
            </a:r>
          </a:p>
        </p:txBody>
      </p:sp>
      <p:sp>
        <p:nvSpPr>
          <p:cNvPr id="7" name="Round Same Side Corner Rectangle 47">
            <a:extLst>
              <a:ext uri="{FF2B5EF4-FFF2-40B4-BE49-F238E27FC236}">
                <a16:creationId xmlns:a16="http://schemas.microsoft.com/office/drawing/2014/main" id="{E887C3EB-2BD4-49D4-A100-270DE63502DA}"/>
              </a:ext>
            </a:extLst>
          </p:cNvPr>
          <p:cNvSpPr/>
          <p:nvPr/>
        </p:nvSpPr>
        <p:spPr>
          <a:xfrm rot="5400000">
            <a:off x="6616172" y="-442567"/>
            <a:ext cx="1789796" cy="4667248"/>
          </a:xfrm>
          <a:prstGeom prst="round2SameRect">
            <a:avLst/>
          </a:prstGeom>
          <a:solidFill>
            <a:schemeClr val="accent6">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2000"/>
          </a:p>
        </p:txBody>
      </p:sp>
      <p:sp>
        <p:nvSpPr>
          <p:cNvPr id="8" name="Freeform 26">
            <a:extLst>
              <a:ext uri="{FF2B5EF4-FFF2-40B4-BE49-F238E27FC236}">
                <a16:creationId xmlns:a16="http://schemas.microsoft.com/office/drawing/2014/main" id="{002B54AC-8718-4C96-8C14-8088747A96A0}"/>
              </a:ext>
            </a:extLst>
          </p:cNvPr>
          <p:cNvSpPr>
            <a:spLocks noEditPoints="1"/>
          </p:cNvSpPr>
          <p:nvPr/>
        </p:nvSpPr>
        <p:spPr bwMode="auto">
          <a:xfrm>
            <a:off x="2349708" y="2065452"/>
            <a:ext cx="368300" cy="371475"/>
          </a:xfrm>
          <a:custGeom>
            <a:avLst/>
            <a:gdLst>
              <a:gd name="T0" fmla="*/ 94 w 137"/>
              <a:gd name="T1" fmla="*/ 95 h 138"/>
              <a:gd name="T2" fmla="*/ 98 w 137"/>
              <a:gd name="T3" fmla="*/ 83 h 138"/>
              <a:gd name="T4" fmla="*/ 101 w 137"/>
              <a:gd name="T5" fmla="*/ 95 h 138"/>
              <a:gd name="T6" fmla="*/ 106 w 137"/>
              <a:gd name="T7" fmla="*/ 43 h 138"/>
              <a:gd name="T8" fmla="*/ 88 w 137"/>
              <a:gd name="T9" fmla="*/ 95 h 138"/>
              <a:gd name="T10" fmla="*/ 100 w 137"/>
              <a:gd name="T11" fmla="*/ 52 h 138"/>
              <a:gd name="T12" fmla="*/ 94 w 137"/>
              <a:gd name="T13" fmla="*/ 52 h 138"/>
              <a:gd name="T14" fmla="*/ 97 w 137"/>
              <a:gd name="T15" fmla="*/ 60 h 138"/>
              <a:gd name="T16" fmla="*/ 97 w 137"/>
              <a:gd name="T17" fmla="*/ 66 h 138"/>
              <a:gd name="T18" fmla="*/ 97 w 137"/>
              <a:gd name="T19" fmla="*/ 60 h 138"/>
              <a:gd name="T20" fmla="*/ 100 w 137"/>
              <a:gd name="T21" fmla="*/ 75 h 138"/>
              <a:gd name="T22" fmla="*/ 94 w 137"/>
              <a:gd name="T23" fmla="*/ 75 h 138"/>
              <a:gd name="T24" fmla="*/ 68 w 137"/>
              <a:gd name="T25" fmla="*/ 0 h 138"/>
              <a:gd name="T26" fmla="*/ 68 w 137"/>
              <a:gd name="T27" fmla="*/ 138 h 138"/>
              <a:gd name="T28" fmla="*/ 68 w 137"/>
              <a:gd name="T29" fmla="*/ 0 h 138"/>
              <a:gd name="T30" fmla="*/ 108 w 137"/>
              <a:gd name="T31" fmla="*/ 102 h 138"/>
              <a:gd name="T32" fmla="*/ 25 w 137"/>
              <a:gd name="T33" fmla="*/ 98 h 138"/>
              <a:gd name="T34" fmla="*/ 28 w 137"/>
              <a:gd name="T35" fmla="*/ 36 h 138"/>
              <a:gd name="T36" fmla="*/ 49 w 137"/>
              <a:gd name="T37" fmla="*/ 29 h 138"/>
              <a:gd name="T38" fmla="*/ 86 w 137"/>
              <a:gd name="T39" fmla="*/ 26 h 138"/>
              <a:gd name="T40" fmla="*/ 88 w 137"/>
              <a:gd name="T41" fmla="*/ 36 h 138"/>
              <a:gd name="T42" fmla="*/ 112 w 137"/>
              <a:gd name="T43" fmla="*/ 40 h 138"/>
              <a:gd name="T44" fmla="*/ 54 w 137"/>
              <a:gd name="T45" fmla="*/ 95 h 138"/>
              <a:gd name="T46" fmla="*/ 60 w 137"/>
              <a:gd name="T47" fmla="*/ 86 h 138"/>
              <a:gd name="T48" fmla="*/ 65 w 137"/>
              <a:gd name="T49" fmla="*/ 86 h 138"/>
              <a:gd name="T50" fmla="*/ 82 w 137"/>
              <a:gd name="T51" fmla="*/ 95 h 138"/>
              <a:gd name="T52" fmla="*/ 54 w 137"/>
              <a:gd name="T53" fmla="*/ 31 h 138"/>
              <a:gd name="T54" fmla="*/ 74 w 137"/>
              <a:gd name="T55" fmla="*/ 38 h 138"/>
              <a:gd name="T56" fmla="*/ 74 w 137"/>
              <a:gd name="T57" fmla="*/ 43 h 138"/>
              <a:gd name="T58" fmla="*/ 74 w 137"/>
              <a:gd name="T59" fmla="*/ 38 h 138"/>
              <a:gd name="T60" fmla="*/ 77 w 137"/>
              <a:gd name="T61" fmla="*/ 52 h 138"/>
              <a:gd name="T62" fmla="*/ 71 w 137"/>
              <a:gd name="T63" fmla="*/ 52 h 138"/>
              <a:gd name="T64" fmla="*/ 74 w 137"/>
              <a:gd name="T65" fmla="*/ 60 h 138"/>
              <a:gd name="T66" fmla="*/ 74 w 137"/>
              <a:gd name="T67" fmla="*/ 66 h 138"/>
              <a:gd name="T68" fmla="*/ 74 w 137"/>
              <a:gd name="T69" fmla="*/ 60 h 138"/>
              <a:gd name="T70" fmla="*/ 77 w 137"/>
              <a:gd name="T71" fmla="*/ 75 h 138"/>
              <a:gd name="T72" fmla="*/ 71 w 137"/>
              <a:gd name="T73" fmla="*/ 75 h 138"/>
              <a:gd name="T74" fmla="*/ 63 w 137"/>
              <a:gd name="T75" fmla="*/ 38 h 138"/>
              <a:gd name="T76" fmla="*/ 63 w 137"/>
              <a:gd name="T77" fmla="*/ 43 h 138"/>
              <a:gd name="T78" fmla="*/ 63 w 137"/>
              <a:gd name="T79" fmla="*/ 38 h 138"/>
              <a:gd name="T80" fmla="*/ 65 w 137"/>
              <a:gd name="T81" fmla="*/ 52 h 138"/>
              <a:gd name="T82" fmla="*/ 60 w 137"/>
              <a:gd name="T83" fmla="*/ 52 h 138"/>
              <a:gd name="T84" fmla="*/ 63 w 137"/>
              <a:gd name="T85" fmla="*/ 60 h 138"/>
              <a:gd name="T86" fmla="*/ 63 w 137"/>
              <a:gd name="T87" fmla="*/ 66 h 138"/>
              <a:gd name="T88" fmla="*/ 63 w 137"/>
              <a:gd name="T89" fmla="*/ 60 h 138"/>
              <a:gd name="T90" fmla="*/ 65 w 137"/>
              <a:gd name="T91" fmla="*/ 75 h 138"/>
              <a:gd name="T92" fmla="*/ 60 w 137"/>
              <a:gd name="T93" fmla="*/ 75 h 138"/>
              <a:gd name="T94" fmla="*/ 30 w 137"/>
              <a:gd name="T95" fmla="*/ 95 h 138"/>
              <a:gd name="T96" fmla="*/ 36 w 137"/>
              <a:gd name="T97" fmla="*/ 86 h 138"/>
              <a:gd name="T98" fmla="*/ 42 w 137"/>
              <a:gd name="T99" fmla="*/ 86 h 138"/>
              <a:gd name="T100" fmla="*/ 49 w 137"/>
              <a:gd name="T101" fmla="*/ 95 h 138"/>
              <a:gd name="T102" fmla="*/ 30 w 137"/>
              <a:gd name="T103" fmla="*/ 43 h 138"/>
              <a:gd name="T104" fmla="*/ 40 w 137"/>
              <a:gd name="T105" fmla="*/ 49 h 138"/>
              <a:gd name="T106" fmla="*/ 40 w 137"/>
              <a:gd name="T107" fmla="*/ 55 h 138"/>
              <a:gd name="T108" fmla="*/ 40 w 137"/>
              <a:gd name="T109" fmla="*/ 49 h 138"/>
              <a:gd name="T110" fmla="*/ 43 w 137"/>
              <a:gd name="T111" fmla="*/ 63 h 138"/>
              <a:gd name="T112" fmla="*/ 37 w 137"/>
              <a:gd name="T113" fmla="*/ 63 h 138"/>
              <a:gd name="T114" fmla="*/ 40 w 137"/>
              <a:gd name="T115" fmla="*/ 72 h 138"/>
              <a:gd name="T116" fmla="*/ 40 w 137"/>
              <a:gd name="T117" fmla="*/ 78 h 138"/>
              <a:gd name="T118" fmla="*/ 40 w 137"/>
              <a:gd name="T11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7" h="138">
                <a:moveTo>
                  <a:pt x="88" y="95"/>
                </a:moveTo>
                <a:cubicBezTo>
                  <a:pt x="94" y="95"/>
                  <a:pt x="94" y="95"/>
                  <a:pt x="94" y="95"/>
                </a:cubicBezTo>
                <a:cubicBezTo>
                  <a:pt x="94" y="86"/>
                  <a:pt x="94" y="86"/>
                  <a:pt x="94" y="86"/>
                </a:cubicBezTo>
                <a:cubicBezTo>
                  <a:pt x="94" y="85"/>
                  <a:pt x="96" y="83"/>
                  <a:pt x="98" y="83"/>
                </a:cubicBezTo>
                <a:cubicBezTo>
                  <a:pt x="99" y="83"/>
                  <a:pt x="101" y="85"/>
                  <a:pt x="101" y="86"/>
                </a:cubicBezTo>
                <a:cubicBezTo>
                  <a:pt x="101" y="95"/>
                  <a:pt x="101" y="95"/>
                  <a:pt x="101" y="95"/>
                </a:cubicBezTo>
                <a:cubicBezTo>
                  <a:pt x="106" y="95"/>
                  <a:pt x="106" y="95"/>
                  <a:pt x="106" y="95"/>
                </a:cubicBezTo>
                <a:cubicBezTo>
                  <a:pt x="106" y="43"/>
                  <a:pt x="106" y="43"/>
                  <a:pt x="106" y="43"/>
                </a:cubicBezTo>
                <a:cubicBezTo>
                  <a:pt x="88" y="43"/>
                  <a:pt x="88" y="43"/>
                  <a:pt x="88" y="43"/>
                </a:cubicBezTo>
                <a:lnTo>
                  <a:pt x="88" y="95"/>
                </a:lnTo>
                <a:close/>
                <a:moveTo>
                  <a:pt x="97" y="49"/>
                </a:moveTo>
                <a:cubicBezTo>
                  <a:pt x="99" y="49"/>
                  <a:pt x="100" y="50"/>
                  <a:pt x="100" y="52"/>
                </a:cubicBezTo>
                <a:cubicBezTo>
                  <a:pt x="100" y="53"/>
                  <a:pt x="99" y="55"/>
                  <a:pt x="97" y="55"/>
                </a:cubicBezTo>
                <a:cubicBezTo>
                  <a:pt x="95" y="55"/>
                  <a:pt x="94" y="53"/>
                  <a:pt x="94" y="52"/>
                </a:cubicBezTo>
                <a:cubicBezTo>
                  <a:pt x="94" y="50"/>
                  <a:pt x="95" y="49"/>
                  <a:pt x="97" y="49"/>
                </a:cubicBezTo>
                <a:close/>
                <a:moveTo>
                  <a:pt x="97" y="60"/>
                </a:moveTo>
                <a:cubicBezTo>
                  <a:pt x="99" y="60"/>
                  <a:pt x="100" y="62"/>
                  <a:pt x="100" y="63"/>
                </a:cubicBezTo>
                <a:cubicBezTo>
                  <a:pt x="100" y="65"/>
                  <a:pt x="99" y="66"/>
                  <a:pt x="97" y="66"/>
                </a:cubicBezTo>
                <a:cubicBezTo>
                  <a:pt x="95" y="66"/>
                  <a:pt x="94" y="65"/>
                  <a:pt x="94" y="63"/>
                </a:cubicBezTo>
                <a:cubicBezTo>
                  <a:pt x="94" y="62"/>
                  <a:pt x="95" y="60"/>
                  <a:pt x="97" y="60"/>
                </a:cubicBezTo>
                <a:close/>
                <a:moveTo>
                  <a:pt x="97" y="72"/>
                </a:moveTo>
                <a:cubicBezTo>
                  <a:pt x="99" y="72"/>
                  <a:pt x="100" y="73"/>
                  <a:pt x="100" y="75"/>
                </a:cubicBezTo>
                <a:cubicBezTo>
                  <a:pt x="100" y="76"/>
                  <a:pt x="99" y="78"/>
                  <a:pt x="97" y="78"/>
                </a:cubicBezTo>
                <a:cubicBezTo>
                  <a:pt x="95" y="78"/>
                  <a:pt x="94" y="76"/>
                  <a:pt x="94" y="75"/>
                </a:cubicBezTo>
                <a:cubicBezTo>
                  <a:pt x="94" y="73"/>
                  <a:pt x="95" y="72"/>
                  <a:pt x="97" y="72"/>
                </a:cubicBezTo>
                <a:close/>
                <a:moveTo>
                  <a:pt x="68" y="0"/>
                </a:moveTo>
                <a:cubicBezTo>
                  <a:pt x="30" y="0"/>
                  <a:pt x="0" y="31"/>
                  <a:pt x="0" y="69"/>
                </a:cubicBezTo>
                <a:cubicBezTo>
                  <a:pt x="0" y="107"/>
                  <a:pt x="30" y="138"/>
                  <a:pt x="68" y="138"/>
                </a:cubicBezTo>
                <a:cubicBezTo>
                  <a:pt x="106" y="138"/>
                  <a:pt x="137" y="107"/>
                  <a:pt x="137" y="69"/>
                </a:cubicBezTo>
                <a:cubicBezTo>
                  <a:pt x="137" y="31"/>
                  <a:pt x="106" y="0"/>
                  <a:pt x="68" y="0"/>
                </a:cubicBezTo>
                <a:close/>
                <a:moveTo>
                  <a:pt x="112" y="98"/>
                </a:moveTo>
                <a:cubicBezTo>
                  <a:pt x="112" y="99"/>
                  <a:pt x="110" y="102"/>
                  <a:pt x="108" y="102"/>
                </a:cubicBezTo>
                <a:cubicBezTo>
                  <a:pt x="28" y="102"/>
                  <a:pt x="28" y="102"/>
                  <a:pt x="28" y="102"/>
                </a:cubicBezTo>
                <a:cubicBezTo>
                  <a:pt x="27" y="102"/>
                  <a:pt x="25" y="99"/>
                  <a:pt x="25" y="98"/>
                </a:cubicBezTo>
                <a:cubicBezTo>
                  <a:pt x="25" y="40"/>
                  <a:pt x="25" y="40"/>
                  <a:pt x="25" y="40"/>
                </a:cubicBezTo>
                <a:cubicBezTo>
                  <a:pt x="25" y="39"/>
                  <a:pt x="27" y="36"/>
                  <a:pt x="28" y="36"/>
                </a:cubicBezTo>
                <a:cubicBezTo>
                  <a:pt x="49" y="36"/>
                  <a:pt x="49" y="36"/>
                  <a:pt x="49" y="36"/>
                </a:cubicBezTo>
                <a:cubicBezTo>
                  <a:pt x="49" y="29"/>
                  <a:pt x="49" y="29"/>
                  <a:pt x="49" y="29"/>
                </a:cubicBezTo>
                <a:cubicBezTo>
                  <a:pt x="49" y="27"/>
                  <a:pt x="50" y="26"/>
                  <a:pt x="51" y="26"/>
                </a:cubicBezTo>
                <a:cubicBezTo>
                  <a:pt x="86" y="26"/>
                  <a:pt x="86" y="26"/>
                  <a:pt x="86" y="26"/>
                </a:cubicBezTo>
                <a:cubicBezTo>
                  <a:pt x="87" y="26"/>
                  <a:pt x="88" y="27"/>
                  <a:pt x="88" y="29"/>
                </a:cubicBezTo>
                <a:cubicBezTo>
                  <a:pt x="88" y="36"/>
                  <a:pt x="88" y="36"/>
                  <a:pt x="88" y="36"/>
                </a:cubicBezTo>
                <a:cubicBezTo>
                  <a:pt x="108" y="36"/>
                  <a:pt x="108" y="36"/>
                  <a:pt x="108" y="36"/>
                </a:cubicBezTo>
                <a:cubicBezTo>
                  <a:pt x="110" y="36"/>
                  <a:pt x="112" y="39"/>
                  <a:pt x="112" y="40"/>
                </a:cubicBezTo>
                <a:lnTo>
                  <a:pt x="112" y="98"/>
                </a:lnTo>
                <a:close/>
                <a:moveTo>
                  <a:pt x="54" y="95"/>
                </a:moveTo>
                <a:cubicBezTo>
                  <a:pt x="60" y="95"/>
                  <a:pt x="60" y="95"/>
                  <a:pt x="60" y="95"/>
                </a:cubicBezTo>
                <a:cubicBezTo>
                  <a:pt x="60" y="86"/>
                  <a:pt x="60" y="86"/>
                  <a:pt x="60" y="86"/>
                </a:cubicBezTo>
                <a:cubicBezTo>
                  <a:pt x="60" y="85"/>
                  <a:pt x="61" y="83"/>
                  <a:pt x="62" y="83"/>
                </a:cubicBezTo>
                <a:cubicBezTo>
                  <a:pt x="64" y="83"/>
                  <a:pt x="65" y="85"/>
                  <a:pt x="65" y="86"/>
                </a:cubicBezTo>
                <a:cubicBezTo>
                  <a:pt x="65" y="95"/>
                  <a:pt x="65" y="95"/>
                  <a:pt x="65" y="95"/>
                </a:cubicBezTo>
                <a:cubicBezTo>
                  <a:pt x="82" y="95"/>
                  <a:pt x="82" y="95"/>
                  <a:pt x="82" y="95"/>
                </a:cubicBezTo>
                <a:cubicBezTo>
                  <a:pt x="82" y="31"/>
                  <a:pt x="82" y="31"/>
                  <a:pt x="82" y="31"/>
                </a:cubicBezTo>
                <a:cubicBezTo>
                  <a:pt x="54" y="31"/>
                  <a:pt x="54" y="31"/>
                  <a:pt x="54" y="31"/>
                </a:cubicBezTo>
                <a:lnTo>
                  <a:pt x="54" y="95"/>
                </a:lnTo>
                <a:close/>
                <a:moveTo>
                  <a:pt x="74" y="38"/>
                </a:moveTo>
                <a:cubicBezTo>
                  <a:pt x="76" y="38"/>
                  <a:pt x="77" y="39"/>
                  <a:pt x="77" y="40"/>
                </a:cubicBezTo>
                <a:cubicBezTo>
                  <a:pt x="77" y="42"/>
                  <a:pt x="76" y="43"/>
                  <a:pt x="74" y="43"/>
                </a:cubicBezTo>
                <a:cubicBezTo>
                  <a:pt x="72" y="43"/>
                  <a:pt x="71" y="42"/>
                  <a:pt x="71" y="40"/>
                </a:cubicBezTo>
                <a:cubicBezTo>
                  <a:pt x="71" y="39"/>
                  <a:pt x="72" y="38"/>
                  <a:pt x="74" y="38"/>
                </a:cubicBezTo>
                <a:close/>
                <a:moveTo>
                  <a:pt x="74" y="49"/>
                </a:moveTo>
                <a:cubicBezTo>
                  <a:pt x="76" y="49"/>
                  <a:pt x="77" y="50"/>
                  <a:pt x="77" y="52"/>
                </a:cubicBezTo>
                <a:cubicBezTo>
                  <a:pt x="77" y="53"/>
                  <a:pt x="76" y="55"/>
                  <a:pt x="74" y="55"/>
                </a:cubicBezTo>
                <a:cubicBezTo>
                  <a:pt x="72" y="55"/>
                  <a:pt x="71" y="53"/>
                  <a:pt x="71" y="52"/>
                </a:cubicBezTo>
                <a:cubicBezTo>
                  <a:pt x="71" y="50"/>
                  <a:pt x="72" y="49"/>
                  <a:pt x="74" y="49"/>
                </a:cubicBezTo>
                <a:close/>
                <a:moveTo>
                  <a:pt x="74" y="60"/>
                </a:moveTo>
                <a:cubicBezTo>
                  <a:pt x="76" y="60"/>
                  <a:pt x="77" y="62"/>
                  <a:pt x="77" y="63"/>
                </a:cubicBezTo>
                <a:cubicBezTo>
                  <a:pt x="77" y="65"/>
                  <a:pt x="76" y="66"/>
                  <a:pt x="74" y="66"/>
                </a:cubicBezTo>
                <a:cubicBezTo>
                  <a:pt x="72" y="66"/>
                  <a:pt x="71" y="65"/>
                  <a:pt x="71" y="63"/>
                </a:cubicBezTo>
                <a:cubicBezTo>
                  <a:pt x="71" y="62"/>
                  <a:pt x="72" y="60"/>
                  <a:pt x="74" y="60"/>
                </a:cubicBezTo>
                <a:close/>
                <a:moveTo>
                  <a:pt x="74" y="72"/>
                </a:moveTo>
                <a:cubicBezTo>
                  <a:pt x="76" y="72"/>
                  <a:pt x="77" y="73"/>
                  <a:pt x="77" y="75"/>
                </a:cubicBezTo>
                <a:cubicBezTo>
                  <a:pt x="77" y="76"/>
                  <a:pt x="76" y="78"/>
                  <a:pt x="74" y="78"/>
                </a:cubicBezTo>
                <a:cubicBezTo>
                  <a:pt x="72" y="78"/>
                  <a:pt x="71" y="76"/>
                  <a:pt x="71" y="75"/>
                </a:cubicBezTo>
                <a:cubicBezTo>
                  <a:pt x="71" y="73"/>
                  <a:pt x="72" y="72"/>
                  <a:pt x="74" y="72"/>
                </a:cubicBezTo>
                <a:close/>
                <a:moveTo>
                  <a:pt x="63" y="38"/>
                </a:moveTo>
                <a:cubicBezTo>
                  <a:pt x="64" y="38"/>
                  <a:pt x="65" y="39"/>
                  <a:pt x="65" y="40"/>
                </a:cubicBezTo>
                <a:cubicBezTo>
                  <a:pt x="65" y="42"/>
                  <a:pt x="64" y="43"/>
                  <a:pt x="63" y="43"/>
                </a:cubicBezTo>
                <a:cubicBezTo>
                  <a:pt x="61" y="43"/>
                  <a:pt x="60" y="42"/>
                  <a:pt x="60" y="40"/>
                </a:cubicBezTo>
                <a:cubicBezTo>
                  <a:pt x="60" y="39"/>
                  <a:pt x="61" y="38"/>
                  <a:pt x="63" y="38"/>
                </a:cubicBezTo>
                <a:close/>
                <a:moveTo>
                  <a:pt x="63" y="49"/>
                </a:moveTo>
                <a:cubicBezTo>
                  <a:pt x="64" y="49"/>
                  <a:pt x="65" y="50"/>
                  <a:pt x="65" y="52"/>
                </a:cubicBezTo>
                <a:cubicBezTo>
                  <a:pt x="65" y="53"/>
                  <a:pt x="64" y="55"/>
                  <a:pt x="63" y="55"/>
                </a:cubicBezTo>
                <a:cubicBezTo>
                  <a:pt x="61" y="55"/>
                  <a:pt x="60" y="53"/>
                  <a:pt x="60" y="52"/>
                </a:cubicBezTo>
                <a:cubicBezTo>
                  <a:pt x="60" y="50"/>
                  <a:pt x="61" y="49"/>
                  <a:pt x="63" y="49"/>
                </a:cubicBezTo>
                <a:close/>
                <a:moveTo>
                  <a:pt x="63" y="60"/>
                </a:moveTo>
                <a:cubicBezTo>
                  <a:pt x="64" y="60"/>
                  <a:pt x="65" y="62"/>
                  <a:pt x="65" y="63"/>
                </a:cubicBezTo>
                <a:cubicBezTo>
                  <a:pt x="65" y="65"/>
                  <a:pt x="64" y="66"/>
                  <a:pt x="63" y="66"/>
                </a:cubicBezTo>
                <a:cubicBezTo>
                  <a:pt x="61" y="66"/>
                  <a:pt x="60" y="65"/>
                  <a:pt x="60" y="63"/>
                </a:cubicBezTo>
                <a:cubicBezTo>
                  <a:pt x="60" y="62"/>
                  <a:pt x="61" y="60"/>
                  <a:pt x="63" y="60"/>
                </a:cubicBezTo>
                <a:close/>
                <a:moveTo>
                  <a:pt x="63" y="72"/>
                </a:moveTo>
                <a:cubicBezTo>
                  <a:pt x="64" y="72"/>
                  <a:pt x="65" y="73"/>
                  <a:pt x="65" y="75"/>
                </a:cubicBezTo>
                <a:cubicBezTo>
                  <a:pt x="65" y="76"/>
                  <a:pt x="64" y="78"/>
                  <a:pt x="63" y="78"/>
                </a:cubicBezTo>
                <a:cubicBezTo>
                  <a:pt x="61" y="78"/>
                  <a:pt x="60" y="76"/>
                  <a:pt x="60" y="75"/>
                </a:cubicBezTo>
                <a:cubicBezTo>
                  <a:pt x="60" y="73"/>
                  <a:pt x="61" y="72"/>
                  <a:pt x="63" y="72"/>
                </a:cubicBezTo>
                <a:close/>
                <a:moveTo>
                  <a:pt x="30" y="95"/>
                </a:moveTo>
                <a:cubicBezTo>
                  <a:pt x="36" y="95"/>
                  <a:pt x="36" y="95"/>
                  <a:pt x="36" y="95"/>
                </a:cubicBezTo>
                <a:cubicBezTo>
                  <a:pt x="36" y="86"/>
                  <a:pt x="36" y="86"/>
                  <a:pt x="36" y="86"/>
                </a:cubicBezTo>
                <a:cubicBezTo>
                  <a:pt x="36" y="85"/>
                  <a:pt x="37" y="83"/>
                  <a:pt x="39" y="83"/>
                </a:cubicBezTo>
                <a:cubicBezTo>
                  <a:pt x="41" y="83"/>
                  <a:pt x="42" y="85"/>
                  <a:pt x="42" y="86"/>
                </a:cubicBezTo>
                <a:cubicBezTo>
                  <a:pt x="42" y="95"/>
                  <a:pt x="42" y="95"/>
                  <a:pt x="42" y="95"/>
                </a:cubicBezTo>
                <a:cubicBezTo>
                  <a:pt x="49" y="95"/>
                  <a:pt x="49" y="95"/>
                  <a:pt x="49" y="95"/>
                </a:cubicBezTo>
                <a:cubicBezTo>
                  <a:pt x="49" y="43"/>
                  <a:pt x="49" y="43"/>
                  <a:pt x="49" y="43"/>
                </a:cubicBezTo>
                <a:cubicBezTo>
                  <a:pt x="30" y="43"/>
                  <a:pt x="30" y="43"/>
                  <a:pt x="30" y="43"/>
                </a:cubicBezTo>
                <a:lnTo>
                  <a:pt x="30" y="95"/>
                </a:lnTo>
                <a:close/>
                <a:moveTo>
                  <a:pt x="40" y="49"/>
                </a:moveTo>
                <a:cubicBezTo>
                  <a:pt x="41" y="49"/>
                  <a:pt x="43" y="50"/>
                  <a:pt x="43" y="52"/>
                </a:cubicBezTo>
                <a:cubicBezTo>
                  <a:pt x="43" y="53"/>
                  <a:pt x="41" y="55"/>
                  <a:pt x="40" y="55"/>
                </a:cubicBezTo>
                <a:cubicBezTo>
                  <a:pt x="38" y="55"/>
                  <a:pt x="37" y="53"/>
                  <a:pt x="37" y="52"/>
                </a:cubicBezTo>
                <a:cubicBezTo>
                  <a:pt x="37" y="50"/>
                  <a:pt x="38" y="49"/>
                  <a:pt x="40" y="49"/>
                </a:cubicBezTo>
                <a:close/>
                <a:moveTo>
                  <a:pt x="40" y="60"/>
                </a:moveTo>
                <a:cubicBezTo>
                  <a:pt x="41" y="60"/>
                  <a:pt x="43" y="62"/>
                  <a:pt x="43" y="63"/>
                </a:cubicBezTo>
                <a:cubicBezTo>
                  <a:pt x="43" y="65"/>
                  <a:pt x="41" y="66"/>
                  <a:pt x="40" y="66"/>
                </a:cubicBezTo>
                <a:cubicBezTo>
                  <a:pt x="38" y="66"/>
                  <a:pt x="37" y="65"/>
                  <a:pt x="37" y="63"/>
                </a:cubicBezTo>
                <a:cubicBezTo>
                  <a:pt x="37" y="62"/>
                  <a:pt x="38" y="60"/>
                  <a:pt x="40" y="60"/>
                </a:cubicBezTo>
                <a:close/>
                <a:moveTo>
                  <a:pt x="40" y="72"/>
                </a:moveTo>
                <a:cubicBezTo>
                  <a:pt x="41" y="72"/>
                  <a:pt x="43" y="73"/>
                  <a:pt x="43" y="75"/>
                </a:cubicBezTo>
                <a:cubicBezTo>
                  <a:pt x="43" y="76"/>
                  <a:pt x="41" y="78"/>
                  <a:pt x="40" y="78"/>
                </a:cubicBezTo>
                <a:cubicBezTo>
                  <a:pt x="38" y="78"/>
                  <a:pt x="37" y="76"/>
                  <a:pt x="37" y="75"/>
                </a:cubicBezTo>
                <a:cubicBezTo>
                  <a:pt x="37" y="73"/>
                  <a:pt x="38" y="72"/>
                  <a:pt x="40" y="72"/>
                </a:cubicBezTo>
                <a:close/>
              </a:path>
            </a:pathLst>
          </a:custGeom>
          <a:solidFill>
            <a:schemeClr val="bg1"/>
          </a:solidFill>
          <a:ln>
            <a:solidFill>
              <a:srgbClr val="00B050"/>
            </a:solidFill>
          </a:ln>
        </p:spPr>
        <p:txBody>
          <a:bodyPr vert="horz" wrap="square" lIns="91440" tIns="45720" rIns="91440" bIns="45720" numCol="1" anchor="t" anchorCtr="0" compatLnSpc="1">
            <a:prstTxWarp prst="textNoShape">
              <a:avLst/>
            </a:prstTxWarp>
          </a:bodyPr>
          <a:lstStyle/>
          <a:p>
            <a:endParaRPr lang="en-GB">
              <a:cs typeface="Calibri" panose="020F0502020204030204" pitchFamily="34" charset="0"/>
            </a:endParaRPr>
          </a:p>
        </p:txBody>
      </p:sp>
      <p:sp>
        <p:nvSpPr>
          <p:cNvPr id="9" name="Freeform 23">
            <a:extLst>
              <a:ext uri="{FF2B5EF4-FFF2-40B4-BE49-F238E27FC236}">
                <a16:creationId xmlns:a16="http://schemas.microsoft.com/office/drawing/2014/main" id="{43B27286-E3F2-47BF-89F8-FE81932DE7BA}"/>
              </a:ext>
            </a:extLst>
          </p:cNvPr>
          <p:cNvSpPr>
            <a:spLocks noChangeAspect="1" noEditPoints="1"/>
          </p:cNvSpPr>
          <p:nvPr/>
        </p:nvSpPr>
        <p:spPr bwMode="auto">
          <a:xfrm>
            <a:off x="2464950" y="3699333"/>
            <a:ext cx="370106" cy="369021"/>
          </a:xfrm>
          <a:custGeom>
            <a:avLst/>
            <a:gdLst>
              <a:gd name="T0" fmla="*/ 192 w 512"/>
              <a:gd name="T1" fmla="*/ 352 h 512"/>
              <a:gd name="T2" fmla="*/ 266 w 512"/>
              <a:gd name="T3" fmla="*/ 117 h 512"/>
              <a:gd name="T4" fmla="*/ 227 w 512"/>
              <a:gd name="T5" fmla="*/ 141 h 512"/>
              <a:gd name="T6" fmla="*/ 245 w 512"/>
              <a:gd name="T7" fmla="*/ 149 h 512"/>
              <a:gd name="T8" fmla="*/ 234 w 512"/>
              <a:gd name="T9" fmla="*/ 160 h 512"/>
              <a:gd name="T10" fmla="*/ 225 w 512"/>
              <a:gd name="T11" fmla="*/ 188 h 512"/>
              <a:gd name="T12" fmla="*/ 244 w 512"/>
              <a:gd name="T13" fmla="*/ 188 h 512"/>
              <a:gd name="T14" fmla="*/ 234 w 512"/>
              <a:gd name="T15" fmla="*/ 202 h 512"/>
              <a:gd name="T16" fmla="*/ 225 w 512"/>
              <a:gd name="T17" fmla="*/ 188 h 512"/>
              <a:gd name="T18" fmla="*/ 238 w 512"/>
              <a:gd name="T19" fmla="*/ 225 h 512"/>
              <a:gd name="T20" fmla="*/ 242 w 512"/>
              <a:gd name="T21" fmla="*/ 242 h 512"/>
              <a:gd name="T22" fmla="*/ 227 w 512"/>
              <a:gd name="T23" fmla="*/ 242 h 512"/>
              <a:gd name="T24" fmla="*/ 225 w 512"/>
              <a:gd name="T25" fmla="*/ 273 h 512"/>
              <a:gd name="T26" fmla="*/ 245 w 512"/>
              <a:gd name="T27" fmla="*/ 277 h 512"/>
              <a:gd name="T28" fmla="*/ 230 w 512"/>
              <a:gd name="T29" fmla="*/ 287 h 512"/>
              <a:gd name="T30" fmla="*/ 227 w 512"/>
              <a:gd name="T31" fmla="*/ 312 h 512"/>
              <a:gd name="T32" fmla="*/ 242 w 512"/>
              <a:gd name="T33" fmla="*/ 312 h 512"/>
              <a:gd name="T34" fmla="*/ 238 w 512"/>
              <a:gd name="T35" fmla="*/ 329 h 512"/>
              <a:gd name="T36" fmla="*/ 224 w 512"/>
              <a:gd name="T37" fmla="*/ 320 h 512"/>
              <a:gd name="T38" fmla="*/ 230 w 512"/>
              <a:gd name="T39" fmla="*/ 353 h 512"/>
              <a:gd name="T40" fmla="*/ 244 w 512"/>
              <a:gd name="T41" fmla="*/ 366 h 512"/>
              <a:gd name="T42" fmla="*/ 230 w 512"/>
              <a:gd name="T43" fmla="*/ 372 h 512"/>
              <a:gd name="T44" fmla="*/ 225 w 512"/>
              <a:gd name="T45" fmla="*/ 358 h 512"/>
              <a:gd name="T46" fmla="*/ 201 w 512"/>
              <a:gd name="T47" fmla="*/ 145 h 512"/>
              <a:gd name="T48" fmla="*/ 188 w 512"/>
              <a:gd name="T49" fmla="*/ 159 h 512"/>
              <a:gd name="T50" fmla="*/ 182 w 512"/>
              <a:gd name="T51" fmla="*/ 188 h 512"/>
              <a:gd name="T52" fmla="*/ 190 w 512"/>
              <a:gd name="T53" fmla="*/ 181 h 512"/>
              <a:gd name="T54" fmla="*/ 202 w 512"/>
              <a:gd name="T55" fmla="*/ 192 h 512"/>
              <a:gd name="T56" fmla="*/ 184 w 512"/>
              <a:gd name="T57" fmla="*/ 199 h 512"/>
              <a:gd name="T58" fmla="*/ 186 w 512"/>
              <a:gd name="T59" fmla="*/ 225 h 512"/>
              <a:gd name="T60" fmla="*/ 196 w 512"/>
              <a:gd name="T61" fmla="*/ 225 h 512"/>
              <a:gd name="T62" fmla="*/ 201 w 512"/>
              <a:gd name="T63" fmla="*/ 238 h 512"/>
              <a:gd name="T64" fmla="*/ 188 w 512"/>
              <a:gd name="T65" fmla="*/ 244 h 512"/>
              <a:gd name="T66" fmla="*/ 182 w 512"/>
              <a:gd name="T67" fmla="*/ 273 h 512"/>
              <a:gd name="T68" fmla="*/ 199 w 512"/>
              <a:gd name="T69" fmla="*/ 269 h 512"/>
              <a:gd name="T70" fmla="*/ 199 w 512"/>
              <a:gd name="T71" fmla="*/ 285 h 512"/>
              <a:gd name="T72" fmla="*/ 182 w 512"/>
              <a:gd name="T73" fmla="*/ 273 h 512"/>
              <a:gd name="T74" fmla="*/ 202 w 512"/>
              <a:gd name="T75" fmla="*/ 320 h 512"/>
              <a:gd name="T76" fmla="*/ 192 w 512"/>
              <a:gd name="T77" fmla="*/ 330 h 512"/>
              <a:gd name="T78" fmla="*/ 184 w 512"/>
              <a:gd name="T79" fmla="*/ 312 h 512"/>
              <a:gd name="T80" fmla="*/ 320 w 512"/>
              <a:gd name="T81" fmla="*/ 352 h 512"/>
              <a:gd name="T82" fmla="*/ 352 w 512"/>
              <a:gd name="T83" fmla="*/ 202 h 512"/>
              <a:gd name="T84" fmla="*/ 314 w 512"/>
              <a:gd name="T85" fmla="*/ 225 h 512"/>
              <a:gd name="T86" fmla="*/ 330 w 512"/>
              <a:gd name="T87" fmla="*/ 234 h 512"/>
              <a:gd name="T88" fmla="*/ 320 w 512"/>
              <a:gd name="T89" fmla="*/ 245 h 512"/>
              <a:gd name="T90" fmla="*/ 309 w 512"/>
              <a:gd name="T91" fmla="*/ 234 h 512"/>
              <a:gd name="T92" fmla="*/ 316 w 512"/>
              <a:gd name="T93" fmla="*/ 267 h 512"/>
              <a:gd name="T94" fmla="*/ 330 w 512"/>
              <a:gd name="T95" fmla="*/ 277 h 512"/>
              <a:gd name="T96" fmla="*/ 320 w 512"/>
              <a:gd name="T97" fmla="*/ 288 h 512"/>
              <a:gd name="T98" fmla="*/ 309 w 512"/>
              <a:gd name="T99" fmla="*/ 277 h 512"/>
              <a:gd name="T100" fmla="*/ 314 w 512"/>
              <a:gd name="T101" fmla="*/ 311 h 512"/>
              <a:gd name="T102" fmla="*/ 324 w 512"/>
              <a:gd name="T103" fmla="*/ 310 h 512"/>
              <a:gd name="T104" fmla="*/ 330 w 512"/>
              <a:gd name="T105" fmla="*/ 320 h 512"/>
              <a:gd name="T106" fmla="*/ 312 w 512"/>
              <a:gd name="T107" fmla="*/ 327 h 512"/>
              <a:gd name="T108" fmla="*/ 256 w 512"/>
              <a:gd name="T109" fmla="*/ 0 h 512"/>
              <a:gd name="T110" fmla="*/ 256 w 512"/>
              <a:gd name="T111" fmla="*/ 0 h 512"/>
              <a:gd name="T112" fmla="*/ 138 w 512"/>
              <a:gd name="T113" fmla="*/ 405 h 512"/>
              <a:gd name="T114" fmla="*/ 288 w 512"/>
              <a:gd name="T115" fmla="*/ 106 h 512"/>
              <a:gd name="T116" fmla="*/ 373 w 512"/>
              <a:gd name="T117" fmla="*/ 40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160" y="394"/>
                </a:moveTo>
                <a:cubicBezTo>
                  <a:pt x="181" y="394"/>
                  <a:pt x="181" y="394"/>
                  <a:pt x="181" y="394"/>
                </a:cubicBezTo>
                <a:cubicBezTo>
                  <a:pt x="181" y="362"/>
                  <a:pt x="181" y="362"/>
                  <a:pt x="181" y="362"/>
                </a:cubicBezTo>
                <a:cubicBezTo>
                  <a:pt x="181" y="356"/>
                  <a:pt x="186" y="352"/>
                  <a:pt x="192" y="352"/>
                </a:cubicBezTo>
                <a:cubicBezTo>
                  <a:pt x="198" y="352"/>
                  <a:pt x="202" y="356"/>
                  <a:pt x="202" y="362"/>
                </a:cubicBezTo>
                <a:cubicBezTo>
                  <a:pt x="202" y="394"/>
                  <a:pt x="202" y="394"/>
                  <a:pt x="202" y="394"/>
                </a:cubicBezTo>
                <a:cubicBezTo>
                  <a:pt x="266" y="394"/>
                  <a:pt x="266" y="394"/>
                  <a:pt x="266" y="394"/>
                </a:cubicBezTo>
                <a:cubicBezTo>
                  <a:pt x="266" y="117"/>
                  <a:pt x="266" y="117"/>
                  <a:pt x="266" y="117"/>
                </a:cubicBezTo>
                <a:cubicBezTo>
                  <a:pt x="160" y="117"/>
                  <a:pt x="160" y="117"/>
                  <a:pt x="160" y="117"/>
                </a:cubicBezTo>
                <a:lnTo>
                  <a:pt x="160" y="394"/>
                </a:lnTo>
                <a:close/>
                <a:moveTo>
                  <a:pt x="225" y="145"/>
                </a:moveTo>
                <a:cubicBezTo>
                  <a:pt x="225" y="144"/>
                  <a:pt x="226" y="142"/>
                  <a:pt x="227" y="141"/>
                </a:cubicBezTo>
                <a:cubicBezTo>
                  <a:pt x="230" y="138"/>
                  <a:pt x="235" y="137"/>
                  <a:pt x="238" y="139"/>
                </a:cubicBezTo>
                <a:cubicBezTo>
                  <a:pt x="240" y="140"/>
                  <a:pt x="241" y="140"/>
                  <a:pt x="242" y="141"/>
                </a:cubicBezTo>
                <a:cubicBezTo>
                  <a:pt x="243" y="142"/>
                  <a:pt x="244" y="144"/>
                  <a:pt x="244" y="145"/>
                </a:cubicBezTo>
                <a:cubicBezTo>
                  <a:pt x="245" y="146"/>
                  <a:pt x="245" y="148"/>
                  <a:pt x="245" y="149"/>
                </a:cubicBezTo>
                <a:cubicBezTo>
                  <a:pt x="245" y="150"/>
                  <a:pt x="245" y="152"/>
                  <a:pt x="244" y="153"/>
                </a:cubicBezTo>
                <a:cubicBezTo>
                  <a:pt x="244" y="154"/>
                  <a:pt x="243" y="155"/>
                  <a:pt x="242" y="157"/>
                </a:cubicBezTo>
                <a:cubicBezTo>
                  <a:pt x="241" y="158"/>
                  <a:pt x="240" y="158"/>
                  <a:pt x="238" y="159"/>
                </a:cubicBezTo>
                <a:cubicBezTo>
                  <a:pt x="237" y="159"/>
                  <a:pt x="236" y="160"/>
                  <a:pt x="234" y="160"/>
                </a:cubicBezTo>
                <a:cubicBezTo>
                  <a:pt x="231" y="160"/>
                  <a:pt x="229" y="159"/>
                  <a:pt x="227" y="157"/>
                </a:cubicBezTo>
                <a:cubicBezTo>
                  <a:pt x="225" y="155"/>
                  <a:pt x="224" y="152"/>
                  <a:pt x="224" y="149"/>
                </a:cubicBezTo>
                <a:cubicBezTo>
                  <a:pt x="224" y="148"/>
                  <a:pt x="224" y="146"/>
                  <a:pt x="225" y="145"/>
                </a:cubicBezTo>
                <a:close/>
                <a:moveTo>
                  <a:pt x="225" y="188"/>
                </a:moveTo>
                <a:cubicBezTo>
                  <a:pt x="225" y="186"/>
                  <a:pt x="226" y="185"/>
                  <a:pt x="227" y="184"/>
                </a:cubicBezTo>
                <a:cubicBezTo>
                  <a:pt x="228" y="183"/>
                  <a:pt x="229" y="182"/>
                  <a:pt x="230" y="182"/>
                </a:cubicBezTo>
                <a:cubicBezTo>
                  <a:pt x="234" y="180"/>
                  <a:pt x="239" y="181"/>
                  <a:pt x="242" y="184"/>
                </a:cubicBezTo>
                <a:cubicBezTo>
                  <a:pt x="243" y="185"/>
                  <a:pt x="244" y="186"/>
                  <a:pt x="244" y="188"/>
                </a:cubicBezTo>
                <a:cubicBezTo>
                  <a:pt x="245" y="189"/>
                  <a:pt x="245" y="190"/>
                  <a:pt x="245" y="192"/>
                </a:cubicBezTo>
                <a:cubicBezTo>
                  <a:pt x="245" y="195"/>
                  <a:pt x="244" y="197"/>
                  <a:pt x="242" y="199"/>
                </a:cubicBezTo>
                <a:cubicBezTo>
                  <a:pt x="241" y="200"/>
                  <a:pt x="240" y="201"/>
                  <a:pt x="238" y="201"/>
                </a:cubicBezTo>
                <a:cubicBezTo>
                  <a:pt x="237" y="202"/>
                  <a:pt x="236" y="202"/>
                  <a:pt x="234" y="202"/>
                </a:cubicBezTo>
                <a:cubicBezTo>
                  <a:pt x="233" y="202"/>
                  <a:pt x="232" y="202"/>
                  <a:pt x="230" y="201"/>
                </a:cubicBezTo>
                <a:cubicBezTo>
                  <a:pt x="229" y="201"/>
                  <a:pt x="228" y="200"/>
                  <a:pt x="227" y="199"/>
                </a:cubicBezTo>
                <a:cubicBezTo>
                  <a:pt x="225" y="197"/>
                  <a:pt x="224" y="195"/>
                  <a:pt x="224" y="192"/>
                </a:cubicBezTo>
                <a:cubicBezTo>
                  <a:pt x="224" y="190"/>
                  <a:pt x="224" y="189"/>
                  <a:pt x="225" y="188"/>
                </a:cubicBezTo>
                <a:close/>
                <a:moveTo>
                  <a:pt x="227" y="227"/>
                </a:moveTo>
                <a:cubicBezTo>
                  <a:pt x="228" y="226"/>
                  <a:pt x="229" y="225"/>
                  <a:pt x="230" y="225"/>
                </a:cubicBezTo>
                <a:cubicBezTo>
                  <a:pt x="232" y="224"/>
                  <a:pt x="234" y="223"/>
                  <a:pt x="236" y="224"/>
                </a:cubicBezTo>
                <a:cubicBezTo>
                  <a:pt x="237" y="224"/>
                  <a:pt x="238" y="224"/>
                  <a:pt x="238" y="225"/>
                </a:cubicBezTo>
                <a:cubicBezTo>
                  <a:pt x="239" y="225"/>
                  <a:pt x="240" y="225"/>
                  <a:pt x="240" y="225"/>
                </a:cubicBezTo>
                <a:cubicBezTo>
                  <a:pt x="241" y="226"/>
                  <a:pt x="241" y="226"/>
                  <a:pt x="242" y="227"/>
                </a:cubicBezTo>
                <a:cubicBezTo>
                  <a:pt x="244" y="229"/>
                  <a:pt x="245" y="232"/>
                  <a:pt x="245" y="234"/>
                </a:cubicBezTo>
                <a:cubicBezTo>
                  <a:pt x="245" y="237"/>
                  <a:pt x="244" y="240"/>
                  <a:pt x="242" y="242"/>
                </a:cubicBezTo>
                <a:cubicBezTo>
                  <a:pt x="241" y="243"/>
                  <a:pt x="240" y="244"/>
                  <a:pt x="238" y="244"/>
                </a:cubicBezTo>
                <a:cubicBezTo>
                  <a:pt x="237" y="245"/>
                  <a:pt x="236" y="245"/>
                  <a:pt x="234" y="245"/>
                </a:cubicBezTo>
                <a:cubicBezTo>
                  <a:pt x="233" y="245"/>
                  <a:pt x="232" y="245"/>
                  <a:pt x="230" y="244"/>
                </a:cubicBezTo>
                <a:cubicBezTo>
                  <a:pt x="229" y="244"/>
                  <a:pt x="228" y="243"/>
                  <a:pt x="227" y="242"/>
                </a:cubicBezTo>
                <a:cubicBezTo>
                  <a:pt x="226" y="241"/>
                  <a:pt x="225" y="240"/>
                  <a:pt x="225" y="238"/>
                </a:cubicBezTo>
                <a:cubicBezTo>
                  <a:pt x="224" y="237"/>
                  <a:pt x="224" y="236"/>
                  <a:pt x="224" y="234"/>
                </a:cubicBezTo>
                <a:cubicBezTo>
                  <a:pt x="224" y="232"/>
                  <a:pt x="225" y="229"/>
                  <a:pt x="227" y="227"/>
                </a:cubicBezTo>
                <a:close/>
                <a:moveTo>
                  <a:pt x="225" y="273"/>
                </a:moveTo>
                <a:cubicBezTo>
                  <a:pt x="225" y="272"/>
                  <a:pt x="226" y="270"/>
                  <a:pt x="227" y="269"/>
                </a:cubicBezTo>
                <a:cubicBezTo>
                  <a:pt x="231" y="265"/>
                  <a:pt x="238" y="265"/>
                  <a:pt x="242" y="269"/>
                </a:cubicBezTo>
                <a:cubicBezTo>
                  <a:pt x="243" y="270"/>
                  <a:pt x="244" y="272"/>
                  <a:pt x="244" y="273"/>
                </a:cubicBezTo>
                <a:cubicBezTo>
                  <a:pt x="245" y="274"/>
                  <a:pt x="245" y="276"/>
                  <a:pt x="245" y="277"/>
                </a:cubicBezTo>
                <a:cubicBezTo>
                  <a:pt x="245" y="278"/>
                  <a:pt x="245" y="280"/>
                  <a:pt x="244" y="281"/>
                </a:cubicBezTo>
                <a:cubicBezTo>
                  <a:pt x="244" y="282"/>
                  <a:pt x="243" y="284"/>
                  <a:pt x="242" y="285"/>
                </a:cubicBezTo>
                <a:cubicBezTo>
                  <a:pt x="240" y="287"/>
                  <a:pt x="237" y="288"/>
                  <a:pt x="234" y="288"/>
                </a:cubicBezTo>
                <a:cubicBezTo>
                  <a:pt x="233" y="288"/>
                  <a:pt x="232" y="287"/>
                  <a:pt x="230" y="287"/>
                </a:cubicBezTo>
                <a:cubicBezTo>
                  <a:pt x="229" y="286"/>
                  <a:pt x="228" y="286"/>
                  <a:pt x="227" y="285"/>
                </a:cubicBezTo>
                <a:cubicBezTo>
                  <a:pt x="225" y="283"/>
                  <a:pt x="224" y="280"/>
                  <a:pt x="224" y="277"/>
                </a:cubicBezTo>
                <a:cubicBezTo>
                  <a:pt x="224" y="276"/>
                  <a:pt x="224" y="274"/>
                  <a:pt x="225" y="273"/>
                </a:cubicBezTo>
                <a:close/>
                <a:moveTo>
                  <a:pt x="227" y="312"/>
                </a:moveTo>
                <a:cubicBezTo>
                  <a:pt x="227" y="312"/>
                  <a:pt x="228" y="311"/>
                  <a:pt x="228" y="311"/>
                </a:cubicBezTo>
                <a:cubicBezTo>
                  <a:pt x="229" y="310"/>
                  <a:pt x="230" y="310"/>
                  <a:pt x="230" y="310"/>
                </a:cubicBezTo>
                <a:cubicBezTo>
                  <a:pt x="231" y="310"/>
                  <a:pt x="232" y="309"/>
                  <a:pt x="232" y="309"/>
                </a:cubicBezTo>
                <a:cubicBezTo>
                  <a:pt x="236" y="308"/>
                  <a:pt x="239" y="310"/>
                  <a:pt x="242" y="312"/>
                </a:cubicBezTo>
                <a:cubicBezTo>
                  <a:pt x="244" y="314"/>
                  <a:pt x="245" y="317"/>
                  <a:pt x="245" y="320"/>
                </a:cubicBezTo>
                <a:cubicBezTo>
                  <a:pt x="245" y="321"/>
                  <a:pt x="245" y="322"/>
                  <a:pt x="244" y="324"/>
                </a:cubicBezTo>
                <a:cubicBezTo>
                  <a:pt x="244" y="325"/>
                  <a:pt x="243" y="326"/>
                  <a:pt x="242" y="327"/>
                </a:cubicBezTo>
                <a:cubicBezTo>
                  <a:pt x="241" y="328"/>
                  <a:pt x="240" y="329"/>
                  <a:pt x="238" y="329"/>
                </a:cubicBezTo>
                <a:cubicBezTo>
                  <a:pt x="237" y="330"/>
                  <a:pt x="236" y="330"/>
                  <a:pt x="234" y="330"/>
                </a:cubicBezTo>
                <a:cubicBezTo>
                  <a:pt x="231" y="330"/>
                  <a:pt x="229" y="329"/>
                  <a:pt x="227" y="327"/>
                </a:cubicBezTo>
                <a:cubicBezTo>
                  <a:pt x="226" y="326"/>
                  <a:pt x="225" y="325"/>
                  <a:pt x="225" y="324"/>
                </a:cubicBezTo>
                <a:cubicBezTo>
                  <a:pt x="224" y="322"/>
                  <a:pt x="224" y="321"/>
                  <a:pt x="224" y="320"/>
                </a:cubicBezTo>
                <a:cubicBezTo>
                  <a:pt x="224" y="317"/>
                  <a:pt x="225" y="314"/>
                  <a:pt x="227" y="312"/>
                </a:cubicBezTo>
                <a:close/>
                <a:moveTo>
                  <a:pt x="225" y="358"/>
                </a:moveTo>
                <a:cubicBezTo>
                  <a:pt x="225" y="357"/>
                  <a:pt x="226" y="356"/>
                  <a:pt x="227" y="355"/>
                </a:cubicBezTo>
                <a:cubicBezTo>
                  <a:pt x="228" y="354"/>
                  <a:pt x="229" y="353"/>
                  <a:pt x="230" y="353"/>
                </a:cubicBezTo>
                <a:cubicBezTo>
                  <a:pt x="234" y="351"/>
                  <a:pt x="239" y="352"/>
                  <a:pt x="242" y="355"/>
                </a:cubicBezTo>
                <a:cubicBezTo>
                  <a:pt x="243" y="356"/>
                  <a:pt x="244" y="357"/>
                  <a:pt x="244" y="358"/>
                </a:cubicBezTo>
                <a:cubicBezTo>
                  <a:pt x="245" y="360"/>
                  <a:pt x="245" y="361"/>
                  <a:pt x="245" y="362"/>
                </a:cubicBezTo>
                <a:cubicBezTo>
                  <a:pt x="245" y="364"/>
                  <a:pt x="245" y="365"/>
                  <a:pt x="244" y="366"/>
                </a:cubicBezTo>
                <a:cubicBezTo>
                  <a:pt x="244" y="368"/>
                  <a:pt x="243" y="369"/>
                  <a:pt x="242" y="370"/>
                </a:cubicBezTo>
                <a:cubicBezTo>
                  <a:pt x="241" y="371"/>
                  <a:pt x="240" y="372"/>
                  <a:pt x="238" y="372"/>
                </a:cubicBezTo>
                <a:cubicBezTo>
                  <a:pt x="237" y="373"/>
                  <a:pt x="236" y="373"/>
                  <a:pt x="234" y="373"/>
                </a:cubicBezTo>
                <a:cubicBezTo>
                  <a:pt x="233" y="373"/>
                  <a:pt x="232" y="373"/>
                  <a:pt x="230" y="372"/>
                </a:cubicBezTo>
                <a:cubicBezTo>
                  <a:pt x="229" y="372"/>
                  <a:pt x="228" y="371"/>
                  <a:pt x="227" y="370"/>
                </a:cubicBezTo>
                <a:cubicBezTo>
                  <a:pt x="226" y="369"/>
                  <a:pt x="225" y="368"/>
                  <a:pt x="225" y="366"/>
                </a:cubicBezTo>
                <a:cubicBezTo>
                  <a:pt x="224" y="365"/>
                  <a:pt x="224" y="364"/>
                  <a:pt x="224" y="362"/>
                </a:cubicBezTo>
                <a:cubicBezTo>
                  <a:pt x="224" y="361"/>
                  <a:pt x="224" y="360"/>
                  <a:pt x="225" y="358"/>
                </a:cubicBezTo>
                <a:close/>
                <a:moveTo>
                  <a:pt x="182" y="145"/>
                </a:moveTo>
                <a:cubicBezTo>
                  <a:pt x="182" y="144"/>
                  <a:pt x="183" y="142"/>
                  <a:pt x="184" y="141"/>
                </a:cubicBezTo>
                <a:cubicBezTo>
                  <a:pt x="188" y="137"/>
                  <a:pt x="195" y="137"/>
                  <a:pt x="199" y="141"/>
                </a:cubicBezTo>
                <a:cubicBezTo>
                  <a:pt x="200" y="142"/>
                  <a:pt x="201" y="144"/>
                  <a:pt x="201" y="145"/>
                </a:cubicBezTo>
                <a:cubicBezTo>
                  <a:pt x="202" y="146"/>
                  <a:pt x="202" y="148"/>
                  <a:pt x="202" y="149"/>
                </a:cubicBezTo>
                <a:cubicBezTo>
                  <a:pt x="202" y="152"/>
                  <a:pt x="201" y="155"/>
                  <a:pt x="199" y="157"/>
                </a:cubicBezTo>
                <a:cubicBezTo>
                  <a:pt x="197" y="159"/>
                  <a:pt x="195" y="160"/>
                  <a:pt x="192" y="160"/>
                </a:cubicBezTo>
                <a:cubicBezTo>
                  <a:pt x="190" y="160"/>
                  <a:pt x="189" y="159"/>
                  <a:pt x="188" y="159"/>
                </a:cubicBezTo>
                <a:cubicBezTo>
                  <a:pt x="186" y="158"/>
                  <a:pt x="185" y="158"/>
                  <a:pt x="184" y="157"/>
                </a:cubicBezTo>
                <a:cubicBezTo>
                  <a:pt x="182" y="155"/>
                  <a:pt x="181" y="152"/>
                  <a:pt x="181" y="149"/>
                </a:cubicBezTo>
                <a:cubicBezTo>
                  <a:pt x="181" y="148"/>
                  <a:pt x="181" y="146"/>
                  <a:pt x="182" y="145"/>
                </a:cubicBezTo>
                <a:close/>
                <a:moveTo>
                  <a:pt x="182" y="188"/>
                </a:moveTo>
                <a:cubicBezTo>
                  <a:pt x="182" y="186"/>
                  <a:pt x="183" y="185"/>
                  <a:pt x="184" y="184"/>
                </a:cubicBezTo>
                <a:cubicBezTo>
                  <a:pt x="185" y="184"/>
                  <a:pt x="185" y="183"/>
                  <a:pt x="186" y="183"/>
                </a:cubicBezTo>
                <a:cubicBezTo>
                  <a:pt x="186" y="182"/>
                  <a:pt x="187" y="182"/>
                  <a:pt x="188" y="182"/>
                </a:cubicBezTo>
                <a:cubicBezTo>
                  <a:pt x="188" y="182"/>
                  <a:pt x="189" y="181"/>
                  <a:pt x="190" y="181"/>
                </a:cubicBezTo>
                <a:cubicBezTo>
                  <a:pt x="192" y="181"/>
                  <a:pt x="194" y="181"/>
                  <a:pt x="196" y="182"/>
                </a:cubicBezTo>
                <a:cubicBezTo>
                  <a:pt x="197" y="182"/>
                  <a:pt x="198" y="183"/>
                  <a:pt x="199" y="184"/>
                </a:cubicBezTo>
                <a:cubicBezTo>
                  <a:pt x="200" y="185"/>
                  <a:pt x="201" y="186"/>
                  <a:pt x="201" y="188"/>
                </a:cubicBezTo>
                <a:cubicBezTo>
                  <a:pt x="202" y="189"/>
                  <a:pt x="202" y="190"/>
                  <a:pt x="202" y="192"/>
                </a:cubicBezTo>
                <a:cubicBezTo>
                  <a:pt x="202" y="195"/>
                  <a:pt x="201" y="197"/>
                  <a:pt x="199" y="199"/>
                </a:cubicBezTo>
                <a:cubicBezTo>
                  <a:pt x="197" y="201"/>
                  <a:pt x="195" y="202"/>
                  <a:pt x="192" y="202"/>
                </a:cubicBezTo>
                <a:cubicBezTo>
                  <a:pt x="190" y="202"/>
                  <a:pt x="189" y="202"/>
                  <a:pt x="188" y="201"/>
                </a:cubicBezTo>
                <a:cubicBezTo>
                  <a:pt x="186" y="201"/>
                  <a:pt x="185" y="200"/>
                  <a:pt x="184" y="199"/>
                </a:cubicBezTo>
                <a:cubicBezTo>
                  <a:pt x="182" y="197"/>
                  <a:pt x="181" y="195"/>
                  <a:pt x="181" y="192"/>
                </a:cubicBezTo>
                <a:cubicBezTo>
                  <a:pt x="181" y="190"/>
                  <a:pt x="181" y="189"/>
                  <a:pt x="182" y="188"/>
                </a:cubicBezTo>
                <a:close/>
                <a:moveTo>
                  <a:pt x="184" y="227"/>
                </a:moveTo>
                <a:cubicBezTo>
                  <a:pt x="185" y="226"/>
                  <a:pt x="185" y="226"/>
                  <a:pt x="186" y="225"/>
                </a:cubicBezTo>
                <a:cubicBezTo>
                  <a:pt x="186" y="225"/>
                  <a:pt x="187" y="225"/>
                  <a:pt x="188" y="225"/>
                </a:cubicBezTo>
                <a:cubicBezTo>
                  <a:pt x="188" y="224"/>
                  <a:pt x="189" y="224"/>
                  <a:pt x="190" y="224"/>
                </a:cubicBezTo>
                <a:cubicBezTo>
                  <a:pt x="191" y="224"/>
                  <a:pt x="192" y="224"/>
                  <a:pt x="194" y="224"/>
                </a:cubicBezTo>
                <a:cubicBezTo>
                  <a:pt x="194" y="224"/>
                  <a:pt x="195" y="224"/>
                  <a:pt x="196" y="225"/>
                </a:cubicBezTo>
                <a:cubicBezTo>
                  <a:pt x="196" y="225"/>
                  <a:pt x="197" y="225"/>
                  <a:pt x="198" y="225"/>
                </a:cubicBezTo>
                <a:cubicBezTo>
                  <a:pt x="198" y="226"/>
                  <a:pt x="199" y="226"/>
                  <a:pt x="199" y="227"/>
                </a:cubicBezTo>
                <a:cubicBezTo>
                  <a:pt x="201" y="229"/>
                  <a:pt x="202" y="232"/>
                  <a:pt x="202" y="234"/>
                </a:cubicBezTo>
                <a:cubicBezTo>
                  <a:pt x="202" y="236"/>
                  <a:pt x="202" y="237"/>
                  <a:pt x="201" y="238"/>
                </a:cubicBezTo>
                <a:cubicBezTo>
                  <a:pt x="201" y="240"/>
                  <a:pt x="200" y="241"/>
                  <a:pt x="199" y="242"/>
                </a:cubicBezTo>
                <a:cubicBezTo>
                  <a:pt x="198" y="243"/>
                  <a:pt x="197" y="244"/>
                  <a:pt x="196" y="244"/>
                </a:cubicBezTo>
                <a:cubicBezTo>
                  <a:pt x="194" y="245"/>
                  <a:pt x="193" y="245"/>
                  <a:pt x="192" y="245"/>
                </a:cubicBezTo>
                <a:cubicBezTo>
                  <a:pt x="190" y="245"/>
                  <a:pt x="189" y="245"/>
                  <a:pt x="188" y="244"/>
                </a:cubicBezTo>
                <a:cubicBezTo>
                  <a:pt x="186" y="244"/>
                  <a:pt x="185" y="243"/>
                  <a:pt x="184" y="242"/>
                </a:cubicBezTo>
                <a:cubicBezTo>
                  <a:pt x="182" y="240"/>
                  <a:pt x="181" y="237"/>
                  <a:pt x="181" y="234"/>
                </a:cubicBezTo>
                <a:cubicBezTo>
                  <a:pt x="181" y="232"/>
                  <a:pt x="182" y="229"/>
                  <a:pt x="184" y="227"/>
                </a:cubicBezTo>
                <a:close/>
                <a:moveTo>
                  <a:pt x="182" y="273"/>
                </a:moveTo>
                <a:cubicBezTo>
                  <a:pt x="182" y="272"/>
                  <a:pt x="183" y="270"/>
                  <a:pt x="184" y="269"/>
                </a:cubicBezTo>
                <a:cubicBezTo>
                  <a:pt x="185" y="268"/>
                  <a:pt x="186" y="268"/>
                  <a:pt x="188" y="267"/>
                </a:cubicBezTo>
                <a:cubicBezTo>
                  <a:pt x="190" y="266"/>
                  <a:pt x="193" y="266"/>
                  <a:pt x="196" y="267"/>
                </a:cubicBezTo>
                <a:cubicBezTo>
                  <a:pt x="197" y="268"/>
                  <a:pt x="198" y="268"/>
                  <a:pt x="199" y="269"/>
                </a:cubicBezTo>
                <a:cubicBezTo>
                  <a:pt x="200" y="270"/>
                  <a:pt x="201" y="272"/>
                  <a:pt x="201" y="273"/>
                </a:cubicBezTo>
                <a:cubicBezTo>
                  <a:pt x="202" y="274"/>
                  <a:pt x="202" y="276"/>
                  <a:pt x="202" y="277"/>
                </a:cubicBezTo>
                <a:cubicBezTo>
                  <a:pt x="202" y="278"/>
                  <a:pt x="202" y="280"/>
                  <a:pt x="201" y="281"/>
                </a:cubicBezTo>
                <a:cubicBezTo>
                  <a:pt x="201" y="282"/>
                  <a:pt x="200" y="284"/>
                  <a:pt x="199" y="285"/>
                </a:cubicBezTo>
                <a:cubicBezTo>
                  <a:pt x="197" y="287"/>
                  <a:pt x="195" y="288"/>
                  <a:pt x="192" y="288"/>
                </a:cubicBezTo>
                <a:cubicBezTo>
                  <a:pt x="189" y="288"/>
                  <a:pt x="186" y="287"/>
                  <a:pt x="184" y="285"/>
                </a:cubicBezTo>
                <a:cubicBezTo>
                  <a:pt x="182" y="283"/>
                  <a:pt x="181" y="280"/>
                  <a:pt x="181" y="277"/>
                </a:cubicBezTo>
                <a:cubicBezTo>
                  <a:pt x="181" y="276"/>
                  <a:pt x="181" y="274"/>
                  <a:pt x="182" y="273"/>
                </a:cubicBezTo>
                <a:close/>
                <a:moveTo>
                  <a:pt x="184" y="312"/>
                </a:moveTo>
                <a:cubicBezTo>
                  <a:pt x="187" y="309"/>
                  <a:pt x="192" y="308"/>
                  <a:pt x="196" y="310"/>
                </a:cubicBezTo>
                <a:cubicBezTo>
                  <a:pt x="197" y="310"/>
                  <a:pt x="198" y="311"/>
                  <a:pt x="199" y="312"/>
                </a:cubicBezTo>
                <a:cubicBezTo>
                  <a:pt x="201" y="314"/>
                  <a:pt x="202" y="317"/>
                  <a:pt x="202" y="320"/>
                </a:cubicBezTo>
                <a:cubicBezTo>
                  <a:pt x="202" y="321"/>
                  <a:pt x="202" y="322"/>
                  <a:pt x="201" y="324"/>
                </a:cubicBezTo>
                <a:cubicBezTo>
                  <a:pt x="201" y="325"/>
                  <a:pt x="200" y="326"/>
                  <a:pt x="199" y="327"/>
                </a:cubicBezTo>
                <a:cubicBezTo>
                  <a:pt x="198" y="328"/>
                  <a:pt x="197" y="329"/>
                  <a:pt x="196" y="329"/>
                </a:cubicBezTo>
                <a:cubicBezTo>
                  <a:pt x="194" y="330"/>
                  <a:pt x="193" y="330"/>
                  <a:pt x="192" y="330"/>
                </a:cubicBezTo>
                <a:cubicBezTo>
                  <a:pt x="189" y="330"/>
                  <a:pt x="186" y="329"/>
                  <a:pt x="184" y="327"/>
                </a:cubicBezTo>
                <a:cubicBezTo>
                  <a:pt x="183" y="326"/>
                  <a:pt x="182" y="325"/>
                  <a:pt x="182" y="324"/>
                </a:cubicBezTo>
                <a:cubicBezTo>
                  <a:pt x="181" y="322"/>
                  <a:pt x="181" y="321"/>
                  <a:pt x="181" y="320"/>
                </a:cubicBezTo>
                <a:cubicBezTo>
                  <a:pt x="181" y="317"/>
                  <a:pt x="182" y="314"/>
                  <a:pt x="184" y="312"/>
                </a:cubicBezTo>
                <a:close/>
                <a:moveTo>
                  <a:pt x="288" y="394"/>
                </a:moveTo>
                <a:cubicBezTo>
                  <a:pt x="309" y="394"/>
                  <a:pt x="309" y="394"/>
                  <a:pt x="309" y="394"/>
                </a:cubicBezTo>
                <a:cubicBezTo>
                  <a:pt x="309" y="362"/>
                  <a:pt x="309" y="362"/>
                  <a:pt x="309" y="362"/>
                </a:cubicBezTo>
                <a:cubicBezTo>
                  <a:pt x="309" y="356"/>
                  <a:pt x="314" y="352"/>
                  <a:pt x="320" y="352"/>
                </a:cubicBezTo>
                <a:cubicBezTo>
                  <a:pt x="326" y="352"/>
                  <a:pt x="330" y="356"/>
                  <a:pt x="330" y="362"/>
                </a:cubicBezTo>
                <a:cubicBezTo>
                  <a:pt x="330" y="394"/>
                  <a:pt x="330" y="394"/>
                  <a:pt x="330" y="394"/>
                </a:cubicBezTo>
                <a:cubicBezTo>
                  <a:pt x="352" y="394"/>
                  <a:pt x="352" y="394"/>
                  <a:pt x="352" y="394"/>
                </a:cubicBezTo>
                <a:cubicBezTo>
                  <a:pt x="352" y="202"/>
                  <a:pt x="352" y="202"/>
                  <a:pt x="352" y="202"/>
                </a:cubicBezTo>
                <a:cubicBezTo>
                  <a:pt x="288" y="202"/>
                  <a:pt x="288" y="202"/>
                  <a:pt x="288" y="202"/>
                </a:cubicBezTo>
                <a:lnTo>
                  <a:pt x="288" y="394"/>
                </a:lnTo>
                <a:close/>
                <a:moveTo>
                  <a:pt x="312" y="227"/>
                </a:moveTo>
                <a:cubicBezTo>
                  <a:pt x="313" y="226"/>
                  <a:pt x="313" y="226"/>
                  <a:pt x="314" y="225"/>
                </a:cubicBezTo>
                <a:cubicBezTo>
                  <a:pt x="314" y="225"/>
                  <a:pt x="315" y="225"/>
                  <a:pt x="316" y="225"/>
                </a:cubicBezTo>
                <a:cubicBezTo>
                  <a:pt x="316" y="224"/>
                  <a:pt x="317" y="224"/>
                  <a:pt x="318" y="224"/>
                </a:cubicBezTo>
                <a:cubicBezTo>
                  <a:pt x="321" y="223"/>
                  <a:pt x="325" y="224"/>
                  <a:pt x="327" y="227"/>
                </a:cubicBezTo>
                <a:cubicBezTo>
                  <a:pt x="329" y="229"/>
                  <a:pt x="330" y="232"/>
                  <a:pt x="330" y="234"/>
                </a:cubicBezTo>
                <a:cubicBezTo>
                  <a:pt x="330" y="236"/>
                  <a:pt x="330" y="237"/>
                  <a:pt x="329" y="238"/>
                </a:cubicBezTo>
                <a:cubicBezTo>
                  <a:pt x="329" y="240"/>
                  <a:pt x="328" y="241"/>
                  <a:pt x="327" y="242"/>
                </a:cubicBezTo>
                <a:cubicBezTo>
                  <a:pt x="326" y="243"/>
                  <a:pt x="325" y="244"/>
                  <a:pt x="324" y="244"/>
                </a:cubicBezTo>
                <a:cubicBezTo>
                  <a:pt x="322" y="245"/>
                  <a:pt x="321" y="245"/>
                  <a:pt x="320" y="245"/>
                </a:cubicBezTo>
                <a:cubicBezTo>
                  <a:pt x="318" y="245"/>
                  <a:pt x="317" y="245"/>
                  <a:pt x="316" y="244"/>
                </a:cubicBezTo>
                <a:cubicBezTo>
                  <a:pt x="314" y="244"/>
                  <a:pt x="313" y="243"/>
                  <a:pt x="312" y="242"/>
                </a:cubicBezTo>
                <a:cubicBezTo>
                  <a:pt x="311" y="241"/>
                  <a:pt x="310" y="240"/>
                  <a:pt x="310" y="238"/>
                </a:cubicBezTo>
                <a:cubicBezTo>
                  <a:pt x="309" y="237"/>
                  <a:pt x="309" y="236"/>
                  <a:pt x="309" y="234"/>
                </a:cubicBezTo>
                <a:cubicBezTo>
                  <a:pt x="309" y="232"/>
                  <a:pt x="310" y="229"/>
                  <a:pt x="312" y="227"/>
                </a:cubicBezTo>
                <a:close/>
                <a:moveTo>
                  <a:pt x="310" y="273"/>
                </a:moveTo>
                <a:cubicBezTo>
                  <a:pt x="310" y="272"/>
                  <a:pt x="311" y="270"/>
                  <a:pt x="312" y="269"/>
                </a:cubicBezTo>
                <a:cubicBezTo>
                  <a:pt x="313" y="268"/>
                  <a:pt x="314" y="268"/>
                  <a:pt x="316" y="267"/>
                </a:cubicBezTo>
                <a:cubicBezTo>
                  <a:pt x="318" y="266"/>
                  <a:pt x="321" y="266"/>
                  <a:pt x="324" y="267"/>
                </a:cubicBezTo>
                <a:cubicBezTo>
                  <a:pt x="325" y="268"/>
                  <a:pt x="326" y="268"/>
                  <a:pt x="327" y="269"/>
                </a:cubicBezTo>
                <a:cubicBezTo>
                  <a:pt x="328" y="270"/>
                  <a:pt x="329" y="272"/>
                  <a:pt x="329" y="273"/>
                </a:cubicBezTo>
                <a:cubicBezTo>
                  <a:pt x="330" y="274"/>
                  <a:pt x="330" y="276"/>
                  <a:pt x="330" y="277"/>
                </a:cubicBezTo>
                <a:cubicBezTo>
                  <a:pt x="330" y="278"/>
                  <a:pt x="330" y="280"/>
                  <a:pt x="329" y="281"/>
                </a:cubicBezTo>
                <a:cubicBezTo>
                  <a:pt x="329" y="282"/>
                  <a:pt x="328" y="284"/>
                  <a:pt x="327" y="285"/>
                </a:cubicBezTo>
                <a:cubicBezTo>
                  <a:pt x="326" y="286"/>
                  <a:pt x="325" y="286"/>
                  <a:pt x="324" y="287"/>
                </a:cubicBezTo>
                <a:cubicBezTo>
                  <a:pt x="322" y="287"/>
                  <a:pt x="321" y="288"/>
                  <a:pt x="320" y="288"/>
                </a:cubicBezTo>
                <a:cubicBezTo>
                  <a:pt x="318" y="288"/>
                  <a:pt x="317" y="287"/>
                  <a:pt x="316" y="287"/>
                </a:cubicBezTo>
                <a:cubicBezTo>
                  <a:pt x="314" y="286"/>
                  <a:pt x="313" y="286"/>
                  <a:pt x="312" y="285"/>
                </a:cubicBezTo>
                <a:cubicBezTo>
                  <a:pt x="311" y="284"/>
                  <a:pt x="310" y="282"/>
                  <a:pt x="310" y="281"/>
                </a:cubicBezTo>
                <a:cubicBezTo>
                  <a:pt x="309" y="280"/>
                  <a:pt x="309" y="278"/>
                  <a:pt x="309" y="277"/>
                </a:cubicBezTo>
                <a:cubicBezTo>
                  <a:pt x="309" y="276"/>
                  <a:pt x="309" y="274"/>
                  <a:pt x="310" y="273"/>
                </a:cubicBezTo>
                <a:close/>
                <a:moveTo>
                  <a:pt x="310" y="316"/>
                </a:moveTo>
                <a:cubicBezTo>
                  <a:pt x="310" y="314"/>
                  <a:pt x="311" y="313"/>
                  <a:pt x="312" y="312"/>
                </a:cubicBezTo>
                <a:cubicBezTo>
                  <a:pt x="313" y="312"/>
                  <a:pt x="313" y="311"/>
                  <a:pt x="314" y="311"/>
                </a:cubicBezTo>
                <a:cubicBezTo>
                  <a:pt x="314" y="310"/>
                  <a:pt x="315" y="310"/>
                  <a:pt x="316" y="310"/>
                </a:cubicBezTo>
                <a:cubicBezTo>
                  <a:pt x="316" y="310"/>
                  <a:pt x="317" y="309"/>
                  <a:pt x="318" y="309"/>
                </a:cubicBezTo>
                <a:cubicBezTo>
                  <a:pt x="319" y="309"/>
                  <a:pt x="320" y="309"/>
                  <a:pt x="322" y="309"/>
                </a:cubicBezTo>
                <a:cubicBezTo>
                  <a:pt x="322" y="309"/>
                  <a:pt x="323" y="310"/>
                  <a:pt x="324" y="310"/>
                </a:cubicBezTo>
                <a:cubicBezTo>
                  <a:pt x="324" y="310"/>
                  <a:pt x="325" y="310"/>
                  <a:pt x="326" y="311"/>
                </a:cubicBezTo>
                <a:cubicBezTo>
                  <a:pt x="326" y="311"/>
                  <a:pt x="327" y="312"/>
                  <a:pt x="327" y="312"/>
                </a:cubicBezTo>
                <a:cubicBezTo>
                  <a:pt x="328" y="313"/>
                  <a:pt x="329" y="314"/>
                  <a:pt x="329" y="316"/>
                </a:cubicBezTo>
                <a:cubicBezTo>
                  <a:pt x="330" y="317"/>
                  <a:pt x="330" y="318"/>
                  <a:pt x="330" y="320"/>
                </a:cubicBezTo>
                <a:cubicBezTo>
                  <a:pt x="330" y="321"/>
                  <a:pt x="330" y="322"/>
                  <a:pt x="329" y="324"/>
                </a:cubicBezTo>
                <a:cubicBezTo>
                  <a:pt x="329" y="325"/>
                  <a:pt x="328" y="326"/>
                  <a:pt x="327" y="327"/>
                </a:cubicBezTo>
                <a:cubicBezTo>
                  <a:pt x="325" y="329"/>
                  <a:pt x="322" y="330"/>
                  <a:pt x="320" y="330"/>
                </a:cubicBezTo>
                <a:cubicBezTo>
                  <a:pt x="317" y="330"/>
                  <a:pt x="314" y="329"/>
                  <a:pt x="312" y="327"/>
                </a:cubicBezTo>
                <a:cubicBezTo>
                  <a:pt x="311" y="326"/>
                  <a:pt x="310" y="325"/>
                  <a:pt x="310" y="324"/>
                </a:cubicBezTo>
                <a:cubicBezTo>
                  <a:pt x="309" y="322"/>
                  <a:pt x="309" y="321"/>
                  <a:pt x="309" y="320"/>
                </a:cubicBezTo>
                <a:cubicBezTo>
                  <a:pt x="309" y="318"/>
                  <a:pt x="309" y="317"/>
                  <a:pt x="310" y="31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73" y="405"/>
                </a:moveTo>
                <a:cubicBezTo>
                  <a:pt x="373" y="411"/>
                  <a:pt x="368" y="416"/>
                  <a:pt x="362" y="416"/>
                </a:cubicBezTo>
                <a:cubicBezTo>
                  <a:pt x="149" y="416"/>
                  <a:pt x="149" y="416"/>
                  <a:pt x="149" y="416"/>
                </a:cubicBezTo>
                <a:cubicBezTo>
                  <a:pt x="143" y="416"/>
                  <a:pt x="138" y="411"/>
                  <a:pt x="138" y="405"/>
                </a:cubicBezTo>
                <a:cubicBezTo>
                  <a:pt x="138" y="106"/>
                  <a:pt x="138" y="106"/>
                  <a:pt x="138" y="106"/>
                </a:cubicBezTo>
                <a:cubicBezTo>
                  <a:pt x="138" y="100"/>
                  <a:pt x="143" y="96"/>
                  <a:pt x="149" y="96"/>
                </a:cubicBezTo>
                <a:cubicBezTo>
                  <a:pt x="277" y="96"/>
                  <a:pt x="277" y="96"/>
                  <a:pt x="277" y="96"/>
                </a:cubicBezTo>
                <a:cubicBezTo>
                  <a:pt x="283" y="96"/>
                  <a:pt x="288" y="100"/>
                  <a:pt x="288" y="106"/>
                </a:cubicBezTo>
                <a:cubicBezTo>
                  <a:pt x="288" y="181"/>
                  <a:pt x="288" y="181"/>
                  <a:pt x="288" y="181"/>
                </a:cubicBezTo>
                <a:cubicBezTo>
                  <a:pt x="362" y="181"/>
                  <a:pt x="362" y="181"/>
                  <a:pt x="362" y="181"/>
                </a:cubicBezTo>
                <a:cubicBezTo>
                  <a:pt x="368" y="181"/>
                  <a:pt x="373" y="186"/>
                  <a:pt x="373" y="192"/>
                </a:cubicBezTo>
                <a:lnTo>
                  <a:pt x="373" y="40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Pentagon 38">
            <a:extLst>
              <a:ext uri="{FF2B5EF4-FFF2-40B4-BE49-F238E27FC236}">
                <a16:creationId xmlns:a16="http://schemas.microsoft.com/office/drawing/2014/main" id="{E6E186E5-FD70-4CFB-907B-526A63296B11}"/>
              </a:ext>
            </a:extLst>
          </p:cNvPr>
          <p:cNvSpPr/>
          <p:nvPr/>
        </p:nvSpPr>
        <p:spPr>
          <a:xfrm flipH="1">
            <a:off x="2008528" y="2944195"/>
            <a:ext cx="2508514" cy="1299976"/>
          </a:xfrm>
          <a:prstGeom prst="homePlate">
            <a:avLst/>
          </a:prstGeom>
          <a:solidFill>
            <a:schemeClr val="accent1">
              <a:lumMod val="75000"/>
              <a:lumOff val="2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2000"/>
          </a:p>
        </p:txBody>
      </p:sp>
      <p:sp>
        <p:nvSpPr>
          <p:cNvPr id="11" name="Rectangle 10">
            <a:extLst>
              <a:ext uri="{FF2B5EF4-FFF2-40B4-BE49-F238E27FC236}">
                <a16:creationId xmlns:a16="http://schemas.microsoft.com/office/drawing/2014/main" id="{669D8D37-B7C4-42A7-8E31-A07EC87D2684}"/>
              </a:ext>
            </a:extLst>
          </p:cNvPr>
          <p:cNvSpPr/>
          <p:nvPr/>
        </p:nvSpPr>
        <p:spPr>
          <a:xfrm>
            <a:off x="2766990" y="3087163"/>
            <a:ext cx="1748692" cy="1446550"/>
          </a:xfrm>
          <a:prstGeom prst="rect">
            <a:avLst/>
          </a:prstGeom>
          <a:ln>
            <a:noFill/>
          </a:ln>
        </p:spPr>
        <p:txBody>
          <a:bodyPr wrap="square" lIns="0" tIns="0" rIns="0" bIns="0">
            <a:spAutoFit/>
          </a:bodyPr>
          <a:lstStyle/>
          <a:p>
            <a:pPr>
              <a:spcAft>
                <a:spcPts val="600"/>
              </a:spcAft>
            </a:pPr>
            <a:r>
              <a:rPr lang="en-US" sz="1200" b="1">
                <a:latin typeface="Calibri" panose="020F0502020204030204" pitchFamily="34" charset="0"/>
                <a:cs typeface="Calibri" panose="020F0502020204030204" pitchFamily="34" charset="0"/>
              </a:rPr>
              <a:t>Oracle Standard Process Exceptions</a:t>
            </a:r>
          </a:p>
          <a:p>
            <a:pPr marL="171450" indent="-171450">
              <a:spcAft>
                <a:spcPts val="600"/>
              </a:spcAft>
              <a:buFont typeface="Arial" panose="020B0604020202020204" pitchFamily="34" charset="0"/>
              <a:buChar char="•"/>
            </a:pPr>
            <a:r>
              <a:rPr lang="en-US" sz="1200">
                <a:latin typeface="Calibri" panose="020F0502020204030204" pitchFamily="34" charset="0"/>
                <a:cs typeface="Calibri" panose="020F0502020204030204" pitchFamily="34" charset="0"/>
              </a:rPr>
              <a:t>Oracle SOAP/REST service exceptions</a:t>
            </a:r>
          </a:p>
          <a:p>
            <a:pPr marL="171450" indent="-171450">
              <a:spcAft>
                <a:spcPts val="600"/>
              </a:spcAft>
              <a:buFont typeface="Arial" panose="020B0604020202020204" pitchFamily="34" charset="0"/>
              <a:buChar char="•"/>
            </a:pPr>
            <a:r>
              <a:rPr lang="en-US" sz="1200">
                <a:highlight>
                  <a:srgbClr val="FFFF00"/>
                </a:highlight>
                <a:latin typeface="Calibri" panose="020F0502020204030204" pitchFamily="34" charset="0"/>
                <a:cs typeface="Calibri" panose="020F0502020204030204" pitchFamily="34" charset="0"/>
              </a:rPr>
              <a:t>Oracle Process Orchestration and monitoring</a:t>
            </a:r>
          </a:p>
        </p:txBody>
      </p:sp>
      <p:sp>
        <p:nvSpPr>
          <p:cNvPr id="12" name="Round Same Side Corner Rectangle 47">
            <a:extLst>
              <a:ext uri="{FF2B5EF4-FFF2-40B4-BE49-F238E27FC236}">
                <a16:creationId xmlns:a16="http://schemas.microsoft.com/office/drawing/2014/main" id="{653B0CE3-7410-46A6-B1EE-BC2F6F35ED4B}"/>
              </a:ext>
            </a:extLst>
          </p:cNvPr>
          <p:cNvSpPr/>
          <p:nvPr/>
        </p:nvSpPr>
        <p:spPr>
          <a:xfrm rot="5400000">
            <a:off x="6654017" y="1250803"/>
            <a:ext cx="1714106" cy="4667248"/>
          </a:xfrm>
          <a:prstGeom prst="round2SameRect">
            <a:avLst/>
          </a:prstGeom>
          <a:solidFill>
            <a:schemeClr val="accent1">
              <a:lumMod val="75000"/>
              <a:lumOff val="2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2000"/>
          </a:p>
        </p:txBody>
      </p:sp>
      <p:sp>
        <p:nvSpPr>
          <p:cNvPr id="13" name="Pentagon 38">
            <a:extLst>
              <a:ext uri="{FF2B5EF4-FFF2-40B4-BE49-F238E27FC236}">
                <a16:creationId xmlns:a16="http://schemas.microsoft.com/office/drawing/2014/main" id="{5518BB10-A487-4050-8A3B-EAF5946E2078}"/>
              </a:ext>
            </a:extLst>
          </p:cNvPr>
          <p:cNvSpPr/>
          <p:nvPr/>
        </p:nvSpPr>
        <p:spPr>
          <a:xfrm flipH="1">
            <a:off x="2016917" y="4244171"/>
            <a:ext cx="2508514" cy="1299976"/>
          </a:xfrm>
          <a:prstGeom prst="homePlate">
            <a:avLst/>
          </a:prstGeom>
          <a:ln/>
        </p:spPr>
        <p:style>
          <a:lnRef idx="0">
            <a:schemeClr val="accent5"/>
          </a:lnRef>
          <a:fillRef idx="3">
            <a:schemeClr val="accent5"/>
          </a:fillRef>
          <a:effectRef idx="3">
            <a:schemeClr val="accent5"/>
          </a:effectRef>
          <a:fontRef idx="minor">
            <a:schemeClr val="lt1"/>
          </a:fontRef>
        </p:style>
        <p:txBody>
          <a:bodyPr tIns="91440" bIns="91440" rtlCol="0" anchor="ctr"/>
          <a:lstStyle/>
          <a:p>
            <a:pPr algn="ctr"/>
            <a:endParaRPr lang="en-US" sz="1200"/>
          </a:p>
        </p:txBody>
      </p:sp>
      <p:sp>
        <p:nvSpPr>
          <p:cNvPr id="14" name="Rectangle 10">
            <a:extLst>
              <a:ext uri="{FF2B5EF4-FFF2-40B4-BE49-F238E27FC236}">
                <a16:creationId xmlns:a16="http://schemas.microsoft.com/office/drawing/2014/main" id="{34B47DE4-CEB7-4BE9-82B2-1F57E9AC0626}"/>
              </a:ext>
            </a:extLst>
          </p:cNvPr>
          <p:cNvSpPr/>
          <p:nvPr/>
        </p:nvSpPr>
        <p:spPr>
          <a:xfrm>
            <a:off x="4517044" y="4219554"/>
            <a:ext cx="660400" cy="1902771"/>
          </a:xfrm>
          <a:custGeom>
            <a:avLst/>
            <a:gdLst>
              <a:gd name="connsiteX0" fmla="*/ 0 w 1696507"/>
              <a:gd name="connsiteY0" fmla="*/ 0 h 1018645"/>
              <a:gd name="connsiteX1" fmla="*/ 1696507 w 1696507"/>
              <a:gd name="connsiteY1" fmla="*/ 0 h 1018645"/>
              <a:gd name="connsiteX2" fmla="*/ 1696507 w 1696507"/>
              <a:gd name="connsiteY2" fmla="*/ 1018645 h 1018645"/>
              <a:gd name="connsiteX3" fmla="*/ 0 w 1696507"/>
              <a:gd name="connsiteY3" fmla="*/ 1018645 h 1018645"/>
              <a:gd name="connsiteX4" fmla="*/ 0 w 1696507"/>
              <a:gd name="connsiteY4" fmla="*/ 0 h 1018645"/>
              <a:gd name="connsiteX0" fmla="*/ 0 w 1696507"/>
              <a:gd name="connsiteY0" fmla="*/ 0 h 1018645"/>
              <a:gd name="connsiteX1" fmla="*/ 1696507 w 1696507"/>
              <a:gd name="connsiteY1" fmla="*/ 168275 h 1018645"/>
              <a:gd name="connsiteX2" fmla="*/ 1696507 w 1696507"/>
              <a:gd name="connsiteY2" fmla="*/ 1018645 h 1018645"/>
              <a:gd name="connsiteX3" fmla="*/ 0 w 1696507"/>
              <a:gd name="connsiteY3" fmla="*/ 1018645 h 1018645"/>
              <a:gd name="connsiteX4" fmla="*/ 0 w 1696507"/>
              <a:gd name="connsiteY4" fmla="*/ 0 h 1018645"/>
              <a:gd name="connsiteX0" fmla="*/ 0 w 1696507"/>
              <a:gd name="connsiteY0" fmla="*/ 0 h 1501245"/>
              <a:gd name="connsiteX1" fmla="*/ 1696507 w 1696507"/>
              <a:gd name="connsiteY1" fmla="*/ 168275 h 1501245"/>
              <a:gd name="connsiteX2" fmla="*/ 1696507 w 1696507"/>
              <a:gd name="connsiteY2" fmla="*/ 1501245 h 1501245"/>
              <a:gd name="connsiteX3" fmla="*/ 0 w 1696507"/>
              <a:gd name="connsiteY3" fmla="*/ 1018645 h 1501245"/>
              <a:gd name="connsiteX4" fmla="*/ 0 w 1696507"/>
              <a:gd name="connsiteY4" fmla="*/ 0 h 1501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507" h="1501245">
                <a:moveTo>
                  <a:pt x="0" y="0"/>
                </a:moveTo>
                <a:lnTo>
                  <a:pt x="1696507" y="168275"/>
                </a:lnTo>
                <a:lnTo>
                  <a:pt x="1696507" y="1501245"/>
                </a:lnTo>
                <a:lnTo>
                  <a:pt x="0" y="1018645"/>
                </a:lnTo>
                <a:lnTo>
                  <a:pt x="0" y="0"/>
                </a:lnTo>
                <a:close/>
              </a:path>
            </a:pathLst>
          </a:custGeom>
          <a:ln/>
        </p:spPr>
        <p:style>
          <a:lnRef idx="0">
            <a:schemeClr val="accent5"/>
          </a:lnRef>
          <a:fillRef idx="3">
            <a:schemeClr val="accent5"/>
          </a:fillRef>
          <a:effectRef idx="3">
            <a:schemeClr val="accent5"/>
          </a:effectRef>
          <a:fontRef idx="minor">
            <a:schemeClr val="lt1"/>
          </a:fontRef>
        </p:style>
        <p:txBody>
          <a:bodyPr tIns="91440" bIns="91440" rtlCol="0" anchor="ctr"/>
          <a:lstStyle/>
          <a:p>
            <a:pPr algn="ctr"/>
            <a:endParaRPr lang="en-US" sz="2000"/>
          </a:p>
        </p:txBody>
      </p:sp>
      <p:sp>
        <p:nvSpPr>
          <p:cNvPr id="15" name="Round Same Side Corner Rectangle 47">
            <a:extLst>
              <a:ext uri="{FF2B5EF4-FFF2-40B4-BE49-F238E27FC236}">
                <a16:creationId xmlns:a16="http://schemas.microsoft.com/office/drawing/2014/main" id="{EA59A3E5-1A81-41DF-A568-DC179EBDCA8D}"/>
              </a:ext>
            </a:extLst>
          </p:cNvPr>
          <p:cNvSpPr/>
          <p:nvPr/>
        </p:nvSpPr>
        <p:spPr>
          <a:xfrm rot="5400000">
            <a:off x="6646990" y="2948131"/>
            <a:ext cx="1714106" cy="4667248"/>
          </a:xfrm>
          <a:prstGeom prst="round2SameRect">
            <a:avLst/>
          </a:prstGeom>
          <a:ln/>
        </p:spPr>
        <p:style>
          <a:lnRef idx="0">
            <a:schemeClr val="accent5"/>
          </a:lnRef>
          <a:fillRef idx="3">
            <a:schemeClr val="accent5"/>
          </a:fillRef>
          <a:effectRef idx="3">
            <a:schemeClr val="accent5"/>
          </a:effectRef>
          <a:fontRef idx="minor">
            <a:schemeClr val="lt1"/>
          </a:fontRef>
        </p:style>
        <p:txBody>
          <a:bodyPr tIns="91440" bIns="91440" rtlCol="0" anchor="ctr"/>
          <a:lstStyle/>
          <a:p>
            <a:pPr algn="ctr"/>
            <a:endParaRPr lang="en-US" sz="2000"/>
          </a:p>
        </p:txBody>
      </p:sp>
      <p:sp>
        <p:nvSpPr>
          <p:cNvPr id="16" name="Freeform 23">
            <a:extLst>
              <a:ext uri="{FF2B5EF4-FFF2-40B4-BE49-F238E27FC236}">
                <a16:creationId xmlns:a16="http://schemas.microsoft.com/office/drawing/2014/main" id="{102C066D-D638-4361-A58E-E1166A3E1FEF}"/>
              </a:ext>
            </a:extLst>
          </p:cNvPr>
          <p:cNvSpPr>
            <a:spLocks noChangeAspect="1" noEditPoints="1"/>
          </p:cNvSpPr>
          <p:nvPr/>
        </p:nvSpPr>
        <p:spPr bwMode="auto">
          <a:xfrm>
            <a:off x="2279897" y="3359881"/>
            <a:ext cx="370106" cy="462901"/>
          </a:xfrm>
          <a:custGeom>
            <a:avLst/>
            <a:gdLst>
              <a:gd name="T0" fmla="*/ 192 w 512"/>
              <a:gd name="T1" fmla="*/ 352 h 512"/>
              <a:gd name="T2" fmla="*/ 266 w 512"/>
              <a:gd name="T3" fmla="*/ 117 h 512"/>
              <a:gd name="T4" fmla="*/ 227 w 512"/>
              <a:gd name="T5" fmla="*/ 141 h 512"/>
              <a:gd name="T6" fmla="*/ 245 w 512"/>
              <a:gd name="T7" fmla="*/ 149 h 512"/>
              <a:gd name="T8" fmla="*/ 234 w 512"/>
              <a:gd name="T9" fmla="*/ 160 h 512"/>
              <a:gd name="T10" fmla="*/ 225 w 512"/>
              <a:gd name="T11" fmla="*/ 188 h 512"/>
              <a:gd name="T12" fmla="*/ 244 w 512"/>
              <a:gd name="T13" fmla="*/ 188 h 512"/>
              <a:gd name="T14" fmla="*/ 234 w 512"/>
              <a:gd name="T15" fmla="*/ 202 h 512"/>
              <a:gd name="T16" fmla="*/ 225 w 512"/>
              <a:gd name="T17" fmla="*/ 188 h 512"/>
              <a:gd name="T18" fmla="*/ 238 w 512"/>
              <a:gd name="T19" fmla="*/ 225 h 512"/>
              <a:gd name="T20" fmla="*/ 242 w 512"/>
              <a:gd name="T21" fmla="*/ 242 h 512"/>
              <a:gd name="T22" fmla="*/ 227 w 512"/>
              <a:gd name="T23" fmla="*/ 242 h 512"/>
              <a:gd name="T24" fmla="*/ 225 w 512"/>
              <a:gd name="T25" fmla="*/ 273 h 512"/>
              <a:gd name="T26" fmla="*/ 245 w 512"/>
              <a:gd name="T27" fmla="*/ 277 h 512"/>
              <a:gd name="T28" fmla="*/ 230 w 512"/>
              <a:gd name="T29" fmla="*/ 287 h 512"/>
              <a:gd name="T30" fmla="*/ 227 w 512"/>
              <a:gd name="T31" fmla="*/ 312 h 512"/>
              <a:gd name="T32" fmla="*/ 242 w 512"/>
              <a:gd name="T33" fmla="*/ 312 h 512"/>
              <a:gd name="T34" fmla="*/ 238 w 512"/>
              <a:gd name="T35" fmla="*/ 329 h 512"/>
              <a:gd name="T36" fmla="*/ 224 w 512"/>
              <a:gd name="T37" fmla="*/ 320 h 512"/>
              <a:gd name="T38" fmla="*/ 230 w 512"/>
              <a:gd name="T39" fmla="*/ 353 h 512"/>
              <a:gd name="T40" fmla="*/ 244 w 512"/>
              <a:gd name="T41" fmla="*/ 366 h 512"/>
              <a:gd name="T42" fmla="*/ 230 w 512"/>
              <a:gd name="T43" fmla="*/ 372 h 512"/>
              <a:gd name="T44" fmla="*/ 225 w 512"/>
              <a:gd name="T45" fmla="*/ 358 h 512"/>
              <a:gd name="T46" fmla="*/ 201 w 512"/>
              <a:gd name="T47" fmla="*/ 145 h 512"/>
              <a:gd name="T48" fmla="*/ 188 w 512"/>
              <a:gd name="T49" fmla="*/ 159 h 512"/>
              <a:gd name="T50" fmla="*/ 182 w 512"/>
              <a:gd name="T51" fmla="*/ 188 h 512"/>
              <a:gd name="T52" fmla="*/ 190 w 512"/>
              <a:gd name="T53" fmla="*/ 181 h 512"/>
              <a:gd name="T54" fmla="*/ 202 w 512"/>
              <a:gd name="T55" fmla="*/ 192 h 512"/>
              <a:gd name="T56" fmla="*/ 184 w 512"/>
              <a:gd name="T57" fmla="*/ 199 h 512"/>
              <a:gd name="T58" fmla="*/ 186 w 512"/>
              <a:gd name="T59" fmla="*/ 225 h 512"/>
              <a:gd name="T60" fmla="*/ 196 w 512"/>
              <a:gd name="T61" fmla="*/ 225 h 512"/>
              <a:gd name="T62" fmla="*/ 201 w 512"/>
              <a:gd name="T63" fmla="*/ 238 h 512"/>
              <a:gd name="T64" fmla="*/ 188 w 512"/>
              <a:gd name="T65" fmla="*/ 244 h 512"/>
              <a:gd name="T66" fmla="*/ 182 w 512"/>
              <a:gd name="T67" fmla="*/ 273 h 512"/>
              <a:gd name="T68" fmla="*/ 199 w 512"/>
              <a:gd name="T69" fmla="*/ 269 h 512"/>
              <a:gd name="T70" fmla="*/ 199 w 512"/>
              <a:gd name="T71" fmla="*/ 285 h 512"/>
              <a:gd name="T72" fmla="*/ 182 w 512"/>
              <a:gd name="T73" fmla="*/ 273 h 512"/>
              <a:gd name="T74" fmla="*/ 202 w 512"/>
              <a:gd name="T75" fmla="*/ 320 h 512"/>
              <a:gd name="T76" fmla="*/ 192 w 512"/>
              <a:gd name="T77" fmla="*/ 330 h 512"/>
              <a:gd name="T78" fmla="*/ 184 w 512"/>
              <a:gd name="T79" fmla="*/ 312 h 512"/>
              <a:gd name="T80" fmla="*/ 320 w 512"/>
              <a:gd name="T81" fmla="*/ 352 h 512"/>
              <a:gd name="T82" fmla="*/ 352 w 512"/>
              <a:gd name="T83" fmla="*/ 202 h 512"/>
              <a:gd name="T84" fmla="*/ 314 w 512"/>
              <a:gd name="T85" fmla="*/ 225 h 512"/>
              <a:gd name="T86" fmla="*/ 330 w 512"/>
              <a:gd name="T87" fmla="*/ 234 h 512"/>
              <a:gd name="T88" fmla="*/ 320 w 512"/>
              <a:gd name="T89" fmla="*/ 245 h 512"/>
              <a:gd name="T90" fmla="*/ 309 w 512"/>
              <a:gd name="T91" fmla="*/ 234 h 512"/>
              <a:gd name="T92" fmla="*/ 316 w 512"/>
              <a:gd name="T93" fmla="*/ 267 h 512"/>
              <a:gd name="T94" fmla="*/ 330 w 512"/>
              <a:gd name="T95" fmla="*/ 277 h 512"/>
              <a:gd name="T96" fmla="*/ 320 w 512"/>
              <a:gd name="T97" fmla="*/ 288 h 512"/>
              <a:gd name="T98" fmla="*/ 309 w 512"/>
              <a:gd name="T99" fmla="*/ 277 h 512"/>
              <a:gd name="T100" fmla="*/ 314 w 512"/>
              <a:gd name="T101" fmla="*/ 311 h 512"/>
              <a:gd name="T102" fmla="*/ 324 w 512"/>
              <a:gd name="T103" fmla="*/ 310 h 512"/>
              <a:gd name="T104" fmla="*/ 330 w 512"/>
              <a:gd name="T105" fmla="*/ 320 h 512"/>
              <a:gd name="T106" fmla="*/ 312 w 512"/>
              <a:gd name="T107" fmla="*/ 327 h 512"/>
              <a:gd name="T108" fmla="*/ 256 w 512"/>
              <a:gd name="T109" fmla="*/ 0 h 512"/>
              <a:gd name="T110" fmla="*/ 256 w 512"/>
              <a:gd name="T111" fmla="*/ 0 h 512"/>
              <a:gd name="T112" fmla="*/ 138 w 512"/>
              <a:gd name="T113" fmla="*/ 405 h 512"/>
              <a:gd name="T114" fmla="*/ 288 w 512"/>
              <a:gd name="T115" fmla="*/ 106 h 512"/>
              <a:gd name="T116" fmla="*/ 373 w 512"/>
              <a:gd name="T117" fmla="*/ 40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160" y="394"/>
                </a:moveTo>
                <a:cubicBezTo>
                  <a:pt x="181" y="394"/>
                  <a:pt x="181" y="394"/>
                  <a:pt x="181" y="394"/>
                </a:cubicBezTo>
                <a:cubicBezTo>
                  <a:pt x="181" y="362"/>
                  <a:pt x="181" y="362"/>
                  <a:pt x="181" y="362"/>
                </a:cubicBezTo>
                <a:cubicBezTo>
                  <a:pt x="181" y="356"/>
                  <a:pt x="186" y="352"/>
                  <a:pt x="192" y="352"/>
                </a:cubicBezTo>
                <a:cubicBezTo>
                  <a:pt x="198" y="352"/>
                  <a:pt x="202" y="356"/>
                  <a:pt x="202" y="362"/>
                </a:cubicBezTo>
                <a:cubicBezTo>
                  <a:pt x="202" y="394"/>
                  <a:pt x="202" y="394"/>
                  <a:pt x="202" y="394"/>
                </a:cubicBezTo>
                <a:cubicBezTo>
                  <a:pt x="266" y="394"/>
                  <a:pt x="266" y="394"/>
                  <a:pt x="266" y="394"/>
                </a:cubicBezTo>
                <a:cubicBezTo>
                  <a:pt x="266" y="117"/>
                  <a:pt x="266" y="117"/>
                  <a:pt x="266" y="117"/>
                </a:cubicBezTo>
                <a:cubicBezTo>
                  <a:pt x="160" y="117"/>
                  <a:pt x="160" y="117"/>
                  <a:pt x="160" y="117"/>
                </a:cubicBezTo>
                <a:lnTo>
                  <a:pt x="160" y="394"/>
                </a:lnTo>
                <a:close/>
                <a:moveTo>
                  <a:pt x="225" y="145"/>
                </a:moveTo>
                <a:cubicBezTo>
                  <a:pt x="225" y="144"/>
                  <a:pt x="226" y="142"/>
                  <a:pt x="227" y="141"/>
                </a:cubicBezTo>
                <a:cubicBezTo>
                  <a:pt x="230" y="138"/>
                  <a:pt x="235" y="137"/>
                  <a:pt x="238" y="139"/>
                </a:cubicBezTo>
                <a:cubicBezTo>
                  <a:pt x="240" y="140"/>
                  <a:pt x="241" y="140"/>
                  <a:pt x="242" y="141"/>
                </a:cubicBezTo>
                <a:cubicBezTo>
                  <a:pt x="243" y="142"/>
                  <a:pt x="244" y="144"/>
                  <a:pt x="244" y="145"/>
                </a:cubicBezTo>
                <a:cubicBezTo>
                  <a:pt x="245" y="146"/>
                  <a:pt x="245" y="148"/>
                  <a:pt x="245" y="149"/>
                </a:cubicBezTo>
                <a:cubicBezTo>
                  <a:pt x="245" y="150"/>
                  <a:pt x="245" y="152"/>
                  <a:pt x="244" y="153"/>
                </a:cubicBezTo>
                <a:cubicBezTo>
                  <a:pt x="244" y="154"/>
                  <a:pt x="243" y="155"/>
                  <a:pt x="242" y="157"/>
                </a:cubicBezTo>
                <a:cubicBezTo>
                  <a:pt x="241" y="158"/>
                  <a:pt x="240" y="158"/>
                  <a:pt x="238" y="159"/>
                </a:cubicBezTo>
                <a:cubicBezTo>
                  <a:pt x="237" y="159"/>
                  <a:pt x="236" y="160"/>
                  <a:pt x="234" y="160"/>
                </a:cubicBezTo>
                <a:cubicBezTo>
                  <a:pt x="231" y="160"/>
                  <a:pt x="229" y="159"/>
                  <a:pt x="227" y="157"/>
                </a:cubicBezTo>
                <a:cubicBezTo>
                  <a:pt x="225" y="155"/>
                  <a:pt x="224" y="152"/>
                  <a:pt x="224" y="149"/>
                </a:cubicBezTo>
                <a:cubicBezTo>
                  <a:pt x="224" y="148"/>
                  <a:pt x="224" y="146"/>
                  <a:pt x="225" y="145"/>
                </a:cubicBezTo>
                <a:close/>
                <a:moveTo>
                  <a:pt x="225" y="188"/>
                </a:moveTo>
                <a:cubicBezTo>
                  <a:pt x="225" y="186"/>
                  <a:pt x="226" y="185"/>
                  <a:pt x="227" y="184"/>
                </a:cubicBezTo>
                <a:cubicBezTo>
                  <a:pt x="228" y="183"/>
                  <a:pt x="229" y="182"/>
                  <a:pt x="230" y="182"/>
                </a:cubicBezTo>
                <a:cubicBezTo>
                  <a:pt x="234" y="180"/>
                  <a:pt x="239" y="181"/>
                  <a:pt x="242" y="184"/>
                </a:cubicBezTo>
                <a:cubicBezTo>
                  <a:pt x="243" y="185"/>
                  <a:pt x="244" y="186"/>
                  <a:pt x="244" y="188"/>
                </a:cubicBezTo>
                <a:cubicBezTo>
                  <a:pt x="245" y="189"/>
                  <a:pt x="245" y="190"/>
                  <a:pt x="245" y="192"/>
                </a:cubicBezTo>
                <a:cubicBezTo>
                  <a:pt x="245" y="195"/>
                  <a:pt x="244" y="197"/>
                  <a:pt x="242" y="199"/>
                </a:cubicBezTo>
                <a:cubicBezTo>
                  <a:pt x="241" y="200"/>
                  <a:pt x="240" y="201"/>
                  <a:pt x="238" y="201"/>
                </a:cubicBezTo>
                <a:cubicBezTo>
                  <a:pt x="237" y="202"/>
                  <a:pt x="236" y="202"/>
                  <a:pt x="234" y="202"/>
                </a:cubicBezTo>
                <a:cubicBezTo>
                  <a:pt x="233" y="202"/>
                  <a:pt x="232" y="202"/>
                  <a:pt x="230" y="201"/>
                </a:cubicBezTo>
                <a:cubicBezTo>
                  <a:pt x="229" y="201"/>
                  <a:pt x="228" y="200"/>
                  <a:pt x="227" y="199"/>
                </a:cubicBezTo>
                <a:cubicBezTo>
                  <a:pt x="225" y="197"/>
                  <a:pt x="224" y="195"/>
                  <a:pt x="224" y="192"/>
                </a:cubicBezTo>
                <a:cubicBezTo>
                  <a:pt x="224" y="190"/>
                  <a:pt x="224" y="189"/>
                  <a:pt x="225" y="188"/>
                </a:cubicBezTo>
                <a:close/>
                <a:moveTo>
                  <a:pt x="227" y="227"/>
                </a:moveTo>
                <a:cubicBezTo>
                  <a:pt x="228" y="226"/>
                  <a:pt x="229" y="225"/>
                  <a:pt x="230" y="225"/>
                </a:cubicBezTo>
                <a:cubicBezTo>
                  <a:pt x="232" y="224"/>
                  <a:pt x="234" y="223"/>
                  <a:pt x="236" y="224"/>
                </a:cubicBezTo>
                <a:cubicBezTo>
                  <a:pt x="237" y="224"/>
                  <a:pt x="238" y="224"/>
                  <a:pt x="238" y="225"/>
                </a:cubicBezTo>
                <a:cubicBezTo>
                  <a:pt x="239" y="225"/>
                  <a:pt x="240" y="225"/>
                  <a:pt x="240" y="225"/>
                </a:cubicBezTo>
                <a:cubicBezTo>
                  <a:pt x="241" y="226"/>
                  <a:pt x="241" y="226"/>
                  <a:pt x="242" y="227"/>
                </a:cubicBezTo>
                <a:cubicBezTo>
                  <a:pt x="244" y="229"/>
                  <a:pt x="245" y="232"/>
                  <a:pt x="245" y="234"/>
                </a:cubicBezTo>
                <a:cubicBezTo>
                  <a:pt x="245" y="237"/>
                  <a:pt x="244" y="240"/>
                  <a:pt x="242" y="242"/>
                </a:cubicBezTo>
                <a:cubicBezTo>
                  <a:pt x="241" y="243"/>
                  <a:pt x="240" y="244"/>
                  <a:pt x="238" y="244"/>
                </a:cubicBezTo>
                <a:cubicBezTo>
                  <a:pt x="237" y="245"/>
                  <a:pt x="236" y="245"/>
                  <a:pt x="234" y="245"/>
                </a:cubicBezTo>
                <a:cubicBezTo>
                  <a:pt x="233" y="245"/>
                  <a:pt x="232" y="245"/>
                  <a:pt x="230" y="244"/>
                </a:cubicBezTo>
                <a:cubicBezTo>
                  <a:pt x="229" y="244"/>
                  <a:pt x="228" y="243"/>
                  <a:pt x="227" y="242"/>
                </a:cubicBezTo>
                <a:cubicBezTo>
                  <a:pt x="226" y="241"/>
                  <a:pt x="225" y="240"/>
                  <a:pt x="225" y="238"/>
                </a:cubicBezTo>
                <a:cubicBezTo>
                  <a:pt x="224" y="237"/>
                  <a:pt x="224" y="236"/>
                  <a:pt x="224" y="234"/>
                </a:cubicBezTo>
                <a:cubicBezTo>
                  <a:pt x="224" y="232"/>
                  <a:pt x="225" y="229"/>
                  <a:pt x="227" y="227"/>
                </a:cubicBezTo>
                <a:close/>
                <a:moveTo>
                  <a:pt x="225" y="273"/>
                </a:moveTo>
                <a:cubicBezTo>
                  <a:pt x="225" y="272"/>
                  <a:pt x="226" y="270"/>
                  <a:pt x="227" y="269"/>
                </a:cubicBezTo>
                <a:cubicBezTo>
                  <a:pt x="231" y="265"/>
                  <a:pt x="238" y="265"/>
                  <a:pt x="242" y="269"/>
                </a:cubicBezTo>
                <a:cubicBezTo>
                  <a:pt x="243" y="270"/>
                  <a:pt x="244" y="272"/>
                  <a:pt x="244" y="273"/>
                </a:cubicBezTo>
                <a:cubicBezTo>
                  <a:pt x="245" y="274"/>
                  <a:pt x="245" y="276"/>
                  <a:pt x="245" y="277"/>
                </a:cubicBezTo>
                <a:cubicBezTo>
                  <a:pt x="245" y="278"/>
                  <a:pt x="245" y="280"/>
                  <a:pt x="244" y="281"/>
                </a:cubicBezTo>
                <a:cubicBezTo>
                  <a:pt x="244" y="282"/>
                  <a:pt x="243" y="284"/>
                  <a:pt x="242" y="285"/>
                </a:cubicBezTo>
                <a:cubicBezTo>
                  <a:pt x="240" y="287"/>
                  <a:pt x="237" y="288"/>
                  <a:pt x="234" y="288"/>
                </a:cubicBezTo>
                <a:cubicBezTo>
                  <a:pt x="233" y="288"/>
                  <a:pt x="232" y="287"/>
                  <a:pt x="230" y="287"/>
                </a:cubicBezTo>
                <a:cubicBezTo>
                  <a:pt x="229" y="286"/>
                  <a:pt x="228" y="286"/>
                  <a:pt x="227" y="285"/>
                </a:cubicBezTo>
                <a:cubicBezTo>
                  <a:pt x="225" y="283"/>
                  <a:pt x="224" y="280"/>
                  <a:pt x="224" y="277"/>
                </a:cubicBezTo>
                <a:cubicBezTo>
                  <a:pt x="224" y="276"/>
                  <a:pt x="224" y="274"/>
                  <a:pt x="225" y="273"/>
                </a:cubicBezTo>
                <a:close/>
                <a:moveTo>
                  <a:pt x="227" y="312"/>
                </a:moveTo>
                <a:cubicBezTo>
                  <a:pt x="227" y="312"/>
                  <a:pt x="228" y="311"/>
                  <a:pt x="228" y="311"/>
                </a:cubicBezTo>
                <a:cubicBezTo>
                  <a:pt x="229" y="310"/>
                  <a:pt x="230" y="310"/>
                  <a:pt x="230" y="310"/>
                </a:cubicBezTo>
                <a:cubicBezTo>
                  <a:pt x="231" y="310"/>
                  <a:pt x="232" y="309"/>
                  <a:pt x="232" y="309"/>
                </a:cubicBezTo>
                <a:cubicBezTo>
                  <a:pt x="236" y="308"/>
                  <a:pt x="239" y="310"/>
                  <a:pt x="242" y="312"/>
                </a:cubicBezTo>
                <a:cubicBezTo>
                  <a:pt x="244" y="314"/>
                  <a:pt x="245" y="317"/>
                  <a:pt x="245" y="320"/>
                </a:cubicBezTo>
                <a:cubicBezTo>
                  <a:pt x="245" y="321"/>
                  <a:pt x="245" y="322"/>
                  <a:pt x="244" y="324"/>
                </a:cubicBezTo>
                <a:cubicBezTo>
                  <a:pt x="244" y="325"/>
                  <a:pt x="243" y="326"/>
                  <a:pt x="242" y="327"/>
                </a:cubicBezTo>
                <a:cubicBezTo>
                  <a:pt x="241" y="328"/>
                  <a:pt x="240" y="329"/>
                  <a:pt x="238" y="329"/>
                </a:cubicBezTo>
                <a:cubicBezTo>
                  <a:pt x="237" y="330"/>
                  <a:pt x="236" y="330"/>
                  <a:pt x="234" y="330"/>
                </a:cubicBezTo>
                <a:cubicBezTo>
                  <a:pt x="231" y="330"/>
                  <a:pt x="229" y="329"/>
                  <a:pt x="227" y="327"/>
                </a:cubicBezTo>
                <a:cubicBezTo>
                  <a:pt x="226" y="326"/>
                  <a:pt x="225" y="325"/>
                  <a:pt x="225" y="324"/>
                </a:cubicBezTo>
                <a:cubicBezTo>
                  <a:pt x="224" y="322"/>
                  <a:pt x="224" y="321"/>
                  <a:pt x="224" y="320"/>
                </a:cubicBezTo>
                <a:cubicBezTo>
                  <a:pt x="224" y="317"/>
                  <a:pt x="225" y="314"/>
                  <a:pt x="227" y="312"/>
                </a:cubicBezTo>
                <a:close/>
                <a:moveTo>
                  <a:pt x="225" y="358"/>
                </a:moveTo>
                <a:cubicBezTo>
                  <a:pt x="225" y="357"/>
                  <a:pt x="226" y="356"/>
                  <a:pt x="227" y="355"/>
                </a:cubicBezTo>
                <a:cubicBezTo>
                  <a:pt x="228" y="354"/>
                  <a:pt x="229" y="353"/>
                  <a:pt x="230" y="353"/>
                </a:cubicBezTo>
                <a:cubicBezTo>
                  <a:pt x="234" y="351"/>
                  <a:pt x="239" y="352"/>
                  <a:pt x="242" y="355"/>
                </a:cubicBezTo>
                <a:cubicBezTo>
                  <a:pt x="243" y="356"/>
                  <a:pt x="244" y="357"/>
                  <a:pt x="244" y="358"/>
                </a:cubicBezTo>
                <a:cubicBezTo>
                  <a:pt x="245" y="360"/>
                  <a:pt x="245" y="361"/>
                  <a:pt x="245" y="362"/>
                </a:cubicBezTo>
                <a:cubicBezTo>
                  <a:pt x="245" y="364"/>
                  <a:pt x="245" y="365"/>
                  <a:pt x="244" y="366"/>
                </a:cubicBezTo>
                <a:cubicBezTo>
                  <a:pt x="244" y="368"/>
                  <a:pt x="243" y="369"/>
                  <a:pt x="242" y="370"/>
                </a:cubicBezTo>
                <a:cubicBezTo>
                  <a:pt x="241" y="371"/>
                  <a:pt x="240" y="372"/>
                  <a:pt x="238" y="372"/>
                </a:cubicBezTo>
                <a:cubicBezTo>
                  <a:pt x="237" y="373"/>
                  <a:pt x="236" y="373"/>
                  <a:pt x="234" y="373"/>
                </a:cubicBezTo>
                <a:cubicBezTo>
                  <a:pt x="233" y="373"/>
                  <a:pt x="232" y="373"/>
                  <a:pt x="230" y="372"/>
                </a:cubicBezTo>
                <a:cubicBezTo>
                  <a:pt x="229" y="372"/>
                  <a:pt x="228" y="371"/>
                  <a:pt x="227" y="370"/>
                </a:cubicBezTo>
                <a:cubicBezTo>
                  <a:pt x="226" y="369"/>
                  <a:pt x="225" y="368"/>
                  <a:pt x="225" y="366"/>
                </a:cubicBezTo>
                <a:cubicBezTo>
                  <a:pt x="224" y="365"/>
                  <a:pt x="224" y="364"/>
                  <a:pt x="224" y="362"/>
                </a:cubicBezTo>
                <a:cubicBezTo>
                  <a:pt x="224" y="361"/>
                  <a:pt x="224" y="360"/>
                  <a:pt x="225" y="358"/>
                </a:cubicBezTo>
                <a:close/>
                <a:moveTo>
                  <a:pt x="182" y="145"/>
                </a:moveTo>
                <a:cubicBezTo>
                  <a:pt x="182" y="144"/>
                  <a:pt x="183" y="142"/>
                  <a:pt x="184" y="141"/>
                </a:cubicBezTo>
                <a:cubicBezTo>
                  <a:pt x="188" y="137"/>
                  <a:pt x="195" y="137"/>
                  <a:pt x="199" y="141"/>
                </a:cubicBezTo>
                <a:cubicBezTo>
                  <a:pt x="200" y="142"/>
                  <a:pt x="201" y="144"/>
                  <a:pt x="201" y="145"/>
                </a:cubicBezTo>
                <a:cubicBezTo>
                  <a:pt x="202" y="146"/>
                  <a:pt x="202" y="148"/>
                  <a:pt x="202" y="149"/>
                </a:cubicBezTo>
                <a:cubicBezTo>
                  <a:pt x="202" y="152"/>
                  <a:pt x="201" y="155"/>
                  <a:pt x="199" y="157"/>
                </a:cubicBezTo>
                <a:cubicBezTo>
                  <a:pt x="197" y="159"/>
                  <a:pt x="195" y="160"/>
                  <a:pt x="192" y="160"/>
                </a:cubicBezTo>
                <a:cubicBezTo>
                  <a:pt x="190" y="160"/>
                  <a:pt x="189" y="159"/>
                  <a:pt x="188" y="159"/>
                </a:cubicBezTo>
                <a:cubicBezTo>
                  <a:pt x="186" y="158"/>
                  <a:pt x="185" y="158"/>
                  <a:pt x="184" y="157"/>
                </a:cubicBezTo>
                <a:cubicBezTo>
                  <a:pt x="182" y="155"/>
                  <a:pt x="181" y="152"/>
                  <a:pt x="181" y="149"/>
                </a:cubicBezTo>
                <a:cubicBezTo>
                  <a:pt x="181" y="148"/>
                  <a:pt x="181" y="146"/>
                  <a:pt x="182" y="145"/>
                </a:cubicBezTo>
                <a:close/>
                <a:moveTo>
                  <a:pt x="182" y="188"/>
                </a:moveTo>
                <a:cubicBezTo>
                  <a:pt x="182" y="186"/>
                  <a:pt x="183" y="185"/>
                  <a:pt x="184" y="184"/>
                </a:cubicBezTo>
                <a:cubicBezTo>
                  <a:pt x="185" y="184"/>
                  <a:pt x="185" y="183"/>
                  <a:pt x="186" y="183"/>
                </a:cubicBezTo>
                <a:cubicBezTo>
                  <a:pt x="186" y="182"/>
                  <a:pt x="187" y="182"/>
                  <a:pt x="188" y="182"/>
                </a:cubicBezTo>
                <a:cubicBezTo>
                  <a:pt x="188" y="182"/>
                  <a:pt x="189" y="181"/>
                  <a:pt x="190" y="181"/>
                </a:cubicBezTo>
                <a:cubicBezTo>
                  <a:pt x="192" y="181"/>
                  <a:pt x="194" y="181"/>
                  <a:pt x="196" y="182"/>
                </a:cubicBezTo>
                <a:cubicBezTo>
                  <a:pt x="197" y="182"/>
                  <a:pt x="198" y="183"/>
                  <a:pt x="199" y="184"/>
                </a:cubicBezTo>
                <a:cubicBezTo>
                  <a:pt x="200" y="185"/>
                  <a:pt x="201" y="186"/>
                  <a:pt x="201" y="188"/>
                </a:cubicBezTo>
                <a:cubicBezTo>
                  <a:pt x="202" y="189"/>
                  <a:pt x="202" y="190"/>
                  <a:pt x="202" y="192"/>
                </a:cubicBezTo>
                <a:cubicBezTo>
                  <a:pt x="202" y="195"/>
                  <a:pt x="201" y="197"/>
                  <a:pt x="199" y="199"/>
                </a:cubicBezTo>
                <a:cubicBezTo>
                  <a:pt x="197" y="201"/>
                  <a:pt x="195" y="202"/>
                  <a:pt x="192" y="202"/>
                </a:cubicBezTo>
                <a:cubicBezTo>
                  <a:pt x="190" y="202"/>
                  <a:pt x="189" y="202"/>
                  <a:pt x="188" y="201"/>
                </a:cubicBezTo>
                <a:cubicBezTo>
                  <a:pt x="186" y="201"/>
                  <a:pt x="185" y="200"/>
                  <a:pt x="184" y="199"/>
                </a:cubicBezTo>
                <a:cubicBezTo>
                  <a:pt x="182" y="197"/>
                  <a:pt x="181" y="195"/>
                  <a:pt x="181" y="192"/>
                </a:cubicBezTo>
                <a:cubicBezTo>
                  <a:pt x="181" y="190"/>
                  <a:pt x="181" y="189"/>
                  <a:pt x="182" y="188"/>
                </a:cubicBezTo>
                <a:close/>
                <a:moveTo>
                  <a:pt x="184" y="227"/>
                </a:moveTo>
                <a:cubicBezTo>
                  <a:pt x="185" y="226"/>
                  <a:pt x="185" y="226"/>
                  <a:pt x="186" y="225"/>
                </a:cubicBezTo>
                <a:cubicBezTo>
                  <a:pt x="186" y="225"/>
                  <a:pt x="187" y="225"/>
                  <a:pt x="188" y="225"/>
                </a:cubicBezTo>
                <a:cubicBezTo>
                  <a:pt x="188" y="224"/>
                  <a:pt x="189" y="224"/>
                  <a:pt x="190" y="224"/>
                </a:cubicBezTo>
                <a:cubicBezTo>
                  <a:pt x="191" y="224"/>
                  <a:pt x="192" y="224"/>
                  <a:pt x="194" y="224"/>
                </a:cubicBezTo>
                <a:cubicBezTo>
                  <a:pt x="194" y="224"/>
                  <a:pt x="195" y="224"/>
                  <a:pt x="196" y="225"/>
                </a:cubicBezTo>
                <a:cubicBezTo>
                  <a:pt x="196" y="225"/>
                  <a:pt x="197" y="225"/>
                  <a:pt x="198" y="225"/>
                </a:cubicBezTo>
                <a:cubicBezTo>
                  <a:pt x="198" y="226"/>
                  <a:pt x="199" y="226"/>
                  <a:pt x="199" y="227"/>
                </a:cubicBezTo>
                <a:cubicBezTo>
                  <a:pt x="201" y="229"/>
                  <a:pt x="202" y="232"/>
                  <a:pt x="202" y="234"/>
                </a:cubicBezTo>
                <a:cubicBezTo>
                  <a:pt x="202" y="236"/>
                  <a:pt x="202" y="237"/>
                  <a:pt x="201" y="238"/>
                </a:cubicBezTo>
                <a:cubicBezTo>
                  <a:pt x="201" y="240"/>
                  <a:pt x="200" y="241"/>
                  <a:pt x="199" y="242"/>
                </a:cubicBezTo>
                <a:cubicBezTo>
                  <a:pt x="198" y="243"/>
                  <a:pt x="197" y="244"/>
                  <a:pt x="196" y="244"/>
                </a:cubicBezTo>
                <a:cubicBezTo>
                  <a:pt x="194" y="245"/>
                  <a:pt x="193" y="245"/>
                  <a:pt x="192" y="245"/>
                </a:cubicBezTo>
                <a:cubicBezTo>
                  <a:pt x="190" y="245"/>
                  <a:pt x="189" y="245"/>
                  <a:pt x="188" y="244"/>
                </a:cubicBezTo>
                <a:cubicBezTo>
                  <a:pt x="186" y="244"/>
                  <a:pt x="185" y="243"/>
                  <a:pt x="184" y="242"/>
                </a:cubicBezTo>
                <a:cubicBezTo>
                  <a:pt x="182" y="240"/>
                  <a:pt x="181" y="237"/>
                  <a:pt x="181" y="234"/>
                </a:cubicBezTo>
                <a:cubicBezTo>
                  <a:pt x="181" y="232"/>
                  <a:pt x="182" y="229"/>
                  <a:pt x="184" y="227"/>
                </a:cubicBezTo>
                <a:close/>
                <a:moveTo>
                  <a:pt x="182" y="273"/>
                </a:moveTo>
                <a:cubicBezTo>
                  <a:pt x="182" y="272"/>
                  <a:pt x="183" y="270"/>
                  <a:pt x="184" y="269"/>
                </a:cubicBezTo>
                <a:cubicBezTo>
                  <a:pt x="185" y="268"/>
                  <a:pt x="186" y="268"/>
                  <a:pt x="188" y="267"/>
                </a:cubicBezTo>
                <a:cubicBezTo>
                  <a:pt x="190" y="266"/>
                  <a:pt x="193" y="266"/>
                  <a:pt x="196" y="267"/>
                </a:cubicBezTo>
                <a:cubicBezTo>
                  <a:pt x="197" y="268"/>
                  <a:pt x="198" y="268"/>
                  <a:pt x="199" y="269"/>
                </a:cubicBezTo>
                <a:cubicBezTo>
                  <a:pt x="200" y="270"/>
                  <a:pt x="201" y="272"/>
                  <a:pt x="201" y="273"/>
                </a:cubicBezTo>
                <a:cubicBezTo>
                  <a:pt x="202" y="274"/>
                  <a:pt x="202" y="276"/>
                  <a:pt x="202" y="277"/>
                </a:cubicBezTo>
                <a:cubicBezTo>
                  <a:pt x="202" y="278"/>
                  <a:pt x="202" y="280"/>
                  <a:pt x="201" y="281"/>
                </a:cubicBezTo>
                <a:cubicBezTo>
                  <a:pt x="201" y="282"/>
                  <a:pt x="200" y="284"/>
                  <a:pt x="199" y="285"/>
                </a:cubicBezTo>
                <a:cubicBezTo>
                  <a:pt x="197" y="287"/>
                  <a:pt x="195" y="288"/>
                  <a:pt x="192" y="288"/>
                </a:cubicBezTo>
                <a:cubicBezTo>
                  <a:pt x="189" y="288"/>
                  <a:pt x="186" y="287"/>
                  <a:pt x="184" y="285"/>
                </a:cubicBezTo>
                <a:cubicBezTo>
                  <a:pt x="182" y="283"/>
                  <a:pt x="181" y="280"/>
                  <a:pt x="181" y="277"/>
                </a:cubicBezTo>
                <a:cubicBezTo>
                  <a:pt x="181" y="276"/>
                  <a:pt x="181" y="274"/>
                  <a:pt x="182" y="273"/>
                </a:cubicBezTo>
                <a:close/>
                <a:moveTo>
                  <a:pt x="184" y="312"/>
                </a:moveTo>
                <a:cubicBezTo>
                  <a:pt x="187" y="309"/>
                  <a:pt x="192" y="308"/>
                  <a:pt x="196" y="310"/>
                </a:cubicBezTo>
                <a:cubicBezTo>
                  <a:pt x="197" y="310"/>
                  <a:pt x="198" y="311"/>
                  <a:pt x="199" y="312"/>
                </a:cubicBezTo>
                <a:cubicBezTo>
                  <a:pt x="201" y="314"/>
                  <a:pt x="202" y="317"/>
                  <a:pt x="202" y="320"/>
                </a:cubicBezTo>
                <a:cubicBezTo>
                  <a:pt x="202" y="321"/>
                  <a:pt x="202" y="322"/>
                  <a:pt x="201" y="324"/>
                </a:cubicBezTo>
                <a:cubicBezTo>
                  <a:pt x="201" y="325"/>
                  <a:pt x="200" y="326"/>
                  <a:pt x="199" y="327"/>
                </a:cubicBezTo>
                <a:cubicBezTo>
                  <a:pt x="198" y="328"/>
                  <a:pt x="197" y="329"/>
                  <a:pt x="196" y="329"/>
                </a:cubicBezTo>
                <a:cubicBezTo>
                  <a:pt x="194" y="330"/>
                  <a:pt x="193" y="330"/>
                  <a:pt x="192" y="330"/>
                </a:cubicBezTo>
                <a:cubicBezTo>
                  <a:pt x="189" y="330"/>
                  <a:pt x="186" y="329"/>
                  <a:pt x="184" y="327"/>
                </a:cubicBezTo>
                <a:cubicBezTo>
                  <a:pt x="183" y="326"/>
                  <a:pt x="182" y="325"/>
                  <a:pt x="182" y="324"/>
                </a:cubicBezTo>
                <a:cubicBezTo>
                  <a:pt x="181" y="322"/>
                  <a:pt x="181" y="321"/>
                  <a:pt x="181" y="320"/>
                </a:cubicBezTo>
                <a:cubicBezTo>
                  <a:pt x="181" y="317"/>
                  <a:pt x="182" y="314"/>
                  <a:pt x="184" y="312"/>
                </a:cubicBezTo>
                <a:close/>
                <a:moveTo>
                  <a:pt x="288" y="394"/>
                </a:moveTo>
                <a:cubicBezTo>
                  <a:pt x="309" y="394"/>
                  <a:pt x="309" y="394"/>
                  <a:pt x="309" y="394"/>
                </a:cubicBezTo>
                <a:cubicBezTo>
                  <a:pt x="309" y="362"/>
                  <a:pt x="309" y="362"/>
                  <a:pt x="309" y="362"/>
                </a:cubicBezTo>
                <a:cubicBezTo>
                  <a:pt x="309" y="356"/>
                  <a:pt x="314" y="352"/>
                  <a:pt x="320" y="352"/>
                </a:cubicBezTo>
                <a:cubicBezTo>
                  <a:pt x="326" y="352"/>
                  <a:pt x="330" y="356"/>
                  <a:pt x="330" y="362"/>
                </a:cubicBezTo>
                <a:cubicBezTo>
                  <a:pt x="330" y="394"/>
                  <a:pt x="330" y="394"/>
                  <a:pt x="330" y="394"/>
                </a:cubicBezTo>
                <a:cubicBezTo>
                  <a:pt x="352" y="394"/>
                  <a:pt x="352" y="394"/>
                  <a:pt x="352" y="394"/>
                </a:cubicBezTo>
                <a:cubicBezTo>
                  <a:pt x="352" y="202"/>
                  <a:pt x="352" y="202"/>
                  <a:pt x="352" y="202"/>
                </a:cubicBezTo>
                <a:cubicBezTo>
                  <a:pt x="288" y="202"/>
                  <a:pt x="288" y="202"/>
                  <a:pt x="288" y="202"/>
                </a:cubicBezTo>
                <a:lnTo>
                  <a:pt x="288" y="394"/>
                </a:lnTo>
                <a:close/>
                <a:moveTo>
                  <a:pt x="312" y="227"/>
                </a:moveTo>
                <a:cubicBezTo>
                  <a:pt x="313" y="226"/>
                  <a:pt x="313" y="226"/>
                  <a:pt x="314" y="225"/>
                </a:cubicBezTo>
                <a:cubicBezTo>
                  <a:pt x="314" y="225"/>
                  <a:pt x="315" y="225"/>
                  <a:pt x="316" y="225"/>
                </a:cubicBezTo>
                <a:cubicBezTo>
                  <a:pt x="316" y="224"/>
                  <a:pt x="317" y="224"/>
                  <a:pt x="318" y="224"/>
                </a:cubicBezTo>
                <a:cubicBezTo>
                  <a:pt x="321" y="223"/>
                  <a:pt x="325" y="224"/>
                  <a:pt x="327" y="227"/>
                </a:cubicBezTo>
                <a:cubicBezTo>
                  <a:pt x="329" y="229"/>
                  <a:pt x="330" y="232"/>
                  <a:pt x="330" y="234"/>
                </a:cubicBezTo>
                <a:cubicBezTo>
                  <a:pt x="330" y="236"/>
                  <a:pt x="330" y="237"/>
                  <a:pt x="329" y="238"/>
                </a:cubicBezTo>
                <a:cubicBezTo>
                  <a:pt x="329" y="240"/>
                  <a:pt x="328" y="241"/>
                  <a:pt x="327" y="242"/>
                </a:cubicBezTo>
                <a:cubicBezTo>
                  <a:pt x="326" y="243"/>
                  <a:pt x="325" y="244"/>
                  <a:pt x="324" y="244"/>
                </a:cubicBezTo>
                <a:cubicBezTo>
                  <a:pt x="322" y="245"/>
                  <a:pt x="321" y="245"/>
                  <a:pt x="320" y="245"/>
                </a:cubicBezTo>
                <a:cubicBezTo>
                  <a:pt x="318" y="245"/>
                  <a:pt x="317" y="245"/>
                  <a:pt x="316" y="244"/>
                </a:cubicBezTo>
                <a:cubicBezTo>
                  <a:pt x="314" y="244"/>
                  <a:pt x="313" y="243"/>
                  <a:pt x="312" y="242"/>
                </a:cubicBezTo>
                <a:cubicBezTo>
                  <a:pt x="311" y="241"/>
                  <a:pt x="310" y="240"/>
                  <a:pt x="310" y="238"/>
                </a:cubicBezTo>
                <a:cubicBezTo>
                  <a:pt x="309" y="237"/>
                  <a:pt x="309" y="236"/>
                  <a:pt x="309" y="234"/>
                </a:cubicBezTo>
                <a:cubicBezTo>
                  <a:pt x="309" y="232"/>
                  <a:pt x="310" y="229"/>
                  <a:pt x="312" y="227"/>
                </a:cubicBezTo>
                <a:close/>
                <a:moveTo>
                  <a:pt x="310" y="273"/>
                </a:moveTo>
                <a:cubicBezTo>
                  <a:pt x="310" y="272"/>
                  <a:pt x="311" y="270"/>
                  <a:pt x="312" y="269"/>
                </a:cubicBezTo>
                <a:cubicBezTo>
                  <a:pt x="313" y="268"/>
                  <a:pt x="314" y="268"/>
                  <a:pt x="316" y="267"/>
                </a:cubicBezTo>
                <a:cubicBezTo>
                  <a:pt x="318" y="266"/>
                  <a:pt x="321" y="266"/>
                  <a:pt x="324" y="267"/>
                </a:cubicBezTo>
                <a:cubicBezTo>
                  <a:pt x="325" y="268"/>
                  <a:pt x="326" y="268"/>
                  <a:pt x="327" y="269"/>
                </a:cubicBezTo>
                <a:cubicBezTo>
                  <a:pt x="328" y="270"/>
                  <a:pt x="329" y="272"/>
                  <a:pt x="329" y="273"/>
                </a:cubicBezTo>
                <a:cubicBezTo>
                  <a:pt x="330" y="274"/>
                  <a:pt x="330" y="276"/>
                  <a:pt x="330" y="277"/>
                </a:cubicBezTo>
                <a:cubicBezTo>
                  <a:pt x="330" y="278"/>
                  <a:pt x="330" y="280"/>
                  <a:pt x="329" y="281"/>
                </a:cubicBezTo>
                <a:cubicBezTo>
                  <a:pt x="329" y="282"/>
                  <a:pt x="328" y="284"/>
                  <a:pt x="327" y="285"/>
                </a:cubicBezTo>
                <a:cubicBezTo>
                  <a:pt x="326" y="286"/>
                  <a:pt x="325" y="286"/>
                  <a:pt x="324" y="287"/>
                </a:cubicBezTo>
                <a:cubicBezTo>
                  <a:pt x="322" y="287"/>
                  <a:pt x="321" y="288"/>
                  <a:pt x="320" y="288"/>
                </a:cubicBezTo>
                <a:cubicBezTo>
                  <a:pt x="318" y="288"/>
                  <a:pt x="317" y="287"/>
                  <a:pt x="316" y="287"/>
                </a:cubicBezTo>
                <a:cubicBezTo>
                  <a:pt x="314" y="286"/>
                  <a:pt x="313" y="286"/>
                  <a:pt x="312" y="285"/>
                </a:cubicBezTo>
                <a:cubicBezTo>
                  <a:pt x="311" y="284"/>
                  <a:pt x="310" y="282"/>
                  <a:pt x="310" y="281"/>
                </a:cubicBezTo>
                <a:cubicBezTo>
                  <a:pt x="309" y="280"/>
                  <a:pt x="309" y="278"/>
                  <a:pt x="309" y="277"/>
                </a:cubicBezTo>
                <a:cubicBezTo>
                  <a:pt x="309" y="276"/>
                  <a:pt x="309" y="274"/>
                  <a:pt x="310" y="273"/>
                </a:cubicBezTo>
                <a:close/>
                <a:moveTo>
                  <a:pt x="310" y="316"/>
                </a:moveTo>
                <a:cubicBezTo>
                  <a:pt x="310" y="314"/>
                  <a:pt x="311" y="313"/>
                  <a:pt x="312" y="312"/>
                </a:cubicBezTo>
                <a:cubicBezTo>
                  <a:pt x="313" y="312"/>
                  <a:pt x="313" y="311"/>
                  <a:pt x="314" y="311"/>
                </a:cubicBezTo>
                <a:cubicBezTo>
                  <a:pt x="314" y="310"/>
                  <a:pt x="315" y="310"/>
                  <a:pt x="316" y="310"/>
                </a:cubicBezTo>
                <a:cubicBezTo>
                  <a:pt x="316" y="310"/>
                  <a:pt x="317" y="309"/>
                  <a:pt x="318" y="309"/>
                </a:cubicBezTo>
                <a:cubicBezTo>
                  <a:pt x="319" y="309"/>
                  <a:pt x="320" y="309"/>
                  <a:pt x="322" y="309"/>
                </a:cubicBezTo>
                <a:cubicBezTo>
                  <a:pt x="322" y="309"/>
                  <a:pt x="323" y="310"/>
                  <a:pt x="324" y="310"/>
                </a:cubicBezTo>
                <a:cubicBezTo>
                  <a:pt x="324" y="310"/>
                  <a:pt x="325" y="310"/>
                  <a:pt x="326" y="311"/>
                </a:cubicBezTo>
                <a:cubicBezTo>
                  <a:pt x="326" y="311"/>
                  <a:pt x="327" y="312"/>
                  <a:pt x="327" y="312"/>
                </a:cubicBezTo>
                <a:cubicBezTo>
                  <a:pt x="328" y="313"/>
                  <a:pt x="329" y="314"/>
                  <a:pt x="329" y="316"/>
                </a:cubicBezTo>
                <a:cubicBezTo>
                  <a:pt x="330" y="317"/>
                  <a:pt x="330" y="318"/>
                  <a:pt x="330" y="320"/>
                </a:cubicBezTo>
                <a:cubicBezTo>
                  <a:pt x="330" y="321"/>
                  <a:pt x="330" y="322"/>
                  <a:pt x="329" y="324"/>
                </a:cubicBezTo>
                <a:cubicBezTo>
                  <a:pt x="329" y="325"/>
                  <a:pt x="328" y="326"/>
                  <a:pt x="327" y="327"/>
                </a:cubicBezTo>
                <a:cubicBezTo>
                  <a:pt x="325" y="329"/>
                  <a:pt x="322" y="330"/>
                  <a:pt x="320" y="330"/>
                </a:cubicBezTo>
                <a:cubicBezTo>
                  <a:pt x="317" y="330"/>
                  <a:pt x="314" y="329"/>
                  <a:pt x="312" y="327"/>
                </a:cubicBezTo>
                <a:cubicBezTo>
                  <a:pt x="311" y="326"/>
                  <a:pt x="310" y="325"/>
                  <a:pt x="310" y="324"/>
                </a:cubicBezTo>
                <a:cubicBezTo>
                  <a:pt x="309" y="322"/>
                  <a:pt x="309" y="321"/>
                  <a:pt x="309" y="320"/>
                </a:cubicBezTo>
                <a:cubicBezTo>
                  <a:pt x="309" y="318"/>
                  <a:pt x="309" y="317"/>
                  <a:pt x="310" y="31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73" y="405"/>
                </a:moveTo>
                <a:cubicBezTo>
                  <a:pt x="373" y="411"/>
                  <a:pt x="368" y="416"/>
                  <a:pt x="362" y="416"/>
                </a:cubicBezTo>
                <a:cubicBezTo>
                  <a:pt x="149" y="416"/>
                  <a:pt x="149" y="416"/>
                  <a:pt x="149" y="416"/>
                </a:cubicBezTo>
                <a:cubicBezTo>
                  <a:pt x="143" y="416"/>
                  <a:pt x="138" y="411"/>
                  <a:pt x="138" y="405"/>
                </a:cubicBezTo>
                <a:cubicBezTo>
                  <a:pt x="138" y="106"/>
                  <a:pt x="138" y="106"/>
                  <a:pt x="138" y="106"/>
                </a:cubicBezTo>
                <a:cubicBezTo>
                  <a:pt x="138" y="100"/>
                  <a:pt x="143" y="96"/>
                  <a:pt x="149" y="96"/>
                </a:cubicBezTo>
                <a:cubicBezTo>
                  <a:pt x="277" y="96"/>
                  <a:pt x="277" y="96"/>
                  <a:pt x="277" y="96"/>
                </a:cubicBezTo>
                <a:cubicBezTo>
                  <a:pt x="283" y="96"/>
                  <a:pt x="288" y="100"/>
                  <a:pt x="288" y="106"/>
                </a:cubicBezTo>
                <a:cubicBezTo>
                  <a:pt x="288" y="181"/>
                  <a:pt x="288" y="181"/>
                  <a:pt x="288" y="181"/>
                </a:cubicBezTo>
                <a:cubicBezTo>
                  <a:pt x="362" y="181"/>
                  <a:pt x="362" y="181"/>
                  <a:pt x="362" y="181"/>
                </a:cubicBezTo>
                <a:cubicBezTo>
                  <a:pt x="368" y="181"/>
                  <a:pt x="373" y="186"/>
                  <a:pt x="373" y="192"/>
                </a:cubicBezTo>
                <a:lnTo>
                  <a:pt x="373" y="405"/>
                </a:lnTo>
                <a:close/>
              </a:path>
            </a:pathLst>
          </a:custGeom>
          <a:solidFill>
            <a:schemeClr val="bg1"/>
          </a:solidFill>
          <a:ln>
            <a:solidFill>
              <a:srgbClr val="009A44"/>
            </a:solidFill>
          </a:ln>
        </p:spPr>
        <p:txBody>
          <a:bodyPr vert="horz" wrap="square" lIns="91440" tIns="45720" rIns="91440" bIns="45720" numCol="1" anchor="t" anchorCtr="0" compatLnSpc="1">
            <a:prstTxWarp prst="textNoShape">
              <a:avLst/>
            </a:prstTxWarp>
          </a:bodyPr>
          <a:lstStyle/>
          <a:p>
            <a:endParaRPr lang="en-GB">
              <a:cs typeface="Calibri" panose="020F0502020204030204" pitchFamily="34" charset="0"/>
            </a:endParaRPr>
          </a:p>
        </p:txBody>
      </p:sp>
      <p:grpSp>
        <p:nvGrpSpPr>
          <p:cNvPr id="17" name="Group 447">
            <a:extLst>
              <a:ext uri="{FF2B5EF4-FFF2-40B4-BE49-F238E27FC236}">
                <a16:creationId xmlns:a16="http://schemas.microsoft.com/office/drawing/2014/main" id="{0AC9FEED-B10D-45FA-B636-4FA7610D3AC0}"/>
              </a:ext>
            </a:extLst>
          </p:cNvPr>
          <p:cNvGrpSpPr>
            <a:grpSpLocks noChangeAspect="1"/>
          </p:cNvGrpSpPr>
          <p:nvPr/>
        </p:nvGrpSpPr>
        <p:grpSpPr bwMode="auto">
          <a:xfrm>
            <a:off x="2279897" y="4697773"/>
            <a:ext cx="367041" cy="318840"/>
            <a:chOff x="5601" y="1820"/>
            <a:chExt cx="340" cy="340"/>
          </a:xfrm>
          <a:solidFill>
            <a:schemeClr val="bg1"/>
          </a:solidFill>
        </p:grpSpPr>
        <p:sp>
          <p:nvSpPr>
            <p:cNvPr id="18" name="Freeform 448">
              <a:extLst>
                <a:ext uri="{FF2B5EF4-FFF2-40B4-BE49-F238E27FC236}">
                  <a16:creationId xmlns:a16="http://schemas.microsoft.com/office/drawing/2014/main" id="{B725229B-7B13-422D-A285-339FF76313DC}"/>
                </a:ext>
              </a:extLst>
            </p:cNvPr>
            <p:cNvSpPr>
              <a:spLocks noEditPoints="1"/>
            </p:cNvSpPr>
            <p:nvPr/>
          </p:nvSpPr>
          <p:spPr bwMode="auto">
            <a:xfrm>
              <a:off x="5679" y="1948"/>
              <a:ext cx="182" cy="85"/>
            </a:xfrm>
            <a:custGeom>
              <a:avLst/>
              <a:gdLst>
                <a:gd name="T0" fmla="*/ 131 w 275"/>
                <a:gd name="T1" fmla="*/ 43 h 128"/>
                <a:gd name="T2" fmla="*/ 122 w 275"/>
                <a:gd name="T3" fmla="*/ 37 h 128"/>
                <a:gd name="T4" fmla="*/ 64 w 275"/>
                <a:gd name="T5" fmla="*/ 0 h 128"/>
                <a:gd name="T6" fmla="*/ 0 w 275"/>
                <a:gd name="T7" fmla="*/ 64 h 128"/>
                <a:gd name="T8" fmla="*/ 64 w 275"/>
                <a:gd name="T9" fmla="*/ 128 h 128"/>
                <a:gd name="T10" fmla="*/ 122 w 275"/>
                <a:gd name="T11" fmla="*/ 92 h 128"/>
                <a:gd name="T12" fmla="*/ 131 w 275"/>
                <a:gd name="T13" fmla="*/ 86 h 128"/>
                <a:gd name="T14" fmla="*/ 177 w 275"/>
                <a:gd name="T15" fmla="*/ 86 h 128"/>
                <a:gd name="T16" fmla="*/ 195 w 275"/>
                <a:gd name="T17" fmla="*/ 67 h 128"/>
                <a:gd name="T18" fmla="*/ 210 w 275"/>
                <a:gd name="T19" fmla="*/ 67 h 128"/>
                <a:gd name="T20" fmla="*/ 224 w 275"/>
                <a:gd name="T21" fmla="*/ 81 h 128"/>
                <a:gd name="T22" fmla="*/ 238 w 275"/>
                <a:gd name="T23" fmla="*/ 67 h 128"/>
                <a:gd name="T24" fmla="*/ 253 w 275"/>
                <a:gd name="T25" fmla="*/ 67 h 128"/>
                <a:gd name="T26" fmla="*/ 265 w 275"/>
                <a:gd name="T27" fmla="*/ 79 h 128"/>
                <a:gd name="T28" fmla="*/ 275 w 275"/>
                <a:gd name="T29" fmla="*/ 64 h 128"/>
                <a:gd name="T30" fmla="*/ 261 w 275"/>
                <a:gd name="T31" fmla="*/ 43 h 128"/>
                <a:gd name="T32" fmla="*/ 131 w 275"/>
                <a:gd name="T33" fmla="*/ 43 h 128"/>
                <a:gd name="T34" fmla="*/ 53 w 275"/>
                <a:gd name="T35" fmla="*/ 85 h 128"/>
                <a:gd name="T36" fmla="*/ 32 w 275"/>
                <a:gd name="T37" fmla="*/ 64 h 128"/>
                <a:gd name="T38" fmla="*/ 53 w 275"/>
                <a:gd name="T39" fmla="*/ 43 h 128"/>
                <a:gd name="T40" fmla="*/ 75 w 275"/>
                <a:gd name="T41" fmla="*/ 64 h 128"/>
                <a:gd name="T42" fmla="*/ 53 w 275"/>
                <a:gd name="T43" fmla="*/ 85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5" h="128">
                  <a:moveTo>
                    <a:pt x="131" y="43"/>
                  </a:moveTo>
                  <a:cubicBezTo>
                    <a:pt x="127" y="43"/>
                    <a:pt x="124" y="41"/>
                    <a:pt x="122" y="37"/>
                  </a:cubicBezTo>
                  <a:cubicBezTo>
                    <a:pt x="111" y="15"/>
                    <a:pt x="89" y="0"/>
                    <a:pt x="64" y="0"/>
                  </a:cubicBezTo>
                  <a:cubicBezTo>
                    <a:pt x="29" y="0"/>
                    <a:pt x="0" y="29"/>
                    <a:pt x="0" y="64"/>
                  </a:cubicBezTo>
                  <a:cubicBezTo>
                    <a:pt x="0" y="99"/>
                    <a:pt x="29" y="128"/>
                    <a:pt x="64" y="128"/>
                  </a:cubicBezTo>
                  <a:cubicBezTo>
                    <a:pt x="89" y="128"/>
                    <a:pt x="111" y="114"/>
                    <a:pt x="122" y="92"/>
                  </a:cubicBezTo>
                  <a:cubicBezTo>
                    <a:pt x="124" y="88"/>
                    <a:pt x="127" y="86"/>
                    <a:pt x="131" y="86"/>
                  </a:cubicBezTo>
                  <a:cubicBezTo>
                    <a:pt x="177" y="86"/>
                    <a:pt x="177" y="86"/>
                    <a:pt x="177" y="86"/>
                  </a:cubicBezTo>
                  <a:cubicBezTo>
                    <a:pt x="195" y="67"/>
                    <a:pt x="195" y="67"/>
                    <a:pt x="195" y="67"/>
                  </a:cubicBezTo>
                  <a:cubicBezTo>
                    <a:pt x="199" y="63"/>
                    <a:pt x="206" y="63"/>
                    <a:pt x="210" y="67"/>
                  </a:cubicBezTo>
                  <a:cubicBezTo>
                    <a:pt x="224" y="81"/>
                    <a:pt x="224" y="81"/>
                    <a:pt x="224" y="81"/>
                  </a:cubicBezTo>
                  <a:cubicBezTo>
                    <a:pt x="238" y="67"/>
                    <a:pt x="238" y="67"/>
                    <a:pt x="238" y="67"/>
                  </a:cubicBezTo>
                  <a:cubicBezTo>
                    <a:pt x="242" y="63"/>
                    <a:pt x="249" y="63"/>
                    <a:pt x="253" y="67"/>
                  </a:cubicBezTo>
                  <a:cubicBezTo>
                    <a:pt x="265" y="79"/>
                    <a:pt x="265" y="79"/>
                    <a:pt x="265" y="79"/>
                  </a:cubicBezTo>
                  <a:cubicBezTo>
                    <a:pt x="275" y="64"/>
                    <a:pt x="275" y="64"/>
                    <a:pt x="275" y="64"/>
                  </a:cubicBezTo>
                  <a:cubicBezTo>
                    <a:pt x="261" y="43"/>
                    <a:pt x="261" y="43"/>
                    <a:pt x="261" y="43"/>
                  </a:cubicBezTo>
                  <a:lnTo>
                    <a:pt x="131" y="43"/>
                  </a:lnTo>
                  <a:close/>
                  <a:moveTo>
                    <a:pt x="53" y="85"/>
                  </a:moveTo>
                  <a:cubicBezTo>
                    <a:pt x="42" y="85"/>
                    <a:pt x="32" y="76"/>
                    <a:pt x="32" y="64"/>
                  </a:cubicBezTo>
                  <a:cubicBezTo>
                    <a:pt x="32" y="52"/>
                    <a:pt x="42" y="43"/>
                    <a:pt x="53" y="43"/>
                  </a:cubicBezTo>
                  <a:cubicBezTo>
                    <a:pt x="65" y="43"/>
                    <a:pt x="75" y="52"/>
                    <a:pt x="75" y="64"/>
                  </a:cubicBezTo>
                  <a:cubicBezTo>
                    <a:pt x="75" y="76"/>
                    <a:pt x="65" y="85"/>
                    <a:pt x="53" y="85"/>
                  </a:cubicBezTo>
                  <a:close/>
                </a:path>
              </a:pathLst>
            </a:custGeom>
            <a:grpFill/>
            <a:ln>
              <a:solidFill>
                <a:srgbClr val="00B050"/>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cs typeface="Calibri" panose="020F0502020204030204" pitchFamily="34" charset="0"/>
              </a:endParaRPr>
            </a:p>
          </p:txBody>
        </p:sp>
        <p:sp>
          <p:nvSpPr>
            <p:cNvPr id="19" name="Freeform 449">
              <a:extLst>
                <a:ext uri="{FF2B5EF4-FFF2-40B4-BE49-F238E27FC236}">
                  <a16:creationId xmlns:a16="http://schemas.microsoft.com/office/drawing/2014/main" id="{E540BC4C-4E06-400F-B67B-7E0F1EA38279}"/>
                </a:ext>
              </a:extLst>
            </p:cNvPr>
            <p:cNvSpPr>
              <a:spLocks noEditPoints="1"/>
            </p:cNvSpPr>
            <p:nvPr/>
          </p:nvSpPr>
          <p:spPr bwMode="auto">
            <a:xfrm>
              <a:off x="5601" y="1820"/>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4 w 512"/>
                <a:gd name="T11" fmla="*/ 262 h 512"/>
                <a:gd name="T12" fmla="*/ 393 w 512"/>
                <a:gd name="T13" fmla="*/ 294 h 512"/>
                <a:gd name="T14" fmla="*/ 385 w 512"/>
                <a:gd name="T15" fmla="*/ 299 h 512"/>
                <a:gd name="T16" fmla="*/ 376 w 512"/>
                <a:gd name="T17" fmla="*/ 296 h 512"/>
                <a:gd name="T18" fmla="*/ 362 w 512"/>
                <a:gd name="T19" fmla="*/ 282 h 512"/>
                <a:gd name="T20" fmla="*/ 349 w 512"/>
                <a:gd name="T21" fmla="*/ 296 h 512"/>
                <a:gd name="T22" fmla="*/ 333 w 512"/>
                <a:gd name="T23" fmla="*/ 296 h 512"/>
                <a:gd name="T24" fmla="*/ 320 w 512"/>
                <a:gd name="T25" fmla="*/ 282 h 512"/>
                <a:gd name="T26" fmla="*/ 306 w 512"/>
                <a:gd name="T27" fmla="*/ 296 h 512"/>
                <a:gd name="T28" fmla="*/ 298 w 512"/>
                <a:gd name="T29" fmla="*/ 299 h 512"/>
                <a:gd name="T30" fmla="*/ 255 w 512"/>
                <a:gd name="T31" fmla="*/ 299 h 512"/>
                <a:gd name="T32" fmla="*/ 181 w 512"/>
                <a:gd name="T33" fmla="*/ 342 h 512"/>
                <a:gd name="T34" fmla="*/ 96 w 512"/>
                <a:gd name="T35" fmla="*/ 256 h 512"/>
                <a:gd name="T36" fmla="*/ 181 w 512"/>
                <a:gd name="T37" fmla="*/ 171 h 512"/>
                <a:gd name="T38" fmla="*/ 255 w 512"/>
                <a:gd name="T39" fmla="*/ 214 h 512"/>
                <a:gd name="T40" fmla="*/ 384 w 512"/>
                <a:gd name="T41" fmla="*/ 214 h 512"/>
                <a:gd name="T42" fmla="*/ 393 w 512"/>
                <a:gd name="T43" fmla="*/ 218 h 512"/>
                <a:gd name="T44" fmla="*/ 414 w 512"/>
                <a:gd name="T45" fmla="*/ 250 h 512"/>
                <a:gd name="T46" fmla="*/ 414 w 512"/>
                <a:gd name="T47" fmla="*/ 26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2" h="512">
                  <a:moveTo>
                    <a:pt x="256" y="0"/>
                  </a:moveTo>
                  <a:cubicBezTo>
                    <a:pt x="114" y="0"/>
                    <a:pt x="0" y="115"/>
                    <a:pt x="0" y="256"/>
                  </a:cubicBezTo>
                  <a:cubicBezTo>
                    <a:pt x="0" y="397"/>
                    <a:pt x="114" y="512"/>
                    <a:pt x="256" y="512"/>
                  </a:cubicBezTo>
                  <a:cubicBezTo>
                    <a:pt x="397" y="512"/>
                    <a:pt x="512" y="397"/>
                    <a:pt x="512" y="256"/>
                  </a:cubicBezTo>
                  <a:cubicBezTo>
                    <a:pt x="512" y="115"/>
                    <a:pt x="397" y="0"/>
                    <a:pt x="256" y="0"/>
                  </a:cubicBezTo>
                  <a:close/>
                  <a:moveTo>
                    <a:pt x="414" y="262"/>
                  </a:moveTo>
                  <a:cubicBezTo>
                    <a:pt x="393" y="294"/>
                    <a:pt x="393" y="294"/>
                    <a:pt x="393" y="294"/>
                  </a:cubicBezTo>
                  <a:cubicBezTo>
                    <a:pt x="391" y="297"/>
                    <a:pt x="388" y="298"/>
                    <a:pt x="385" y="299"/>
                  </a:cubicBezTo>
                  <a:cubicBezTo>
                    <a:pt x="381" y="299"/>
                    <a:pt x="378" y="298"/>
                    <a:pt x="376" y="296"/>
                  </a:cubicBezTo>
                  <a:cubicBezTo>
                    <a:pt x="362" y="282"/>
                    <a:pt x="362" y="282"/>
                    <a:pt x="362" y="282"/>
                  </a:cubicBezTo>
                  <a:cubicBezTo>
                    <a:pt x="349" y="296"/>
                    <a:pt x="349" y="296"/>
                    <a:pt x="349" y="296"/>
                  </a:cubicBezTo>
                  <a:cubicBezTo>
                    <a:pt x="344" y="300"/>
                    <a:pt x="338" y="300"/>
                    <a:pt x="333" y="296"/>
                  </a:cubicBezTo>
                  <a:cubicBezTo>
                    <a:pt x="320" y="282"/>
                    <a:pt x="320" y="282"/>
                    <a:pt x="320" y="282"/>
                  </a:cubicBezTo>
                  <a:cubicBezTo>
                    <a:pt x="306" y="296"/>
                    <a:pt x="306" y="296"/>
                    <a:pt x="306" y="296"/>
                  </a:cubicBezTo>
                  <a:cubicBezTo>
                    <a:pt x="304" y="298"/>
                    <a:pt x="301" y="299"/>
                    <a:pt x="298" y="299"/>
                  </a:cubicBezTo>
                  <a:cubicBezTo>
                    <a:pt x="255" y="299"/>
                    <a:pt x="255" y="299"/>
                    <a:pt x="255" y="299"/>
                  </a:cubicBezTo>
                  <a:cubicBezTo>
                    <a:pt x="240" y="325"/>
                    <a:pt x="211" y="342"/>
                    <a:pt x="181" y="342"/>
                  </a:cubicBezTo>
                  <a:cubicBezTo>
                    <a:pt x="134" y="342"/>
                    <a:pt x="96" y="303"/>
                    <a:pt x="96" y="256"/>
                  </a:cubicBezTo>
                  <a:cubicBezTo>
                    <a:pt x="96" y="209"/>
                    <a:pt x="134" y="171"/>
                    <a:pt x="181" y="171"/>
                  </a:cubicBezTo>
                  <a:cubicBezTo>
                    <a:pt x="211" y="171"/>
                    <a:pt x="240" y="187"/>
                    <a:pt x="255" y="214"/>
                  </a:cubicBezTo>
                  <a:cubicBezTo>
                    <a:pt x="384" y="214"/>
                    <a:pt x="384" y="214"/>
                    <a:pt x="384" y="214"/>
                  </a:cubicBezTo>
                  <a:cubicBezTo>
                    <a:pt x="387" y="214"/>
                    <a:pt x="391" y="215"/>
                    <a:pt x="393" y="218"/>
                  </a:cubicBezTo>
                  <a:cubicBezTo>
                    <a:pt x="414" y="250"/>
                    <a:pt x="414" y="250"/>
                    <a:pt x="414" y="250"/>
                  </a:cubicBezTo>
                  <a:cubicBezTo>
                    <a:pt x="416" y="254"/>
                    <a:pt x="416" y="258"/>
                    <a:pt x="414" y="26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cs typeface="Calibri" panose="020F0502020204030204" pitchFamily="34" charset="0"/>
              </a:endParaRPr>
            </a:p>
          </p:txBody>
        </p:sp>
      </p:grpSp>
      <p:sp>
        <p:nvSpPr>
          <p:cNvPr id="20" name="Rectangle 19">
            <a:extLst>
              <a:ext uri="{FF2B5EF4-FFF2-40B4-BE49-F238E27FC236}">
                <a16:creationId xmlns:a16="http://schemas.microsoft.com/office/drawing/2014/main" id="{41868ADE-3A91-46CF-BCB7-D40704BB0FE9}"/>
              </a:ext>
            </a:extLst>
          </p:cNvPr>
          <p:cNvSpPr/>
          <p:nvPr/>
        </p:nvSpPr>
        <p:spPr>
          <a:xfrm>
            <a:off x="2761899" y="4368415"/>
            <a:ext cx="1748692" cy="1077218"/>
          </a:xfrm>
          <a:prstGeom prst="rect">
            <a:avLst/>
          </a:prstGeom>
          <a:ln>
            <a:noFill/>
          </a:ln>
        </p:spPr>
        <p:txBody>
          <a:bodyPr wrap="square" lIns="0" tIns="0" rIns="0" bIns="0">
            <a:spAutoFit/>
          </a:bodyPr>
          <a:lstStyle/>
          <a:p>
            <a:pPr>
              <a:spcAft>
                <a:spcPts val="600"/>
              </a:spcAft>
            </a:pPr>
            <a:r>
              <a:rPr lang="en-US" sz="1200" b="1">
                <a:latin typeface="Calibri" panose="020F0502020204030204" pitchFamily="34" charset="0"/>
                <a:cs typeface="Calibri" panose="020F0502020204030204" pitchFamily="34" charset="0"/>
              </a:rPr>
              <a:t>Custom Validation Failures</a:t>
            </a:r>
          </a:p>
          <a:p>
            <a:pPr marL="171450" indent="-171450">
              <a:spcAft>
                <a:spcPts val="600"/>
              </a:spcAft>
              <a:buFont typeface="Arial" panose="020B0604020202020204" pitchFamily="34" charset="0"/>
              <a:buChar char="•"/>
            </a:pPr>
            <a:r>
              <a:rPr lang="en-US" sz="1200">
                <a:latin typeface="Calibri" panose="020F0502020204030204" pitchFamily="34" charset="0"/>
                <a:ea typeface="Verdana" panose="020B0604030504040204" pitchFamily="34" charset="0"/>
                <a:cs typeface="Calibri" panose="020F0502020204030204" pitchFamily="34" charset="0"/>
              </a:rPr>
              <a:t>Payload validation failures</a:t>
            </a:r>
          </a:p>
          <a:p>
            <a:pPr marL="171450" indent="-171450">
              <a:spcAft>
                <a:spcPts val="600"/>
              </a:spcAft>
              <a:buFont typeface="Arial" panose="020B0604020202020204" pitchFamily="34" charset="0"/>
              <a:buChar char="•"/>
            </a:pPr>
            <a:r>
              <a:rPr lang="en-US" sz="1200">
                <a:latin typeface="Calibri" panose="020F0502020204030204" pitchFamily="34" charset="0"/>
                <a:ea typeface="Verdana" panose="020B0604030504040204" pitchFamily="34" charset="0"/>
                <a:cs typeface="Calibri" panose="020F0502020204030204" pitchFamily="34" charset="0"/>
              </a:rPr>
              <a:t>Invalid value or value not defined in lookup</a:t>
            </a:r>
            <a:endParaRPr lang="en-US" sz="1200">
              <a:latin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9451B443-4E07-4775-850C-21ACB36327BE}"/>
              </a:ext>
            </a:extLst>
          </p:cNvPr>
          <p:cNvSpPr/>
          <p:nvPr/>
        </p:nvSpPr>
        <p:spPr>
          <a:xfrm>
            <a:off x="5319526" y="1230718"/>
            <a:ext cx="4383088" cy="1000274"/>
          </a:xfrm>
          <a:prstGeom prst="rect">
            <a:avLst/>
          </a:prstGeom>
          <a:ln>
            <a:noFill/>
          </a:ln>
        </p:spPr>
        <p:txBody>
          <a:bodyPr wrap="square" lIns="0" tIns="0" rIns="0" bIns="0">
            <a:spAutoFit/>
          </a:bodyPr>
          <a:lstStyle/>
          <a:p>
            <a:r>
              <a:rPr lang="en-US" sz="1200" b="1">
                <a:latin typeface="Calibri" panose="020F0502020204030204" pitchFamily="34" charset="0"/>
                <a:cs typeface="Calibri" panose="020F0502020204030204" pitchFamily="34" charset="0"/>
              </a:rPr>
              <a:t>System Exceptions </a:t>
            </a:r>
          </a:p>
          <a:p>
            <a:pPr marL="171450" indent="-171450">
              <a:spcAft>
                <a:spcPts val="600"/>
              </a:spcAft>
              <a:buFont typeface="Arial" panose="020B0604020202020204" pitchFamily="34" charset="0"/>
              <a:buChar char="•"/>
            </a:pPr>
            <a:r>
              <a:rPr lang="en-US" sz="1200">
                <a:latin typeface="Calibri" panose="020F0502020204030204" pitchFamily="34" charset="0"/>
                <a:cs typeface="Calibri" panose="020F0502020204030204" pitchFamily="34" charset="0"/>
              </a:rPr>
              <a:t>For unscheduled downtime or instance specific issues, Oracle operations team would address the issues through SR</a:t>
            </a:r>
          </a:p>
          <a:p>
            <a:pPr marL="171450" indent="-171450">
              <a:spcAft>
                <a:spcPts val="600"/>
              </a:spcAft>
              <a:buFont typeface="Arial" panose="020B0604020202020204" pitchFamily="34" charset="0"/>
              <a:buChar char="•"/>
            </a:pPr>
            <a:r>
              <a:rPr lang="en-US" sz="1200">
                <a:latin typeface="Calibri" panose="020F0502020204030204" pitchFamily="34" charset="0"/>
                <a:cs typeface="Calibri" panose="020F0502020204030204" pitchFamily="34" charset="0"/>
              </a:rPr>
              <a:t>For adapter or any other product feature not working as intended, SR would be raised for Oracle to address the issue</a:t>
            </a:r>
          </a:p>
        </p:txBody>
      </p:sp>
      <p:sp>
        <p:nvSpPr>
          <p:cNvPr id="22" name="Rectangle 21">
            <a:extLst>
              <a:ext uri="{FF2B5EF4-FFF2-40B4-BE49-F238E27FC236}">
                <a16:creationId xmlns:a16="http://schemas.microsoft.com/office/drawing/2014/main" id="{36B52654-B899-4089-B901-5584D0E9477D}"/>
              </a:ext>
            </a:extLst>
          </p:cNvPr>
          <p:cNvSpPr/>
          <p:nvPr/>
        </p:nvSpPr>
        <p:spPr>
          <a:xfrm>
            <a:off x="5283893" y="2795381"/>
            <a:ext cx="4383088" cy="1477328"/>
          </a:xfrm>
          <a:prstGeom prst="rect">
            <a:avLst/>
          </a:prstGeom>
          <a:ln>
            <a:noFill/>
          </a:ln>
        </p:spPr>
        <p:txBody>
          <a:bodyPr wrap="square" lIns="0" tIns="0" rIns="0" bIns="0">
            <a:spAutoFit/>
          </a:bodyPr>
          <a:lstStyle/>
          <a:p>
            <a:r>
              <a:rPr lang="en-US" sz="1200" b="1">
                <a:latin typeface="Calibri" panose="020F0502020204030204" pitchFamily="34" charset="0"/>
                <a:cs typeface="Calibri" panose="020F0502020204030204" pitchFamily="34" charset="0"/>
              </a:rPr>
              <a:t>Oracle Standard Process Exceptions</a:t>
            </a:r>
          </a:p>
          <a:p>
            <a:pPr marL="171450" indent="-171450">
              <a:buFont typeface="Arial" panose="020B0604020202020204" pitchFamily="34" charset="0"/>
              <a:buChar char="•"/>
            </a:pPr>
            <a:r>
              <a:rPr lang="en-US" sz="1200">
                <a:latin typeface="Calibri" panose="020F0502020204030204" pitchFamily="34" charset="0"/>
                <a:cs typeface="Calibri" panose="020F0502020204030204" pitchFamily="34" charset="0"/>
              </a:rPr>
              <a:t>The Oracle standard process errors which are result of standard validation failures would be reported and corrective action would be taken based on the root cause.</a:t>
            </a:r>
          </a:p>
          <a:p>
            <a:pPr marL="171450" indent="-171450">
              <a:buFont typeface="Arial" panose="020B0604020202020204" pitchFamily="34" charset="0"/>
              <a:buChar char="•"/>
            </a:pPr>
            <a:endParaRPr lang="en-US" sz="120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a:latin typeface="Calibri" panose="020F0502020204030204" pitchFamily="34" charset="0"/>
                <a:cs typeface="Calibri" panose="020F0502020204030204" pitchFamily="34" charset="0"/>
              </a:rPr>
              <a:t>The Oracle standard process errors which are result of deviation of intended behavior of Oracle standard functionality would be addressed through Oracle SR </a:t>
            </a:r>
          </a:p>
        </p:txBody>
      </p:sp>
      <p:sp>
        <p:nvSpPr>
          <p:cNvPr id="23" name="Rectangle 22">
            <a:extLst>
              <a:ext uri="{FF2B5EF4-FFF2-40B4-BE49-F238E27FC236}">
                <a16:creationId xmlns:a16="http://schemas.microsoft.com/office/drawing/2014/main" id="{0BE29A42-C090-4478-8DB3-08FD55A34B75}"/>
              </a:ext>
            </a:extLst>
          </p:cNvPr>
          <p:cNvSpPr/>
          <p:nvPr/>
        </p:nvSpPr>
        <p:spPr>
          <a:xfrm>
            <a:off x="5312499" y="4415276"/>
            <a:ext cx="4383088" cy="1661993"/>
          </a:xfrm>
          <a:prstGeom prst="rect">
            <a:avLst/>
          </a:prstGeom>
          <a:ln>
            <a:noFill/>
          </a:ln>
        </p:spPr>
        <p:txBody>
          <a:bodyPr wrap="square" lIns="0" tIns="0" rIns="0" bIns="0">
            <a:spAutoFit/>
          </a:bodyPr>
          <a:lstStyle/>
          <a:p>
            <a:r>
              <a:rPr lang="en-US" sz="1200" b="1">
                <a:latin typeface="Calibri" panose="020F0502020204030204" pitchFamily="34" charset="0"/>
                <a:cs typeface="Calibri" panose="020F0502020204030204" pitchFamily="34" charset="0"/>
              </a:rPr>
              <a:t>Custom Validation Failures</a:t>
            </a:r>
          </a:p>
          <a:p>
            <a:pPr marL="171450" indent="-171450">
              <a:buFont typeface="Arial" panose="020B0604020202020204" pitchFamily="34" charset="0"/>
              <a:buChar char="•"/>
            </a:pPr>
            <a:r>
              <a:rPr lang="en-US" sz="1200">
                <a:latin typeface="Calibri" panose="020F0502020204030204" pitchFamily="34" charset="0"/>
                <a:cs typeface="Calibri" panose="020F0502020204030204" pitchFamily="34" charset="0"/>
              </a:rPr>
              <a:t>The custom validation failures would be reported as agreed through the error handling approach and notification</a:t>
            </a:r>
          </a:p>
          <a:p>
            <a:pPr marL="171450" indent="-171450">
              <a:buFont typeface="Arial" panose="020B0604020202020204" pitchFamily="34" charset="0"/>
              <a:buChar char="•"/>
            </a:pPr>
            <a:endParaRPr lang="en-US" sz="120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a:latin typeface="Calibri" panose="020F0502020204030204" pitchFamily="34" charset="0"/>
                <a:cs typeface="Calibri" panose="020F0502020204030204" pitchFamily="34" charset="0"/>
              </a:rPr>
              <a:t>The custom validation error would be corrected as defined in the respective object design specification</a:t>
            </a:r>
          </a:p>
          <a:p>
            <a:pPr marL="171450" indent="-171450">
              <a:buFont typeface="Arial" panose="020B0604020202020204" pitchFamily="34" charset="0"/>
              <a:buChar char="•"/>
            </a:pPr>
            <a:endParaRPr lang="en-US" sz="120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a:latin typeface="Calibri" panose="020F0502020204030204" pitchFamily="34" charset="0"/>
                <a:cs typeface="Calibri" panose="020F0502020204030204" pitchFamily="34" charset="0"/>
              </a:rPr>
              <a:t>The list of the custom validations would be contained in the respective object design specification</a:t>
            </a:r>
          </a:p>
        </p:txBody>
      </p:sp>
      <p:sp>
        <p:nvSpPr>
          <p:cNvPr id="25" name="TextBox 24">
            <a:extLst>
              <a:ext uri="{FF2B5EF4-FFF2-40B4-BE49-F238E27FC236}">
                <a16:creationId xmlns:a16="http://schemas.microsoft.com/office/drawing/2014/main" id="{2D0B2447-C42E-4C53-9892-2253C3683435}"/>
              </a:ext>
            </a:extLst>
          </p:cNvPr>
          <p:cNvSpPr txBox="1"/>
          <p:nvPr/>
        </p:nvSpPr>
        <p:spPr>
          <a:xfrm>
            <a:off x="554804" y="636825"/>
            <a:ext cx="6022542" cy="276999"/>
          </a:xfrm>
          <a:prstGeom prst="rect">
            <a:avLst/>
          </a:prstGeom>
          <a:noFill/>
        </p:spPr>
        <p:txBody>
          <a:bodyPr wrap="square">
            <a:spAutoFit/>
          </a:bodyPr>
          <a:lstStyle/>
          <a:p>
            <a:r>
              <a:rPr lang="en-US" sz="1200"/>
              <a:t> </a:t>
            </a:r>
            <a:r>
              <a:rPr lang="en-US" sz="1200">
                <a:solidFill>
                  <a:schemeClr val="bg1">
                    <a:lumMod val="50000"/>
                  </a:schemeClr>
                </a:solidFill>
                <a:latin typeface="+mn-lt"/>
                <a:ea typeface="+mn-ea"/>
                <a:cs typeface="Calibri Light" panose="020F0302020204030204" pitchFamily="34" charset="0"/>
              </a:rPr>
              <a:t>Various types of errors that an Integration can encounter :</a:t>
            </a:r>
          </a:p>
        </p:txBody>
      </p:sp>
      <p:pic>
        <p:nvPicPr>
          <p:cNvPr id="26" name="Picture 25" descr="A picture containing text&#10;&#10;Description automatically generated">
            <a:extLst>
              <a:ext uri="{FF2B5EF4-FFF2-40B4-BE49-F238E27FC236}">
                <a16:creationId xmlns:a16="http://schemas.microsoft.com/office/drawing/2014/main" id="{BE98BFB9-7061-47D2-8B7D-074BCE204157}"/>
              </a:ext>
            </a:extLst>
          </p:cNvPr>
          <p:cNvPicPr>
            <a:picLocks noChangeAspect="1"/>
          </p:cNvPicPr>
          <p:nvPr/>
        </p:nvPicPr>
        <p:blipFill rotWithShape="1">
          <a:blip r:embed="rId4"/>
          <a:srcRect t="72253" r="32706" b="-593"/>
          <a:stretch/>
        </p:blipFill>
        <p:spPr>
          <a:xfrm>
            <a:off x="5677" y="5373400"/>
            <a:ext cx="6372225" cy="1515424"/>
          </a:xfrm>
          <a:prstGeom prst="rect">
            <a:avLst/>
          </a:prstGeom>
        </p:spPr>
      </p:pic>
      <p:pic>
        <p:nvPicPr>
          <p:cNvPr id="27" name="Picture 26" descr="A picture containing text&#10;&#10;Description automatically generated">
            <a:extLst>
              <a:ext uri="{FF2B5EF4-FFF2-40B4-BE49-F238E27FC236}">
                <a16:creationId xmlns:a16="http://schemas.microsoft.com/office/drawing/2014/main" id="{6F4DD5E3-9AE0-46E7-97AA-EE99E5CF5C1A}"/>
              </a:ext>
            </a:extLst>
          </p:cNvPr>
          <p:cNvPicPr>
            <a:picLocks noChangeAspect="1"/>
          </p:cNvPicPr>
          <p:nvPr/>
        </p:nvPicPr>
        <p:blipFill rotWithShape="1">
          <a:blip r:embed="rId4"/>
          <a:srcRect t="86960" r="37534" b="-593"/>
          <a:stretch/>
        </p:blipFill>
        <p:spPr>
          <a:xfrm flipH="1">
            <a:off x="7072310" y="6182240"/>
            <a:ext cx="5119687" cy="746403"/>
          </a:xfrm>
          <a:prstGeom prst="rect">
            <a:avLst/>
          </a:prstGeom>
        </p:spPr>
      </p:pic>
    </p:spTree>
    <p:extLst>
      <p:ext uri="{BB962C8B-B14F-4D97-AF65-F5344CB8AC3E}">
        <p14:creationId xmlns:p14="http://schemas.microsoft.com/office/powerpoint/2010/main" val="1923095389"/>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C1C3-4C44-4CD6-B236-49893EA13021}"/>
              </a:ext>
            </a:extLst>
          </p:cNvPr>
          <p:cNvSpPr>
            <a:spLocks noGrp="1"/>
          </p:cNvSpPr>
          <p:nvPr>
            <p:ph type="title"/>
          </p:nvPr>
        </p:nvSpPr>
        <p:spPr>
          <a:xfrm>
            <a:off x="629173" y="303628"/>
            <a:ext cx="10469461" cy="503302"/>
          </a:xfrm>
        </p:spPr>
        <p:txBody>
          <a:bodyPr/>
          <a:lstStyle/>
          <a:p>
            <a:r>
              <a:rPr lang="en-US" sz="2000" spc="-75">
                <a:latin typeface="Calibri" panose="020F0502020204030204" pitchFamily="34" charset="0"/>
                <a:ea typeface="Open Sans Semibold" panose="020B0706030804020204" pitchFamily="34" charset="0"/>
                <a:cs typeface="Calibri" panose="020F0502020204030204" pitchFamily="34" charset="0"/>
              </a:rPr>
              <a:t>Common Error Handling – Notification and Logging Mechanism</a:t>
            </a:r>
          </a:p>
        </p:txBody>
      </p:sp>
      <p:sp>
        <p:nvSpPr>
          <p:cNvPr id="3" name="Rectangle 2">
            <a:extLst>
              <a:ext uri="{FF2B5EF4-FFF2-40B4-BE49-F238E27FC236}">
                <a16:creationId xmlns:a16="http://schemas.microsoft.com/office/drawing/2014/main" id="{713C7233-4F5C-4868-82E5-4827A2D86273}"/>
              </a:ext>
            </a:extLst>
          </p:cNvPr>
          <p:cNvSpPr/>
          <p:nvPr/>
        </p:nvSpPr>
        <p:spPr bwMode="auto">
          <a:xfrm>
            <a:off x="765056" y="1592933"/>
            <a:ext cx="1275908" cy="1272147"/>
          </a:xfrm>
          <a:prstGeom prst="rect">
            <a:avLst/>
          </a:prstGeom>
          <a:solidFill>
            <a:schemeClr val="bg1"/>
          </a:solidFill>
          <a:ln w="12700" cap="flat" cmpd="sng" algn="ctr">
            <a:solidFill>
              <a:schemeClr val="tx1"/>
            </a:solidFill>
            <a:prstDash val="solid"/>
            <a:round/>
            <a:headEnd type="none" w="med" len="med"/>
            <a:tailEnd type="none" w="med" len="med"/>
          </a:ln>
          <a:effectLst/>
        </p:spPr>
        <p:txBody>
          <a:bodyPr lIns="67366" tIns="33684" rIns="67366" bIns="33684" rtlCol="0" anchor="ctr"/>
          <a:lstStyle/>
          <a:p>
            <a:pPr marL="0" marR="0" lvl="0" indent="0" algn="ctr" defTabSz="685132" rtl="0" eaLnBrk="1" fontAlgn="base" latinLnBrk="0" hangingPunct="1">
              <a:lnSpc>
                <a:spcPct val="106000"/>
              </a:lnSpc>
              <a:spcBef>
                <a:spcPct val="80000"/>
              </a:spcBef>
              <a:spcAft>
                <a:spcPct val="0"/>
              </a:spcAft>
              <a:buClr>
                <a:srgbClr val="000000"/>
              </a:buClr>
              <a:buSzPct val="80000"/>
              <a:buFontTx/>
              <a:buNone/>
              <a:tabLst/>
              <a:defRPr/>
            </a:pPr>
            <a:endParaRPr kumimoji="0" lang="en-US" sz="698" b="1"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 name="Text Box 10">
            <a:extLst>
              <a:ext uri="{FF2B5EF4-FFF2-40B4-BE49-F238E27FC236}">
                <a16:creationId xmlns:a16="http://schemas.microsoft.com/office/drawing/2014/main" id="{9C8298C5-6458-474C-9548-221FCE413EB6}"/>
              </a:ext>
            </a:extLst>
          </p:cNvPr>
          <p:cNvSpPr txBox="1">
            <a:spLocks noChangeArrowheads="1"/>
          </p:cNvSpPr>
          <p:nvPr/>
        </p:nvSpPr>
        <p:spPr bwMode="auto">
          <a:xfrm>
            <a:off x="756667" y="1262376"/>
            <a:ext cx="1292686" cy="332850"/>
          </a:xfrm>
          <a:prstGeom prst="rect">
            <a:avLst/>
          </a:prstGeom>
          <a:solidFill>
            <a:srgbClr val="62B5E5"/>
          </a:solidFill>
          <a:ln w="19050" algn="ctr">
            <a:noFill/>
            <a:miter lim="800000"/>
            <a:headEnd/>
            <a:tailEnd/>
          </a:ln>
        </p:spPr>
        <p:txBody>
          <a:bodyPr wrap="square" lIns="88900" tIns="88900" rIns="88900" bIns="88900" rtlCol="0" anchor="ctr"/>
          <a:lstStyle>
            <a:defPPr>
              <a:defRPr lang="en-US"/>
            </a:defPPr>
            <a:lvl1pPr marR="0" lvl="0" indent="0" algn="ctr" defTabSz="1219170" fontAlgn="auto">
              <a:lnSpc>
                <a:spcPct val="106000"/>
              </a:lnSpc>
              <a:spcBef>
                <a:spcPts val="0"/>
              </a:spcBef>
              <a:spcAft>
                <a:spcPts val="0"/>
              </a:spcAft>
              <a:buClrTx/>
              <a:buSzTx/>
              <a:buFont typeface="Wingdings 2" pitchFamily="18" charset="2"/>
              <a:buNone/>
              <a:tabLst/>
              <a:defRPr sz="1050" b="1">
                <a:solidFill>
                  <a:prstClr val="white"/>
                </a:solidFill>
                <a:latin typeface="Open Sans"/>
              </a:defRPr>
            </a:lvl1p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lang="en-US" sz="900">
                <a:latin typeface="Open Sans" panose="020B0606030504020204" pitchFamily="34" charset="0"/>
                <a:ea typeface="Open Sans" panose="020B0606030504020204" pitchFamily="34" charset="0"/>
                <a:cs typeface="Open Sans" panose="020B0606030504020204" pitchFamily="34" charset="0"/>
              </a:rPr>
              <a:t>Boundary System</a:t>
            </a:r>
            <a:endParaRPr kumimoji="0" lang="en-US" sz="9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 name="Rectangle 4">
            <a:extLst>
              <a:ext uri="{FF2B5EF4-FFF2-40B4-BE49-F238E27FC236}">
                <a16:creationId xmlns:a16="http://schemas.microsoft.com/office/drawing/2014/main" id="{64C61AAB-FDE8-4EEE-8F1F-04C3278F83E6}"/>
              </a:ext>
            </a:extLst>
          </p:cNvPr>
          <p:cNvSpPr/>
          <p:nvPr/>
        </p:nvSpPr>
        <p:spPr bwMode="gray">
          <a:xfrm>
            <a:off x="2727083" y="1671273"/>
            <a:ext cx="625513" cy="983052"/>
          </a:xfrm>
          <a:prstGeom prst="rect">
            <a:avLst/>
          </a:prstGeom>
          <a:noFill/>
          <a:ln w="38100" algn="ctr">
            <a:solidFill>
              <a:srgbClr val="92D050"/>
            </a:solidFill>
            <a:prstDash val="solid"/>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0" cap="none" spc="0" normalizeH="0" baseline="0" noProof="0">
              <a:ln>
                <a:noFill/>
              </a:ln>
              <a:solidFill>
                <a:prstClr val="white"/>
              </a:solidFill>
              <a:effectLst/>
              <a:uLnTx/>
              <a:uFillTx/>
              <a:latin typeface="Open Sans"/>
              <a:ea typeface="+mn-ea"/>
              <a:cs typeface="+mn-cs"/>
            </a:endParaRPr>
          </a:p>
        </p:txBody>
      </p:sp>
      <p:sp>
        <p:nvSpPr>
          <p:cNvPr id="6" name="Freeform 30">
            <a:extLst>
              <a:ext uri="{FF2B5EF4-FFF2-40B4-BE49-F238E27FC236}">
                <a16:creationId xmlns:a16="http://schemas.microsoft.com/office/drawing/2014/main" id="{5C8C90D2-A1D8-41CF-AF88-32E8DCA87E4E}"/>
              </a:ext>
            </a:extLst>
          </p:cNvPr>
          <p:cNvSpPr>
            <a:spLocks noChangeAspect="1" noEditPoints="1"/>
          </p:cNvSpPr>
          <p:nvPr/>
        </p:nvSpPr>
        <p:spPr bwMode="auto">
          <a:xfrm flipV="1">
            <a:off x="2864581" y="1944414"/>
            <a:ext cx="311017" cy="400070"/>
          </a:xfrm>
          <a:custGeom>
            <a:avLst/>
            <a:gdLst>
              <a:gd name="T0" fmla="*/ 72 w 104"/>
              <a:gd name="T1" fmla="*/ 125 h 144"/>
              <a:gd name="T2" fmla="*/ 72 w 104"/>
              <a:gd name="T3" fmla="*/ 142 h 144"/>
              <a:gd name="T4" fmla="*/ 0 w 104"/>
              <a:gd name="T5" fmla="*/ 142 h 144"/>
              <a:gd name="T6" fmla="*/ 0 w 104"/>
              <a:gd name="T7" fmla="*/ 0 h 144"/>
              <a:gd name="T8" fmla="*/ 102 w 104"/>
              <a:gd name="T9" fmla="*/ 0 h 144"/>
              <a:gd name="T10" fmla="*/ 102 w 104"/>
              <a:gd name="T11" fmla="*/ 111 h 144"/>
              <a:gd name="T12" fmla="*/ 85 w 104"/>
              <a:gd name="T13" fmla="*/ 111 h 144"/>
              <a:gd name="T14" fmla="*/ 72 w 104"/>
              <a:gd name="T15" fmla="*/ 125 h 144"/>
              <a:gd name="T16" fmla="*/ 104 w 104"/>
              <a:gd name="T17" fmla="*/ 118 h 144"/>
              <a:gd name="T18" fmla="*/ 86 w 104"/>
              <a:gd name="T19" fmla="*/ 118 h 144"/>
              <a:gd name="T20" fmla="*/ 78 w 104"/>
              <a:gd name="T21" fmla="*/ 126 h 144"/>
              <a:gd name="T22" fmla="*/ 78 w 104"/>
              <a:gd name="T23" fmla="*/ 144 h 144"/>
              <a:gd name="T24" fmla="*/ 104 w 104"/>
              <a:gd name="T25" fmla="*/ 118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144">
                <a:moveTo>
                  <a:pt x="72" y="125"/>
                </a:moveTo>
                <a:cubicBezTo>
                  <a:pt x="72" y="142"/>
                  <a:pt x="72" y="142"/>
                  <a:pt x="72" y="142"/>
                </a:cubicBezTo>
                <a:cubicBezTo>
                  <a:pt x="0" y="142"/>
                  <a:pt x="0" y="142"/>
                  <a:pt x="0" y="142"/>
                </a:cubicBezTo>
                <a:cubicBezTo>
                  <a:pt x="0" y="0"/>
                  <a:pt x="0" y="0"/>
                  <a:pt x="0" y="0"/>
                </a:cubicBezTo>
                <a:cubicBezTo>
                  <a:pt x="102" y="0"/>
                  <a:pt x="102" y="0"/>
                  <a:pt x="102" y="0"/>
                </a:cubicBezTo>
                <a:cubicBezTo>
                  <a:pt x="102" y="111"/>
                  <a:pt x="102" y="111"/>
                  <a:pt x="102" y="111"/>
                </a:cubicBezTo>
                <a:cubicBezTo>
                  <a:pt x="85" y="111"/>
                  <a:pt x="85" y="111"/>
                  <a:pt x="85" y="111"/>
                </a:cubicBezTo>
                <a:cubicBezTo>
                  <a:pt x="78" y="111"/>
                  <a:pt x="72" y="118"/>
                  <a:pt x="72" y="125"/>
                </a:cubicBezTo>
                <a:close/>
                <a:moveTo>
                  <a:pt x="104" y="118"/>
                </a:moveTo>
                <a:cubicBezTo>
                  <a:pt x="86" y="118"/>
                  <a:pt x="86" y="118"/>
                  <a:pt x="86" y="118"/>
                </a:cubicBezTo>
                <a:cubicBezTo>
                  <a:pt x="82" y="118"/>
                  <a:pt x="78" y="121"/>
                  <a:pt x="78" y="126"/>
                </a:cubicBezTo>
                <a:cubicBezTo>
                  <a:pt x="78" y="144"/>
                  <a:pt x="78" y="144"/>
                  <a:pt x="78" y="144"/>
                </a:cubicBezTo>
                <a:lnTo>
                  <a:pt x="104" y="118"/>
                </a:lnTo>
                <a:close/>
              </a:path>
            </a:pathLst>
          </a:custGeom>
          <a:solidFill>
            <a:schemeClr val="accent2"/>
          </a:solidFill>
          <a:ln/>
        </p:spPr>
        <p:style>
          <a:lnRef idx="1">
            <a:schemeClr val="accent3"/>
          </a:lnRef>
          <a:fillRef idx="3">
            <a:schemeClr val="accent3"/>
          </a:fillRef>
          <a:effectRef idx="2">
            <a:schemeClr val="accent3"/>
          </a:effectRef>
          <a:fontRef idx="minor">
            <a:schemeClr val="lt1"/>
          </a:fontRef>
        </p:style>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50" b="0" i="0" u="none" strike="noStrike" kern="0" cap="none" spc="0" normalizeH="0" baseline="0" noProof="0">
              <a:ln>
                <a:noFill/>
              </a:ln>
              <a:solidFill>
                <a:prstClr val="black"/>
              </a:solidFill>
              <a:effectLst/>
              <a:uLnTx/>
              <a:uFillTx/>
              <a:latin typeface="Open Sans"/>
              <a:ea typeface="+mn-ea"/>
              <a:cs typeface="+mn-cs"/>
            </a:endParaRPr>
          </a:p>
        </p:txBody>
      </p:sp>
      <p:sp>
        <p:nvSpPr>
          <p:cNvPr id="7" name="Rectangle 6">
            <a:extLst>
              <a:ext uri="{FF2B5EF4-FFF2-40B4-BE49-F238E27FC236}">
                <a16:creationId xmlns:a16="http://schemas.microsoft.com/office/drawing/2014/main" id="{C127A429-AB3E-478F-9243-974F217518B9}"/>
              </a:ext>
            </a:extLst>
          </p:cNvPr>
          <p:cNvSpPr/>
          <p:nvPr/>
        </p:nvSpPr>
        <p:spPr bwMode="gray">
          <a:xfrm>
            <a:off x="6317370" y="2140782"/>
            <a:ext cx="392309" cy="444878"/>
          </a:xfrm>
          <a:prstGeom prst="rect">
            <a:avLst/>
          </a:prstGeom>
          <a:solidFill>
            <a:srgbClr val="00A1DE"/>
          </a:solidFill>
          <a:ln w="19050" algn="ctr">
            <a:noFill/>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0" cap="none" spc="0" normalizeH="0" baseline="0" noProof="0">
              <a:ln>
                <a:noFill/>
              </a:ln>
              <a:solidFill>
                <a:prstClr val="white"/>
              </a:solidFill>
              <a:effectLst/>
              <a:uLnTx/>
              <a:uFillTx/>
              <a:latin typeface="Open Sans"/>
              <a:ea typeface="+mn-ea"/>
              <a:cs typeface="+mn-cs"/>
            </a:endParaRPr>
          </a:p>
        </p:txBody>
      </p:sp>
      <p:sp>
        <p:nvSpPr>
          <p:cNvPr id="8" name="TextBox 7">
            <a:extLst>
              <a:ext uri="{FF2B5EF4-FFF2-40B4-BE49-F238E27FC236}">
                <a16:creationId xmlns:a16="http://schemas.microsoft.com/office/drawing/2014/main" id="{B8A35C74-8025-433E-9DD6-099962B0D4C9}"/>
              </a:ext>
            </a:extLst>
          </p:cNvPr>
          <p:cNvSpPr txBox="1"/>
          <p:nvPr/>
        </p:nvSpPr>
        <p:spPr>
          <a:xfrm>
            <a:off x="4491410" y="1909517"/>
            <a:ext cx="513183" cy="184666"/>
          </a:xfrm>
          <a:prstGeom prst="rect">
            <a:avLst/>
          </a:prstGeom>
          <a:noFill/>
        </p:spPr>
        <p:txBody>
          <a:bodyPr wrap="square" lIns="0" tIns="0" rIns="0" bIns="0" rtlCol="0">
            <a:spAutoFit/>
          </a:bodyPr>
          <a:lstStyle/>
          <a:p>
            <a:pPr marL="0" marR="0" lvl="0" indent="0" algn="ctr" defTabSz="685800" rtl="0" eaLnBrk="1" fontAlgn="auto" latinLnBrk="0" hangingPunct="1">
              <a:lnSpc>
                <a:spcPct val="100000"/>
              </a:lnSpc>
              <a:spcBef>
                <a:spcPts val="450"/>
              </a:spcBef>
              <a:spcAft>
                <a:spcPts val="0"/>
              </a:spcAft>
              <a:buClrTx/>
              <a:buSzPct val="100000"/>
              <a:buFontTx/>
              <a:buNone/>
              <a:tabLst/>
              <a:defRPr/>
            </a:pPr>
            <a:r>
              <a:rPr kumimoji="0" lang="en-US" sz="600" b="0" i="0" u="none" strike="noStrike" kern="0" cap="none" spc="0" normalizeH="0" baseline="0" noProof="0">
                <a:ln>
                  <a:noFill/>
                </a:ln>
                <a:solidFill>
                  <a:srgbClr val="002776"/>
                </a:solidFill>
                <a:effectLst/>
                <a:uLnTx/>
                <a:uFillTx/>
                <a:latin typeface="Open Sans" panose="020B0606030504020204" pitchFamily="34" charset="0"/>
                <a:ea typeface="Open Sans" panose="020B0606030504020204" pitchFamily="34" charset="0"/>
                <a:cs typeface="Open Sans" panose="020B0606030504020204" pitchFamily="34" charset="0"/>
              </a:rPr>
              <a:t>Receive and Validate</a:t>
            </a:r>
          </a:p>
        </p:txBody>
      </p:sp>
      <p:sp>
        <p:nvSpPr>
          <p:cNvPr id="9" name="Rectangle 8">
            <a:extLst>
              <a:ext uri="{FF2B5EF4-FFF2-40B4-BE49-F238E27FC236}">
                <a16:creationId xmlns:a16="http://schemas.microsoft.com/office/drawing/2014/main" id="{64BBB4C8-E381-4148-BC00-0AFB4F2AFA92}"/>
              </a:ext>
            </a:extLst>
          </p:cNvPr>
          <p:cNvSpPr/>
          <p:nvPr/>
        </p:nvSpPr>
        <p:spPr bwMode="gray">
          <a:xfrm>
            <a:off x="5740929" y="2130934"/>
            <a:ext cx="357573" cy="444878"/>
          </a:xfrm>
          <a:prstGeom prst="rect">
            <a:avLst/>
          </a:prstGeom>
          <a:solidFill>
            <a:srgbClr val="00A1DE"/>
          </a:solidFill>
          <a:ln w="19050" algn="ctr">
            <a:noFill/>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0" cap="none" spc="0" normalizeH="0" baseline="0" noProof="0">
              <a:ln>
                <a:noFill/>
              </a:ln>
              <a:solidFill>
                <a:prstClr val="white"/>
              </a:solidFill>
              <a:effectLst/>
              <a:uLnTx/>
              <a:uFillTx/>
              <a:latin typeface="Open Sans"/>
              <a:ea typeface="+mn-ea"/>
              <a:cs typeface="+mn-cs"/>
            </a:endParaRPr>
          </a:p>
        </p:txBody>
      </p:sp>
      <p:grpSp>
        <p:nvGrpSpPr>
          <p:cNvPr id="10" name="Group 9">
            <a:extLst>
              <a:ext uri="{FF2B5EF4-FFF2-40B4-BE49-F238E27FC236}">
                <a16:creationId xmlns:a16="http://schemas.microsoft.com/office/drawing/2014/main" id="{A999CEFA-04CA-4E02-8D1C-CD052FC6D0B3}"/>
              </a:ext>
            </a:extLst>
          </p:cNvPr>
          <p:cNvGrpSpPr/>
          <p:nvPr/>
        </p:nvGrpSpPr>
        <p:grpSpPr>
          <a:xfrm>
            <a:off x="4535743" y="2140782"/>
            <a:ext cx="380779" cy="437947"/>
            <a:chOff x="7404414" y="3257458"/>
            <a:chExt cx="648463" cy="798976"/>
          </a:xfrm>
        </p:grpSpPr>
        <p:sp>
          <p:nvSpPr>
            <p:cNvPr id="11" name="Rectangle 10">
              <a:extLst>
                <a:ext uri="{FF2B5EF4-FFF2-40B4-BE49-F238E27FC236}">
                  <a16:creationId xmlns:a16="http://schemas.microsoft.com/office/drawing/2014/main" id="{6A1CE3C8-AD53-42F9-B9C5-11AC766905A0}"/>
                </a:ext>
              </a:extLst>
            </p:cNvPr>
            <p:cNvSpPr/>
            <p:nvPr/>
          </p:nvSpPr>
          <p:spPr bwMode="gray">
            <a:xfrm>
              <a:off x="7404414" y="3257458"/>
              <a:ext cx="648463" cy="798976"/>
            </a:xfrm>
            <a:prstGeom prst="rect">
              <a:avLst/>
            </a:prstGeom>
            <a:solidFill>
              <a:srgbClr val="00A1DE"/>
            </a:solidFill>
            <a:ln w="19050" algn="ctr">
              <a:noFill/>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0" cap="none" spc="0" normalizeH="0" baseline="0" noProof="0">
                <a:ln>
                  <a:noFill/>
                </a:ln>
                <a:solidFill>
                  <a:prstClr val="white"/>
                </a:solidFill>
                <a:effectLst/>
                <a:uLnTx/>
                <a:uFillTx/>
                <a:latin typeface="Open Sans"/>
                <a:ea typeface="+mn-ea"/>
                <a:cs typeface="+mn-cs"/>
              </a:endParaRPr>
            </a:p>
          </p:txBody>
        </p:sp>
        <p:grpSp>
          <p:nvGrpSpPr>
            <p:cNvPr id="12" name="Group 11">
              <a:extLst>
                <a:ext uri="{FF2B5EF4-FFF2-40B4-BE49-F238E27FC236}">
                  <a16:creationId xmlns:a16="http://schemas.microsoft.com/office/drawing/2014/main" id="{93A8F17C-C6BD-46BF-A7F8-D69271691C78}"/>
                </a:ext>
              </a:extLst>
            </p:cNvPr>
            <p:cNvGrpSpPr/>
            <p:nvPr/>
          </p:nvGrpSpPr>
          <p:grpSpPr>
            <a:xfrm>
              <a:off x="7480852" y="3318613"/>
              <a:ext cx="460925" cy="625232"/>
              <a:chOff x="7707275" y="3538174"/>
              <a:chExt cx="588928" cy="850675"/>
            </a:xfrm>
            <a:solidFill>
              <a:sysClr val="window" lastClr="FFFFFF"/>
            </a:solidFill>
          </p:grpSpPr>
          <p:sp>
            <p:nvSpPr>
              <p:cNvPr id="13" name="Freeform 15">
                <a:extLst>
                  <a:ext uri="{FF2B5EF4-FFF2-40B4-BE49-F238E27FC236}">
                    <a16:creationId xmlns:a16="http://schemas.microsoft.com/office/drawing/2014/main" id="{DD4D28AA-0805-4BDE-8D38-56691260832C}"/>
                  </a:ext>
                </a:extLst>
              </p:cNvPr>
              <p:cNvSpPr>
                <a:spLocks noChangeAspect="1" noEditPoints="1"/>
              </p:cNvSpPr>
              <p:nvPr/>
            </p:nvSpPr>
            <p:spPr bwMode="auto">
              <a:xfrm>
                <a:off x="7707275" y="3538174"/>
                <a:ext cx="588928" cy="850675"/>
              </a:xfrm>
              <a:custGeom>
                <a:avLst/>
                <a:gdLst>
                  <a:gd name="T0" fmla="*/ 93 w 103"/>
                  <a:gd name="T1" fmla="*/ 15 h 148"/>
                  <a:gd name="T2" fmla="*/ 84 w 103"/>
                  <a:gd name="T3" fmla="*/ 37 h 148"/>
                  <a:gd name="T4" fmla="*/ 19 w 103"/>
                  <a:gd name="T5" fmla="*/ 37 h 148"/>
                  <a:gd name="T6" fmla="*/ 10 w 103"/>
                  <a:gd name="T7" fmla="*/ 15 h 148"/>
                  <a:gd name="T8" fmla="*/ 0 w 103"/>
                  <a:gd name="T9" fmla="*/ 25 h 148"/>
                  <a:gd name="T10" fmla="*/ 0 w 103"/>
                  <a:gd name="T11" fmla="*/ 137 h 148"/>
                  <a:gd name="T12" fmla="*/ 10 w 103"/>
                  <a:gd name="T13" fmla="*/ 148 h 148"/>
                  <a:gd name="T14" fmla="*/ 93 w 103"/>
                  <a:gd name="T15" fmla="*/ 148 h 148"/>
                  <a:gd name="T16" fmla="*/ 103 w 103"/>
                  <a:gd name="T17" fmla="*/ 137 h 148"/>
                  <a:gd name="T18" fmla="*/ 103 w 103"/>
                  <a:gd name="T19" fmla="*/ 25 h 148"/>
                  <a:gd name="T20" fmla="*/ 93 w 103"/>
                  <a:gd name="T21" fmla="*/ 15 h 148"/>
                  <a:gd name="T22" fmla="*/ 78 w 103"/>
                  <a:gd name="T23" fmla="*/ 30 h 148"/>
                  <a:gd name="T24" fmla="*/ 85 w 103"/>
                  <a:gd name="T25" fmla="*/ 15 h 148"/>
                  <a:gd name="T26" fmla="*/ 69 w 103"/>
                  <a:gd name="T27" fmla="*/ 15 h 148"/>
                  <a:gd name="T28" fmla="*/ 64 w 103"/>
                  <a:gd name="T29" fmla="*/ 0 h 148"/>
                  <a:gd name="T30" fmla="*/ 40 w 103"/>
                  <a:gd name="T31" fmla="*/ 0 h 148"/>
                  <a:gd name="T32" fmla="*/ 35 w 103"/>
                  <a:gd name="T33" fmla="*/ 15 h 148"/>
                  <a:gd name="T34" fmla="*/ 19 w 103"/>
                  <a:gd name="T35" fmla="*/ 15 h 148"/>
                  <a:gd name="T36" fmla="*/ 25 w 103"/>
                  <a:gd name="T37" fmla="*/ 30 h 148"/>
                  <a:gd name="T38" fmla="*/ 78 w 103"/>
                  <a:gd name="T39" fmla="*/ 3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3" h="148">
                    <a:moveTo>
                      <a:pt x="93" y="15"/>
                    </a:moveTo>
                    <a:cubicBezTo>
                      <a:pt x="84" y="37"/>
                      <a:pt x="84" y="37"/>
                      <a:pt x="84" y="37"/>
                    </a:cubicBezTo>
                    <a:cubicBezTo>
                      <a:pt x="19" y="37"/>
                      <a:pt x="19" y="37"/>
                      <a:pt x="19" y="37"/>
                    </a:cubicBezTo>
                    <a:cubicBezTo>
                      <a:pt x="10" y="15"/>
                      <a:pt x="10" y="15"/>
                      <a:pt x="10" y="15"/>
                    </a:cubicBezTo>
                    <a:cubicBezTo>
                      <a:pt x="5" y="15"/>
                      <a:pt x="0" y="20"/>
                      <a:pt x="0" y="25"/>
                    </a:cubicBezTo>
                    <a:cubicBezTo>
                      <a:pt x="0" y="137"/>
                      <a:pt x="0" y="137"/>
                      <a:pt x="0" y="137"/>
                    </a:cubicBezTo>
                    <a:cubicBezTo>
                      <a:pt x="0" y="143"/>
                      <a:pt x="5" y="148"/>
                      <a:pt x="10" y="148"/>
                    </a:cubicBezTo>
                    <a:cubicBezTo>
                      <a:pt x="93" y="148"/>
                      <a:pt x="93" y="148"/>
                      <a:pt x="93" y="148"/>
                    </a:cubicBezTo>
                    <a:cubicBezTo>
                      <a:pt x="99" y="148"/>
                      <a:pt x="103" y="143"/>
                      <a:pt x="103" y="137"/>
                    </a:cubicBezTo>
                    <a:cubicBezTo>
                      <a:pt x="103" y="25"/>
                      <a:pt x="103" y="25"/>
                      <a:pt x="103" y="25"/>
                    </a:cubicBezTo>
                    <a:cubicBezTo>
                      <a:pt x="103" y="20"/>
                      <a:pt x="99" y="15"/>
                      <a:pt x="93" y="15"/>
                    </a:cubicBezTo>
                    <a:close/>
                    <a:moveTo>
                      <a:pt x="78" y="30"/>
                    </a:moveTo>
                    <a:cubicBezTo>
                      <a:pt x="85" y="15"/>
                      <a:pt x="85" y="15"/>
                      <a:pt x="85" y="15"/>
                    </a:cubicBezTo>
                    <a:cubicBezTo>
                      <a:pt x="69" y="15"/>
                      <a:pt x="69" y="15"/>
                      <a:pt x="69" y="15"/>
                    </a:cubicBezTo>
                    <a:cubicBezTo>
                      <a:pt x="64" y="0"/>
                      <a:pt x="64" y="0"/>
                      <a:pt x="64" y="0"/>
                    </a:cubicBezTo>
                    <a:cubicBezTo>
                      <a:pt x="40" y="0"/>
                      <a:pt x="40" y="0"/>
                      <a:pt x="40" y="0"/>
                    </a:cubicBezTo>
                    <a:cubicBezTo>
                      <a:pt x="35" y="15"/>
                      <a:pt x="35" y="15"/>
                      <a:pt x="35" y="15"/>
                    </a:cubicBezTo>
                    <a:cubicBezTo>
                      <a:pt x="19" y="15"/>
                      <a:pt x="19" y="15"/>
                      <a:pt x="19" y="15"/>
                    </a:cubicBezTo>
                    <a:cubicBezTo>
                      <a:pt x="25" y="30"/>
                      <a:pt x="25" y="30"/>
                      <a:pt x="25" y="30"/>
                    </a:cubicBezTo>
                    <a:lnTo>
                      <a:pt x="78" y="30"/>
                    </a:lnTo>
                    <a:close/>
                  </a:path>
                </a:pathLst>
              </a:custGeom>
              <a:grp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50" b="0" i="0" u="none" strike="noStrike" kern="0" cap="none" spc="0" normalizeH="0" baseline="0" noProof="0">
                  <a:ln>
                    <a:noFill/>
                  </a:ln>
                  <a:solidFill>
                    <a:prstClr val="black"/>
                  </a:solidFill>
                  <a:effectLst/>
                  <a:uLnTx/>
                  <a:uFillTx/>
                  <a:latin typeface="Open Sans"/>
                  <a:ea typeface="+mn-ea"/>
                  <a:cs typeface="+mn-cs"/>
                </a:endParaRPr>
              </a:p>
            </p:txBody>
          </p:sp>
          <p:sp>
            <p:nvSpPr>
              <p:cNvPr id="14" name="Freeform 89">
                <a:extLst>
                  <a:ext uri="{FF2B5EF4-FFF2-40B4-BE49-F238E27FC236}">
                    <a16:creationId xmlns:a16="http://schemas.microsoft.com/office/drawing/2014/main" id="{C79685FE-0A28-4EB1-AC42-98F8D64EBFAC}"/>
                  </a:ext>
                </a:extLst>
              </p:cNvPr>
              <p:cNvSpPr>
                <a:spLocks noChangeAspect="1"/>
              </p:cNvSpPr>
              <p:nvPr/>
            </p:nvSpPr>
            <p:spPr bwMode="auto">
              <a:xfrm>
                <a:off x="7891879" y="3963511"/>
                <a:ext cx="376478" cy="392312"/>
              </a:xfrm>
              <a:custGeom>
                <a:avLst/>
                <a:gdLst>
                  <a:gd name="T0" fmla="*/ 38 w 101"/>
                  <a:gd name="T1" fmla="*/ 105 h 105"/>
                  <a:gd name="T2" fmla="*/ 29 w 101"/>
                  <a:gd name="T3" fmla="*/ 101 h 105"/>
                  <a:gd name="T4" fmla="*/ 3 w 101"/>
                  <a:gd name="T5" fmla="*/ 66 h 105"/>
                  <a:gd name="T6" fmla="*/ 5 w 101"/>
                  <a:gd name="T7" fmla="*/ 52 h 105"/>
                  <a:gd name="T8" fmla="*/ 19 w 101"/>
                  <a:gd name="T9" fmla="*/ 54 h 105"/>
                  <a:gd name="T10" fmla="*/ 37 w 101"/>
                  <a:gd name="T11" fmla="*/ 77 h 105"/>
                  <a:gd name="T12" fmla="*/ 80 w 101"/>
                  <a:gd name="T13" fmla="*/ 7 h 105"/>
                  <a:gd name="T14" fmla="*/ 94 w 101"/>
                  <a:gd name="T15" fmla="*/ 3 h 105"/>
                  <a:gd name="T16" fmla="*/ 98 w 101"/>
                  <a:gd name="T17" fmla="*/ 18 h 105"/>
                  <a:gd name="T18" fmla="*/ 46 w 101"/>
                  <a:gd name="T19" fmla="*/ 100 h 105"/>
                  <a:gd name="T20" fmla="*/ 38 w 101"/>
                  <a:gd name="T21" fmla="*/ 105 h 105"/>
                  <a:gd name="T22" fmla="*/ 38 w 101"/>
                  <a:gd name="T23"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105">
                    <a:moveTo>
                      <a:pt x="38" y="105"/>
                    </a:moveTo>
                    <a:cubicBezTo>
                      <a:pt x="34" y="105"/>
                      <a:pt x="31" y="104"/>
                      <a:pt x="29" y="101"/>
                    </a:cubicBezTo>
                    <a:cubicBezTo>
                      <a:pt x="3" y="66"/>
                      <a:pt x="3" y="66"/>
                      <a:pt x="3" y="66"/>
                    </a:cubicBezTo>
                    <a:cubicBezTo>
                      <a:pt x="0" y="62"/>
                      <a:pt x="0" y="55"/>
                      <a:pt x="5" y="52"/>
                    </a:cubicBezTo>
                    <a:cubicBezTo>
                      <a:pt x="9" y="48"/>
                      <a:pt x="16" y="49"/>
                      <a:pt x="19" y="54"/>
                    </a:cubicBezTo>
                    <a:cubicBezTo>
                      <a:pt x="37" y="77"/>
                      <a:pt x="37" y="77"/>
                      <a:pt x="37" y="77"/>
                    </a:cubicBezTo>
                    <a:cubicBezTo>
                      <a:pt x="80" y="7"/>
                      <a:pt x="80" y="7"/>
                      <a:pt x="80" y="7"/>
                    </a:cubicBezTo>
                    <a:cubicBezTo>
                      <a:pt x="83" y="2"/>
                      <a:pt x="90" y="0"/>
                      <a:pt x="94" y="3"/>
                    </a:cubicBezTo>
                    <a:cubicBezTo>
                      <a:pt x="99" y="6"/>
                      <a:pt x="101" y="13"/>
                      <a:pt x="98" y="18"/>
                    </a:cubicBezTo>
                    <a:cubicBezTo>
                      <a:pt x="46" y="100"/>
                      <a:pt x="46" y="100"/>
                      <a:pt x="46" y="100"/>
                    </a:cubicBezTo>
                    <a:cubicBezTo>
                      <a:pt x="44" y="103"/>
                      <a:pt x="41" y="105"/>
                      <a:pt x="38" y="105"/>
                    </a:cubicBezTo>
                    <a:cubicBezTo>
                      <a:pt x="38" y="105"/>
                      <a:pt x="38" y="105"/>
                      <a:pt x="38" y="105"/>
                    </a:cubicBezTo>
                    <a:close/>
                  </a:path>
                </a:pathLst>
              </a:custGeom>
              <a:solidFill>
                <a:srgbClr val="00A1DE"/>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5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15" name="Group 14">
            <a:extLst>
              <a:ext uri="{FF2B5EF4-FFF2-40B4-BE49-F238E27FC236}">
                <a16:creationId xmlns:a16="http://schemas.microsoft.com/office/drawing/2014/main" id="{5A5C047B-A743-48C6-B058-5A5B745DFEDF}"/>
              </a:ext>
            </a:extLst>
          </p:cNvPr>
          <p:cNvGrpSpPr/>
          <p:nvPr/>
        </p:nvGrpSpPr>
        <p:grpSpPr>
          <a:xfrm>
            <a:off x="5137887" y="2140782"/>
            <a:ext cx="381677" cy="430569"/>
            <a:chOff x="5579585" y="1691091"/>
            <a:chExt cx="648463" cy="798976"/>
          </a:xfrm>
        </p:grpSpPr>
        <p:sp>
          <p:nvSpPr>
            <p:cNvPr id="16" name="Rectangle 15">
              <a:extLst>
                <a:ext uri="{FF2B5EF4-FFF2-40B4-BE49-F238E27FC236}">
                  <a16:creationId xmlns:a16="http://schemas.microsoft.com/office/drawing/2014/main" id="{84C75568-16E4-4555-B7E6-30CFF5F851CE}"/>
                </a:ext>
              </a:extLst>
            </p:cNvPr>
            <p:cNvSpPr/>
            <p:nvPr/>
          </p:nvSpPr>
          <p:spPr bwMode="gray">
            <a:xfrm>
              <a:off x="5579585" y="1691091"/>
              <a:ext cx="648463" cy="798976"/>
            </a:xfrm>
            <a:prstGeom prst="rect">
              <a:avLst/>
            </a:prstGeom>
            <a:solidFill>
              <a:srgbClr val="00A1DE"/>
            </a:solidFill>
            <a:ln w="19050" algn="ctr">
              <a:noFill/>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0" cap="none" spc="0" normalizeH="0" baseline="0" noProof="0">
                <a:ln>
                  <a:noFill/>
                </a:ln>
                <a:solidFill>
                  <a:prstClr val="white"/>
                </a:solidFill>
                <a:effectLst/>
                <a:uLnTx/>
                <a:uFillTx/>
                <a:latin typeface="Open Sans"/>
                <a:ea typeface="+mn-ea"/>
                <a:cs typeface="+mn-cs"/>
              </a:endParaRPr>
            </a:p>
          </p:txBody>
        </p:sp>
        <p:sp>
          <p:nvSpPr>
            <p:cNvPr id="17" name="Freeform 145">
              <a:extLst>
                <a:ext uri="{FF2B5EF4-FFF2-40B4-BE49-F238E27FC236}">
                  <a16:creationId xmlns:a16="http://schemas.microsoft.com/office/drawing/2014/main" id="{BAD3EFB4-5C4C-4F22-8E1C-F90F2576CBF6}"/>
                </a:ext>
              </a:extLst>
            </p:cNvPr>
            <p:cNvSpPr>
              <a:spLocks noChangeAspect="1" noEditPoints="1"/>
            </p:cNvSpPr>
            <p:nvPr/>
          </p:nvSpPr>
          <p:spPr bwMode="auto">
            <a:xfrm>
              <a:off x="5632707" y="1869134"/>
              <a:ext cx="549126" cy="473917"/>
            </a:xfrm>
            <a:custGeom>
              <a:avLst/>
              <a:gdLst>
                <a:gd name="T0" fmla="*/ 111 w 147"/>
                <a:gd name="T1" fmla="*/ 38 h 125"/>
                <a:gd name="T2" fmla="*/ 116 w 147"/>
                <a:gd name="T3" fmla="*/ 38 h 125"/>
                <a:gd name="T4" fmla="*/ 116 w 147"/>
                <a:gd name="T5" fmla="*/ 53 h 125"/>
                <a:gd name="T6" fmla="*/ 147 w 147"/>
                <a:gd name="T7" fmla="*/ 26 h 125"/>
                <a:gd name="T8" fmla="*/ 116 w 147"/>
                <a:gd name="T9" fmla="*/ 0 h 125"/>
                <a:gd name="T10" fmla="*/ 116 w 147"/>
                <a:gd name="T11" fmla="*/ 17 h 125"/>
                <a:gd name="T12" fmla="*/ 111 w 147"/>
                <a:gd name="T13" fmla="*/ 17 h 125"/>
                <a:gd name="T14" fmla="*/ 55 w 147"/>
                <a:gd name="T15" fmla="*/ 55 h 125"/>
                <a:gd name="T16" fmla="*/ 15 w 147"/>
                <a:gd name="T17" fmla="*/ 85 h 125"/>
                <a:gd name="T18" fmla="*/ 0 w 147"/>
                <a:gd name="T19" fmla="*/ 85 h 125"/>
                <a:gd name="T20" fmla="*/ 0 w 147"/>
                <a:gd name="T21" fmla="*/ 106 h 125"/>
                <a:gd name="T22" fmla="*/ 15 w 147"/>
                <a:gd name="T23" fmla="*/ 106 h 125"/>
                <a:gd name="T24" fmla="*/ 71 w 147"/>
                <a:gd name="T25" fmla="*/ 68 h 125"/>
                <a:gd name="T26" fmla="*/ 111 w 147"/>
                <a:gd name="T27" fmla="*/ 38 h 125"/>
                <a:gd name="T28" fmla="*/ 40 w 147"/>
                <a:gd name="T29" fmla="*/ 51 h 125"/>
                <a:gd name="T30" fmla="*/ 43 w 147"/>
                <a:gd name="T31" fmla="*/ 46 h 125"/>
                <a:gd name="T32" fmla="*/ 52 w 147"/>
                <a:gd name="T33" fmla="*/ 35 h 125"/>
                <a:gd name="T34" fmla="*/ 15 w 147"/>
                <a:gd name="T35" fmla="*/ 19 h 125"/>
                <a:gd name="T36" fmla="*/ 0 w 147"/>
                <a:gd name="T37" fmla="*/ 19 h 125"/>
                <a:gd name="T38" fmla="*/ 0 w 147"/>
                <a:gd name="T39" fmla="*/ 39 h 125"/>
                <a:gd name="T40" fmla="*/ 15 w 147"/>
                <a:gd name="T41" fmla="*/ 39 h 125"/>
                <a:gd name="T42" fmla="*/ 40 w 147"/>
                <a:gd name="T43" fmla="*/ 51 h 125"/>
                <a:gd name="T44" fmla="*/ 116 w 147"/>
                <a:gd name="T45" fmla="*/ 87 h 125"/>
                <a:gd name="T46" fmla="*/ 111 w 147"/>
                <a:gd name="T47" fmla="*/ 87 h 125"/>
                <a:gd name="T48" fmla="*/ 85 w 147"/>
                <a:gd name="T49" fmla="*/ 74 h 125"/>
                <a:gd name="T50" fmla="*/ 83 w 147"/>
                <a:gd name="T51" fmla="*/ 77 h 125"/>
                <a:gd name="T52" fmla="*/ 72 w 147"/>
                <a:gd name="T53" fmla="*/ 90 h 125"/>
                <a:gd name="T54" fmla="*/ 111 w 147"/>
                <a:gd name="T55" fmla="*/ 107 h 125"/>
                <a:gd name="T56" fmla="*/ 116 w 147"/>
                <a:gd name="T57" fmla="*/ 107 h 125"/>
                <a:gd name="T58" fmla="*/ 116 w 147"/>
                <a:gd name="T59" fmla="*/ 125 h 125"/>
                <a:gd name="T60" fmla="*/ 147 w 147"/>
                <a:gd name="T61" fmla="*/ 98 h 125"/>
                <a:gd name="T62" fmla="*/ 116 w 147"/>
                <a:gd name="T63" fmla="*/ 72 h 125"/>
                <a:gd name="T64" fmla="*/ 116 w 147"/>
                <a:gd name="T65" fmla="*/ 8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7" h="125">
                  <a:moveTo>
                    <a:pt x="111" y="38"/>
                  </a:moveTo>
                  <a:cubicBezTo>
                    <a:pt x="116" y="38"/>
                    <a:pt x="116" y="38"/>
                    <a:pt x="116" y="38"/>
                  </a:cubicBezTo>
                  <a:cubicBezTo>
                    <a:pt x="116" y="53"/>
                    <a:pt x="116" y="53"/>
                    <a:pt x="116" y="53"/>
                  </a:cubicBezTo>
                  <a:cubicBezTo>
                    <a:pt x="147" y="26"/>
                    <a:pt x="147" y="26"/>
                    <a:pt x="147" y="26"/>
                  </a:cubicBezTo>
                  <a:cubicBezTo>
                    <a:pt x="116" y="0"/>
                    <a:pt x="116" y="0"/>
                    <a:pt x="116" y="0"/>
                  </a:cubicBezTo>
                  <a:cubicBezTo>
                    <a:pt x="116" y="17"/>
                    <a:pt x="116" y="17"/>
                    <a:pt x="116" y="17"/>
                  </a:cubicBezTo>
                  <a:cubicBezTo>
                    <a:pt x="111" y="17"/>
                    <a:pt x="111" y="17"/>
                    <a:pt x="111" y="17"/>
                  </a:cubicBezTo>
                  <a:cubicBezTo>
                    <a:pt x="84" y="17"/>
                    <a:pt x="68" y="37"/>
                    <a:pt x="55" y="55"/>
                  </a:cubicBezTo>
                  <a:cubicBezTo>
                    <a:pt x="43" y="71"/>
                    <a:pt x="32" y="85"/>
                    <a:pt x="15" y="85"/>
                  </a:cubicBezTo>
                  <a:cubicBezTo>
                    <a:pt x="0" y="85"/>
                    <a:pt x="0" y="85"/>
                    <a:pt x="0" y="85"/>
                  </a:cubicBezTo>
                  <a:cubicBezTo>
                    <a:pt x="0" y="106"/>
                    <a:pt x="0" y="106"/>
                    <a:pt x="0" y="106"/>
                  </a:cubicBezTo>
                  <a:cubicBezTo>
                    <a:pt x="15" y="106"/>
                    <a:pt x="15" y="106"/>
                    <a:pt x="15" y="106"/>
                  </a:cubicBezTo>
                  <a:cubicBezTo>
                    <a:pt x="42" y="106"/>
                    <a:pt x="58" y="86"/>
                    <a:pt x="71" y="68"/>
                  </a:cubicBezTo>
                  <a:cubicBezTo>
                    <a:pt x="83" y="52"/>
                    <a:pt x="94" y="38"/>
                    <a:pt x="111" y="38"/>
                  </a:cubicBezTo>
                  <a:close/>
                  <a:moveTo>
                    <a:pt x="40" y="51"/>
                  </a:moveTo>
                  <a:cubicBezTo>
                    <a:pt x="41" y="49"/>
                    <a:pt x="42" y="48"/>
                    <a:pt x="43" y="46"/>
                  </a:cubicBezTo>
                  <a:cubicBezTo>
                    <a:pt x="46" y="43"/>
                    <a:pt x="49" y="39"/>
                    <a:pt x="52" y="35"/>
                  </a:cubicBezTo>
                  <a:cubicBezTo>
                    <a:pt x="43" y="26"/>
                    <a:pt x="31" y="19"/>
                    <a:pt x="15" y="19"/>
                  </a:cubicBezTo>
                  <a:cubicBezTo>
                    <a:pt x="0" y="19"/>
                    <a:pt x="0" y="19"/>
                    <a:pt x="0" y="19"/>
                  </a:cubicBezTo>
                  <a:cubicBezTo>
                    <a:pt x="0" y="39"/>
                    <a:pt x="0" y="39"/>
                    <a:pt x="0" y="39"/>
                  </a:cubicBezTo>
                  <a:cubicBezTo>
                    <a:pt x="15" y="39"/>
                    <a:pt x="15" y="39"/>
                    <a:pt x="15" y="39"/>
                  </a:cubicBezTo>
                  <a:cubicBezTo>
                    <a:pt x="25" y="39"/>
                    <a:pt x="33" y="44"/>
                    <a:pt x="40" y="51"/>
                  </a:cubicBezTo>
                  <a:close/>
                  <a:moveTo>
                    <a:pt x="116" y="87"/>
                  </a:moveTo>
                  <a:cubicBezTo>
                    <a:pt x="111" y="87"/>
                    <a:pt x="111" y="87"/>
                    <a:pt x="111" y="87"/>
                  </a:cubicBezTo>
                  <a:cubicBezTo>
                    <a:pt x="101" y="87"/>
                    <a:pt x="93" y="81"/>
                    <a:pt x="85" y="74"/>
                  </a:cubicBezTo>
                  <a:cubicBezTo>
                    <a:pt x="85" y="75"/>
                    <a:pt x="84" y="76"/>
                    <a:pt x="83" y="77"/>
                  </a:cubicBezTo>
                  <a:cubicBezTo>
                    <a:pt x="80" y="81"/>
                    <a:pt x="76" y="86"/>
                    <a:pt x="72" y="90"/>
                  </a:cubicBezTo>
                  <a:cubicBezTo>
                    <a:pt x="82" y="100"/>
                    <a:pt x="95" y="107"/>
                    <a:pt x="111" y="107"/>
                  </a:cubicBezTo>
                  <a:cubicBezTo>
                    <a:pt x="116" y="107"/>
                    <a:pt x="116" y="107"/>
                    <a:pt x="116" y="107"/>
                  </a:cubicBezTo>
                  <a:cubicBezTo>
                    <a:pt x="116" y="125"/>
                    <a:pt x="116" y="125"/>
                    <a:pt x="116" y="125"/>
                  </a:cubicBezTo>
                  <a:cubicBezTo>
                    <a:pt x="147" y="98"/>
                    <a:pt x="147" y="98"/>
                    <a:pt x="147" y="98"/>
                  </a:cubicBezTo>
                  <a:cubicBezTo>
                    <a:pt x="116" y="72"/>
                    <a:pt x="116" y="72"/>
                    <a:pt x="116" y="72"/>
                  </a:cubicBezTo>
                  <a:lnTo>
                    <a:pt x="116" y="87"/>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50" b="0" i="0" u="none" strike="noStrike" kern="0" cap="none" spc="0" normalizeH="0" baseline="0" noProof="0">
                <a:ln>
                  <a:noFill/>
                </a:ln>
                <a:solidFill>
                  <a:prstClr val="black"/>
                </a:solidFill>
                <a:effectLst/>
                <a:uLnTx/>
                <a:uFillTx/>
                <a:latin typeface="Open Sans"/>
                <a:ea typeface="+mn-ea"/>
                <a:cs typeface="+mn-cs"/>
              </a:endParaRPr>
            </a:p>
          </p:txBody>
        </p:sp>
      </p:grpSp>
      <p:sp>
        <p:nvSpPr>
          <p:cNvPr id="18" name="TextBox 17">
            <a:extLst>
              <a:ext uri="{FF2B5EF4-FFF2-40B4-BE49-F238E27FC236}">
                <a16:creationId xmlns:a16="http://schemas.microsoft.com/office/drawing/2014/main" id="{A6F82933-E8D9-43BC-86DF-EF578F131B65}"/>
              </a:ext>
            </a:extLst>
          </p:cNvPr>
          <p:cNvSpPr txBox="1"/>
          <p:nvPr/>
        </p:nvSpPr>
        <p:spPr>
          <a:xfrm>
            <a:off x="5024585" y="1901254"/>
            <a:ext cx="576946" cy="184666"/>
          </a:xfrm>
          <a:prstGeom prst="rect">
            <a:avLst/>
          </a:prstGeom>
          <a:noFill/>
        </p:spPr>
        <p:txBody>
          <a:bodyPr wrap="square" lIns="0" tIns="0" rIns="0" bIns="0" rtlCol="0">
            <a:spAutoFit/>
          </a:bodyPr>
          <a:lstStyle/>
          <a:p>
            <a:pPr marL="0" marR="0" lvl="0" indent="0" algn="ctr" defTabSz="685800" rtl="0" eaLnBrk="1" fontAlgn="auto" latinLnBrk="0" hangingPunct="1">
              <a:lnSpc>
                <a:spcPct val="100000"/>
              </a:lnSpc>
              <a:spcBef>
                <a:spcPts val="450"/>
              </a:spcBef>
              <a:spcAft>
                <a:spcPts val="0"/>
              </a:spcAft>
              <a:buClrTx/>
              <a:buSzPct val="100000"/>
              <a:buFontTx/>
              <a:buNone/>
              <a:tabLst/>
              <a:defRPr/>
            </a:pPr>
            <a:r>
              <a:rPr kumimoji="0" lang="en-US" sz="600" b="0" i="0" u="none" strike="noStrike" kern="1200" cap="none" spc="0" normalizeH="0" baseline="0" noProof="0">
                <a:ln>
                  <a:noFill/>
                </a:ln>
                <a:solidFill>
                  <a:srgbClr val="002776"/>
                </a:solidFill>
                <a:effectLst/>
                <a:uLnTx/>
                <a:uFillTx/>
                <a:latin typeface="Open Sans" panose="020B0606030504020204" pitchFamily="34" charset="0"/>
                <a:ea typeface="Open Sans" panose="020B0606030504020204" pitchFamily="34" charset="0"/>
                <a:cs typeface="Open Sans" panose="020B0606030504020204" pitchFamily="34" charset="0"/>
              </a:rPr>
              <a:t>Process and Transform</a:t>
            </a:r>
          </a:p>
        </p:txBody>
      </p:sp>
      <p:sp>
        <p:nvSpPr>
          <p:cNvPr id="19" name="TextBox 18">
            <a:extLst>
              <a:ext uri="{FF2B5EF4-FFF2-40B4-BE49-F238E27FC236}">
                <a16:creationId xmlns:a16="http://schemas.microsoft.com/office/drawing/2014/main" id="{D5153055-6420-4A36-8BBF-49CCC1885FB3}"/>
              </a:ext>
            </a:extLst>
          </p:cNvPr>
          <p:cNvSpPr txBox="1"/>
          <p:nvPr/>
        </p:nvSpPr>
        <p:spPr>
          <a:xfrm>
            <a:off x="6168981" y="1892593"/>
            <a:ext cx="641063" cy="184666"/>
          </a:xfrm>
          <a:prstGeom prst="rect">
            <a:avLst/>
          </a:prstGeom>
          <a:noFill/>
        </p:spPr>
        <p:txBody>
          <a:bodyPr wrap="square" lIns="0" tIns="0" rIns="0" bIns="0" rtlCol="0">
            <a:spAutoFit/>
          </a:bodyPr>
          <a:lstStyle/>
          <a:p>
            <a:pPr marL="0" marR="0" lvl="0" indent="0" algn="ctr" defTabSz="685800" rtl="0" eaLnBrk="1" fontAlgn="auto" latinLnBrk="0" hangingPunct="1">
              <a:lnSpc>
                <a:spcPct val="100000"/>
              </a:lnSpc>
              <a:spcBef>
                <a:spcPts val="450"/>
              </a:spcBef>
              <a:spcAft>
                <a:spcPts val="0"/>
              </a:spcAft>
              <a:buClrTx/>
              <a:buSzPct val="100000"/>
              <a:buFontTx/>
              <a:buNone/>
              <a:tabLst/>
              <a:defRPr/>
            </a:pPr>
            <a:r>
              <a:rPr kumimoji="0" lang="en-US" sz="600" b="0" i="0" u="none" strike="noStrike" kern="1200" cap="none" spc="0" normalizeH="0" baseline="0" noProof="0">
                <a:ln>
                  <a:noFill/>
                </a:ln>
                <a:solidFill>
                  <a:srgbClr val="002776"/>
                </a:solidFill>
                <a:effectLst/>
                <a:uLnTx/>
                <a:uFillTx/>
                <a:latin typeface="Open Sans" panose="020B0606030504020204" pitchFamily="34" charset="0"/>
                <a:ea typeface="Open Sans" panose="020B0606030504020204" pitchFamily="34" charset="0"/>
                <a:cs typeface="Open Sans" panose="020B0606030504020204" pitchFamily="34" charset="0"/>
              </a:rPr>
              <a:t>Schedule Load to Oracle Cloud </a:t>
            </a:r>
          </a:p>
        </p:txBody>
      </p:sp>
      <p:cxnSp>
        <p:nvCxnSpPr>
          <p:cNvPr id="20" name="Straight Arrow Connector 19">
            <a:extLst>
              <a:ext uri="{FF2B5EF4-FFF2-40B4-BE49-F238E27FC236}">
                <a16:creationId xmlns:a16="http://schemas.microsoft.com/office/drawing/2014/main" id="{E3DAC40E-7ACE-4408-AD06-31E3A6A9EE1E}"/>
              </a:ext>
            </a:extLst>
          </p:cNvPr>
          <p:cNvCxnSpPr/>
          <p:nvPr/>
        </p:nvCxnSpPr>
        <p:spPr>
          <a:xfrm flipH="1" flipV="1">
            <a:off x="6109318" y="2351000"/>
            <a:ext cx="183497" cy="259"/>
          </a:xfrm>
          <a:prstGeom prst="straightConnector1">
            <a:avLst/>
          </a:prstGeom>
          <a:noFill/>
          <a:ln w="57150" cap="flat" cmpd="sng" algn="ctr">
            <a:solidFill>
              <a:srgbClr val="00A1DE"/>
            </a:solidFill>
            <a:prstDash val="solid"/>
            <a:headEnd type="triangle"/>
            <a:tailEnd type="none"/>
          </a:ln>
          <a:effectLst/>
        </p:spPr>
      </p:cxnSp>
      <p:cxnSp>
        <p:nvCxnSpPr>
          <p:cNvPr id="21" name="Straight Arrow Connector 20">
            <a:extLst>
              <a:ext uri="{FF2B5EF4-FFF2-40B4-BE49-F238E27FC236}">
                <a16:creationId xmlns:a16="http://schemas.microsoft.com/office/drawing/2014/main" id="{C3635D36-7F8B-4D0C-BFEC-8A1C6F27EBC7}"/>
              </a:ext>
            </a:extLst>
          </p:cNvPr>
          <p:cNvCxnSpPr/>
          <p:nvPr/>
        </p:nvCxnSpPr>
        <p:spPr>
          <a:xfrm flipH="1">
            <a:off x="4945858" y="2351330"/>
            <a:ext cx="187912" cy="974"/>
          </a:xfrm>
          <a:prstGeom prst="straightConnector1">
            <a:avLst/>
          </a:prstGeom>
          <a:noFill/>
          <a:ln w="57150" cap="flat" cmpd="sng" algn="ctr">
            <a:solidFill>
              <a:srgbClr val="00A1DE"/>
            </a:solidFill>
            <a:prstDash val="solid"/>
            <a:headEnd type="triangle"/>
            <a:tailEnd type="none"/>
          </a:ln>
          <a:effectLst/>
        </p:spPr>
      </p:cxnSp>
      <p:cxnSp>
        <p:nvCxnSpPr>
          <p:cNvPr id="22" name="Straight Arrow Connector 21">
            <a:extLst>
              <a:ext uri="{FF2B5EF4-FFF2-40B4-BE49-F238E27FC236}">
                <a16:creationId xmlns:a16="http://schemas.microsoft.com/office/drawing/2014/main" id="{6E87FE13-A25A-4E6B-B0F3-AF8BBE568CB7}"/>
              </a:ext>
            </a:extLst>
          </p:cNvPr>
          <p:cNvCxnSpPr/>
          <p:nvPr/>
        </p:nvCxnSpPr>
        <p:spPr>
          <a:xfrm flipH="1">
            <a:off x="5511330" y="2350999"/>
            <a:ext cx="187912" cy="331"/>
          </a:xfrm>
          <a:prstGeom prst="straightConnector1">
            <a:avLst/>
          </a:prstGeom>
          <a:noFill/>
          <a:ln w="57150" cap="flat" cmpd="sng" algn="ctr">
            <a:solidFill>
              <a:srgbClr val="00A1DE"/>
            </a:solidFill>
            <a:prstDash val="solid"/>
            <a:headEnd type="triangle"/>
            <a:tailEnd type="none"/>
          </a:ln>
          <a:effectLst/>
        </p:spPr>
      </p:cxnSp>
      <p:grpSp>
        <p:nvGrpSpPr>
          <p:cNvPr id="23" name="Group 22">
            <a:extLst>
              <a:ext uri="{FF2B5EF4-FFF2-40B4-BE49-F238E27FC236}">
                <a16:creationId xmlns:a16="http://schemas.microsoft.com/office/drawing/2014/main" id="{5ECF044E-3EFA-4FF6-9DA4-07D0B5E94BDD}"/>
              </a:ext>
            </a:extLst>
          </p:cNvPr>
          <p:cNvGrpSpPr/>
          <p:nvPr/>
        </p:nvGrpSpPr>
        <p:grpSpPr>
          <a:xfrm>
            <a:off x="5807659" y="2191950"/>
            <a:ext cx="228827" cy="270534"/>
            <a:chOff x="9520341" y="3925879"/>
            <a:chExt cx="1173867" cy="1181122"/>
          </a:xfrm>
          <a:solidFill>
            <a:schemeClr val="bg1"/>
          </a:solidFill>
        </p:grpSpPr>
        <p:sp>
          <p:nvSpPr>
            <p:cNvPr id="24" name="Rectangle 5">
              <a:extLst>
                <a:ext uri="{FF2B5EF4-FFF2-40B4-BE49-F238E27FC236}">
                  <a16:creationId xmlns:a16="http://schemas.microsoft.com/office/drawing/2014/main" id="{20AAF247-FAE9-4C8C-BC84-B92CF9255A85}"/>
                </a:ext>
              </a:extLst>
            </p:cNvPr>
            <p:cNvSpPr>
              <a:spLocks noChangeArrowheads="1"/>
            </p:cNvSpPr>
            <p:nvPr/>
          </p:nvSpPr>
          <p:spPr bwMode="gray">
            <a:xfrm rot="13486273">
              <a:off x="10016586" y="3925879"/>
              <a:ext cx="181377" cy="1173867"/>
            </a:xfrm>
            <a:prstGeom prst="rect">
              <a:avLst/>
            </a:prstGeom>
            <a:grpFill/>
            <a:ln w="9525">
              <a:noFill/>
              <a:miter lim="800000"/>
              <a:headEnd/>
              <a:tailEnd/>
            </a:ln>
          </p:spPr>
          <p:txBody>
            <a:bodyPr rot="10800000" wrap="none" lIns="34290" rIns="34290" anchor="ctr"/>
            <a:lstStyle/>
            <a:p>
              <a:pPr marL="0" marR="0" lvl="0" indent="0" algn="l" defTabSz="914378" rtl="0" eaLnBrk="1" fontAlgn="auto" latinLnBrk="0" hangingPunct="1">
                <a:lnSpc>
                  <a:spcPct val="100000"/>
                </a:lnSpc>
                <a:spcBef>
                  <a:spcPct val="5000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Open Sans"/>
                <a:ea typeface="+mn-ea"/>
                <a:cs typeface="+mn-cs"/>
              </a:endParaRPr>
            </a:p>
          </p:txBody>
        </p:sp>
        <p:sp>
          <p:nvSpPr>
            <p:cNvPr id="25" name="Rectangle 6">
              <a:extLst>
                <a:ext uri="{FF2B5EF4-FFF2-40B4-BE49-F238E27FC236}">
                  <a16:creationId xmlns:a16="http://schemas.microsoft.com/office/drawing/2014/main" id="{0C4116EA-1CC8-4E57-8974-10865304A00F}"/>
                </a:ext>
              </a:extLst>
            </p:cNvPr>
            <p:cNvSpPr>
              <a:spLocks noChangeArrowheads="1"/>
            </p:cNvSpPr>
            <p:nvPr/>
          </p:nvSpPr>
          <p:spPr bwMode="gray">
            <a:xfrm rot="18903012">
              <a:off x="10016586" y="3925879"/>
              <a:ext cx="181377" cy="1173867"/>
            </a:xfrm>
            <a:prstGeom prst="rect">
              <a:avLst/>
            </a:prstGeom>
            <a:grpFill/>
            <a:ln w="9525">
              <a:noFill/>
              <a:miter lim="800000"/>
              <a:headEnd/>
              <a:tailEnd/>
            </a:ln>
          </p:spPr>
          <p:txBody>
            <a:bodyPr wrap="none" lIns="34290" rIns="34290" anchor="ctr"/>
            <a:lstStyle/>
            <a:p>
              <a:pPr marL="0" marR="0" lvl="0" indent="0" algn="l" defTabSz="914378" rtl="0" eaLnBrk="1" fontAlgn="auto" latinLnBrk="0" hangingPunct="1">
                <a:lnSpc>
                  <a:spcPct val="100000"/>
                </a:lnSpc>
                <a:spcBef>
                  <a:spcPct val="5000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Open Sans"/>
                <a:ea typeface="+mn-ea"/>
                <a:cs typeface="+mn-cs"/>
              </a:endParaRPr>
            </a:p>
          </p:txBody>
        </p:sp>
        <p:sp>
          <p:nvSpPr>
            <p:cNvPr id="26" name="Rectangle 7">
              <a:extLst>
                <a:ext uri="{FF2B5EF4-FFF2-40B4-BE49-F238E27FC236}">
                  <a16:creationId xmlns:a16="http://schemas.microsoft.com/office/drawing/2014/main" id="{528F807E-2055-4942-B76E-10F04831B1C7}"/>
                </a:ext>
              </a:extLst>
            </p:cNvPr>
            <p:cNvSpPr>
              <a:spLocks noChangeArrowheads="1"/>
            </p:cNvSpPr>
            <p:nvPr/>
          </p:nvSpPr>
          <p:spPr bwMode="gray">
            <a:xfrm rot="16200000">
              <a:off x="10016586" y="3933133"/>
              <a:ext cx="181377" cy="1173867"/>
            </a:xfrm>
            <a:prstGeom prst="rect">
              <a:avLst/>
            </a:prstGeom>
            <a:grpFill/>
            <a:ln w="9525">
              <a:noFill/>
              <a:miter lim="800000"/>
              <a:headEnd/>
              <a:tailEnd/>
            </a:ln>
          </p:spPr>
          <p:txBody>
            <a:bodyPr vert="eaVert" wrap="none" lIns="34290" rIns="34290" anchor="ctr"/>
            <a:lstStyle/>
            <a:p>
              <a:pPr marL="0" marR="0" lvl="0" indent="0" algn="l" defTabSz="914378" rtl="0" eaLnBrk="1" fontAlgn="auto" latinLnBrk="0" hangingPunct="1">
                <a:lnSpc>
                  <a:spcPct val="100000"/>
                </a:lnSpc>
                <a:spcBef>
                  <a:spcPct val="5000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Open Sans"/>
                <a:ea typeface="+mn-ea"/>
                <a:cs typeface="+mn-cs"/>
              </a:endParaRPr>
            </a:p>
          </p:txBody>
        </p:sp>
        <p:sp>
          <p:nvSpPr>
            <p:cNvPr id="27" name="Rectangle 8">
              <a:extLst>
                <a:ext uri="{FF2B5EF4-FFF2-40B4-BE49-F238E27FC236}">
                  <a16:creationId xmlns:a16="http://schemas.microsoft.com/office/drawing/2014/main" id="{39190111-02E0-4E97-B268-3801375E8174}"/>
                </a:ext>
              </a:extLst>
            </p:cNvPr>
            <p:cNvSpPr>
              <a:spLocks noChangeArrowheads="1"/>
            </p:cNvSpPr>
            <p:nvPr/>
          </p:nvSpPr>
          <p:spPr bwMode="gray">
            <a:xfrm>
              <a:off x="10018038" y="3933134"/>
              <a:ext cx="181377" cy="1173867"/>
            </a:xfrm>
            <a:prstGeom prst="rect">
              <a:avLst/>
            </a:prstGeom>
            <a:grpFill/>
            <a:ln w="9525">
              <a:noFill/>
              <a:miter lim="800000"/>
              <a:headEnd/>
              <a:tailEnd/>
            </a:ln>
          </p:spPr>
          <p:txBody>
            <a:bodyPr wrap="none" lIns="34290" rIns="34290" anchor="ctr"/>
            <a:lstStyle/>
            <a:p>
              <a:pPr marL="0" marR="0" lvl="0" indent="0" algn="l" defTabSz="914378" rtl="0" eaLnBrk="1" fontAlgn="auto" latinLnBrk="0" hangingPunct="1">
                <a:lnSpc>
                  <a:spcPct val="100000"/>
                </a:lnSpc>
                <a:spcBef>
                  <a:spcPct val="5000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Open Sans"/>
                <a:ea typeface="+mn-ea"/>
                <a:cs typeface="+mn-cs"/>
              </a:endParaRPr>
            </a:p>
          </p:txBody>
        </p:sp>
        <p:sp>
          <p:nvSpPr>
            <p:cNvPr id="28" name="Oval 9">
              <a:extLst>
                <a:ext uri="{FF2B5EF4-FFF2-40B4-BE49-F238E27FC236}">
                  <a16:creationId xmlns:a16="http://schemas.microsoft.com/office/drawing/2014/main" id="{70ECFDAC-A7F1-419E-8D67-AAAEFF1D40DB}"/>
                </a:ext>
              </a:extLst>
            </p:cNvPr>
            <p:cNvSpPr>
              <a:spLocks noChangeArrowheads="1"/>
            </p:cNvSpPr>
            <p:nvPr/>
          </p:nvSpPr>
          <p:spPr bwMode="gray">
            <a:xfrm>
              <a:off x="9672698" y="4084039"/>
              <a:ext cx="872057" cy="872057"/>
            </a:xfrm>
            <a:prstGeom prst="ellipse">
              <a:avLst/>
            </a:prstGeom>
            <a:grpFill/>
            <a:ln w="9525">
              <a:noFill/>
              <a:round/>
              <a:headEnd/>
              <a:tailEnd/>
            </a:ln>
          </p:spPr>
          <p:txBody>
            <a:bodyPr wrap="none" lIns="34290" rIns="34290" anchor="ctr"/>
            <a:lstStyle/>
            <a:p>
              <a:pPr marL="0" marR="0" lvl="0" indent="0" algn="l" defTabSz="914378" rtl="0" eaLnBrk="1" fontAlgn="auto" latinLnBrk="0" hangingPunct="1">
                <a:lnSpc>
                  <a:spcPct val="100000"/>
                </a:lnSpc>
                <a:spcBef>
                  <a:spcPct val="5000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Open Sans"/>
                <a:ea typeface="+mn-ea"/>
                <a:cs typeface="+mn-cs"/>
              </a:endParaRPr>
            </a:p>
          </p:txBody>
        </p:sp>
        <p:sp>
          <p:nvSpPr>
            <p:cNvPr id="29" name="Oval 10">
              <a:extLst>
                <a:ext uri="{FF2B5EF4-FFF2-40B4-BE49-F238E27FC236}">
                  <a16:creationId xmlns:a16="http://schemas.microsoft.com/office/drawing/2014/main" id="{28440BC9-AC9F-4FAE-BB1C-5AF1AA2B1D5C}"/>
                </a:ext>
              </a:extLst>
            </p:cNvPr>
            <p:cNvSpPr>
              <a:spLocks noChangeArrowheads="1"/>
            </p:cNvSpPr>
            <p:nvPr/>
          </p:nvSpPr>
          <p:spPr bwMode="gray">
            <a:xfrm>
              <a:off x="9975958" y="4387300"/>
              <a:ext cx="265535" cy="265535"/>
            </a:xfrm>
            <a:prstGeom prst="ellipse">
              <a:avLst/>
            </a:prstGeom>
            <a:grpFill/>
            <a:ln w="9525">
              <a:noFill/>
              <a:round/>
              <a:headEnd/>
              <a:tailEnd/>
            </a:ln>
          </p:spPr>
          <p:txBody>
            <a:bodyPr wrap="none" lIns="34290" rIns="34290" anchor="ctr"/>
            <a:lstStyle/>
            <a:p>
              <a:pPr marL="0" marR="0" lvl="0" indent="0" algn="l" defTabSz="914378" rtl="0" eaLnBrk="1" fontAlgn="auto" latinLnBrk="0" hangingPunct="1">
                <a:lnSpc>
                  <a:spcPct val="100000"/>
                </a:lnSpc>
                <a:spcBef>
                  <a:spcPct val="5000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Open Sans"/>
                <a:ea typeface="+mn-ea"/>
                <a:cs typeface="+mn-cs"/>
              </a:endParaRPr>
            </a:p>
          </p:txBody>
        </p:sp>
      </p:grpSp>
      <p:sp>
        <p:nvSpPr>
          <p:cNvPr id="30" name="TextBox 29">
            <a:extLst>
              <a:ext uri="{FF2B5EF4-FFF2-40B4-BE49-F238E27FC236}">
                <a16:creationId xmlns:a16="http://schemas.microsoft.com/office/drawing/2014/main" id="{50F252F3-CC13-4516-9CF2-C0306F6F3B98}"/>
              </a:ext>
            </a:extLst>
          </p:cNvPr>
          <p:cNvSpPr txBox="1"/>
          <p:nvPr/>
        </p:nvSpPr>
        <p:spPr>
          <a:xfrm>
            <a:off x="5658683" y="1810291"/>
            <a:ext cx="542383" cy="276999"/>
          </a:xfrm>
          <a:prstGeom prst="rect">
            <a:avLst/>
          </a:prstGeom>
          <a:noFill/>
        </p:spPr>
        <p:txBody>
          <a:bodyPr wrap="square" lIns="0" tIns="0" rIns="0" bIns="0" rtlCol="0">
            <a:spAutoFit/>
          </a:bodyPr>
          <a:lstStyle/>
          <a:p>
            <a:pPr marL="0" marR="0" lvl="0" indent="0" algn="ctr" defTabSz="685800" rtl="0" eaLnBrk="1" fontAlgn="auto" latinLnBrk="0" hangingPunct="1">
              <a:lnSpc>
                <a:spcPct val="100000"/>
              </a:lnSpc>
              <a:spcBef>
                <a:spcPts val="450"/>
              </a:spcBef>
              <a:spcAft>
                <a:spcPts val="0"/>
              </a:spcAft>
              <a:buClrTx/>
              <a:buSzPct val="100000"/>
              <a:buFontTx/>
              <a:buNone/>
              <a:tabLst/>
              <a:defRPr/>
            </a:pPr>
            <a:r>
              <a:rPr kumimoji="0" lang="en-US" sz="600" b="0" i="0" u="none" strike="noStrike" kern="1200" cap="none" spc="0" normalizeH="0" baseline="0" noProof="0">
                <a:ln>
                  <a:noFill/>
                </a:ln>
                <a:solidFill>
                  <a:srgbClr val="002776"/>
                </a:solidFill>
                <a:effectLst/>
                <a:uLnTx/>
                <a:uFillTx/>
                <a:latin typeface="Open Sans" panose="020B0606030504020204" pitchFamily="34" charset="0"/>
                <a:ea typeface="Open Sans" panose="020B0606030504020204" pitchFamily="34" charset="0"/>
                <a:cs typeface="Open Sans" panose="020B0606030504020204" pitchFamily="34" charset="0"/>
              </a:rPr>
              <a:t>Generate output in Target format</a:t>
            </a:r>
          </a:p>
        </p:txBody>
      </p:sp>
      <p:sp>
        <p:nvSpPr>
          <p:cNvPr id="31" name="Freeform 152">
            <a:extLst>
              <a:ext uri="{FF2B5EF4-FFF2-40B4-BE49-F238E27FC236}">
                <a16:creationId xmlns:a16="http://schemas.microsoft.com/office/drawing/2014/main" id="{5FABCA56-A2A1-4BE3-9A28-912470F5CAA4}"/>
              </a:ext>
            </a:extLst>
          </p:cNvPr>
          <p:cNvSpPr>
            <a:spLocks noChangeAspect="1" noEditPoints="1"/>
          </p:cNvSpPr>
          <p:nvPr/>
        </p:nvSpPr>
        <p:spPr bwMode="auto">
          <a:xfrm>
            <a:off x="6356068" y="2201724"/>
            <a:ext cx="280496" cy="313466"/>
          </a:xfrm>
          <a:custGeom>
            <a:avLst/>
            <a:gdLst>
              <a:gd name="T0" fmla="*/ 78 w 139"/>
              <a:gd name="T1" fmla="*/ 0 h 121"/>
              <a:gd name="T2" fmla="*/ 18 w 139"/>
              <a:gd name="T3" fmla="*/ 59 h 121"/>
              <a:gd name="T4" fmla="*/ 0 w 139"/>
              <a:gd name="T5" fmla="*/ 59 h 121"/>
              <a:gd name="T6" fmla="*/ 27 w 139"/>
              <a:gd name="T7" fmla="*/ 89 h 121"/>
              <a:gd name="T8" fmla="*/ 54 w 139"/>
              <a:gd name="T9" fmla="*/ 59 h 121"/>
              <a:gd name="T10" fmla="*/ 33 w 139"/>
              <a:gd name="T11" fmla="*/ 59 h 121"/>
              <a:gd name="T12" fmla="*/ 78 w 139"/>
              <a:gd name="T13" fmla="*/ 15 h 121"/>
              <a:gd name="T14" fmla="*/ 124 w 139"/>
              <a:gd name="T15" fmla="*/ 61 h 121"/>
              <a:gd name="T16" fmla="*/ 78 w 139"/>
              <a:gd name="T17" fmla="*/ 106 h 121"/>
              <a:gd name="T18" fmla="*/ 52 w 139"/>
              <a:gd name="T19" fmla="*/ 97 h 121"/>
              <a:gd name="T20" fmla="*/ 41 w 139"/>
              <a:gd name="T21" fmla="*/ 108 h 121"/>
              <a:gd name="T22" fmla="*/ 78 w 139"/>
              <a:gd name="T23" fmla="*/ 121 h 121"/>
              <a:gd name="T24" fmla="*/ 139 w 139"/>
              <a:gd name="T25" fmla="*/ 61 h 121"/>
              <a:gd name="T26" fmla="*/ 78 w 139"/>
              <a:gd name="T27" fmla="*/ 0 h 121"/>
              <a:gd name="T28" fmla="*/ 73 w 139"/>
              <a:gd name="T29" fmla="*/ 28 h 121"/>
              <a:gd name="T30" fmla="*/ 73 w 139"/>
              <a:gd name="T31" fmla="*/ 63 h 121"/>
              <a:gd name="T32" fmla="*/ 95 w 139"/>
              <a:gd name="T33" fmla="*/ 85 h 121"/>
              <a:gd name="T34" fmla="*/ 103 w 139"/>
              <a:gd name="T35" fmla="*/ 78 h 121"/>
              <a:gd name="T36" fmla="*/ 83 w 139"/>
              <a:gd name="T37" fmla="*/ 58 h 121"/>
              <a:gd name="T38" fmla="*/ 83 w 139"/>
              <a:gd name="T39" fmla="*/ 28 h 121"/>
              <a:gd name="T40" fmla="*/ 73 w 139"/>
              <a:gd name="T41" fmla="*/ 28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9" h="121">
                <a:moveTo>
                  <a:pt x="78" y="0"/>
                </a:moveTo>
                <a:cubicBezTo>
                  <a:pt x="46" y="0"/>
                  <a:pt x="19" y="26"/>
                  <a:pt x="18" y="59"/>
                </a:cubicBezTo>
                <a:cubicBezTo>
                  <a:pt x="0" y="59"/>
                  <a:pt x="0" y="59"/>
                  <a:pt x="0" y="59"/>
                </a:cubicBezTo>
                <a:cubicBezTo>
                  <a:pt x="27" y="89"/>
                  <a:pt x="27" y="89"/>
                  <a:pt x="27" y="89"/>
                </a:cubicBezTo>
                <a:cubicBezTo>
                  <a:pt x="54" y="59"/>
                  <a:pt x="54" y="59"/>
                  <a:pt x="54" y="59"/>
                </a:cubicBezTo>
                <a:cubicBezTo>
                  <a:pt x="33" y="59"/>
                  <a:pt x="33" y="59"/>
                  <a:pt x="33" y="59"/>
                </a:cubicBezTo>
                <a:cubicBezTo>
                  <a:pt x="34" y="35"/>
                  <a:pt x="54" y="15"/>
                  <a:pt x="78" y="15"/>
                </a:cubicBezTo>
                <a:cubicBezTo>
                  <a:pt x="103" y="15"/>
                  <a:pt x="124" y="36"/>
                  <a:pt x="124" y="61"/>
                </a:cubicBezTo>
                <a:cubicBezTo>
                  <a:pt x="124" y="86"/>
                  <a:pt x="103" y="106"/>
                  <a:pt x="78" y="106"/>
                </a:cubicBezTo>
                <a:cubicBezTo>
                  <a:pt x="68" y="106"/>
                  <a:pt x="59" y="103"/>
                  <a:pt x="52" y="97"/>
                </a:cubicBezTo>
                <a:cubicBezTo>
                  <a:pt x="41" y="108"/>
                  <a:pt x="41" y="108"/>
                  <a:pt x="41" y="108"/>
                </a:cubicBezTo>
                <a:cubicBezTo>
                  <a:pt x="52" y="116"/>
                  <a:pt x="64" y="121"/>
                  <a:pt x="78" y="121"/>
                </a:cubicBezTo>
                <a:cubicBezTo>
                  <a:pt x="112" y="121"/>
                  <a:pt x="139" y="94"/>
                  <a:pt x="139" y="61"/>
                </a:cubicBezTo>
                <a:cubicBezTo>
                  <a:pt x="139" y="27"/>
                  <a:pt x="112" y="0"/>
                  <a:pt x="78" y="0"/>
                </a:cubicBezTo>
                <a:close/>
                <a:moveTo>
                  <a:pt x="73" y="28"/>
                </a:moveTo>
                <a:cubicBezTo>
                  <a:pt x="73" y="63"/>
                  <a:pt x="73" y="63"/>
                  <a:pt x="73" y="63"/>
                </a:cubicBezTo>
                <a:cubicBezTo>
                  <a:pt x="95" y="85"/>
                  <a:pt x="95" y="85"/>
                  <a:pt x="95" y="85"/>
                </a:cubicBezTo>
                <a:cubicBezTo>
                  <a:pt x="103" y="78"/>
                  <a:pt x="103" y="78"/>
                  <a:pt x="103" y="78"/>
                </a:cubicBezTo>
                <a:cubicBezTo>
                  <a:pt x="83" y="58"/>
                  <a:pt x="83" y="58"/>
                  <a:pt x="83" y="58"/>
                </a:cubicBezTo>
                <a:cubicBezTo>
                  <a:pt x="83" y="28"/>
                  <a:pt x="83" y="28"/>
                  <a:pt x="83" y="28"/>
                </a:cubicBezTo>
                <a:lnTo>
                  <a:pt x="73" y="28"/>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50" b="0" i="0" u="none" strike="noStrike" kern="0" cap="none" spc="0" normalizeH="0" baseline="0" noProof="0">
              <a:ln>
                <a:noFill/>
              </a:ln>
              <a:solidFill>
                <a:prstClr val="black"/>
              </a:solidFill>
              <a:effectLst/>
              <a:uLnTx/>
              <a:uFillTx/>
              <a:latin typeface="Open Sans"/>
              <a:ea typeface="+mn-ea"/>
              <a:cs typeface="+mn-cs"/>
            </a:endParaRPr>
          </a:p>
        </p:txBody>
      </p:sp>
      <p:grpSp>
        <p:nvGrpSpPr>
          <p:cNvPr id="32" name="Group 31">
            <a:extLst>
              <a:ext uri="{FF2B5EF4-FFF2-40B4-BE49-F238E27FC236}">
                <a16:creationId xmlns:a16="http://schemas.microsoft.com/office/drawing/2014/main" id="{473B3F93-3BC0-4FF6-BA0E-343EB1ADCAAA}"/>
              </a:ext>
            </a:extLst>
          </p:cNvPr>
          <p:cNvGrpSpPr/>
          <p:nvPr/>
        </p:nvGrpSpPr>
        <p:grpSpPr>
          <a:xfrm>
            <a:off x="3978755" y="2144105"/>
            <a:ext cx="387909" cy="440784"/>
            <a:chOff x="7404414" y="3257458"/>
            <a:chExt cx="648463" cy="798976"/>
          </a:xfrm>
        </p:grpSpPr>
        <p:sp>
          <p:nvSpPr>
            <p:cNvPr id="33" name="Rectangle 32">
              <a:extLst>
                <a:ext uri="{FF2B5EF4-FFF2-40B4-BE49-F238E27FC236}">
                  <a16:creationId xmlns:a16="http://schemas.microsoft.com/office/drawing/2014/main" id="{7480EF32-1B3C-44B1-950B-6EFE82CB5598}"/>
                </a:ext>
              </a:extLst>
            </p:cNvPr>
            <p:cNvSpPr/>
            <p:nvPr/>
          </p:nvSpPr>
          <p:spPr bwMode="gray">
            <a:xfrm>
              <a:off x="7404414" y="3257458"/>
              <a:ext cx="648463" cy="798976"/>
            </a:xfrm>
            <a:prstGeom prst="rect">
              <a:avLst/>
            </a:prstGeom>
            <a:solidFill>
              <a:srgbClr val="00A1DE"/>
            </a:solidFill>
            <a:ln w="19050" algn="ctr">
              <a:noFill/>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0" cap="none" spc="0" normalizeH="0" baseline="0" noProof="0">
                <a:ln>
                  <a:noFill/>
                </a:ln>
                <a:solidFill>
                  <a:prstClr val="white"/>
                </a:solidFill>
                <a:effectLst/>
                <a:uLnTx/>
                <a:uFillTx/>
                <a:latin typeface="Open Sans"/>
                <a:ea typeface="+mn-ea"/>
                <a:cs typeface="+mn-cs"/>
              </a:endParaRPr>
            </a:p>
          </p:txBody>
        </p:sp>
        <p:sp>
          <p:nvSpPr>
            <p:cNvPr id="34" name="Freeform 89">
              <a:extLst>
                <a:ext uri="{FF2B5EF4-FFF2-40B4-BE49-F238E27FC236}">
                  <a16:creationId xmlns:a16="http://schemas.microsoft.com/office/drawing/2014/main" id="{D4249D27-D392-460B-8C41-DF3344E943E8}"/>
                </a:ext>
              </a:extLst>
            </p:cNvPr>
            <p:cNvSpPr>
              <a:spLocks noChangeAspect="1"/>
            </p:cNvSpPr>
            <p:nvPr/>
          </p:nvSpPr>
          <p:spPr bwMode="auto">
            <a:xfrm>
              <a:off x="7625336" y="3631231"/>
              <a:ext cx="294651" cy="288343"/>
            </a:xfrm>
            <a:custGeom>
              <a:avLst/>
              <a:gdLst>
                <a:gd name="T0" fmla="*/ 38 w 101"/>
                <a:gd name="T1" fmla="*/ 105 h 105"/>
                <a:gd name="T2" fmla="*/ 29 w 101"/>
                <a:gd name="T3" fmla="*/ 101 h 105"/>
                <a:gd name="T4" fmla="*/ 3 w 101"/>
                <a:gd name="T5" fmla="*/ 66 h 105"/>
                <a:gd name="T6" fmla="*/ 5 w 101"/>
                <a:gd name="T7" fmla="*/ 52 h 105"/>
                <a:gd name="T8" fmla="*/ 19 w 101"/>
                <a:gd name="T9" fmla="*/ 54 h 105"/>
                <a:gd name="T10" fmla="*/ 37 w 101"/>
                <a:gd name="T11" fmla="*/ 77 h 105"/>
                <a:gd name="T12" fmla="*/ 80 w 101"/>
                <a:gd name="T13" fmla="*/ 7 h 105"/>
                <a:gd name="T14" fmla="*/ 94 w 101"/>
                <a:gd name="T15" fmla="*/ 3 h 105"/>
                <a:gd name="T16" fmla="*/ 98 w 101"/>
                <a:gd name="T17" fmla="*/ 18 h 105"/>
                <a:gd name="T18" fmla="*/ 46 w 101"/>
                <a:gd name="T19" fmla="*/ 100 h 105"/>
                <a:gd name="T20" fmla="*/ 38 w 101"/>
                <a:gd name="T21" fmla="*/ 105 h 105"/>
                <a:gd name="T22" fmla="*/ 38 w 101"/>
                <a:gd name="T23"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105">
                  <a:moveTo>
                    <a:pt x="38" y="105"/>
                  </a:moveTo>
                  <a:cubicBezTo>
                    <a:pt x="34" y="105"/>
                    <a:pt x="31" y="104"/>
                    <a:pt x="29" y="101"/>
                  </a:cubicBezTo>
                  <a:cubicBezTo>
                    <a:pt x="3" y="66"/>
                    <a:pt x="3" y="66"/>
                    <a:pt x="3" y="66"/>
                  </a:cubicBezTo>
                  <a:cubicBezTo>
                    <a:pt x="0" y="62"/>
                    <a:pt x="0" y="55"/>
                    <a:pt x="5" y="52"/>
                  </a:cubicBezTo>
                  <a:cubicBezTo>
                    <a:pt x="9" y="48"/>
                    <a:pt x="16" y="49"/>
                    <a:pt x="19" y="54"/>
                  </a:cubicBezTo>
                  <a:cubicBezTo>
                    <a:pt x="37" y="77"/>
                    <a:pt x="37" y="77"/>
                    <a:pt x="37" y="77"/>
                  </a:cubicBezTo>
                  <a:cubicBezTo>
                    <a:pt x="80" y="7"/>
                    <a:pt x="80" y="7"/>
                    <a:pt x="80" y="7"/>
                  </a:cubicBezTo>
                  <a:cubicBezTo>
                    <a:pt x="83" y="2"/>
                    <a:pt x="90" y="0"/>
                    <a:pt x="94" y="3"/>
                  </a:cubicBezTo>
                  <a:cubicBezTo>
                    <a:pt x="99" y="6"/>
                    <a:pt x="101" y="13"/>
                    <a:pt x="98" y="18"/>
                  </a:cubicBezTo>
                  <a:cubicBezTo>
                    <a:pt x="46" y="100"/>
                    <a:pt x="46" y="100"/>
                    <a:pt x="46" y="100"/>
                  </a:cubicBezTo>
                  <a:cubicBezTo>
                    <a:pt x="44" y="103"/>
                    <a:pt x="41" y="105"/>
                    <a:pt x="38" y="105"/>
                  </a:cubicBezTo>
                  <a:cubicBezTo>
                    <a:pt x="38" y="105"/>
                    <a:pt x="38" y="105"/>
                    <a:pt x="38" y="105"/>
                  </a:cubicBezTo>
                  <a:close/>
                </a:path>
              </a:pathLst>
            </a:custGeom>
            <a:solidFill>
              <a:srgbClr val="00A1DE"/>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50" b="0" i="0" u="none" strike="noStrike" kern="0" cap="none" spc="0" normalizeH="0" baseline="0" noProof="0">
                <a:ln>
                  <a:noFill/>
                </a:ln>
                <a:solidFill>
                  <a:prstClr val="black"/>
                </a:solidFill>
                <a:effectLst/>
                <a:uLnTx/>
                <a:uFillTx/>
                <a:latin typeface="Open Sans"/>
                <a:ea typeface="+mn-ea"/>
                <a:cs typeface="+mn-cs"/>
              </a:endParaRPr>
            </a:p>
          </p:txBody>
        </p:sp>
      </p:grpSp>
      <p:sp>
        <p:nvSpPr>
          <p:cNvPr id="35" name="Oval 9">
            <a:extLst>
              <a:ext uri="{FF2B5EF4-FFF2-40B4-BE49-F238E27FC236}">
                <a16:creationId xmlns:a16="http://schemas.microsoft.com/office/drawing/2014/main" id="{C3C49869-B82C-4E35-8EFD-9BFA6B0329BE}"/>
              </a:ext>
            </a:extLst>
          </p:cNvPr>
          <p:cNvSpPr>
            <a:spLocks noChangeArrowheads="1"/>
          </p:cNvSpPr>
          <p:nvPr/>
        </p:nvSpPr>
        <p:spPr bwMode="gray">
          <a:xfrm>
            <a:off x="4065549" y="2244164"/>
            <a:ext cx="169994" cy="199743"/>
          </a:xfrm>
          <a:prstGeom prst="ellipse">
            <a:avLst/>
          </a:prstGeom>
          <a:solidFill>
            <a:schemeClr val="bg1"/>
          </a:solidFill>
          <a:ln w="9525">
            <a:noFill/>
            <a:round/>
            <a:headEnd/>
            <a:tailEnd/>
          </a:ln>
        </p:spPr>
        <p:txBody>
          <a:bodyPr wrap="none" lIns="34290" rIns="34290" anchor="ctr"/>
          <a:lstStyle/>
          <a:p>
            <a:pPr marL="0" marR="0" lvl="0" indent="0" algn="l" defTabSz="914378" rtl="0" eaLnBrk="1" fontAlgn="auto" latinLnBrk="0" hangingPunct="1">
              <a:lnSpc>
                <a:spcPct val="100000"/>
              </a:lnSpc>
              <a:spcBef>
                <a:spcPct val="5000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Open Sans"/>
              <a:ea typeface="+mn-ea"/>
              <a:cs typeface="+mn-cs"/>
            </a:endParaRPr>
          </a:p>
        </p:txBody>
      </p:sp>
      <p:cxnSp>
        <p:nvCxnSpPr>
          <p:cNvPr id="36" name="Straight Arrow Connector 35">
            <a:extLst>
              <a:ext uri="{FF2B5EF4-FFF2-40B4-BE49-F238E27FC236}">
                <a16:creationId xmlns:a16="http://schemas.microsoft.com/office/drawing/2014/main" id="{7D1AD899-F221-46A9-8F0A-680D0DADD81D}"/>
              </a:ext>
            </a:extLst>
          </p:cNvPr>
          <p:cNvCxnSpPr/>
          <p:nvPr/>
        </p:nvCxnSpPr>
        <p:spPr>
          <a:xfrm flipH="1">
            <a:off x="4373845" y="2358457"/>
            <a:ext cx="187912" cy="974"/>
          </a:xfrm>
          <a:prstGeom prst="straightConnector1">
            <a:avLst/>
          </a:prstGeom>
          <a:noFill/>
          <a:ln w="57150" cap="flat" cmpd="sng" algn="ctr">
            <a:solidFill>
              <a:srgbClr val="00A1DE"/>
            </a:solidFill>
            <a:prstDash val="solid"/>
            <a:headEnd type="triangle"/>
            <a:tailEnd type="none"/>
          </a:ln>
          <a:effectLst/>
        </p:spPr>
      </p:cxnSp>
      <p:sp>
        <p:nvSpPr>
          <p:cNvPr id="37" name="Rectangle 36">
            <a:extLst>
              <a:ext uri="{FF2B5EF4-FFF2-40B4-BE49-F238E27FC236}">
                <a16:creationId xmlns:a16="http://schemas.microsoft.com/office/drawing/2014/main" id="{9F3DE3DA-7F6F-40F2-80D1-2E2622AFCEBC}"/>
              </a:ext>
            </a:extLst>
          </p:cNvPr>
          <p:cNvSpPr/>
          <p:nvPr/>
        </p:nvSpPr>
        <p:spPr bwMode="gray">
          <a:xfrm>
            <a:off x="3811189" y="1583503"/>
            <a:ext cx="3140192" cy="1264980"/>
          </a:xfrm>
          <a:prstGeom prst="rect">
            <a:avLst/>
          </a:prstGeom>
          <a:noFill/>
          <a:ln w="12700" algn="ctr">
            <a:solidFill>
              <a:srgbClr val="92D050"/>
            </a:solidFill>
            <a:prstDash val="dash"/>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0" cap="none" spc="0" normalizeH="0" baseline="0" noProof="0">
              <a:ln>
                <a:noFill/>
              </a:ln>
              <a:solidFill>
                <a:prstClr val="white"/>
              </a:solidFill>
              <a:effectLst/>
              <a:uLnTx/>
              <a:uFillTx/>
              <a:latin typeface="Open Sans"/>
              <a:ea typeface="+mn-ea"/>
              <a:cs typeface="+mn-cs"/>
            </a:endParaRPr>
          </a:p>
        </p:txBody>
      </p:sp>
      <p:sp>
        <p:nvSpPr>
          <p:cNvPr id="38" name="Rectangle 37">
            <a:extLst>
              <a:ext uri="{FF2B5EF4-FFF2-40B4-BE49-F238E27FC236}">
                <a16:creationId xmlns:a16="http://schemas.microsoft.com/office/drawing/2014/main" id="{4C9143BB-84D4-49CA-B53C-3F407686C750}"/>
              </a:ext>
            </a:extLst>
          </p:cNvPr>
          <p:cNvSpPr/>
          <p:nvPr/>
        </p:nvSpPr>
        <p:spPr bwMode="gray">
          <a:xfrm>
            <a:off x="3911586" y="1681534"/>
            <a:ext cx="2922308" cy="972487"/>
          </a:xfrm>
          <a:prstGeom prst="rect">
            <a:avLst/>
          </a:prstGeom>
          <a:noFill/>
          <a:ln w="38100" algn="ctr">
            <a:solidFill>
              <a:schemeClr val="accent2"/>
            </a:solidFill>
            <a:prstDash val="solid"/>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1200" cap="none" spc="0" normalizeH="0" baseline="0" noProof="0">
              <a:ln>
                <a:noFill/>
              </a:ln>
              <a:solidFill>
                <a:prstClr val="white"/>
              </a:solidFill>
              <a:effectLst/>
              <a:uLnTx/>
              <a:uFillTx/>
              <a:latin typeface="Open Sans"/>
              <a:ea typeface="+mn-ea"/>
              <a:cs typeface="+mn-cs"/>
            </a:endParaRPr>
          </a:p>
        </p:txBody>
      </p:sp>
      <p:sp>
        <p:nvSpPr>
          <p:cNvPr id="39" name="Rectangle 38">
            <a:extLst>
              <a:ext uri="{FF2B5EF4-FFF2-40B4-BE49-F238E27FC236}">
                <a16:creationId xmlns:a16="http://schemas.microsoft.com/office/drawing/2014/main" id="{4523270F-DE9F-43B7-8748-160402994C0B}"/>
              </a:ext>
            </a:extLst>
          </p:cNvPr>
          <p:cNvSpPr/>
          <p:nvPr/>
        </p:nvSpPr>
        <p:spPr bwMode="auto">
          <a:xfrm>
            <a:off x="7689740" y="1592932"/>
            <a:ext cx="3079191" cy="1371669"/>
          </a:xfrm>
          <a:prstGeom prst="rect">
            <a:avLst/>
          </a:prstGeom>
          <a:solidFill>
            <a:schemeClr val="bg1"/>
          </a:solidFill>
          <a:ln w="12700" cap="flat" cmpd="sng" algn="ctr">
            <a:solidFill>
              <a:schemeClr val="tx1"/>
            </a:solidFill>
            <a:prstDash val="solid"/>
            <a:round/>
            <a:headEnd type="none" w="med" len="med"/>
            <a:tailEnd type="none" w="med" len="med"/>
          </a:ln>
          <a:effectLst/>
        </p:spPr>
        <p:txBody>
          <a:bodyPr lIns="67366" tIns="33684" rIns="67366" bIns="33684" rtlCol="0" anchor="ctr"/>
          <a:lstStyle/>
          <a:p>
            <a:pPr marL="0" marR="0" lvl="0" indent="0" algn="ctr" defTabSz="685132" rtl="0" eaLnBrk="1" fontAlgn="base" latinLnBrk="0" hangingPunct="1">
              <a:lnSpc>
                <a:spcPct val="106000"/>
              </a:lnSpc>
              <a:spcBef>
                <a:spcPct val="80000"/>
              </a:spcBef>
              <a:spcAft>
                <a:spcPct val="0"/>
              </a:spcAft>
              <a:buClr>
                <a:srgbClr val="000000"/>
              </a:buClr>
              <a:buSzPct val="80000"/>
              <a:buFontTx/>
              <a:buNone/>
              <a:tabLst/>
              <a:defRPr/>
            </a:pPr>
            <a:endParaRPr kumimoji="0" lang="en-US" sz="698" b="1"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Box 10">
            <a:extLst>
              <a:ext uri="{FF2B5EF4-FFF2-40B4-BE49-F238E27FC236}">
                <a16:creationId xmlns:a16="http://schemas.microsoft.com/office/drawing/2014/main" id="{FEA4277B-EFAA-4B3E-B73C-DD55AF7B94BF}"/>
              </a:ext>
            </a:extLst>
          </p:cNvPr>
          <p:cNvSpPr txBox="1">
            <a:spLocks noChangeArrowheads="1"/>
          </p:cNvSpPr>
          <p:nvPr/>
        </p:nvSpPr>
        <p:spPr bwMode="auto">
          <a:xfrm>
            <a:off x="7678817" y="1267284"/>
            <a:ext cx="3101036" cy="328160"/>
          </a:xfrm>
          <a:prstGeom prst="rect">
            <a:avLst/>
          </a:prstGeom>
          <a:solidFill>
            <a:srgbClr val="62B5E5"/>
          </a:solidFill>
          <a:ln w="19050" algn="ctr">
            <a:noFill/>
            <a:miter lim="800000"/>
            <a:headEnd/>
            <a:tailEnd/>
          </a:ln>
        </p:spPr>
        <p:txBody>
          <a:bodyPr wrap="square" lIns="88900" tIns="88900" rIns="88900" bIns="88900" rtlCol="0" anchor="ctr"/>
          <a:lstStyle>
            <a:defPPr>
              <a:defRPr lang="en-US"/>
            </a:defPPr>
            <a:lvl1pPr marR="0" lvl="0" indent="0" algn="ctr" defTabSz="1219170" fontAlgn="auto">
              <a:lnSpc>
                <a:spcPct val="106000"/>
              </a:lnSpc>
              <a:spcBef>
                <a:spcPts val="0"/>
              </a:spcBef>
              <a:spcAft>
                <a:spcPts val="0"/>
              </a:spcAft>
              <a:buClrTx/>
              <a:buSzTx/>
              <a:buFont typeface="Wingdings 2" pitchFamily="18" charset="2"/>
              <a:buNone/>
              <a:tabLst/>
              <a:defRPr sz="900" b="1">
                <a:solidFill>
                  <a:prstClr val="white"/>
                </a:solidFill>
                <a:latin typeface="Open Sans"/>
              </a:defRPr>
            </a:lvl1p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Oracle </a:t>
            </a:r>
            <a:r>
              <a:rPr lang="en-US">
                <a:latin typeface="Open Sans" panose="020B0606030504020204" pitchFamily="34" charset="0"/>
                <a:ea typeface="Open Sans" panose="020B0606030504020204" pitchFamily="34" charset="0"/>
                <a:cs typeface="Open Sans" panose="020B0606030504020204" pitchFamily="34" charset="0"/>
              </a:rPr>
              <a:t>Retail </a:t>
            </a:r>
            <a:r>
              <a:rPr kumimoji="0" lang="en-US" sz="9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Cloud</a:t>
            </a:r>
          </a:p>
        </p:txBody>
      </p:sp>
      <p:sp>
        <p:nvSpPr>
          <p:cNvPr id="41" name="TextBox 40">
            <a:extLst>
              <a:ext uri="{FF2B5EF4-FFF2-40B4-BE49-F238E27FC236}">
                <a16:creationId xmlns:a16="http://schemas.microsoft.com/office/drawing/2014/main" id="{7F0F4323-8785-4054-B474-E36F725994AC}"/>
              </a:ext>
            </a:extLst>
          </p:cNvPr>
          <p:cNvSpPr txBox="1"/>
          <p:nvPr/>
        </p:nvSpPr>
        <p:spPr>
          <a:xfrm>
            <a:off x="7780699" y="2074641"/>
            <a:ext cx="774277" cy="216726"/>
          </a:xfrm>
          <a:prstGeom prst="rect">
            <a:avLst/>
          </a:prstGeom>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8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UCM Server</a:t>
            </a:r>
          </a:p>
        </p:txBody>
      </p:sp>
      <p:sp>
        <p:nvSpPr>
          <p:cNvPr id="42" name="Line 13">
            <a:extLst>
              <a:ext uri="{FF2B5EF4-FFF2-40B4-BE49-F238E27FC236}">
                <a16:creationId xmlns:a16="http://schemas.microsoft.com/office/drawing/2014/main" id="{ECEC0290-5DF3-48C6-83F3-48856817A795}"/>
              </a:ext>
            </a:extLst>
          </p:cNvPr>
          <p:cNvSpPr>
            <a:spLocks noChangeShapeType="1"/>
          </p:cNvSpPr>
          <p:nvPr/>
        </p:nvSpPr>
        <p:spPr bwMode="auto">
          <a:xfrm>
            <a:off x="8356388" y="1831464"/>
            <a:ext cx="506794" cy="14433"/>
          </a:xfrm>
          <a:prstGeom prst="line">
            <a:avLst/>
          </a:prstGeom>
          <a:noFill/>
          <a:ln w="12700">
            <a:solidFill>
              <a:srgbClr val="000000"/>
            </a:solidFill>
            <a:round/>
            <a:headEnd/>
            <a:tailEnd type="triangl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3" name="TextBox 42">
            <a:extLst>
              <a:ext uri="{FF2B5EF4-FFF2-40B4-BE49-F238E27FC236}">
                <a16:creationId xmlns:a16="http://schemas.microsoft.com/office/drawing/2014/main" id="{6C2431ED-B33D-43A0-B4FA-A936B25F34BC}"/>
              </a:ext>
            </a:extLst>
          </p:cNvPr>
          <p:cNvSpPr txBox="1"/>
          <p:nvPr/>
        </p:nvSpPr>
        <p:spPr>
          <a:xfrm>
            <a:off x="9005313" y="2678871"/>
            <a:ext cx="1946633"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Cloud Applications</a:t>
            </a:r>
            <a:endPar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44" name="Picture 43">
            <a:extLst>
              <a:ext uri="{FF2B5EF4-FFF2-40B4-BE49-F238E27FC236}">
                <a16:creationId xmlns:a16="http://schemas.microsoft.com/office/drawing/2014/main" id="{D7DA2E0D-2B52-4742-B0EF-69503A6143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4678" y="2327343"/>
            <a:ext cx="566802" cy="40280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45" name="TextBox 44">
            <a:extLst>
              <a:ext uri="{FF2B5EF4-FFF2-40B4-BE49-F238E27FC236}">
                <a16:creationId xmlns:a16="http://schemas.microsoft.com/office/drawing/2014/main" id="{149667FD-0882-46CF-949C-43C698D30879}"/>
              </a:ext>
            </a:extLst>
          </p:cNvPr>
          <p:cNvSpPr txBox="1"/>
          <p:nvPr/>
        </p:nvSpPr>
        <p:spPr>
          <a:xfrm>
            <a:off x="7644352" y="2741899"/>
            <a:ext cx="1202040" cy="222818"/>
          </a:xfrm>
          <a:prstGeom prst="rect">
            <a:avLst/>
          </a:prstGeom>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8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BI Publisher Report</a:t>
            </a:r>
          </a:p>
        </p:txBody>
      </p:sp>
      <p:pic>
        <p:nvPicPr>
          <p:cNvPr id="46" name="Picture 2" descr="http://www.zebrac.com/zePortal/WebFiles/ZEBRA/WebImages/OracleSolutions/oracleDBSection.png">
            <a:extLst>
              <a:ext uri="{FF2B5EF4-FFF2-40B4-BE49-F238E27FC236}">
                <a16:creationId xmlns:a16="http://schemas.microsoft.com/office/drawing/2014/main" id="{C1036FEB-B57D-497E-B7AA-17C81C7146C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39773" y="1694584"/>
            <a:ext cx="401129" cy="380057"/>
          </a:xfrm>
          <a:prstGeom prst="rect">
            <a:avLst/>
          </a:prstGeom>
          <a:solidFill>
            <a:srgbClr val="92D050"/>
          </a:solidFill>
        </p:spPr>
      </p:pic>
      <p:sp>
        <p:nvSpPr>
          <p:cNvPr id="47" name="TextBox 46">
            <a:extLst>
              <a:ext uri="{FF2B5EF4-FFF2-40B4-BE49-F238E27FC236}">
                <a16:creationId xmlns:a16="http://schemas.microsoft.com/office/drawing/2014/main" id="{BE75E54E-F195-47E4-98EF-C9CC34EAB0CC}"/>
              </a:ext>
            </a:extLst>
          </p:cNvPr>
          <p:cNvSpPr txBox="1"/>
          <p:nvPr/>
        </p:nvSpPr>
        <p:spPr>
          <a:xfrm>
            <a:off x="9409767" y="1655676"/>
            <a:ext cx="1202040" cy="347852"/>
          </a:xfrm>
          <a:prstGeom prst="rect">
            <a:avLst/>
          </a:prstGeom>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8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Transaction Object table (Staging area)</a:t>
            </a:r>
          </a:p>
        </p:txBody>
      </p:sp>
      <p:pic>
        <p:nvPicPr>
          <p:cNvPr id="48" name="Picture 12" descr="http://freeiconbox.com/icon/256/36059.png">
            <a:extLst>
              <a:ext uri="{FF2B5EF4-FFF2-40B4-BE49-F238E27FC236}">
                <a16:creationId xmlns:a16="http://schemas.microsoft.com/office/drawing/2014/main" id="{47B3D8F1-B247-40C0-99FC-CB0D054764E0}"/>
              </a:ext>
            </a:extLst>
          </p:cNvPr>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517385" y="2290449"/>
            <a:ext cx="882616" cy="475721"/>
          </a:xfrm>
          <a:prstGeom prst="rect">
            <a:avLst/>
          </a:prstGeom>
          <a:noFill/>
        </p:spPr>
      </p:pic>
      <p:pic>
        <p:nvPicPr>
          <p:cNvPr id="49" name="Picture 48">
            <a:extLst>
              <a:ext uri="{FF2B5EF4-FFF2-40B4-BE49-F238E27FC236}">
                <a16:creationId xmlns:a16="http://schemas.microsoft.com/office/drawing/2014/main" id="{24F2F7C0-6A40-4350-924E-A62C550E498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94048" y="1672241"/>
            <a:ext cx="275090" cy="359557"/>
          </a:xfrm>
          <a:prstGeom prst="rect">
            <a:avLst/>
          </a:prstGeom>
        </p:spPr>
      </p:pic>
      <p:sp>
        <p:nvSpPr>
          <p:cNvPr id="50" name="Freeform 997">
            <a:extLst>
              <a:ext uri="{FF2B5EF4-FFF2-40B4-BE49-F238E27FC236}">
                <a16:creationId xmlns:a16="http://schemas.microsoft.com/office/drawing/2014/main" id="{140ADA19-B640-48BE-8351-211D1E34E078}"/>
              </a:ext>
            </a:extLst>
          </p:cNvPr>
          <p:cNvSpPr>
            <a:spLocks noChangeAspect="1" noEditPoints="1"/>
          </p:cNvSpPr>
          <p:nvPr/>
        </p:nvSpPr>
        <p:spPr bwMode="auto">
          <a:xfrm>
            <a:off x="9195146" y="1559711"/>
            <a:ext cx="307183" cy="277659"/>
          </a:xfrm>
          <a:custGeom>
            <a:avLst/>
            <a:gdLst>
              <a:gd name="T0" fmla="*/ 394 w 512"/>
              <a:gd name="T1" fmla="*/ 280 h 512"/>
              <a:gd name="T2" fmla="*/ 365 w 512"/>
              <a:gd name="T3" fmla="*/ 309 h 512"/>
              <a:gd name="T4" fmla="*/ 167 w 512"/>
              <a:gd name="T5" fmla="*/ 309 h 512"/>
              <a:gd name="T6" fmla="*/ 117 w 512"/>
              <a:gd name="T7" fmla="*/ 259 h 512"/>
              <a:gd name="T8" fmla="*/ 167 w 512"/>
              <a:gd name="T9" fmla="*/ 210 h 512"/>
              <a:gd name="T10" fmla="*/ 189 w 512"/>
              <a:gd name="T11" fmla="*/ 217 h 512"/>
              <a:gd name="T12" fmla="*/ 199 w 512"/>
              <a:gd name="T13" fmla="*/ 221 h 512"/>
              <a:gd name="T14" fmla="*/ 208 w 512"/>
              <a:gd name="T15" fmla="*/ 213 h 512"/>
              <a:gd name="T16" fmla="*/ 208 w 512"/>
              <a:gd name="T17" fmla="*/ 211 h 512"/>
              <a:gd name="T18" fmla="*/ 210 w 512"/>
              <a:gd name="T19" fmla="*/ 206 h 512"/>
              <a:gd name="T20" fmla="*/ 277 w 512"/>
              <a:gd name="T21" fmla="*/ 160 h 512"/>
              <a:gd name="T22" fmla="*/ 347 w 512"/>
              <a:gd name="T23" fmla="*/ 230 h 512"/>
              <a:gd name="T24" fmla="*/ 347 w 512"/>
              <a:gd name="T25" fmla="*/ 234 h 512"/>
              <a:gd name="T26" fmla="*/ 347 w 512"/>
              <a:gd name="T27" fmla="*/ 239 h 512"/>
              <a:gd name="T28" fmla="*/ 350 w 512"/>
              <a:gd name="T29" fmla="*/ 249 h 512"/>
              <a:gd name="T30" fmla="*/ 361 w 512"/>
              <a:gd name="T31" fmla="*/ 251 h 512"/>
              <a:gd name="T32" fmla="*/ 363 w 512"/>
              <a:gd name="T33" fmla="*/ 250 h 512"/>
              <a:gd name="T34" fmla="*/ 365 w 512"/>
              <a:gd name="T35" fmla="*/ 250 h 512"/>
              <a:gd name="T36" fmla="*/ 394 w 512"/>
              <a:gd name="T37" fmla="*/ 28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416 w 512"/>
              <a:gd name="T49" fmla="*/ 280 h 512"/>
              <a:gd name="T50" fmla="*/ 369 w 512"/>
              <a:gd name="T51" fmla="*/ 229 h 512"/>
              <a:gd name="T52" fmla="*/ 277 w 512"/>
              <a:gd name="T53" fmla="*/ 138 h 512"/>
              <a:gd name="T54" fmla="*/ 192 w 512"/>
              <a:gd name="T55" fmla="*/ 194 h 512"/>
              <a:gd name="T56" fmla="*/ 167 w 512"/>
              <a:gd name="T57" fmla="*/ 189 h 512"/>
              <a:gd name="T58" fmla="*/ 96 w 512"/>
              <a:gd name="T59" fmla="*/ 259 h 512"/>
              <a:gd name="T60" fmla="*/ 167 w 512"/>
              <a:gd name="T61" fmla="*/ 330 h 512"/>
              <a:gd name="T62" fmla="*/ 365 w 512"/>
              <a:gd name="T63" fmla="*/ 330 h 512"/>
              <a:gd name="T64" fmla="*/ 416 w 512"/>
              <a:gd name="T65" fmla="*/ 2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94" y="280"/>
                </a:moveTo>
                <a:cubicBezTo>
                  <a:pt x="394" y="296"/>
                  <a:pt x="381" y="309"/>
                  <a:pt x="365" y="309"/>
                </a:cubicBezTo>
                <a:cubicBezTo>
                  <a:pt x="167" y="309"/>
                  <a:pt x="167" y="309"/>
                  <a:pt x="167" y="309"/>
                </a:cubicBezTo>
                <a:cubicBezTo>
                  <a:pt x="139" y="309"/>
                  <a:pt x="117" y="287"/>
                  <a:pt x="117" y="259"/>
                </a:cubicBezTo>
                <a:cubicBezTo>
                  <a:pt x="117" y="232"/>
                  <a:pt x="139" y="210"/>
                  <a:pt x="167" y="210"/>
                </a:cubicBezTo>
                <a:cubicBezTo>
                  <a:pt x="175" y="210"/>
                  <a:pt x="182" y="212"/>
                  <a:pt x="189" y="217"/>
                </a:cubicBezTo>
                <a:cubicBezTo>
                  <a:pt x="191" y="220"/>
                  <a:pt x="195" y="222"/>
                  <a:pt x="199" y="221"/>
                </a:cubicBezTo>
                <a:cubicBezTo>
                  <a:pt x="204" y="220"/>
                  <a:pt x="207" y="217"/>
                  <a:pt x="208" y="213"/>
                </a:cubicBezTo>
                <a:cubicBezTo>
                  <a:pt x="208" y="211"/>
                  <a:pt x="208" y="211"/>
                  <a:pt x="208" y="211"/>
                </a:cubicBezTo>
                <a:cubicBezTo>
                  <a:pt x="209" y="209"/>
                  <a:pt x="209" y="208"/>
                  <a:pt x="210" y="206"/>
                </a:cubicBezTo>
                <a:cubicBezTo>
                  <a:pt x="220" y="179"/>
                  <a:pt x="248" y="160"/>
                  <a:pt x="277" y="160"/>
                </a:cubicBezTo>
                <a:cubicBezTo>
                  <a:pt x="316" y="160"/>
                  <a:pt x="347" y="191"/>
                  <a:pt x="347" y="230"/>
                </a:cubicBezTo>
                <a:cubicBezTo>
                  <a:pt x="347" y="231"/>
                  <a:pt x="347" y="232"/>
                  <a:pt x="347" y="234"/>
                </a:cubicBezTo>
                <a:cubicBezTo>
                  <a:pt x="347" y="236"/>
                  <a:pt x="347" y="237"/>
                  <a:pt x="347" y="239"/>
                </a:cubicBezTo>
                <a:cubicBezTo>
                  <a:pt x="346" y="243"/>
                  <a:pt x="348" y="247"/>
                  <a:pt x="350" y="249"/>
                </a:cubicBezTo>
                <a:cubicBezTo>
                  <a:pt x="353" y="251"/>
                  <a:pt x="357" y="252"/>
                  <a:pt x="361" y="251"/>
                </a:cubicBezTo>
                <a:cubicBezTo>
                  <a:pt x="362" y="250"/>
                  <a:pt x="363" y="250"/>
                  <a:pt x="363" y="250"/>
                </a:cubicBezTo>
                <a:cubicBezTo>
                  <a:pt x="364" y="250"/>
                  <a:pt x="364" y="250"/>
                  <a:pt x="365" y="250"/>
                </a:cubicBezTo>
                <a:cubicBezTo>
                  <a:pt x="381" y="250"/>
                  <a:pt x="394" y="263"/>
                  <a:pt x="394" y="28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80"/>
                </a:moveTo>
                <a:cubicBezTo>
                  <a:pt x="416" y="253"/>
                  <a:pt x="395" y="231"/>
                  <a:pt x="369" y="229"/>
                </a:cubicBezTo>
                <a:cubicBezTo>
                  <a:pt x="368" y="179"/>
                  <a:pt x="327" y="138"/>
                  <a:pt x="277" y="138"/>
                </a:cubicBezTo>
                <a:cubicBezTo>
                  <a:pt x="240" y="138"/>
                  <a:pt x="206" y="161"/>
                  <a:pt x="192" y="194"/>
                </a:cubicBezTo>
                <a:cubicBezTo>
                  <a:pt x="184" y="190"/>
                  <a:pt x="176" y="189"/>
                  <a:pt x="167" y="189"/>
                </a:cubicBezTo>
                <a:cubicBezTo>
                  <a:pt x="127" y="189"/>
                  <a:pt x="96" y="220"/>
                  <a:pt x="96" y="259"/>
                </a:cubicBezTo>
                <a:cubicBezTo>
                  <a:pt x="96" y="299"/>
                  <a:pt x="127" y="330"/>
                  <a:pt x="167" y="330"/>
                </a:cubicBezTo>
                <a:cubicBezTo>
                  <a:pt x="365" y="330"/>
                  <a:pt x="365" y="330"/>
                  <a:pt x="365" y="330"/>
                </a:cubicBezTo>
                <a:cubicBezTo>
                  <a:pt x="393" y="330"/>
                  <a:pt x="416" y="308"/>
                  <a:pt x="416" y="28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1" name="Freeform 997">
            <a:extLst>
              <a:ext uri="{FF2B5EF4-FFF2-40B4-BE49-F238E27FC236}">
                <a16:creationId xmlns:a16="http://schemas.microsoft.com/office/drawing/2014/main" id="{B57272A8-3082-4787-9E31-D6494737C2CF}"/>
              </a:ext>
            </a:extLst>
          </p:cNvPr>
          <p:cNvSpPr>
            <a:spLocks noChangeAspect="1" noEditPoints="1"/>
          </p:cNvSpPr>
          <p:nvPr/>
        </p:nvSpPr>
        <p:spPr bwMode="auto">
          <a:xfrm>
            <a:off x="10081440" y="2171522"/>
            <a:ext cx="307183" cy="277659"/>
          </a:xfrm>
          <a:custGeom>
            <a:avLst/>
            <a:gdLst>
              <a:gd name="T0" fmla="*/ 394 w 512"/>
              <a:gd name="T1" fmla="*/ 280 h 512"/>
              <a:gd name="T2" fmla="*/ 365 w 512"/>
              <a:gd name="T3" fmla="*/ 309 h 512"/>
              <a:gd name="T4" fmla="*/ 167 w 512"/>
              <a:gd name="T5" fmla="*/ 309 h 512"/>
              <a:gd name="T6" fmla="*/ 117 w 512"/>
              <a:gd name="T7" fmla="*/ 259 h 512"/>
              <a:gd name="T8" fmla="*/ 167 w 512"/>
              <a:gd name="T9" fmla="*/ 210 h 512"/>
              <a:gd name="T10" fmla="*/ 189 w 512"/>
              <a:gd name="T11" fmla="*/ 217 h 512"/>
              <a:gd name="T12" fmla="*/ 199 w 512"/>
              <a:gd name="T13" fmla="*/ 221 h 512"/>
              <a:gd name="T14" fmla="*/ 208 w 512"/>
              <a:gd name="T15" fmla="*/ 213 h 512"/>
              <a:gd name="T16" fmla="*/ 208 w 512"/>
              <a:gd name="T17" fmla="*/ 211 h 512"/>
              <a:gd name="T18" fmla="*/ 210 w 512"/>
              <a:gd name="T19" fmla="*/ 206 h 512"/>
              <a:gd name="T20" fmla="*/ 277 w 512"/>
              <a:gd name="T21" fmla="*/ 160 h 512"/>
              <a:gd name="T22" fmla="*/ 347 w 512"/>
              <a:gd name="T23" fmla="*/ 230 h 512"/>
              <a:gd name="T24" fmla="*/ 347 w 512"/>
              <a:gd name="T25" fmla="*/ 234 h 512"/>
              <a:gd name="T26" fmla="*/ 347 w 512"/>
              <a:gd name="T27" fmla="*/ 239 h 512"/>
              <a:gd name="T28" fmla="*/ 350 w 512"/>
              <a:gd name="T29" fmla="*/ 249 h 512"/>
              <a:gd name="T30" fmla="*/ 361 w 512"/>
              <a:gd name="T31" fmla="*/ 251 h 512"/>
              <a:gd name="T32" fmla="*/ 363 w 512"/>
              <a:gd name="T33" fmla="*/ 250 h 512"/>
              <a:gd name="T34" fmla="*/ 365 w 512"/>
              <a:gd name="T35" fmla="*/ 250 h 512"/>
              <a:gd name="T36" fmla="*/ 394 w 512"/>
              <a:gd name="T37" fmla="*/ 28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416 w 512"/>
              <a:gd name="T49" fmla="*/ 280 h 512"/>
              <a:gd name="T50" fmla="*/ 369 w 512"/>
              <a:gd name="T51" fmla="*/ 229 h 512"/>
              <a:gd name="T52" fmla="*/ 277 w 512"/>
              <a:gd name="T53" fmla="*/ 138 h 512"/>
              <a:gd name="T54" fmla="*/ 192 w 512"/>
              <a:gd name="T55" fmla="*/ 194 h 512"/>
              <a:gd name="T56" fmla="*/ 167 w 512"/>
              <a:gd name="T57" fmla="*/ 189 h 512"/>
              <a:gd name="T58" fmla="*/ 96 w 512"/>
              <a:gd name="T59" fmla="*/ 259 h 512"/>
              <a:gd name="T60" fmla="*/ 167 w 512"/>
              <a:gd name="T61" fmla="*/ 330 h 512"/>
              <a:gd name="T62" fmla="*/ 365 w 512"/>
              <a:gd name="T63" fmla="*/ 330 h 512"/>
              <a:gd name="T64" fmla="*/ 416 w 512"/>
              <a:gd name="T65" fmla="*/ 2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94" y="280"/>
                </a:moveTo>
                <a:cubicBezTo>
                  <a:pt x="394" y="296"/>
                  <a:pt x="381" y="309"/>
                  <a:pt x="365" y="309"/>
                </a:cubicBezTo>
                <a:cubicBezTo>
                  <a:pt x="167" y="309"/>
                  <a:pt x="167" y="309"/>
                  <a:pt x="167" y="309"/>
                </a:cubicBezTo>
                <a:cubicBezTo>
                  <a:pt x="139" y="309"/>
                  <a:pt x="117" y="287"/>
                  <a:pt x="117" y="259"/>
                </a:cubicBezTo>
                <a:cubicBezTo>
                  <a:pt x="117" y="232"/>
                  <a:pt x="139" y="210"/>
                  <a:pt x="167" y="210"/>
                </a:cubicBezTo>
                <a:cubicBezTo>
                  <a:pt x="175" y="210"/>
                  <a:pt x="182" y="212"/>
                  <a:pt x="189" y="217"/>
                </a:cubicBezTo>
                <a:cubicBezTo>
                  <a:pt x="191" y="220"/>
                  <a:pt x="195" y="222"/>
                  <a:pt x="199" y="221"/>
                </a:cubicBezTo>
                <a:cubicBezTo>
                  <a:pt x="204" y="220"/>
                  <a:pt x="207" y="217"/>
                  <a:pt x="208" y="213"/>
                </a:cubicBezTo>
                <a:cubicBezTo>
                  <a:pt x="208" y="211"/>
                  <a:pt x="208" y="211"/>
                  <a:pt x="208" y="211"/>
                </a:cubicBezTo>
                <a:cubicBezTo>
                  <a:pt x="209" y="209"/>
                  <a:pt x="209" y="208"/>
                  <a:pt x="210" y="206"/>
                </a:cubicBezTo>
                <a:cubicBezTo>
                  <a:pt x="220" y="179"/>
                  <a:pt x="248" y="160"/>
                  <a:pt x="277" y="160"/>
                </a:cubicBezTo>
                <a:cubicBezTo>
                  <a:pt x="316" y="160"/>
                  <a:pt x="347" y="191"/>
                  <a:pt x="347" y="230"/>
                </a:cubicBezTo>
                <a:cubicBezTo>
                  <a:pt x="347" y="231"/>
                  <a:pt x="347" y="232"/>
                  <a:pt x="347" y="234"/>
                </a:cubicBezTo>
                <a:cubicBezTo>
                  <a:pt x="347" y="236"/>
                  <a:pt x="347" y="237"/>
                  <a:pt x="347" y="239"/>
                </a:cubicBezTo>
                <a:cubicBezTo>
                  <a:pt x="346" y="243"/>
                  <a:pt x="348" y="247"/>
                  <a:pt x="350" y="249"/>
                </a:cubicBezTo>
                <a:cubicBezTo>
                  <a:pt x="353" y="251"/>
                  <a:pt x="357" y="252"/>
                  <a:pt x="361" y="251"/>
                </a:cubicBezTo>
                <a:cubicBezTo>
                  <a:pt x="362" y="250"/>
                  <a:pt x="363" y="250"/>
                  <a:pt x="363" y="250"/>
                </a:cubicBezTo>
                <a:cubicBezTo>
                  <a:pt x="364" y="250"/>
                  <a:pt x="364" y="250"/>
                  <a:pt x="365" y="250"/>
                </a:cubicBezTo>
                <a:cubicBezTo>
                  <a:pt x="381" y="250"/>
                  <a:pt x="394" y="263"/>
                  <a:pt x="394" y="28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80"/>
                </a:moveTo>
                <a:cubicBezTo>
                  <a:pt x="416" y="253"/>
                  <a:pt x="395" y="231"/>
                  <a:pt x="369" y="229"/>
                </a:cubicBezTo>
                <a:cubicBezTo>
                  <a:pt x="368" y="179"/>
                  <a:pt x="327" y="138"/>
                  <a:pt x="277" y="138"/>
                </a:cubicBezTo>
                <a:cubicBezTo>
                  <a:pt x="240" y="138"/>
                  <a:pt x="206" y="161"/>
                  <a:pt x="192" y="194"/>
                </a:cubicBezTo>
                <a:cubicBezTo>
                  <a:pt x="184" y="190"/>
                  <a:pt x="176" y="189"/>
                  <a:pt x="167" y="189"/>
                </a:cubicBezTo>
                <a:cubicBezTo>
                  <a:pt x="127" y="189"/>
                  <a:pt x="96" y="220"/>
                  <a:pt x="96" y="259"/>
                </a:cubicBezTo>
                <a:cubicBezTo>
                  <a:pt x="96" y="299"/>
                  <a:pt x="127" y="330"/>
                  <a:pt x="167" y="330"/>
                </a:cubicBezTo>
                <a:cubicBezTo>
                  <a:pt x="365" y="330"/>
                  <a:pt x="365" y="330"/>
                  <a:pt x="365" y="330"/>
                </a:cubicBezTo>
                <a:cubicBezTo>
                  <a:pt x="393" y="330"/>
                  <a:pt x="416" y="308"/>
                  <a:pt x="416" y="28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2" name="Line 13">
            <a:extLst>
              <a:ext uri="{FF2B5EF4-FFF2-40B4-BE49-F238E27FC236}">
                <a16:creationId xmlns:a16="http://schemas.microsoft.com/office/drawing/2014/main" id="{F65AD6BB-6B58-49C5-811C-DB1674123B7C}"/>
              </a:ext>
            </a:extLst>
          </p:cNvPr>
          <p:cNvSpPr>
            <a:spLocks noChangeShapeType="1"/>
          </p:cNvSpPr>
          <p:nvPr/>
        </p:nvSpPr>
        <p:spPr bwMode="auto">
          <a:xfrm>
            <a:off x="9952992" y="2016163"/>
            <a:ext cx="8587" cy="269036"/>
          </a:xfrm>
          <a:prstGeom prst="line">
            <a:avLst/>
          </a:prstGeom>
          <a:noFill/>
          <a:ln w="12700">
            <a:solidFill>
              <a:srgbClr val="000000"/>
            </a:solidFill>
            <a:round/>
            <a:headEnd/>
            <a:tailEnd type="triangl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3" name="Oval 52">
            <a:extLst>
              <a:ext uri="{FF2B5EF4-FFF2-40B4-BE49-F238E27FC236}">
                <a16:creationId xmlns:a16="http://schemas.microsoft.com/office/drawing/2014/main" id="{1EF5AF0B-027F-4131-9205-42B468C53E45}"/>
              </a:ext>
            </a:extLst>
          </p:cNvPr>
          <p:cNvSpPr/>
          <p:nvPr/>
        </p:nvSpPr>
        <p:spPr bwMode="gray">
          <a:xfrm>
            <a:off x="10604125" y="2820333"/>
            <a:ext cx="323727" cy="278916"/>
          </a:xfrm>
          <a:prstGeom prst="ellipse">
            <a:avLst/>
          </a:prstGeom>
          <a:solidFill>
            <a:srgbClr val="92D050"/>
          </a:solidFill>
          <a:ln w="19050" algn="ctr">
            <a:noFill/>
            <a:miter lim="800000"/>
            <a:headEnd/>
            <a:tailEnd/>
          </a:ln>
          <a:effectLst>
            <a:innerShdw blurRad="63500" dist="50800">
              <a:prstClr val="black">
                <a:alpha val="50000"/>
              </a:prstClr>
            </a:inn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a:solidFill>
                  <a:prstClr val="white"/>
                </a:solidFill>
                <a:latin typeface="Open Sans" panose="020B0606030504020204" pitchFamily="34" charset="0"/>
                <a:ea typeface="Open Sans" panose="020B0606030504020204" pitchFamily="34" charset="0"/>
                <a:cs typeface="Open Sans" panose="020B0606030504020204" pitchFamily="34" charset="0"/>
              </a:rPr>
              <a:t>4</a:t>
            </a:r>
            <a:endParaRPr kumimoji="0" lang="en-US" sz="12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4" name="Text Box 10">
            <a:extLst>
              <a:ext uri="{FF2B5EF4-FFF2-40B4-BE49-F238E27FC236}">
                <a16:creationId xmlns:a16="http://schemas.microsoft.com/office/drawing/2014/main" id="{4D72DAF2-C31E-43DF-8034-04DB522AFDB4}"/>
              </a:ext>
            </a:extLst>
          </p:cNvPr>
          <p:cNvSpPr txBox="1">
            <a:spLocks noChangeArrowheads="1"/>
          </p:cNvSpPr>
          <p:nvPr/>
        </p:nvSpPr>
        <p:spPr bwMode="auto">
          <a:xfrm>
            <a:off x="3802644" y="1268213"/>
            <a:ext cx="3148737" cy="328030"/>
          </a:xfrm>
          <a:prstGeom prst="rect">
            <a:avLst/>
          </a:prstGeom>
          <a:solidFill>
            <a:srgbClr val="62B5E5"/>
          </a:solidFill>
          <a:ln w="19050" algn="ctr">
            <a:noFill/>
            <a:miter lim="800000"/>
            <a:headEnd/>
            <a:tailEnd/>
          </a:ln>
        </p:spPr>
        <p:txBody>
          <a:bodyPr wrap="square" lIns="88900" tIns="88900" rIns="88900" bIns="88900" rtlCol="0" anchor="ctr"/>
          <a:lstStyle>
            <a:defPPr>
              <a:defRPr lang="en-US"/>
            </a:defPPr>
            <a:lvl1pPr marR="0" lvl="0" indent="0" algn="ctr" defTabSz="1219170" fontAlgn="auto">
              <a:lnSpc>
                <a:spcPct val="106000"/>
              </a:lnSpc>
              <a:spcBef>
                <a:spcPts val="0"/>
              </a:spcBef>
              <a:spcAft>
                <a:spcPts val="0"/>
              </a:spcAft>
              <a:buClrTx/>
              <a:buSzTx/>
              <a:buFont typeface="Wingdings 2" pitchFamily="18" charset="2"/>
              <a:buNone/>
              <a:tabLst/>
              <a:defRPr sz="900" b="1">
                <a:solidFill>
                  <a:prstClr val="white"/>
                </a:solidFill>
                <a:latin typeface="Open Sans"/>
              </a:defRPr>
            </a:lvl1p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Integration Layer</a:t>
            </a:r>
          </a:p>
        </p:txBody>
      </p:sp>
      <p:sp>
        <p:nvSpPr>
          <p:cNvPr id="55" name="Oval 54">
            <a:extLst>
              <a:ext uri="{FF2B5EF4-FFF2-40B4-BE49-F238E27FC236}">
                <a16:creationId xmlns:a16="http://schemas.microsoft.com/office/drawing/2014/main" id="{C030CB2E-B79C-423F-A5AB-5EB904CF2D39}"/>
              </a:ext>
            </a:extLst>
          </p:cNvPr>
          <p:cNvSpPr/>
          <p:nvPr/>
        </p:nvSpPr>
        <p:spPr bwMode="gray">
          <a:xfrm>
            <a:off x="3594095" y="2802660"/>
            <a:ext cx="296855" cy="276276"/>
          </a:xfrm>
          <a:prstGeom prst="ellipse">
            <a:avLst/>
          </a:prstGeom>
          <a:solidFill>
            <a:srgbClr val="92D050"/>
          </a:solidFill>
          <a:ln w="19050" algn="ctr">
            <a:noFill/>
            <a:miter lim="800000"/>
            <a:headEnd/>
            <a:tailEnd/>
          </a:ln>
          <a:effectLst>
            <a:innerShdw blurRad="63500" dist="50800">
              <a:prstClr val="black">
                <a:alpha val="50000"/>
              </a:prstClr>
            </a:inn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a:solidFill>
                  <a:prstClr val="white"/>
                </a:solidFill>
                <a:latin typeface="Open Sans" panose="020B0606030504020204" pitchFamily="34" charset="0"/>
                <a:ea typeface="Open Sans" panose="020B0606030504020204" pitchFamily="34" charset="0"/>
                <a:cs typeface="Open Sans" panose="020B0606030504020204" pitchFamily="34" charset="0"/>
              </a:rPr>
              <a:t>2</a:t>
            </a:r>
            <a:endParaRPr kumimoji="0" lang="en-US" sz="12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cxnSp>
        <p:nvCxnSpPr>
          <p:cNvPr id="56" name="Straight Arrow Connector 55">
            <a:extLst>
              <a:ext uri="{FF2B5EF4-FFF2-40B4-BE49-F238E27FC236}">
                <a16:creationId xmlns:a16="http://schemas.microsoft.com/office/drawing/2014/main" id="{76BBA350-B14A-4E42-BEBE-35192993634E}"/>
              </a:ext>
            </a:extLst>
          </p:cNvPr>
          <p:cNvCxnSpPr>
            <a:cxnSpLocks/>
          </p:cNvCxnSpPr>
          <p:nvPr/>
        </p:nvCxnSpPr>
        <p:spPr>
          <a:xfrm flipH="1" flipV="1">
            <a:off x="2038254" y="2139584"/>
            <a:ext cx="687457" cy="998"/>
          </a:xfrm>
          <a:prstGeom prst="straightConnector1">
            <a:avLst/>
          </a:prstGeom>
          <a:noFill/>
          <a:ln w="57150" cap="flat" cmpd="sng" algn="ctr">
            <a:solidFill>
              <a:srgbClr val="313131"/>
            </a:solidFill>
            <a:prstDash val="solid"/>
            <a:headEnd type="triangle"/>
            <a:tailEnd type="none"/>
          </a:ln>
          <a:effectLst/>
        </p:spPr>
      </p:cxnSp>
      <p:cxnSp>
        <p:nvCxnSpPr>
          <p:cNvPr id="57" name="Straight Arrow Connector 56">
            <a:extLst>
              <a:ext uri="{FF2B5EF4-FFF2-40B4-BE49-F238E27FC236}">
                <a16:creationId xmlns:a16="http://schemas.microsoft.com/office/drawing/2014/main" id="{3D507CB6-F950-4F53-A1F8-C8F26826C46C}"/>
              </a:ext>
            </a:extLst>
          </p:cNvPr>
          <p:cNvCxnSpPr>
            <a:cxnSpLocks/>
          </p:cNvCxnSpPr>
          <p:nvPr/>
        </p:nvCxnSpPr>
        <p:spPr>
          <a:xfrm flipH="1" flipV="1">
            <a:off x="3355548" y="2135123"/>
            <a:ext cx="459773" cy="4461"/>
          </a:xfrm>
          <a:prstGeom prst="straightConnector1">
            <a:avLst/>
          </a:prstGeom>
          <a:noFill/>
          <a:ln w="57150" cap="flat" cmpd="sng" algn="ctr">
            <a:solidFill>
              <a:srgbClr val="313131"/>
            </a:solidFill>
            <a:prstDash val="solid"/>
            <a:headEnd type="triangle"/>
            <a:tailEnd type="none"/>
          </a:ln>
          <a:effectLst/>
        </p:spPr>
      </p:cxnSp>
      <p:cxnSp>
        <p:nvCxnSpPr>
          <p:cNvPr id="58" name="Straight Arrow Connector 57">
            <a:extLst>
              <a:ext uri="{FF2B5EF4-FFF2-40B4-BE49-F238E27FC236}">
                <a16:creationId xmlns:a16="http://schemas.microsoft.com/office/drawing/2014/main" id="{2C6E97DB-E007-4CB6-B1D8-D5FB1955023D}"/>
              </a:ext>
            </a:extLst>
          </p:cNvPr>
          <p:cNvCxnSpPr>
            <a:cxnSpLocks/>
          </p:cNvCxnSpPr>
          <p:nvPr/>
        </p:nvCxnSpPr>
        <p:spPr>
          <a:xfrm flipH="1">
            <a:off x="6981395" y="2144449"/>
            <a:ext cx="691052" cy="14338"/>
          </a:xfrm>
          <a:prstGeom prst="straightConnector1">
            <a:avLst/>
          </a:prstGeom>
          <a:noFill/>
          <a:ln w="57150" cap="flat" cmpd="sng" algn="ctr">
            <a:solidFill>
              <a:srgbClr val="313131"/>
            </a:solidFill>
            <a:prstDash val="solid"/>
            <a:headEnd type="triangle"/>
            <a:tailEnd type="none"/>
          </a:ln>
          <a:effectLst/>
        </p:spPr>
      </p:cxnSp>
      <p:sp>
        <p:nvSpPr>
          <p:cNvPr id="59" name="Oval 58">
            <a:extLst>
              <a:ext uri="{FF2B5EF4-FFF2-40B4-BE49-F238E27FC236}">
                <a16:creationId xmlns:a16="http://schemas.microsoft.com/office/drawing/2014/main" id="{9691780B-00FF-40D7-9C5E-0F06E0DCEB38}"/>
              </a:ext>
            </a:extLst>
          </p:cNvPr>
          <p:cNvSpPr/>
          <p:nvPr/>
        </p:nvSpPr>
        <p:spPr bwMode="gray">
          <a:xfrm>
            <a:off x="7465587" y="2850684"/>
            <a:ext cx="296855" cy="276276"/>
          </a:xfrm>
          <a:prstGeom prst="ellipse">
            <a:avLst/>
          </a:prstGeom>
          <a:solidFill>
            <a:srgbClr val="92D050"/>
          </a:solidFill>
          <a:ln w="19050" algn="ctr">
            <a:noFill/>
            <a:miter lim="800000"/>
            <a:headEnd/>
            <a:tailEnd/>
          </a:ln>
          <a:effectLst>
            <a:innerShdw blurRad="63500" dist="50800">
              <a:prstClr val="black">
                <a:alpha val="50000"/>
              </a:prstClr>
            </a:inn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3</a:t>
            </a:r>
          </a:p>
        </p:txBody>
      </p:sp>
      <p:sp>
        <p:nvSpPr>
          <p:cNvPr id="60" name="Rectangle 59">
            <a:extLst>
              <a:ext uri="{FF2B5EF4-FFF2-40B4-BE49-F238E27FC236}">
                <a16:creationId xmlns:a16="http://schemas.microsoft.com/office/drawing/2014/main" id="{4E2075DE-666A-4164-83DD-B662DA70FC55}"/>
              </a:ext>
            </a:extLst>
          </p:cNvPr>
          <p:cNvSpPr/>
          <p:nvPr/>
        </p:nvSpPr>
        <p:spPr bwMode="gray">
          <a:xfrm>
            <a:off x="793624" y="3598106"/>
            <a:ext cx="10003875" cy="1342063"/>
          </a:xfrm>
          <a:prstGeom prst="rect">
            <a:avLst/>
          </a:prstGeom>
          <a:solidFill>
            <a:schemeClr val="bg1"/>
          </a:solidFill>
          <a:ln w="19050" algn="ctr">
            <a:solidFill>
              <a:srgbClr val="00B0F0"/>
            </a:solidFill>
            <a:prstDash val="dash"/>
            <a:miter lim="800000"/>
            <a:headEnd/>
            <a:tailEnd/>
          </a:ln>
        </p:spPr>
        <p:txBody>
          <a:bodyPr wrap="square" lIns="88900" tIns="88900" rIns="88900" bIns="88900" rtlCol="0" anchor="ctr"/>
          <a:lstStyle/>
          <a:p>
            <a:pPr lvl="0" algn="ctr">
              <a:lnSpc>
                <a:spcPct val="106000"/>
              </a:lnSpc>
              <a:defRPr/>
            </a:pPr>
            <a:r>
              <a:rPr lang="en-US" sz="1600" b="1">
                <a:solidFill>
                  <a:prstClr val="white"/>
                </a:solidFill>
              </a:rPr>
              <a:t>FIN-05-03-036</a:t>
            </a: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61" name="Freeform 10">
            <a:extLst>
              <a:ext uri="{FF2B5EF4-FFF2-40B4-BE49-F238E27FC236}">
                <a16:creationId xmlns:a16="http://schemas.microsoft.com/office/drawing/2014/main" id="{CD026058-9C94-44E7-97B5-C3336A262C87}"/>
              </a:ext>
            </a:extLst>
          </p:cNvPr>
          <p:cNvSpPr>
            <a:spLocks/>
          </p:cNvSpPr>
          <p:nvPr/>
        </p:nvSpPr>
        <p:spPr bwMode="gray">
          <a:xfrm flipH="1">
            <a:off x="1275043" y="3718346"/>
            <a:ext cx="483488" cy="460156"/>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3"/>
          </a:solidFill>
          <a:ln>
            <a:noFill/>
            <a:headEnd/>
            <a:tailEnd/>
          </a:ln>
          <a:effectLst/>
        </p:spPr>
        <p:style>
          <a:lnRef idx="3">
            <a:schemeClr val="lt1"/>
          </a:lnRef>
          <a:fillRef idx="1">
            <a:schemeClr val="accent6"/>
          </a:fillRef>
          <a:effectRef idx="1">
            <a:schemeClr val="accent6"/>
          </a:effectRef>
          <a:fontRef idx="minor">
            <a:schemeClr val="lt1"/>
          </a:fontRef>
        </p:style>
        <p:txBody>
          <a:bodyPr vert="horz" wrap="square" lIns="44450" tIns="44450" rIns="44450" bIns="4445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mn-cs"/>
            </a:endParaRPr>
          </a:p>
        </p:txBody>
      </p:sp>
      <p:sp>
        <p:nvSpPr>
          <p:cNvPr id="62" name="Freeform 7">
            <a:extLst>
              <a:ext uri="{FF2B5EF4-FFF2-40B4-BE49-F238E27FC236}">
                <a16:creationId xmlns:a16="http://schemas.microsoft.com/office/drawing/2014/main" id="{DB624423-368E-4A3E-B8BA-B1AD66682BF7}"/>
              </a:ext>
            </a:extLst>
          </p:cNvPr>
          <p:cNvSpPr>
            <a:spLocks/>
          </p:cNvSpPr>
          <p:nvPr/>
        </p:nvSpPr>
        <p:spPr bwMode="gray">
          <a:xfrm flipH="1">
            <a:off x="953866" y="3521965"/>
            <a:ext cx="388092" cy="388197"/>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4"/>
          </a:solidFill>
          <a:ln>
            <a:noFill/>
            <a:headEnd/>
            <a:tailEnd/>
          </a:ln>
          <a:effectLst/>
        </p:spPr>
        <p:style>
          <a:lnRef idx="3">
            <a:schemeClr val="lt1"/>
          </a:lnRef>
          <a:fillRef idx="1">
            <a:schemeClr val="accent2"/>
          </a:fillRef>
          <a:effectRef idx="1">
            <a:schemeClr val="accent2"/>
          </a:effectRef>
          <a:fontRef idx="minor">
            <a:schemeClr val="lt1"/>
          </a:fontRef>
        </p:style>
        <p:txBody>
          <a:bodyPr vert="horz" wrap="square" lIns="44450" tIns="44450" rIns="44450" bIns="4445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mn-cs"/>
            </a:endParaRPr>
          </a:p>
        </p:txBody>
      </p:sp>
      <p:sp>
        <p:nvSpPr>
          <p:cNvPr id="63" name="Freeform 7">
            <a:extLst>
              <a:ext uri="{FF2B5EF4-FFF2-40B4-BE49-F238E27FC236}">
                <a16:creationId xmlns:a16="http://schemas.microsoft.com/office/drawing/2014/main" id="{87825E38-2C99-43AC-AF89-2CB6DC70EDDD}"/>
              </a:ext>
            </a:extLst>
          </p:cNvPr>
          <p:cNvSpPr>
            <a:spLocks/>
          </p:cNvSpPr>
          <p:nvPr/>
        </p:nvSpPr>
        <p:spPr bwMode="gray">
          <a:xfrm flipH="1">
            <a:off x="1299612" y="3339200"/>
            <a:ext cx="434350" cy="401596"/>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5"/>
          </a:solidFill>
          <a:ln>
            <a:noFill/>
            <a:headEnd/>
            <a:tailEnd/>
          </a:ln>
          <a:effectLst/>
        </p:spPr>
        <p:style>
          <a:lnRef idx="3">
            <a:schemeClr val="lt1"/>
          </a:lnRef>
          <a:fillRef idx="1">
            <a:schemeClr val="accent5"/>
          </a:fillRef>
          <a:effectRef idx="1">
            <a:schemeClr val="accent5"/>
          </a:effectRef>
          <a:fontRef idx="minor">
            <a:schemeClr val="lt1"/>
          </a:fontRef>
        </p:style>
        <p:txBody>
          <a:bodyPr vert="horz" wrap="square" lIns="44450" tIns="44450" rIns="44450" bIns="4445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mn-cs"/>
            </a:endParaRPr>
          </a:p>
        </p:txBody>
      </p:sp>
      <p:sp>
        <p:nvSpPr>
          <p:cNvPr id="64" name="Rectangle 63">
            <a:extLst>
              <a:ext uri="{FF2B5EF4-FFF2-40B4-BE49-F238E27FC236}">
                <a16:creationId xmlns:a16="http://schemas.microsoft.com/office/drawing/2014/main" id="{094FE2CE-A792-45F9-AE47-C353B762FAF2}"/>
              </a:ext>
            </a:extLst>
          </p:cNvPr>
          <p:cNvSpPr/>
          <p:nvPr/>
        </p:nvSpPr>
        <p:spPr bwMode="gray">
          <a:xfrm>
            <a:off x="8054116" y="4171218"/>
            <a:ext cx="1692402" cy="447342"/>
          </a:xfrm>
          <a:prstGeom prst="rect">
            <a:avLst/>
          </a:prstGeom>
          <a:noFill/>
          <a:ln w="25400" algn="ctr">
            <a:solidFill>
              <a:schemeClr val="accent2"/>
            </a:solidFill>
            <a:prstDash val="sysDot"/>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1200" cap="none" spc="0" normalizeH="0" baseline="0" noProof="0">
              <a:ln>
                <a:noFill/>
              </a:ln>
              <a:solidFill>
                <a:prstClr val="white"/>
              </a:solidFill>
              <a:effectLst/>
              <a:uLnTx/>
              <a:uFillTx/>
              <a:latin typeface="Open Sans"/>
              <a:ea typeface="+mn-ea"/>
              <a:cs typeface="+mn-cs"/>
            </a:endParaRPr>
          </a:p>
        </p:txBody>
      </p:sp>
      <p:sp>
        <p:nvSpPr>
          <p:cNvPr id="65" name="Rectangle 64">
            <a:extLst>
              <a:ext uri="{FF2B5EF4-FFF2-40B4-BE49-F238E27FC236}">
                <a16:creationId xmlns:a16="http://schemas.microsoft.com/office/drawing/2014/main" id="{283CFF5F-F80C-4D94-8BC9-7598995D24DE}"/>
              </a:ext>
            </a:extLst>
          </p:cNvPr>
          <p:cNvSpPr/>
          <p:nvPr/>
        </p:nvSpPr>
        <p:spPr>
          <a:xfrm>
            <a:off x="8015509" y="4154441"/>
            <a:ext cx="2581935" cy="215444"/>
          </a:xfrm>
          <a:prstGeom prst="rect">
            <a:avLst/>
          </a:prstGeom>
        </p:spPr>
        <p:txBody>
          <a:bodyPr wrap="square">
            <a:spAutoFit/>
          </a:bodyPr>
          <a:lstStyle/>
          <a:p>
            <a:pPr marL="0" marR="0" lvl="0" indent="0" defTabSz="685800" rtl="0" eaLnBrk="1" fontAlgn="auto" latinLnBrk="0" hangingPunct="1">
              <a:lnSpc>
                <a:spcPct val="100000"/>
              </a:lnSpc>
              <a:spcBef>
                <a:spcPts val="450"/>
              </a:spcBef>
              <a:spcAft>
                <a:spcPts val="0"/>
              </a:spcAft>
              <a:buClrTx/>
              <a:buSzPct val="100000"/>
              <a:buFontTx/>
              <a:buNone/>
              <a:tabLst/>
              <a:defRPr/>
            </a:pPr>
            <a:r>
              <a:rPr kumimoji="0" lang="en-US" sz="800" b="1" i="0" u="none" strike="noStrike" kern="1200" cap="none" spc="0" normalizeH="0" baseline="0" noProof="0">
                <a:ln>
                  <a:noFill/>
                </a:ln>
                <a:solidFill>
                  <a:prstClr val="black"/>
                </a:solidFill>
                <a:effectLst/>
                <a:uLnTx/>
                <a:uFillTx/>
                <a:latin typeface="Open Sans"/>
                <a:ea typeface="+mn-ea"/>
                <a:cs typeface="+mn-cs"/>
              </a:rPr>
              <a:t>Send Success/Error Notification</a:t>
            </a:r>
          </a:p>
        </p:txBody>
      </p:sp>
      <p:sp>
        <p:nvSpPr>
          <p:cNvPr id="66" name="Media_Technology_Fill_98">
            <a:extLst>
              <a:ext uri="{FF2B5EF4-FFF2-40B4-BE49-F238E27FC236}">
                <a16:creationId xmlns:a16="http://schemas.microsoft.com/office/drawing/2014/main" id="{595C208F-3252-483C-87E1-A879FD0899A6}"/>
              </a:ext>
            </a:extLst>
          </p:cNvPr>
          <p:cNvSpPr>
            <a:spLocks noChangeAspect="1" noEditPoints="1"/>
          </p:cNvSpPr>
          <p:nvPr/>
        </p:nvSpPr>
        <p:spPr bwMode="auto">
          <a:xfrm>
            <a:off x="8742821" y="4343282"/>
            <a:ext cx="260506" cy="260506"/>
          </a:xfrm>
          <a:custGeom>
            <a:avLst/>
            <a:gdLst>
              <a:gd name="T0" fmla="*/ 202 w 512"/>
              <a:gd name="T1" fmla="*/ 252 h 512"/>
              <a:gd name="T2" fmla="*/ 117 w 512"/>
              <a:gd name="T3" fmla="*/ 337 h 512"/>
              <a:gd name="T4" fmla="*/ 117 w 512"/>
              <a:gd name="T5" fmla="*/ 173 h 512"/>
              <a:gd name="T6" fmla="*/ 202 w 512"/>
              <a:gd name="T7" fmla="*/ 252 h 512"/>
              <a:gd name="T8" fmla="*/ 378 w 512"/>
              <a:gd name="T9" fmla="*/ 160 h 512"/>
              <a:gd name="T10" fmla="*/ 133 w 512"/>
              <a:gd name="T11" fmla="*/ 160 h 512"/>
              <a:gd name="T12" fmla="*/ 256 w 512"/>
              <a:gd name="T13" fmla="*/ 273 h 512"/>
              <a:gd name="T14" fmla="*/ 378 w 512"/>
              <a:gd name="T15" fmla="*/ 160 h 512"/>
              <a:gd name="T16" fmla="*/ 263 w 512"/>
              <a:gd name="T17" fmla="*/ 295 h 512"/>
              <a:gd name="T18" fmla="*/ 256 w 512"/>
              <a:gd name="T19" fmla="*/ 298 h 512"/>
              <a:gd name="T20" fmla="*/ 248 w 512"/>
              <a:gd name="T21" fmla="*/ 295 h 512"/>
              <a:gd name="T22" fmla="*/ 217 w 512"/>
              <a:gd name="T23" fmla="*/ 267 h 512"/>
              <a:gd name="T24" fmla="*/ 132 w 512"/>
              <a:gd name="T25" fmla="*/ 352 h 512"/>
              <a:gd name="T26" fmla="*/ 379 w 512"/>
              <a:gd name="T27" fmla="*/ 352 h 512"/>
              <a:gd name="T28" fmla="*/ 294 w 512"/>
              <a:gd name="T29" fmla="*/ 267 h 512"/>
              <a:gd name="T30" fmla="*/ 263 w 512"/>
              <a:gd name="T31" fmla="*/ 295 h 512"/>
              <a:gd name="T32" fmla="*/ 512 w 512"/>
              <a:gd name="T33" fmla="*/ 256 h 512"/>
              <a:gd name="T34" fmla="*/ 256 w 512"/>
              <a:gd name="T35" fmla="*/ 512 h 512"/>
              <a:gd name="T36" fmla="*/ 0 w 512"/>
              <a:gd name="T37" fmla="*/ 256 h 512"/>
              <a:gd name="T38" fmla="*/ 256 w 512"/>
              <a:gd name="T39" fmla="*/ 0 h 512"/>
              <a:gd name="T40" fmla="*/ 512 w 512"/>
              <a:gd name="T41" fmla="*/ 256 h 512"/>
              <a:gd name="T42" fmla="*/ 416 w 512"/>
              <a:gd name="T43" fmla="*/ 149 h 512"/>
              <a:gd name="T44" fmla="*/ 405 w 512"/>
              <a:gd name="T45" fmla="*/ 138 h 512"/>
              <a:gd name="T46" fmla="*/ 106 w 512"/>
              <a:gd name="T47" fmla="*/ 138 h 512"/>
              <a:gd name="T48" fmla="*/ 96 w 512"/>
              <a:gd name="T49" fmla="*/ 149 h 512"/>
              <a:gd name="T50" fmla="*/ 96 w 512"/>
              <a:gd name="T51" fmla="*/ 362 h 512"/>
              <a:gd name="T52" fmla="*/ 106 w 512"/>
              <a:gd name="T53" fmla="*/ 373 h 512"/>
              <a:gd name="T54" fmla="*/ 405 w 512"/>
              <a:gd name="T55" fmla="*/ 373 h 512"/>
              <a:gd name="T56" fmla="*/ 416 w 512"/>
              <a:gd name="T57" fmla="*/ 362 h 512"/>
              <a:gd name="T58" fmla="*/ 416 w 512"/>
              <a:gd name="T59" fmla="*/ 149 h 512"/>
              <a:gd name="T60" fmla="*/ 394 w 512"/>
              <a:gd name="T61" fmla="*/ 337 h 512"/>
              <a:gd name="T62" fmla="*/ 394 w 512"/>
              <a:gd name="T63" fmla="*/ 173 h 512"/>
              <a:gd name="T64" fmla="*/ 310 w 512"/>
              <a:gd name="T65" fmla="*/ 252 h 512"/>
              <a:gd name="T66" fmla="*/ 394 w 512"/>
              <a:gd name="T67" fmla="*/ 33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202" y="252"/>
                </a:moveTo>
                <a:cubicBezTo>
                  <a:pt x="117" y="337"/>
                  <a:pt x="117" y="337"/>
                  <a:pt x="117" y="337"/>
                </a:cubicBezTo>
                <a:cubicBezTo>
                  <a:pt x="117" y="173"/>
                  <a:pt x="117" y="173"/>
                  <a:pt x="117" y="173"/>
                </a:cubicBezTo>
                <a:lnTo>
                  <a:pt x="202" y="252"/>
                </a:lnTo>
                <a:close/>
                <a:moveTo>
                  <a:pt x="378" y="160"/>
                </a:moveTo>
                <a:cubicBezTo>
                  <a:pt x="133" y="160"/>
                  <a:pt x="133" y="160"/>
                  <a:pt x="133" y="160"/>
                </a:cubicBezTo>
                <a:cubicBezTo>
                  <a:pt x="256" y="273"/>
                  <a:pt x="256" y="273"/>
                  <a:pt x="256" y="273"/>
                </a:cubicBezTo>
                <a:lnTo>
                  <a:pt x="378" y="160"/>
                </a:lnTo>
                <a:close/>
                <a:moveTo>
                  <a:pt x="263" y="295"/>
                </a:moveTo>
                <a:cubicBezTo>
                  <a:pt x="261" y="297"/>
                  <a:pt x="258" y="298"/>
                  <a:pt x="256" y="298"/>
                </a:cubicBezTo>
                <a:cubicBezTo>
                  <a:pt x="253" y="298"/>
                  <a:pt x="250" y="297"/>
                  <a:pt x="248" y="295"/>
                </a:cubicBezTo>
                <a:cubicBezTo>
                  <a:pt x="217" y="267"/>
                  <a:pt x="217" y="267"/>
                  <a:pt x="217" y="267"/>
                </a:cubicBezTo>
                <a:cubicBezTo>
                  <a:pt x="132" y="352"/>
                  <a:pt x="132" y="352"/>
                  <a:pt x="132" y="352"/>
                </a:cubicBezTo>
                <a:cubicBezTo>
                  <a:pt x="379" y="352"/>
                  <a:pt x="379" y="352"/>
                  <a:pt x="379" y="352"/>
                </a:cubicBezTo>
                <a:cubicBezTo>
                  <a:pt x="294" y="267"/>
                  <a:pt x="294" y="267"/>
                  <a:pt x="294" y="267"/>
                </a:cubicBezTo>
                <a:lnTo>
                  <a:pt x="263" y="29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49"/>
                </a:moveTo>
                <a:cubicBezTo>
                  <a:pt x="416" y="143"/>
                  <a:pt x="411" y="138"/>
                  <a:pt x="405" y="138"/>
                </a:cubicBezTo>
                <a:cubicBezTo>
                  <a:pt x="106" y="138"/>
                  <a:pt x="106" y="138"/>
                  <a:pt x="106" y="138"/>
                </a:cubicBezTo>
                <a:cubicBezTo>
                  <a:pt x="100" y="138"/>
                  <a:pt x="96" y="143"/>
                  <a:pt x="96" y="149"/>
                </a:cubicBezTo>
                <a:cubicBezTo>
                  <a:pt x="96" y="362"/>
                  <a:pt x="96" y="362"/>
                  <a:pt x="96" y="362"/>
                </a:cubicBezTo>
                <a:cubicBezTo>
                  <a:pt x="96" y="368"/>
                  <a:pt x="100" y="373"/>
                  <a:pt x="106" y="373"/>
                </a:cubicBezTo>
                <a:cubicBezTo>
                  <a:pt x="405" y="373"/>
                  <a:pt x="405" y="373"/>
                  <a:pt x="405" y="373"/>
                </a:cubicBezTo>
                <a:cubicBezTo>
                  <a:pt x="411" y="373"/>
                  <a:pt x="416" y="368"/>
                  <a:pt x="416" y="362"/>
                </a:cubicBezTo>
                <a:lnTo>
                  <a:pt x="416" y="149"/>
                </a:lnTo>
                <a:close/>
                <a:moveTo>
                  <a:pt x="394" y="337"/>
                </a:moveTo>
                <a:cubicBezTo>
                  <a:pt x="394" y="173"/>
                  <a:pt x="394" y="173"/>
                  <a:pt x="394" y="173"/>
                </a:cubicBezTo>
                <a:cubicBezTo>
                  <a:pt x="310" y="252"/>
                  <a:pt x="310" y="252"/>
                  <a:pt x="310" y="252"/>
                </a:cubicBezTo>
                <a:lnTo>
                  <a:pt x="394" y="337"/>
                </a:lnTo>
                <a:close/>
              </a:path>
            </a:pathLst>
          </a:custGeom>
          <a:solidFill>
            <a:schemeClr val="accent5">
              <a:lumMod val="75000"/>
            </a:schemeClr>
          </a:solidFill>
          <a:ln>
            <a:noFill/>
            <a:headEnd/>
            <a:tailEnd/>
          </a:ln>
          <a:effectLst/>
        </p:spPr>
        <p:style>
          <a:lnRef idx="3">
            <a:schemeClr val="lt1"/>
          </a:lnRef>
          <a:fillRef idx="1">
            <a:schemeClr val="accent6"/>
          </a:fillRef>
          <a:effectRef idx="1">
            <a:schemeClr val="accent6"/>
          </a:effectRef>
          <a:fontRef idx="minor">
            <a:schemeClr val="lt1"/>
          </a:fontRef>
        </p:style>
        <p:txBody>
          <a:bodyPr vert="horz" wrap="square" lIns="44450" tIns="44450" rIns="44450" bIns="4445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mn-cs"/>
            </a:endParaRPr>
          </a:p>
        </p:txBody>
      </p:sp>
      <p:sp>
        <p:nvSpPr>
          <p:cNvPr id="67" name="Rectangle 66">
            <a:extLst>
              <a:ext uri="{FF2B5EF4-FFF2-40B4-BE49-F238E27FC236}">
                <a16:creationId xmlns:a16="http://schemas.microsoft.com/office/drawing/2014/main" id="{4D1898BF-DB66-44C0-9BF2-59E6137168DD}"/>
              </a:ext>
            </a:extLst>
          </p:cNvPr>
          <p:cNvSpPr/>
          <p:nvPr/>
        </p:nvSpPr>
        <p:spPr bwMode="gray">
          <a:xfrm>
            <a:off x="3252771" y="3792770"/>
            <a:ext cx="7351354" cy="1013917"/>
          </a:xfrm>
          <a:prstGeom prst="rect">
            <a:avLst/>
          </a:prstGeom>
          <a:noFill/>
          <a:ln w="25400" cmpd="dbl" algn="ctr">
            <a:solidFill>
              <a:schemeClr val="accent2"/>
            </a:solidFill>
            <a:prstDash val="solid"/>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1200" cap="none" spc="0" normalizeH="0" baseline="0" noProof="0">
              <a:ln>
                <a:noFill/>
              </a:ln>
              <a:solidFill>
                <a:prstClr val="white"/>
              </a:solidFill>
              <a:effectLst/>
              <a:uLnTx/>
              <a:uFillTx/>
              <a:latin typeface="Open Sans"/>
              <a:ea typeface="+mn-ea"/>
              <a:cs typeface="+mn-cs"/>
            </a:endParaRPr>
          </a:p>
        </p:txBody>
      </p:sp>
      <p:sp>
        <p:nvSpPr>
          <p:cNvPr id="68" name="Rectangle 67">
            <a:extLst>
              <a:ext uri="{FF2B5EF4-FFF2-40B4-BE49-F238E27FC236}">
                <a16:creationId xmlns:a16="http://schemas.microsoft.com/office/drawing/2014/main" id="{C883ECB0-1D36-45CE-97FA-19CBCA62E17D}"/>
              </a:ext>
            </a:extLst>
          </p:cNvPr>
          <p:cNvSpPr/>
          <p:nvPr/>
        </p:nvSpPr>
        <p:spPr>
          <a:xfrm>
            <a:off x="651221" y="4581467"/>
            <a:ext cx="2581935" cy="276999"/>
          </a:xfrm>
          <a:prstGeom prst="rect">
            <a:avLst/>
          </a:prstGeom>
        </p:spPr>
        <p:txBody>
          <a:bodyPr wrap="square">
            <a:spAutoFit/>
          </a:bodyPr>
          <a:lstStyle/>
          <a:p>
            <a:pPr marL="0" marR="0" lvl="0" indent="0" algn="ctr" defTabSz="685800" rtl="0" eaLnBrk="1" fontAlgn="auto" latinLnBrk="0" hangingPunct="1">
              <a:lnSpc>
                <a:spcPct val="100000"/>
              </a:lnSpc>
              <a:spcBef>
                <a:spcPts val="450"/>
              </a:spcBef>
              <a:spcAft>
                <a:spcPts val="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Open Sans"/>
                <a:ea typeface="+mn-ea"/>
                <a:cs typeface="+mn-cs"/>
              </a:rPr>
              <a:t>Common Logging Process</a:t>
            </a:r>
          </a:p>
        </p:txBody>
      </p:sp>
      <p:sp>
        <p:nvSpPr>
          <p:cNvPr id="69" name="TextBox 68">
            <a:extLst>
              <a:ext uri="{FF2B5EF4-FFF2-40B4-BE49-F238E27FC236}">
                <a16:creationId xmlns:a16="http://schemas.microsoft.com/office/drawing/2014/main" id="{B8169BF8-5D29-4055-A43F-51EDFEC3CFD5}"/>
              </a:ext>
            </a:extLst>
          </p:cNvPr>
          <p:cNvSpPr txBox="1"/>
          <p:nvPr/>
        </p:nvSpPr>
        <p:spPr bwMode="gray">
          <a:xfrm>
            <a:off x="5539172" y="1916676"/>
            <a:ext cx="914400" cy="914400"/>
          </a:xfrm>
          <a:prstGeom prst="rect">
            <a:avLst/>
          </a:prstGeom>
        </p:spPr>
        <p:txBody>
          <a:bodyPr wrap="square" lIns="0" rIns="0" rtlCol="0" anchor="b" anchorCtr="0">
            <a:normAutofit/>
          </a:bodyPr>
          <a:lstStyle/>
          <a:p>
            <a:pPr marL="0" marR="0" lvl="0" indent="0" algn="l" defTabSz="914400" rtl="0" eaLnBrk="1" fontAlgn="auto" latinLnBrk="0" hangingPunct="1">
              <a:lnSpc>
                <a:spcPts val="900"/>
              </a:lnSpc>
              <a:spcBef>
                <a:spcPts val="0"/>
              </a:spcBef>
              <a:spcAft>
                <a:spcPts val="0"/>
              </a:spcAft>
              <a:buClrTx/>
              <a:buSzTx/>
              <a:buFontTx/>
              <a:buNone/>
              <a:tabLst/>
              <a:defRPr/>
            </a:pPr>
            <a:endParaRPr kumimoji="0" lang="en-US" sz="1300" b="1" i="0" u="none" strike="noStrike" kern="1200" cap="none" spc="0" normalizeH="0" baseline="0" noProof="0">
              <a:ln>
                <a:noFill/>
              </a:ln>
              <a:solidFill>
                <a:prstClr val="black"/>
              </a:solidFill>
              <a:effectLst/>
              <a:uLnTx/>
              <a:uFillTx/>
              <a:latin typeface="Open Sans"/>
              <a:ea typeface="+mn-ea"/>
              <a:cs typeface="+mn-cs"/>
            </a:endParaRPr>
          </a:p>
        </p:txBody>
      </p:sp>
      <p:sp>
        <p:nvSpPr>
          <p:cNvPr id="70" name="Flowchart: Predefined Process 69">
            <a:extLst>
              <a:ext uri="{FF2B5EF4-FFF2-40B4-BE49-F238E27FC236}">
                <a16:creationId xmlns:a16="http://schemas.microsoft.com/office/drawing/2014/main" id="{4D695DC5-844D-4A32-B0CF-E669B5117C6A}"/>
              </a:ext>
            </a:extLst>
          </p:cNvPr>
          <p:cNvSpPr/>
          <p:nvPr/>
        </p:nvSpPr>
        <p:spPr bwMode="gray">
          <a:xfrm>
            <a:off x="1975028" y="3840701"/>
            <a:ext cx="1147389" cy="309943"/>
          </a:xfrm>
          <a:prstGeom prst="flowChartPredefinedProcess">
            <a:avLst/>
          </a:prstGeom>
          <a:solidFill>
            <a:srgbClr val="92D050"/>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Call Common Integration</a:t>
            </a:r>
          </a:p>
        </p:txBody>
      </p:sp>
      <p:cxnSp>
        <p:nvCxnSpPr>
          <p:cNvPr id="71" name="Connector: Elbow 70">
            <a:extLst>
              <a:ext uri="{FF2B5EF4-FFF2-40B4-BE49-F238E27FC236}">
                <a16:creationId xmlns:a16="http://schemas.microsoft.com/office/drawing/2014/main" id="{DD8BFA3A-EB37-4008-9427-749D04F830E6}"/>
              </a:ext>
            </a:extLst>
          </p:cNvPr>
          <p:cNvCxnSpPr>
            <a:cxnSpLocks/>
            <a:stCxn id="70" idx="2"/>
          </p:cNvCxnSpPr>
          <p:nvPr/>
        </p:nvCxnSpPr>
        <p:spPr>
          <a:xfrm rot="16200000" flipH="1">
            <a:off x="2888206" y="3811161"/>
            <a:ext cx="249987" cy="928952"/>
          </a:xfrm>
          <a:prstGeom prst="bentConnector2">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8F389D7C-108C-4084-B7FB-F3EB15F04B0D}"/>
              </a:ext>
            </a:extLst>
          </p:cNvPr>
          <p:cNvCxnSpPr>
            <a:cxnSpLocks/>
          </p:cNvCxnSpPr>
          <p:nvPr/>
        </p:nvCxnSpPr>
        <p:spPr>
          <a:xfrm rot="5400000">
            <a:off x="2703356" y="2807875"/>
            <a:ext cx="713279" cy="1352372"/>
          </a:xfrm>
          <a:prstGeom prst="bentConnector3">
            <a:avLst>
              <a:gd name="adj1" fmla="val 27654"/>
            </a:avLst>
          </a:prstGeom>
          <a:ln>
            <a:solidFill>
              <a:srgbClr val="DA291C"/>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DC6F6CB8-5E4C-475E-8789-2CD088EEDEEE}"/>
              </a:ext>
            </a:extLst>
          </p:cNvPr>
          <p:cNvCxnSpPr>
            <a:cxnSpLocks/>
          </p:cNvCxnSpPr>
          <p:nvPr/>
        </p:nvCxnSpPr>
        <p:spPr>
          <a:xfrm rot="5400000">
            <a:off x="4704550" y="923204"/>
            <a:ext cx="680646" cy="5154348"/>
          </a:xfrm>
          <a:prstGeom prst="bentConnector3">
            <a:avLst>
              <a:gd name="adj1" fmla="val 36442"/>
            </a:avLst>
          </a:prstGeom>
          <a:ln>
            <a:solidFill>
              <a:srgbClr val="DA291C"/>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908AAA0E-1D42-4797-8368-6972906E60D6}"/>
              </a:ext>
            </a:extLst>
          </p:cNvPr>
          <p:cNvCxnSpPr>
            <a:cxnSpLocks/>
          </p:cNvCxnSpPr>
          <p:nvPr/>
        </p:nvCxnSpPr>
        <p:spPr>
          <a:xfrm rot="5400000">
            <a:off x="6310488" y="-650313"/>
            <a:ext cx="731520" cy="8242501"/>
          </a:xfrm>
          <a:prstGeom prst="bentConnector3">
            <a:avLst>
              <a:gd name="adj1" fmla="val 55598"/>
            </a:avLst>
          </a:prstGeom>
          <a:ln>
            <a:solidFill>
              <a:srgbClr val="DA291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C45FE48D-9290-4FB0-BAB6-FC98EEE7AE9F}"/>
              </a:ext>
            </a:extLst>
          </p:cNvPr>
          <p:cNvSpPr txBox="1"/>
          <p:nvPr/>
        </p:nvSpPr>
        <p:spPr>
          <a:xfrm>
            <a:off x="2367750" y="1296846"/>
            <a:ext cx="16977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a:ea typeface="+mn-ea"/>
                <a:cs typeface="+mn-cs"/>
              </a:rPr>
              <a:t>File Landing Zone(SFTP/MFT Server/Object Storage)</a:t>
            </a:r>
          </a:p>
        </p:txBody>
      </p:sp>
      <p:sp>
        <p:nvSpPr>
          <p:cNvPr id="76" name="TextBox 75">
            <a:extLst>
              <a:ext uri="{FF2B5EF4-FFF2-40B4-BE49-F238E27FC236}">
                <a16:creationId xmlns:a16="http://schemas.microsoft.com/office/drawing/2014/main" id="{065A56AD-94DE-47FA-9558-FD8FE6217C4B}"/>
              </a:ext>
            </a:extLst>
          </p:cNvPr>
          <p:cNvSpPr txBox="1"/>
          <p:nvPr/>
        </p:nvSpPr>
        <p:spPr>
          <a:xfrm>
            <a:off x="3879091" y="1912208"/>
            <a:ext cx="569295" cy="184666"/>
          </a:xfrm>
          <a:prstGeom prst="rect">
            <a:avLst/>
          </a:prstGeom>
          <a:noFill/>
        </p:spPr>
        <p:txBody>
          <a:bodyPr wrap="square" lIns="0" tIns="0" rIns="0" bIns="0" rtlCol="0">
            <a:spAutoFit/>
          </a:bodyPr>
          <a:lstStyle>
            <a:defPPr>
              <a:defRPr lang="en-US"/>
            </a:defPPr>
            <a:lvl1pPr marR="0" lvl="0" indent="0" algn="ctr" defTabSz="685800" fontAlgn="auto">
              <a:lnSpc>
                <a:spcPct val="100000"/>
              </a:lnSpc>
              <a:spcBef>
                <a:spcPts val="450"/>
              </a:spcBef>
              <a:spcAft>
                <a:spcPts val="0"/>
              </a:spcAft>
              <a:buClrTx/>
              <a:buSzPct val="100000"/>
              <a:buFontTx/>
              <a:buNone/>
              <a:tabLst/>
              <a:defRPr kumimoji="0" sz="600" b="0" i="0" u="none" strike="noStrike" kern="0" cap="none" spc="0" normalizeH="0" baseline="0">
                <a:ln>
                  <a:noFill/>
                </a:ln>
                <a:solidFill>
                  <a:srgbClr val="002776"/>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r>
              <a:rPr lang="en-US"/>
              <a:t>SOAP/REST Adapter</a:t>
            </a:r>
          </a:p>
        </p:txBody>
      </p:sp>
      <p:cxnSp>
        <p:nvCxnSpPr>
          <p:cNvPr id="77" name="Connector: Elbow 9">
            <a:extLst>
              <a:ext uri="{FF2B5EF4-FFF2-40B4-BE49-F238E27FC236}">
                <a16:creationId xmlns:a16="http://schemas.microsoft.com/office/drawing/2014/main" id="{5D84ABD6-FBE7-4C19-99B3-7A6F679040B7}"/>
              </a:ext>
            </a:extLst>
          </p:cNvPr>
          <p:cNvCxnSpPr>
            <a:cxnSpLocks/>
          </p:cNvCxnSpPr>
          <p:nvPr/>
        </p:nvCxnSpPr>
        <p:spPr>
          <a:xfrm>
            <a:off x="7203504" y="4400630"/>
            <a:ext cx="812724" cy="0"/>
          </a:xfrm>
          <a:prstGeom prst="straightConnector1">
            <a:avLst/>
          </a:prstGeom>
          <a:noFill/>
          <a:ln w="41275" cap="flat" cmpd="sng" algn="ctr">
            <a:solidFill>
              <a:schemeClr val="accent6">
                <a:lumMod val="75000"/>
              </a:schemeClr>
            </a:solidFill>
            <a:prstDash val="solid"/>
            <a:headEnd type="none"/>
            <a:tailEnd type="triangle"/>
          </a:ln>
          <a:effectLst/>
        </p:spPr>
      </p:cxnSp>
      <p:cxnSp>
        <p:nvCxnSpPr>
          <p:cNvPr id="78" name="Connector: Elbow 77">
            <a:extLst>
              <a:ext uri="{FF2B5EF4-FFF2-40B4-BE49-F238E27FC236}">
                <a16:creationId xmlns:a16="http://schemas.microsoft.com/office/drawing/2014/main" id="{9BE1999B-A063-4942-AAE4-5AB300C4A674}"/>
              </a:ext>
            </a:extLst>
          </p:cNvPr>
          <p:cNvCxnSpPr>
            <a:cxnSpLocks/>
            <a:stCxn id="5" idx="2"/>
          </p:cNvCxnSpPr>
          <p:nvPr/>
        </p:nvCxnSpPr>
        <p:spPr>
          <a:xfrm rot="5400000">
            <a:off x="2048842" y="2862421"/>
            <a:ext cx="1199095" cy="782902"/>
          </a:xfrm>
          <a:prstGeom prst="bentConnector3">
            <a:avLst>
              <a:gd name="adj1" fmla="val 50000"/>
            </a:avLst>
          </a:prstGeom>
          <a:ln>
            <a:solidFill>
              <a:srgbClr val="DA291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E008501-A6BF-4960-BD1F-EFE3112559CD}"/>
              </a:ext>
            </a:extLst>
          </p:cNvPr>
          <p:cNvSpPr/>
          <p:nvPr/>
        </p:nvSpPr>
        <p:spPr bwMode="gray">
          <a:xfrm>
            <a:off x="2892395" y="2775307"/>
            <a:ext cx="296855" cy="276276"/>
          </a:xfrm>
          <a:prstGeom prst="ellipse">
            <a:avLst/>
          </a:prstGeom>
          <a:solidFill>
            <a:srgbClr val="92D050"/>
          </a:solidFill>
          <a:ln w="19050" algn="ctr">
            <a:noFill/>
            <a:miter lim="800000"/>
            <a:headEnd/>
            <a:tailEnd/>
          </a:ln>
          <a:effectLst>
            <a:innerShdw blurRad="63500" dist="50800">
              <a:prstClr val="black">
                <a:alpha val="50000"/>
              </a:prstClr>
            </a:inn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1</a:t>
            </a:r>
          </a:p>
        </p:txBody>
      </p:sp>
      <p:sp>
        <p:nvSpPr>
          <p:cNvPr id="80" name="Rectangle 79">
            <a:extLst>
              <a:ext uri="{FF2B5EF4-FFF2-40B4-BE49-F238E27FC236}">
                <a16:creationId xmlns:a16="http://schemas.microsoft.com/office/drawing/2014/main" id="{BAA6EC78-1D1C-403D-B472-3700439CB03B}"/>
              </a:ext>
            </a:extLst>
          </p:cNvPr>
          <p:cNvSpPr/>
          <p:nvPr/>
        </p:nvSpPr>
        <p:spPr bwMode="gray">
          <a:xfrm>
            <a:off x="3489569" y="4194104"/>
            <a:ext cx="1213875" cy="392776"/>
          </a:xfrm>
          <a:prstGeom prst="rect">
            <a:avLst/>
          </a:prstGeom>
          <a:noFill/>
          <a:ln w="38100" algn="ctr">
            <a:solidFill>
              <a:schemeClr val="accent2"/>
            </a:solidFill>
            <a:prstDash val="solid"/>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1200" cap="none" spc="0" normalizeH="0" baseline="0" noProof="0">
              <a:ln>
                <a:noFill/>
              </a:ln>
              <a:solidFill>
                <a:prstClr val="white"/>
              </a:solidFill>
              <a:effectLst/>
              <a:uLnTx/>
              <a:uFillTx/>
              <a:latin typeface="Open Sans"/>
              <a:ea typeface="+mn-ea"/>
              <a:cs typeface="+mn-cs"/>
            </a:endParaRPr>
          </a:p>
        </p:txBody>
      </p:sp>
      <p:sp>
        <p:nvSpPr>
          <p:cNvPr id="81" name="Rectangle 80">
            <a:extLst>
              <a:ext uri="{FF2B5EF4-FFF2-40B4-BE49-F238E27FC236}">
                <a16:creationId xmlns:a16="http://schemas.microsoft.com/office/drawing/2014/main" id="{3135A5A4-E21F-4F5F-93BF-884526022585}"/>
              </a:ext>
            </a:extLst>
          </p:cNvPr>
          <p:cNvSpPr/>
          <p:nvPr/>
        </p:nvSpPr>
        <p:spPr>
          <a:xfrm>
            <a:off x="3455216" y="4223313"/>
            <a:ext cx="1360811" cy="338554"/>
          </a:xfrm>
          <a:prstGeom prst="rect">
            <a:avLst/>
          </a:prstGeom>
        </p:spPr>
        <p:txBody>
          <a:bodyPr wrap="square">
            <a:spAutoFit/>
          </a:bodyPr>
          <a:lstStyle/>
          <a:p>
            <a:pPr marL="0" marR="0" lvl="0" indent="0" defTabSz="685800" rtl="0" eaLnBrk="1" fontAlgn="auto" latinLnBrk="0" hangingPunct="1">
              <a:lnSpc>
                <a:spcPct val="100000"/>
              </a:lnSpc>
              <a:spcBef>
                <a:spcPts val="450"/>
              </a:spcBef>
              <a:spcAft>
                <a:spcPts val="0"/>
              </a:spcAft>
              <a:buClrTx/>
              <a:buSzPct val="100000"/>
              <a:buFontTx/>
              <a:buNone/>
              <a:tabLst/>
              <a:defRPr/>
            </a:pPr>
            <a:r>
              <a:rPr kumimoji="0" lang="en-US" sz="800" b="1" i="0" u="none" strike="noStrike" kern="1200" cap="none" spc="0" normalizeH="0" baseline="0" noProof="0">
                <a:ln>
                  <a:noFill/>
                </a:ln>
                <a:solidFill>
                  <a:prstClr val="black"/>
                </a:solidFill>
                <a:effectLst/>
                <a:uLnTx/>
                <a:uFillTx/>
                <a:latin typeface="Open Sans"/>
                <a:ea typeface="+mn-ea"/>
                <a:cs typeface="+mn-cs"/>
              </a:rPr>
              <a:t>Receive Error/Logging Payload + Attachment</a:t>
            </a:r>
          </a:p>
        </p:txBody>
      </p:sp>
      <p:sp>
        <p:nvSpPr>
          <p:cNvPr id="82" name="Rectangle 81">
            <a:extLst>
              <a:ext uri="{FF2B5EF4-FFF2-40B4-BE49-F238E27FC236}">
                <a16:creationId xmlns:a16="http://schemas.microsoft.com/office/drawing/2014/main" id="{703B63FA-4906-4D33-B19A-C6AA7D4C9DAB}"/>
              </a:ext>
            </a:extLst>
          </p:cNvPr>
          <p:cNvSpPr/>
          <p:nvPr/>
        </p:nvSpPr>
        <p:spPr bwMode="gray">
          <a:xfrm>
            <a:off x="5599228" y="4193496"/>
            <a:ext cx="1534434" cy="392776"/>
          </a:xfrm>
          <a:prstGeom prst="rect">
            <a:avLst/>
          </a:prstGeom>
          <a:noFill/>
          <a:ln w="38100" algn="ctr">
            <a:solidFill>
              <a:schemeClr val="accent2"/>
            </a:solidFill>
            <a:prstDash val="solid"/>
            <a:miter lim="800000"/>
            <a:headEnd/>
            <a:tailEnd/>
          </a:ln>
        </p:spPr>
        <p:txBody>
          <a:bodyPr wrap="square" lIns="66675" tIns="66675" rIns="66675" bIns="66675" rtlCol="0" anchor="ctr"/>
          <a:lstStyle/>
          <a:p>
            <a:pPr marL="0" marR="0" lvl="0" indent="0" algn="ctr" defTabSz="685800" rtl="0" eaLnBrk="1" fontAlgn="auto" latinLnBrk="0" hangingPunct="1">
              <a:lnSpc>
                <a:spcPct val="106000"/>
              </a:lnSpc>
              <a:spcBef>
                <a:spcPts val="0"/>
              </a:spcBef>
              <a:spcAft>
                <a:spcPts val="0"/>
              </a:spcAft>
              <a:buClrTx/>
              <a:buSzTx/>
              <a:buFontTx/>
              <a:buNone/>
              <a:tabLst/>
              <a:defRPr/>
            </a:pPr>
            <a:endParaRPr kumimoji="0" lang="en-US" sz="750" b="1" i="0" u="none" strike="noStrike" kern="1200" cap="none" spc="0" normalizeH="0" baseline="0" noProof="0">
              <a:ln>
                <a:noFill/>
              </a:ln>
              <a:solidFill>
                <a:prstClr val="white"/>
              </a:solidFill>
              <a:effectLst/>
              <a:uLnTx/>
              <a:uFillTx/>
              <a:latin typeface="Open Sans"/>
              <a:ea typeface="+mn-ea"/>
              <a:cs typeface="+mn-cs"/>
            </a:endParaRPr>
          </a:p>
        </p:txBody>
      </p:sp>
      <p:sp>
        <p:nvSpPr>
          <p:cNvPr id="83" name="Rectangle 82">
            <a:extLst>
              <a:ext uri="{FF2B5EF4-FFF2-40B4-BE49-F238E27FC236}">
                <a16:creationId xmlns:a16="http://schemas.microsoft.com/office/drawing/2014/main" id="{A2CBABA7-1BFC-4B83-A13C-3C387083B0A5}"/>
              </a:ext>
            </a:extLst>
          </p:cNvPr>
          <p:cNvSpPr/>
          <p:nvPr/>
        </p:nvSpPr>
        <p:spPr>
          <a:xfrm>
            <a:off x="5564875" y="4222705"/>
            <a:ext cx="1692402" cy="338554"/>
          </a:xfrm>
          <a:prstGeom prst="rect">
            <a:avLst/>
          </a:prstGeom>
        </p:spPr>
        <p:txBody>
          <a:bodyPr wrap="square">
            <a:spAutoFit/>
          </a:bodyPr>
          <a:lstStyle/>
          <a:p>
            <a:pPr marL="0" marR="0" lvl="0" indent="0" defTabSz="685800" rtl="0" eaLnBrk="1" fontAlgn="auto" latinLnBrk="0" hangingPunct="1">
              <a:lnSpc>
                <a:spcPct val="100000"/>
              </a:lnSpc>
              <a:spcBef>
                <a:spcPts val="450"/>
              </a:spcBef>
              <a:spcAft>
                <a:spcPts val="0"/>
              </a:spcAft>
              <a:buClrTx/>
              <a:buSzPct val="100000"/>
              <a:buFontTx/>
              <a:buNone/>
              <a:tabLst/>
              <a:defRPr/>
            </a:pPr>
            <a:r>
              <a:rPr kumimoji="0" lang="en-US" sz="800" b="1" i="0" u="none" strike="noStrike" kern="1200" cap="none" spc="0" normalizeH="0" baseline="0" noProof="0">
                <a:ln>
                  <a:noFill/>
                </a:ln>
                <a:solidFill>
                  <a:prstClr val="black"/>
                </a:solidFill>
                <a:effectLst/>
                <a:uLnTx/>
                <a:uFillTx/>
                <a:latin typeface="Open Sans"/>
                <a:ea typeface="+mn-ea"/>
                <a:cs typeface="+mn-cs"/>
              </a:rPr>
              <a:t>Push Payload data to respective ATP/DBCS tables</a:t>
            </a:r>
          </a:p>
        </p:txBody>
      </p:sp>
      <p:cxnSp>
        <p:nvCxnSpPr>
          <p:cNvPr id="84" name="Connector: Elbow 9">
            <a:extLst>
              <a:ext uri="{FF2B5EF4-FFF2-40B4-BE49-F238E27FC236}">
                <a16:creationId xmlns:a16="http://schemas.microsoft.com/office/drawing/2014/main" id="{5A2B62E2-1A23-4489-A807-134BF8987ADA}"/>
              </a:ext>
            </a:extLst>
          </p:cNvPr>
          <p:cNvCxnSpPr>
            <a:cxnSpLocks/>
          </p:cNvCxnSpPr>
          <p:nvPr/>
        </p:nvCxnSpPr>
        <p:spPr>
          <a:xfrm>
            <a:off x="4752151" y="4400630"/>
            <a:ext cx="812724" cy="0"/>
          </a:xfrm>
          <a:prstGeom prst="straightConnector1">
            <a:avLst/>
          </a:prstGeom>
          <a:noFill/>
          <a:ln w="41275" cap="flat" cmpd="sng" algn="ctr">
            <a:solidFill>
              <a:schemeClr val="accent6">
                <a:lumMod val="75000"/>
              </a:schemeClr>
            </a:solidFill>
            <a:prstDash val="solid"/>
            <a:headEnd type="none"/>
            <a:tailEnd type="triangle"/>
          </a:ln>
          <a:effectLst/>
        </p:spPr>
      </p:cxnSp>
      <p:sp>
        <p:nvSpPr>
          <p:cNvPr id="85" name="Content Placeholder 1">
            <a:extLst>
              <a:ext uri="{FF2B5EF4-FFF2-40B4-BE49-F238E27FC236}">
                <a16:creationId xmlns:a16="http://schemas.microsoft.com/office/drawing/2014/main" id="{9B9C8F0C-4C28-4CD7-A79A-9175A7F8C1AD}"/>
              </a:ext>
            </a:extLst>
          </p:cNvPr>
          <p:cNvSpPr txBox="1">
            <a:spLocks/>
          </p:cNvSpPr>
          <p:nvPr/>
        </p:nvSpPr>
        <p:spPr>
          <a:xfrm>
            <a:off x="541593" y="6025938"/>
            <a:ext cx="6087681" cy="176518"/>
          </a:xfrm>
          <a:prstGeom prst="rect">
            <a:avLst/>
          </a:prstGeom>
        </p:spPr>
        <p:txBody>
          <a:bodyPr/>
          <a:lstStyle>
            <a:lvl1pPr marL="0" indent="0" algn="l" defTabSz="914400" rtl="0" eaLnBrk="1" latinLnBrk="0" hangingPunct="1">
              <a:spcBef>
                <a:spcPts val="0"/>
              </a:spcBef>
              <a:spcAft>
                <a:spcPts val="1000"/>
              </a:spcAft>
              <a:buSzPct val="100000"/>
              <a:buFontTx/>
              <a:buNone/>
              <a:defRPr sz="1200" b="0" kern="1200">
                <a:solidFill>
                  <a:schemeClr val="tx1"/>
                </a:solidFill>
                <a:latin typeface="+mn-lt"/>
                <a:ea typeface="+mn-ea"/>
                <a:cs typeface="+mn-cs"/>
              </a:defRPr>
            </a:lvl1pPr>
            <a:lvl2pPr marL="127000" indent="-127000" algn="l" defTabSz="914400" rtl="0" eaLnBrk="1" latinLnBrk="0" hangingPunct="1">
              <a:spcBef>
                <a:spcPts val="0"/>
              </a:spcBef>
              <a:spcAft>
                <a:spcPts val="1000"/>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798513" rtl="0" eaLnBrk="1" latinLnBrk="0" hangingPunct="1">
              <a:spcBef>
                <a:spcPts val="0"/>
              </a:spcBef>
              <a:spcAft>
                <a:spcPts val="100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115887"/>
            <a:r>
              <a:rPr lang="en-US" sz="900" i="1">
                <a:solidFill>
                  <a:schemeClr val="accent5">
                    <a:lumMod val="50000"/>
                  </a:schemeClr>
                </a:solidFill>
                <a:latin typeface="Calibri" panose="020F0502020204030204" pitchFamily="34" charset="0"/>
                <a:ea typeface="Open Sans" panose="020B0606030504020204" pitchFamily="34" charset="0"/>
                <a:cs typeface="Calibri" panose="020F0502020204030204" pitchFamily="34" charset="0"/>
              </a:rPr>
              <a:t>** This is an illustrative list of scenarios only, detailed design and scenarios will be covered in build phase</a:t>
            </a:r>
          </a:p>
        </p:txBody>
      </p:sp>
      <p:sp>
        <p:nvSpPr>
          <p:cNvPr id="86" name="Oval 85">
            <a:extLst>
              <a:ext uri="{FF2B5EF4-FFF2-40B4-BE49-F238E27FC236}">
                <a16:creationId xmlns:a16="http://schemas.microsoft.com/office/drawing/2014/main" id="{050D4A20-4D2B-4B2D-B6F0-D6CCA653C6BE}"/>
              </a:ext>
            </a:extLst>
          </p:cNvPr>
          <p:cNvSpPr/>
          <p:nvPr/>
        </p:nvSpPr>
        <p:spPr bwMode="gray">
          <a:xfrm>
            <a:off x="756667" y="5137591"/>
            <a:ext cx="296855" cy="276276"/>
          </a:xfrm>
          <a:prstGeom prst="ellipse">
            <a:avLst/>
          </a:prstGeom>
          <a:solidFill>
            <a:srgbClr val="92D050"/>
          </a:solidFill>
          <a:ln w="19050" algn="ctr">
            <a:noFill/>
            <a:miter lim="800000"/>
            <a:headEnd/>
            <a:tailEnd/>
          </a:ln>
          <a:effectLst>
            <a:innerShdw blurRad="63500" dist="50800">
              <a:prstClr val="black">
                <a:alpha val="50000"/>
              </a:prstClr>
            </a:inn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7" name="Content Placeholder 1">
            <a:extLst>
              <a:ext uri="{FF2B5EF4-FFF2-40B4-BE49-F238E27FC236}">
                <a16:creationId xmlns:a16="http://schemas.microsoft.com/office/drawing/2014/main" id="{94F5F396-A7FF-470E-A79B-A50551283B81}"/>
              </a:ext>
            </a:extLst>
          </p:cNvPr>
          <p:cNvSpPr txBox="1">
            <a:spLocks/>
          </p:cNvSpPr>
          <p:nvPr/>
        </p:nvSpPr>
        <p:spPr>
          <a:xfrm>
            <a:off x="907574" y="5167854"/>
            <a:ext cx="6087681" cy="176518"/>
          </a:xfrm>
          <a:prstGeom prst="rect">
            <a:avLst/>
          </a:prstGeom>
        </p:spPr>
        <p:txBody>
          <a:bodyPr/>
          <a:lstStyle>
            <a:lvl1pPr marL="0" indent="0" algn="l" defTabSz="914400" rtl="0" eaLnBrk="1" latinLnBrk="0" hangingPunct="1">
              <a:spcBef>
                <a:spcPts val="0"/>
              </a:spcBef>
              <a:spcAft>
                <a:spcPts val="1000"/>
              </a:spcAft>
              <a:buSzPct val="100000"/>
              <a:buFontTx/>
              <a:buNone/>
              <a:defRPr sz="1200" b="0" kern="1200">
                <a:solidFill>
                  <a:schemeClr val="tx1"/>
                </a:solidFill>
                <a:latin typeface="+mn-lt"/>
                <a:ea typeface="+mn-ea"/>
                <a:cs typeface="+mn-cs"/>
              </a:defRPr>
            </a:lvl1pPr>
            <a:lvl2pPr marL="127000" indent="-127000" algn="l" defTabSz="914400" rtl="0" eaLnBrk="1" latinLnBrk="0" hangingPunct="1">
              <a:spcBef>
                <a:spcPts val="0"/>
              </a:spcBef>
              <a:spcAft>
                <a:spcPts val="1000"/>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798513" rtl="0" eaLnBrk="1" latinLnBrk="0" hangingPunct="1">
              <a:spcBef>
                <a:spcPts val="0"/>
              </a:spcBef>
              <a:spcAft>
                <a:spcPts val="100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115887"/>
            <a:r>
              <a:rPr lang="en-US" sz="900" i="1">
                <a:latin typeface="Calibri" panose="020F0502020204030204" pitchFamily="34" charset="0"/>
                <a:ea typeface="Open Sans" panose="020B0606030504020204" pitchFamily="34" charset="0"/>
                <a:cs typeface="Calibri" panose="020F0502020204030204" pitchFamily="34" charset="0"/>
              </a:rPr>
              <a:t>These logical failure points triggers Common Error Handler Integration.</a:t>
            </a:r>
          </a:p>
        </p:txBody>
      </p:sp>
      <p:pic>
        <p:nvPicPr>
          <p:cNvPr id="88" name="Picture 87">
            <a:extLst>
              <a:ext uri="{FF2B5EF4-FFF2-40B4-BE49-F238E27FC236}">
                <a16:creationId xmlns:a16="http://schemas.microsoft.com/office/drawing/2014/main" id="{7A30DEA7-A967-4C54-9296-542DDBCE149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33960" y="1723421"/>
            <a:ext cx="1135391" cy="909190"/>
          </a:xfrm>
          <a:prstGeom prst="rect">
            <a:avLst/>
          </a:prstGeom>
        </p:spPr>
      </p:pic>
      <p:pic>
        <p:nvPicPr>
          <p:cNvPr id="89" name="Picture 88" descr="A picture containing text&#10;&#10;Description automatically generated">
            <a:extLst>
              <a:ext uri="{FF2B5EF4-FFF2-40B4-BE49-F238E27FC236}">
                <a16:creationId xmlns:a16="http://schemas.microsoft.com/office/drawing/2014/main" id="{25FC78D2-6284-49E3-8929-12B0F5AC6AF3}"/>
              </a:ext>
            </a:extLst>
          </p:cNvPr>
          <p:cNvPicPr>
            <a:picLocks noChangeAspect="1"/>
          </p:cNvPicPr>
          <p:nvPr/>
        </p:nvPicPr>
        <p:blipFill rotWithShape="1">
          <a:blip r:embed="rId9"/>
          <a:srcRect t="72253" r="32706" b="-593"/>
          <a:stretch/>
        </p:blipFill>
        <p:spPr>
          <a:xfrm>
            <a:off x="5677" y="5373400"/>
            <a:ext cx="6372225" cy="1515424"/>
          </a:xfrm>
          <a:prstGeom prst="rect">
            <a:avLst/>
          </a:prstGeom>
        </p:spPr>
      </p:pic>
      <p:pic>
        <p:nvPicPr>
          <p:cNvPr id="90" name="Picture 89" descr="A picture containing text&#10;&#10;Description automatically generated">
            <a:extLst>
              <a:ext uri="{FF2B5EF4-FFF2-40B4-BE49-F238E27FC236}">
                <a16:creationId xmlns:a16="http://schemas.microsoft.com/office/drawing/2014/main" id="{0526B93F-483A-44C8-8773-9A418E217CA1}"/>
              </a:ext>
            </a:extLst>
          </p:cNvPr>
          <p:cNvPicPr>
            <a:picLocks noChangeAspect="1"/>
          </p:cNvPicPr>
          <p:nvPr/>
        </p:nvPicPr>
        <p:blipFill rotWithShape="1">
          <a:blip r:embed="rId9"/>
          <a:srcRect t="86960" r="37534" b="-593"/>
          <a:stretch/>
        </p:blipFill>
        <p:spPr>
          <a:xfrm flipH="1">
            <a:off x="7072310" y="6182240"/>
            <a:ext cx="5119687" cy="746403"/>
          </a:xfrm>
          <a:prstGeom prst="rect">
            <a:avLst/>
          </a:prstGeom>
        </p:spPr>
      </p:pic>
    </p:spTree>
    <p:extLst>
      <p:ext uri="{BB962C8B-B14F-4D97-AF65-F5344CB8AC3E}">
        <p14:creationId xmlns:p14="http://schemas.microsoft.com/office/powerpoint/2010/main" val="1602027165"/>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E7FB61B-3FDA-4F1C-AFF9-A90D2032811B}"/>
              </a:ext>
            </a:extLst>
          </p:cNvPr>
          <p:cNvGraphicFramePr>
            <a:graphicFrameLocks noGrp="1"/>
          </p:cNvGraphicFramePr>
          <p:nvPr>
            <p:extLst>
              <p:ext uri="{D42A27DB-BD31-4B8C-83A1-F6EECF244321}">
                <p14:modId xmlns:p14="http://schemas.microsoft.com/office/powerpoint/2010/main" val="1496375387"/>
              </p:ext>
            </p:extLst>
          </p:nvPr>
        </p:nvGraphicFramePr>
        <p:xfrm>
          <a:off x="598514" y="1017142"/>
          <a:ext cx="11102811" cy="5436379"/>
        </p:xfrm>
        <a:graphic>
          <a:graphicData uri="http://schemas.openxmlformats.org/drawingml/2006/table">
            <a:tbl>
              <a:tblPr firstRow="1">
                <a:tableStyleId>{073A0DAA-6AF3-43AB-8588-CEC1D06C72B9}</a:tableStyleId>
              </a:tblPr>
              <a:tblGrid>
                <a:gridCol w="2340697">
                  <a:extLst>
                    <a:ext uri="{9D8B030D-6E8A-4147-A177-3AD203B41FA5}">
                      <a16:colId xmlns:a16="http://schemas.microsoft.com/office/drawing/2014/main" val="173588075"/>
                    </a:ext>
                  </a:extLst>
                </a:gridCol>
                <a:gridCol w="4167963">
                  <a:extLst>
                    <a:ext uri="{9D8B030D-6E8A-4147-A177-3AD203B41FA5}">
                      <a16:colId xmlns:a16="http://schemas.microsoft.com/office/drawing/2014/main" val="1896641053"/>
                    </a:ext>
                  </a:extLst>
                </a:gridCol>
                <a:gridCol w="4594151">
                  <a:extLst>
                    <a:ext uri="{9D8B030D-6E8A-4147-A177-3AD203B41FA5}">
                      <a16:colId xmlns:a16="http://schemas.microsoft.com/office/drawing/2014/main" val="498476930"/>
                    </a:ext>
                  </a:extLst>
                </a:gridCol>
              </a:tblGrid>
              <a:tr h="187124">
                <a:tc>
                  <a:txBody>
                    <a:bodyPr/>
                    <a:lstStyle/>
                    <a:p>
                      <a:pPr marL="0" marR="0" algn="ctr">
                        <a:spcBef>
                          <a:spcPts val="300"/>
                        </a:spcBef>
                        <a:spcAft>
                          <a:spcPts val="300"/>
                        </a:spcAft>
                      </a:pPr>
                      <a:r>
                        <a:rPr lang="en-US" sz="1200">
                          <a:effectLst/>
                        </a:rPr>
                        <a:t>Error Categories</a:t>
                      </a:r>
                      <a:endParaRPr lang="en-US" sz="12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5806" marR="25806" marT="0" marB="0">
                    <a:solidFill>
                      <a:srgbClr val="007CB0"/>
                    </a:solidFill>
                  </a:tcPr>
                </a:tc>
                <a:tc>
                  <a:txBody>
                    <a:bodyPr/>
                    <a:lstStyle/>
                    <a:p>
                      <a:pPr marL="0" marR="0" algn="ctr">
                        <a:spcBef>
                          <a:spcPts val="300"/>
                        </a:spcBef>
                        <a:spcAft>
                          <a:spcPts val="300"/>
                        </a:spcAft>
                      </a:pPr>
                      <a:r>
                        <a:rPr lang="en-US" sz="1200">
                          <a:effectLst/>
                        </a:rPr>
                        <a:t>Error Handling</a:t>
                      </a:r>
                      <a:endParaRPr lang="en-US" sz="12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5806" marR="25806" marT="0" marB="0">
                    <a:solidFill>
                      <a:srgbClr val="007CB0"/>
                    </a:solidFill>
                  </a:tcPr>
                </a:tc>
                <a:tc>
                  <a:txBody>
                    <a:bodyPr/>
                    <a:lstStyle/>
                    <a:p>
                      <a:pPr marL="0" marR="0" algn="ctr">
                        <a:spcBef>
                          <a:spcPts val="300"/>
                        </a:spcBef>
                        <a:spcAft>
                          <a:spcPts val="300"/>
                        </a:spcAft>
                      </a:pPr>
                      <a:r>
                        <a:rPr lang="en-US" sz="1200">
                          <a:effectLst/>
                        </a:rPr>
                        <a:t>Correction Mechanism</a:t>
                      </a:r>
                      <a:endParaRPr lang="en-US" sz="12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5806" marR="25806" marT="0" marB="0">
                    <a:solidFill>
                      <a:srgbClr val="007CB0"/>
                    </a:solidFill>
                  </a:tcPr>
                </a:tc>
                <a:extLst>
                  <a:ext uri="{0D108BD9-81ED-4DB2-BD59-A6C34878D82A}">
                    <a16:rowId xmlns:a16="http://schemas.microsoft.com/office/drawing/2014/main" val="527311523"/>
                  </a:ext>
                </a:extLst>
              </a:tr>
              <a:tr h="846281">
                <a:tc>
                  <a:txBody>
                    <a:bodyPr/>
                    <a:lstStyle/>
                    <a:p>
                      <a:pPr marL="0" marR="0">
                        <a:spcBef>
                          <a:spcPts val="0"/>
                        </a:spcBef>
                        <a:spcAft>
                          <a:spcPts val="0"/>
                        </a:spcAft>
                      </a:pPr>
                      <a:r>
                        <a:rPr lang="en-US" sz="1200">
                          <a:effectLst/>
                        </a:rPr>
                        <a:t>Data file errors and decryption failures</a:t>
                      </a:r>
                      <a:endParaRPr lang="en-US" sz="1200">
                        <a:effectLst/>
                        <a:latin typeface="Arial" panose="020B060402020202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This error happens mainly because of invalid/corrupted data files.</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For example, missing column or data type may produce errors while loading data.</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Manual; contact source application owner to confirm if the data provided is adhering to agreed format.</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Verify encryption passphrases and keys.</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extLst>
                  <a:ext uri="{0D108BD9-81ED-4DB2-BD59-A6C34878D82A}">
                    <a16:rowId xmlns:a16="http://schemas.microsoft.com/office/drawing/2014/main" val="2913392738"/>
                  </a:ext>
                </a:extLst>
              </a:tr>
              <a:tr h="799792">
                <a:tc>
                  <a:txBody>
                    <a:bodyPr/>
                    <a:lstStyle/>
                    <a:p>
                      <a:pPr marL="0" marR="0">
                        <a:spcBef>
                          <a:spcPts val="0"/>
                        </a:spcBef>
                        <a:spcAft>
                          <a:spcPts val="0"/>
                        </a:spcAft>
                      </a:pPr>
                      <a:r>
                        <a:rPr lang="en-US" sz="1200">
                          <a:effectLst/>
                        </a:rPr>
                        <a:t>Custom validation errors from Inbound interfaces</a:t>
                      </a:r>
                      <a:endParaRPr lang="en-US" sz="1200">
                        <a:effectLst/>
                        <a:latin typeface="Arial" panose="020B060402020202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All errors along with the description should be listed in the log file against each record. </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Validation and error report should be generated and shared.</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Identify the cause of validation error</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Perform the required setups or missing configurations</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Resubmit the interface program</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extLst>
                  <a:ext uri="{0D108BD9-81ED-4DB2-BD59-A6C34878D82A}">
                    <a16:rowId xmlns:a16="http://schemas.microsoft.com/office/drawing/2014/main" val="4195383965"/>
                  </a:ext>
                </a:extLst>
              </a:tr>
              <a:tr h="631088">
                <a:tc>
                  <a:txBody>
                    <a:bodyPr/>
                    <a:lstStyle/>
                    <a:p>
                      <a:pPr marL="0" marR="0">
                        <a:spcBef>
                          <a:spcPts val="0"/>
                        </a:spcBef>
                        <a:spcAft>
                          <a:spcPts val="0"/>
                        </a:spcAft>
                      </a:pPr>
                      <a:r>
                        <a:rPr lang="en-US" sz="1200">
                          <a:effectLst/>
                        </a:rPr>
                        <a:t>Custom validation errors from outbound interfaces</a:t>
                      </a:r>
                      <a:endParaRPr lang="en-US" sz="1200">
                        <a:effectLst/>
                        <a:latin typeface="Arial" panose="020B060402020202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All validation errors reported for outbound integrations should be sent for manual maintenance.</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Identify the cause of validation error</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Perform the required setups or missing configurations</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Resubmit the interface program</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extLst>
                  <a:ext uri="{0D108BD9-81ED-4DB2-BD59-A6C34878D82A}">
                    <a16:rowId xmlns:a16="http://schemas.microsoft.com/office/drawing/2014/main" val="2013353951"/>
                  </a:ext>
                </a:extLst>
              </a:tr>
              <a:tr h="631088">
                <a:tc>
                  <a:txBody>
                    <a:bodyPr/>
                    <a:lstStyle/>
                    <a:p>
                      <a:pPr marL="0" marR="0">
                        <a:spcBef>
                          <a:spcPts val="0"/>
                        </a:spcBef>
                        <a:spcAft>
                          <a:spcPts val="0"/>
                        </a:spcAft>
                      </a:pPr>
                      <a:r>
                        <a:rPr lang="en-US" sz="1200">
                          <a:effectLst/>
                        </a:rPr>
                        <a:t>Staging table load/data-related errors</a:t>
                      </a:r>
                      <a:endParaRPr lang="en-US" sz="1200">
                        <a:effectLst/>
                        <a:latin typeface="Arial" panose="020B060402020202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Errors due to missing configuration or invalid data</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Identify the cause of error</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Perform the required setups or missing configurations</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Resubmit the interface program</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extLst>
                  <a:ext uri="{0D108BD9-81ED-4DB2-BD59-A6C34878D82A}">
                    <a16:rowId xmlns:a16="http://schemas.microsoft.com/office/drawing/2014/main" val="995028893"/>
                  </a:ext>
                </a:extLst>
              </a:tr>
              <a:tr h="631088">
                <a:tc>
                  <a:txBody>
                    <a:bodyPr/>
                    <a:lstStyle/>
                    <a:p>
                      <a:pPr marL="0" marR="0">
                        <a:spcBef>
                          <a:spcPts val="0"/>
                        </a:spcBef>
                        <a:spcAft>
                          <a:spcPts val="0"/>
                        </a:spcAft>
                      </a:pPr>
                      <a:r>
                        <a:rPr lang="en-US" sz="1200">
                          <a:effectLst/>
                        </a:rPr>
                        <a:t>Import process errors</a:t>
                      </a:r>
                      <a:endParaRPr lang="en-US" sz="1200">
                        <a:effectLst/>
                        <a:latin typeface="Arial" panose="020B060402020202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Errors originating from ERP Cloud-delivered jobs can be viewed and verified using delivered user interface from Oracle.</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Use the standard user interface to correct the errors</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Resubmit the standard Import after correcting the data file</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extLst>
                  <a:ext uri="{0D108BD9-81ED-4DB2-BD59-A6C34878D82A}">
                    <a16:rowId xmlns:a16="http://schemas.microsoft.com/office/drawing/2014/main" val="1561892087"/>
                  </a:ext>
                </a:extLst>
              </a:tr>
              <a:tr h="1078830">
                <a:tc>
                  <a:txBody>
                    <a:bodyPr/>
                    <a:lstStyle/>
                    <a:p>
                      <a:pPr marL="0" marR="0">
                        <a:spcBef>
                          <a:spcPts val="0"/>
                        </a:spcBef>
                        <a:spcAft>
                          <a:spcPts val="0"/>
                        </a:spcAft>
                      </a:pPr>
                      <a:r>
                        <a:rPr lang="en-US" sz="1200">
                          <a:effectLst/>
                        </a:rPr>
                        <a:t>Connection to HTTPS server/infrastructure related</a:t>
                      </a:r>
                      <a:endParaRPr lang="en-US" sz="1200">
                        <a:effectLst/>
                        <a:latin typeface="Arial" panose="020B060402020202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Errors due to infrastructure and system failure</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All scheduled interface programs should automatically run once system errors are fixed. For example, scheduled programs will run automatically after Oracle ERP Cloud patching.</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Program errors due to system failure will be manually restarted once the system errors are fixed.</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extLst>
                  <a:ext uri="{0D108BD9-81ED-4DB2-BD59-A6C34878D82A}">
                    <a16:rowId xmlns:a16="http://schemas.microsoft.com/office/drawing/2014/main" val="882935598"/>
                  </a:ext>
                </a:extLst>
              </a:tr>
              <a:tr h="631088">
                <a:tc>
                  <a:txBody>
                    <a:bodyPr/>
                    <a:lstStyle/>
                    <a:p>
                      <a:pPr marL="0" marR="0">
                        <a:spcBef>
                          <a:spcPts val="0"/>
                        </a:spcBef>
                        <a:spcAft>
                          <a:spcPts val="0"/>
                        </a:spcAft>
                      </a:pPr>
                      <a:r>
                        <a:rPr lang="en-US" sz="1200">
                          <a:effectLst/>
                        </a:rPr>
                        <a:t>Web service invocation fails</a:t>
                      </a:r>
                      <a:endParaRPr lang="en-US" sz="1200">
                        <a:effectLst/>
                        <a:latin typeface="Arial" panose="020B060402020202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Error when invoking Web services</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tc>
                  <a:txBody>
                    <a:bodyPr/>
                    <a:lstStyle/>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Verify if all the applications involved are up and running</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Verify service access and user access</a:t>
                      </a:r>
                    </a:p>
                    <a:p>
                      <a:pPr marL="342900" marR="0" lvl="0" indent="-342900">
                        <a:lnSpc>
                          <a:spcPct val="115000"/>
                        </a:lnSpc>
                        <a:spcBef>
                          <a:spcPts val="0"/>
                        </a:spcBef>
                        <a:spcAft>
                          <a:spcPts val="0"/>
                        </a:spcAft>
                        <a:buSzPts val="1000"/>
                        <a:buFont typeface="Arial" panose="020B0604020202020204" pitchFamily="34" charset="0"/>
                        <a:buChar char="•"/>
                      </a:pPr>
                      <a:r>
                        <a:rPr lang="en-US" sz="1200">
                          <a:effectLst/>
                        </a:rPr>
                        <a:t>Resubmit after taking corrective actions</a:t>
                      </a:r>
                      <a:endParaRPr lang="en-US" sz="1200">
                        <a:effectLst/>
                        <a:latin typeface="Verdana" panose="020B0604030504040204" pitchFamily="34" charset="0"/>
                        <a:ea typeface="Calibri" panose="020F0502020204030204" pitchFamily="34" charset="0"/>
                        <a:cs typeface="Times New Roman" panose="02020603050405020304" pitchFamily="18" charset="0"/>
                      </a:endParaRPr>
                    </a:p>
                  </a:txBody>
                  <a:tcPr marL="25806" marR="25806" marT="0" marB="0"/>
                </a:tc>
                <a:extLst>
                  <a:ext uri="{0D108BD9-81ED-4DB2-BD59-A6C34878D82A}">
                    <a16:rowId xmlns:a16="http://schemas.microsoft.com/office/drawing/2014/main" val="1999364154"/>
                  </a:ext>
                </a:extLst>
              </a:tr>
            </a:tbl>
          </a:graphicData>
        </a:graphic>
      </p:graphicFrame>
      <p:sp>
        <p:nvSpPr>
          <p:cNvPr id="5" name="Title 2">
            <a:extLst>
              <a:ext uri="{FF2B5EF4-FFF2-40B4-BE49-F238E27FC236}">
                <a16:creationId xmlns:a16="http://schemas.microsoft.com/office/drawing/2014/main" id="{628862C6-C5F2-4936-8EB0-C4D1E14D810C}"/>
              </a:ext>
            </a:extLst>
          </p:cNvPr>
          <p:cNvSpPr txBox="1">
            <a:spLocks/>
          </p:cNvSpPr>
          <p:nvPr/>
        </p:nvSpPr>
        <p:spPr>
          <a:xfrm>
            <a:off x="598514" y="170624"/>
            <a:ext cx="11188700" cy="43108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nSpc>
                <a:spcPct val="100000"/>
              </a:lnSpc>
            </a:pPr>
            <a:r>
              <a:rPr lang="en-US"/>
              <a:t>Integration – Error Types and Correction Mechanism </a:t>
            </a:r>
          </a:p>
        </p:txBody>
      </p:sp>
      <p:pic>
        <p:nvPicPr>
          <p:cNvPr id="4" name="Picture 3" descr="A picture containing text&#10;&#10;Description automatically generated">
            <a:extLst>
              <a:ext uri="{FF2B5EF4-FFF2-40B4-BE49-F238E27FC236}">
                <a16:creationId xmlns:a16="http://schemas.microsoft.com/office/drawing/2014/main" id="{498054C1-2117-41D8-90C3-3D7783D359EB}"/>
              </a:ext>
            </a:extLst>
          </p:cNvPr>
          <p:cNvPicPr>
            <a:picLocks noChangeAspect="1"/>
          </p:cNvPicPr>
          <p:nvPr/>
        </p:nvPicPr>
        <p:blipFill rotWithShape="1">
          <a:blip r:embed="rId3"/>
          <a:srcRect t="72253" r="32706" b="-593"/>
          <a:stretch/>
        </p:blipFill>
        <p:spPr>
          <a:xfrm>
            <a:off x="5677" y="5373400"/>
            <a:ext cx="6372225" cy="1515424"/>
          </a:xfrm>
          <a:prstGeom prst="rect">
            <a:avLst/>
          </a:prstGeom>
        </p:spPr>
      </p:pic>
      <p:pic>
        <p:nvPicPr>
          <p:cNvPr id="6" name="Picture 5" descr="A picture containing text&#10;&#10;Description automatically generated">
            <a:extLst>
              <a:ext uri="{FF2B5EF4-FFF2-40B4-BE49-F238E27FC236}">
                <a16:creationId xmlns:a16="http://schemas.microsoft.com/office/drawing/2014/main" id="{92B130F3-55FA-48A4-B7F6-F5CD44003AB8}"/>
              </a:ext>
            </a:extLst>
          </p:cNvPr>
          <p:cNvPicPr>
            <a:picLocks noChangeAspect="1"/>
          </p:cNvPicPr>
          <p:nvPr/>
        </p:nvPicPr>
        <p:blipFill rotWithShape="1">
          <a:blip r:embed="rId3"/>
          <a:srcRect t="86960" r="37534" b="-593"/>
          <a:stretch/>
        </p:blipFill>
        <p:spPr>
          <a:xfrm flipH="1">
            <a:off x="7072310" y="6182240"/>
            <a:ext cx="5119687" cy="746403"/>
          </a:xfrm>
          <a:prstGeom prst="rect">
            <a:avLst/>
          </a:prstGeom>
        </p:spPr>
      </p:pic>
    </p:spTree>
    <p:extLst>
      <p:ext uri="{BB962C8B-B14F-4D97-AF65-F5344CB8AC3E}">
        <p14:creationId xmlns:p14="http://schemas.microsoft.com/office/powerpoint/2010/main" val="70856215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a:xfrm>
            <a:off x="457200" y="1735048"/>
            <a:ext cx="6934200" cy="2786063"/>
          </a:xfrm>
        </p:spPr>
        <p:txBody>
          <a:bodyPr/>
          <a:lstStyle/>
          <a:p>
            <a:pPr marL="0" indent="0">
              <a:buNone/>
            </a:pPr>
            <a:r>
              <a:rPr lang="en-US"/>
              <a:t>Integration Strategy</a:t>
            </a:r>
          </a:p>
          <a:p>
            <a:pPr marL="0" indent="0">
              <a:buNone/>
            </a:pPr>
            <a:r>
              <a:rPr lang="en-US"/>
              <a:t>Key Assumptions</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333199514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A picture containing text&#10;&#10;Description automatically generated">
            <a:extLst>
              <a:ext uri="{FF2B5EF4-FFF2-40B4-BE49-F238E27FC236}">
                <a16:creationId xmlns:a16="http://schemas.microsoft.com/office/drawing/2014/main" id="{B84760FD-ED11-447A-98DC-B14AB67BF5B1}"/>
              </a:ext>
            </a:extLst>
          </p:cNvPr>
          <p:cNvPicPr>
            <a:picLocks noChangeAspect="1"/>
          </p:cNvPicPr>
          <p:nvPr/>
        </p:nvPicPr>
        <p:blipFill rotWithShape="1">
          <a:blip r:embed="rId4"/>
          <a:srcRect t="72253" r="32706" b="-593"/>
          <a:stretch/>
        </p:blipFill>
        <p:spPr>
          <a:xfrm>
            <a:off x="0" y="5388711"/>
            <a:ext cx="6372225" cy="1509109"/>
          </a:xfrm>
          <a:prstGeom prst="rect">
            <a:avLst/>
          </a:prstGeom>
        </p:spPr>
      </p:pic>
      <p:pic>
        <p:nvPicPr>
          <p:cNvPr id="32" name="Picture 31" descr="A picture containing text&#10;&#10;Description automatically generated">
            <a:extLst>
              <a:ext uri="{FF2B5EF4-FFF2-40B4-BE49-F238E27FC236}">
                <a16:creationId xmlns:a16="http://schemas.microsoft.com/office/drawing/2014/main" id="{E6557336-DE31-4356-A2FB-52C80125FB40}"/>
              </a:ext>
            </a:extLst>
          </p:cNvPr>
          <p:cNvPicPr>
            <a:picLocks noChangeAspect="1"/>
          </p:cNvPicPr>
          <p:nvPr/>
        </p:nvPicPr>
        <p:blipFill rotWithShape="1">
          <a:blip r:embed="rId4"/>
          <a:srcRect t="86960" r="37534" b="-593"/>
          <a:stretch/>
        </p:blipFill>
        <p:spPr>
          <a:xfrm flipH="1">
            <a:off x="7072311" y="6269474"/>
            <a:ext cx="5119687" cy="628346"/>
          </a:xfrm>
          <a:prstGeom prst="rect">
            <a:avLst/>
          </a:prstGeom>
        </p:spPr>
      </p:pic>
      <p:sp>
        <p:nvSpPr>
          <p:cNvPr id="9" name="Text Placeholder 2">
            <a:extLst>
              <a:ext uri="{FF2B5EF4-FFF2-40B4-BE49-F238E27FC236}">
                <a16:creationId xmlns:a16="http://schemas.microsoft.com/office/drawing/2014/main" id="{10D219DD-433F-461F-B2A0-BB80E1774372}"/>
              </a:ext>
            </a:extLst>
          </p:cNvPr>
          <p:cNvSpPr txBox="1">
            <a:spLocks/>
          </p:cNvSpPr>
          <p:nvPr/>
        </p:nvSpPr>
        <p:spPr>
          <a:xfrm>
            <a:off x="463295" y="1150706"/>
            <a:ext cx="11277600" cy="42611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400" b="1"/>
              <a:t>Integration Technology</a:t>
            </a:r>
          </a:p>
          <a:p>
            <a:pPr marL="742950" lvl="1" indent="-285750">
              <a:buFont typeface="Arial" panose="020B0604020202020204" pitchFamily="34" charset="0"/>
              <a:buChar char="•"/>
            </a:pPr>
            <a:r>
              <a:rPr lang="en-US" sz="1400"/>
              <a:t>Oracle OIC is assumed to be the Middleware of choice in the patterns. </a:t>
            </a:r>
          </a:p>
          <a:p>
            <a:pPr marL="742950" lvl="1" indent="-285750">
              <a:buFont typeface="Arial" panose="020B0604020202020204" pitchFamily="34" charset="0"/>
              <a:buChar char="•"/>
            </a:pPr>
            <a:r>
              <a:rPr lang="en-US" sz="1400"/>
              <a:t>Resources with expertise to tailor the PaaS (middleware/custom integration layer/boundary application integration programs) would be available in the project team</a:t>
            </a:r>
          </a:p>
          <a:p>
            <a:pPr marL="742950" lvl="1" indent="-285750">
              <a:buFont typeface="Arial" panose="020B0604020202020204" pitchFamily="34" charset="0"/>
              <a:buChar char="•"/>
            </a:pPr>
            <a:r>
              <a:rPr lang="en-US" sz="1400">
                <a:highlight>
                  <a:srgbClr val="FFFF00"/>
                </a:highlight>
              </a:rPr>
              <a:t>If PaaS/integration layer applications are not available, then file-based manual integrations would need all/most of the steps to be manually performed by the business users. </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Extraction Criteria and Transformation</a:t>
            </a:r>
          </a:p>
          <a:p>
            <a:pPr marL="742950" lvl="1" indent="-285750">
              <a:buFont typeface="Arial" panose="020B0604020202020204" pitchFamily="34" charset="0"/>
              <a:buChar char="•"/>
            </a:pPr>
            <a:r>
              <a:rPr lang="en-US" sz="1400"/>
              <a:t>Data extraction criteria and transformation needs to be determined after thorough understanding of the attributes involved in both applications by the application owners as part of functional specification creation.</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Dependencies and Prerequisites </a:t>
            </a:r>
          </a:p>
          <a:p>
            <a:pPr marL="742950" lvl="1" indent="-285750">
              <a:buFont typeface="Arial" panose="020B0604020202020204" pitchFamily="34" charset="0"/>
              <a:buChar char="•"/>
            </a:pPr>
            <a:r>
              <a:rPr lang="en-US" sz="1400"/>
              <a:t>All required system configuration/setup steps are completed before integration development.</a:t>
            </a:r>
          </a:p>
          <a:p>
            <a:pPr marL="742950" lvl="1" indent="-285750">
              <a:buFont typeface="Arial" panose="020B0604020202020204" pitchFamily="34" charset="0"/>
              <a:buChar char="•"/>
            </a:pPr>
            <a:r>
              <a:rPr lang="en-US" sz="1400"/>
              <a:t>Sample data, excluding sensitive and PII information would be available for development and testing.</a:t>
            </a:r>
          </a:p>
          <a:p>
            <a:pPr marL="742950" lvl="1" indent="-285750">
              <a:buFont typeface="Arial" panose="020B0604020202020204" pitchFamily="34" charset="0"/>
              <a:buChar char="•"/>
            </a:pPr>
            <a:r>
              <a:rPr lang="en-US" sz="1400"/>
              <a:t>Boundary applications are available to support development &amp; testing.</a:t>
            </a:r>
          </a:p>
          <a:p>
            <a:endParaRPr lang="en-US" sz="1400"/>
          </a:p>
        </p:txBody>
      </p:sp>
      <p:sp>
        <p:nvSpPr>
          <p:cNvPr id="10" name="Title 1">
            <a:extLst>
              <a:ext uri="{FF2B5EF4-FFF2-40B4-BE49-F238E27FC236}">
                <a16:creationId xmlns:a16="http://schemas.microsoft.com/office/drawing/2014/main" id="{34D0BC7E-56CD-4654-89F0-74B2234F837E}"/>
              </a:ext>
            </a:extLst>
          </p:cNvPr>
          <p:cNvSpPr>
            <a:spLocks noGrp="1"/>
          </p:cNvSpPr>
          <p:nvPr>
            <p:ph type="title"/>
          </p:nvPr>
        </p:nvSpPr>
        <p:spPr>
          <a:xfrm>
            <a:off x="463295" y="247487"/>
            <a:ext cx="11277600" cy="443198"/>
          </a:xfrm>
        </p:spPr>
        <p:txBody>
          <a:bodyPr>
            <a:normAutofit fontScale="90000"/>
          </a:bodyPr>
          <a:lstStyle/>
          <a:p>
            <a:pPr>
              <a:spcBef>
                <a:spcPct val="0"/>
              </a:spcBef>
            </a:pPr>
            <a:r>
              <a:rPr lang="en-US" sz="3200"/>
              <a:t>Assumptions</a:t>
            </a:r>
          </a:p>
        </p:txBody>
      </p:sp>
    </p:spTree>
    <p:extLst>
      <p:ext uri="{BB962C8B-B14F-4D97-AF65-F5344CB8AC3E}">
        <p14:creationId xmlns:p14="http://schemas.microsoft.com/office/powerpoint/2010/main" val="787092454"/>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a:xfrm>
            <a:off x="457200" y="1735048"/>
            <a:ext cx="6934200" cy="2786063"/>
          </a:xfrm>
        </p:spPr>
        <p:txBody>
          <a:bodyPr/>
          <a:lstStyle/>
          <a:p>
            <a:pPr marL="0" indent="0">
              <a:buNone/>
            </a:pPr>
            <a:r>
              <a:rPr lang="en-US"/>
              <a:t>Integration Security</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359601780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A picture containing text&#10;&#10;Description automatically generated">
            <a:extLst>
              <a:ext uri="{FF2B5EF4-FFF2-40B4-BE49-F238E27FC236}">
                <a16:creationId xmlns:a16="http://schemas.microsoft.com/office/drawing/2014/main" id="{B84760FD-ED11-447A-98DC-B14AB67BF5B1}"/>
              </a:ext>
            </a:extLst>
          </p:cNvPr>
          <p:cNvPicPr>
            <a:picLocks noChangeAspect="1"/>
          </p:cNvPicPr>
          <p:nvPr/>
        </p:nvPicPr>
        <p:blipFill rotWithShape="1">
          <a:blip r:embed="rId3"/>
          <a:srcRect t="72253" r="32706" b="-593"/>
          <a:stretch/>
        </p:blipFill>
        <p:spPr>
          <a:xfrm>
            <a:off x="0" y="5388711"/>
            <a:ext cx="6372225" cy="1509109"/>
          </a:xfrm>
          <a:prstGeom prst="rect">
            <a:avLst/>
          </a:prstGeom>
        </p:spPr>
      </p:pic>
      <p:pic>
        <p:nvPicPr>
          <p:cNvPr id="32" name="Picture 31" descr="A picture containing text&#10;&#10;Description automatically generated">
            <a:extLst>
              <a:ext uri="{FF2B5EF4-FFF2-40B4-BE49-F238E27FC236}">
                <a16:creationId xmlns:a16="http://schemas.microsoft.com/office/drawing/2014/main" id="{E6557336-DE31-4356-A2FB-52C80125FB40}"/>
              </a:ext>
            </a:extLst>
          </p:cNvPr>
          <p:cNvPicPr>
            <a:picLocks noChangeAspect="1"/>
          </p:cNvPicPr>
          <p:nvPr/>
        </p:nvPicPr>
        <p:blipFill rotWithShape="1">
          <a:blip r:embed="rId3"/>
          <a:srcRect t="86960" r="37534" b="-593"/>
          <a:stretch/>
        </p:blipFill>
        <p:spPr>
          <a:xfrm flipH="1">
            <a:off x="7072311" y="6269474"/>
            <a:ext cx="5119687" cy="628346"/>
          </a:xfrm>
          <a:prstGeom prst="rect">
            <a:avLst/>
          </a:prstGeom>
        </p:spPr>
      </p:pic>
      <p:sp>
        <p:nvSpPr>
          <p:cNvPr id="9" name="Text Placeholder 2">
            <a:extLst>
              <a:ext uri="{FF2B5EF4-FFF2-40B4-BE49-F238E27FC236}">
                <a16:creationId xmlns:a16="http://schemas.microsoft.com/office/drawing/2014/main" id="{10D219DD-433F-461F-B2A0-BB80E1774372}"/>
              </a:ext>
            </a:extLst>
          </p:cNvPr>
          <p:cNvSpPr txBox="1">
            <a:spLocks/>
          </p:cNvSpPr>
          <p:nvPr/>
        </p:nvSpPr>
        <p:spPr>
          <a:xfrm>
            <a:off x="463295" y="1150706"/>
            <a:ext cx="11277600" cy="42611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a:t>Application Security</a:t>
            </a:r>
          </a:p>
          <a:p>
            <a:pPr marL="457200" lvl="1" indent="0">
              <a:buNone/>
            </a:pPr>
            <a:r>
              <a:rPr lang="en-US" sz="1400"/>
              <a:t>Role-based access control (RBAC) is an approach to restricting system access to authorized users. Access to SaaS functionality and data is secured using the industry standard framework for authorization, RBAC. In an RBAC model, users are assigned roles, and roles are assigned access privileges to protected system resources.</a:t>
            </a:r>
          </a:p>
          <a:p>
            <a:r>
              <a:rPr lang="en-US" sz="1400" b="1"/>
              <a:t>Data Security</a:t>
            </a:r>
          </a:p>
          <a:p>
            <a:pPr marL="457200" lvl="1" indent="0">
              <a:buNone/>
            </a:pPr>
            <a:r>
              <a:rPr lang="en-US" sz="1400"/>
              <a:t>Based on the target system capabilities data masking and encryption of process flow and data files can be used to secure PII data. Encryption policies may be used to encrypt and decrypt message/specific fields in a payload or data file.</a:t>
            </a:r>
          </a:p>
          <a:p>
            <a:r>
              <a:rPr lang="en-US" sz="1400" b="1"/>
              <a:t>Data File Security</a:t>
            </a:r>
          </a:p>
          <a:p>
            <a:pPr marL="457200" lvl="1" indent="0">
              <a:buNone/>
            </a:pPr>
            <a:r>
              <a:rPr lang="en-US" sz="1400"/>
              <a:t>Data files would be stored in a secured location on servers only accessible to authorized resources from Deloitte, authorized boundary applications. Cloud apps support encryption of files at rest and in transit and can be used wherever applicable. Password or public key authentication is also supported by cloud applications.</a:t>
            </a:r>
          </a:p>
          <a:p>
            <a:endParaRPr lang="en-US" sz="1400"/>
          </a:p>
        </p:txBody>
      </p:sp>
      <p:sp>
        <p:nvSpPr>
          <p:cNvPr id="10" name="Title 1">
            <a:extLst>
              <a:ext uri="{FF2B5EF4-FFF2-40B4-BE49-F238E27FC236}">
                <a16:creationId xmlns:a16="http://schemas.microsoft.com/office/drawing/2014/main" id="{34D0BC7E-56CD-4654-89F0-74B2234F837E}"/>
              </a:ext>
            </a:extLst>
          </p:cNvPr>
          <p:cNvSpPr>
            <a:spLocks noGrp="1"/>
          </p:cNvSpPr>
          <p:nvPr>
            <p:ph type="title"/>
          </p:nvPr>
        </p:nvSpPr>
        <p:spPr>
          <a:xfrm>
            <a:off x="463295" y="247487"/>
            <a:ext cx="11277600" cy="443198"/>
          </a:xfrm>
        </p:spPr>
        <p:txBody>
          <a:bodyPr>
            <a:normAutofit fontScale="90000"/>
          </a:bodyPr>
          <a:lstStyle/>
          <a:p>
            <a:pPr>
              <a:spcBef>
                <a:spcPct val="0"/>
              </a:spcBef>
            </a:pPr>
            <a:r>
              <a:rPr lang="en-US" sz="3200"/>
              <a:t>Integration Security</a:t>
            </a:r>
          </a:p>
        </p:txBody>
      </p:sp>
    </p:spTree>
    <p:extLst>
      <p:ext uri="{BB962C8B-B14F-4D97-AF65-F5344CB8AC3E}">
        <p14:creationId xmlns:p14="http://schemas.microsoft.com/office/powerpoint/2010/main" val="792571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a:xfrm>
            <a:off x="457200" y="1735048"/>
            <a:ext cx="6934200" cy="2786063"/>
          </a:xfrm>
        </p:spPr>
        <p:txBody>
          <a:bodyPr/>
          <a:lstStyle/>
          <a:p>
            <a:pPr marL="0" indent="0">
              <a:buNone/>
            </a:pPr>
            <a:r>
              <a:rPr lang="en-US"/>
              <a:t>Integration Strategy</a:t>
            </a:r>
          </a:p>
          <a:p>
            <a:pPr marL="0" indent="0">
              <a:buNone/>
            </a:pPr>
            <a:r>
              <a:rPr lang="en-US"/>
              <a:t>Responsibilities</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294450465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A picture containing text&#10;&#10;Description automatically generated">
            <a:extLst>
              <a:ext uri="{FF2B5EF4-FFF2-40B4-BE49-F238E27FC236}">
                <a16:creationId xmlns:a16="http://schemas.microsoft.com/office/drawing/2014/main" id="{B84760FD-ED11-447A-98DC-B14AB67BF5B1}"/>
              </a:ext>
            </a:extLst>
          </p:cNvPr>
          <p:cNvPicPr>
            <a:picLocks noChangeAspect="1"/>
          </p:cNvPicPr>
          <p:nvPr/>
        </p:nvPicPr>
        <p:blipFill rotWithShape="1">
          <a:blip r:embed="rId4"/>
          <a:srcRect t="72253" r="32706" b="-593"/>
          <a:stretch/>
        </p:blipFill>
        <p:spPr>
          <a:xfrm>
            <a:off x="0" y="5388711"/>
            <a:ext cx="6372225" cy="1509109"/>
          </a:xfrm>
          <a:prstGeom prst="rect">
            <a:avLst/>
          </a:prstGeom>
        </p:spPr>
      </p:pic>
      <p:pic>
        <p:nvPicPr>
          <p:cNvPr id="32" name="Picture 31" descr="A picture containing text&#10;&#10;Description automatically generated">
            <a:extLst>
              <a:ext uri="{FF2B5EF4-FFF2-40B4-BE49-F238E27FC236}">
                <a16:creationId xmlns:a16="http://schemas.microsoft.com/office/drawing/2014/main" id="{E6557336-DE31-4356-A2FB-52C80125FB40}"/>
              </a:ext>
            </a:extLst>
          </p:cNvPr>
          <p:cNvPicPr>
            <a:picLocks noChangeAspect="1"/>
          </p:cNvPicPr>
          <p:nvPr/>
        </p:nvPicPr>
        <p:blipFill rotWithShape="1">
          <a:blip r:embed="rId4"/>
          <a:srcRect t="86960" r="37534" b="-593"/>
          <a:stretch/>
        </p:blipFill>
        <p:spPr>
          <a:xfrm flipH="1">
            <a:off x="7072311" y="6269474"/>
            <a:ext cx="5119687" cy="628346"/>
          </a:xfrm>
          <a:prstGeom prst="rect">
            <a:avLst/>
          </a:prstGeom>
        </p:spPr>
      </p:pic>
      <p:sp>
        <p:nvSpPr>
          <p:cNvPr id="8" name="Text Placeholder 2">
            <a:extLst>
              <a:ext uri="{FF2B5EF4-FFF2-40B4-BE49-F238E27FC236}">
                <a16:creationId xmlns:a16="http://schemas.microsoft.com/office/drawing/2014/main" id="{2C068A77-31DB-4AA7-B002-C83033C0AB7F}"/>
              </a:ext>
            </a:extLst>
          </p:cNvPr>
          <p:cNvSpPr txBox="1">
            <a:spLocks/>
          </p:cNvSpPr>
          <p:nvPr/>
        </p:nvSpPr>
        <p:spPr>
          <a:xfrm>
            <a:off x="463295" y="1150706"/>
            <a:ext cx="11277600" cy="23893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endParaRPr lang="en-US" sz="1400"/>
          </a:p>
        </p:txBody>
      </p:sp>
      <p:sp>
        <p:nvSpPr>
          <p:cNvPr id="11" name="Title 1">
            <a:extLst>
              <a:ext uri="{FF2B5EF4-FFF2-40B4-BE49-F238E27FC236}">
                <a16:creationId xmlns:a16="http://schemas.microsoft.com/office/drawing/2014/main" id="{0A035558-2D3A-47B8-BC09-8C000AAA5FE8}"/>
              </a:ext>
            </a:extLst>
          </p:cNvPr>
          <p:cNvSpPr>
            <a:spLocks noGrp="1"/>
          </p:cNvSpPr>
          <p:nvPr>
            <p:ph type="title"/>
          </p:nvPr>
        </p:nvSpPr>
        <p:spPr>
          <a:xfrm>
            <a:off x="463295" y="247487"/>
            <a:ext cx="11277600" cy="443198"/>
          </a:xfrm>
        </p:spPr>
        <p:txBody>
          <a:bodyPr>
            <a:normAutofit fontScale="90000"/>
          </a:bodyPr>
          <a:lstStyle/>
          <a:p>
            <a:pPr>
              <a:spcBef>
                <a:spcPct val="0"/>
              </a:spcBef>
            </a:pPr>
            <a:r>
              <a:rPr lang="en-US" sz="3200"/>
              <a:t>Integration – Responsibilities</a:t>
            </a:r>
          </a:p>
        </p:txBody>
      </p:sp>
      <p:graphicFrame>
        <p:nvGraphicFramePr>
          <p:cNvPr id="3" name="Table 2">
            <a:extLst>
              <a:ext uri="{FF2B5EF4-FFF2-40B4-BE49-F238E27FC236}">
                <a16:creationId xmlns:a16="http://schemas.microsoft.com/office/drawing/2014/main" id="{7332F4A2-70E4-411B-9572-51FAB7B5DA4D}"/>
              </a:ext>
            </a:extLst>
          </p:cNvPr>
          <p:cNvGraphicFramePr>
            <a:graphicFrameLocks noGrp="1"/>
          </p:cNvGraphicFramePr>
          <p:nvPr>
            <p:extLst>
              <p:ext uri="{D42A27DB-BD31-4B8C-83A1-F6EECF244321}">
                <p14:modId xmlns:p14="http://schemas.microsoft.com/office/powerpoint/2010/main" val="1150860787"/>
              </p:ext>
            </p:extLst>
          </p:nvPr>
        </p:nvGraphicFramePr>
        <p:xfrm>
          <a:off x="451105" y="830766"/>
          <a:ext cx="11188700" cy="5196467"/>
        </p:xfrm>
        <a:graphic>
          <a:graphicData uri="http://schemas.openxmlformats.org/drawingml/2006/table">
            <a:tbl>
              <a:tblPr firstRow="1" firstCol="1">
                <a:tableStyleId>{793D81CF-94F2-401A-BA57-92F5A7B2D0C5}</a:tableStyleId>
              </a:tblPr>
              <a:tblGrid>
                <a:gridCol w="597864">
                  <a:extLst>
                    <a:ext uri="{9D8B030D-6E8A-4147-A177-3AD203B41FA5}">
                      <a16:colId xmlns:a16="http://schemas.microsoft.com/office/drawing/2014/main" val="2089571592"/>
                    </a:ext>
                  </a:extLst>
                </a:gridCol>
                <a:gridCol w="4896671">
                  <a:extLst>
                    <a:ext uri="{9D8B030D-6E8A-4147-A177-3AD203B41FA5}">
                      <a16:colId xmlns:a16="http://schemas.microsoft.com/office/drawing/2014/main" val="2875871021"/>
                    </a:ext>
                  </a:extLst>
                </a:gridCol>
                <a:gridCol w="2065105">
                  <a:extLst>
                    <a:ext uri="{9D8B030D-6E8A-4147-A177-3AD203B41FA5}">
                      <a16:colId xmlns:a16="http://schemas.microsoft.com/office/drawing/2014/main" val="2405643089"/>
                    </a:ext>
                  </a:extLst>
                </a:gridCol>
                <a:gridCol w="1756881">
                  <a:extLst>
                    <a:ext uri="{9D8B030D-6E8A-4147-A177-3AD203B41FA5}">
                      <a16:colId xmlns:a16="http://schemas.microsoft.com/office/drawing/2014/main" val="2936532723"/>
                    </a:ext>
                  </a:extLst>
                </a:gridCol>
                <a:gridCol w="1872179">
                  <a:extLst>
                    <a:ext uri="{9D8B030D-6E8A-4147-A177-3AD203B41FA5}">
                      <a16:colId xmlns:a16="http://schemas.microsoft.com/office/drawing/2014/main" val="2283381844"/>
                    </a:ext>
                  </a:extLst>
                </a:gridCol>
              </a:tblGrid>
              <a:tr h="507657">
                <a:tc>
                  <a:txBody>
                    <a:bodyPr/>
                    <a:lstStyle/>
                    <a:p>
                      <a:pPr marL="0" marR="0">
                        <a:spcBef>
                          <a:spcPts val="0"/>
                        </a:spcBef>
                        <a:spcAft>
                          <a:spcPts val="600"/>
                        </a:spcAft>
                      </a:pPr>
                      <a:r>
                        <a:rPr lang="en-US" sz="1100" kern="1200">
                          <a:effectLst/>
                          <a:latin typeface="+mn-lt"/>
                        </a:rPr>
                        <a:t>#No</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solidFill>
                      <a:srgbClr val="007CB0"/>
                    </a:solidFill>
                  </a:tcPr>
                </a:tc>
                <a:tc>
                  <a:txBody>
                    <a:bodyPr/>
                    <a:lstStyle/>
                    <a:p>
                      <a:pPr marL="0" marR="0">
                        <a:spcBef>
                          <a:spcPts val="0"/>
                        </a:spcBef>
                        <a:spcAft>
                          <a:spcPts val="600"/>
                        </a:spcAft>
                      </a:pPr>
                      <a:r>
                        <a:rPr lang="en-US" sz="1100" b="1" kern="1200">
                          <a:solidFill>
                            <a:schemeClr val="lt1"/>
                          </a:solidFill>
                          <a:effectLst/>
                          <a:latin typeface="+mn-lt"/>
                          <a:ea typeface="+mn-ea"/>
                          <a:cs typeface="+mn-cs"/>
                        </a:rPr>
                        <a:t>Activity</a:t>
                      </a:r>
                    </a:p>
                  </a:txBody>
                  <a:tcPr marL="68580" marR="68580" marT="0" marB="0" anchor="b">
                    <a:solidFill>
                      <a:srgbClr val="007CB0"/>
                    </a:solidFill>
                  </a:tcPr>
                </a:tc>
                <a:tc>
                  <a:txBody>
                    <a:bodyPr/>
                    <a:lstStyle/>
                    <a:p>
                      <a:pPr marL="0" marR="0" algn="ctr">
                        <a:spcBef>
                          <a:spcPts val="0"/>
                        </a:spcBef>
                        <a:spcAft>
                          <a:spcPts val="600"/>
                        </a:spcAft>
                      </a:pPr>
                      <a:r>
                        <a:rPr lang="en-US" sz="1100" kern="1200">
                          <a:effectLst/>
                          <a:latin typeface="+mn-lt"/>
                        </a:rPr>
                        <a:t>Dollar Tree</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solidFill>
                      <a:srgbClr val="007CB0"/>
                    </a:solidFill>
                  </a:tcPr>
                </a:tc>
                <a:tc>
                  <a:txBody>
                    <a:bodyPr/>
                    <a:lstStyle/>
                    <a:p>
                      <a:pPr marL="0" marR="0" algn="ctr">
                        <a:spcBef>
                          <a:spcPts val="0"/>
                        </a:spcBef>
                        <a:spcAft>
                          <a:spcPts val="600"/>
                        </a:spcAft>
                      </a:pPr>
                      <a:r>
                        <a:rPr lang="en-US" sz="1100" kern="1200">
                          <a:effectLst/>
                          <a:latin typeface="+mn-lt"/>
                        </a:rPr>
                        <a:t>Deloitte</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solidFill>
                      <a:srgbClr val="007CB0"/>
                    </a:solid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1200">
                          <a:solidFill>
                            <a:schemeClr val="bg1"/>
                          </a:solidFill>
                          <a:effectLst/>
                          <a:latin typeface="+mn-lt"/>
                          <a:ea typeface="Times" panose="02020603050405020304" pitchFamily="18" charset="0"/>
                          <a:cs typeface="Times New Roman" panose="02020603050405020304" pitchFamily="18" charset="0"/>
                        </a:rPr>
                        <a:t>Oracle</a:t>
                      </a:r>
                      <a:endParaRPr lang="en-US" sz="1100">
                        <a:solidFill>
                          <a:schemeClr val="bg1"/>
                        </a:solidFill>
                        <a:effectLst/>
                        <a:latin typeface="+mn-lt"/>
                        <a:ea typeface="Times" panose="02020603050405020304" pitchFamily="18" charset="0"/>
                        <a:cs typeface="Times New Roman" panose="02020603050405020304" pitchFamily="18" charset="0"/>
                      </a:endParaRPr>
                    </a:p>
                  </a:txBody>
                  <a:tcPr marL="68580" marR="68580" marT="0" marB="0" anchor="b">
                    <a:solidFill>
                      <a:srgbClr val="007CB0"/>
                    </a:solidFill>
                  </a:tcPr>
                </a:tc>
                <a:extLst>
                  <a:ext uri="{0D108BD9-81ED-4DB2-BD59-A6C34878D82A}">
                    <a16:rowId xmlns:a16="http://schemas.microsoft.com/office/drawing/2014/main" val="2679922981"/>
                  </a:ext>
                </a:extLst>
              </a:tr>
              <a:tr h="293590">
                <a:tc>
                  <a:txBody>
                    <a:bodyPr/>
                    <a:lstStyle/>
                    <a:p>
                      <a:pPr marL="0" marR="0" algn="ctr">
                        <a:spcBef>
                          <a:spcPts val="0"/>
                        </a:spcBef>
                        <a:spcAft>
                          <a:spcPts val="600"/>
                        </a:spcAft>
                      </a:pPr>
                      <a:r>
                        <a:rPr lang="en-US" sz="1100" kern="1200">
                          <a:effectLst/>
                          <a:latin typeface="+mn-lt"/>
                        </a:rPr>
                        <a:t>1</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Prepare, validate &amp; prioritize list of interfaces</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Secondary</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a:solidFill>
                            <a:srgbClr val="000000"/>
                          </a:solidFill>
                          <a:effectLst/>
                          <a:latin typeface="+mn-lt"/>
                          <a:ea typeface="Times" panose="02020603050405020304" pitchFamily="18" charset="0"/>
                          <a:cs typeface="Times New Roman" panose="02020603050405020304" pitchFamily="18" charset="0"/>
                        </a:rPr>
                        <a:t>Primary</a:t>
                      </a:r>
                    </a:p>
                  </a:txBody>
                  <a:tcPr marL="68580" marR="68580" marT="0" marB="0" anchor="b"/>
                </a:tc>
                <a:extLst>
                  <a:ext uri="{0D108BD9-81ED-4DB2-BD59-A6C34878D82A}">
                    <a16:rowId xmlns:a16="http://schemas.microsoft.com/office/drawing/2014/main" val="2096146355"/>
                  </a:ext>
                </a:extLst>
              </a:tr>
              <a:tr h="478201">
                <a:tc>
                  <a:txBody>
                    <a:bodyPr/>
                    <a:lstStyle/>
                    <a:p>
                      <a:pPr marL="0" marR="0" algn="ctr">
                        <a:spcBef>
                          <a:spcPts val="0"/>
                        </a:spcBef>
                        <a:spcAft>
                          <a:spcPts val="600"/>
                        </a:spcAft>
                      </a:pPr>
                      <a:r>
                        <a:rPr lang="en-US" sz="1100" kern="1200">
                          <a:effectLst/>
                          <a:latin typeface="+mn-lt"/>
                        </a:rPr>
                        <a:t>2</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Gather and document details of integrations along with data mappings between source and target system.</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Joint</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a:solidFill>
                            <a:srgbClr val="000000"/>
                          </a:solidFill>
                          <a:effectLst/>
                          <a:latin typeface="+mn-lt"/>
                          <a:ea typeface="Times" panose="02020603050405020304" pitchFamily="18" charset="0"/>
                          <a:cs typeface="Times New Roman" panose="02020603050405020304" pitchFamily="18" charset="0"/>
                        </a:rPr>
                        <a:t>Joint</a:t>
                      </a:r>
                    </a:p>
                  </a:txBody>
                  <a:tcPr marL="68580" marR="68580" marT="0" marB="0" anchor="b"/>
                </a:tc>
                <a:extLst>
                  <a:ext uri="{0D108BD9-81ED-4DB2-BD59-A6C34878D82A}">
                    <a16:rowId xmlns:a16="http://schemas.microsoft.com/office/drawing/2014/main" val="3279855140"/>
                  </a:ext>
                </a:extLst>
              </a:tr>
              <a:tr h="483124">
                <a:tc>
                  <a:txBody>
                    <a:bodyPr/>
                    <a:lstStyle/>
                    <a:p>
                      <a:pPr marL="0" marR="0" algn="ctr">
                        <a:spcBef>
                          <a:spcPts val="0"/>
                        </a:spcBef>
                        <a:spcAft>
                          <a:spcPts val="600"/>
                        </a:spcAft>
                      </a:pPr>
                      <a:r>
                        <a:rPr lang="en-US" sz="1100" kern="1200">
                          <a:effectLst/>
                          <a:latin typeface="+mn-lt"/>
                        </a:rPr>
                        <a:t>3</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Interface business requirements and Functional design</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Joint</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a:solidFill>
                            <a:srgbClr val="000000"/>
                          </a:solidFill>
                          <a:effectLst/>
                          <a:latin typeface="+mn-lt"/>
                          <a:ea typeface="Times" panose="02020603050405020304" pitchFamily="18" charset="0"/>
                          <a:cs typeface="Times New Roman" panose="02020603050405020304" pitchFamily="18" charset="0"/>
                        </a:rPr>
                        <a:t>Joint</a:t>
                      </a:r>
                    </a:p>
                  </a:txBody>
                  <a:tcPr marL="68580" marR="68580" marT="0" marB="0" anchor="b"/>
                </a:tc>
                <a:extLst>
                  <a:ext uri="{0D108BD9-81ED-4DB2-BD59-A6C34878D82A}">
                    <a16:rowId xmlns:a16="http://schemas.microsoft.com/office/drawing/2014/main" val="1421869912"/>
                  </a:ext>
                </a:extLst>
              </a:tr>
              <a:tr h="293590">
                <a:tc>
                  <a:txBody>
                    <a:bodyPr/>
                    <a:lstStyle/>
                    <a:p>
                      <a:pPr marL="0" marR="0" algn="ctr">
                        <a:spcBef>
                          <a:spcPts val="0"/>
                        </a:spcBef>
                        <a:spcAft>
                          <a:spcPts val="600"/>
                        </a:spcAft>
                      </a:pPr>
                      <a:r>
                        <a:rPr lang="en-US" sz="1100" kern="1200">
                          <a:effectLst/>
                          <a:latin typeface="+mn-lt"/>
                        </a:rPr>
                        <a:t>4</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Interface technical design</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Secondary</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Primary</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782271976"/>
                  </a:ext>
                </a:extLst>
              </a:tr>
              <a:tr h="222981">
                <a:tc>
                  <a:txBody>
                    <a:bodyPr/>
                    <a:lstStyle/>
                    <a:p>
                      <a:pPr marL="0" marR="0" algn="ctr">
                        <a:spcBef>
                          <a:spcPts val="0"/>
                        </a:spcBef>
                        <a:spcAft>
                          <a:spcPts val="600"/>
                        </a:spcAft>
                      </a:pPr>
                      <a:r>
                        <a:rPr lang="en-US" sz="1100" kern="1200">
                          <a:solidFill>
                            <a:srgbClr val="000000"/>
                          </a:solidFill>
                          <a:effectLst/>
                          <a:latin typeface="+mn-lt"/>
                          <a:ea typeface="Times" panose="02020603050405020304" pitchFamily="18" charset="0"/>
                          <a:cs typeface="Times New Roman" panose="02020603050405020304" pitchFamily="18" charset="0"/>
                        </a:rPr>
                        <a:t>5</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Interface development for ERP Cloud</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a:solidFill>
                            <a:srgbClr val="000000"/>
                          </a:solidFill>
                          <a:effectLst/>
                          <a:latin typeface="+mn-lt"/>
                          <a:ea typeface="Times" panose="02020603050405020304" pitchFamily="18" charset="0"/>
                          <a:cs typeface="Times New Roman" panose="02020603050405020304" pitchFamily="18" charset="0"/>
                        </a:rPr>
                        <a:t>NA</a:t>
                      </a:r>
                    </a:p>
                  </a:txBody>
                  <a:tcPr marL="68580" marR="68580" marT="0" marB="0" anchor="b"/>
                </a:tc>
                <a:tc>
                  <a:txBody>
                    <a:bodyPr/>
                    <a:lstStyle/>
                    <a:p>
                      <a:pPr marL="0" marR="0" algn="ctr">
                        <a:spcBef>
                          <a:spcPts val="0"/>
                        </a:spcBef>
                        <a:spcAft>
                          <a:spcPts val="600"/>
                        </a:spcAft>
                      </a:pPr>
                      <a:r>
                        <a:rPr lang="en-US" sz="1100" kern="1200">
                          <a:effectLst/>
                          <a:latin typeface="+mn-lt"/>
                        </a:rPr>
                        <a:t>Primary</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490007881"/>
                  </a:ext>
                </a:extLst>
              </a:tr>
              <a:tr h="445961">
                <a:tc>
                  <a:txBody>
                    <a:bodyPr/>
                    <a:lstStyle/>
                    <a:p>
                      <a:pPr marL="0" marR="0" algn="ctr">
                        <a:spcBef>
                          <a:spcPts val="0"/>
                        </a:spcBef>
                        <a:spcAft>
                          <a:spcPts val="600"/>
                        </a:spcAft>
                      </a:pPr>
                      <a:r>
                        <a:rPr lang="en-US" sz="1100" kern="1200">
                          <a:solidFill>
                            <a:srgbClr val="000000"/>
                          </a:solidFill>
                          <a:effectLst/>
                          <a:latin typeface="+mn-lt"/>
                          <a:ea typeface="Times" panose="02020603050405020304" pitchFamily="18" charset="0"/>
                          <a:cs typeface="Times New Roman" panose="02020603050405020304" pitchFamily="18" charset="0"/>
                        </a:rPr>
                        <a:t>6</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Development of Boundary system object to support Inbound and Outbound Integration </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a:solidFill>
                            <a:srgbClr val="000000"/>
                          </a:solidFill>
                          <a:effectLst/>
                          <a:latin typeface="+mn-lt"/>
                          <a:ea typeface="Times" panose="02020603050405020304" pitchFamily="18" charset="0"/>
                          <a:cs typeface="Times New Roman" panose="02020603050405020304" pitchFamily="18" charset="0"/>
                        </a:rPr>
                        <a:t>Primary</a:t>
                      </a:r>
                    </a:p>
                  </a:txBody>
                  <a:tcPr marL="68580" marR="68580" marT="0" marB="0" anchor="b"/>
                </a:tc>
                <a:tc>
                  <a:txBody>
                    <a:bodyPr/>
                    <a:lstStyle/>
                    <a:p>
                      <a:pPr marL="0" marR="0" algn="ctr">
                        <a:spcBef>
                          <a:spcPts val="0"/>
                        </a:spcBef>
                        <a:spcAft>
                          <a:spcPts val="600"/>
                        </a:spcAft>
                      </a:pPr>
                      <a:r>
                        <a:rPr lang="en-US" sz="1100" kern="1200">
                          <a:effectLst/>
                          <a:latin typeface="+mn-lt"/>
                        </a:rPr>
                        <a:t>NA</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468148903"/>
                  </a:ext>
                </a:extLst>
              </a:tr>
              <a:tr h="445961">
                <a:tc>
                  <a:txBody>
                    <a:bodyPr/>
                    <a:lstStyle/>
                    <a:p>
                      <a:pPr marL="0" marR="0" algn="ctr">
                        <a:spcBef>
                          <a:spcPts val="0"/>
                        </a:spcBef>
                        <a:spcAft>
                          <a:spcPts val="600"/>
                        </a:spcAft>
                      </a:pPr>
                      <a:r>
                        <a:rPr lang="en-US" sz="1100" kern="1200">
                          <a:solidFill>
                            <a:srgbClr val="000000"/>
                          </a:solidFill>
                          <a:effectLst/>
                          <a:latin typeface="+mn-lt"/>
                          <a:ea typeface="Times" panose="02020603050405020304" pitchFamily="18" charset="0"/>
                          <a:cs typeface="Times New Roman" panose="02020603050405020304" pitchFamily="18" charset="0"/>
                        </a:rPr>
                        <a:t>7</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Modification to boundary applications to accept data from ERP Cloud</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Primary</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a:solidFill>
                            <a:srgbClr val="000000"/>
                          </a:solidFill>
                          <a:effectLst/>
                          <a:latin typeface="+mn-lt"/>
                          <a:ea typeface="Times" panose="02020603050405020304" pitchFamily="18" charset="0"/>
                          <a:cs typeface="Times New Roman" panose="02020603050405020304" pitchFamily="18" charset="0"/>
                        </a:rPr>
                        <a:t>NA</a:t>
                      </a: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217192937"/>
                  </a:ext>
                </a:extLst>
              </a:tr>
              <a:tr h="557452">
                <a:tc>
                  <a:txBody>
                    <a:bodyPr/>
                    <a:lstStyle/>
                    <a:p>
                      <a:pPr marL="0" marR="0" algn="ctr">
                        <a:spcBef>
                          <a:spcPts val="0"/>
                        </a:spcBef>
                        <a:spcAft>
                          <a:spcPts val="600"/>
                        </a:spcAft>
                      </a:pPr>
                      <a:r>
                        <a:rPr lang="en-US" sz="1100" kern="1200">
                          <a:solidFill>
                            <a:srgbClr val="000000"/>
                          </a:solidFill>
                          <a:effectLst/>
                          <a:latin typeface="+mn-lt"/>
                          <a:ea typeface="Times" panose="02020603050405020304" pitchFamily="18" charset="0"/>
                          <a:cs typeface="Times New Roman" panose="02020603050405020304" pitchFamily="18" charset="0"/>
                        </a:rPr>
                        <a:t>8</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Code migration</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highlight>
                            <a:srgbClr val="FFFF00"/>
                          </a:highlight>
                          <a:latin typeface="+mn-lt"/>
                        </a:rPr>
                        <a:t>Support(Till UAT)</a:t>
                      </a:r>
                      <a:endParaRPr lang="en-US" sz="1100">
                        <a:effectLst/>
                        <a:highlight>
                          <a:srgbClr val="FFFF00"/>
                        </a:highlight>
                        <a:latin typeface="+mn-lt"/>
                      </a:endParaRPr>
                    </a:p>
                    <a:p>
                      <a:pPr marL="0" marR="0" algn="ctr">
                        <a:spcBef>
                          <a:spcPts val="0"/>
                        </a:spcBef>
                        <a:spcAft>
                          <a:spcPts val="600"/>
                        </a:spcAft>
                      </a:pPr>
                      <a:r>
                        <a:rPr lang="en-US" sz="1100" kern="1200">
                          <a:effectLst/>
                          <a:highlight>
                            <a:srgbClr val="FFFF00"/>
                          </a:highlight>
                          <a:latin typeface="+mn-lt"/>
                        </a:rPr>
                        <a:t>Primary (Prod)</a:t>
                      </a:r>
                      <a:endParaRPr lang="en-US" sz="1100">
                        <a:solidFill>
                          <a:srgbClr val="000000"/>
                        </a:solidFill>
                        <a:effectLst/>
                        <a:highlight>
                          <a:srgbClr val="FFFF00"/>
                        </a:highligh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highlight>
                            <a:srgbClr val="FFFF00"/>
                          </a:highlight>
                          <a:latin typeface="+mn-lt"/>
                        </a:rPr>
                        <a:t>Primary (Till UAT)</a:t>
                      </a:r>
                      <a:endParaRPr lang="en-US" sz="1100">
                        <a:effectLst/>
                        <a:highlight>
                          <a:srgbClr val="FFFF00"/>
                        </a:highlight>
                        <a:latin typeface="+mn-lt"/>
                      </a:endParaRPr>
                    </a:p>
                    <a:p>
                      <a:pPr marL="0" marR="0" algn="ctr">
                        <a:spcBef>
                          <a:spcPts val="0"/>
                        </a:spcBef>
                        <a:spcAft>
                          <a:spcPts val="600"/>
                        </a:spcAft>
                      </a:pPr>
                      <a:r>
                        <a:rPr lang="en-US" sz="1100" kern="1200">
                          <a:effectLst/>
                          <a:highlight>
                            <a:srgbClr val="FFFF00"/>
                          </a:highlight>
                          <a:latin typeface="+mn-lt"/>
                        </a:rPr>
                        <a:t>Support (Prod)</a:t>
                      </a:r>
                      <a:endParaRPr lang="en-US" sz="1100">
                        <a:solidFill>
                          <a:srgbClr val="000000"/>
                        </a:solidFill>
                        <a:effectLst/>
                        <a:highlight>
                          <a:srgbClr val="FFFF00"/>
                        </a:highligh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001730018"/>
                  </a:ext>
                </a:extLst>
              </a:tr>
              <a:tr h="293590">
                <a:tc>
                  <a:txBody>
                    <a:bodyPr/>
                    <a:lstStyle/>
                    <a:p>
                      <a:pPr marL="0" marR="0" algn="ctr">
                        <a:spcBef>
                          <a:spcPts val="0"/>
                        </a:spcBef>
                        <a:spcAft>
                          <a:spcPts val="600"/>
                        </a:spcAft>
                      </a:pPr>
                      <a:r>
                        <a:rPr lang="en-US" sz="1100" kern="1200">
                          <a:solidFill>
                            <a:srgbClr val="000000"/>
                          </a:solidFill>
                          <a:effectLst/>
                          <a:latin typeface="+mn-lt"/>
                          <a:ea typeface="Times" panose="02020603050405020304" pitchFamily="18" charset="0"/>
                          <a:cs typeface="Times New Roman" panose="02020603050405020304" pitchFamily="18" charset="0"/>
                        </a:rPr>
                        <a:t>9</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Unit testing—Technical</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highlight>
                            <a:srgbClr val="FFFF00"/>
                          </a:highlight>
                          <a:latin typeface="+mn-lt"/>
                        </a:rPr>
                        <a:t>Joint</a:t>
                      </a:r>
                      <a:endParaRPr lang="en-US" sz="1100">
                        <a:solidFill>
                          <a:srgbClr val="000000"/>
                        </a:solidFill>
                        <a:effectLst/>
                        <a:highlight>
                          <a:srgbClr val="FFFF00"/>
                        </a:highligh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highlight>
                            <a:srgbClr val="FFFF00"/>
                          </a:highlight>
                          <a:latin typeface="+mn-lt"/>
                        </a:rPr>
                        <a:t>Joint</a:t>
                      </a:r>
                      <a:endParaRPr lang="en-US" sz="1100">
                        <a:solidFill>
                          <a:srgbClr val="000000"/>
                        </a:solidFill>
                        <a:effectLst/>
                        <a:highlight>
                          <a:srgbClr val="FFFF00"/>
                        </a:highligh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443516066"/>
                  </a:ext>
                </a:extLst>
              </a:tr>
              <a:tr h="293590">
                <a:tc>
                  <a:txBody>
                    <a:bodyPr/>
                    <a:lstStyle/>
                    <a:p>
                      <a:pPr marL="0" marR="0" algn="ctr">
                        <a:spcBef>
                          <a:spcPts val="0"/>
                        </a:spcBef>
                        <a:spcAft>
                          <a:spcPts val="600"/>
                        </a:spcAft>
                      </a:pPr>
                      <a:r>
                        <a:rPr lang="en-US" sz="1100" kern="1200">
                          <a:effectLst/>
                          <a:latin typeface="+mn-lt"/>
                        </a:rPr>
                        <a:t>10</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Unit testing—Functional</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Support</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Support</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a:solidFill>
                            <a:srgbClr val="000000"/>
                          </a:solidFill>
                          <a:effectLst/>
                          <a:latin typeface="+mn-lt"/>
                          <a:ea typeface="Times" panose="02020603050405020304" pitchFamily="18" charset="0"/>
                          <a:cs typeface="Times New Roman" panose="02020603050405020304" pitchFamily="18" charset="0"/>
                        </a:rPr>
                        <a:t>Primary</a:t>
                      </a:r>
                    </a:p>
                  </a:txBody>
                  <a:tcPr marL="68580" marR="68580" marT="0" marB="0" anchor="b"/>
                </a:tc>
                <a:extLst>
                  <a:ext uri="{0D108BD9-81ED-4DB2-BD59-A6C34878D82A}">
                    <a16:rowId xmlns:a16="http://schemas.microsoft.com/office/drawing/2014/main" val="4009787001"/>
                  </a:ext>
                </a:extLst>
              </a:tr>
              <a:tr h="293590">
                <a:tc>
                  <a:txBody>
                    <a:bodyPr/>
                    <a:lstStyle/>
                    <a:p>
                      <a:pPr marL="0" marR="0" algn="ctr">
                        <a:spcBef>
                          <a:spcPts val="0"/>
                        </a:spcBef>
                        <a:spcAft>
                          <a:spcPts val="600"/>
                        </a:spcAft>
                      </a:pPr>
                      <a:r>
                        <a:rPr lang="en-US" sz="1100" kern="1200">
                          <a:effectLst/>
                          <a:latin typeface="+mn-lt"/>
                        </a:rPr>
                        <a:t>11</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Integration end to end Testing</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Secondary</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Primary</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098936346"/>
                  </a:ext>
                </a:extLst>
              </a:tr>
              <a:tr h="293590">
                <a:tc>
                  <a:txBody>
                    <a:bodyPr/>
                    <a:lstStyle/>
                    <a:p>
                      <a:pPr marL="0" marR="0" algn="ctr">
                        <a:spcBef>
                          <a:spcPts val="0"/>
                        </a:spcBef>
                        <a:spcAft>
                          <a:spcPts val="600"/>
                        </a:spcAft>
                      </a:pPr>
                      <a:r>
                        <a:rPr lang="en-US" sz="1100" kern="1200">
                          <a:effectLst/>
                          <a:latin typeface="+mn-lt"/>
                        </a:rPr>
                        <a:t>12</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User acceptance testing</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Primary</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kern="1200">
                          <a:effectLst/>
                          <a:latin typeface="+mn-lt"/>
                        </a:rPr>
                        <a:t>Support</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080014366"/>
                  </a:ext>
                </a:extLst>
              </a:tr>
              <a:tr h="293590">
                <a:tc>
                  <a:txBody>
                    <a:bodyPr/>
                    <a:lstStyle/>
                    <a:p>
                      <a:pPr marL="0" marR="0" algn="ctr">
                        <a:spcBef>
                          <a:spcPts val="0"/>
                        </a:spcBef>
                        <a:spcAft>
                          <a:spcPts val="600"/>
                        </a:spcAft>
                      </a:pPr>
                      <a:r>
                        <a:rPr lang="en-US" sz="1100" kern="1200">
                          <a:effectLst/>
                          <a:latin typeface="+mn-lt"/>
                        </a:rPr>
                        <a:t>13</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600"/>
                        </a:spcAft>
                      </a:pPr>
                      <a:r>
                        <a:rPr lang="en-US" sz="1100" kern="1200">
                          <a:effectLst/>
                          <a:latin typeface="+mn-lt"/>
                        </a:rPr>
                        <a:t>Cutover tasks</a:t>
                      </a:r>
                      <a:endParaRPr lang="en-US" sz="11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a:solidFill>
                            <a:srgbClr val="000000"/>
                          </a:solidFill>
                          <a:effectLst/>
                          <a:highlight>
                            <a:srgbClr val="FFFF00"/>
                          </a:highlight>
                          <a:latin typeface="+mn-lt"/>
                          <a:ea typeface="Times" panose="02020603050405020304" pitchFamily="18" charset="0"/>
                          <a:cs typeface="Times New Roman" panose="02020603050405020304" pitchFamily="18" charset="0"/>
                        </a:rPr>
                        <a:t>Support</a:t>
                      </a:r>
                    </a:p>
                  </a:txBody>
                  <a:tcPr marL="68580" marR="68580" marT="0" marB="0" anchor="b"/>
                </a:tc>
                <a:tc>
                  <a:txBody>
                    <a:bodyPr/>
                    <a:lstStyle/>
                    <a:p>
                      <a:pPr marL="0" marR="0" algn="ctr">
                        <a:spcBef>
                          <a:spcPts val="0"/>
                        </a:spcBef>
                        <a:spcAft>
                          <a:spcPts val="600"/>
                        </a:spcAft>
                      </a:pPr>
                      <a:r>
                        <a:rPr lang="en-US" sz="1100" kern="1200">
                          <a:effectLst/>
                          <a:highlight>
                            <a:srgbClr val="FFFF00"/>
                          </a:highlight>
                          <a:latin typeface="+mn-lt"/>
                        </a:rPr>
                        <a:t>Primary</a:t>
                      </a:r>
                      <a:endParaRPr lang="en-US" sz="1100">
                        <a:solidFill>
                          <a:srgbClr val="000000"/>
                        </a:solidFill>
                        <a:effectLst/>
                        <a:highlight>
                          <a:srgbClr val="FFFF00"/>
                        </a:highlight>
                        <a:latin typeface="+mn-lt"/>
                        <a:ea typeface="Times"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600"/>
                        </a:spcAft>
                      </a:pPr>
                      <a:r>
                        <a:rPr lang="en-US" sz="1100">
                          <a:solidFill>
                            <a:srgbClr val="000000"/>
                          </a:solidFill>
                          <a:effectLst/>
                          <a:highlight>
                            <a:srgbClr val="FFFF00"/>
                          </a:highlight>
                          <a:latin typeface="+mn-lt"/>
                          <a:ea typeface="Times" panose="02020603050405020304" pitchFamily="18" charset="0"/>
                          <a:cs typeface="Times New Roman" panose="02020603050405020304" pitchFamily="18" charset="0"/>
                        </a:rPr>
                        <a:t>Secondary</a:t>
                      </a:r>
                    </a:p>
                  </a:txBody>
                  <a:tcPr marL="68580" marR="68580" marT="0" marB="0" anchor="b"/>
                </a:tc>
                <a:extLst>
                  <a:ext uri="{0D108BD9-81ED-4DB2-BD59-A6C34878D82A}">
                    <a16:rowId xmlns:a16="http://schemas.microsoft.com/office/drawing/2014/main" val="3949588854"/>
                  </a:ext>
                </a:extLst>
              </a:tr>
            </a:tbl>
          </a:graphicData>
        </a:graphic>
      </p:graphicFrame>
    </p:spTree>
    <p:extLst>
      <p:ext uri="{BB962C8B-B14F-4D97-AF65-F5344CB8AC3E}">
        <p14:creationId xmlns:p14="http://schemas.microsoft.com/office/powerpoint/2010/main" val="3012955632"/>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A035558-2D3A-47B8-BC09-8C000AAA5FE8}"/>
              </a:ext>
            </a:extLst>
          </p:cNvPr>
          <p:cNvSpPr>
            <a:spLocks noGrp="1"/>
          </p:cNvSpPr>
          <p:nvPr>
            <p:ph type="title"/>
          </p:nvPr>
        </p:nvSpPr>
        <p:spPr>
          <a:xfrm>
            <a:off x="463295" y="247487"/>
            <a:ext cx="11277600" cy="443198"/>
          </a:xfrm>
        </p:spPr>
        <p:txBody>
          <a:bodyPr>
            <a:normAutofit fontScale="90000"/>
          </a:bodyPr>
          <a:lstStyle/>
          <a:p>
            <a:pPr>
              <a:spcBef>
                <a:spcPct val="0"/>
              </a:spcBef>
            </a:pPr>
            <a:r>
              <a:rPr lang="en-US" sz="3200"/>
              <a:t>Oracle Retail Integration Patterns</a:t>
            </a:r>
          </a:p>
        </p:txBody>
      </p:sp>
      <p:sp>
        <p:nvSpPr>
          <p:cNvPr id="6" name="Rectangle 5">
            <a:extLst>
              <a:ext uri="{FF2B5EF4-FFF2-40B4-BE49-F238E27FC236}">
                <a16:creationId xmlns:a16="http://schemas.microsoft.com/office/drawing/2014/main" id="{4D84CB40-694C-482A-8E4D-3267DF465507}"/>
              </a:ext>
            </a:extLst>
          </p:cNvPr>
          <p:cNvSpPr/>
          <p:nvPr/>
        </p:nvSpPr>
        <p:spPr>
          <a:xfrm>
            <a:off x="5927636" y="824579"/>
            <a:ext cx="6130410" cy="1800260"/>
          </a:xfrm>
          <a:prstGeom prst="rect">
            <a:avLst/>
          </a:prstGeom>
          <a:solidFill>
            <a:schemeClr val="accent3">
              <a:lumMod val="20000"/>
              <a:lumOff val="80000"/>
              <a:alpha val="2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Open Sans"/>
                <a:ea typeface="+mn-ea"/>
                <a:cs typeface="+mn-cs"/>
              </a:rPr>
              <a:t>Outbound (from Oracle Cloud) Classifications</a:t>
            </a:r>
          </a:p>
        </p:txBody>
      </p:sp>
      <p:sp>
        <p:nvSpPr>
          <p:cNvPr id="7" name="Rectangle 6">
            <a:extLst>
              <a:ext uri="{FF2B5EF4-FFF2-40B4-BE49-F238E27FC236}">
                <a16:creationId xmlns:a16="http://schemas.microsoft.com/office/drawing/2014/main" id="{7D479EFB-EB5E-42C9-A32F-C7C92904BA1C}"/>
              </a:ext>
            </a:extLst>
          </p:cNvPr>
          <p:cNvSpPr/>
          <p:nvPr/>
        </p:nvSpPr>
        <p:spPr>
          <a:xfrm>
            <a:off x="167641" y="5637847"/>
            <a:ext cx="11903075" cy="78974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mn-cs"/>
              </a:rPr>
              <a:t>Use Case Examples</a:t>
            </a:r>
          </a:p>
        </p:txBody>
      </p:sp>
      <p:cxnSp>
        <p:nvCxnSpPr>
          <p:cNvPr id="9" name="Elbow Connector 61">
            <a:extLst>
              <a:ext uri="{FF2B5EF4-FFF2-40B4-BE49-F238E27FC236}">
                <a16:creationId xmlns:a16="http://schemas.microsoft.com/office/drawing/2014/main" id="{979D6133-E94C-47D8-970C-84CB2A4F04CE}"/>
              </a:ext>
            </a:extLst>
          </p:cNvPr>
          <p:cNvCxnSpPr>
            <a:cxnSpLocks/>
          </p:cNvCxnSpPr>
          <p:nvPr/>
        </p:nvCxnSpPr>
        <p:spPr>
          <a:xfrm flipH="1">
            <a:off x="1754022" y="2786675"/>
            <a:ext cx="3116" cy="1187440"/>
          </a:xfrm>
          <a:prstGeom prst="straightConnector1">
            <a:avLst/>
          </a:prstGeom>
          <a:ln w="3175">
            <a:solidFill>
              <a:schemeClr val="bg1"/>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A542ABFA-E2A9-4069-8644-738408ED7593}"/>
              </a:ext>
            </a:extLst>
          </p:cNvPr>
          <p:cNvSpPr/>
          <p:nvPr/>
        </p:nvSpPr>
        <p:spPr>
          <a:xfrm>
            <a:off x="158564" y="2685839"/>
            <a:ext cx="11874871" cy="2084048"/>
          </a:xfrm>
          <a:prstGeom prst="rect">
            <a:avLst/>
          </a:prstGeom>
          <a:solidFill>
            <a:schemeClr val="bg1">
              <a:lumMod val="85000"/>
              <a:alpha val="2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Open Sans"/>
                <a:ea typeface="+mn-ea"/>
                <a:cs typeface="+mn-cs"/>
              </a:rPr>
              <a:t>Oracle Cloud  Integration Patterns</a:t>
            </a:r>
          </a:p>
        </p:txBody>
      </p:sp>
      <p:sp>
        <p:nvSpPr>
          <p:cNvPr id="12" name="Rectangle 11">
            <a:extLst>
              <a:ext uri="{FF2B5EF4-FFF2-40B4-BE49-F238E27FC236}">
                <a16:creationId xmlns:a16="http://schemas.microsoft.com/office/drawing/2014/main" id="{AE50A5C7-628F-4B30-BF94-4D9D761E8B7E}"/>
              </a:ext>
            </a:extLst>
          </p:cNvPr>
          <p:cNvSpPr/>
          <p:nvPr/>
        </p:nvSpPr>
        <p:spPr>
          <a:xfrm>
            <a:off x="158565" y="844161"/>
            <a:ext cx="5653230" cy="1809010"/>
          </a:xfrm>
          <a:prstGeom prst="rect">
            <a:avLst/>
          </a:prstGeom>
          <a:solidFill>
            <a:schemeClr val="accent3">
              <a:lumMod val="20000"/>
              <a:lumOff val="80000"/>
              <a:alpha val="2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Open Sans"/>
                <a:ea typeface="+mn-ea"/>
                <a:cs typeface="+mn-cs"/>
              </a:rPr>
              <a:t>Inbound (into Oracle Cloud) Classifications</a:t>
            </a:r>
          </a:p>
        </p:txBody>
      </p:sp>
      <p:graphicFrame>
        <p:nvGraphicFramePr>
          <p:cNvPr id="13" name="Table 12">
            <a:extLst>
              <a:ext uri="{FF2B5EF4-FFF2-40B4-BE49-F238E27FC236}">
                <a16:creationId xmlns:a16="http://schemas.microsoft.com/office/drawing/2014/main" id="{27F3C735-1D6B-491C-83BD-0B558E721398}"/>
              </a:ext>
            </a:extLst>
          </p:cNvPr>
          <p:cNvGraphicFramePr>
            <a:graphicFrameLocks noGrp="1"/>
          </p:cNvGraphicFramePr>
          <p:nvPr>
            <p:extLst>
              <p:ext uri="{D42A27DB-BD31-4B8C-83A1-F6EECF244321}">
                <p14:modId xmlns:p14="http://schemas.microsoft.com/office/powerpoint/2010/main" val="3792459667"/>
              </p:ext>
            </p:extLst>
          </p:nvPr>
        </p:nvGraphicFramePr>
        <p:xfrm>
          <a:off x="4124046" y="2926924"/>
          <a:ext cx="1654175" cy="1822864"/>
        </p:xfrm>
        <a:graphic>
          <a:graphicData uri="http://schemas.openxmlformats.org/drawingml/2006/table">
            <a:tbl>
              <a:tblPr firstRow="1" bandRow="1">
                <a:tableStyleId>{1FECB4D8-DB02-4DC6-A0A2-4F2EBAE1DC90}</a:tableStyleId>
              </a:tblPr>
              <a:tblGrid>
                <a:gridCol w="1654175">
                  <a:extLst>
                    <a:ext uri="{9D8B030D-6E8A-4147-A177-3AD203B41FA5}">
                      <a16:colId xmlns:a16="http://schemas.microsoft.com/office/drawing/2014/main" val="3873850230"/>
                    </a:ext>
                  </a:extLst>
                </a:gridCol>
              </a:tblGrid>
              <a:tr h="440002">
                <a:tc>
                  <a:txBody>
                    <a:bodyPr/>
                    <a:lstStyle/>
                    <a:p>
                      <a:pPr algn="ctr"/>
                      <a:r>
                        <a:rPr lang="en-US" sz="1000" b="1">
                          <a:solidFill>
                            <a:schemeClr val="bg1"/>
                          </a:solidFill>
                        </a:rPr>
                        <a:t>Retail Integration Bus RIB</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382862">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chemeClr val="tx2"/>
                          </a:solidFill>
                          <a:latin typeface="Arial"/>
                        </a:rPr>
                        <a:t>Enables integrations with Omnichannel Applications</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chemeClr val="tx2"/>
                          </a:solidFill>
                          <a:latin typeface="Arial"/>
                        </a:rPr>
                        <a:t>JMS Pub-Sub model</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chemeClr val="tx2"/>
                          </a:solidFill>
                          <a:latin typeface="Arial"/>
                        </a:rPr>
                        <a:t>RIB-EXT module available for publication of data to external middleware</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14" name="Table 13">
            <a:extLst>
              <a:ext uri="{FF2B5EF4-FFF2-40B4-BE49-F238E27FC236}">
                <a16:creationId xmlns:a16="http://schemas.microsoft.com/office/drawing/2014/main" id="{AF247EF8-0EDA-4F1A-99AC-31691432A8AB}"/>
              </a:ext>
            </a:extLst>
          </p:cNvPr>
          <p:cNvGraphicFramePr>
            <a:graphicFrameLocks noGrp="1"/>
          </p:cNvGraphicFramePr>
          <p:nvPr/>
        </p:nvGraphicFramePr>
        <p:xfrm>
          <a:off x="2269813" y="5846664"/>
          <a:ext cx="1622108" cy="502608"/>
        </p:xfrm>
        <a:graphic>
          <a:graphicData uri="http://schemas.openxmlformats.org/drawingml/2006/table">
            <a:tbl>
              <a:tblPr firstRow="1" bandRow="1">
                <a:tableStyleId>{1FECB4D8-DB02-4DC6-A0A2-4F2EBAE1DC90}</a:tableStyleId>
              </a:tblPr>
              <a:tblGrid>
                <a:gridCol w="1622108">
                  <a:extLst>
                    <a:ext uri="{9D8B030D-6E8A-4147-A177-3AD203B41FA5}">
                      <a16:colId xmlns:a16="http://schemas.microsoft.com/office/drawing/2014/main" val="3873850230"/>
                    </a:ext>
                  </a:extLst>
                </a:gridCol>
              </a:tblGrid>
              <a:tr h="468168">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Matched invoices, Suppliers between Financials and Retail</a:t>
                      </a:r>
                    </a:p>
                  </a:txBody>
                  <a:tcPr marL="91409" marR="91409"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15" name="Table 14">
            <a:extLst>
              <a:ext uri="{FF2B5EF4-FFF2-40B4-BE49-F238E27FC236}">
                <a16:creationId xmlns:a16="http://schemas.microsoft.com/office/drawing/2014/main" id="{BB3E8749-43A0-4968-A540-949E84913F8A}"/>
              </a:ext>
            </a:extLst>
          </p:cNvPr>
          <p:cNvGraphicFramePr>
            <a:graphicFrameLocks noGrp="1"/>
          </p:cNvGraphicFramePr>
          <p:nvPr/>
        </p:nvGraphicFramePr>
        <p:xfrm>
          <a:off x="4049521" y="5852126"/>
          <a:ext cx="1765357" cy="502608"/>
        </p:xfrm>
        <a:graphic>
          <a:graphicData uri="http://schemas.openxmlformats.org/drawingml/2006/table">
            <a:tbl>
              <a:tblPr firstRow="1" bandRow="1">
                <a:tableStyleId>{1FECB4D8-DB02-4DC6-A0A2-4F2EBAE1DC90}</a:tableStyleId>
              </a:tblPr>
              <a:tblGrid>
                <a:gridCol w="1765357">
                  <a:extLst>
                    <a:ext uri="{9D8B030D-6E8A-4147-A177-3AD203B41FA5}">
                      <a16:colId xmlns:a16="http://schemas.microsoft.com/office/drawing/2014/main" val="3873850230"/>
                    </a:ext>
                  </a:extLst>
                </a:gridCol>
              </a:tblGrid>
              <a:tr h="477778">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Organizational Hierarchy, Foundation Data, Transactions.</a:t>
                      </a:r>
                    </a:p>
                  </a:txBody>
                  <a:tcPr marL="91497" marR="91497"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16" name="Table 15">
            <a:extLst>
              <a:ext uri="{FF2B5EF4-FFF2-40B4-BE49-F238E27FC236}">
                <a16:creationId xmlns:a16="http://schemas.microsoft.com/office/drawing/2014/main" id="{9F368B60-D54F-4982-99DC-6194CCBFEE6F}"/>
              </a:ext>
            </a:extLst>
          </p:cNvPr>
          <p:cNvGraphicFramePr>
            <a:graphicFrameLocks noGrp="1"/>
          </p:cNvGraphicFramePr>
          <p:nvPr/>
        </p:nvGraphicFramePr>
        <p:xfrm>
          <a:off x="10141365" y="5817686"/>
          <a:ext cx="1609422" cy="497146"/>
        </p:xfrm>
        <a:graphic>
          <a:graphicData uri="http://schemas.openxmlformats.org/drawingml/2006/table">
            <a:tbl>
              <a:tblPr firstRow="1" bandRow="1">
                <a:tableStyleId>{1FECB4D8-DB02-4DC6-A0A2-4F2EBAE1DC90}</a:tableStyleId>
              </a:tblPr>
              <a:tblGrid>
                <a:gridCol w="1609422">
                  <a:extLst>
                    <a:ext uri="{9D8B030D-6E8A-4147-A177-3AD203B41FA5}">
                      <a16:colId xmlns:a16="http://schemas.microsoft.com/office/drawing/2014/main" val="3873850230"/>
                    </a:ext>
                  </a:extLst>
                </a:gridCol>
              </a:tblGrid>
              <a:tr h="497146">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Additional data where no base API exists</a:t>
                      </a:r>
                    </a:p>
                  </a:txBody>
                  <a:tcPr marL="91497" marR="91497"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sp>
        <p:nvSpPr>
          <p:cNvPr id="17" name="Rectangle 16">
            <a:extLst>
              <a:ext uri="{FF2B5EF4-FFF2-40B4-BE49-F238E27FC236}">
                <a16:creationId xmlns:a16="http://schemas.microsoft.com/office/drawing/2014/main" id="{30D54ED4-AAEE-4BCF-92B9-21A0698E6D77}"/>
              </a:ext>
            </a:extLst>
          </p:cNvPr>
          <p:cNvSpPr/>
          <p:nvPr/>
        </p:nvSpPr>
        <p:spPr>
          <a:xfrm>
            <a:off x="158564" y="4809531"/>
            <a:ext cx="11874871" cy="78974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Open Sans"/>
                <a:ea typeface="+mn-ea"/>
                <a:cs typeface="+mn-cs"/>
              </a:rPr>
              <a:t>Application Abstraction Approach</a:t>
            </a:r>
          </a:p>
        </p:txBody>
      </p:sp>
      <p:graphicFrame>
        <p:nvGraphicFramePr>
          <p:cNvPr id="18" name="Table 17">
            <a:extLst>
              <a:ext uri="{FF2B5EF4-FFF2-40B4-BE49-F238E27FC236}">
                <a16:creationId xmlns:a16="http://schemas.microsoft.com/office/drawing/2014/main" id="{D19EB11A-5345-4957-BC78-BF77D347219B}"/>
              </a:ext>
            </a:extLst>
          </p:cNvPr>
          <p:cNvGraphicFramePr>
            <a:graphicFrameLocks noGrp="1"/>
          </p:cNvGraphicFramePr>
          <p:nvPr/>
        </p:nvGraphicFramePr>
        <p:xfrm>
          <a:off x="297391" y="5016066"/>
          <a:ext cx="1633164" cy="579198"/>
        </p:xfrm>
        <a:graphic>
          <a:graphicData uri="http://schemas.openxmlformats.org/drawingml/2006/table">
            <a:tbl>
              <a:tblPr firstRow="1" bandRow="1">
                <a:tableStyleId>{1FECB4D8-DB02-4DC6-A0A2-4F2EBAE1DC90}</a:tableStyleId>
              </a:tblPr>
              <a:tblGrid>
                <a:gridCol w="1633164">
                  <a:extLst>
                    <a:ext uri="{9D8B030D-6E8A-4147-A177-3AD203B41FA5}">
                      <a16:colId xmlns:a16="http://schemas.microsoft.com/office/drawing/2014/main" val="3873850230"/>
                    </a:ext>
                  </a:extLst>
                </a:gridCol>
              </a:tblGrid>
              <a:tr h="447472">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Standard file format</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Integrated using Object Storage</a:t>
                      </a:r>
                    </a:p>
                  </a:txBody>
                  <a:tcPr marL="91409" marR="91409" marT="45759" marB="4575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19" name="Table 18">
            <a:extLst>
              <a:ext uri="{FF2B5EF4-FFF2-40B4-BE49-F238E27FC236}">
                <a16:creationId xmlns:a16="http://schemas.microsoft.com/office/drawing/2014/main" id="{FBE3C08A-183B-491F-9ACD-636F3B8EAD34}"/>
              </a:ext>
            </a:extLst>
          </p:cNvPr>
          <p:cNvGraphicFramePr>
            <a:graphicFrameLocks noGrp="1"/>
          </p:cNvGraphicFramePr>
          <p:nvPr/>
        </p:nvGraphicFramePr>
        <p:xfrm>
          <a:off x="6194671" y="5060134"/>
          <a:ext cx="1645920" cy="467437"/>
        </p:xfrm>
        <a:graphic>
          <a:graphicData uri="http://schemas.openxmlformats.org/drawingml/2006/table">
            <a:tbl>
              <a:tblPr firstRow="1" bandRow="1">
                <a:tableStyleId>{1FECB4D8-DB02-4DC6-A0A2-4F2EBAE1DC90}</a:tableStyleId>
              </a:tblPr>
              <a:tblGrid>
                <a:gridCol w="1645920">
                  <a:extLst>
                    <a:ext uri="{9D8B030D-6E8A-4147-A177-3AD203B41FA5}">
                      <a16:colId xmlns:a16="http://schemas.microsoft.com/office/drawing/2014/main" val="3873850230"/>
                    </a:ext>
                  </a:extLst>
                </a:gridCol>
              </a:tblGrid>
              <a:tr h="467437">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REST webservices for retrieval of queued data</a:t>
                      </a:r>
                    </a:p>
                  </a:txBody>
                  <a:tcPr marL="91497" marR="91497" marT="45759" marB="4575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20" name="Table 19">
            <a:extLst>
              <a:ext uri="{FF2B5EF4-FFF2-40B4-BE49-F238E27FC236}">
                <a16:creationId xmlns:a16="http://schemas.microsoft.com/office/drawing/2014/main" id="{7F8BFD7E-B642-4EEA-9E0F-1CABFB69B4EA}"/>
              </a:ext>
            </a:extLst>
          </p:cNvPr>
          <p:cNvGraphicFramePr>
            <a:graphicFrameLocks noGrp="1"/>
          </p:cNvGraphicFramePr>
          <p:nvPr/>
        </p:nvGraphicFramePr>
        <p:xfrm>
          <a:off x="10141365" y="5027312"/>
          <a:ext cx="1645920" cy="512218"/>
        </p:xfrm>
        <a:graphic>
          <a:graphicData uri="http://schemas.openxmlformats.org/drawingml/2006/table">
            <a:tbl>
              <a:tblPr firstRow="1" bandRow="1">
                <a:tableStyleId>{1FECB4D8-DB02-4DC6-A0A2-4F2EBAE1DC90}</a:tableStyleId>
              </a:tblPr>
              <a:tblGrid>
                <a:gridCol w="1645920">
                  <a:extLst>
                    <a:ext uri="{9D8B030D-6E8A-4147-A177-3AD203B41FA5}">
                      <a16:colId xmlns:a16="http://schemas.microsoft.com/office/drawing/2014/main" val="3873850230"/>
                    </a:ext>
                  </a:extLst>
                </a:gridCol>
              </a:tblGrid>
              <a:tr h="512218">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kern="1200">
                          <a:solidFill>
                            <a:schemeClr val="tx2"/>
                          </a:solidFill>
                          <a:latin typeface="Arial"/>
                          <a:ea typeface="+mn-ea"/>
                          <a:cs typeface="+mn-cs"/>
                        </a:rPr>
                        <a:t>Standard format agreed between source and target applications.</a:t>
                      </a:r>
                    </a:p>
                  </a:txBody>
                  <a:tcPr marL="91497" marR="91497" marT="45749" marB="4574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21" name="Table 20">
            <a:extLst>
              <a:ext uri="{FF2B5EF4-FFF2-40B4-BE49-F238E27FC236}">
                <a16:creationId xmlns:a16="http://schemas.microsoft.com/office/drawing/2014/main" id="{8505761D-D48E-4F01-8F37-ED5E1C9D3294}"/>
              </a:ext>
            </a:extLst>
          </p:cNvPr>
          <p:cNvGraphicFramePr>
            <a:graphicFrameLocks noGrp="1"/>
          </p:cNvGraphicFramePr>
          <p:nvPr>
            <p:extLst>
              <p:ext uri="{D42A27DB-BD31-4B8C-83A1-F6EECF244321}">
                <p14:modId xmlns:p14="http://schemas.microsoft.com/office/powerpoint/2010/main" val="1655245333"/>
              </p:ext>
            </p:extLst>
          </p:nvPr>
        </p:nvGraphicFramePr>
        <p:xfrm>
          <a:off x="6213955" y="2938155"/>
          <a:ext cx="1654175" cy="1838288"/>
        </p:xfrm>
        <a:graphic>
          <a:graphicData uri="http://schemas.openxmlformats.org/drawingml/2006/table">
            <a:tbl>
              <a:tblPr firstRow="1" bandRow="1">
                <a:tableStyleId>{1FECB4D8-DB02-4DC6-A0A2-4F2EBAE1DC90}</a:tableStyleId>
              </a:tblPr>
              <a:tblGrid>
                <a:gridCol w="1654175">
                  <a:extLst>
                    <a:ext uri="{9D8B030D-6E8A-4147-A177-3AD203B41FA5}">
                      <a16:colId xmlns:a16="http://schemas.microsoft.com/office/drawing/2014/main" val="3873850230"/>
                    </a:ext>
                  </a:extLst>
                </a:gridCol>
              </a:tblGrid>
              <a:tr h="464307">
                <a:tc>
                  <a:txBody>
                    <a:bodyPr/>
                    <a:lstStyle/>
                    <a:p>
                      <a:pPr algn="ctr"/>
                      <a:r>
                        <a:rPr lang="en-US" sz="1000" b="1" err="1">
                          <a:solidFill>
                            <a:schemeClr val="bg1"/>
                          </a:solidFill>
                        </a:rPr>
                        <a:t>MerchAPI</a:t>
                      </a:r>
                      <a:r>
                        <a:rPr lang="en-US" sz="1000" b="1">
                          <a:solidFill>
                            <a:schemeClr val="bg1"/>
                          </a:solidFill>
                        </a:rPr>
                        <a:t> Publish Service</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373981">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latin typeface="Arial"/>
                          <a:ea typeface="+mn-ea"/>
                          <a:cs typeface="+mn-cs"/>
                        </a:rPr>
                        <a:t>Set of Rest APIs to integrate data from Oracle to external application</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latin typeface="Arial"/>
                          <a:ea typeface="+mn-ea"/>
                          <a:cs typeface="+mn-cs"/>
                        </a:rPr>
                        <a:t>Requires consumer to poll the API at defined intervals to fetch delta changes since last poll</a:t>
                      </a:r>
                      <a:endParaRPr lang="en-US" sz="900">
                        <a:solidFill>
                          <a:schemeClr val="tx2"/>
                        </a:solidFill>
                        <a:latin typeface="Arial"/>
                      </a:endParaRP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739517"/>
                  </a:ext>
                </a:extLst>
              </a:tr>
            </a:tbl>
          </a:graphicData>
        </a:graphic>
      </p:graphicFrame>
      <p:graphicFrame>
        <p:nvGraphicFramePr>
          <p:cNvPr id="22" name="Table 21">
            <a:extLst>
              <a:ext uri="{FF2B5EF4-FFF2-40B4-BE49-F238E27FC236}">
                <a16:creationId xmlns:a16="http://schemas.microsoft.com/office/drawing/2014/main" id="{A31C2D47-539F-4F20-8692-40799FE76989}"/>
              </a:ext>
            </a:extLst>
          </p:cNvPr>
          <p:cNvGraphicFramePr>
            <a:graphicFrameLocks noGrp="1"/>
          </p:cNvGraphicFramePr>
          <p:nvPr>
            <p:extLst>
              <p:ext uri="{D42A27DB-BD31-4B8C-83A1-F6EECF244321}">
                <p14:modId xmlns:p14="http://schemas.microsoft.com/office/powerpoint/2010/main" val="3607813789"/>
              </p:ext>
            </p:extLst>
          </p:nvPr>
        </p:nvGraphicFramePr>
        <p:xfrm>
          <a:off x="397770" y="2926924"/>
          <a:ext cx="1654175" cy="1811676"/>
        </p:xfrm>
        <a:graphic>
          <a:graphicData uri="http://schemas.openxmlformats.org/drawingml/2006/table">
            <a:tbl>
              <a:tblPr firstRow="1" bandRow="1">
                <a:tableStyleId>{1FECB4D8-DB02-4DC6-A0A2-4F2EBAE1DC90}</a:tableStyleId>
              </a:tblPr>
              <a:tblGrid>
                <a:gridCol w="1654175">
                  <a:extLst>
                    <a:ext uri="{9D8B030D-6E8A-4147-A177-3AD203B41FA5}">
                      <a16:colId xmlns:a16="http://schemas.microsoft.com/office/drawing/2014/main" val="3873850230"/>
                    </a:ext>
                  </a:extLst>
                </a:gridCol>
              </a:tblGrid>
              <a:tr h="417336">
                <a:tc>
                  <a:txBody>
                    <a:bodyPr/>
                    <a:lstStyle/>
                    <a:p>
                      <a:pPr algn="ctr"/>
                      <a:r>
                        <a:rPr lang="en-US" sz="1000" b="1">
                          <a:solidFill>
                            <a:schemeClr val="bg1"/>
                          </a:solidFill>
                        </a:rPr>
                        <a:t>POM Induction Job (File Based)</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394340">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chemeClr val="tx2"/>
                          </a:solidFill>
                          <a:latin typeface="Arial"/>
                        </a:rPr>
                        <a:t>Source system shares extract data in required format to Object Storage</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chemeClr val="tx2"/>
                          </a:solidFill>
                          <a:latin typeface="Arial"/>
                        </a:rPr>
                        <a:t>Data imported into Oracle via POM Induction Jobs</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US" sz="900">
                        <a:solidFill>
                          <a:schemeClr val="tx2"/>
                        </a:solidFill>
                        <a:latin typeface="Arial"/>
                      </a:endParaRP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23" name="Table 22">
            <a:extLst>
              <a:ext uri="{FF2B5EF4-FFF2-40B4-BE49-F238E27FC236}">
                <a16:creationId xmlns:a16="http://schemas.microsoft.com/office/drawing/2014/main" id="{B10E6DA4-B3BC-46D5-BC3C-00FDD44E3ABE}"/>
              </a:ext>
            </a:extLst>
          </p:cNvPr>
          <p:cNvGraphicFramePr>
            <a:graphicFrameLocks noGrp="1"/>
          </p:cNvGraphicFramePr>
          <p:nvPr/>
        </p:nvGraphicFramePr>
        <p:xfrm>
          <a:off x="8166548" y="2942114"/>
          <a:ext cx="1728668" cy="1838288"/>
        </p:xfrm>
        <a:graphic>
          <a:graphicData uri="http://schemas.openxmlformats.org/drawingml/2006/table">
            <a:tbl>
              <a:tblPr firstRow="1" bandRow="1">
                <a:tableStyleId>{1FECB4D8-DB02-4DC6-A0A2-4F2EBAE1DC90}</a:tableStyleId>
              </a:tblPr>
              <a:tblGrid>
                <a:gridCol w="1728668">
                  <a:extLst>
                    <a:ext uri="{9D8B030D-6E8A-4147-A177-3AD203B41FA5}">
                      <a16:colId xmlns:a16="http://schemas.microsoft.com/office/drawing/2014/main" val="3873850230"/>
                    </a:ext>
                  </a:extLst>
                </a:gridCol>
              </a:tblGrid>
              <a:tr h="360020">
                <a:tc>
                  <a:txBody>
                    <a:bodyPr/>
                    <a:lstStyle/>
                    <a:p>
                      <a:pPr algn="ctr"/>
                      <a:r>
                        <a:rPr lang="en-US" sz="1000" b="1">
                          <a:solidFill>
                            <a:schemeClr val="bg1"/>
                          </a:solidFill>
                        </a:rPr>
                        <a:t>Web service</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375765">
                <a:tc>
                  <a:txBody>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latin typeface="Arial"/>
                          <a:ea typeface="+mn-ea"/>
                          <a:cs typeface="+mn-cs"/>
                        </a:rPr>
                        <a:t>Uses SOAP / REST based services to push data to Oracle Cloud</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latin typeface="Arial"/>
                          <a:ea typeface="+mn-ea"/>
                          <a:cs typeface="+mn-cs"/>
                        </a:rPr>
                        <a:t>Lookups available to retrieve information</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latin typeface="Arial"/>
                          <a:ea typeface="+mn-ea"/>
                          <a:cs typeface="+mn-cs"/>
                        </a:rPr>
                        <a:t>Leverages Oracle standard web services available for data extraction as a wrapper for API functionality </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739517"/>
                  </a:ext>
                </a:extLst>
              </a:tr>
            </a:tbl>
          </a:graphicData>
        </a:graphic>
      </p:graphicFrame>
      <p:graphicFrame>
        <p:nvGraphicFramePr>
          <p:cNvPr id="24" name="Table 23">
            <a:extLst>
              <a:ext uri="{FF2B5EF4-FFF2-40B4-BE49-F238E27FC236}">
                <a16:creationId xmlns:a16="http://schemas.microsoft.com/office/drawing/2014/main" id="{E2A86A3C-0CFA-4FE2-A0D6-C5C8807E9B96}"/>
              </a:ext>
            </a:extLst>
          </p:cNvPr>
          <p:cNvGraphicFramePr>
            <a:graphicFrameLocks noGrp="1"/>
          </p:cNvGraphicFramePr>
          <p:nvPr>
            <p:extLst>
              <p:ext uri="{D42A27DB-BD31-4B8C-83A1-F6EECF244321}">
                <p14:modId xmlns:p14="http://schemas.microsoft.com/office/powerpoint/2010/main" val="3885273641"/>
              </p:ext>
            </p:extLst>
          </p:nvPr>
        </p:nvGraphicFramePr>
        <p:xfrm>
          <a:off x="10095024" y="2938157"/>
          <a:ext cx="1738603" cy="1811631"/>
        </p:xfrm>
        <a:graphic>
          <a:graphicData uri="http://schemas.openxmlformats.org/drawingml/2006/table">
            <a:tbl>
              <a:tblPr firstRow="1" bandRow="1">
                <a:tableStyleId>{1FECB4D8-DB02-4DC6-A0A2-4F2EBAE1DC90}</a:tableStyleId>
              </a:tblPr>
              <a:tblGrid>
                <a:gridCol w="1738603">
                  <a:extLst>
                    <a:ext uri="{9D8B030D-6E8A-4147-A177-3AD203B41FA5}">
                      <a16:colId xmlns:a16="http://schemas.microsoft.com/office/drawing/2014/main" val="3873850230"/>
                    </a:ext>
                  </a:extLst>
                </a:gridCol>
              </a:tblGrid>
              <a:tr h="317897">
                <a:tc>
                  <a:txBody>
                    <a:bodyPr/>
                    <a:lstStyle/>
                    <a:p>
                      <a:pPr algn="ctr"/>
                      <a:r>
                        <a:rPr lang="en-US" sz="1000" b="1">
                          <a:solidFill>
                            <a:schemeClr val="bg1"/>
                          </a:solidFill>
                        </a:rPr>
                        <a:t>DAS/Retail Data Store</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284751367"/>
                  </a:ext>
                </a:extLst>
              </a:tr>
              <a:tr h="1493734">
                <a:tc>
                  <a:txBody>
                    <a:bodyPr/>
                    <a:lstStyle/>
                    <a:p>
                      <a:pPr marL="117475" marR="0" lvl="0" indent="-117475"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850" kern="1200">
                          <a:solidFill>
                            <a:schemeClr val="tx2"/>
                          </a:solidFill>
                          <a:latin typeface="Arial"/>
                          <a:ea typeface="+mn-ea"/>
                          <a:cs typeface="+mn-cs"/>
                        </a:rPr>
                        <a:t>Oracle Golden Gate is used to perform real time replication of data from Oracle Retail Cloud Services to RDS.</a:t>
                      </a:r>
                    </a:p>
                    <a:p>
                      <a:pPr marL="117475" marR="0" lvl="0" indent="-117475"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850" kern="1200">
                          <a:solidFill>
                            <a:schemeClr val="tx2"/>
                          </a:solidFill>
                          <a:latin typeface="Arial"/>
                          <a:ea typeface="+mn-ea"/>
                          <a:cs typeface="+mn-cs"/>
                        </a:rPr>
                        <a:t>ORDS allows to create REST query services which can be invoked by custom applications for data extraction</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25" name="Table 24">
            <a:extLst>
              <a:ext uri="{FF2B5EF4-FFF2-40B4-BE49-F238E27FC236}">
                <a16:creationId xmlns:a16="http://schemas.microsoft.com/office/drawing/2014/main" id="{6553365F-67CB-457D-8CA1-DDA46D69C4D5}"/>
              </a:ext>
            </a:extLst>
          </p:cNvPr>
          <p:cNvGraphicFramePr>
            <a:graphicFrameLocks noGrp="1"/>
          </p:cNvGraphicFramePr>
          <p:nvPr/>
        </p:nvGraphicFramePr>
        <p:xfrm>
          <a:off x="297391" y="5852126"/>
          <a:ext cx="1633164" cy="483240"/>
        </p:xfrm>
        <a:graphic>
          <a:graphicData uri="http://schemas.openxmlformats.org/drawingml/2006/table">
            <a:tbl>
              <a:tblPr firstRow="1" bandRow="1">
                <a:tableStyleId>{1FECB4D8-DB02-4DC6-A0A2-4F2EBAE1DC90}</a:tableStyleId>
              </a:tblPr>
              <a:tblGrid>
                <a:gridCol w="1633164">
                  <a:extLst>
                    <a:ext uri="{9D8B030D-6E8A-4147-A177-3AD203B41FA5}">
                      <a16:colId xmlns:a16="http://schemas.microsoft.com/office/drawing/2014/main" val="3873850230"/>
                    </a:ext>
                  </a:extLst>
                </a:gridCol>
              </a:tblGrid>
              <a:tr h="483240">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Price Changes, Clearance, Cost changes, EDI.</a:t>
                      </a:r>
                    </a:p>
                  </a:txBody>
                  <a:tcPr marL="91409" marR="91409"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26" name="Table 25">
            <a:extLst>
              <a:ext uri="{FF2B5EF4-FFF2-40B4-BE49-F238E27FC236}">
                <a16:creationId xmlns:a16="http://schemas.microsoft.com/office/drawing/2014/main" id="{80FD5E6C-9E6B-4451-8DDB-A309EE6FCAE3}"/>
              </a:ext>
            </a:extLst>
          </p:cNvPr>
          <p:cNvGraphicFramePr>
            <a:graphicFrameLocks noGrp="1"/>
          </p:cNvGraphicFramePr>
          <p:nvPr/>
        </p:nvGraphicFramePr>
        <p:xfrm>
          <a:off x="6134807" y="5832758"/>
          <a:ext cx="1765357" cy="497146"/>
        </p:xfrm>
        <a:graphic>
          <a:graphicData uri="http://schemas.openxmlformats.org/drawingml/2006/table">
            <a:tbl>
              <a:tblPr firstRow="1" bandRow="1">
                <a:tableStyleId>{1FECB4D8-DB02-4DC6-A0A2-4F2EBAE1DC90}</a:tableStyleId>
              </a:tblPr>
              <a:tblGrid>
                <a:gridCol w="1765357">
                  <a:extLst>
                    <a:ext uri="{9D8B030D-6E8A-4147-A177-3AD203B41FA5}">
                      <a16:colId xmlns:a16="http://schemas.microsoft.com/office/drawing/2014/main" val="3873850230"/>
                    </a:ext>
                  </a:extLst>
                </a:gridCol>
              </a:tblGrid>
              <a:tr h="497146">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Items, Merchandise Hierarchy, inventory position</a:t>
                      </a:r>
                    </a:p>
                  </a:txBody>
                  <a:tcPr marL="91497" marR="91497"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27" name="Table 26">
            <a:extLst>
              <a:ext uri="{FF2B5EF4-FFF2-40B4-BE49-F238E27FC236}">
                <a16:creationId xmlns:a16="http://schemas.microsoft.com/office/drawing/2014/main" id="{38F02C7B-7D83-48D0-95D6-C641A5F71319}"/>
              </a:ext>
            </a:extLst>
          </p:cNvPr>
          <p:cNvGraphicFramePr>
            <a:graphicFrameLocks noGrp="1"/>
          </p:cNvGraphicFramePr>
          <p:nvPr/>
        </p:nvGraphicFramePr>
        <p:xfrm>
          <a:off x="8164960" y="5832758"/>
          <a:ext cx="1655762" cy="482074"/>
        </p:xfrm>
        <a:graphic>
          <a:graphicData uri="http://schemas.openxmlformats.org/drawingml/2006/table">
            <a:tbl>
              <a:tblPr firstRow="1" bandRow="1">
                <a:tableStyleId>{1FECB4D8-DB02-4DC6-A0A2-4F2EBAE1DC90}</a:tableStyleId>
              </a:tblPr>
              <a:tblGrid>
                <a:gridCol w="1655762">
                  <a:extLst>
                    <a:ext uri="{9D8B030D-6E8A-4147-A177-3AD203B41FA5}">
                      <a16:colId xmlns:a16="http://schemas.microsoft.com/office/drawing/2014/main" val="3873850230"/>
                    </a:ext>
                  </a:extLst>
                </a:gridCol>
              </a:tblGrid>
              <a:tr h="482074">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Item creation, Item Updates Adhoc inventory lookup</a:t>
                      </a:r>
                    </a:p>
                  </a:txBody>
                  <a:tcPr marL="91497" marR="91497" marT="45564" marB="4556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28" name="Table 27">
            <a:extLst>
              <a:ext uri="{FF2B5EF4-FFF2-40B4-BE49-F238E27FC236}">
                <a16:creationId xmlns:a16="http://schemas.microsoft.com/office/drawing/2014/main" id="{58FF1D86-9FC9-4DC5-A2F4-BD7B04567964}"/>
              </a:ext>
            </a:extLst>
          </p:cNvPr>
          <p:cNvGraphicFramePr>
            <a:graphicFrameLocks noGrp="1"/>
          </p:cNvGraphicFramePr>
          <p:nvPr>
            <p:extLst>
              <p:ext uri="{D42A27DB-BD31-4B8C-83A1-F6EECF244321}">
                <p14:modId xmlns:p14="http://schemas.microsoft.com/office/powerpoint/2010/main" val="4165066636"/>
              </p:ext>
            </p:extLst>
          </p:nvPr>
        </p:nvGraphicFramePr>
        <p:xfrm>
          <a:off x="2269812" y="2938111"/>
          <a:ext cx="1622110" cy="1838288"/>
        </p:xfrm>
        <a:graphic>
          <a:graphicData uri="http://schemas.openxmlformats.org/drawingml/2006/table">
            <a:tbl>
              <a:tblPr firstRow="1" bandRow="1">
                <a:tableStyleId>{1FECB4D8-DB02-4DC6-A0A2-4F2EBAE1DC90}</a:tableStyleId>
              </a:tblPr>
              <a:tblGrid>
                <a:gridCol w="1622110">
                  <a:extLst>
                    <a:ext uri="{9D8B030D-6E8A-4147-A177-3AD203B41FA5}">
                      <a16:colId xmlns:a16="http://schemas.microsoft.com/office/drawing/2014/main" val="3873850230"/>
                    </a:ext>
                  </a:extLst>
                </a:gridCol>
              </a:tblGrid>
              <a:tr h="446515">
                <a:tc>
                  <a:txBody>
                    <a:bodyPr/>
                    <a:lstStyle/>
                    <a:p>
                      <a:pPr algn="ctr"/>
                      <a:r>
                        <a:rPr lang="en-US" sz="1000" b="1">
                          <a:solidFill>
                            <a:schemeClr val="bg1"/>
                          </a:solidFill>
                        </a:rPr>
                        <a:t>Retail Financial Integration (RFI)</a:t>
                      </a:r>
                    </a:p>
                  </a:txBody>
                  <a:tcPr marL="91409" marR="91409" marT="45714" marB="4571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4751367"/>
                  </a:ext>
                </a:extLst>
              </a:tr>
              <a:tr h="1391773">
                <a:tc>
                  <a:txBody>
                    <a:bodyPr/>
                    <a:lstStyle/>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1200">
                          <a:solidFill>
                            <a:schemeClr val="tx2"/>
                          </a:solidFill>
                          <a:highlight>
                            <a:srgbClr val="FFFF00"/>
                          </a:highlight>
                          <a:latin typeface="Arial"/>
                          <a:ea typeface="+mn-ea"/>
                          <a:cs typeface="+mn-cs"/>
                        </a:rPr>
                        <a:t>RFI is an Oracle built integration between Oracle Cloud Financials and MFCS.</a:t>
                      </a:r>
                    </a:p>
                    <a:p>
                      <a:pPr marL="117475" marR="0" lvl="0" indent="-1174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a:solidFill>
                            <a:srgbClr val="FF0000"/>
                          </a:solidFill>
                          <a:latin typeface="Arial"/>
                        </a:rPr>
                        <a:t>Not Applicable for Dollar Tree so can be removed</a:t>
                      </a:r>
                    </a:p>
                  </a:txBody>
                  <a:tcPr marL="91409" marR="91409" marT="45714" marB="45714">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sp>
        <p:nvSpPr>
          <p:cNvPr id="29" name="Oval 28">
            <a:extLst>
              <a:ext uri="{FF2B5EF4-FFF2-40B4-BE49-F238E27FC236}">
                <a16:creationId xmlns:a16="http://schemas.microsoft.com/office/drawing/2014/main" id="{D9AE55B9-6E6C-457D-96D9-34978E3D8649}"/>
              </a:ext>
            </a:extLst>
          </p:cNvPr>
          <p:cNvSpPr/>
          <p:nvPr/>
        </p:nvSpPr>
        <p:spPr>
          <a:xfrm>
            <a:off x="3675074" y="2818000"/>
            <a:ext cx="228600" cy="22860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18288" rIns="45720" bIns="18288"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prstClr val="white"/>
                </a:solidFill>
                <a:latin typeface="Verdana" panose="020B0604030504040204" pitchFamily="34" charset="0"/>
                <a:ea typeface="Verdana" panose="020B0604030504040204" pitchFamily="34" charset="0"/>
                <a:cs typeface="Verdana" panose="020B0604030504040204" pitchFamily="34" charset="0"/>
              </a:rPr>
              <a:t>2</a:t>
            </a:r>
            <a:endPar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0" name="Oval 29">
            <a:extLst>
              <a:ext uri="{FF2B5EF4-FFF2-40B4-BE49-F238E27FC236}">
                <a16:creationId xmlns:a16="http://schemas.microsoft.com/office/drawing/2014/main" id="{B5F028E2-2C80-4270-9170-79DEC6599250}"/>
              </a:ext>
            </a:extLst>
          </p:cNvPr>
          <p:cNvSpPr/>
          <p:nvPr/>
        </p:nvSpPr>
        <p:spPr>
          <a:xfrm>
            <a:off x="5592597" y="2808100"/>
            <a:ext cx="228600" cy="22860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18288" rIns="45720" bIns="18288"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prstClr val="white"/>
                </a:solidFill>
                <a:latin typeface="Verdana" panose="020B0604030504040204" pitchFamily="34" charset="0"/>
                <a:ea typeface="Verdana" panose="020B0604030504040204" pitchFamily="34" charset="0"/>
                <a:cs typeface="Verdana" panose="020B0604030504040204" pitchFamily="34" charset="0"/>
              </a:rPr>
              <a:t>3</a:t>
            </a:r>
            <a:endPar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3" name="Oval 32">
            <a:extLst>
              <a:ext uri="{FF2B5EF4-FFF2-40B4-BE49-F238E27FC236}">
                <a16:creationId xmlns:a16="http://schemas.microsoft.com/office/drawing/2014/main" id="{C567CB16-569B-4627-8198-77422C0F682C}"/>
              </a:ext>
            </a:extLst>
          </p:cNvPr>
          <p:cNvSpPr/>
          <p:nvPr/>
        </p:nvSpPr>
        <p:spPr>
          <a:xfrm>
            <a:off x="1728842" y="2839249"/>
            <a:ext cx="228600" cy="22860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18288" rIns="45720" bIns="18288"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1</a:t>
            </a:r>
          </a:p>
        </p:txBody>
      </p:sp>
      <p:sp>
        <p:nvSpPr>
          <p:cNvPr id="34" name="Oval 33">
            <a:extLst>
              <a:ext uri="{FF2B5EF4-FFF2-40B4-BE49-F238E27FC236}">
                <a16:creationId xmlns:a16="http://schemas.microsoft.com/office/drawing/2014/main" id="{F949A4E7-5034-4CB5-95B0-F07365CD663E}"/>
              </a:ext>
            </a:extLst>
          </p:cNvPr>
          <p:cNvSpPr/>
          <p:nvPr/>
        </p:nvSpPr>
        <p:spPr bwMode="gray">
          <a:xfrm>
            <a:off x="9596113" y="2794465"/>
            <a:ext cx="290297" cy="249863"/>
          </a:xfrm>
          <a:prstGeom prst="ellipse">
            <a:avLst/>
          </a:prstGeom>
          <a:solidFill>
            <a:srgbClr val="007CB0"/>
          </a:solidFill>
          <a:ln w="12700" algn="ctr">
            <a:solidFill>
              <a:schemeClr val="bg1"/>
            </a:solidFill>
            <a:round/>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5</a:t>
            </a:r>
          </a:p>
        </p:txBody>
      </p:sp>
      <p:graphicFrame>
        <p:nvGraphicFramePr>
          <p:cNvPr id="35" name="Table 34">
            <a:extLst>
              <a:ext uri="{FF2B5EF4-FFF2-40B4-BE49-F238E27FC236}">
                <a16:creationId xmlns:a16="http://schemas.microsoft.com/office/drawing/2014/main" id="{40F0BD07-7003-4076-B538-94F1370D60F5}"/>
              </a:ext>
            </a:extLst>
          </p:cNvPr>
          <p:cNvGraphicFramePr>
            <a:graphicFrameLocks noGrp="1"/>
          </p:cNvGraphicFramePr>
          <p:nvPr/>
        </p:nvGraphicFramePr>
        <p:xfrm>
          <a:off x="8220632" y="5060134"/>
          <a:ext cx="1645920" cy="467437"/>
        </p:xfrm>
        <a:graphic>
          <a:graphicData uri="http://schemas.openxmlformats.org/drawingml/2006/table">
            <a:tbl>
              <a:tblPr firstRow="1" bandRow="1">
                <a:tableStyleId>{1FECB4D8-DB02-4DC6-A0A2-4F2EBAE1DC90}</a:tableStyleId>
              </a:tblPr>
              <a:tblGrid>
                <a:gridCol w="1645920">
                  <a:extLst>
                    <a:ext uri="{9D8B030D-6E8A-4147-A177-3AD203B41FA5}">
                      <a16:colId xmlns:a16="http://schemas.microsoft.com/office/drawing/2014/main" val="3873850230"/>
                    </a:ext>
                  </a:extLst>
                </a:gridCol>
              </a:tblGrid>
              <a:tr h="467437">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Built in SOAP web service and RESTful web service</a:t>
                      </a:r>
                    </a:p>
                  </a:txBody>
                  <a:tcPr marL="91497" marR="91497" marT="45759" marB="4575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36" name="Table 35">
            <a:extLst>
              <a:ext uri="{FF2B5EF4-FFF2-40B4-BE49-F238E27FC236}">
                <a16:creationId xmlns:a16="http://schemas.microsoft.com/office/drawing/2014/main" id="{31DFD1E5-43C4-4BBA-BC16-BA188B451833}"/>
              </a:ext>
            </a:extLst>
          </p:cNvPr>
          <p:cNvGraphicFramePr>
            <a:graphicFrameLocks noGrp="1"/>
          </p:cNvGraphicFramePr>
          <p:nvPr/>
        </p:nvGraphicFramePr>
        <p:xfrm>
          <a:off x="2269812" y="5080100"/>
          <a:ext cx="1622109" cy="447472"/>
        </p:xfrm>
        <a:graphic>
          <a:graphicData uri="http://schemas.openxmlformats.org/drawingml/2006/table">
            <a:tbl>
              <a:tblPr firstRow="1" bandRow="1">
                <a:tableStyleId>{1FECB4D8-DB02-4DC6-A0A2-4F2EBAE1DC90}</a:tableStyleId>
              </a:tblPr>
              <a:tblGrid>
                <a:gridCol w="1622109">
                  <a:extLst>
                    <a:ext uri="{9D8B030D-6E8A-4147-A177-3AD203B41FA5}">
                      <a16:colId xmlns:a16="http://schemas.microsoft.com/office/drawing/2014/main" val="3873850230"/>
                    </a:ext>
                  </a:extLst>
                </a:gridCol>
              </a:tblGrid>
              <a:tr h="447472">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a:solidFill>
                            <a:schemeClr val="tx2"/>
                          </a:solidFill>
                          <a:latin typeface="Arial"/>
                        </a:rPr>
                        <a:t>Built in services to integrate Retail with ERP Financials</a:t>
                      </a:r>
                    </a:p>
                  </a:txBody>
                  <a:tcPr marL="91409" marR="91409" marT="45759" marB="4575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37" name="Table 36">
            <a:extLst>
              <a:ext uri="{FF2B5EF4-FFF2-40B4-BE49-F238E27FC236}">
                <a16:creationId xmlns:a16="http://schemas.microsoft.com/office/drawing/2014/main" id="{C5AD6854-3E8B-495D-8FD4-6FFAC3139458}"/>
              </a:ext>
            </a:extLst>
          </p:cNvPr>
          <p:cNvGraphicFramePr>
            <a:graphicFrameLocks noGrp="1"/>
          </p:cNvGraphicFramePr>
          <p:nvPr/>
        </p:nvGraphicFramePr>
        <p:xfrm>
          <a:off x="4124047" y="5060134"/>
          <a:ext cx="1645920" cy="467438"/>
        </p:xfrm>
        <a:graphic>
          <a:graphicData uri="http://schemas.openxmlformats.org/drawingml/2006/table">
            <a:tbl>
              <a:tblPr firstRow="1" bandRow="1">
                <a:tableStyleId>{1FECB4D8-DB02-4DC6-A0A2-4F2EBAE1DC90}</a:tableStyleId>
              </a:tblPr>
              <a:tblGrid>
                <a:gridCol w="1645920">
                  <a:extLst>
                    <a:ext uri="{9D8B030D-6E8A-4147-A177-3AD203B41FA5}">
                      <a16:colId xmlns:a16="http://schemas.microsoft.com/office/drawing/2014/main" val="3873850230"/>
                    </a:ext>
                  </a:extLst>
                </a:gridCol>
              </a:tblGrid>
              <a:tr h="467438">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900" b="0" kern="1200">
                          <a:solidFill>
                            <a:schemeClr val="tx2"/>
                          </a:solidFill>
                          <a:latin typeface="Arial"/>
                          <a:ea typeface="+mn-ea"/>
                          <a:cs typeface="+mn-cs"/>
                        </a:rPr>
                        <a:t>Standard message payload</a:t>
                      </a:r>
                    </a:p>
                  </a:txBody>
                  <a:tcPr marL="91409" marR="91409" marT="45759" marB="45759">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sp>
        <p:nvSpPr>
          <p:cNvPr id="38" name="Oval 37">
            <a:extLst>
              <a:ext uri="{FF2B5EF4-FFF2-40B4-BE49-F238E27FC236}">
                <a16:creationId xmlns:a16="http://schemas.microsoft.com/office/drawing/2014/main" id="{3F608045-0961-4EE9-9FED-13E3148107FB}"/>
              </a:ext>
            </a:extLst>
          </p:cNvPr>
          <p:cNvSpPr/>
          <p:nvPr/>
        </p:nvSpPr>
        <p:spPr bwMode="gray">
          <a:xfrm>
            <a:off x="11580624" y="2782123"/>
            <a:ext cx="290297" cy="249863"/>
          </a:xfrm>
          <a:prstGeom prst="ellipse">
            <a:avLst/>
          </a:prstGeom>
          <a:solidFill>
            <a:srgbClr val="007CB0"/>
          </a:solidFill>
          <a:ln w="12700" algn="ctr">
            <a:solidFill>
              <a:schemeClr val="bg1"/>
            </a:solidFill>
            <a:round/>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6</a:t>
            </a:r>
          </a:p>
        </p:txBody>
      </p:sp>
      <p:sp>
        <p:nvSpPr>
          <p:cNvPr id="39" name="Oval 38">
            <a:extLst>
              <a:ext uri="{FF2B5EF4-FFF2-40B4-BE49-F238E27FC236}">
                <a16:creationId xmlns:a16="http://schemas.microsoft.com/office/drawing/2014/main" id="{C009554A-A86D-4F40-8D2F-B169B9100FD9}"/>
              </a:ext>
            </a:extLst>
          </p:cNvPr>
          <p:cNvSpPr/>
          <p:nvPr/>
        </p:nvSpPr>
        <p:spPr bwMode="gray">
          <a:xfrm>
            <a:off x="7594148" y="2813180"/>
            <a:ext cx="273982" cy="254669"/>
          </a:xfrm>
          <a:prstGeom prst="ellipse">
            <a:avLst/>
          </a:prstGeom>
          <a:solidFill>
            <a:srgbClr val="007CB0"/>
          </a:solidFill>
          <a:ln w="12700" algn="ctr">
            <a:solidFill>
              <a:schemeClr val="bg1"/>
            </a:solidFill>
            <a:round/>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4</a:t>
            </a:r>
          </a:p>
        </p:txBody>
      </p:sp>
      <p:graphicFrame>
        <p:nvGraphicFramePr>
          <p:cNvPr id="40" name="Table 39">
            <a:extLst>
              <a:ext uri="{FF2B5EF4-FFF2-40B4-BE49-F238E27FC236}">
                <a16:creationId xmlns:a16="http://schemas.microsoft.com/office/drawing/2014/main" id="{9A263181-610F-4489-9FAB-9F827670AA5C}"/>
              </a:ext>
            </a:extLst>
          </p:cNvPr>
          <p:cNvGraphicFramePr>
            <a:graphicFrameLocks noGrp="1"/>
          </p:cNvGraphicFramePr>
          <p:nvPr/>
        </p:nvGraphicFramePr>
        <p:xfrm>
          <a:off x="3715755" y="1073608"/>
          <a:ext cx="1646238" cy="625475"/>
        </p:xfrm>
        <a:graphic>
          <a:graphicData uri="http://schemas.openxmlformats.org/drawingml/2006/table">
            <a:tbl>
              <a:tblPr firstRow="1" bandRow="1">
                <a:tableStyleId>{1FECB4D8-DB02-4DC6-A0A2-4F2EBAE1DC90}</a:tableStyleId>
              </a:tblPr>
              <a:tblGrid>
                <a:gridCol w="1646238">
                  <a:extLst>
                    <a:ext uri="{9D8B030D-6E8A-4147-A177-3AD203B41FA5}">
                      <a16:colId xmlns:a16="http://schemas.microsoft.com/office/drawing/2014/main" val="3873850230"/>
                    </a:ext>
                  </a:extLst>
                </a:gridCol>
              </a:tblGrid>
              <a:tr h="259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chemeClr val="bg1"/>
                          </a:solidFill>
                        </a:rPr>
                        <a:t>Near Real-Time</a:t>
                      </a:r>
                    </a:p>
                  </a:txBody>
                  <a:tcPr marL="91458" marR="91458" marT="45773" marB="457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66182">
                <a:tc>
                  <a:txBody>
                    <a:bodyPr/>
                    <a:lstStyle/>
                    <a:p>
                      <a:pPr algn="ctr" defTabSz="957998">
                        <a:spcBef>
                          <a:spcPts val="300"/>
                        </a:spcBef>
                      </a:pPr>
                      <a:r>
                        <a:rPr lang="en-US" sz="900">
                          <a:solidFill>
                            <a:schemeClr val="tx2"/>
                          </a:solidFill>
                          <a:latin typeface="Arial"/>
                        </a:rPr>
                        <a:t>Response sent in </a:t>
                      </a:r>
                      <a:br>
                        <a:rPr lang="en-US" sz="900">
                          <a:solidFill>
                            <a:schemeClr val="tx2"/>
                          </a:solidFill>
                          <a:latin typeface="Arial"/>
                        </a:rPr>
                      </a:br>
                      <a:r>
                        <a:rPr lang="en-US" sz="900">
                          <a:solidFill>
                            <a:schemeClr val="tx2"/>
                          </a:solidFill>
                          <a:latin typeface="Arial"/>
                        </a:rPr>
                        <a:t>near real-time</a:t>
                      </a:r>
                    </a:p>
                  </a:txBody>
                  <a:tcPr marL="91458" marR="91458" marT="45773" marB="4577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41" name="Table 40">
            <a:extLst>
              <a:ext uri="{FF2B5EF4-FFF2-40B4-BE49-F238E27FC236}">
                <a16:creationId xmlns:a16="http://schemas.microsoft.com/office/drawing/2014/main" id="{33FF24EB-B3C7-4AEA-B58C-F2FE0C3EE6DC}"/>
              </a:ext>
            </a:extLst>
          </p:cNvPr>
          <p:cNvGraphicFramePr>
            <a:graphicFrameLocks noGrp="1"/>
          </p:cNvGraphicFramePr>
          <p:nvPr/>
        </p:nvGraphicFramePr>
        <p:xfrm>
          <a:off x="1285875" y="1073608"/>
          <a:ext cx="1646238" cy="625475"/>
        </p:xfrm>
        <a:graphic>
          <a:graphicData uri="http://schemas.openxmlformats.org/drawingml/2006/table">
            <a:tbl>
              <a:tblPr firstRow="1" bandRow="1">
                <a:tableStyleId>{1FECB4D8-DB02-4DC6-A0A2-4F2EBAE1DC90}</a:tableStyleId>
              </a:tblPr>
              <a:tblGrid>
                <a:gridCol w="1646238">
                  <a:extLst>
                    <a:ext uri="{9D8B030D-6E8A-4147-A177-3AD203B41FA5}">
                      <a16:colId xmlns:a16="http://schemas.microsoft.com/office/drawing/2014/main" val="3873850230"/>
                    </a:ext>
                  </a:extLst>
                </a:gridCol>
              </a:tblGrid>
              <a:tr h="259293">
                <a:tc>
                  <a:txBody>
                    <a:bodyPr/>
                    <a:lstStyle/>
                    <a:p>
                      <a:pPr algn="ctr"/>
                      <a:r>
                        <a:rPr lang="en-US" sz="1100" b="1">
                          <a:solidFill>
                            <a:schemeClr val="bg1"/>
                          </a:solidFill>
                        </a:rPr>
                        <a:t>Asynchronous</a:t>
                      </a:r>
                      <a:endParaRPr lang="en-US" sz="1100"/>
                    </a:p>
                  </a:txBody>
                  <a:tcPr marL="91458" marR="91458" marT="45773" marB="457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661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2"/>
                          </a:solidFill>
                          <a:latin typeface="Arial"/>
                        </a:rPr>
                        <a:t>Source application does not wait for response</a:t>
                      </a:r>
                    </a:p>
                  </a:txBody>
                  <a:tcPr marL="91458" marR="91458" marT="45773" marB="4577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42" name="Table 41">
            <a:extLst>
              <a:ext uri="{FF2B5EF4-FFF2-40B4-BE49-F238E27FC236}">
                <a16:creationId xmlns:a16="http://schemas.microsoft.com/office/drawing/2014/main" id="{553B242A-AEB9-4EE4-8EB0-58FD421504BF}"/>
              </a:ext>
            </a:extLst>
          </p:cNvPr>
          <p:cNvGraphicFramePr>
            <a:graphicFrameLocks noGrp="1"/>
          </p:cNvGraphicFramePr>
          <p:nvPr/>
        </p:nvGraphicFramePr>
        <p:xfrm>
          <a:off x="1284099" y="1927683"/>
          <a:ext cx="1644650" cy="650522"/>
        </p:xfrm>
        <a:graphic>
          <a:graphicData uri="http://schemas.openxmlformats.org/drawingml/2006/table">
            <a:tbl>
              <a:tblPr firstRow="1" bandRow="1">
                <a:tableStyleId>{1FECB4D8-DB02-4DC6-A0A2-4F2EBAE1DC90}</a:tableStyleId>
              </a:tblPr>
              <a:tblGrid>
                <a:gridCol w="1644650">
                  <a:extLst>
                    <a:ext uri="{9D8B030D-6E8A-4147-A177-3AD203B41FA5}">
                      <a16:colId xmlns:a16="http://schemas.microsoft.com/office/drawing/2014/main" val="3873850230"/>
                    </a:ext>
                  </a:extLst>
                </a:gridCol>
              </a:tblGrid>
              <a:tr h="269676">
                <a:tc>
                  <a:txBody>
                    <a:bodyPr/>
                    <a:lstStyle/>
                    <a:p>
                      <a:pPr algn="ctr"/>
                      <a:r>
                        <a:rPr lang="en-US" sz="1100" b="1">
                          <a:solidFill>
                            <a:schemeClr val="bg1"/>
                          </a:solidFill>
                        </a:rPr>
                        <a:t>File-Based</a:t>
                      </a:r>
                    </a:p>
                  </a:txBody>
                  <a:tcPr marL="91369" marR="91369" marT="45773" marB="457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808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900">
                          <a:solidFill>
                            <a:schemeClr val="tx2"/>
                          </a:solidFill>
                          <a:latin typeface="Arial"/>
                        </a:rPr>
                        <a:t>Source data in file format (XML)</a:t>
                      </a:r>
                    </a:p>
                  </a:txBody>
                  <a:tcPr marL="91369" marR="91369" marT="45773" marB="4577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graphicFrame>
        <p:nvGraphicFramePr>
          <p:cNvPr id="43" name="Table 42">
            <a:extLst>
              <a:ext uri="{FF2B5EF4-FFF2-40B4-BE49-F238E27FC236}">
                <a16:creationId xmlns:a16="http://schemas.microsoft.com/office/drawing/2014/main" id="{B4ED029C-4981-47C3-88B7-36FCC111FC79}"/>
              </a:ext>
            </a:extLst>
          </p:cNvPr>
          <p:cNvGraphicFramePr>
            <a:graphicFrameLocks noGrp="1"/>
          </p:cNvGraphicFramePr>
          <p:nvPr/>
        </p:nvGraphicFramePr>
        <p:xfrm>
          <a:off x="10258967" y="1073608"/>
          <a:ext cx="1414830" cy="625367"/>
        </p:xfrm>
        <a:graphic>
          <a:graphicData uri="http://schemas.openxmlformats.org/drawingml/2006/table">
            <a:tbl>
              <a:tblPr firstRow="1" bandRow="1">
                <a:tableStyleId>{1FECB4D8-DB02-4DC6-A0A2-4F2EBAE1DC90}</a:tableStyleId>
              </a:tblPr>
              <a:tblGrid>
                <a:gridCol w="1414830">
                  <a:extLst>
                    <a:ext uri="{9D8B030D-6E8A-4147-A177-3AD203B41FA5}">
                      <a16:colId xmlns:a16="http://schemas.microsoft.com/office/drawing/2014/main" val="3873850230"/>
                    </a:ext>
                  </a:extLst>
                </a:gridCol>
              </a:tblGrid>
              <a:tr h="239346">
                <a:tc>
                  <a:txBody>
                    <a:bodyPr/>
                    <a:lstStyle/>
                    <a:p>
                      <a:pPr algn="ctr"/>
                      <a:r>
                        <a:rPr lang="en-US" sz="1100" b="1">
                          <a:solidFill>
                            <a:schemeClr val="bg1"/>
                          </a:solidFill>
                        </a:rPr>
                        <a:t>Bulk Data / File</a:t>
                      </a:r>
                    </a:p>
                  </a:txBody>
                  <a:tcPr marL="91369" marR="91369" marT="45772" marB="4577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661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2"/>
                          </a:solidFill>
                          <a:latin typeface="Arial"/>
                        </a:rPr>
                        <a:t>Data extracted in batch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2"/>
                          </a:solidFill>
                          <a:latin typeface="Arial"/>
                        </a:rPr>
                        <a:t>based on schedule</a:t>
                      </a:r>
                      <a:endParaRPr lang="it-IT" sz="900">
                        <a:solidFill>
                          <a:schemeClr val="tx2"/>
                        </a:solidFill>
                        <a:latin typeface="Arial"/>
                      </a:endParaRPr>
                    </a:p>
                  </a:txBody>
                  <a:tcPr marL="91369" marR="91369" marT="45772" marB="4577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cxnSp>
        <p:nvCxnSpPr>
          <p:cNvPr id="44" name="Connector: Elbow 43">
            <a:extLst>
              <a:ext uri="{FF2B5EF4-FFF2-40B4-BE49-F238E27FC236}">
                <a16:creationId xmlns:a16="http://schemas.microsoft.com/office/drawing/2014/main" id="{A207C6CE-65ED-493F-9BC6-9A0A69CCF065}"/>
              </a:ext>
            </a:extLst>
          </p:cNvPr>
          <p:cNvCxnSpPr>
            <a:cxnSpLocks/>
            <a:stCxn id="40" idx="1"/>
          </p:cNvCxnSpPr>
          <p:nvPr/>
        </p:nvCxnSpPr>
        <p:spPr>
          <a:xfrm rot="10800000" flipV="1">
            <a:off x="3154307" y="1386345"/>
            <a:ext cx="561449" cy="1541274"/>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A2183618-D5D1-4C62-89F5-C9803C79644A}"/>
              </a:ext>
            </a:extLst>
          </p:cNvPr>
          <p:cNvCxnSpPr>
            <a:cxnSpLocks/>
            <a:stCxn id="40" idx="2"/>
            <a:endCxn id="23" idx="0"/>
          </p:cNvCxnSpPr>
          <p:nvPr/>
        </p:nvCxnSpPr>
        <p:spPr>
          <a:xfrm rot="16200000" flipH="1">
            <a:off x="6163363" y="74594"/>
            <a:ext cx="1243031" cy="4492008"/>
          </a:xfrm>
          <a:prstGeom prst="bentConnector3">
            <a:avLst>
              <a:gd name="adj1" fmla="val 5613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9F82364F-9103-4999-A215-77F03196E9CC}"/>
              </a:ext>
            </a:extLst>
          </p:cNvPr>
          <p:cNvCxnSpPr>
            <a:cxnSpLocks/>
            <a:stCxn id="43" idx="2"/>
            <a:endCxn id="24" idx="0"/>
          </p:cNvCxnSpPr>
          <p:nvPr/>
        </p:nvCxnSpPr>
        <p:spPr>
          <a:xfrm rot="5400000">
            <a:off x="10345763" y="2317538"/>
            <a:ext cx="1239182" cy="2057"/>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35518061-27C5-4D7C-B673-BF984681C5FC}"/>
              </a:ext>
            </a:extLst>
          </p:cNvPr>
          <p:cNvCxnSpPr>
            <a:cxnSpLocks/>
          </p:cNvCxnSpPr>
          <p:nvPr/>
        </p:nvCxnSpPr>
        <p:spPr>
          <a:xfrm rot="5400000">
            <a:off x="1422798" y="2292585"/>
            <a:ext cx="385307" cy="981946"/>
          </a:xfrm>
          <a:prstGeom prst="bentConnector3">
            <a:avLst>
              <a:gd name="adj1" fmla="val 5848"/>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13715E33-2883-45E4-96F6-F1FF40788D31}"/>
              </a:ext>
            </a:extLst>
          </p:cNvPr>
          <p:cNvCxnSpPr>
            <a:cxnSpLocks/>
          </p:cNvCxnSpPr>
          <p:nvPr/>
        </p:nvCxnSpPr>
        <p:spPr>
          <a:xfrm rot="10800000" flipV="1">
            <a:off x="5421357" y="1386345"/>
            <a:ext cx="801682" cy="1557242"/>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87A22AD-A073-4F83-A86E-E82989074004}"/>
              </a:ext>
            </a:extLst>
          </p:cNvPr>
          <p:cNvCxnSpPr>
            <a:cxnSpLocks/>
          </p:cNvCxnSpPr>
          <p:nvPr/>
        </p:nvCxnSpPr>
        <p:spPr>
          <a:xfrm flipH="1">
            <a:off x="7041042" y="1699083"/>
            <a:ext cx="5116" cy="127717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9789969-4D89-404C-8776-3AA10E1E5A92}"/>
              </a:ext>
            </a:extLst>
          </p:cNvPr>
          <p:cNvCxnSpPr/>
          <p:nvPr/>
        </p:nvCxnSpPr>
        <p:spPr>
          <a:xfrm>
            <a:off x="4174029" y="1705787"/>
            <a:ext cx="0" cy="123141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43C395F-9087-4161-B86F-C8F596C427C1}"/>
              </a:ext>
            </a:extLst>
          </p:cNvPr>
          <p:cNvCxnSpPr>
            <a:cxnSpLocks/>
            <a:stCxn id="41" idx="2"/>
            <a:endCxn id="42" idx="0"/>
          </p:cNvCxnSpPr>
          <p:nvPr/>
        </p:nvCxnSpPr>
        <p:spPr>
          <a:xfrm flipH="1">
            <a:off x="2106424" y="1699083"/>
            <a:ext cx="2570" cy="22860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23C018D-82B8-4016-8FB2-4E8DF3FC4B71}"/>
              </a:ext>
            </a:extLst>
          </p:cNvPr>
          <p:cNvCxnSpPr>
            <a:cxnSpLocks/>
          </p:cNvCxnSpPr>
          <p:nvPr/>
        </p:nvCxnSpPr>
        <p:spPr>
          <a:xfrm>
            <a:off x="8991057" y="1827219"/>
            <a:ext cx="0"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Table 52">
            <a:extLst>
              <a:ext uri="{FF2B5EF4-FFF2-40B4-BE49-F238E27FC236}">
                <a16:creationId xmlns:a16="http://schemas.microsoft.com/office/drawing/2014/main" id="{F647EF4C-61C7-4B22-B260-A38A4011846D}"/>
              </a:ext>
            </a:extLst>
          </p:cNvPr>
          <p:cNvGraphicFramePr>
            <a:graphicFrameLocks noGrp="1"/>
          </p:cNvGraphicFramePr>
          <p:nvPr/>
        </p:nvGraphicFramePr>
        <p:xfrm>
          <a:off x="6223246" y="1073608"/>
          <a:ext cx="1646238" cy="625475"/>
        </p:xfrm>
        <a:graphic>
          <a:graphicData uri="http://schemas.openxmlformats.org/drawingml/2006/table">
            <a:tbl>
              <a:tblPr firstRow="1" bandRow="1">
                <a:tableStyleId>{1FECB4D8-DB02-4DC6-A0A2-4F2EBAE1DC90}</a:tableStyleId>
              </a:tblPr>
              <a:tblGrid>
                <a:gridCol w="1646238">
                  <a:extLst>
                    <a:ext uri="{9D8B030D-6E8A-4147-A177-3AD203B41FA5}">
                      <a16:colId xmlns:a16="http://schemas.microsoft.com/office/drawing/2014/main" val="3873850230"/>
                    </a:ext>
                  </a:extLst>
                </a:gridCol>
              </a:tblGrid>
              <a:tr h="259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chemeClr val="bg1"/>
                          </a:solidFill>
                        </a:rPr>
                        <a:t>Near Real-Time</a:t>
                      </a:r>
                    </a:p>
                  </a:txBody>
                  <a:tcPr marL="91458" marR="91458" marT="45773" marB="457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66182">
                <a:tc>
                  <a:txBody>
                    <a:bodyPr/>
                    <a:lstStyle/>
                    <a:p>
                      <a:pPr algn="ctr" defTabSz="957998">
                        <a:spcBef>
                          <a:spcPts val="300"/>
                        </a:spcBef>
                      </a:pPr>
                      <a:r>
                        <a:rPr lang="en-US" sz="900">
                          <a:solidFill>
                            <a:schemeClr val="tx2"/>
                          </a:solidFill>
                          <a:latin typeface="Arial"/>
                        </a:rPr>
                        <a:t>Response sent in </a:t>
                      </a:r>
                      <a:br>
                        <a:rPr lang="en-US" sz="900">
                          <a:solidFill>
                            <a:schemeClr val="tx2"/>
                          </a:solidFill>
                          <a:latin typeface="Arial"/>
                        </a:rPr>
                      </a:br>
                      <a:r>
                        <a:rPr lang="en-US" sz="900">
                          <a:solidFill>
                            <a:schemeClr val="tx2"/>
                          </a:solidFill>
                          <a:latin typeface="Arial"/>
                        </a:rPr>
                        <a:t>near real-time</a:t>
                      </a:r>
                    </a:p>
                  </a:txBody>
                  <a:tcPr marL="91458" marR="91458" marT="45773" marB="4577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cxnSp>
        <p:nvCxnSpPr>
          <p:cNvPr id="54" name="Connector: Elbow 53">
            <a:extLst>
              <a:ext uri="{FF2B5EF4-FFF2-40B4-BE49-F238E27FC236}">
                <a16:creationId xmlns:a16="http://schemas.microsoft.com/office/drawing/2014/main" id="{E8D4D504-35C9-4820-941D-1B0810D69C17}"/>
              </a:ext>
            </a:extLst>
          </p:cNvPr>
          <p:cNvCxnSpPr>
            <a:cxnSpLocks/>
            <a:stCxn id="53" idx="2"/>
            <a:endCxn id="24" idx="0"/>
          </p:cNvCxnSpPr>
          <p:nvPr/>
        </p:nvCxnSpPr>
        <p:spPr>
          <a:xfrm rot="16200000" flipH="1">
            <a:off x="8385808" y="359640"/>
            <a:ext cx="1239074" cy="3917960"/>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5" name="Table 54">
            <a:extLst>
              <a:ext uri="{FF2B5EF4-FFF2-40B4-BE49-F238E27FC236}">
                <a16:creationId xmlns:a16="http://schemas.microsoft.com/office/drawing/2014/main" id="{7B2F5DC3-E4CD-4B18-958B-7ADCB3759A87}"/>
              </a:ext>
            </a:extLst>
          </p:cNvPr>
          <p:cNvGraphicFramePr>
            <a:graphicFrameLocks noGrp="1"/>
          </p:cNvGraphicFramePr>
          <p:nvPr/>
        </p:nvGraphicFramePr>
        <p:xfrm>
          <a:off x="8260050" y="1075287"/>
          <a:ext cx="1646238" cy="625368"/>
        </p:xfrm>
        <a:graphic>
          <a:graphicData uri="http://schemas.openxmlformats.org/drawingml/2006/table">
            <a:tbl>
              <a:tblPr firstRow="1" bandRow="1">
                <a:tableStyleId>{1FECB4D8-DB02-4DC6-A0A2-4F2EBAE1DC90}</a:tableStyleId>
              </a:tblPr>
              <a:tblGrid>
                <a:gridCol w="1646238">
                  <a:extLst>
                    <a:ext uri="{9D8B030D-6E8A-4147-A177-3AD203B41FA5}">
                      <a16:colId xmlns:a16="http://schemas.microsoft.com/office/drawing/2014/main" val="3873850230"/>
                    </a:ext>
                  </a:extLst>
                </a:gridCol>
              </a:tblGrid>
              <a:tr h="0">
                <a:tc>
                  <a:txBody>
                    <a:bodyPr/>
                    <a:lstStyle/>
                    <a:p>
                      <a:pPr algn="ctr"/>
                      <a:r>
                        <a:rPr lang="en-US" sz="1100" b="1">
                          <a:solidFill>
                            <a:schemeClr val="bg1"/>
                          </a:solidFill>
                        </a:rPr>
                        <a:t>Asynchronous</a:t>
                      </a:r>
                      <a:endParaRPr lang="en-US" sz="1100"/>
                    </a:p>
                  </a:txBody>
                  <a:tcPr marL="91458" marR="91458" marT="45773" marB="457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CB0"/>
                    </a:solidFill>
                  </a:tcPr>
                </a:tc>
                <a:extLst>
                  <a:ext uri="{0D108BD9-81ED-4DB2-BD59-A6C34878D82A}">
                    <a16:rowId xmlns:a16="http://schemas.microsoft.com/office/drawing/2014/main" val="284751367"/>
                  </a:ext>
                </a:extLst>
              </a:tr>
              <a:tr h="3661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2"/>
                          </a:solidFill>
                          <a:latin typeface="Arial"/>
                        </a:rPr>
                        <a:t>Source application does not wait for response</a:t>
                      </a:r>
                    </a:p>
                  </a:txBody>
                  <a:tcPr marL="91458" marR="91458" marT="45773" marB="4577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1739517"/>
                  </a:ext>
                </a:extLst>
              </a:tr>
            </a:tbl>
          </a:graphicData>
        </a:graphic>
      </p:graphicFrame>
      <p:sp>
        <p:nvSpPr>
          <p:cNvPr id="56" name="Rectangle 55">
            <a:extLst>
              <a:ext uri="{FF2B5EF4-FFF2-40B4-BE49-F238E27FC236}">
                <a16:creationId xmlns:a16="http://schemas.microsoft.com/office/drawing/2014/main" id="{766E307E-6C01-48DF-B9BE-333A124BB3B7}"/>
              </a:ext>
            </a:extLst>
          </p:cNvPr>
          <p:cNvSpPr/>
          <p:nvPr/>
        </p:nvSpPr>
        <p:spPr bwMode="gray">
          <a:xfrm>
            <a:off x="8661862" y="1705787"/>
            <a:ext cx="759587" cy="307497"/>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57" name="Straight Arrow Connector 56">
            <a:extLst>
              <a:ext uri="{FF2B5EF4-FFF2-40B4-BE49-F238E27FC236}">
                <a16:creationId xmlns:a16="http://schemas.microsoft.com/office/drawing/2014/main" id="{33B85C7D-337B-4718-9BF1-ADE93B240464}"/>
              </a:ext>
            </a:extLst>
          </p:cNvPr>
          <p:cNvCxnSpPr>
            <a:cxnSpLocks/>
            <a:stCxn id="55" idx="3"/>
            <a:endCxn id="43" idx="1"/>
          </p:cNvCxnSpPr>
          <p:nvPr/>
        </p:nvCxnSpPr>
        <p:spPr>
          <a:xfrm flipV="1">
            <a:off x="9906288" y="1386291"/>
            <a:ext cx="352679" cy="168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7495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272086FD-43EE-47D9-8F63-A919473F644D}"/>
              </a:ext>
            </a:extLst>
          </p:cNvPr>
          <p:cNvCxnSpPr>
            <a:cxnSpLocks/>
          </p:cNvCxnSpPr>
          <p:nvPr/>
        </p:nvCxnSpPr>
        <p:spPr>
          <a:xfrm flipH="1" flipV="1">
            <a:off x="7273296" y="1670930"/>
            <a:ext cx="3657599" cy="2585"/>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4519C90-2BC2-4EDE-89E0-242AFD261611}"/>
              </a:ext>
            </a:extLst>
          </p:cNvPr>
          <p:cNvSpPr txBox="1"/>
          <p:nvPr/>
        </p:nvSpPr>
        <p:spPr>
          <a:xfrm>
            <a:off x="608919" y="1264936"/>
            <a:ext cx="4792298" cy="500137"/>
          </a:xfrm>
          <a:prstGeom prst="rect">
            <a:avLst/>
          </a:prstGeom>
          <a:noFill/>
        </p:spPr>
        <p:txBody>
          <a:bodyPr wrap="square" rtlCol="0">
            <a:spAutoFit/>
          </a:bodyPr>
          <a:lstStyle/>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1200">
                <a:solidFill>
                  <a:prstClr val="black"/>
                </a:solidFill>
                <a:latin typeface="Calibri" panose="020F0502020204030204"/>
                <a:ea typeface="Verdana" panose="020B0604030504040204" pitchFamily="34" charset="0"/>
                <a:cs typeface="Arial" panose="020B0604020202020204" pitchFamily="34" charset="0"/>
              </a:rPr>
              <a:t>Retail Merchandising system</a:t>
            </a:r>
          </a:p>
          <a:p>
            <a:pPr marL="182880" marR="0" lvl="1" indent="-18288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1200">
                <a:solidFill>
                  <a:prstClr val="black"/>
                </a:solidFill>
                <a:latin typeface="Calibri" panose="020F0502020204030204"/>
                <a:ea typeface="Verdana" panose="020B0604030504040204" pitchFamily="34" charset="0"/>
                <a:cs typeface="Arial" panose="020B0604020202020204" pitchFamily="34" charset="0"/>
              </a:rPr>
              <a:t>Cloud Finance</a:t>
            </a:r>
          </a:p>
        </p:txBody>
      </p:sp>
      <p:sp>
        <p:nvSpPr>
          <p:cNvPr id="4" name="TextBox 3">
            <a:extLst>
              <a:ext uri="{FF2B5EF4-FFF2-40B4-BE49-F238E27FC236}">
                <a16:creationId xmlns:a16="http://schemas.microsoft.com/office/drawing/2014/main" id="{085828A4-0C3C-42CE-A1C4-1D3DD1B09E97}"/>
              </a:ext>
            </a:extLst>
          </p:cNvPr>
          <p:cNvSpPr txBox="1"/>
          <p:nvPr/>
        </p:nvSpPr>
        <p:spPr>
          <a:xfrm>
            <a:off x="600137" y="2607671"/>
            <a:ext cx="4798216" cy="101566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The Oracle Retail Financial Integration (RFI) for Oracle Cloud Financials (Oracle ERP) provides a base set of integrations between Oracle Retail, the GL, and Accounts Payable (Oracle ERP)</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cs typeface="Arial" panose="020B0604020202020204" pitchFamily="34" charset="0"/>
              </a:rPr>
              <a:t>This negates the need to develop custom integrations between these applications.</a:t>
            </a:r>
          </a:p>
        </p:txBody>
      </p:sp>
      <p:sp>
        <p:nvSpPr>
          <p:cNvPr id="5" name="TextBox 4">
            <a:extLst>
              <a:ext uri="{FF2B5EF4-FFF2-40B4-BE49-F238E27FC236}">
                <a16:creationId xmlns:a16="http://schemas.microsoft.com/office/drawing/2014/main" id="{A432E180-7A7B-4A39-AF5A-9DC6BF5BAA75}"/>
              </a:ext>
            </a:extLst>
          </p:cNvPr>
          <p:cNvSpPr txBox="1"/>
          <p:nvPr/>
        </p:nvSpPr>
        <p:spPr>
          <a:xfrm>
            <a:off x="143969" y="4535714"/>
            <a:ext cx="5356079" cy="1423467"/>
          </a:xfrm>
          <a:prstGeom prst="rect">
            <a:avLst/>
          </a:prstGeom>
          <a:noFill/>
        </p:spPr>
        <p:txBody>
          <a:bodyPr wrap="square" lIns="91440" tIns="45720" rIns="91440" bIns="45720" rtlCol="0" anchor="t">
            <a:spAutoFit/>
          </a:bodyPr>
          <a:lstStyle>
            <a:defPPr>
              <a:defRPr lang="en-US"/>
            </a:defPPr>
            <a:lvl1pPr>
              <a:defRPr sz="900"/>
            </a:lvl1pPr>
          </a:lstStyle>
          <a:p>
            <a:pPr marL="628650" lvl="1" indent="-171450">
              <a:buFont typeface="Arial"/>
              <a:buChar char="•"/>
              <a:defRPr/>
            </a:pPr>
            <a:r>
              <a:rPr lang="en-US" sz="1200">
                <a:solidFill>
                  <a:prstClr val="black"/>
                </a:solidFill>
                <a:latin typeface="Calibri" panose="020F0502020204030204"/>
                <a:cs typeface="Arial" panose="020B0604020202020204" pitchFamily="34" charset="0"/>
              </a:rPr>
              <a:t>This process provides data synchronization for the initial load prior to implementation and incremental data creation and maintenance after implementation.</a:t>
            </a:r>
          </a:p>
          <a:p>
            <a:pPr marL="628650" lvl="1" indent="-171450">
              <a:buFont typeface="Arial"/>
              <a:buChar char="•"/>
              <a:defRPr/>
            </a:pPr>
            <a:r>
              <a:rPr lang="en-US" sz="1200">
                <a:solidFill>
                  <a:prstClr val="black"/>
                </a:solidFill>
                <a:latin typeface="Calibri" panose="020F0502020204030204"/>
                <a:cs typeface="Arial" panose="020B0604020202020204" pitchFamily="34" charset="0"/>
              </a:rPr>
              <a:t>The Financials applications can use this timely data in a proactive manner, which results in increased productivity and operational efficiencies.</a:t>
            </a:r>
          </a:p>
          <a:p>
            <a:pPr marL="0" lvl="1" algn="just">
              <a:spcBef>
                <a:spcPts val="300"/>
              </a:spcBef>
              <a:defRPr/>
            </a:pPr>
            <a:endParaRPr lang="en-US" sz="1200">
              <a:latin typeface="Calibri" panose="020F0502020204030204"/>
              <a:ea typeface="Verdana" panose="020B0604030504040204" pitchFamily="34" charset="0"/>
              <a:cs typeface="Arial" panose="020B0604020202020204" pitchFamily="34" charset="0"/>
            </a:endParaRPr>
          </a:p>
        </p:txBody>
      </p:sp>
      <p:sp>
        <p:nvSpPr>
          <p:cNvPr id="6" name="TextBox 5">
            <a:extLst>
              <a:ext uri="{FF2B5EF4-FFF2-40B4-BE49-F238E27FC236}">
                <a16:creationId xmlns:a16="http://schemas.microsoft.com/office/drawing/2014/main" id="{81CDA3D8-B11E-4C6F-97AC-8FDCC89AF28C}"/>
              </a:ext>
            </a:extLst>
          </p:cNvPr>
          <p:cNvSpPr txBox="1"/>
          <p:nvPr/>
        </p:nvSpPr>
        <p:spPr>
          <a:xfrm>
            <a:off x="6829818" y="4535714"/>
            <a:ext cx="3835860" cy="1615827"/>
          </a:xfrm>
          <a:prstGeom prst="rect">
            <a:avLst/>
          </a:prstGeom>
          <a:noFill/>
        </p:spPr>
        <p:txBody>
          <a:bodyPr wrap="square" rtlCol="0">
            <a:spAutoFit/>
          </a:bodyPr>
          <a:lstStyle/>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CFIN to MFCS Data Flow</a:t>
            </a:r>
          </a:p>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200" i="1">
                <a:solidFill>
                  <a:srgbClr val="44546A"/>
                </a:solidFill>
                <a:latin typeface="Calibri" panose="020F0502020204030204"/>
                <a:cs typeface="Arial" panose="020B0604020202020204" pitchFamily="34" charset="0"/>
              </a:rPr>
              <a:t>Base Integrations between two Oracle Products</a:t>
            </a: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  </a:t>
            </a:r>
          </a:p>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Suppliers, Partners, Addresses (AP)</a:t>
            </a:r>
          </a:p>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Currency Exchange Rates  </a:t>
            </a:r>
          </a:p>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Freight and Payment Terms (AP)</a:t>
            </a:r>
          </a:p>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GL Postings from MFCS Stock Ledger</a:t>
            </a:r>
          </a:p>
          <a:p>
            <a:pPr marL="171450" marR="0" lvl="0" indent="-171450" algn="l" defTabSz="95799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rPr>
              <a:t>Invoice</a:t>
            </a:r>
            <a:r>
              <a:rPr lang="en-US" sz="1200" i="1">
                <a:solidFill>
                  <a:srgbClr val="44546A"/>
                </a:solidFill>
                <a:latin typeface="Calibri" panose="020F0502020204030204"/>
                <a:cs typeface="Arial" panose="020B0604020202020204" pitchFamily="34" charset="0"/>
              </a:rPr>
              <a:t>s from Invoice Matching Cloud Service (IMCS)</a:t>
            </a:r>
            <a:endParaRPr kumimoji="0" lang="en-US" sz="1200" b="0" i="1" u="none" strike="noStrike" kern="1200" cap="none" spc="0" normalizeH="0" baseline="0" noProof="0">
              <a:ln>
                <a:noFill/>
              </a:ln>
              <a:solidFill>
                <a:srgbClr val="44546A"/>
              </a:solidFill>
              <a:effectLst/>
              <a:uLnTx/>
              <a:uFillTx/>
              <a:latin typeface="Calibri" panose="020F0502020204030204"/>
              <a:ea typeface="+mn-ea"/>
              <a:cs typeface="Arial" panose="020B0604020202020204" pitchFamily="34" charset="0"/>
            </a:endParaRPr>
          </a:p>
        </p:txBody>
      </p:sp>
      <p:sp>
        <p:nvSpPr>
          <p:cNvPr id="7" name="Text Box 4">
            <a:extLst>
              <a:ext uri="{FF2B5EF4-FFF2-40B4-BE49-F238E27FC236}">
                <a16:creationId xmlns:a16="http://schemas.microsoft.com/office/drawing/2014/main" id="{960080A4-3501-423B-ACD5-9FAA9120B2CC}"/>
              </a:ext>
            </a:extLst>
          </p:cNvPr>
          <p:cNvSpPr txBox="1">
            <a:spLocks noChangeArrowheads="1"/>
          </p:cNvSpPr>
          <p:nvPr/>
        </p:nvSpPr>
        <p:spPr bwMode="gray">
          <a:xfrm>
            <a:off x="561581" y="1015026"/>
            <a:ext cx="4844995" cy="228434"/>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Architectural Components</a:t>
            </a:r>
          </a:p>
        </p:txBody>
      </p:sp>
      <p:sp>
        <p:nvSpPr>
          <p:cNvPr id="8" name="Oval 7">
            <a:extLst>
              <a:ext uri="{FF2B5EF4-FFF2-40B4-BE49-F238E27FC236}">
                <a16:creationId xmlns:a16="http://schemas.microsoft.com/office/drawing/2014/main" id="{5F2D681F-5F46-4A30-BBE2-C8F578BA4A75}"/>
              </a:ext>
            </a:extLst>
          </p:cNvPr>
          <p:cNvSpPr/>
          <p:nvPr/>
        </p:nvSpPr>
        <p:spPr>
          <a:xfrm>
            <a:off x="332982" y="969306"/>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1</a:t>
            </a:r>
          </a:p>
        </p:txBody>
      </p:sp>
      <p:sp>
        <p:nvSpPr>
          <p:cNvPr id="9" name="Text Box 4">
            <a:extLst>
              <a:ext uri="{FF2B5EF4-FFF2-40B4-BE49-F238E27FC236}">
                <a16:creationId xmlns:a16="http://schemas.microsoft.com/office/drawing/2014/main" id="{AF4A5DD3-BA5D-4FBB-BA0A-12A0080B50CC}"/>
              </a:ext>
            </a:extLst>
          </p:cNvPr>
          <p:cNvSpPr txBox="1">
            <a:spLocks noChangeArrowheads="1"/>
          </p:cNvSpPr>
          <p:nvPr/>
        </p:nvSpPr>
        <p:spPr bwMode="gray">
          <a:xfrm>
            <a:off x="561581" y="2384721"/>
            <a:ext cx="4844995" cy="217053"/>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Overview</a:t>
            </a:r>
          </a:p>
        </p:txBody>
      </p:sp>
      <p:sp>
        <p:nvSpPr>
          <p:cNvPr id="10" name="Oval 9">
            <a:extLst>
              <a:ext uri="{FF2B5EF4-FFF2-40B4-BE49-F238E27FC236}">
                <a16:creationId xmlns:a16="http://schemas.microsoft.com/office/drawing/2014/main" id="{8E04DFEF-F583-4717-8BB2-6095E11EE490}"/>
              </a:ext>
            </a:extLst>
          </p:cNvPr>
          <p:cNvSpPr/>
          <p:nvPr/>
        </p:nvSpPr>
        <p:spPr>
          <a:xfrm>
            <a:off x="332982" y="2339001"/>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2</a:t>
            </a:r>
          </a:p>
        </p:txBody>
      </p:sp>
      <p:sp>
        <p:nvSpPr>
          <p:cNvPr id="11" name="Text Box 4">
            <a:extLst>
              <a:ext uri="{FF2B5EF4-FFF2-40B4-BE49-F238E27FC236}">
                <a16:creationId xmlns:a16="http://schemas.microsoft.com/office/drawing/2014/main" id="{F2287B5D-7245-42F9-9C82-E6C40415B675}"/>
              </a:ext>
            </a:extLst>
          </p:cNvPr>
          <p:cNvSpPr txBox="1">
            <a:spLocks noChangeArrowheads="1"/>
          </p:cNvSpPr>
          <p:nvPr/>
        </p:nvSpPr>
        <p:spPr bwMode="gray">
          <a:xfrm>
            <a:off x="561581" y="4178944"/>
            <a:ext cx="4938467" cy="247650"/>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Steps</a:t>
            </a:r>
          </a:p>
        </p:txBody>
      </p:sp>
      <p:sp>
        <p:nvSpPr>
          <p:cNvPr id="12" name="Oval 11">
            <a:extLst>
              <a:ext uri="{FF2B5EF4-FFF2-40B4-BE49-F238E27FC236}">
                <a16:creationId xmlns:a16="http://schemas.microsoft.com/office/drawing/2014/main" id="{B2DC7DB5-4898-4D4B-9D81-A39B3784124D}"/>
              </a:ext>
            </a:extLst>
          </p:cNvPr>
          <p:cNvSpPr/>
          <p:nvPr/>
        </p:nvSpPr>
        <p:spPr>
          <a:xfrm>
            <a:off x="332982" y="4133224"/>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3</a:t>
            </a:r>
          </a:p>
        </p:txBody>
      </p:sp>
      <p:sp>
        <p:nvSpPr>
          <p:cNvPr id="13" name="Text Box 4">
            <a:extLst>
              <a:ext uri="{FF2B5EF4-FFF2-40B4-BE49-F238E27FC236}">
                <a16:creationId xmlns:a16="http://schemas.microsoft.com/office/drawing/2014/main" id="{1EC0F43A-B16D-40BE-9ACA-C23CBD14BE22}"/>
              </a:ext>
            </a:extLst>
          </p:cNvPr>
          <p:cNvSpPr txBox="1">
            <a:spLocks noChangeArrowheads="1"/>
          </p:cNvSpPr>
          <p:nvPr/>
        </p:nvSpPr>
        <p:spPr bwMode="gray">
          <a:xfrm>
            <a:off x="6656717" y="4212213"/>
            <a:ext cx="4938467" cy="247650"/>
          </a:xfrm>
          <a:prstGeom prst="rect">
            <a:avLst/>
          </a:prstGeom>
          <a:noFill/>
          <a:ln w="9525" cap="flat" cmpd="sng" algn="ctr">
            <a:solidFill>
              <a:schemeClr val="accent5"/>
            </a:solidFill>
            <a:prstDash val="solid"/>
          </a:ln>
          <a:effectLst/>
        </p:spPr>
        <p:txBody>
          <a:bodyPr wrap="square" tIns="0" bIns="0" rtlCol="0" anchor="ctr">
            <a:noAutofit/>
          </a:bodyPr>
          <a:lstStyle>
            <a:defPPr>
              <a:defRPr lang="en-US"/>
            </a:defPPr>
            <a:lvl1pPr algn="ctr">
              <a:defRPr sz="1000" b="1">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Verdana" panose="020B0604030504040204" pitchFamily="34" charset="0"/>
                <a:cs typeface="Verdana" panose="020B0604030504040204" pitchFamily="34" charset="0"/>
              </a:rPr>
              <a:t>Typical Use-Cases</a:t>
            </a:r>
          </a:p>
        </p:txBody>
      </p:sp>
      <p:sp>
        <p:nvSpPr>
          <p:cNvPr id="14" name="Oval 13">
            <a:extLst>
              <a:ext uri="{FF2B5EF4-FFF2-40B4-BE49-F238E27FC236}">
                <a16:creationId xmlns:a16="http://schemas.microsoft.com/office/drawing/2014/main" id="{D82EA976-8E4C-432C-B8AD-094C619DA3B5}"/>
              </a:ext>
            </a:extLst>
          </p:cNvPr>
          <p:cNvSpPr/>
          <p:nvPr/>
        </p:nvSpPr>
        <p:spPr>
          <a:xfrm>
            <a:off x="6432898" y="4172960"/>
            <a:ext cx="320040" cy="320040"/>
          </a:xfrm>
          <a:prstGeom prst="ellipse">
            <a:avLst/>
          </a:prstGeom>
          <a:solidFill>
            <a:srgbClr val="007CB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Verdana" panose="020B0604030504040204" pitchFamily="34" charset="0"/>
                <a:cs typeface="Verdana" panose="020B0604030504040204" pitchFamily="34" charset="0"/>
              </a:rPr>
              <a:t>4</a:t>
            </a:r>
          </a:p>
        </p:txBody>
      </p:sp>
      <p:cxnSp>
        <p:nvCxnSpPr>
          <p:cNvPr id="15" name="Straight Arrow Connector 14">
            <a:extLst>
              <a:ext uri="{FF2B5EF4-FFF2-40B4-BE49-F238E27FC236}">
                <a16:creationId xmlns:a16="http://schemas.microsoft.com/office/drawing/2014/main" id="{BC658D1D-2B59-462D-9327-892169DB548C}"/>
              </a:ext>
            </a:extLst>
          </p:cNvPr>
          <p:cNvCxnSpPr/>
          <p:nvPr/>
        </p:nvCxnSpPr>
        <p:spPr>
          <a:xfrm flipV="1">
            <a:off x="7275879" y="2458763"/>
            <a:ext cx="3678263" cy="4133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F00E159-15D4-41DE-9E8A-D9AFA9B44DB5}"/>
              </a:ext>
            </a:extLst>
          </p:cNvPr>
          <p:cNvSpPr/>
          <p:nvPr/>
        </p:nvSpPr>
        <p:spPr bwMode="gray">
          <a:xfrm>
            <a:off x="7882074" y="1350945"/>
            <a:ext cx="2542032" cy="630936"/>
          </a:xfrm>
          <a:prstGeom prst="rect">
            <a:avLst/>
          </a:prstGeom>
          <a:solidFill>
            <a:schemeClr val="bg1"/>
          </a:solidFill>
          <a:ln w="19050" algn="ctr">
            <a:solidFill>
              <a:srgbClr val="007CB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Supplier, Currency Exchange rates, Freight Terms, Partners, Addresses, Payment Terms</a:t>
            </a:r>
          </a:p>
        </p:txBody>
      </p:sp>
      <p:sp>
        <p:nvSpPr>
          <p:cNvPr id="17" name="Rectangle 16">
            <a:extLst>
              <a:ext uri="{FF2B5EF4-FFF2-40B4-BE49-F238E27FC236}">
                <a16:creationId xmlns:a16="http://schemas.microsoft.com/office/drawing/2014/main" id="{4E916960-79B9-414D-BDBE-62EE5F594D69}"/>
              </a:ext>
            </a:extLst>
          </p:cNvPr>
          <p:cNvSpPr/>
          <p:nvPr/>
        </p:nvSpPr>
        <p:spPr bwMode="gray">
          <a:xfrm>
            <a:off x="7882075" y="2203352"/>
            <a:ext cx="2542032" cy="630936"/>
          </a:xfrm>
          <a:prstGeom prst="rect">
            <a:avLst/>
          </a:prstGeom>
          <a:solidFill>
            <a:schemeClr val="bg1"/>
          </a:solidFill>
          <a:ln w="19050" algn="ctr">
            <a:solidFill>
              <a:srgbClr val="007CB0"/>
            </a:solidFill>
            <a:miter lim="800000"/>
            <a:headEnd/>
            <a:tailEnd/>
          </a:ln>
        </p:spPr>
        <p:txBody>
          <a:bodyPr wrap="square" lIns="88900" tIns="88900" rIns="88900" bIns="88900" rtlCol="0" anchor="ctr"/>
          <a:lstStyle/>
          <a:p>
            <a:pPr algn="ctr">
              <a:lnSpc>
                <a:spcPct val="106000"/>
              </a:lnSpc>
              <a:defRPr/>
            </a:pPr>
            <a:r>
              <a:rPr lang="en-US" sz="1000">
                <a:latin typeface="Calibri" panose="020F0502020204030204"/>
                <a:cs typeface="Calibri"/>
              </a:rPr>
              <a:t>Inventory (GL) postings, Sales, Matched &amp; Pre-Paid Invoices, Credit/Debit Memos</a:t>
            </a:r>
            <a:endParaRPr lang="en-US" sz="1000" b="0" i="0" u="none" strike="noStrike" kern="1200" cap="none" spc="0" normalizeH="0" baseline="0" noProof="0">
              <a:ln>
                <a:noFill/>
              </a:ln>
              <a:effectLst/>
              <a:uLnTx/>
              <a:uFillTx/>
              <a:latin typeface="Calibri" panose="020F0502020204030204"/>
              <a:cs typeface="Calibri"/>
            </a:endParaRPr>
          </a:p>
        </p:txBody>
      </p:sp>
      <p:sp>
        <p:nvSpPr>
          <p:cNvPr id="18" name="Rectangle 17">
            <a:extLst>
              <a:ext uri="{FF2B5EF4-FFF2-40B4-BE49-F238E27FC236}">
                <a16:creationId xmlns:a16="http://schemas.microsoft.com/office/drawing/2014/main" id="{F52D1F8A-B425-4A6A-98EF-A90A076E16D9}"/>
              </a:ext>
            </a:extLst>
          </p:cNvPr>
          <p:cNvSpPr/>
          <p:nvPr/>
        </p:nvSpPr>
        <p:spPr bwMode="gray">
          <a:xfrm>
            <a:off x="6372619" y="1015646"/>
            <a:ext cx="914399" cy="2347991"/>
          </a:xfrm>
          <a:prstGeom prst="rect">
            <a:avLst/>
          </a:prstGeom>
          <a:ln w="12700">
            <a:solidFill>
              <a:srgbClr val="007CB0"/>
            </a:solidFill>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a:solidFill>
                  <a:schemeClr val="bg1"/>
                </a:solidFill>
                <a:ea typeface="Open Sans"/>
                <a:cs typeface="Open Sans"/>
              </a:rPr>
              <a:t>Oracle </a:t>
            </a:r>
            <a:endParaRPr lang="en-US" sz="1600" b="1">
              <a:solidFill>
                <a:schemeClr val="bg1"/>
              </a:solidFill>
            </a:endParaRPr>
          </a:p>
        </p:txBody>
      </p:sp>
      <p:sp>
        <p:nvSpPr>
          <p:cNvPr id="19" name="Rectangle 18">
            <a:extLst>
              <a:ext uri="{FF2B5EF4-FFF2-40B4-BE49-F238E27FC236}">
                <a16:creationId xmlns:a16="http://schemas.microsoft.com/office/drawing/2014/main" id="{56EB64A6-87D9-4CF9-91E0-B130D44234B4}"/>
              </a:ext>
            </a:extLst>
          </p:cNvPr>
          <p:cNvSpPr/>
          <p:nvPr/>
        </p:nvSpPr>
        <p:spPr bwMode="gray">
          <a:xfrm>
            <a:off x="10944619" y="1015646"/>
            <a:ext cx="914399" cy="2335076"/>
          </a:xfrm>
          <a:prstGeom prst="rect">
            <a:avLst/>
          </a:prstGeom>
          <a:ln w="12700">
            <a:solidFill>
              <a:srgbClr val="007CB0"/>
            </a:solidFill>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0" name="TextBox 19">
            <a:extLst>
              <a:ext uri="{FF2B5EF4-FFF2-40B4-BE49-F238E27FC236}">
                <a16:creationId xmlns:a16="http://schemas.microsoft.com/office/drawing/2014/main" id="{0F9E15B4-04C4-4315-8677-DE4B446DBD2A}"/>
              </a:ext>
            </a:extLst>
          </p:cNvPr>
          <p:cNvSpPr txBox="1"/>
          <p:nvPr/>
        </p:nvSpPr>
        <p:spPr>
          <a:xfrm>
            <a:off x="6428199" y="1802111"/>
            <a:ext cx="782180" cy="46166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spcBef>
                <a:spcPts val="600"/>
              </a:spcBef>
              <a:buSzPct val="100000"/>
            </a:pPr>
            <a:r>
              <a:rPr lang="en-US" sz="1000">
                <a:latin typeface="Calibri" panose="020F0502020204030204"/>
                <a:cs typeface="Calibri"/>
              </a:rPr>
              <a:t>Oracle Retail Merchandising Application</a:t>
            </a:r>
            <a:endParaRPr lang="en-US">
              <a:solidFill>
                <a:srgbClr val="313131"/>
              </a:solidFill>
              <a:ea typeface="Open Sans"/>
              <a:cs typeface="Open Sans"/>
            </a:endParaRPr>
          </a:p>
        </p:txBody>
      </p:sp>
      <p:sp>
        <p:nvSpPr>
          <p:cNvPr id="21" name="TextBox 20">
            <a:extLst>
              <a:ext uri="{FF2B5EF4-FFF2-40B4-BE49-F238E27FC236}">
                <a16:creationId xmlns:a16="http://schemas.microsoft.com/office/drawing/2014/main" id="{D453182C-1E9F-4B12-A0D3-1A57890E9609}"/>
              </a:ext>
            </a:extLst>
          </p:cNvPr>
          <p:cNvSpPr txBox="1"/>
          <p:nvPr/>
        </p:nvSpPr>
        <p:spPr>
          <a:xfrm>
            <a:off x="11019162" y="1875714"/>
            <a:ext cx="70039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spcBef>
                <a:spcPts val="600"/>
              </a:spcBef>
              <a:buSzPct val="100000"/>
            </a:pPr>
            <a:r>
              <a:rPr lang="en-US" sz="1000">
                <a:latin typeface="Calibri" panose="020F0502020204030204"/>
                <a:cs typeface="Calibri"/>
              </a:rPr>
              <a:t>Oracle Cloud ERP</a:t>
            </a:r>
            <a:endParaRPr lang="en-US">
              <a:solidFill>
                <a:srgbClr val="313131"/>
              </a:solidFill>
              <a:ea typeface="Open Sans"/>
              <a:cs typeface="Open Sans"/>
            </a:endParaRPr>
          </a:p>
        </p:txBody>
      </p:sp>
      <p:sp>
        <p:nvSpPr>
          <p:cNvPr id="23" name="Title 1">
            <a:extLst>
              <a:ext uri="{FF2B5EF4-FFF2-40B4-BE49-F238E27FC236}">
                <a16:creationId xmlns:a16="http://schemas.microsoft.com/office/drawing/2014/main" id="{86B042D6-80EE-45F5-94BE-B64EC6E27F9E}"/>
              </a:ext>
            </a:extLst>
          </p:cNvPr>
          <p:cNvSpPr txBox="1">
            <a:spLocks/>
          </p:cNvSpPr>
          <p:nvPr/>
        </p:nvSpPr>
        <p:spPr bwMode="gray">
          <a:xfrm>
            <a:off x="434898" y="409575"/>
            <a:ext cx="11247120" cy="430887"/>
          </a:xfrm>
          <a:prstGeom prst="rect">
            <a:avLst/>
          </a:prstGeom>
        </p:spPr>
        <p:txBody>
          <a:bodyPr vert="horz" lIns="0" tIns="0" rIns="0" bIns="0" rtlCol="0" anchor="t" anchorCtr="0">
            <a:spAutoFit/>
          </a:bodyPr>
          <a:lstStyle>
            <a:lvl1pPr algn="l" defTabSz="1217613" rtl="0" eaLnBrk="1" fontAlgn="base" latinLnBrk="0" hangingPunct="1">
              <a:spcBef>
                <a:spcPct val="0"/>
              </a:spcBef>
              <a:spcAft>
                <a:spcPct val="0"/>
              </a:spcAft>
              <a:buNone/>
              <a:defRPr lang="en-US" sz="3200" b="0" kern="1200" spc="-50" noProof="0" dirty="0">
                <a:solidFill>
                  <a:schemeClr val="tx1"/>
                </a:solidFill>
                <a:latin typeface="+mj-lt"/>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2800">
                <a:latin typeface="+mj-lt"/>
                <a:ea typeface="+mj-ea"/>
                <a:cs typeface="Calibri Light" panose="020F0302020204030204" pitchFamily="34" charset="0"/>
              </a:rPr>
              <a:t>2 - RFI – Retail Financial Integration</a:t>
            </a:r>
            <a:endParaRPr kumimoji="0" lang="en-US" sz="2800" b="0" i="0" u="none" strike="noStrike" kern="1200" cap="none" spc="0" normalizeH="0" baseline="0" noProof="0">
              <a:ln>
                <a:noFill/>
              </a:ln>
              <a:solidFill>
                <a:prstClr val="black"/>
              </a:solidFill>
              <a:effectLst/>
              <a:uLnTx/>
              <a:uFillTx/>
              <a:latin typeface="Open Sans Light"/>
              <a:ea typeface="+mj-ea"/>
              <a:cs typeface="+mj-cs"/>
            </a:endParaRPr>
          </a:p>
        </p:txBody>
      </p:sp>
      <p:pic>
        <p:nvPicPr>
          <p:cNvPr id="24" name="Picture 23" descr="A picture containing text&#10;&#10;Description automatically generated">
            <a:extLst>
              <a:ext uri="{FF2B5EF4-FFF2-40B4-BE49-F238E27FC236}">
                <a16:creationId xmlns:a16="http://schemas.microsoft.com/office/drawing/2014/main" id="{96A7BC49-41E3-4B86-B058-8D7940E15A16}"/>
              </a:ext>
            </a:extLst>
          </p:cNvPr>
          <p:cNvPicPr>
            <a:picLocks noChangeAspect="1"/>
          </p:cNvPicPr>
          <p:nvPr/>
        </p:nvPicPr>
        <p:blipFill rotWithShape="1">
          <a:blip r:embed="rId2"/>
          <a:srcRect t="72253" r="32706" b="-593"/>
          <a:stretch/>
        </p:blipFill>
        <p:spPr>
          <a:xfrm>
            <a:off x="0" y="5440082"/>
            <a:ext cx="6372225" cy="1509109"/>
          </a:xfrm>
          <a:prstGeom prst="rect">
            <a:avLst/>
          </a:prstGeom>
        </p:spPr>
      </p:pic>
      <p:pic>
        <p:nvPicPr>
          <p:cNvPr id="25" name="Picture 24" descr="A picture containing text&#10;&#10;Description automatically generated">
            <a:extLst>
              <a:ext uri="{FF2B5EF4-FFF2-40B4-BE49-F238E27FC236}">
                <a16:creationId xmlns:a16="http://schemas.microsoft.com/office/drawing/2014/main" id="{5F6C7339-675D-43D9-9557-A977EFBBBB12}"/>
              </a:ext>
            </a:extLst>
          </p:cNvPr>
          <p:cNvPicPr>
            <a:picLocks noChangeAspect="1"/>
          </p:cNvPicPr>
          <p:nvPr/>
        </p:nvPicPr>
        <p:blipFill rotWithShape="1">
          <a:blip r:embed="rId2"/>
          <a:srcRect t="86960" r="37534" b="-593"/>
          <a:stretch/>
        </p:blipFill>
        <p:spPr>
          <a:xfrm flipH="1">
            <a:off x="7072311" y="6269474"/>
            <a:ext cx="5119687" cy="628346"/>
          </a:xfrm>
          <a:prstGeom prst="rect">
            <a:avLst/>
          </a:prstGeom>
        </p:spPr>
      </p:pic>
    </p:spTree>
    <p:extLst>
      <p:ext uri="{BB962C8B-B14F-4D97-AF65-F5344CB8AC3E}">
        <p14:creationId xmlns:p14="http://schemas.microsoft.com/office/powerpoint/2010/main" val="1655414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668B02F-D955-4327-BB70-292A933891BB}"/>
              </a:ext>
            </a:extLst>
          </p:cNvPr>
          <p:cNvGrpSpPr>
            <a:grpSpLocks noChangeAspect="1"/>
          </p:cNvGrpSpPr>
          <p:nvPr/>
        </p:nvGrpSpPr>
        <p:grpSpPr>
          <a:xfrm>
            <a:off x="460540" y="344136"/>
            <a:ext cx="1819105" cy="345827"/>
            <a:chOff x="398463" y="404813"/>
            <a:chExt cx="1627187" cy="307976"/>
          </a:xfrm>
          <a:solidFill>
            <a:schemeClr val="tx1"/>
          </a:solidFill>
        </p:grpSpPr>
        <p:sp>
          <p:nvSpPr>
            <p:cNvPr id="7" name="Oval 5">
              <a:extLst>
                <a:ext uri="{FF2B5EF4-FFF2-40B4-BE49-F238E27FC236}">
                  <a16:creationId xmlns:a16="http://schemas.microsoft.com/office/drawing/2014/main" id="{ADE8AD84-E47E-4692-BD7D-A9A1DEA71BD8}"/>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8" name="Freeform 6">
              <a:extLst>
                <a:ext uri="{FF2B5EF4-FFF2-40B4-BE49-F238E27FC236}">
                  <a16:creationId xmlns:a16="http://schemas.microsoft.com/office/drawing/2014/main" id="{22D54762-235C-4B49-A851-DAD6211397D3}"/>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9" name="Rectangle 7">
              <a:extLst>
                <a:ext uri="{FF2B5EF4-FFF2-40B4-BE49-F238E27FC236}">
                  <a16:creationId xmlns:a16="http://schemas.microsoft.com/office/drawing/2014/main" id="{059D4F8B-708E-4C3B-A1AC-068B6CFB96C1}"/>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0" name="Freeform 8">
              <a:extLst>
                <a:ext uri="{FF2B5EF4-FFF2-40B4-BE49-F238E27FC236}">
                  <a16:creationId xmlns:a16="http://schemas.microsoft.com/office/drawing/2014/main" id="{6F4693DD-22D5-4B0A-88CC-F3121B2A8EE6}"/>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1" name="Rectangle 9">
              <a:extLst>
                <a:ext uri="{FF2B5EF4-FFF2-40B4-BE49-F238E27FC236}">
                  <a16:creationId xmlns:a16="http://schemas.microsoft.com/office/drawing/2014/main" id="{DABE5AEE-A35F-49F0-96AC-E21C24E384C0}"/>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2" name="Rectangle 10">
              <a:extLst>
                <a:ext uri="{FF2B5EF4-FFF2-40B4-BE49-F238E27FC236}">
                  <a16:creationId xmlns:a16="http://schemas.microsoft.com/office/drawing/2014/main" id="{1E54FABE-E068-4439-97F8-344F7A71618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3" name="Freeform 11">
              <a:extLst>
                <a:ext uri="{FF2B5EF4-FFF2-40B4-BE49-F238E27FC236}">
                  <a16:creationId xmlns:a16="http://schemas.microsoft.com/office/drawing/2014/main" id="{44CFAE17-9420-41A4-91AD-37DAD079FAA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4" name="Freeform 12">
              <a:extLst>
                <a:ext uri="{FF2B5EF4-FFF2-40B4-BE49-F238E27FC236}">
                  <a16:creationId xmlns:a16="http://schemas.microsoft.com/office/drawing/2014/main" id="{8A37E189-C878-4165-87B7-FE77E81CE66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5" name="Freeform 13">
              <a:extLst>
                <a:ext uri="{FF2B5EF4-FFF2-40B4-BE49-F238E27FC236}">
                  <a16:creationId xmlns:a16="http://schemas.microsoft.com/office/drawing/2014/main" id="{50ADAAD8-DE65-418B-95BC-EFD70B57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6" name="Freeform 14">
              <a:extLst>
                <a:ext uri="{FF2B5EF4-FFF2-40B4-BE49-F238E27FC236}">
                  <a16:creationId xmlns:a16="http://schemas.microsoft.com/office/drawing/2014/main" id="{80AA8F98-634C-4019-844E-9DBC92AC1DBD}"/>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pic>
        <p:nvPicPr>
          <p:cNvPr id="23" name="Picture 22">
            <a:extLst>
              <a:ext uri="{FF2B5EF4-FFF2-40B4-BE49-F238E27FC236}">
                <a16:creationId xmlns:a16="http://schemas.microsoft.com/office/drawing/2014/main" id="{6C3BC7DC-E0B1-429B-9350-DCCF9F7C20C1}"/>
              </a:ext>
            </a:extLst>
          </p:cNvPr>
          <p:cNvPicPr>
            <a:picLocks noChangeAspect="1"/>
          </p:cNvPicPr>
          <p:nvPr/>
        </p:nvPicPr>
        <p:blipFill>
          <a:blip r:embed="rId2"/>
          <a:srcRect/>
          <a:stretch/>
        </p:blipFill>
        <p:spPr>
          <a:xfrm>
            <a:off x="5444958" y="685800"/>
            <a:ext cx="6686884" cy="6141840"/>
          </a:xfrm>
          <a:prstGeom prst="rect">
            <a:avLst/>
          </a:prstGeom>
        </p:spPr>
      </p:pic>
      <p:sp>
        <p:nvSpPr>
          <p:cNvPr id="24" name="Subtitle 2">
            <a:extLst>
              <a:ext uri="{FF2B5EF4-FFF2-40B4-BE49-F238E27FC236}">
                <a16:creationId xmlns:a16="http://schemas.microsoft.com/office/drawing/2014/main" id="{62EB86E1-78BC-4F94-B9BD-4BF41581FB6F}"/>
              </a:ext>
            </a:extLst>
          </p:cNvPr>
          <p:cNvSpPr txBox="1">
            <a:spLocks/>
          </p:cNvSpPr>
          <p:nvPr/>
        </p:nvSpPr>
        <p:spPr bwMode="gray">
          <a:xfrm>
            <a:off x="457200" y="2230805"/>
            <a:ext cx="4128655" cy="2313486"/>
          </a:xfrm>
          <a:prstGeom prst="rect">
            <a:avLst/>
          </a:prstGeom>
        </p:spPr>
        <p:txBody>
          <a:bodyPr lIns="0" tIns="0" rIns="0" bIns="0" anchor="t" anchorCtr="0">
            <a:noAutofit/>
          </a:bodyPr>
          <a:lstStyle>
            <a:lvl1pPr marL="0" indent="0" algn="l" defTabSz="914400" rtl="0" eaLnBrk="1" latinLnBrk="0" hangingPunct="1">
              <a:lnSpc>
                <a:spcPct val="110000"/>
              </a:lnSpc>
              <a:spcBef>
                <a:spcPts val="0"/>
              </a:spcBef>
              <a:spcAft>
                <a:spcPts val="0"/>
              </a:spcAft>
              <a:buSzPct val="100000"/>
              <a:buFont typeface="Arial" panose="020B0604020202020204" pitchFamily="34" charset="0"/>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defTabSz="914400" rtl="0" eaLnBrk="1" latinLnBrk="0" hangingPunct="1">
              <a:lnSpc>
                <a:spcPts val="3600"/>
              </a:lnSpc>
              <a:spcBef>
                <a:spcPts val="0"/>
              </a:spcBef>
              <a:spcAft>
                <a:spcPts val="0"/>
              </a:spcAft>
              <a:buClrTx/>
              <a:buSzPct val="100000"/>
              <a:buFont typeface="Arial"/>
              <a:buNone/>
              <a:defRPr lang="en-US" sz="3600" b="1" i="0" kern="1200" spc="-120" baseline="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defTabSz="914400" rtl="0" eaLnBrk="1" latinLnBrk="0" hangingPunct="1">
              <a:spcBef>
                <a:spcPts val="0"/>
              </a:spcBef>
              <a:spcAft>
                <a:spcPts val="1000"/>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914400" rtl="0" eaLnBrk="1" latinLnBrk="0" hangingPunct="1">
              <a:spcBef>
                <a:spcPts val="0"/>
              </a:spcBef>
              <a:spcAft>
                <a:spcPts val="1000"/>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798513" rtl="0" eaLnBrk="1" latinLnBrk="0" hangingPunct="1">
              <a:spcBef>
                <a:spcPts val="0"/>
              </a:spcBef>
              <a:spcAft>
                <a:spcPts val="1000"/>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914400" rtl="0" eaLnBrk="1" latinLnBrk="0" hangingPunct="1">
              <a:spcBef>
                <a:spcPts val="0"/>
              </a:spcBef>
              <a:spcAft>
                <a:spcPts val="1000"/>
              </a:spcAft>
              <a:buFont typeface="Verdana" panose="020B0604030504040204" pitchFamily="34" charset="0"/>
              <a:buNone/>
              <a:defRPr sz="2133" kern="1200">
                <a:solidFill>
                  <a:schemeClr val="tx1"/>
                </a:solidFill>
                <a:latin typeface="+mn-lt"/>
                <a:ea typeface="+mn-ea"/>
                <a:cs typeface="+mn-cs"/>
              </a:defRPr>
            </a:lvl7pPr>
            <a:lvl8pPr marL="4267093"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9pPr>
          </a:lstStyle>
          <a:p>
            <a:pPr>
              <a:lnSpc>
                <a:spcPts val="9000"/>
              </a:lnSpc>
            </a:pPr>
            <a:r>
              <a:rPr lang="en-US" sz="9000">
                <a:ln w="25400">
                  <a:noFill/>
                </a:ln>
                <a:gradFill flip="none" rotWithShape="1">
                  <a:gsLst>
                    <a:gs pos="100000">
                      <a:srgbClr val="FFCD00"/>
                    </a:gs>
                    <a:gs pos="0">
                      <a:srgbClr val="046A38"/>
                    </a:gs>
                  </a:gsLst>
                  <a:lin ang="2700000" scaled="1"/>
                  <a:tileRect/>
                </a:gradFill>
                <a:latin typeface="Open Sans Extrabold" panose="020B0906030804020204" pitchFamily="34" charset="0"/>
                <a:ea typeface="Open Sans Extrabold" panose="020B0906030804020204" pitchFamily="34" charset="0"/>
                <a:cs typeface="Open Sans Extrabold" panose="020B0906030804020204" pitchFamily="34" charset="0"/>
              </a:rPr>
              <a:t>Thank you</a:t>
            </a:r>
          </a:p>
        </p:txBody>
      </p:sp>
      <p:sp>
        <p:nvSpPr>
          <p:cNvPr id="25" name="USOC_Text2">
            <a:extLst>
              <a:ext uri="{FF2B5EF4-FFF2-40B4-BE49-F238E27FC236}">
                <a16:creationId xmlns:a16="http://schemas.microsoft.com/office/drawing/2014/main" id="{B136E1DB-D5E0-4C06-85C5-49A07F974E09}"/>
              </a:ext>
            </a:extLst>
          </p:cNvPr>
          <p:cNvSpPr txBox="1">
            <a:spLocks/>
          </p:cNvSpPr>
          <p:nvPr/>
        </p:nvSpPr>
        <p:spPr bwMode="gray">
          <a:xfrm>
            <a:off x="460542" y="4872841"/>
            <a:ext cx="5289094" cy="1586501"/>
          </a:xfrm>
          <a:prstGeom prst="rect">
            <a:avLst/>
          </a:prstGeom>
        </p:spPr>
        <p:txBody>
          <a:bodyPr lIns="0" rIns="0" anchor="t" anchorCtr="0"/>
          <a:lstStyle>
            <a:lvl1pPr marL="0" indent="0" algn="l" defTabSz="914400" rtl="0" eaLnBrk="1" latinLnBrk="0" hangingPunct="1">
              <a:spcBef>
                <a:spcPts val="1200"/>
              </a:spcBef>
              <a:buFont typeface="Arial" pitchFamily="34" charset="0"/>
              <a:buNone/>
              <a:defRPr sz="1800" b="0" kern="1200">
                <a:solidFill>
                  <a:schemeClr val="tx2"/>
                </a:solidFill>
                <a:latin typeface="+mn-lt"/>
                <a:ea typeface="+mn-ea"/>
                <a:cs typeface="+mn-cs"/>
              </a:defRPr>
            </a:lvl1pPr>
            <a:lvl2pPr marL="26670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266700" indent="-266700" algn="l" defTabSz="914400" rtl="0" eaLnBrk="1" latinLnBrk="0" hangingPunct="1">
              <a:spcBef>
                <a:spcPts val="1200"/>
              </a:spcBef>
              <a:buFont typeface="Arial" pitchFamily="34" charset="0"/>
              <a:buChar char="•"/>
              <a:defRPr sz="1800" i="1" kern="1200">
                <a:solidFill>
                  <a:schemeClr val="tx2"/>
                </a:solidFill>
                <a:latin typeface="+mn-lt"/>
                <a:ea typeface="+mn-ea"/>
                <a:cs typeface="+mn-cs"/>
              </a:defRPr>
            </a:lvl3pPr>
            <a:lvl4pPr marL="539750" indent="-27305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806450" indent="-266700" algn="l" defTabSz="914400" rtl="0" eaLnBrk="1" latinLnBrk="0" hangingPunct="1">
              <a:spcBef>
                <a:spcPts val="1200"/>
              </a:spcBef>
              <a:buSzPct val="60000"/>
              <a:buFont typeface="Courier New" panose="02070309020205020404" pitchFamily="49" charset="0"/>
              <a:buChar char="o"/>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ts val="900"/>
              </a:lnSpc>
              <a:spcAft>
                <a:spcPts val="400"/>
              </a:spcAft>
              <a:defRPr/>
            </a:pPr>
            <a:r>
              <a:rPr lang="en-US" sz="800" b="1">
                <a:solidFill>
                  <a:schemeClr val="tx1"/>
                </a:solidFill>
                <a:ea typeface="Open Sans" panose="020B0606030504020204" pitchFamily="34" charset="0"/>
                <a:cs typeface="Open Sans" panose="020B0606030504020204" pitchFamily="34" charset="0"/>
              </a:rPr>
              <a:t>ABOUT DELOITTE</a:t>
            </a:r>
            <a:endParaRPr lang="en-US" sz="800">
              <a:solidFill>
                <a:schemeClr val="tx1"/>
              </a:solidFill>
              <a:ea typeface="Open Sans" panose="020B0606030504020204" pitchFamily="34" charset="0"/>
              <a:cs typeface="Open Sans" panose="020B0606030504020204" pitchFamily="34" charset="0"/>
            </a:endParaRPr>
          </a:p>
          <a:p>
            <a:pPr fontAlgn="auto">
              <a:lnSpc>
                <a:spcPct val="110000"/>
              </a:lnSpc>
              <a:spcBef>
                <a:spcPts val="0"/>
              </a:spcBef>
              <a:spcAft>
                <a:spcPts val="400"/>
              </a:spcAft>
              <a:defRPr/>
            </a:pPr>
            <a:r>
              <a:rPr lang="en-US" sz="800">
                <a:solidFill>
                  <a:schemeClr val="tx1"/>
                </a:solidFill>
                <a:ea typeface="Open Sans" panose="020B0606030504020204" pitchFamily="34" charset="0"/>
                <a:cs typeface="Open Sans" panose="020B0606030504020204" pitchFamily="34" charset="0"/>
              </a:rPr>
              <a:t>Deloitte refers to one or more of Deloitte </a:t>
            </a:r>
            <a:r>
              <a:rPr lang="en-US" sz="800" err="1">
                <a:solidFill>
                  <a:schemeClr val="tx1"/>
                </a:solidFill>
                <a:ea typeface="Open Sans" panose="020B0606030504020204" pitchFamily="34" charset="0"/>
                <a:cs typeface="Open Sans" panose="020B0606030504020204" pitchFamily="34" charset="0"/>
              </a:rPr>
              <a:t>Touche</a:t>
            </a:r>
            <a:r>
              <a:rPr lang="en-US" sz="800">
                <a:solidFill>
                  <a:schemeClr val="tx1"/>
                </a:solidFill>
                <a:ea typeface="Open Sans" panose="020B0606030504020204" pitchFamily="34" charset="0"/>
                <a:cs typeface="Open Sans" panose="020B0606030504020204" pitchFamily="34" charset="0"/>
              </a:rPr>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a:t>
            </a:r>
            <a:r>
              <a:rPr lang="en-US" sz="800">
                <a:solidFill>
                  <a:schemeClr val="tx1"/>
                </a:solidFill>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www.deloitte.com/about</a:t>
            </a:r>
            <a:r>
              <a:rPr lang="en-US" sz="800">
                <a:solidFill>
                  <a:schemeClr val="tx1"/>
                </a:solidFill>
                <a:ea typeface="Open Sans" panose="020B0606030504020204" pitchFamily="34" charset="0"/>
                <a:cs typeface="Open Sans" panose="020B0606030504020204" pitchFamily="34" charset="0"/>
              </a:rPr>
              <a:t> to learn more about our global network of member firms.</a:t>
            </a:r>
            <a:br>
              <a:rPr lang="en-US" sz="800">
                <a:solidFill>
                  <a:schemeClr val="tx1"/>
                </a:solidFill>
                <a:ea typeface="Open Sans" panose="020B0606030504020204" pitchFamily="34" charset="0"/>
                <a:cs typeface="Open Sans" panose="020B0606030504020204" pitchFamily="34" charset="0"/>
              </a:rPr>
            </a:br>
            <a:br>
              <a:rPr lang="en-US" sz="800">
                <a:solidFill>
                  <a:schemeClr val="tx1"/>
                </a:solidFill>
                <a:ea typeface="Open Sans" panose="020B0606030504020204" pitchFamily="34" charset="0"/>
                <a:cs typeface="Open Sans" panose="020B0606030504020204" pitchFamily="34" charset="0"/>
              </a:rPr>
            </a:br>
            <a:r>
              <a:rPr lang="en-US" sz="800">
                <a:solidFill>
                  <a:schemeClr val="tx1"/>
                </a:solidFill>
                <a:ea typeface="Open Sans" panose="020B0606030504020204" pitchFamily="34" charset="0"/>
                <a:cs typeface="Open Sans" panose="020B0606030504020204" pitchFamily="34" charset="0"/>
              </a:rPr>
              <a:t>Copyright © 2023 Deloitte Development LLC. </a:t>
            </a:r>
            <a:br>
              <a:rPr lang="en-US" sz="800">
                <a:solidFill>
                  <a:schemeClr val="tx1"/>
                </a:solidFill>
                <a:ea typeface="Open Sans" panose="020B0606030504020204" pitchFamily="34" charset="0"/>
                <a:cs typeface="Open Sans" panose="020B0606030504020204" pitchFamily="34" charset="0"/>
              </a:rPr>
            </a:br>
            <a:r>
              <a:rPr lang="en-US" sz="800">
                <a:solidFill>
                  <a:schemeClr val="tx1"/>
                </a:solidFill>
                <a:ea typeface="Open Sans" panose="020B0606030504020204" pitchFamily="34" charset="0"/>
                <a:cs typeface="Open Sans" panose="020B0606030504020204" pitchFamily="34" charset="0"/>
              </a:rPr>
              <a:t>All rights reserved.</a:t>
            </a:r>
          </a:p>
        </p:txBody>
      </p:sp>
    </p:spTree>
    <p:extLst>
      <p:ext uri="{BB962C8B-B14F-4D97-AF65-F5344CB8AC3E}">
        <p14:creationId xmlns:p14="http://schemas.microsoft.com/office/powerpoint/2010/main" val="2160829243"/>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9B22BE06811840A13B8778E93A5EB1" ma:contentTypeVersion="6" ma:contentTypeDescription="Create a new document." ma:contentTypeScope="" ma:versionID="e6bb28ec8651c068d8d863d80df6bcd3">
  <xsd:schema xmlns:xsd="http://www.w3.org/2001/XMLSchema" xmlns:xs="http://www.w3.org/2001/XMLSchema" xmlns:p="http://schemas.microsoft.com/office/2006/metadata/properties" xmlns:ns2="60abb974-290a-4d2d-a7d7-9131eff0095d" xmlns:ns3="5f71fc39-fc89-4395-9438-cea9f45828f0" targetNamespace="http://schemas.microsoft.com/office/2006/metadata/properties" ma:root="true" ma:fieldsID="8a2dda2680ab78bb2d82e23db40a902c" ns2:_="" ns3:_="">
    <xsd:import namespace="60abb974-290a-4d2d-a7d7-9131eff0095d"/>
    <xsd:import namespace="5f71fc39-fc89-4395-9438-cea9f45828f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abb974-290a-4d2d-a7d7-9131eff009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f71fc39-fc89-4395-9438-cea9f45828f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3C0B813-B48B-41B5-BE72-CC76D4D292FA}">
  <ds:schemaRefs>
    <ds:schemaRef ds:uri="5f71fc39-fc89-4395-9438-cea9f45828f0"/>
    <ds:schemaRef ds:uri="60abb974-290a-4d2d-a7d7-9131eff009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D397B7F-F298-466F-9FFE-9E81B6E444CB}">
  <ds:schemaRefs>
    <ds:schemaRef ds:uri="http://schemas.microsoft.com/sharepoint/v3/contenttype/forms"/>
  </ds:schemaRefs>
</ds:datastoreItem>
</file>

<file path=customXml/itemProps3.xml><?xml version="1.0" encoding="utf-8"?>
<ds:datastoreItem xmlns:ds="http://schemas.openxmlformats.org/officeDocument/2006/customXml" ds:itemID="{15586B7F-1F04-4CB1-ADB6-84562D97203E}">
  <ds:schemaRefs>
    <ds:schemaRef ds:uri="5f71fc39-fc89-4395-9438-cea9f45828f0"/>
    <ds:schemaRef ds:uri="60abb974-290a-4d2d-a7d7-9131eff009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155</TotalTime>
  <Words>4782</Words>
  <Application>Microsoft Office PowerPoint</Application>
  <PresentationFormat>Widescreen</PresentationFormat>
  <Paragraphs>709</Paragraphs>
  <Slides>33</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Arial</vt:lpstr>
      <vt:lpstr>Calibri</vt:lpstr>
      <vt:lpstr>Calibri Light</vt:lpstr>
      <vt:lpstr>Courier New</vt:lpstr>
      <vt:lpstr>Open Sans</vt:lpstr>
      <vt:lpstr>Open Sans Extrabold</vt:lpstr>
      <vt:lpstr>Open Sans Light</vt:lpstr>
      <vt:lpstr>Oracle Sans</vt:lpstr>
      <vt:lpstr>Verdana</vt:lpstr>
      <vt:lpstr>Wingdings 2</vt:lpstr>
      <vt:lpstr>Office Theme</vt:lpstr>
      <vt:lpstr>PowerPoint Presentation</vt:lpstr>
      <vt:lpstr>Contents</vt:lpstr>
      <vt:lpstr>PowerPoint Presentation</vt:lpstr>
      <vt:lpstr>Objective</vt:lpstr>
      <vt:lpstr>PowerPoint Presentation</vt:lpstr>
      <vt:lpstr>Guiding Principles - Architecture</vt:lpstr>
      <vt:lpstr>Guiding Principles - Design</vt:lpstr>
      <vt:lpstr>Guiding Principles - Build</vt:lpstr>
      <vt:lpstr>PowerPoint Presentation</vt:lpstr>
      <vt:lpstr>PowerPoint Presentation</vt:lpstr>
      <vt:lpstr>IPG Methodology</vt:lpstr>
      <vt:lpstr>Oracle Retail Integration Patterns – For Dollar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Error Handling Strategy – Exception Categories</vt:lpstr>
      <vt:lpstr>Common Error Handling – Notification and Logging Mechanism</vt:lpstr>
      <vt:lpstr>PowerPoint Presentation</vt:lpstr>
      <vt:lpstr>PowerPoint Presentation</vt:lpstr>
      <vt:lpstr>Assumptions</vt:lpstr>
      <vt:lpstr>PowerPoint Presentation</vt:lpstr>
      <vt:lpstr>Integration Security</vt:lpstr>
      <vt:lpstr>PowerPoint Presentation</vt:lpstr>
      <vt:lpstr>Integration – Responsibilities</vt:lpstr>
      <vt:lpstr>Oracle Retail Integration Patterns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jsomaiyya@deloitte.com</dc:creator>
  <cp:lastModifiedBy>Geoff Lyle</cp:lastModifiedBy>
  <cp:revision>2</cp:revision>
  <dcterms:created xsi:type="dcterms:W3CDTF">2023-03-07T14:03:00Z</dcterms:created>
  <dcterms:modified xsi:type="dcterms:W3CDTF">2023-03-30T16:00:33Z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2023-03-07T14:03:00Z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9cac7322-65e2-45c4-b567-6e48e752951e</vt:lpwstr>
  </property>
  <property fmtid="{D5CDD505-2E9C-101B-9397-08002B2CF9AE}" pid="8" name="MSIP_Label_ea60d57e-af5b-4752-ac57-3e4f28ca11dc_ContentBits">
    <vt:lpwstr>0</vt:lpwstr>
  </property>
  <property fmtid="{D5CDD505-2E9C-101B-9397-08002B2CF9AE}" pid="9" name="ContentTypeId">
    <vt:lpwstr>0x010100789B22BE06811840A13B8778E93A5EB1</vt:lpwstr>
  </property>
</Properties>
</file>