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154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D00"/>
    <a:srgbClr val="7F7F7F"/>
    <a:srgbClr val="43B02A"/>
    <a:srgbClr val="046A38"/>
    <a:srgbClr val="0076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86" y="-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D17F6-ECE8-4493-ABFB-C4D8ED953670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05186-EE54-4CC4-BEBC-7E32B9314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9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05186-EE54-4CC4-BEBC-7E32B9314D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29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CA25-0E36-4900-A84F-24D14939DC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4828B-C77A-4839-8958-D55552E53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865EA-37AB-46BE-8F3E-A4CA8BA69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2EDFB-388F-4B50-95F5-4EDCC4F5B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7744-C64A-42F5-9E28-6DB5542FA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37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C8F5E-9E4B-4C12-AAD5-87245380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2D447-D0F1-41D1-9C4E-F433564DA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4E46E-5D06-4275-BD5C-CD6578D9A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252E-F8D8-4026-B97D-0A820B36D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6C006-1A65-4B05-A485-01C145DB8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12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15C4-F6EC-4AD5-BA12-6478DC61C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92A54-52E9-46DF-A0B8-5ADE0716E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E38C6-05B8-42FF-B59E-A4D01660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C3929-C20F-4B68-ACF8-C358FB370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6949-DF2A-4BFD-BD95-9B35E9FD2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89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A1F6C-82FE-4270-91A8-B1F7A45EE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C09D1-6000-41A4-B146-E8B0FAB09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A3D11-87B2-412B-9D77-B1F94D3F0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CAEEE-2CF9-4689-BE7A-A166F27E0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0FD71-2655-4B2F-BC4E-29FADCF2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5B7EB-9939-44A0-9B5D-8310CA4B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4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73C3C-BF77-4332-A7AB-64D313D2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682AA-11D7-4AF1-A300-95D513B53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97624-0139-47FA-8889-197546FB0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8F22C-D0C4-4AC6-9DDE-759AEE59F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56F6FA-4467-4016-A054-1CFB4045A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993C9A-2AAB-4B21-9F6B-550C83F4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CDFBB-E61E-4A98-A515-3E835588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E8A7AC-12A3-4941-BFE8-A7E016732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8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824C-AC1B-4EA4-8EF0-6821BD524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F6C41-97DB-4C43-B659-659C1D8B2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559E7-3A6E-4B91-954E-C12821A88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B992D-72BF-4572-BA64-BD5B72EB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7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045F0B-91B1-4D5E-9210-6F953808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AA9EA-759A-4A49-800A-0FBAA21E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6AE87-062D-443A-838F-C6A8EB3C7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57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D714-30F7-4D1C-86B6-008B7AA88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F727D-800A-4114-9013-596805FD7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C9204-DB20-44A6-8513-C1DE67893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E2724-99F9-45E0-98F1-1379CDA8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C21BF-408E-4442-A264-032B081A9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7628B-B9E0-4B6C-939E-062F6DED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7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9F70-1CCB-4B48-99BB-3827A9C18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A6982-54DD-4AD6-8174-0BF34D4A3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1D05A-8245-4112-98D3-45A91E3E4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0F16D-4C80-4D82-84D5-E8D2D49E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8E81B-EE01-4EF7-8B5C-02D6469A0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D9CDD-B73E-4236-B008-0803B85B5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02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F763D-1AD1-4169-9F56-D9457711F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6CC31-F312-4E35-A7C4-039FF64C2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7C22F-9ACF-4750-8762-5250ED74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BBFB0-C456-48E1-8CDF-DF43F0C7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6A636-98E7-4095-B088-0645A418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6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1B88A1-631B-4AF2-94E0-9C58E77897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9E3C7-C1A9-4CDA-A5D9-65A441E5A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A0DE3-E226-4A64-900B-FBFE471B8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2917A-6753-426C-A341-5BB1C692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66ADA-6ED2-4FD4-A456-F3BA46D6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6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6E8C76-D59B-4A4D-B875-69CC39593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40E68-46A6-4050-9435-1865FD923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E95B5-1303-4F48-BEE3-2F4666CB8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ED056-0C17-4F13-92C7-4B4EBBA459AF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37B21-698B-416E-930C-F44484A35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45F67-3427-4DBF-979A-4218C2677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24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4EF24-1770-3C37-5864-575631731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52" y="-311531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Oracle Functional Specs. Drops – DRAFT Scheduling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C6728C-8AC5-C1A2-FB5C-C3AF6FCBC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768106"/>
              </p:ext>
            </p:extLst>
          </p:nvPr>
        </p:nvGraphicFramePr>
        <p:xfrm>
          <a:off x="515526" y="1304973"/>
          <a:ext cx="11195022" cy="4427150"/>
        </p:xfrm>
        <a:graphic>
          <a:graphicData uri="http://schemas.openxmlformats.org/drawingml/2006/table">
            <a:tbl>
              <a:tblPr firstRow="1" bandRow="1"/>
              <a:tblGrid>
                <a:gridCol w="2585322">
                  <a:extLst>
                    <a:ext uri="{9D8B030D-6E8A-4147-A177-3AD203B41FA5}">
                      <a16:colId xmlns:a16="http://schemas.microsoft.com/office/drawing/2014/main" val="702128557"/>
                    </a:ext>
                  </a:extLst>
                </a:gridCol>
                <a:gridCol w="1434950">
                  <a:extLst>
                    <a:ext uri="{9D8B030D-6E8A-4147-A177-3AD203B41FA5}">
                      <a16:colId xmlns:a16="http://schemas.microsoft.com/office/drawing/2014/main" val="34540562"/>
                    </a:ext>
                  </a:extLst>
                </a:gridCol>
                <a:gridCol w="1434950">
                  <a:extLst>
                    <a:ext uri="{9D8B030D-6E8A-4147-A177-3AD203B41FA5}">
                      <a16:colId xmlns:a16="http://schemas.microsoft.com/office/drawing/2014/main" val="3453241497"/>
                    </a:ext>
                  </a:extLst>
                </a:gridCol>
                <a:gridCol w="1434950">
                  <a:extLst>
                    <a:ext uri="{9D8B030D-6E8A-4147-A177-3AD203B41FA5}">
                      <a16:colId xmlns:a16="http://schemas.microsoft.com/office/drawing/2014/main" val="3830077496"/>
                    </a:ext>
                  </a:extLst>
                </a:gridCol>
                <a:gridCol w="1434950">
                  <a:extLst>
                    <a:ext uri="{9D8B030D-6E8A-4147-A177-3AD203B41FA5}">
                      <a16:colId xmlns:a16="http://schemas.microsoft.com/office/drawing/2014/main" val="1116999727"/>
                    </a:ext>
                  </a:extLst>
                </a:gridCol>
                <a:gridCol w="1434950">
                  <a:extLst>
                    <a:ext uri="{9D8B030D-6E8A-4147-A177-3AD203B41FA5}">
                      <a16:colId xmlns:a16="http://schemas.microsoft.com/office/drawing/2014/main" val="1823675650"/>
                    </a:ext>
                  </a:extLst>
                </a:gridCol>
                <a:gridCol w="1434950">
                  <a:extLst>
                    <a:ext uri="{9D8B030D-6E8A-4147-A177-3AD203B41FA5}">
                      <a16:colId xmlns:a16="http://schemas.microsoft.com/office/drawing/2014/main" val="1850247057"/>
                    </a:ext>
                  </a:extLst>
                </a:gridCol>
              </a:tblGrid>
              <a:tr h="3281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ea typeface="+mn-ea"/>
                          <a:cs typeface="+mn-cs"/>
                        </a:rPr>
                        <a:t>Proposed Development Start: </a:t>
                      </a:r>
                      <a:r>
                        <a:rPr kumimoji="0" lang="en-US" sz="11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ea typeface="+mn-ea"/>
                          <a:cs typeface="+mn-cs"/>
                        </a:rPr>
                        <a:t>May 5, 2023</a:t>
                      </a:r>
                    </a:p>
                  </a:txBody>
                  <a:tcPr marL="89089" marR="89089" marT="44544" marB="445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4/28</a:t>
                      </a:r>
                    </a:p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Drop 1</a:t>
                      </a:r>
                    </a:p>
                  </a:txBody>
                  <a:tcPr marL="89089" marR="89089" marT="44544" marB="44544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5/5</a:t>
                      </a:r>
                    </a:p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Drop 2</a:t>
                      </a:r>
                    </a:p>
                  </a:txBody>
                  <a:tcPr marL="89089" marR="89089" marT="44544" marB="44544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5/12</a:t>
                      </a:r>
                    </a:p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Drop 3</a:t>
                      </a:r>
                    </a:p>
                  </a:txBody>
                  <a:tcPr marL="89089" marR="89089" marT="44544" marB="44544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5/19</a:t>
                      </a:r>
                    </a:p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Drop 4</a:t>
                      </a:r>
                    </a:p>
                  </a:txBody>
                  <a:tcPr marL="89089" marR="89089" marT="44544" marB="44544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5/26</a:t>
                      </a:r>
                    </a:p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Drop 5</a:t>
                      </a:r>
                    </a:p>
                  </a:txBody>
                  <a:tcPr marL="89089" marR="89089" marT="44544" marB="44544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6/23</a:t>
                      </a:r>
                    </a:p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Final Drop</a:t>
                      </a:r>
                    </a:p>
                  </a:txBody>
                  <a:tcPr marL="89089" marR="89089" marT="44544" marB="44544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881870"/>
                  </a:ext>
                </a:extLst>
              </a:tr>
              <a:tr h="8372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100" b="1" dirty="0"/>
                        <a:t>Foundations (Accounting, Hierarchies)</a:t>
                      </a:r>
                      <a:endParaRPr lang="en-US" sz="1100" b="1" dirty="0"/>
                    </a:p>
                  </a:txBody>
                  <a:tcPr marL="89089" marR="89089" marT="44544" marB="445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</a:rPr>
                        <a:t>CoA (POC for OIC development)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</a:rPr>
                        <a:t>Items?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</a:rPr>
                        <a:t>Item Locations?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</a:rPr>
                        <a:t>Item reclassification ?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</a:rPr>
                        <a:t>Stores (Manual)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</a:rPr>
                        <a:t>Warehouses (Manual)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</a:rPr>
                        <a:t>Merchandize (Hierarchy (Manual)</a:t>
                      </a:r>
                    </a:p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471917"/>
                  </a:ext>
                </a:extLst>
              </a:tr>
              <a:tr h="383171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Items</a:t>
                      </a:r>
                    </a:p>
                  </a:txBody>
                  <a:tcPr marL="89089" marR="89089" marT="44544" marB="445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376789"/>
                  </a:ext>
                </a:extLst>
              </a:tr>
              <a:tr h="392750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Costs</a:t>
                      </a:r>
                    </a:p>
                  </a:txBody>
                  <a:tcPr marL="89089" marR="89089" marT="44544" marB="445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331777"/>
                  </a:ext>
                </a:extLst>
              </a:tr>
              <a:tr h="4181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Receiving </a:t>
                      </a:r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9089" marR="89089" marT="44544" marB="445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</a:rPr>
                        <a:t>Store Receipts with net cost </a:t>
                      </a: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388896"/>
                  </a:ext>
                </a:extLst>
              </a:tr>
              <a:tr h="534536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Invoice Matching/</a:t>
                      </a:r>
                      <a:r>
                        <a:rPr lang="en-US" sz="1100" b="1" err="1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Stockleder</a:t>
                      </a:r>
                      <a:r>
                        <a:rPr lang="en-US" sz="1100" b="1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/POS Sales</a:t>
                      </a:r>
                    </a:p>
                  </a:txBody>
                  <a:tcPr marL="89089" marR="89089" marT="44544" marB="445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</a:rPr>
                        <a:t>Invoices from EDI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</a:rPr>
                        <a:t>Invoice Credit notes from EDI</a:t>
                      </a: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</a:rPr>
                        <a:t>Matched Invoices, Debit Memo &amp; Credit note  to AP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</a:rPr>
                        <a:t>Receipt adjustments?.</a:t>
                      </a: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</a:rPr>
                        <a:t>Credit note request to vendor via EDI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</a:rPr>
                        <a:t>Variances to GL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950004"/>
                  </a:ext>
                </a:extLst>
              </a:tr>
              <a:tr h="612637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Other Master data( stores, location, suppliers)</a:t>
                      </a:r>
                    </a:p>
                  </a:txBody>
                  <a:tcPr marL="89089" marR="89089" marT="44544" marB="445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+mn-lt"/>
                        </a:rPr>
                        <a:t>Suppliers (Manual)</a:t>
                      </a: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140764"/>
                  </a:ext>
                </a:extLst>
              </a:tr>
            </a:tbl>
          </a:graphicData>
        </a:graphic>
      </p:graphicFrame>
      <p:sp>
        <p:nvSpPr>
          <p:cNvPr id="13" name="5-Point Star 12">
            <a:extLst>
              <a:ext uri="{FF2B5EF4-FFF2-40B4-BE49-F238E27FC236}">
                <a16:creationId xmlns:a16="http://schemas.microsoft.com/office/drawing/2014/main" id="{53B2DACE-B868-1962-42CD-B611CCAFA0AF}"/>
              </a:ext>
            </a:extLst>
          </p:cNvPr>
          <p:cNvSpPr/>
          <p:nvPr/>
        </p:nvSpPr>
        <p:spPr>
          <a:xfrm>
            <a:off x="7473431" y="1082392"/>
            <a:ext cx="292608" cy="231974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7FCE4A-3080-1C87-42B6-8C11B9FA673E}"/>
              </a:ext>
            </a:extLst>
          </p:cNvPr>
          <p:cNvSpPr txBox="1"/>
          <p:nvPr/>
        </p:nvSpPr>
        <p:spPr>
          <a:xfrm>
            <a:off x="6426940" y="839775"/>
            <a:ext cx="2852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5/26 – All critical and complex design complete</a:t>
            </a:r>
          </a:p>
        </p:txBody>
      </p:sp>
    </p:spTree>
    <p:extLst>
      <p:ext uri="{BB962C8B-B14F-4D97-AF65-F5344CB8AC3E}">
        <p14:creationId xmlns:p14="http://schemas.microsoft.com/office/powerpoint/2010/main" val="999648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9B22BE06811840A13B8778E93A5EB1" ma:contentTypeVersion="6" ma:contentTypeDescription="Create a new document." ma:contentTypeScope="" ma:versionID="e6bb28ec8651c068d8d863d80df6bcd3">
  <xsd:schema xmlns:xsd="http://www.w3.org/2001/XMLSchema" xmlns:xs="http://www.w3.org/2001/XMLSchema" xmlns:p="http://schemas.microsoft.com/office/2006/metadata/properties" xmlns:ns2="60abb974-290a-4d2d-a7d7-9131eff0095d" xmlns:ns3="5f71fc39-fc89-4395-9438-cea9f45828f0" targetNamespace="http://schemas.microsoft.com/office/2006/metadata/properties" ma:root="true" ma:fieldsID="8a2dda2680ab78bb2d82e23db40a902c" ns2:_="" ns3:_="">
    <xsd:import namespace="60abb974-290a-4d2d-a7d7-9131eff0095d"/>
    <xsd:import namespace="5f71fc39-fc89-4395-9438-cea9f45828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abb974-290a-4d2d-a7d7-9131eff009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71fc39-fc89-4395-9438-cea9f45828f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D397B7F-F298-466F-9FFE-9E81B6E444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C0B813-B48B-41B5-BE72-CC76D4D292FA}">
  <ds:schemaRefs>
    <ds:schemaRef ds:uri="5f71fc39-fc89-4395-9438-cea9f45828f0"/>
    <ds:schemaRef ds:uri="60abb974-290a-4d2d-a7d7-9131eff009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5586B7F-1F04-4CB1-ADB6-84562D97203E}">
  <ds:schemaRefs>
    <ds:schemaRef ds:uri="5f71fc39-fc89-4395-9438-cea9f45828f0"/>
    <ds:schemaRef ds:uri="60abb974-290a-4d2d-a7d7-9131eff009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138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Oracle Functional Specs. Drops – DRAFT Scheduling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Gopalan, Arun</dc:creator>
  <cp:lastModifiedBy>Kannan, Bala</cp:lastModifiedBy>
  <cp:revision>2</cp:revision>
  <dcterms:created xsi:type="dcterms:W3CDTF">2023-03-07T14:03:00Z</dcterms:created>
  <dcterms:modified xsi:type="dcterms:W3CDTF">2023-04-05T17:59:03Z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2023-03-07T14:03:00Z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9cac7322-65e2-45c4-b567-6e48e752951e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0x010100789B22BE06811840A13B8778E93A5EB1</vt:lpwstr>
  </property>
</Properties>
</file>