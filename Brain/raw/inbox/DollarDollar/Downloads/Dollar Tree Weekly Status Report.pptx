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58" r:id="rId5"/>
    <p:sldId id="2147469308" r:id="rId6"/>
    <p:sldId id="2147469309" r:id="rId7"/>
    <p:sldId id="2147469307" r:id="rId8"/>
    <p:sldId id="2147469310" r:id="rId9"/>
    <p:sldId id="3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CFB43-75BE-4A98-96A7-3BC210C663BC}" v="167" vWet="169" dt="2023-04-06T13:42:46.232"/>
    <p1510:client id="{4307B07B-6937-4302-8A78-9AE47F38166F}" v="521" vWet="904" dt="2023-04-06T14:57:58.516"/>
    <p1510:client id="{59410891-68A4-8E32-0AC5-62795DC4B0C8}" v="231" dt="2023-04-05T17:33:58.348"/>
    <p1510:client id="{8AD7AFCA-5DFD-46D5-9A94-9816231F1C68}" vWet="2" dt="2023-04-06T13:01:51.103"/>
    <p1510:client id="{C5ADA67D-CE29-C941-94EE-FE9639277526}" v="1604" dt="2023-04-06T14:50:53.335"/>
    <p1510:client id="{D1426AC2-2F3D-6A46-8113-C2B37C352CDD}" v="327" dt="2023-04-06T15:48:49.600"/>
    <p1510:client id="{DF78EE9E-CB3E-4A57-9F86-22AAC85C5B09}" v="3614" dt="2023-04-06T15:33:36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4980" autoAdjust="0"/>
  </p:normalViewPr>
  <p:slideViewPr>
    <p:cSldViewPr snapToGrid="0">
      <p:cViewPr varScale="1">
        <p:scale>
          <a:sx n="96" d="100"/>
          <a:sy n="96" d="100"/>
        </p:scale>
        <p:origin x="200" y="7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32C6E-32CC-4FB1-83EE-2FE147CD7C8F}" type="datetimeFigureOut">
              <a:rPr lang="en-US" smtClean="0"/>
              <a:t>4/4/23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5E9F0-89EE-42FB-BC66-7C9ECB16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4975" y="709613"/>
            <a:ext cx="6307138" cy="35480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Navin+Hasan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3FEC4-AAB4-49BF-A958-3731A457D8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004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4975" y="709613"/>
            <a:ext cx="6307138" cy="35480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3FEC4-AAB4-49BF-A958-3731A457D8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316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4975" y="709613"/>
            <a:ext cx="6307138" cy="35480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Bala+Sushanth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3FEC4-AAB4-49BF-A958-3731A457D8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697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4975" y="709613"/>
            <a:ext cx="6307138" cy="35480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Implementation timeline  24/36</a:t>
            </a:r>
          </a:p>
          <a:p>
            <a:r>
              <a:rPr lang="en-US"/>
              <a:t>Enterprise design – biz and tech deliverables</a:t>
            </a:r>
          </a:p>
          <a:p>
            <a:r>
              <a:rPr lang="en-US"/>
              <a:t>MVP?</a:t>
            </a:r>
          </a:p>
          <a:p>
            <a:r>
              <a:rPr lang="en-US"/>
              <a:t>Project leads identified – </a:t>
            </a:r>
            <a:r>
              <a:rPr lang="en-US" err="1"/>
              <a:t>jules</a:t>
            </a:r>
            <a:r>
              <a:rPr lang="en-US"/>
              <a:t>, Abhay, finance Sorensen </a:t>
            </a:r>
          </a:p>
          <a:p>
            <a:r>
              <a:rPr lang="en-US"/>
              <a:t>Roles for DT/FD of who will help on enterprise design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3FEC4-AAB4-49BF-A958-3731A457D8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726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3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5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8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9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21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0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0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0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7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32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14721" y="1353312"/>
            <a:ext cx="10362880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2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704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8">
            <a:extLst>
              <a:ext uri="{FF2B5EF4-FFF2-40B4-BE49-F238E27FC236}">
                <a16:creationId xmlns:a16="http://schemas.microsoft.com/office/drawing/2014/main" id="{95104E31-9585-4D73-98EB-3BE8AFBE3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309327"/>
              </p:ext>
            </p:extLst>
          </p:nvPr>
        </p:nvGraphicFramePr>
        <p:xfrm>
          <a:off x="343480" y="754144"/>
          <a:ext cx="11710671" cy="57466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70541">
                  <a:extLst>
                    <a:ext uri="{9D8B030D-6E8A-4147-A177-3AD203B41FA5}">
                      <a16:colId xmlns:a16="http://schemas.microsoft.com/office/drawing/2014/main" val="2909219541"/>
                    </a:ext>
                  </a:extLst>
                </a:gridCol>
                <a:gridCol w="1773355">
                  <a:extLst>
                    <a:ext uri="{9D8B030D-6E8A-4147-A177-3AD203B41FA5}">
                      <a16:colId xmlns:a16="http://schemas.microsoft.com/office/drawing/2014/main" val="1965159160"/>
                    </a:ext>
                  </a:extLst>
                </a:gridCol>
                <a:gridCol w="1773355">
                  <a:extLst>
                    <a:ext uri="{9D8B030D-6E8A-4147-A177-3AD203B41FA5}">
                      <a16:colId xmlns:a16="http://schemas.microsoft.com/office/drawing/2014/main" val="2020839740"/>
                    </a:ext>
                  </a:extLst>
                </a:gridCol>
                <a:gridCol w="1773355">
                  <a:extLst>
                    <a:ext uri="{9D8B030D-6E8A-4147-A177-3AD203B41FA5}">
                      <a16:colId xmlns:a16="http://schemas.microsoft.com/office/drawing/2014/main" val="2939452777"/>
                    </a:ext>
                  </a:extLst>
                </a:gridCol>
                <a:gridCol w="1773355">
                  <a:extLst>
                    <a:ext uri="{9D8B030D-6E8A-4147-A177-3AD203B41FA5}">
                      <a16:colId xmlns:a16="http://schemas.microsoft.com/office/drawing/2014/main" val="1215842623"/>
                    </a:ext>
                  </a:extLst>
                </a:gridCol>
                <a:gridCol w="1773355">
                  <a:extLst>
                    <a:ext uri="{9D8B030D-6E8A-4147-A177-3AD203B41FA5}">
                      <a16:colId xmlns:a16="http://schemas.microsoft.com/office/drawing/2014/main" val="2324270328"/>
                    </a:ext>
                  </a:extLst>
                </a:gridCol>
                <a:gridCol w="1773355">
                  <a:extLst>
                    <a:ext uri="{9D8B030D-6E8A-4147-A177-3AD203B41FA5}">
                      <a16:colId xmlns:a16="http://schemas.microsoft.com/office/drawing/2014/main" val="636021675"/>
                    </a:ext>
                  </a:extLst>
                </a:gridCol>
              </a:tblGrid>
              <a:tr h="293175">
                <a:tc>
                  <a:txBody>
                    <a:bodyPr/>
                    <a:lstStyle/>
                    <a:p>
                      <a:r>
                        <a:rPr lang="en-US" sz="1200"/>
                        <a:t>Workstream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03/27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04/03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04/10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04/17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04/24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05/01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92916"/>
                  </a:ext>
                </a:extLst>
              </a:tr>
              <a:tr h="1090704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</a:rPr>
                        <a:t>Dollar Tree</a:t>
                      </a:r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>
                          <a:highlight>
                            <a:srgbClr val="00FF00"/>
                          </a:highlight>
                        </a:rPr>
                        <a:t>Discovery workshops  Kickoff</a:t>
                      </a:r>
                    </a:p>
                    <a:p>
                      <a:pPr marL="0" indent="0" algn="l">
                        <a:buSzPct val="100000"/>
                        <a:buFont typeface="Courier New" panose="02070309020205020404" pitchFamily="49" charset="0"/>
                        <a:buNone/>
                      </a:pPr>
                      <a:endParaRPr lang="en-US" sz="1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Integration patterns  Approvals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LZ build support network &amp; IAM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LZ build approval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Process and Integration Scope approved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272365"/>
                  </a:ext>
                </a:extLst>
              </a:tr>
              <a:tr h="1090704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</a:rPr>
                        <a:t>Oracle </a:t>
                      </a:r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r>
                        <a:rPr lang="en-US" sz="1000" b="1">
                          <a:highlight>
                            <a:srgbClr val="00FF00"/>
                          </a:highlight>
                        </a:rPr>
                        <a:t>Knowledge Session Kickoffs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Foundation workshops complete for Drop 1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Foundation Design Start</a:t>
                      </a:r>
                    </a:p>
                    <a:p>
                      <a:pPr marL="285750" indent="-2857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endParaRPr lang="en-US" sz="1000" b="1" kern="1200">
                        <a:solidFill>
                          <a:schemeClr val="dk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Oracle Provide Development Environment for MFCS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Process and Integration Scope completed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Functional specs – Drop 1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Oracle to share the configured MFCS environment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867902"/>
                  </a:ext>
                </a:extLst>
              </a:tr>
              <a:tr h="1090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</a:rPr>
                        <a:t>Integration Portfolio Governance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</a:rPr>
                        <a:t>(IPG)</a:t>
                      </a:r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r>
                        <a:rPr lang="en-US" sz="1000" b="1">
                          <a:highlight>
                            <a:srgbClr val="00FF00"/>
                          </a:highlight>
                        </a:rPr>
                        <a:t>ESL Operating Model team Engaged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</a:rPr>
                        <a:t>Proposed Integration Patterns Identified for MVP</a:t>
                      </a:r>
                    </a:p>
                    <a:p>
                      <a:pPr marL="285750" indent="-2857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Integration Sessions Scheduled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MVP impacted Application integration strategy  - DRAFT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Integration Strategy Approval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402483"/>
                  </a:ext>
                </a:extLst>
              </a:tr>
              <a:tr h="1090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</a:rPr>
                        <a:t>Arch Tools and Security (ATS)</a:t>
                      </a:r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endParaRPr lang="en-US" sz="1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Decision on DevOps Tooling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LZ Build START (Provisional)</a:t>
                      </a:r>
                    </a:p>
                    <a:p>
                      <a:pPr marL="171450" indent="-1714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Dev Ops Tools built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LZ Design submitted for Approval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Env. Config/Dev Env. Released for application config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config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Ops Config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Env. released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50222"/>
                  </a:ext>
                </a:extLst>
              </a:tr>
              <a:tr h="1090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</a:rPr>
                        <a:t>Integration Pod &amp; QA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</a:rPr>
                        <a:t>(IPODs)</a:t>
                      </a:r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089" marR="89089" marT="44544" marB="445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endParaRPr lang="en-US" sz="10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Initial RICE list confirmation (Drop 1)</a:t>
                      </a:r>
                    </a:p>
                    <a:p>
                      <a:pPr marL="285750" indent="-285750" algn="l">
                        <a:buSzPct val="100000"/>
                        <a:buFont typeface="Courier New" panose="02070309020205020404" pitchFamily="49" charset="0"/>
                        <a:buChar char="o"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Techspec template draft and review 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Code Review Checklist Complete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lang="en-US" sz="1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Oracle functional spec review begin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mapping sessions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038736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8B8492D-6EA4-4753-BB97-FBDA4A14E750}"/>
              </a:ext>
            </a:extLst>
          </p:cNvPr>
          <p:cNvSpPr txBox="1">
            <a:spLocks/>
          </p:cNvSpPr>
          <p:nvPr/>
        </p:nvSpPr>
        <p:spPr>
          <a:xfrm>
            <a:off x="196506" y="152368"/>
            <a:ext cx="10070899" cy="4334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/>
              <a:t>5 Week Milestones/Dependencies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50F7B0-E50A-45B2-BE44-1CEC32361E94}"/>
              </a:ext>
            </a:extLst>
          </p:cNvPr>
          <p:cNvSpPr txBox="1"/>
          <p:nvPr/>
        </p:nvSpPr>
        <p:spPr>
          <a:xfrm>
            <a:off x="196506" y="405149"/>
            <a:ext cx="118576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Key dependencies across workstreams to ensure environments are prepared and integration development can start in week 6: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58CE86-1797-42AA-832B-4C8FDE1879A7}"/>
              </a:ext>
            </a:extLst>
          </p:cNvPr>
          <p:cNvGrpSpPr/>
          <p:nvPr/>
        </p:nvGrpSpPr>
        <p:grpSpPr>
          <a:xfrm>
            <a:off x="10420862" y="6623906"/>
            <a:ext cx="1511816" cy="215240"/>
            <a:chOff x="9127790" y="6596036"/>
            <a:chExt cx="1750402" cy="255711"/>
          </a:xfrm>
        </p:grpSpPr>
        <p:pic>
          <p:nvPicPr>
            <p:cNvPr id="5" name="Picture 5" descr="Dollar Tree logo in transparent PNG and vectorized SVG formats">
              <a:extLst>
                <a:ext uri="{FF2B5EF4-FFF2-40B4-BE49-F238E27FC236}">
                  <a16:creationId xmlns:a16="http://schemas.microsoft.com/office/drawing/2014/main" id="{3B64E89A-3E85-42F6-B1A5-BAEDAAA1C8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862" y="6596036"/>
              <a:ext cx="259150" cy="255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Oracle Logo, symbol, meaning, history, PNG">
              <a:extLst>
                <a:ext uri="{FF2B5EF4-FFF2-40B4-BE49-F238E27FC236}">
                  <a16:creationId xmlns:a16="http://schemas.microsoft.com/office/drawing/2014/main" id="{1B7FCFD9-7E3B-4180-801C-9B4C4A85A4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82" t="490" r="15139" b="20331"/>
            <a:stretch/>
          </p:blipFill>
          <p:spPr bwMode="auto">
            <a:xfrm>
              <a:off x="10590659" y="6629108"/>
              <a:ext cx="287533" cy="189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eloitte – Logos Download">
              <a:extLst>
                <a:ext uri="{FF2B5EF4-FFF2-40B4-BE49-F238E27FC236}">
                  <a16:creationId xmlns:a16="http://schemas.microsoft.com/office/drawing/2014/main" id="{774E08FE-8143-4017-A0B9-5901C71951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7790" y="6658683"/>
              <a:ext cx="700424" cy="130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AE4FDC-B68A-45B2-86F9-6F2C59360F39}"/>
              </a:ext>
            </a:extLst>
          </p:cNvPr>
          <p:cNvGrpSpPr/>
          <p:nvPr/>
        </p:nvGrpSpPr>
        <p:grpSpPr>
          <a:xfrm>
            <a:off x="9181705" y="64387"/>
            <a:ext cx="2799761" cy="640080"/>
            <a:chOff x="8804635" y="68900"/>
            <a:chExt cx="2799761" cy="64008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DDF121-5A1F-47B8-A4AD-05DDC679BE7A}"/>
                </a:ext>
              </a:extLst>
            </p:cNvPr>
            <p:cNvSpPr txBox="1"/>
            <p:nvPr/>
          </p:nvSpPr>
          <p:spPr>
            <a:xfrm>
              <a:off x="8804635" y="68900"/>
              <a:ext cx="2799761" cy="6400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/>
                <a:t>Key</a:t>
              </a:r>
            </a:p>
            <a:p>
              <a:endParaRPr lang="en-US" b="1"/>
            </a:p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CB2D68-4C44-4FC5-8F0D-CD09AC73526C}"/>
                </a:ext>
              </a:extLst>
            </p:cNvPr>
            <p:cNvSpPr/>
            <p:nvPr/>
          </p:nvSpPr>
          <p:spPr>
            <a:xfrm>
              <a:off x="8903948" y="361671"/>
              <a:ext cx="763943" cy="264295"/>
            </a:xfrm>
            <a:prstGeom prst="rect">
              <a:avLst/>
            </a:prstGeom>
            <a:solidFill>
              <a:srgbClr val="0CD6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solidFill>
                    <a:schemeClr val="tx1"/>
                  </a:solidFill>
                </a:rPr>
                <a:t>Complete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05BDCD-C56C-48B2-B834-D8C73E3C2182}"/>
                </a:ext>
              </a:extLst>
            </p:cNvPr>
            <p:cNvSpPr/>
            <p:nvPr/>
          </p:nvSpPr>
          <p:spPr>
            <a:xfrm>
              <a:off x="9782074" y="361671"/>
              <a:ext cx="763943" cy="264295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solidFill>
                    <a:schemeClr val="tx1"/>
                  </a:solidFill>
                </a:rPr>
                <a:t>At Risk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31A9EB-EFF4-488A-A7FD-771002DD49F5}"/>
                </a:ext>
              </a:extLst>
            </p:cNvPr>
            <p:cNvSpPr/>
            <p:nvPr/>
          </p:nvSpPr>
          <p:spPr>
            <a:xfrm>
              <a:off x="10660200" y="361671"/>
              <a:ext cx="763943" cy="264295"/>
            </a:xfrm>
            <a:prstGeom prst="rect">
              <a:avLst/>
            </a:prstGeom>
            <a:solidFill>
              <a:srgbClr val="CC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solidFill>
                    <a:schemeClr val="tx1"/>
                  </a:solidFill>
                </a:rPr>
                <a:t>Delayed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5721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281D647E-AB06-4503-91E1-9D2E663A4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373284"/>
              </p:ext>
            </p:extLst>
          </p:nvPr>
        </p:nvGraphicFramePr>
        <p:xfrm>
          <a:off x="355043" y="5055475"/>
          <a:ext cx="3551879" cy="10656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37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Path to 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791323"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b="0" i="0" u="none" strike="noStrike" kern="1200" noProof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700D2D8-F279-4BD0-AE75-A35824C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167026"/>
              </p:ext>
            </p:extLst>
          </p:nvPr>
        </p:nvGraphicFramePr>
        <p:xfrm>
          <a:off x="353676" y="6119690"/>
          <a:ext cx="3553246" cy="6396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24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314399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E4F9061D-66F6-46F5-A528-2CAD67D6D0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E4F9061D-66F6-46F5-A528-2CAD67D6D0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71A01C71-E6B9-4439-A77C-C8D429F5E0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  <a:sym typeface="Arial Black" panose="020B0A040201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77763" y="1335973"/>
            <a:ext cx="5867677" cy="279218"/>
            <a:chOff x="-1977497" y="6479196"/>
            <a:chExt cx="5867677" cy="27921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98A3D2-2955-47A3-A45F-954E71C3A29B}"/>
                </a:ext>
              </a:extLst>
            </p:cNvPr>
            <p:cNvSpPr/>
            <p:nvPr/>
          </p:nvSpPr>
          <p:spPr>
            <a:xfrm>
              <a:off x="2622702" y="6529323"/>
              <a:ext cx="517585" cy="1552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36A68D8-F079-49D7-B3EE-3ED56FC5754C}"/>
                </a:ext>
              </a:extLst>
            </p:cNvPr>
            <p:cNvSpPr/>
            <p:nvPr/>
          </p:nvSpPr>
          <p:spPr>
            <a:xfrm>
              <a:off x="-672926" y="6533734"/>
              <a:ext cx="517585" cy="15527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402094A-7919-4D9B-8D13-EFC68E877178}"/>
                </a:ext>
              </a:extLst>
            </p:cNvPr>
            <p:cNvSpPr/>
            <p:nvPr/>
          </p:nvSpPr>
          <p:spPr>
            <a:xfrm>
              <a:off x="-1901217" y="6537025"/>
              <a:ext cx="517585" cy="15527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EF15C40-2AB1-4FD2-91AB-74F497DDCBD9}"/>
                </a:ext>
              </a:extLst>
            </p:cNvPr>
            <p:cNvSpPr/>
            <p:nvPr/>
          </p:nvSpPr>
          <p:spPr>
            <a:xfrm>
              <a:off x="762747" y="6537025"/>
              <a:ext cx="517585" cy="1552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0B7D58-6D5D-42E5-930B-7972EE66EF4B}"/>
                </a:ext>
              </a:extLst>
            </p:cNvPr>
            <p:cNvSpPr txBox="1"/>
            <p:nvPr/>
          </p:nvSpPr>
          <p:spPr>
            <a:xfrm>
              <a:off x="3235114" y="6529323"/>
              <a:ext cx="655066" cy="1542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Completed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7B0633D-8BD0-4BA8-B93C-F8A7F2588FBF}"/>
                </a:ext>
              </a:extLst>
            </p:cNvPr>
            <p:cNvSpPr txBox="1"/>
            <p:nvPr/>
          </p:nvSpPr>
          <p:spPr>
            <a:xfrm>
              <a:off x="-1323456" y="6522648"/>
              <a:ext cx="555825" cy="16965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On-track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3C59F7-6B3A-4EF8-BD04-E23EF4982980}"/>
                </a:ext>
              </a:extLst>
            </p:cNvPr>
            <p:cNvSpPr txBox="1"/>
            <p:nvPr/>
          </p:nvSpPr>
          <p:spPr>
            <a:xfrm>
              <a:off x="-66324" y="6528815"/>
              <a:ext cx="732664" cy="15474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Risk or delay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8C42740-DEF9-4138-9AC9-F6A6A5B73E3A}"/>
                </a:ext>
              </a:extLst>
            </p:cNvPr>
            <p:cNvSpPr txBox="1"/>
            <p:nvPr/>
          </p:nvSpPr>
          <p:spPr>
            <a:xfrm>
              <a:off x="1340508" y="6527100"/>
              <a:ext cx="1222018" cy="8345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Critical issue or delay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6C01C49-4DF8-404E-A676-F50C124A6CB7}"/>
                </a:ext>
              </a:extLst>
            </p:cNvPr>
            <p:cNvSpPr/>
            <p:nvPr/>
          </p:nvSpPr>
          <p:spPr>
            <a:xfrm>
              <a:off x="-1977497" y="6479196"/>
              <a:ext cx="5867677" cy="279218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44" name="Title 30">
            <a:extLst>
              <a:ext uri="{FF2B5EF4-FFF2-40B4-BE49-F238E27FC236}">
                <a16:creationId xmlns:a16="http://schemas.microsoft.com/office/drawing/2014/main" id="{236596C2-8276-4E0D-8650-48667463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05" y="160431"/>
            <a:ext cx="11491383" cy="648404"/>
          </a:xfrm>
        </p:spPr>
        <p:txBody>
          <a:bodyPr vert="horz">
            <a:normAutofit/>
          </a:bodyPr>
          <a:lstStyle/>
          <a:p>
            <a:r>
              <a:rPr lang="en-US" sz="2000">
                <a:latin typeface="Arial Black"/>
              </a:rPr>
              <a:t>PROJECT WEEKLY STATUS: ATS</a:t>
            </a:r>
            <a:br>
              <a:rPr lang="en-US" sz="2000" b="1" cap="all">
                <a:highlight>
                  <a:srgbClr val="FFFF00"/>
                </a:highlight>
                <a:latin typeface="Calibri"/>
              </a:rPr>
            </a:br>
            <a:r>
              <a:rPr lang="en-US" sz="2000" b="1" cap="all">
                <a:latin typeface="Arial Black"/>
              </a:rPr>
              <a:t>MARCH 31</a:t>
            </a:r>
            <a:r>
              <a:rPr lang="en-US" sz="2000">
                <a:latin typeface="Arial Black"/>
              </a:rPr>
              <a:t>, 2023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30764F-3742-49CF-A60A-6961F7F54D67}"/>
              </a:ext>
            </a:extLst>
          </p:cNvPr>
          <p:cNvSpPr txBox="1"/>
          <p:nvPr/>
        </p:nvSpPr>
        <p:spPr>
          <a:xfrm>
            <a:off x="2880361" y="445736"/>
            <a:ext cx="9158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EXECUTIVE SPONSOR: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Bobby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Aflatooni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Larry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Gatta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Rick McNeely 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PROGRAM LEADER: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Abhay Shetty / Bryan Byrd  </a:t>
            </a:r>
            <a:r>
              <a:rPr kumimoji="0" lang="en-US" sz="1200" b="1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/>
                <a:cs typeface="Calibri"/>
              </a:rPr>
              <a:t>PM/lead: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Rajesh Thukral </a:t>
            </a: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82" y="6462"/>
            <a:ext cx="1980004" cy="313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7" name="Table 2">
            <a:extLst>
              <a:ext uri="{FF2B5EF4-FFF2-40B4-BE49-F238E27FC236}">
                <a16:creationId xmlns:a16="http://schemas.microsoft.com/office/drawing/2014/main" id="{2852C303-53E8-434F-AAB5-EB07D4B0D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283552"/>
              </p:ext>
            </p:extLst>
          </p:nvPr>
        </p:nvGraphicFramePr>
        <p:xfrm>
          <a:off x="355043" y="3330557"/>
          <a:ext cx="3553246" cy="1483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3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3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 panose="020F0502020204030204" pitchFamily="34" charset="0"/>
                        </a:rPr>
                        <a:t>DELIVERABLES &amp; KEY MILESTONES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 panose="020F0502020204030204" pitchFamily="34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Foundation Workshops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4/7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286481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OCI admin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4/10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01692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DevOps Tools 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226709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Development compartment ready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5/8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038857"/>
                  </a:ext>
                </a:extLst>
              </a:tr>
            </a:tbl>
          </a:graphicData>
        </a:graphic>
      </p:graphicFrame>
      <p:sp>
        <p:nvSpPr>
          <p:cNvPr id="70" name="Freeform 25">
            <a:extLst>
              <a:ext uri="{FF2B5EF4-FFF2-40B4-BE49-F238E27FC236}">
                <a16:creationId xmlns:a16="http://schemas.microsoft.com/office/drawing/2014/main" id="{C5D33FCC-FDF7-4224-9E4B-38B41F1E9470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158378"/>
            <a:ext cx="274050" cy="252680"/>
          </a:xfrm>
          <a:custGeom>
            <a:avLst/>
            <a:gdLst>
              <a:gd name="T0" fmla="*/ 259 w 288"/>
              <a:gd name="T1" fmla="*/ 0 h 288"/>
              <a:gd name="T2" fmla="*/ 29 w 288"/>
              <a:gd name="T3" fmla="*/ 0 h 288"/>
              <a:gd name="T4" fmla="*/ 0 w 288"/>
              <a:gd name="T5" fmla="*/ 29 h 288"/>
              <a:gd name="T6" fmla="*/ 0 w 288"/>
              <a:gd name="T7" fmla="*/ 260 h 288"/>
              <a:gd name="T8" fmla="*/ 29 w 288"/>
              <a:gd name="T9" fmla="*/ 288 h 288"/>
              <a:gd name="T10" fmla="*/ 48 w 288"/>
              <a:gd name="T11" fmla="*/ 288 h 288"/>
              <a:gd name="T12" fmla="*/ 48 w 288"/>
              <a:gd name="T13" fmla="*/ 224 h 288"/>
              <a:gd name="T14" fmla="*/ 108 w 288"/>
              <a:gd name="T15" fmla="*/ 164 h 288"/>
              <a:gd name="T16" fmla="*/ 183 w 288"/>
              <a:gd name="T17" fmla="*/ 164 h 288"/>
              <a:gd name="T18" fmla="*/ 244 w 288"/>
              <a:gd name="T19" fmla="*/ 224 h 288"/>
              <a:gd name="T20" fmla="*/ 244 w 288"/>
              <a:gd name="T21" fmla="*/ 288 h 288"/>
              <a:gd name="T22" fmla="*/ 259 w 288"/>
              <a:gd name="T23" fmla="*/ 288 h 288"/>
              <a:gd name="T24" fmla="*/ 288 w 288"/>
              <a:gd name="T25" fmla="*/ 260 h 288"/>
              <a:gd name="T26" fmla="*/ 288 w 288"/>
              <a:gd name="T27" fmla="*/ 29 h 288"/>
              <a:gd name="T28" fmla="*/ 259 w 288"/>
              <a:gd name="T29" fmla="*/ 0 h 288"/>
              <a:gd name="T30" fmla="*/ 144 w 288"/>
              <a:gd name="T31" fmla="*/ 135 h 288"/>
              <a:gd name="T32" fmla="*/ 93 w 288"/>
              <a:gd name="T33" fmla="*/ 84 h 288"/>
              <a:gd name="T34" fmla="*/ 144 w 288"/>
              <a:gd name="T35" fmla="*/ 33 h 288"/>
              <a:gd name="T36" fmla="*/ 195 w 288"/>
              <a:gd name="T37" fmla="*/ 84 h 288"/>
              <a:gd name="T38" fmla="*/ 144 w 288"/>
              <a:gd name="T39" fmla="*/ 135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8" h="288">
                <a:moveTo>
                  <a:pt x="259" y="0"/>
                </a:moveTo>
                <a:cubicBezTo>
                  <a:pt x="29" y="0"/>
                  <a:pt x="29" y="0"/>
                  <a:pt x="29" y="0"/>
                </a:cubicBezTo>
                <a:cubicBezTo>
                  <a:pt x="13" y="0"/>
                  <a:pt x="0" y="13"/>
                  <a:pt x="0" y="29"/>
                </a:cubicBezTo>
                <a:cubicBezTo>
                  <a:pt x="0" y="260"/>
                  <a:pt x="0" y="260"/>
                  <a:pt x="0" y="260"/>
                </a:cubicBezTo>
                <a:cubicBezTo>
                  <a:pt x="0" y="275"/>
                  <a:pt x="13" y="288"/>
                  <a:pt x="29" y="288"/>
                </a:cubicBezTo>
                <a:cubicBezTo>
                  <a:pt x="48" y="288"/>
                  <a:pt x="48" y="288"/>
                  <a:pt x="48" y="288"/>
                </a:cubicBezTo>
                <a:cubicBezTo>
                  <a:pt x="48" y="224"/>
                  <a:pt x="48" y="224"/>
                  <a:pt x="48" y="224"/>
                </a:cubicBezTo>
                <a:cubicBezTo>
                  <a:pt x="48" y="191"/>
                  <a:pt x="75" y="164"/>
                  <a:pt x="108" y="164"/>
                </a:cubicBezTo>
                <a:cubicBezTo>
                  <a:pt x="183" y="164"/>
                  <a:pt x="183" y="164"/>
                  <a:pt x="183" y="164"/>
                </a:cubicBezTo>
                <a:cubicBezTo>
                  <a:pt x="216" y="164"/>
                  <a:pt x="244" y="191"/>
                  <a:pt x="244" y="224"/>
                </a:cubicBezTo>
                <a:cubicBezTo>
                  <a:pt x="244" y="288"/>
                  <a:pt x="244" y="288"/>
                  <a:pt x="244" y="288"/>
                </a:cubicBezTo>
                <a:cubicBezTo>
                  <a:pt x="259" y="288"/>
                  <a:pt x="259" y="288"/>
                  <a:pt x="259" y="288"/>
                </a:cubicBezTo>
                <a:cubicBezTo>
                  <a:pt x="275" y="288"/>
                  <a:pt x="288" y="275"/>
                  <a:pt x="288" y="260"/>
                </a:cubicBezTo>
                <a:cubicBezTo>
                  <a:pt x="288" y="29"/>
                  <a:pt x="288" y="29"/>
                  <a:pt x="288" y="29"/>
                </a:cubicBezTo>
                <a:cubicBezTo>
                  <a:pt x="288" y="13"/>
                  <a:pt x="275" y="0"/>
                  <a:pt x="259" y="0"/>
                </a:cubicBezTo>
                <a:close/>
                <a:moveTo>
                  <a:pt x="144" y="135"/>
                </a:moveTo>
                <a:cubicBezTo>
                  <a:pt x="116" y="135"/>
                  <a:pt x="93" y="112"/>
                  <a:pt x="93" y="84"/>
                </a:cubicBezTo>
                <a:cubicBezTo>
                  <a:pt x="93" y="56"/>
                  <a:pt x="116" y="33"/>
                  <a:pt x="144" y="33"/>
                </a:cubicBezTo>
                <a:cubicBezTo>
                  <a:pt x="172" y="33"/>
                  <a:pt x="195" y="56"/>
                  <a:pt x="195" y="84"/>
                </a:cubicBezTo>
                <a:cubicBezTo>
                  <a:pt x="195" y="112"/>
                  <a:pt x="172" y="135"/>
                  <a:pt x="144" y="135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1" name="Freeform 19">
            <a:extLst>
              <a:ext uri="{FF2B5EF4-FFF2-40B4-BE49-F238E27FC236}">
                <a16:creationId xmlns:a16="http://schemas.microsoft.com/office/drawing/2014/main" id="{64948846-B5AF-48EF-A542-0EB74288CF7B}"/>
              </a:ext>
            </a:extLst>
          </p:cNvPr>
          <p:cNvSpPr>
            <a:spLocks noEditPoints="1"/>
          </p:cNvSpPr>
          <p:nvPr/>
        </p:nvSpPr>
        <p:spPr bwMode="auto">
          <a:xfrm>
            <a:off x="460612" y="6478608"/>
            <a:ext cx="273648" cy="259045"/>
          </a:xfrm>
          <a:custGeom>
            <a:avLst/>
            <a:gdLst>
              <a:gd name="T0" fmla="*/ 288 w 288"/>
              <a:gd name="T1" fmla="*/ 144 h 288"/>
              <a:gd name="T2" fmla="*/ 234 w 288"/>
              <a:gd name="T3" fmla="*/ 31 h 288"/>
              <a:gd name="T4" fmla="*/ 234 w 288"/>
              <a:gd name="T5" fmla="*/ 31 h 288"/>
              <a:gd name="T6" fmla="*/ 233 w 288"/>
              <a:gd name="T7" fmla="*/ 31 h 288"/>
              <a:gd name="T8" fmla="*/ 144 w 288"/>
              <a:gd name="T9" fmla="*/ 0 h 288"/>
              <a:gd name="T10" fmla="*/ 0 w 288"/>
              <a:gd name="T11" fmla="*/ 144 h 288"/>
              <a:gd name="T12" fmla="*/ 144 w 288"/>
              <a:gd name="T13" fmla="*/ 288 h 288"/>
              <a:gd name="T14" fmla="*/ 287 w 288"/>
              <a:gd name="T15" fmla="*/ 156 h 288"/>
              <a:gd name="T16" fmla="*/ 287 w 288"/>
              <a:gd name="T17" fmla="*/ 156 h 288"/>
              <a:gd name="T18" fmla="*/ 287 w 288"/>
              <a:gd name="T19" fmla="*/ 156 h 288"/>
              <a:gd name="T20" fmla="*/ 288 w 288"/>
              <a:gd name="T21" fmla="*/ 144 h 288"/>
              <a:gd name="T22" fmla="*/ 247 w 288"/>
              <a:gd name="T23" fmla="*/ 79 h 288"/>
              <a:gd name="T24" fmla="*/ 251 w 288"/>
              <a:gd name="T25" fmla="*/ 87 h 288"/>
              <a:gd name="T26" fmla="*/ 220 w 288"/>
              <a:gd name="T27" fmla="*/ 105 h 288"/>
              <a:gd name="T28" fmla="*/ 215 w 288"/>
              <a:gd name="T29" fmla="*/ 97 h 288"/>
              <a:gd name="T30" fmla="*/ 247 w 288"/>
              <a:gd name="T31" fmla="*/ 79 h 288"/>
              <a:gd name="T32" fmla="*/ 201 w 288"/>
              <a:gd name="T33" fmla="*/ 36 h 288"/>
              <a:gd name="T34" fmla="*/ 208 w 288"/>
              <a:gd name="T35" fmla="*/ 41 h 288"/>
              <a:gd name="T36" fmla="*/ 190 w 288"/>
              <a:gd name="T37" fmla="*/ 73 h 288"/>
              <a:gd name="T38" fmla="*/ 182 w 288"/>
              <a:gd name="T39" fmla="*/ 68 h 288"/>
              <a:gd name="T40" fmla="*/ 201 w 288"/>
              <a:gd name="T41" fmla="*/ 36 h 288"/>
              <a:gd name="T42" fmla="*/ 208 w 288"/>
              <a:gd name="T43" fmla="*/ 246 h 288"/>
              <a:gd name="T44" fmla="*/ 191 w 288"/>
              <a:gd name="T45" fmla="*/ 215 h 288"/>
              <a:gd name="T46" fmla="*/ 183 w 288"/>
              <a:gd name="T47" fmla="*/ 220 h 288"/>
              <a:gd name="T48" fmla="*/ 201 w 288"/>
              <a:gd name="T49" fmla="*/ 250 h 288"/>
              <a:gd name="T50" fmla="*/ 149 w 288"/>
              <a:gd name="T51" fmla="*/ 264 h 288"/>
              <a:gd name="T52" fmla="*/ 149 w 288"/>
              <a:gd name="T53" fmla="*/ 229 h 288"/>
              <a:gd name="T54" fmla="*/ 140 w 288"/>
              <a:gd name="T55" fmla="*/ 229 h 288"/>
              <a:gd name="T56" fmla="*/ 140 w 288"/>
              <a:gd name="T57" fmla="*/ 265 h 288"/>
              <a:gd name="T58" fmla="*/ 88 w 288"/>
              <a:gd name="T59" fmla="*/ 251 h 288"/>
              <a:gd name="T60" fmla="*/ 106 w 288"/>
              <a:gd name="T61" fmla="*/ 220 h 288"/>
              <a:gd name="T62" fmla="*/ 98 w 288"/>
              <a:gd name="T63" fmla="*/ 216 h 288"/>
              <a:gd name="T64" fmla="*/ 80 w 288"/>
              <a:gd name="T65" fmla="*/ 247 h 288"/>
              <a:gd name="T66" fmla="*/ 42 w 288"/>
              <a:gd name="T67" fmla="*/ 209 h 288"/>
              <a:gd name="T68" fmla="*/ 73 w 288"/>
              <a:gd name="T69" fmla="*/ 191 h 288"/>
              <a:gd name="T70" fmla="*/ 68 w 288"/>
              <a:gd name="T71" fmla="*/ 183 h 288"/>
              <a:gd name="T72" fmla="*/ 37 w 288"/>
              <a:gd name="T73" fmla="*/ 201 h 288"/>
              <a:gd name="T74" fmla="*/ 23 w 288"/>
              <a:gd name="T75" fmla="*/ 149 h 288"/>
              <a:gd name="T76" fmla="*/ 59 w 288"/>
              <a:gd name="T77" fmla="*/ 149 h 288"/>
              <a:gd name="T78" fmla="*/ 59 w 288"/>
              <a:gd name="T79" fmla="*/ 140 h 288"/>
              <a:gd name="T80" fmla="*/ 23 w 288"/>
              <a:gd name="T81" fmla="*/ 140 h 288"/>
              <a:gd name="T82" fmla="*/ 36 w 288"/>
              <a:gd name="T83" fmla="*/ 88 h 288"/>
              <a:gd name="T84" fmla="*/ 68 w 288"/>
              <a:gd name="T85" fmla="*/ 106 h 288"/>
              <a:gd name="T86" fmla="*/ 72 w 288"/>
              <a:gd name="T87" fmla="*/ 98 h 288"/>
              <a:gd name="T88" fmla="*/ 41 w 288"/>
              <a:gd name="T89" fmla="*/ 80 h 288"/>
              <a:gd name="T90" fmla="*/ 36 w 288"/>
              <a:gd name="T91" fmla="*/ 88 h 288"/>
              <a:gd name="T92" fmla="*/ 79 w 288"/>
              <a:gd name="T93" fmla="*/ 41 h 288"/>
              <a:gd name="T94" fmla="*/ 97 w 288"/>
              <a:gd name="T95" fmla="*/ 72 h 288"/>
              <a:gd name="T96" fmla="*/ 105 w 288"/>
              <a:gd name="T97" fmla="*/ 68 h 288"/>
              <a:gd name="T98" fmla="*/ 87 w 288"/>
              <a:gd name="T99" fmla="*/ 36 h 288"/>
              <a:gd name="T100" fmla="*/ 144 w 288"/>
              <a:gd name="T101" fmla="*/ 22 h 288"/>
              <a:gd name="T102" fmla="*/ 144 w 288"/>
              <a:gd name="T103" fmla="*/ 147 h 288"/>
              <a:gd name="T104" fmla="*/ 241 w 288"/>
              <a:gd name="T105" fmla="*/ 216 h 288"/>
              <a:gd name="T106" fmla="*/ 208 w 288"/>
              <a:gd name="T107" fmla="*/ 246 h 288"/>
              <a:gd name="T108" fmla="*/ 266 w 288"/>
              <a:gd name="T109" fmla="*/ 148 h 288"/>
              <a:gd name="T110" fmla="*/ 229 w 288"/>
              <a:gd name="T111" fmla="*/ 148 h 288"/>
              <a:gd name="T112" fmla="*/ 229 w 288"/>
              <a:gd name="T113" fmla="*/ 139 h 288"/>
              <a:gd name="T114" fmla="*/ 266 w 288"/>
              <a:gd name="T115" fmla="*/ 139 h 288"/>
              <a:gd name="T116" fmla="*/ 266 w 288"/>
              <a:gd name="T117" fmla="*/ 14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88" h="288">
                <a:moveTo>
                  <a:pt x="288" y="144"/>
                </a:moveTo>
                <a:cubicBezTo>
                  <a:pt x="288" y="98"/>
                  <a:pt x="266" y="58"/>
                  <a:pt x="234" y="31"/>
                </a:cubicBezTo>
                <a:cubicBezTo>
                  <a:pt x="234" y="31"/>
                  <a:pt x="234" y="31"/>
                  <a:pt x="234" y="31"/>
                </a:cubicBezTo>
                <a:cubicBezTo>
                  <a:pt x="233" y="31"/>
                  <a:pt x="233" y="31"/>
                  <a:pt x="233" y="31"/>
                </a:cubicBezTo>
                <a:cubicBezTo>
                  <a:pt x="209" y="11"/>
                  <a:pt x="178" y="0"/>
                  <a:pt x="144" y="0"/>
                </a:cubicBez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19" y="288"/>
                  <a:pt x="281" y="230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2"/>
                  <a:pt x="288" y="148"/>
                  <a:pt x="288" y="144"/>
                </a:cubicBezTo>
                <a:close/>
                <a:moveTo>
                  <a:pt x="247" y="79"/>
                </a:moveTo>
                <a:cubicBezTo>
                  <a:pt x="251" y="87"/>
                  <a:pt x="251" y="87"/>
                  <a:pt x="251" y="87"/>
                </a:cubicBezTo>
                <a:cubicBezTo>
                  <a:pt x="220" y="105"/>
                  <a:pt x="220" y="105"/>
                  <a:pt x="220" y="105"/>
                </a:cubicBezTo>
                <a:cubicBezTo>
                  <a:pt x="215" y="97"/>
                  <a:pt x="215" y="97"/>
                  <a:pt x="215" y="97"/>
                </a:cubicBezTo>
                <a:lnTo>
                  <a:pt x="247" y="79"/>
                </a:lnTo>
                <a:close/>
                <a:moveTo>
                  <a:pt x="201" y="36"/>
                </a:moveTo>
                <a:cubicBezTo>
                  <a:pt x="208" y="41"/>
                  <a:pt x="208" y="41"/>
                  <a:pt x="208" y="41"/>
                </a:cubicBezTo>
                <a:cubicBezTo>
                  <a:pt x="190" y="73"/>
                  <a:pt x="190" y="73"/>
                  <a:pt x="190" y="73"/>
                </a:cubicBezTo>
                <a:cubicBezTo>
                  <a:pt x="182" y="68"/>
                  <a:pt x="182" y="68"/>
                  <a:pt x="182" y="68"/>
                </a:cubicBezTo>
                <a:lnTo>
                  <a:pt x="201" y="36"/>
                </a:lnTo>
                <a:close/>
                <a:moveTo>
                  <a:pt x="208" y="246"/>
                </a:moveTo>
                <a:cubicBezTo>
                  <a:pt x="191" y="215"/>
                  <a:pt x="191" y="215"/>
                  <a:pt x="191" y="215"/>
                </a:cubicBezTo>
                <a:cubicBezTo>
                  <a:pt x="183" y="220"/>
                  <a:pt x="183" y="220"/>
                  <a:pt x="183" y="220"/>
                </a:cubicBezTo>
                <a:cubicBezTo>
                  <a:pt x="201" y="250"/>
                  <a:pt x="201" y="250"/>
                  <a:pt x="201" y="250"/>
                </a:cubicBezTo>
                <a:cubicBezTo>
                  <a:pt x="185" y="259"/>
                  <a:pt x="168" y="264"/>
                  <a:pt x="149" y="264"/>
                </a:cubicBezTo>
                <a:cubicBezTo>
                  <a:pt x="149" y="229"/>
                  <a:pt x="149" y="229"/>
                  <a:pt x="149" y="229"/>
                </a:cubicBezTo>
                <a:cubicBezTo>
                  <a:pt x="140" y="229"/>
                  <a:pt x="140" y="229"/>
                  <a:pt x="140" y="229"/>
                </a:cubicBezTo>
                <a:cubicBezTo>
                  <a:pt x="140" y="265"/>
                  <a:pt x="140" y="265"/>
                  <a:pt x="140" y="265"/>
                </a:cubicBezTo>
                <a:cubicBezTo>
                  <a:pt x="121" y="264"/>
                  <a:pt x="104" y="259"/>
                  <a:pt x="88" y="251"/>
                </a:cubicBezTo>
                <a:cubicBezTo>
                  <a:pt x="106" y="220"/>
                  <a:pt x="106" y="220"/>
                  <a:pt x="106" y="220"/>
                </a:cubicBezTo>
                <a:cubicBezTo>
                  <a:pt x="98" y="216"/>
                  <a:pt x="98" y="216"/>
                  <a:pt x="98" y="216"/>
                </a:cubicBezTo>
                <a:cubicBezTo>
                  <a:pt x="80" y="247"/>
                  <a:pt x="80" y="247"/>
                  <a:pt x="80" y="247"/>
                </a:cubicBezTo>
                <a:cubicBezTo>
                  <a:pt x="65" y="237"/>
                  <a:pt x="52" y="224"/>
                  <a:pt x="42" y="209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68" y="183"/>
                  <a:pt x="68" y="183"/>
                  <a:pt x="68" y="183"/>
                </a:cubicBezTo>
                <a:cubicBezTo>
                  <a:pt x="37" y="201"/>
                  <a:pt x="37" y="201"/>
                  <a:pt x="37" y="201"/>
                </a:cubicBezTo>
                <a:cubicBezTo>
                  <a:pt x="29" y="186"/>
                  <a:pt x="23" y="168"/>
                  <a:pt x="23" y="149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59" y="140"/>
                  <a:pt x="59" y="140"/>
                  <a:pt x="59" y="140"/>
                </a:cubicBezTo>
                <a:cubicBezTo>
                  <a:pt x="23" y="140"/>
                  <a:pt x="23" y="140"/>
                  <a:pt x="23" y="140"/>
                </a:cubicBezTo>
                <a:cubicBezTo>
                  <a:pt x="23" y="121"/>
                  <a:pt x="28" y="104"/>
                  <a:pt x="36" y="88"/>
                </a:cubicBezTo>
                <a:cubicBezTo>
                  <a:pt x="68" y="106"/>
                  <a:pt x="68" y="106"/>
                  <a:pt x="68" y="106"/>
                </a:cubicBezTo>
                <a:cubicBezTo>
                  <a:pt x="72" y="98"/>
                  <a:pt x="72" y="98"/>
                  <a:pt x="72" y="98"/>
                </a:cubicBezTo>
                <a:cubicBezTo>
                  <a:pt x="41" y="80"/>
                  <a:pt x="41" y="80"/>
                  <a:pt x="41" y="80"/>
                </a:cubicBezTo>
                <a:cubicBezTo>
                  <a:pt x="36" y="88"/>
                  <a:pt x="36" y="88"/>
                  <a:pt x="36" y="88"/>
                </a:cubicBezTo>
                <a:cubicBezTo>
                  <a:pt x="46" y="69"/>
                  <a:pt x="61" y="52"/>
                  <a:pt x="79" y="41"/>
                </a:cubicBezTo>
                <a:cubicBezTo>
                  <a:pt x="97" y="72"/>
                  <a:pt x="97" y="72"/>
                  <a:pt x="97" y="72"/>
                </a:cubicBezTo>
                <a:cubicBezTo>
                  <a:pt x="105" y="68"/>
                  <a:pt x="105" y="68"/>
                  <a:pt x="105" y="68"/>
                </a:cubicBezTo>
                <a:cubicBezTo>
                  <a:pt x="87" y="36"/>
                  <a:pt x="87" y="36"/>
                  <a:pt x="87" y="36"/>
                </a:cubicBezTo>
                <a:cubicBezTo>
                  <a:pt x="104" y="28"/>
                  <a:pt x="123" y="22"/>
                  <a:pt x="144" y="22"/>
                </a:cubicBezTo>
                <a:cubicBezTo>
                  <a:pt x="144" y="147"/>
                  <a:pt x="144" y="147"/>
                  <a:pt x="144" y="147"/>
                </a:cubicBezTo>
                <a:cubicBezTo>
                  <a:pt x="241" y="216"/>
                  <a:pt x="241" y="216"/>
                  <a:pt x="241" y="216"/>
                </a:cubicBezTo>
                <a:cubicBezTo>
                  <a:pt x="232" y="228"/>
                  <a:pt x="221" y="238"/>
                  <a:pt x="208" y="246"/>
                </a:cubicBezTo>
                <a:close/>
                <a:moveTo>
                  <a:pt x="266" y="148"/>
                </a:moveTo>
                <a:cubicBezTo>
                  <a:pt x="229" y="148"/>
                  <a:pt x="229" y="148"/>
                  <a:pt x="229" y="148"/>
                </a:cubicBezTo>
                <a:cubicBezTo>
                  <a:pt x="229" y="139"/>
                  <a:pt x="229" y="139"/>
                  <a:pt x="229" y="139"/>
                </a:cubicBezTo>
                <a:cubicBezTo>
                  <a:pt x="266" y="139"/>
                  <a:pt x="266" y="139"/>
                  <a:pt x="266" y="139"/>
                </a:cubicBezTo>
                <a:lnTo>
                  <a:pt x="266" y="1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2" name="Freeform 18">
            <a:extLst>
              <a:ext uri="{FF2B5EF4-FFF2-40B4-BE49-F238E27FC236}">
                <a16:creationId xmlns:a16="http://schemas.microsoft.com/office/drawing/2014/main" id="{A85B0944-CED0-4864-92D3-39B40785AA9C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471105"/>
            <a:ext cx="274050" cy="274050"/>
          </a:xfrm>
          <a:custGeom>
            <a:avLst/>
            <a:gdLst>
              <a:gd name="T0" fmla="*/ 144 w 288"/>
              <a:gd name="T1" fmla="*/ 0 h 288"/>
              <a:gd name="T2" fmla="*/ 0 w 288"/>
              <a:gd name="T3" fmla="*/ 144 h 288"/>
              <a:gd name="T4" fmla="*/ 144 w 288"/>
              <a:gd name="T5" fmla="*/ 288 h 288"/>
              <a:gd name="T6" fmla="*/ 288 w 288"/>
              <a:gd name="T7" fmla="*/ 144 h 288"/>
              <a:gd name="T8" fmla="*/ 144 w 288"/>
              <a:gd name="T9" fmla="*/ 0 h 288"/>
              <a:gd name="T10" fmla="*/ 196 w 288"/>
              <a:gd name="T11" fmla="*/ 211 h 288"/>
              <a:gd name="T12" fmla="*/ 162 w 288"/>
              <a:gd name="T13" fmla="*/ 227 h 288"/>
              <a:gd name="T14" fmla="*/ 162 w 288"/>
              <a:gd name="T15" fmla="*/ 245 h 288"/>
              <a:gd name="T16" fmla="*/ 131 w 288"/>
              <a:gd name="T17" fmla="*/ 245 h 288"/>
              <a:gd name="T18" fmla="*/ 131 w 288"/>
              <a:gd name="T19" fmla="*/ 228 h 288"/>
              <a:gd name="T20" fmla="*/ 84 w 288"/>
              <a:gd name="T21" fmla="*/ 211 h 288"/>
              <a:gd name="T22" fmla="*/ 84 w 288"/>
              <a:gd name="T23" fmla="*/ 173 h 288"/>
              <a:gd name="T24" fmla="*/ 111 w 288"/>
              <a:gd name="T25" fmla="*/ 191 h 288"/>
              <a:gd name="T26" fmla="*/ 143 w 288"/>
              <a:gd name="T27" fmla="*/ 198 h 288"/>
              <a:gd name="T28" fmla="*/ 164 w 288"/>
              <a:gd name="T29" fmla="*/ 194 h 288"/>
              <a:gd name="T30" fmla="*/ 176 w 288"/>
              <a:gd name="T31" fmla="*/ 177 h 288"/>
              <a:gd name="T32" fmla="*/ 152 w 288"/>
              <a:gd name="T33" fmla="*/ 155 h 288"/>
              <a:gd name="T34" fmla="*/ 107 w 288"/>
              <a:gd name="T35" fmla="*/ 139 h 288"/>
              <a:gd name="T36" fmla="*/ 83 w 288"/>
              <a:gd name="T37" fmla="*/ 103 h 288"/>
              <a:gd name="T38" fmla="*/ 98 w 288"/>
              <a:gd name="T39" fmla="*/ 70 h 288"/>
              <a:gd name="T40" fmla="*/ 131 w 288"/>
              <a:gd name="T41" fmla="*/ 55 h 288"/>
              <a:gd name="T42" fmla="*/ 131 w 288"/>
              <a:gd name="T43" fmla="*/ 37 h 288"/>
              <a:gd name="T44" fmla="*/ 162 w 288"/>
              <a:gd name="T45" fmla="*/ 37 h 288"/>
              <a:gd name="T46" fmla="*/ 162 w 288"/>
              <a:gd name="T47" fmla="*/ 56 h 288"/>
              <a:gd name="T48" fmla="*/ 202 w 288"/>
              <a:gd name="T49" fmla="*/ 70 h 288"/>
              <a:gd name="T50" fmla="*/ 202 w 288"/>
              <a:gd name="T51" fmla="*/ 106 h 288"/>
              <a:gd name="T52" fmla="*/ 175 w 288"/>
              <a:gd name="T53" fmla="*/ 90 h 288"/>
              <a:gd name="T54" fmla="*/ 144 w 288"/>
              <a:gd name="T55" fmla="*/ 83 h 288"/>
              <a:gd name="T56" fmla="*/ 127 w 288"/>
              <a:gd name="T57" fmla="*/ 88 h 288"/>
              <a:gd name="T58" fmla="*/ 117 w 288"/>
              <a:gd name="T59" fmla="*/ 101 h 288"/>
              <a:gd name="T60" fmla="*/ 141 w 288"/>
              <a:gd name="T61" fmla="*/ 121 h 288"/>
              <a:gd name="T62" fmla="*/ 186 w 288"/>
              <a:gd name="T63" fmla="*/ 137 h 288"/>
              <a:gd name="T64" fmla="*/ 210 w 288"/>
              <a:gd name="T65" fmla="*/ 175 h 288"/>
              <a:gd name="T66" fmla="*/ 196 w 288"/>
              <a:gd name="T67" fmla="*/ 211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8" h="288">
                <a:moveTo>
                  <a:pt x="144" y="0"/>
                </a:move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23" y="288"/>
                  <a:pt x="288" y="223"/>
                  <a:pt x="288" y="144"/>
                </a:cubicBezTo>
                <a:cubicBezTo>
                  <a:pt x="288" y="64"/>
                  <a:pt x="223" y="0"/>
                  <a:pt x="144" y="0"/>
                </a:cubicBezTo>
                <a:close/>
                <a:moveTo>
                  <a:pt x="196" y="211"/>
                </a:moveTo>
                <a:cubicBezTo>
                  <a:pt x="188" y="219"/>
                  <a:pt x="176" y="224"/>
                  <a:pt x="162" y="227"/>
                </a:cubicBezTo>
                <a:cubicBezTo>
                  <a:pt x="162" y="245"/>
                  <a:pt x="162" y="245"/>
                  <a:pt x="162" y="245"/>
                </a:cubicBezTo>
                <a:cubicBezTo>
                  <a:pt x="131" y="245"/>
                  <a:pt x="131" y="245"/>
                  <a:pt x="131" y="245"/>
                </a:cubicBezTo>
                <a:cubicBezTo>
                  <a:pt x="131" y="228"/>
                  <a:pt x="131" y="228"/>
                  <a:pt x="131" y="228"/>
                </a:cubicBezTo>
                <a:cubicBezTo>
                  <a:pt x="116" y="227"/>
                  <a:pt x="101" y="221"/>
                  <a:pt x="84" y="211"/>
                </a:cubicBezTo>
                <a:cubicBezTo>
                  <a:pt x="84" y="173"/>
                  <a:pt x="84" y="173"/>
                  <a:pt x="84" y="173"/>
                </a:cubicBezTo>
                <a:cubicBezTo>
                  <a:pt x="95" y="181"/>
                  <a:pt x="104" y="187"/>
                  <a:pt x="111" y="191"/>
                </a:cubicBezTo>
                <a:cubicBezTo>
                  <a:pt x="121" y="196"/>
                  <a:pt x="132" y="198"/>
                  <a:pt x="143" y="198"/>
                </a:cubicBezTo>
                <a:cubicBezTo>
                  <a:pt x="152" y="198"/>
                  <a:pt x="159" y="197"/>
                  <a:pt x="164" y="194"/>
                </a:cubicBezTo>
                <a:cubicBezTo>
                  <a:pt x="172" y="190"/>
                  <a:pt x="176" y="184"/>
                  <a:pt x="176" y="177"/>
                </a:cubicBezTo>
                <a:cubicBezTo>
                  <a:pt x="176" y="168"/>
                  <a:pt x="168" y="161"/>
                  <a:pt x="152" y="155"/>
                </a:cubicBezTo>
                <a:cubicBezTo>
                  <a:pt x="123" y="145"/>
                  <a:pt x="109" y="140"/>
                  <a:pt x="107" y="139"/>
                </a:cubicBezTo>
                <a:cubicBezTo>
                  <a:pt x="91" y="131"/>
                  <a:pt x="83" y="119"/>
                  <a:pt x="83" y="103"/>
                </a:cubicBezTo>
                <a:cubicBezTo>
                  <a:pt x="83" y="89"/>
                  <a:pt x="88" y="78"/>
                  <a:pt x="98" y="70"/>
                </a:cubicBezTo>
                <a:cubicBezTo>
                  <a:pt x="107" y="62"/>
                  <a:pt x="118" y="57"/>
                  <a:pt x="131" y="55"/>
                </a:cubicBezTo>
                <a:cubicBezTo>
                  <a:pt x="131" y="37"/>
                  <a:pt x="131" y="37"/>
                  <a:pt x="131" y="37"/>
                </a:cubicBezTo>
                <a:cubicBezTo>
                  <a:pt x="162" y="37"/>
                  <a:pt x="162" y="37"/>
                  <a:pt x="162" y="37"/>
                </a:cubicBezTo>
                <a:cubicBezTo>
                  <a:pt x="162" y="56"/>
                  <a:pt x="162" y="56"/>
                  <a:pt x="162" y="56"/>
                </a:cubicBezTo>
                <a:cubicBezTo>
                  <a:pt x="176" y="58"/>
                  <a:pt x="189" y="62"/>
                  <a:pt x="202" y="70"/>
                </a:cubicBezTo>
                <a:cubicBezTo>
                  <a:pt x="202" y="106"/>
                  <a:pt x="202" y="106"/>
                  <a:pt x="202" y="106"/>
                </a:cubicBezTo>
                <a:cubicBezTo>
                  <a:pt x="190" y="98"/>
                  <a:pt x="181" y="92"/>
                  <a:pt x="175" y="90"/>
                </a:cubicBezTo>
                <a:cubicBezTo>
                  <a:pt x="165" y="85"/>
                  <a:pt x="155" y="83"/>
                  <a:pt x="144" y="83"/>
                </a:cubicBezTo>
                <a:cubicBezTo>
                  <a:pt x="138" y="83"/>
                  <a:pt x="132" y="85"/>
                  <a:pt x="127" y="88"/>
                </a:cubicBezTo>
                <a:cubicBezTo>
                  <a:pt x="120" y="91"/>
                  <a:pt x="117" y="95"/>
                  <a:pt x="117" y="101"/>
                </a:cubicBezTo>
                <a:cubicBezTo>
                  <a:pt x="117" y="109"/>
                  <a:pt x="125" y="116"/>
                  <a:pt x="141" y="121"/>
                </a:cubicBezTo>
                <a:cubicBezTo>
                  <a:pt x="167" y="129"/>
                  <a:pt x="182" y="135"/>
                  <a:pt x="186" y="137"/>
                </a:cubicBezTo>
                <a:cubicBezTo>
                  <a:pt x="202" y="146"/>
                  <a:pt x="210" y="159"/>
                  <a:pt x="210" y="175"/>
                </a:cubicBezTo>
                <a:cubicBezTo>
                  <a:pt x="210" y="190"/>
                  <a:pt x="205" y="202"/>
                  <a:pt x="196" y="211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73" name="Table 6">
            <a:extLst>
              <a:ext uri="{FF2B5EF4-FFF2-40B4-BE49-F238E27FC236}">
                <a16:creationId xmlns:a16="http://schemas.microsoft.com/office/drawing/2014/main" id="{901A9D8C-C4BB-436A-9323-1CFEBD9F8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639612"/>
              </p:ext>
            </p:extLst>
          </p:nvPr>
        </p:nvGraphicFramePr>
        <p:xfrm>
          <a:off x="4001197" y="4128647"/>
          <a:ext cx="7955775" cy="1666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0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PLANNED ACTIVITIES FOR NEXT FEW WEEKS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Connect with DT on DevOps POV and alignment, setup workshop if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/>
                        </a:rPr>
                        <a:t>4/7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146090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Schedule OCI PaaS and integration deep dive workshops with DT 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/>
                        </a:rPr>
                        <a:t>4/12, 4/13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768487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Resources onboarding for GG and ATP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15180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OCI Cloud Foundation and Networking workshop scheduled </a:t>
                      </a:r>
                      <a:endParaRPr lang="en-US" sz="1200" b="0" i="0" u="none" strike="noStrike" kern="1200" baseline="0" noProof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strike="noStrike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/>
                        </a:rPr>
                        <a:t>4/10, 4/11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30041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Cloud Identity and Access Management (OCI&amp;GCP) &amp; Security Control Workshops scheduled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/>
                        </a:rPr>
                        <a:t>4/17, 4/19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835293"/>
                  </a:ext>
                </a:extLst>
              </a:tr>
            </a:tbl>
          </a:graphicData>
        </a:graphic>
      </p:graphicFrame>
      <p:graphicFrame>
        <p:nvGraphicFramePr>
          <p:cNvPr id="74" name="Table 4">
            <a:extLst>
              <a:ext uri="{FF2B5EF4-FFF2-40B4-BE49-F238E27FC236}">
                <a16:creationId xmlns:a16="http://schemas.microsoft.com/office/drawing/2014/main" id="{EBF72164-D44B-4AB2-93B0-8CDC112F8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643256"/>
              </p:ext>
            </p:extLst>
          </p:nvPr>
        </p:nvGraphicFramePr>
        <p:xfrm>
          <a:off x="4001198" y="1688383"/>
          <a:ext cx="7955775" cy="2235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45">
                  <a:extLst>
                    <a:ext uri="{9D8B030D-6E8A-4147-A177-3AD203B41FA5}">
                      <a16:colId xmlns:a16="http://schemas.microsoft.com/office/drawing/2014/main" val="3395070529"/>
                    </a:ext>
                  </a:extLst>
                </a:gridCol>
                <a:gridCol w="4044588">
                  <a:extLst>
                    <a:ext uri="{9D8B030D-6E8A-4147-A177-3AD203B41FA5}">
                      <a16:colId xmlns:a16="http://schemas.microsoft.com/office/drawing/2014/main" val="3864803265"/>
                    </a:ext>
                  </a:extLst>
                </a:gridCol>
                <a:gridCol w="745724">
                  <a:extLst>
                    <a:ext uri="{9D8B030D-6E8A-4147-A177-3AD203B41FA5}">
                      <a16:colId xmlns:a16="http://schemas.microsoft.com/office/drawing/2014/main" val="3027399220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3085072682"/>
                    </a:ext>
                  </a:extLst>
                </a:gridCol>
                <a:gridCol w="1232257">
                  <a:extLst>
                    <a:ext uri="{9D8B030D-6E8A-4147-A177-3AD203B41FA5}">
                      <a16:colId xmlns:a16="http://schemas.microsoft.com/office/drawing/2014/main" val="4151964516"/>
                    </a:ext>
                  </a:extLst>
                </a:gridCol>
                <a:gridCol w="861625">
                  <a:extLst>
                    <a:ext uri="{9D8B030D-6E8A-4147-A177-3AD203B41FA5}">
                      <a16:colId xmlns:a16="http://schemas.microsoft.com/office/drawing/2014/main" val="1508659131"/>
                    </a:ext>
                  </a:extLst>
                </a:gridCol>
              </a:tblGrid>
              <a:tr h="415456">
                <a:tc gridSpan="2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KEY</a:t>
                      </a:r>
                      <a:r>
                        <a:rPr lang="en-US" sz="12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 CHALLENGES </a:t>
                      </a:r>
                      <a:endParaRPr lang="en-US" sz="1200" b="1" kern="0" baseline="0">
                        <a:solidFill>
                          <a:schemeClr val="tx1"/>
                        </a:solidFill>
                        <a:latin typeface="+mn-lt"/>
                        <a:ea typeface="ＭＳ Ｐゴシック" charset="0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(R = Risk, I = Issue, A = Action, D = Decision)</a:t>
                      </a:r>
                      <a:endParaRPr lang="en-US" sz="9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OPEN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DATE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OWNER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PLAN TO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CLOSE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HELP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NEEDED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44806"/>
                  </a:ext>
                </a:extLst>
              </a:tr>
              <a:tr h="11151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D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DevOps Tools discussion and decision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4/3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Hasan, Harish K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Review ATS DevOps POV and deicide on Tools/timelines 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OCI tenancy access needed w/admin rights to start foundation setup NLT 4/10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4/3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Harish K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Access needed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8722463"/>
                  </a:ext>
                </a:extLst>
              </a:tr>
              <a:tr h="2405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1982105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6D1D85A7-FFBE-4B56-BDE1-6B68796E4F46}"/>
              </a:ext>
            </a:extLst>
          </p:cNvPr>
          <p:cNvGrpSpPr/>
          <p:nvPr/>
        </p:nvGrpSpPr>
        <p:grpSpPr>
          <a:xfrm>
            <a:off x="453690" y="6154298"/>
            <a:ext cx="287492" cy="260840"/>
            <a:chOff x="6361113" y="2438400"/>
            <a:chExt cx="1192213" cy="1084263"/>
          </a:xfrm>
          <a:solidFill>
            <a:srgbClr val="008000"/>
          </a:solidFill>
        </p:grpSpPr>
        <p:sp>
          <p:nvSpPr>
            <p:cNvPr id="76" name="Freeform 21">
              <a:extLst>
                <a:ext uri="{FF2B5EF4-FFF2-40B4-BE49-F238E27FC236}">
                  <a16:creationId xmlns:a16="http://schemas.microsoft.com/office/drawing/2014/main" id="{07F99712-2C68-4FD8-93E9-C94BE92E6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1113" y="2706688"/>
              <a:ext cx="1192213" cy="560388"/>
            </a:xfrm>
            <a:custGeom>
              <a:avLst/>
              <a:gdLst>
                <a:gd name="T0" fmla="*/ 751 w 751"/>
                <a:gd name="T1" fmla="*/ 0 h 353"/>
                <a:gd name="T2" fmla="*/ 0 w 751"/>
                <a:gd name="T3" fmla="*/ 0 h 353"/>
                <a:gd name="T4" fmla="*/ 0 w 751"/>
                <a:gd name="T5" fmla="*/ 353 h 353"/>
                <a:gd name="T6" fmla="*/ 751 w 751"/>
                <a:gd name="T7" fmla="*/ 353 h 353"/>
                <a:gd name="T8" fmla="*/ 751 w 751"/>
                <a:gd name="T9" fmla="*/ 0 h 353"/>
                <a:gd name="T10" fmla="*/ 232 w 751"/>
                <a:gd name="T11" fmla="*/ 173 h 353"/>
                <a:gd name="T12" fmla="*/ 232 w 751"/>
                <a:gd name="T13" fmla="*/ 265 h 353"/>
                <a:gd name="T14" fmla="*/ 69 w 751"/>
                <a:gd name="T15" fmla="*/ 161 h 353"/>
                <a:gd name="T16" fmla="*/ 232 w 751"/>
                <a:gd name="T17" fmla="*/ 57 h 353"/>
                <a:gd name="T18" fmla="*/ 232 w 751"/>
                <a:gd name="T19" fmla="*/ 149 h 353"/>
                <a:gd name="T20" fmla="*/ 523 w 751"/>
                <a:gd name="T21" fmla="*/ 149 h 353"/>
                <a:gd name="T22" fmla="*/ 523 w 751"/>
                <a:gd name="T23" fmla="*/ 57 h 353"/>
                <a:gd name="T24" fmla="*/ 687 w 751"/>
                <a:gd name="T25" fmla="*/ 161 h 353"/>
                <a:gd name="T26" fmla="*/ 523 w 751"/>
                <a:gd name="T27" fmla="*/ 265 h 353"/>
                <a:gd name="T28" fmla="*/ 523 w 751"/>
                <a:gd name="T29" fmla="*/ 173 h 353"/>
                <a:gd name="T30" fmla="*/ 232 w 751"/>
                <a:gd name="T31" fmla="*/ 173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1" h="353">
                  <a:moveTo>
                    <a:pt x="751" y="0"/>
                  </a:moveTo>
                  <a:lnTo>
                    <a:pt x="0" y="0"/>
                  </a:lnTo>
                  <a:lnTo>
                    <a:pt x="0" y="353"/>
                  </a:lnTo>
                  <a:lnTo>
                    <a:pt x="751" y="353"/>
                  </a:lnTo>
                  <a:lnTo>
                    <a:pt x="751" y="0"/>
                  </a:lnTo>
                  <a:close/>
                  <a:moveTo>
                    <a:pt x="232" y="173"/>
                  </a:moveTo>
                  <a:lnTo>
                    <a:pt x="232" y="265"/>
                  </a:lnTo>
                  <a:lnTo>
                    <a:pt x="69" y="161"/>
                  </a:lnTo>
                  <a:lnTo>
                    <a:pt x="232" y="57"/>
                  </a:lnTo>
                  <a:lnTo>
                    <a:pt x="232" y="149"/>
                  </a:lnTo>
                  <a:lnTo>
                    <a:pt x="523" y="149"/>
                  </a:lnTo>
                  <a:lnTo>
                    <a:pt x="523" y="57"/>
                  </a:lnTo>
                  <a:lnTo>
                    <a:pt x="687" y="161"/>
                  </a:lnTo>
                  <a:lnTo>
                    <a:pt x="523" y="265"/>
                  </a:lnTo>
                  <a:lnTo>
                    <a:pt x="523" y="173"/>
                  </a:lnTo>
                  <a:lnTo>
                    <a:pt x="232" y="1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7" name="Freeform 22">
              <a:extLst>
                <a:ext uri="{FF2B5EF4-FFF2-40B4-BE49-F238E27FC236}">
                  <a16:creationId xmlns:a16="http://schemas.microsoft.com/office/drawing/2014/main" id="{35FD81B7-4D87-44FD-8156-5C1D8FE7C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2438400"/>
              <a:ext cx="1192213" cy="230188"/>
            </a:xfrm>
            <a:custGeom>
              <a:avLst/>
              <a:gdLst>
                <a:gd name="T0" fmla="*/ 751 w 751"/>
                <a:gd name="T1" fmla="*/ 0 h 145"/>
                <a:gd name="T2" fmla="*/ 599 w 751"/>
                <a:gd name="T3" fmla="*/ 0 h 145"/>
                <a:gd name="T4" fmla="*/ 599 w 751"/>
                <a:gd name="T5" fmla="*/ 83 h 145"/>
                <a:gd name="T6" fmla="*/ 576 w 751"/>
                <a:gd name="T7" fmla="*/ 83 h 145"/>
                <a:gd name="T8" fmla="*/ 576 w 751"/>
                <a:gd name="T9" fmla="*/ 0 h 145"/>
                <a:gd name="T10" fmla="*/ 393 w 751"/>
                <a:gd name="T11" fmla="*/ 0 h 145"/>
                <a:gd name="T12" fmla="*/ 393 w 751"/>
                <a:gd name="T13" fmla="*/ 83 h 145"/>
                <a:gd name="T14" fmla="*/ 370 w 751"/>
                <a:gd name="T15" fmla="*/ 83 h 145"/>
                <a:gd name="T16" fmla="*/ 370 w 751"/>
                <a:gd name="T17" fmla="*/ 0 h 145"/>
                <a:gd name="T18" fmla="*/ 161 w 751"/>
                <a:gd name="T19" fmla="*/ 0 h 145"/>
                <a:gd name="T20" fmla="*/ 161 w 751"/>
                <a:gd name="T21" fmla="*/ 83 h 145"/>
                <a:gd name="T22" fmla="*/ 137 w 751"/>
                <a:gd name="T23" fmla="*/ 83 h 145"/>
                <a:gd name="T24" fmla="*/ 137 w 751"/>
                <a:gd name="T25" fmla="*/ 0 h 145"/>
                <a:gd name="T26" fmla="*/ 0 w 751"/>
                <a:gd name="T27" fmla="*/ 0 h 145"/>
                <a:gd name="T28" fmla="*/ 0 w 751"/>
                <a:gd name="T29" fmla="*/ 145 h 145"/>
                <a:gd name="T30" fmla="*/ 751 w 751"/>
                <a:gd name="T31" fmla="*/ 145 h 145"/>
                <a:gd name="T32" fmla="*/ 751 w 751"/>
                <a:gd name="T33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45">
                  <a:moveTo>
                    <a:pt x="751" y="0"/>
                  </a:moveTo>
                  <a:lnTo>
                    <a:pt x="599" y="0"/>
                  </a:lnTo>
                  <a:lnTo>
                    <a:pt x="599" y="83"/>
                  </a:lnTo>
                  <a:lnTo>
                    <a:pt x="576" y="83"/>
                  </a:lnTo>
                  <a:lnTo>
                    <a:pt x="576" y="0"/>
                  </a:lnTo>
                  <a:lnTo>
                    <a:pt x="393" y="0"/>
                  </a:lnTo>
                  <a:lnTo>
                    <a:pt x="393" y="83"/>
                  </a:lnTo>
                  <a:lnTo>
                    <a:pt x="370" y="83"/>
                  </a:lnTo>
                  <a:lnTo>
                    <a:pt x="370" y="0"/>
                  </a:lnTo>
                  <a:lnTo>
                    <a:pt x="161" y="0"/>
                  </a:lnTo>
                  <a:lnTo>
                    <a:pt x="161" y="83"/>
                  </a:lnTo>
                  <a:lnTo>
                    <a:pt x="137" y="83"/>
                  </a:lnTo>
                  <a:lnTo>
                    <a:pt x="137" y="0"/>
                  </a:lnTo>
                  <a:lnTo>
                    <a:pt x="0" y="0"/>
                  </a:lnTo>
                  <a:lnTo>
                    <a:pt x="0" y="145"/>
                  </a:lnTo>
                  <a:lnTo>
                    <a:pt x="751" y="145"/>
                  </a:lnTo>
                  <a:lnTo>
                    <a:pt x="7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8" name="Freeform 23">
              <a:extLst>
                <a:ext uri="{FF2B5EF4-FFF2-40B4-BE49-F238E27FC236}">
                  <a16:creationId xmlns:a16="http://schemas.microsoft.com/office/drawing/2014/main" id="{EDCE3E85-1643-4F8A-AED7-2920DD7A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3305175"/>
              <a:ext cx="1192213" cy="217488"/>
            </a:xfrm>
            <a:custGeom>
              <a:avLst/>
              <a:gdLst>
                <a:gd name="T0" fmla="*/ 0 w 751"/>
                <a:gd name="T1" fmla="*/ 137 h 137"/>
                <a:gd name="T2" fmla="*/ 137 w 751"/>
                <a:gd name="T3" fmla="*/ 137 h 137"/>
                <a:gd name="T4" fmla="*/ 137 w 751"/>
                <a:gd name="T5" fmla="*/ 54 h 137"/>
                <a:gd name="T6" fmla="*/ 161 w 751"/>
                <a:gd name="T7" fmla="*/ 54 h 137"/>
                <a:gd name="T8" fmla="*/ 161 w 751"/>
                <a:gd name="T9" fmla="*/ 137 h 137"/>
                <a:gd name="T10" fmla="*/ 370 w 751"/>
                <a:gd name="T11" fmla="*/ 137 h 137"/>
                <a:gd name="T12" fmla="*/ 370 w 751"/>
                <a:gd name="T13" fmla="*/ 54 h 137"/>
                <a:gd name="T14" fmla="*/ 393 w 751"/>
                <a:gd name="T15" fmla="*/ 54 h 137"/>
                <a:gd name="T16" fmla="*/ 393 w 751"/>
                <a:gd name="T17" fmla="*/ 137 h 137"/>
                <a:gd name="T18" fmla="*/ 576 w 751"/>
                <a:gd name="T19" fmla="*/ 137 h 137"/>
                <a:gd name="T20" fmla="*/ 576 w 751"/>
                <a:gd name="T21" fmla="*/ 54 h 137"/>
                <a:gd name="T22" fmla="*/ 599 w 751"/>
                <a:gd name="T23" fmla="*/ 54 h 137"/>
                <a:gd name="T24" fmla="*/ 599 w 751"/>
                <a:gd name="T25" fmla="*/ 137 h 137"/>
                <a:gd name="T26" fmla="*/ 751 w 751"/>
                <a:gd name="T27" fmla="*/ 137 h 137"/>
                <a:gd name="T28" fmla="*/ 751 w 751"/>
                <a:gd name="T29" fmla="*/ 0 h 137"/>
                <a:gd name="T30" fmla="*/ 0 w 751"/>
                <a:gd name="T31" fmla="*/ 0 h 137"/>
                <a:gd name="T32" fmla="*/ 0 w 751"/>
                <a:gd name="T3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37">
                  <a:moveTo>
                    <a:pt x="0" y="137"/>
                  </a:moveTo>
                  <a:lnTo>
                    <a:pt x="137" y="137"/>
                  </a:lnTo>
                  <a:lnTo>
                    <a:pt x="137" y="54"/>
                  </a:lnTo>
                  <a:lnTo>
                    <a:pt x="161" y="54"/>
                  </a:lnTo>
                  <a:lnTo>
                    <a:pt x="161" y="137"/>
                  </a:lnTo>
                  <a:lnTo>
                    <a:pt x="370" y="137"/>
                  </a:lnTo>
                  <a:lnTo>
                    <a:pt x="370" y="54"/>
                  </a:lnTo>
                  <a:lnTo>
                    <a:pt x="393" y="54"/>
                  </a:lnTo>
                  <a:lnTo>
                    <a:pt x="393" y="137"/>
                  </a:lnTo>
                  <a:lnTo>
                    <a:pt x="576" y="137"/>
                  </a:lnTo>
                  <a:lnTo>
                    <a:pt x="576" y="54"/>
                  </a:lnTo>
                  <a:lnTo>
                    <a:pt x="599" y="54"/>
                  </a:lnTo>
                  <a:lnTo>
                    <a:pt x="599" y="137"/>
                  </a:lnTo>
                  <a:lnTo>
                    <a:pt x="751" y="137"/>
                  </a:lnTo>
                  <a:lnTo>
                    <a:pt x="751" y="0"/>
                  </a:ln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DBE5DBDB-7191-423C-A7BA-1D06B26A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660218"/>
              </p:ext>
            </p:extLst>
          </p:nvPr>
        </p:nvGraphicFramePr>
        <p:xfrm>
          <a:off x="4001197" y="5935895"/>
          <a:ext cx="7955774" cy="823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3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747">
                  <a:extLst>
                    <a:ext uri="{9D8B030D-6E8A-4147-A177-3AD203B41FA5}">
                      <a16:colId xmlns:a16="http://schemas.microsoft.com/office/drawing/2014/main" val="109970816"/>
                    </a:ext>
                  </a:extLst>
                </a:gridCol>
              </a:tblGrid>
              <a:tr h="2745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KEY ACCOMPLISHMENTS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274557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Introductions with DT team members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325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PaaS Use Cases Workshop Completed </a:t>
                      </a:r>
                      <a:endParaRPr lang="en-US" sz="1200" b="0" i="0" u="none" strike="noStrike" kern="1200" baseline="0" noProof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baseline="0" noProof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4/3</a:t>
                      </a:r>
                      <a:endParaRPr lang="en-US" sz="1200" b="0" i="0" u="none" strike="noStrike" kern="1200" baseline="0" noProof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316646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73DE2A73-F124-49CE-A59E-E8FEE3C3D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180128"/>
              </p:ext>
            </p:extLst>
          </p:nvPr>
        </p:nvGraphicFramePr>
        <p:xfrm>
          <a:off x="355043" y="1688383"/>
          <a:ext cx="3551879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8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HEADLINES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115643"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ATS Foundation Workshop completed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Additional Workshop scheduled with DT Infra and Integration teams 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Attended on-site Oracle MFCS kickoff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764E9-397A-4FEE-BE8F-0A55A10F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45439" y="6461653"/>
            <a:ext cx="22045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792D4-8FCB-4391-8F5D-038B8C6DF5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042D672-9691-4274-89C7-CD3146B77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957327"/>
              </p:ext>
            </p:extLst>
          </p:nvPr>
        </p:nvGraphicFramePr>
        <p:xfrm>
          <a:off x="342900" y="762000"/>
          <a:ext cx="11591756" cy="4267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1868">
                  <a:extLst>
                    <a:ext uri="{9D8B030D-6E8A-4147-A177-3AD203B41FA5}">
                      <a16:colId xmlns:a16="http://schemas.microsoft.com/office/drawing/2014/main" val="289832473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27536416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705719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11104500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3724495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029764863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88982471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98189912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2260647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6473915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72581358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730589314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6532444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8129591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41201056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151150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51029071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2 Q1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3 Q1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4 Q2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6 Q2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77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03/20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03/27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4/3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04/24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05/01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05/08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05/15</a:t>
                      </a:r>
                      <a:endParaRPr sz="1000" b="0" u="none" strike="noStrike" kern="1200" cap="none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05/22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5/29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06/05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06/19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06/26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07/03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21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2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281D647E-AB06-4503-91E1-9D2E663A4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935863"/>
              </p:ext>
            </p:extLst>
          </p:nvPr>
        </p:nvGraphicFramePr>
        <p:xfrm>
          <a:off x="353676" y="4711535"/>
          <a:ext cx="3551879" cy="144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Path to 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08061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700D2D8-F279-4BD0-AE75-A35824C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812483"/>
              </p:ext>
            </p:extLst>
          </p:nvPr>
        </p:nvGraphicFramePr>
        <p:xfrm>
          <a:off x="353676" y="6152759"/>
          <a:ext cx="3553246" cy="6396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24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314399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E4F9061D-66F6-46F5-A528-2CAD67D6D0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E4F9061D-66F6-46F5-A528-2CAD67D6D0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71A01C71-E6B9-4439-A77C-C8D429F5E0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  <a:sym typeface="Arial Black" panose="020B0A040201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77763" y="1335973"/>
            <a:ext cx="5867677" cy="279218"/>
            <a:chOff x="-1977497" y="6479196"/>
            <a:chExt cx="5867677" cy="27921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98A3D2-2955-47A3-A45F-954E71C3A29B}"/>
                </a:ext>
              </a:extLst>
            </p:cNvPr>
            <p:cNvSpPr/>
            <p:nvPr/>
          </p:nvSpPr>
          <p:spPr>
            <a:xfrm>
              <a:off x="2622702" y="6529323"/>
              <a:ext cx="517585" cy="1552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36A68D8-F079-49D7-B3EE-3ED56FC5754C}"/>
                </a:ext>
              </a:extLst>
            </p:cNvPr>
            <p:cNvSpPr/>
            <p:nvPr/>
          </p:nvSpPr>
          <p:spPr>
            <a:xfrm>
              <a:off x="-672926" y="6533734"/>
              <a:ext cx="517585" cy="15527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402094A-7919-4D9B-8D13-EFC68E877178}"/>
                </a:ext>
              </a:extLst>
            </p:cNvPr>
            <p:cNvSpPr/>
            <p:nvPr/>
          </p:nvSpPr>
          <p:spPr>
            <a:xfrm>
              <a:off x="-1901217" y="6537025"/>
              <a:ext cx="517585" cy="15527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EF15C40-2AB1-4FD2-91AB-74F497DDCBD9}"/>
                </a:ext>
              </a:extLst>
            </p:cNvPr>
            <p:cNvSpPr/>
            <p:nvPr/>
          </p:nvSpPr>
          <p:spPr>
            <a:xfrm>
              <a:off x="762747" y="6537025"/>
              <a:ext cx="517585" cy="1552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0B7D58-6D5D-42E5-930B-7972EE66EF4B}"/>
                </a:ext>
              </a:extLst>
            </p:cNvPr>
            <p:cNvSpPr txBox="1"/>
            <p:nvPr/>
          </p:nvSpPr>
          <p:spPr>
            <a:xfrm>
              <a:off x="3235114" y="6529323"/>
              <a:ext cx="655066" cy="1542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Completed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7B0633D-8BD0-4BA8-B93C-F8A7F2588FBF}"/>
                </a:ext>
              </a:extLst>
            </p:cNvPr>
            <p:cNvSpPr txBox="1"/>
            <p:nvPr/>
          </p:nvSpPr>
          <p:spPr>
            <a:xfrm>
              <a:off x="-1323456" y="6522648"/>
              <a:ext cx="555825" cy="16965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On-track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3C59F7-6B3A-4EF8-BD04-E23EF4982980}"/>
                </a:ext>
              </a:extLst>
            </p:cNvPr>
            <p:cNvSpPr txBox="1"/>
            <p:nvPr/>
          </p:nvSpPr>
          <p:spPr>
            <a:xfrm>
              <a:off x="-66324" y="6528815"/>
              <a:ext cx="732664" cy="15474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Risk or delay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8C42740-DEF9-4138-9AC9-F6A6A5B73E3A}"/>
                </a:ext>
              </a:extLst>
            </p:cNvPr>
            <p:cNvSpPr txBox="1"/>
            <p:nvPr/>
          </p:nvSpPr>
          <p:spPr>
            <a:xfrm>
              <a:off x="1340508" y="6527100"/>
              <a:ext cx="1222018" cy="8345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Critical issue or delay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6C01C49-4DF8-404E-A676-F50C124A6CB7}"/>
                </a:ext>
              </a:extLst>
            </p:cNvPr>
            <p:cNvSpPr/>
            <p:nvPr/>
          </p:nvSpPr>
          <p:spPr>
            <a:xfrm>
              <a:off x="-1977497" y="6479196"/>
              <a:ext cx="5867677" cy="279218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44" name="Title 30">
            <a:extLst>
              <a:ext uri="{FF2B5EF4-FFF2-40B4-BE49-F238E27FC236}">
                <a16:creationId xmlns:a16="http://schemas.microsoft.com/office/drawing/2014/main" id="{236596C2-8276-4E0D-8650-48667463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05" y="160431"/>
            <a:ext cx="11491383" cy="648404"/>
          </a:xfrm>
        </p:spPr>
        <p:txBody>
          <a:bodyPr vert="horz">
            <a:normAutofit/>
          </a:bodyPr>
          <a:lstStyle/>
          <a:p>
            <a:r>
              <a:rPr lang="en-US" sz="2000">
                <a:latin typeface="Arial Black"/>
              </a:rPr>
              <a:t>PROJECT WEEKLY STATUS: IPG</a:t>
            </a:r>
            <a:br>
              <a:rPr lang="en-US" sz="2000" b="1" cap="all">
                <a:highlight>
                  <a:srgbClr val="FFFF00"/>
                </a:highlight>
                <a:latin typeface="Calibri"/>
              </a:rPr>
            </a:br>
            <a:r>
              <a:rPr lang="en-US" sz="2000" b="1" cap="all">
                <a:latin typeface="Arial Black"/>
              </a:rPr>
              <a:t>MARCH 31</a:t>
            </a:r>
            <a:r>
              <a:rPr lang="en-US" sz="2000">
                <a:latin typeface="Arial Black"/>
              </a:rPr>
              <a:t>, 2023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30764F-3742-49CF-A60A-6961F7F54D67}"/>
              </a:ext>
            </a:extLst>
          </p:cNvPr>
          <p:cNvSpPr txBox="1"/>
          <p:nvPr/>
        </p:nvSpPr>
        <p:spPr>
          <a:xfrm>
            <a:off x="2880361" y="445736"/>
            <a:ext cx="9158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EXECUTIVE SPONSOR: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Bobby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Aflatooni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Larry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Gatta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Rick McNeely 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PROGRAM LEADER: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Abhay Shetty / Bryan Byrd  </a:t>
            </a:r>
            <a:r>
              <a:rPr kumimoji="0" lang="en-US" sz="1200" b="1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/>
                <a:cs typeface="Calibri"/>
              </a:rPr>
              <a:t>PM/lead: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Rajesh Thukral </a:t>
            </a: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82" y="6462"/>
            <a:ext cx="1980004" cy="313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7" name="Table 2">
            <a:extLst>
              <a:ext uri="{FF2B5EF4-FFF2-40B4-BE49-F238E27FC236}">
                <a16:creationId xmlns:a16="http://schemas.microsoft.com/office/drawing/2014/main" id="{2852C303-53E8-434F-AAB5-EB07D4B0D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502489"/>
              </p:ext>
            </p:extLst>
          </p:nvPr>
        </p:nvGraphicFramePr>
        <p:xfrm>
          <a:off x="353676" y="3360374"/>
          <a:ext cx="3553246" cy="1183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3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3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 panose="020F0502020204030204" pitchFamily="34" charset="0"/>
                        </a:rPr>
                        <a:t>DELIVERABLES &amp; KEY MILESTONES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 panose="020F0502020204030204" pitchFamily="34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IPG Kickoff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4/10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111224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NextGen Discovery Sessions (SC/POS)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073044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Approved Integration Strategy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4/28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946269"/>
                  </a:ext>
                </a:extLst>
              </a:tr>
            </a:tbl>
          </a:graphicData>
        </a:graphic>
      </p:graphicFrame>
      <p:sp>
        <p:nvSpPr>
          <p:cNvPr id="70" name="Freeform 25">
            <a:extLst>
              <a:ext uri="{FF2B5EF4-FFF2-40B4-BE49-F238E27FC236}">
                <a16:creationId xmlns:a16="http://schemas.microsoft.com/office/drawing/2014/main" id="{C5D33FCC-FDF7-4224-9E4B-38B41F1E9470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187757"/>
            <a:ext cx="274050" cy="252680"/>
          </a:xfrm>
          <a:custGeom>
            <a:avLst/>
            <a:gdLst>
              <a:gd name="T0" fmla="*/ 259 w 288"/>
              <a:gd name="T1" fmla="*/ 0 h 288"/>
              <a:gd name="T2" fmla="*/ 29 w 288"/>
              <a:gd name="T3" fmla="*/ 0 h 288"/>
              <a:gd name="T4" fmla="*/ 0 w 288"/>
              <a:gd name="T5" fmla="*/ 29 h 288"/>
              <a:gd name="T6" fmla="*/ 0 w 288"/>
              <a:gd name="T7" fmla="*/ 260 h 288"/>
              <a:gd name="T8" fmla="*/ 29 w 288"/>
              <a:gd name="T9" fmla="*/ 288 h 288"/>
              <a:gd name="T10" fmla="*/ 48 w 288"/>
              <a:gd name="T11" fmla="*/ 288 h 288"/>
              <a:gd name="T12" fmla="*/ 48 w 288"/>
              <a:gd name="T13" fmla="*/ 224 h 288"/>
              <a:gd name="T14" fmla="*/ 108 w 288"/>
              <a:gd name="T15" fmla="*/ 164 h 288"/>
              <a:gd name="T16" fmla="*/ 183 w 288"/>
              <a:gd name="T17" fmla="*/ 164 h 288"/>
              <a:gd name="T18" fmla="*/ 244 w 288"/>
              <a:gd name="T19" fmla="*/ 224 h 288"/>
              <a:gd name="T20" fmla="*/ 244 w 288"/>
              <a:gd name="T21" fmla="*/ 288 h 288"/>
              <a:gd name="T22" fmla="*/ 259 w 288"/>
              <a:gd name="T23" fmla="*/ 288 h 288"/>
              <a:gd name="T24" fmla="*/ 288 w 288"/>
              <a:gd name="T25" fmla="*/ 260 h 288"/>
              <a:gd name="T26" fmla="*/ 288 w 288"/>
              <a:gd name="T27" fmla="*/ 29 h 288"/>
              <a:gd name="T28" fmla="*/ 259 w 288"/>
              <a:gd name="T29" fmla="*/ 0 h 288"/>
              <a:gd name="T30" fmla="*/ 144 w 288"/>
              <a:gd name="T31" fmla="*/ 135 h 288"/>
              <a:gd name="T32" fmla="*/ 93 w 288"/>
              <a:gd name="T33" fmla="*/ 84 h 288"/>
              <a:gd name="T34" fmla="*/ 144 w 288"/>
              <a:gd name="T35" fmla="*/ 33 h 288"/>
              <a:gd name="T36" fmla="*/ 195 w 288"/>
              <a:gd name="T37" fmla="*/ 84 h 288"/>
              <a:gd name="T38" fmla="*/ 144 w 288"/>
              <a:gd name="T39" fmla="*/ 135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8" h="288">
                <a:moveTo>
                  <a:pt x="259" y="0"/>
                </a:moveTo>
                <a:cubicBezTo>
                  <a:pt x="29" y="0"/>
                  <a:pt x="29" y="0"/>
                  <a:pt x="29" y="0"/>
                </a:cubicBezTo>
                <a:cubicBezTo>
                  <a:pt x="13" y="0"/>
                  <a:pt x="0" y="13"/>
                  <a:pt x="0" y="29"/>
                </a:cubicBezTo>
                <a:cubicBezTo>
                  <a:pt x="0" y="260"/>
                  <a:pt x="0" y="260"/>
                  <a:pt x="0" y="260"/>
                </a:cubicBezTo>
                <a:cubicBezTo>
                  <a:pt x="0" y="275"/>
                  <a:pt x="13" y="288"/>
                  <a:pt x="29" y="288"/>
                </a:cubicBezTo>
                <a:cubicBezTo>
                  <a:pt x="48" y="288"/>
                  <a:pt x="48" y="288"/>
                  <a:pt x="48" y="288"/>
                </a:cubicBezTo>
                <a:cubicBezTo>
                  <a:pt x="48" y="224"/>
                  <a:pt x="48" y="224"/>
                  <a:pt x="48" y="224"/>
                </a:cubicBezTo>
                <a:cubicBezTo>
                  <a:pt x="48" y="191"/>
                  <a:pt x="75" y="164"/>
                  <a:pt x="108" y="164"/>
                </a:cubicBezTo>
                <a:cubicBezTo>
                  <a:pt x="183" y="164"/>
                  <a:pt x="183" y="164"/>
                  <a:pt x="183" y="164"/>
                </a:cubicBezTo>
                <a:cubicBezTo>
                  <a:pt x="216" y="164"/>
                  <a:pt x="244" y="191"/>
                  <a:pt x="244" y="224"/>
                </a:cubicBezTo>
                <a:cubicBezTo>
                  <a:pt x="244" y="288"/>
                  <a:pt x="244" y="288"/>
                  <a:pt x="244" y="288"/>
                </a:cubicBezTo>
                <a:cubicBezTo>
                  <a:pt x="259" y="288"/>
                  <a:pt x="259" y="288"/>
                  <a:pt x="259" y="288"/>
                </a:cubicBezTo>
                <a:cubicBezTo>
                  <a:pt x="275" y="288"/>
                  <a:pt x="288" y="275"/>
                  <a:pt x="288" y="260"/>
                </a:cubicBezTo>
                <a:cubicBezTo>
                  <a:pt x="288" y="29"/>
                  <a:pt x="288" y="29"/>
                  <a:pt x="288" y="29"/>
                </a:cubicBezTo>
                <a:cubicBezTo>
                  <a:pt x="288" y="13"/>
                  <a:pt x="275" y="0"/>
                  <a:pt x="259" y="0"/>
                </a:cubicBezTo>
                <a:close/>
                <a:moveTo>
                  <a:pt x="144" y="135"/>
                </a:moveTo>
                <a:cubicBezTo>
                  <a:pt x="116" y="135"/>
                  <a:pt x="93" y="112"/>
                  <a:pt x="93" y="84"/>
                </a:cubicBezTo>
                <a:cubicBezTo>
                  <a:pt x="93" y="56"/>
                  <a:pt x="116" y="33"/>
                  <a:pt x="144" y="33"/>
                </a:cubicBezTo>
                <a:cubicBezTo>
                  <a:pt x="172" y="33"/>
                  <a:pt x="195" y="56"/>
                  <a:pt x="195" y="84"/>
                </a:cubicBezTo>
                <a:cubicBezTo>
                  <a:pt x="195" y="112"/>
                  <a:pt x="172" y="135"/>
                  <a:pt x="144" y="135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1" name="Freeform 19">
            <a:extLst>
              <a:ext uri="{FF2B5EF4-FFF2-40B4-BE49-F238E27FC236}">
                <a16:creationId xmlns:a16="http://schemas.microsoft.com/office/drawing/2014/main" id="{64948846-B5AF-48EF-A542-0EB74288CF7B}"/>
              </a:ext>
            </a:extLst>
          </p:cNvPr>
          <p:cNvSpPr>
            <a:spLocks noEditPoints="1"/>
          </p:cNvSpPr>
          <p:nvPr/>
        </p:nvSpPr>
        <p:spPr bwMode="auto">
          <a:xfrm>
            <a:off x="460612" y="6507987"/>
            <a:ext cx="273648" cy="259045"/>
          </a:xfrm>
          <a:custGeom>
            <a:avLst/>
            <a:gdLst>
              <a:gd name="T0" fmla="*/ 288 w 288"/>
              <a:gd name="T1" fmla="*/ 144 h 288"/>
              <a:gd name="T2" fmla="*/ 234 w 288"/>
              <a:gd name="T3" fmla="*/ 31 h 288"/>
              <a:gd name="T4" fmla="*/ 234 w 288"/>
              <a:gd name="T5" fmla="*/ 31 h 288"/>
              <a:gd name="T6" fmla="*/ 233 w 288"/>
              <a:gd name="T7" fmla="*/ 31 h 288"/>
              <a:gd name="T8" fmla="*/ 144 w 288"/>
              <a:gd name="T9" fmla="*/ 0 h 288"/>
              <a:gd name="T10" fmla="*/ 0 w 288"/>
              <a:gd name="T11" fmla="*/ 144 h 288"/>
              <a:gd name="T12" fmla="*/ 144 w 288"/>
              <a:gd name="T13" fmla="*/ 288 h 288"/>
              <a:gd name="T14" fmla="*/ 287 w 288"/>
              <a:gd name="T15" fmla="*/ 156 h 288"/>
              <a:gd name="T16" fmla="*/ 287 w 288"/>
              <a:gd name="T17" fmla="*/ 156 h 288"/>
              <a:gd name="T18" fmla="*/ 287 w 288"/>
              <a:gd name="T19" fmla="*/ 156 h 288"/>
              <a:gd name="T20" fmla="*/ 288 w 288"/>
              <a:gd name="T21" fmla="*/ 144 h 288"/>
              <a:gd name="T22" fmla="*/ 247 w 288"/>
              <a:gd name="T23" fmla="*/ 79 h 288"/>
              <a:gd name="T24" fmla="*/ 251 w 288"/>
              <a:gd name="T25" fmla="*/ 87 h 288"/>
              <a:gd name="T26" fmla="*/ 220 w 288"/>
              <a:gd name="T27" fmla="*/ 105 h 288"/>
              <a:gd name="T28" fmla="*/ 215 w 288"/>
              <a:gd name="T29" fmla="*/ 97 h 288"/>
              <a:gd name="T30" fmla="*/ 247 w 288"/>
              <a:gd name="T31" fmla="*/ 79 h 288"/>
              <a:gd name="T32" fmla="*/ 201 w 288"/>
              <a:gd name="T33" fmla="*/ 36 h 288"/>
              <a:gd name="T34" fmla="*/ 208 w 288"/>
              <a:gd name="T35" fmla="*/ 41 h 288"/>
              <a:gd name="T36" fmla="*/ 190 w 288"/>
              <a:gd name="T37" fmla="*/ 73 h 288"/>
              <a:gd name="T38" fmla="*/ 182 w 288"/>
              <a:gd name="T39" fmla="*/ 68 h 288"/>
              <a:gd name="T40" fmla="*/ 201 w 288"/>
              <a:gd name="T41" fmla="*/ 36 h 288"/>
              <a:gd name="T42" fmla="*/ 208 w 288"/>
              <a:gd name="T43" fmla="*/ 246 h 288"/>
              <a:gd name="T44" fmla="*/ 191 w 288"/>
              <a:gd name="T45" fmla="*/ 215 h 288"/>
              <a:gd name="T46" fmla="*/ 183 w 288"/>
              <a:gd name="T47" fmla="*/ 220 h 288"/>
              <a:gd name="T48" fmla="*/ 201 w 288"/>
              <a:gd name="T49" fmla="*/ 250 h 288"/>
              <a:gd name="T50" fmla="*/ 149 w 288"/>
              <a:gd name="T51" fmla="*/ 264 h 288"/>
              <a:gd name="T52" fmla="*/ 149 w 288"/>
              <a:gd name="T53" fmla="*/ 229 h 288"/>
              <a:gd name="T54" fmla="*/ 140 w 288"/>
              <a:gd name="T55" fmla="*/ 229 h 288"/>
              <a:gd name="T56" fmla="*/ 140 w 288"/>
              <a:gd name="T57" fmla="*/ 265 h 288"/>
              <a:gd name="T58" fmla="*/ 88 w 288"/>
              <a:gd name="T59" fmla="*/ 251 h 288"/>
              <a:gd name="T60" fmla="*/ 106 w 288"/>
              <a:gd name="T61" fmla="*/ 220 h 288"/>
              <a:gd name="T62" fmla="*/ 98 w 288"/>
              <a:gd name="T63" fmla="*/ 216 h 288"/>
              <a:gd name="T64" fmla="*/ 80 w 288"/>
              <a:gd name="T65" fmla="*/ 247 h 288"/>
              <a:gd name="T66" fmla="*/ 42 w 288"/>
              <a:gd name="T67" fmla="*/ 209 h 288"/>
              <a:gd name="T68" fmla="*/ 73 w 288"/>
              <a:gd name="T69" fmla="*/ 191 h 288"/>
              <a:gd name="T70" fmla="*/ 68 w 288"/>
              <a:gd name="T71" fmla="*/ 183 h 288"/>
              <a:gd name="T72" fmla="*/ 37 w 288"/>
              <a:gd name="T73" fmla="*/ 201 h 288"/>
              <a:gd name="T74" fmla="*/ 23 w 288"/>
              <a:gd name="T75" fmla="*/ 149 h 288"/>
              <a:gd name="T76" fmla="*/ 59 w 288"/>
              <a:gd name="T77" fmla="*/ 149 h 288"/>
              <a:gd name="T78" fmla="*/ 59 w 288"/>
              <a:gd name="T79" fmla="*/ 140 h 288"/>
              <a:gd name="T80" fmla="*/ 23 w 288"/>
              <a:gd name="T81" fmla="*/ 140 h 288"/>
              <a:gd name="T82" fmla="*/ 36 w 288"/>
              <a:gd name="T83" fmla="*/ 88 h 288"/>
              <a:gd name="T84" fmla="*/ 68 w 288"/>
              <a:gd name="T85" fmla="*/ 106 h 288"/>
              <a:gd name="T86" fmla="*/ 72 w 288"/>
              <a:gd name="T87" fmla="*/ 98 h 288"/>
              <a:gd name="T88" fmla="*/ 41 w 288"/>
              <a:gd name="T89" fmla="*/ 80 h 288"/>
              <a:gd name="T90" fmla="*/ 36 w 288"/>
              <a:gd name="T91" fmla="*/ 88 h 288"/>
              <a:gd name="T92" fmla="*/ 79 w 288"/>
              <a:gd name="T93" fmla="*/ 41 h 288"/>
              <a:gd name="T94" fmla="*/ 97 w 288"/>
              <a:gd name="T95" fmla="*/ 72 h 288"/>
              <a:gd name="T96" fmla="*/ 105 w 288"/>
              <a:gd name="T97" fmla="*/ 68 h 288"/>
              <a:gd name="T98" fmla="*/ 87 w 288"/>
              <a:gd name="T99" fmla="*/ 36 h 288"/>
              <a:gd name="T100" fmla="*/ 144 w 288"/>
              <a:gd name="T101" fmla="*/ 22 h 288"/>
              <a:gd name="T102" fmla="*/ 144 w 288"/>
              <a:gd name="T103" fmla="*/ 147 h 288"/>
              <a:gd name="T104" fmla="*/ 241 w 288"/>
              <a:gd name="T105" fmla="*/ 216 h 288"/>
              <a:gd name="T106" fmla="*/ 208 w 288"/>
              <a:gd name="T107" fmla="*/ 246 h 288"/>
              <a:gd name="T108" fmla="*/ 266 w 288"/>
              <a:gd name="T109" fmla="*/ 148 h 288"/>
              <a:gd name="T110" fmla="*/ 229 w 288"/>
              <a:gd name="T111" fmla="*/ 148 h 288"/>
              <a:gd name="T112" fmla="*/ 229 w 288"/>
              <a:gd name="T113" fmla="*/ 139 h 288"/>
              <a:gd name="T114" fmla="*/ 266 w 288"/>
              <a:gd name="T115" fmla="*/ 139 h 288"/>
              <a:gd name="T116" fmla="*/ 266 w 288"/>
              <a:gd name="T117" fmla="*/ 14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88" h="288">
                <a:moveTo>
                  <a:pt x="288" y="144"/>
                </a:moveTo>
                <a:cubicBezTo>
                  <a:pt x="288" y="98"/>
                  <a:pt x="266" y="58"/>
                  <a:pt x="234" y="31"/>
                </a:cubicBezTo>
                <a:cubicBezTo>
                  <a:pt x="234" y="31"/>
                  <a:pt x="234" y="31"/>
                  <a:pt x="234" y="31"/>
                </a:cubicBezTo>
                <a:cubicBezTo>
                  <a:pt x="233" y="31"/>
                  <a:pt x="233" y="31"/>
                  <a:pt x="233" y="31"/>
                </a:cubicBezTo>
                <a:cubicBezTo>
                  <a:pt x="209" y="11"/>
                  <a:pt x="178" y="0"/>
                  <a:pt x="144" y="0"/>
                </a:cubicBez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19" y="288"/>
                  <a:pt x="281" y="230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2"/>
                  <a:pt x="288" y="148"/>
                  <a:pt x="288" y="144"/>
                </a:cubicBezTo>
                <a:close/>
                <a:moveTo>
                  <a:pt x="247" y="79"/>
                </a:moveTo>
                <a:cubicBezTo>
                  <a:pt x="251" y="87"/>
                  <a:pt x="251" y="87"/>
                  <a:pt x="251" y="87"/>
                </a:cubicBezTo>
                <a:cubicBezTo>
                  <a:pt x="220" y="105"/>
                  <a:pt x="220" y="105"/>
                  <a:pt x="220" y="105"/>
                </a:cubicBezTo>
                <a:cubicBezTo>
                  <a:pt x="215" y="97"/>
                  <a:pt x="215" y="97"/>
                  <a:pt x="215" y="97"/>
                </a:cubicBezTo>
                <a:lnTo>
                  <a:pt x="247" y="79"/>
                </a:lnTo>
                <a:close/>
                <a:moveTo>
                  <a:pt x="201" y="36"/>
                </a:moveTo>
                <a:cubicBezTo>
                  <a:pt x="208" y="41"/>
                  <a:pt x="208" y="41"/>
                  <a:pt x="208" y="41"/>
                </a:cubicBezTo>
                <a:cubicBezTo>
                  <a:pt x="190" y="73"/>
                  <a:pt x="190" y="73"/>
                  <a:pt x="190" y="73"/>
                </a:cubicBezTo>
                <a:cubicBezTo>
                  <a:pt x="182" y="68"/>
                  <a:pt x="182" y="68"/>
                  <a:pt x="182" y="68"/>
                </a:cubicBezTo>
                <a:lnTo>
                  <a:pt x="201" y="36"/>
                </a:lnTo>
                <a:close/>
                <a:moveTo>
                  <a:pt x="208" y="246"/>
                </a:moveTo>
                <a:cubicBezTo>
                  <a:pt x="191" y="215"/>
                  <a:pt x="191" y="215"/>
                  <a:pt x="191" y="215"/>
                </a:cubicBezTo>
                <a:cubicBezTo>
                  <a:pt x="183" y="220"/>
                  <a:pt x="183" y="220"/>
                  <a:pt x="183" y="220"/>
                </a:cubicBezTo>
                <a:cubicBezTo>
                  <a:pt x="201" y="250"/>
                  <a:pt x="201" y="250"/>
                  <a:pt x="201" y="250"/>
                </a:cubicBezTo>
                <a:cubicBezTo>
                  <a:pt x="185" y="259"/>
                  <a:pt x="168" y="264"/>
                  <a:pt x="149" y="264"/>
                </a:cubicBezTo>
                <a:cubicBezTo>
                  <a:pt x="149" y="229"/>
                  <a:pt x="149" y="229"/>
                  <a:pt x="149" y="229"/>
                </a:cubicBezTo>
                <a:cubicBezTo>
                  <a:pt x="140" y="229"/>
                  <a:pt x="140" y="229"/>
                  <a:pt x="140" y="229"/>
                </a:cubicBezTo>
                <a:cubicBezTo>
                  <a:pt x="140" y="265"/>
                  <a:pt x="140" y="265"/>
                  <a:pt x="140" y="265"/>
                </a:cubicBezTo>
                <a:cubicBezTo>
                  <a:pt x="121" y="264"/>
                  <a:pt x="104" y="259"/>
                  <a:pt x="88" y="251"/>
                </a:cubicBezTo>
                <a:cubicBezTo>
                  <a:pt x="106" y="220"/>
                  <a:pt x="106" y="220"/>
                  <a:pt x="106" y="220"/>
                </a:cubicBezTo>
                <a:cubicBezTo>
                  <a:pt x="98" y="216"/>
                  <a:pt x="98" y="216"/>
                  <a:pt x="98" y="216"/>
                </a:cubicBezTo>
                <a:cubicBezTo>
                  <a:pt x="80" y="247"/>
                  <a:pt x="80" y="247"/>
                  <a:pt x="80" y="247"/>
                </a:cubicBezTo>
                <a:cubicBezTo>
                  <a:pt x="65" y="237"/>
                  <a:pt x="52" y="224"/>
                  <a:pt x="42" y="209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68" y="183"/>
                  <a:pt x="68" y="183"/>
                  <a:pt x="68" y="183"/>
                </a:cubicBezTo>
                <a:cubicBezTo>
                  <a:pt x="37" y="201"/>
                  <a:pt x="37" y="201"/>
                  <a:pt x="37" y="201"/>
                </a:cubicBezTo>
                <a:cubicBezTo>
                  <a:pt x="29" y="186"/>
                  <a:pt x="23" y="168"/>
                  <a:pt x="23" y="149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59" y="140"/>
                  <a:pt x="59" y="140"/>
                  <a:pt x="59" y="140"/>
                </a:cubicBezTo>
                <a:cubicBezTo>
                  <a:pt x="23" y="140"/>
                  <a:pt x="23" y="140"/>
                  <a:pt x="23" y="140"/>
                </a:cubicBezTo>
                <a:cubicBezTo>
                  <a:pt x="23" y="121"/>
                  <a:pt x="28" y="104"/>
                  <a:pt x="36" y="88"/>
                </a:cubicBezTo>
                <a:cubicBezTo>
                  <a:pt x="68" y="106"/>
                  <a:pt x="68" y="106"/>
                  <a:pt x="68" y="106"/>
                </a:cubicBezTo>
                <a:cubicBezTo>
                  <a:pt x="72" y="98"/>
                  <a:pt x="72" y="98"/>
                  <a:pt x="72" y="98"/>
                </a:cubicBezTo>
                <a:cubicBezTo>
                  <a:pt x="41" y="80"/>
                  <a:pt x="41" y="80"/>
                  <a:pt x="41" y="80"/>
                </a:cubicBezTo>
                <a:cubicBezTo>
                  <a:pt x="36" y="88"/>
                  <a:pt x="36" y="88"/>
                  <a:pt x="36" y="88"/>
                </a:cubicBezTo>
                <a:cubicBezTo>
                  <a:pt x="46" y="69"/>
                  <a:pt x="61" y="52"/>
                  <a:pt x="79" y="41"/>
                </a:cubicBezTo>
                <a:cubicBezTo>
                  <a:pt x="97" y="72"/>
                  <a:pt x="97" y="72"/>
                  <a:pt x="97" y="72"/>
                </a:cubicBezTo>
                <a:cubicBezTo>
                  <a:pt x="105" y="68"/>
                  <a:pt x="105" y="68"/>
                  <a:pt x="105" y="68"/>
                </a:cubicBezTo>
                <a:cubicBezTo>
                  <a:pt x="87" y="36"/>
                  <a:pt x="87" y="36"/>
                  <a:pt x="87" y="36"/>
                </a:cubicBezTo>
                <a:cubicBezTo>
                  <a:pt x="104" y="28"/>
                  <a:pt x="123" y="22"/>
                  <a:pt x="144" y="22"/>
                </a:cubicBezTo>
                <a:cubicBezTo>
                  <a:pt x="144" y="147"/>
                  <a:pt x="144" y="147"/>
                  <a:pt x="144" y="147"/>
                </a:cubicBezTo>
                <a:cubicBezTo>
                  <a:pt x="241" y="216"/>
                  <a:pt x="241" y="216"/>
                  <a:pt x="241" y="216"/>
                </a:cubicBezTo>
                <a:cubicBezTo>
                  <a:pt x="232" y="228"/>
                  <a:pt x="221" y="238"/>
                  <a:pt x="208" y="246"/>
                </a:cubicBezTo>
                <a:close/>
                <a:moveTo>
                  <a:pt x="266" y="148"/>
                </a:moveTo>
                <a:cubicBezTo>
                  <a:pt x="229" y="148"/>
                  <a:pt x="229" y="148"/>
                  <a:pt x="229" y="148"/>
                </a:cubicBezTo>
                <a:cubicBezTo>
                  <a:pt x="229" y="139"/>
                  <a:pt x="229" y="139"/>
                  <a:pt x="229" y="139"/>
                </a:cubicBezTo>
                <a:cubicBezTo>
                  <a:pt x="266" y="139"/>
                  <a:pt x="266" y="139"/>
                  <a:pt x="266" y="139"/>
                </a:cubicBezTo>
                <a:lnTo>
                  <a:pt x="266" y="1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2" name="Freeform 18">
            <a:extLst>
              <a:ext uri="{FF2B5EF4-FFF2-40B4-BE49-F238E27FC236}">
                <a16:creationId xmlns:a16="http://schemas.microsoft.com/office/drawing/2014/main" id="{A85B0944-CED0-4864-92D3-39B40785AA9C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500484"/>
            <a:ext cx="274050" cy="274050"/>
          </a:xfrm>
          <a:custGeom>
            <a:avLst/>
            <a:gdLst>
              <a:gd name="T0" fmla="*/ 144 w 288"/>
              <a:gd name="T1" fmla="*/ 0 h 288"/>
              <a:gd name="T2" fmla="*/ 0 w 288"/>
              <a:gd name="T3" fmla="*/ 144 h 288"/>
              <a:gd name="T4" fmla="*/ 144 w 288"/>
              <a:gd name="T5" fmla="*/ 288 h 288"/>
              <a:gd name="T6" fmla="*/ 288 w 288"/>
              <a:gd name="T7" fmla="*/ 144 h 288"/>
              <a:gd name="T8" fmla="*/ 144 w 288"/>
              <a:gd name="T9" fmla="*/ 0 h 288"/>
              <a:gd name="T10" fmla="*/ 196 w 288"/>
              <a:gd name="T11" fmla="*/ 211 h 288"/>
              <a:gd name="T12" fmla="*/ 162 w 288"/>
              <a:gd name="T13" fmla="*/ 227 h 288"/>
              <a:gd name="T14" fmla="*/ 162 w 288"/>
              <a:gd name="T15" fmla="*/ 245 h 288"/>
              <a:gd name="T16" fmla="*/ 131 w 288"/>
              <a:gd name="T17" fmla="*/ 245 h 288"/>
              <a:gd name="T18" fmla="*/ 131 w 288"/>
              <a:gd name="T19" fmla="*/ 228 h 288"/>
              <a:gd name="T20" fmla="*/ 84 w 288"/>
              <a:gd name="T21" fmla="*/ 211 h 288"/>
              <a:gd name="T22" fmla="*/ 84 w 288"/>
              <a:gd name="T23" fmla="*/ 173 h 288"/>
              <a:gd name="T24" fmla="*/ 111 w 288"/>
              <a:gd name="T25" fmla="*/ 191 h 288"/>
              <a:gd name="T26" fmla="*/ 143 w 288"/>
              <a:gd name="T27" fmla="*/ 198 h 288"/>
              <a:gd name="T28" fmla="*/ 164 w 288"/>
              <a:gd name="T29" fmla="*/ 194 h 288"/>
              <a:gd name="T30" fmla="*/ 176 w 288"/>
              <a:gd name="T31" fmla="*/ 177 h 288"/>
              <a:gd name="T32" fmla="*/ 152 w 288"/>
              <a:gd name="T33" fmla="*/ 155 h 288"/>
              <a:gd name="T34" fmla="*/ 107 w 288"/>
              <a:gd name="T35" fmla="*/ 139 h 288"/>
              <a:gd name="T36" fmla="*/ 83 w 288"/>
              <a:gd name="T37" fmla="*/ 103 h 288"/>
              <a:gd name="T38" fmla="*/ 98 w 288"/>
              <a:gd name="T39" fmla="*/ 70 h 288"/>
              <a:gd name="T40" fmla="*/ 131 w 288"/>
              <a:gd name="T41" fmla="*/ 55 h 288"/>
              <a:gd name="T42" fmla="*/ 131 w 288"/>
              <a:gd name="T43" fmla="*/ 37 h 288"/>
              <a:gd name="T44" fmla="*/ 162 w 288"/>
              <a:gd name="T45" fmla="*/ 37 h 288"/>
              <a:gd name="T46" fmla="*/ 162 w 288"/>
              <a:gd name="T47" fmla="*/ 56 h 288"/>
              <a:gd name="T48" fmla="*/ 202 w 288"/>
              <a:gd name="T49" fmla="*/ 70 h 288"/>
              <a:gd name="T50" fmla="*/ 202 w 288"/>
              <a:gd name="T51" fmla="*/ 106 h 288"/>
              <a:gd name="T52" fmla="*/ 175 w 288"/>
              <a:gd name="T53" fmla="*/ 90 h 288"/>
              <a:gd name="T54" fmla="*/ 144 w 288"/>
              <a:gd name="T55" fmla="*/ 83 h 288"/>
              <a:gd name="T56" fmla="*/ 127 w 288"/>
              <a:gd name="T57" fmla="*/ 88 h 288"/>
              <a:gd name="T58" fmla="*/ 117 w 288"/>
              <a:gd name="T59" fmla="*/ 101 h 288"/>
              <a:gd name="T60" fmla="*/ 141 w 288"/>
              <a:gd name="T61" fmla="*/ 121 h 288"/>
              <a:gd name="T62" fmla="*/ 186 w 288"/>
              <a:gd name="T63" fmla="*/ 137 h 288"/>
              <a:gd name="T64" fmla="*/ 210 w 288"/>
              <a:gd name="T65" fmla="*/ 175 h 288"/>
              <a:gd name="T66" fmla="*/ 196 w 288"/>
              <a:gd name="T67" fmla="*/ 211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8" h="288">
                <a:moveTo>
                  <a:pt x="144" y="0"/>
                </a:move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23" y="288"/>
                  <a:pt x="288" y="223"/>
                  <a:pt x="288" y="144"/>
                </a:cubicBezTo>
                <a:cubicBezTo>
                  <a:pt x="288" y="64"/>
                  <a:pt x="223" y="0"/>
                  <a:pt x="144" y="0"/>
                </a:cubicBezTo>
                <a:close/>
                <a:moveTo>
                  <a:pt x="196" y="211"/>
                </a:moveTo>
                <a:cubicBezTo>
                  <a:pt x="188" y="219"/>
                  <a:pt x="176" y="224"/>
                  <a:pt x="162" y="227"/>
                </a:cubicBezTo>
                <a:cubicBezTo>
                  <a:pt x="162" y="245"/>
                  <a:pt x="162" y="245"/>
                  <a:pt x="162" y="245"/>
                </a:cubicBezTo>
                <a:cubicBezTo>
                  <a:pt x="131" y="245"/>
                  <a:pt x="131" y="245"/>
                  <a:pt x="131" y="245"/>
                </a:cubicBezTo>
                <a:cubicBezTo>
                  <a:pt x="131" y="228"/>
                  <a:pt x="131" y="228"/>
                  <a:pt x="131" y="228"/>
                </a:cubicBezTo>
                <a:cubicBezTo>
                  <a:pt x="116" y="227"/>
                  <a:pt x="101" y="221"/>
                  <a:pt x="84" y="211"/>
                </a:cubicBezTo>
                <a:cubicBezTo>
                  <a:pt x="84" y="173"/>
                  <a:pt x="84" y="173"/>
                  <a:pt x="84" y="173"/>
                </a:cubicBezTo>
                <a:cubicBezTo>
                  <a:pt x="95" y="181"/>
                  <a:pt x="104" y="187"/>
                  <a:pt x="111" y="191"/>
                </a:cubicBezTo>
                <a:cubicBezTo>
                  <a:pt x="121" y="196"/>
                  <a:pt x="132" y="198"/>
                  <a:pt x="143" y="198"/>
                </a:cubicBezTo>
                <a:cubicBezTo>
                  <a:pt x="152" y="198"/>
                  <a:pt x="159" y="197"/>
                  <a:pt x="164" y="194"/>
                </a:cubicBezTo>
                <a:cubicBezTo>
                  <a:pt x="172" y="190"/>
                  <a:pt x="176" y="184"/>
                  <a:pt x="176" y="177"/>
                </a:cubicBezTo>
                <a:cubicBezTo>
                  <a:pt x="176" y="168"/>
                  <a:pt x="168" y="161"/>
                  <a:pt x="152" y="155"/>
                </a:cubicBezTo>
                <a:cubicBezTo>
                  <a:pt x="123" y="145"/>
                  <a:pt x="109" y="140"/>
                  <a:pt x="107" y="139"/>
                </a:cubicBezTo>
                <a:cubicBezTo>
                  <a:pt x="91" y="131"/>
                  <a:pt x="83" y="119"/>
                  <a:pt x="83" y="103"/>
                </a:cubicBezTo>
                <a:cubicBezTo>
                  <a:pt x="83" y="89"/>
                  <a:pt x="88" y="78"/>
                  <a:pt x="98" y="70"/>
                </a:cubicBezTo>
                <a:cubicBezTo>
                  <a:pt x="107" y="62"/>
                  <a:pt x="118" y="57"/>
                  <a:pt x="131" y="55"/>
                </a:cubicBezTo>
                <a:cubicBezTo>
                  <a:pt x="131" y="37"/>
                  <a:pt x="131" y="37"/>
                  <a:pt x="131" y="37"/>
                </a:cubicBezTo>
                <a:cubicBezTo>
                  <a:pt x="162" y="37"/>
                  <a:pt x="162" y="37"/>
                  <a:pt x="162" y="37"/>
                </a:cubicBezTo>
                <a:cubicBezTo>
                  <a:pt x="162" y="56"/>
                  <a:pt x="162" y="56"/>
                  <a:pt x="162" y="56"/>
                </a:cubicBezTo>
                <a:cubicBezTo>
                  <a:pt x="176" y="58"/>
                  <a:pt x="189" y="62"/>
                  <a:pt x="202" y="70"/>
                </a:cubicBezTo>
                <a:cubicBezTo>
                  <a:pt x="202" y="106"/>
                  <a:pt x="202" y="106"/>
                  <a:pt x="202" y="106"/>
                </a:cubicBezTo>
                <a:cubicBezTo>
                  <a:pt x="190" y="98"/>
                  <a:pt x="181" y="92"/>
                  <a:pt x="175" y="90"/>
                </a:cubicBezTo>
                <a:cubicBezTo>
                  <a:pt x="165" y="85"/>
                  <a:pt x="155" y="83"/>
                  <a:pt x="144" y="83"/>
                </a:cubicBezTo>
                <a:cubicBezTo>
                  <a:pt x="138" y="83"/>
                  <a:pt x="132" y="85"/>
                  <a:pt x="127" y="88"/>
                </a:cubicBezTo>
                <a:cubicBezTo>
                  <a:pt x="120" y="91"/>
                  <a:pt x="117" y="95"/>
                  <a:pt x="117" y="101"/>
                </a:cubicBezTo>
                <a:cubicBezTo>
                  <a:pt x="117" y="109"/>
                  <a:pt x="125" y="116"/>
                  <a:pt x="141" y="121"/>
                </a:cubicBezTo>
                <a:cubicBezTo>
                  <a:pt x="167" y="129"/>
                  <a:pt x="182" y="135"/>
                  <a:pt x="186" y="137"/>
                </a:cubicBezTo>
                <a:cubicBezTo>
                  <a:pt x="202" y="146"/>
                  <a:pt x="210" y="159"/>
                  <a:pt x="210" y="175"/>
                </a:cubicBezTo>
                <a:cubicBezTo>
                  <a:pt x="210" y="190"/>
                  <a:pt x="205" y="202"/>
                  <a:pt x="196" y="211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73" name="Table 6">
            <a:extLst>
              <a:ext uri="{FF2B5EF4-FFF2-40B4-BE49-F238E27FC236}">
                <a16:creationId xmlns:a16="http://schemas.microsoft.com/office/drawing/2014/main" id="{901A9D8C-C4BB-436A-9323-1CFEBD9F8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929198"/>
              </p:ext>
            </p:extLst>
          </p:nvPr>
        </p:nvGraphicFramePr>
        <p:xfrm>
          <a:off x="4001197" y="3360374"/>
          <a:ext cx="7955775" cy="2214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0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PLANNED ACTIVITIES FOR NEXT FEW WEEKS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Engage with EA team to understand priorities, work streams in progress and landscape for NextGen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4/7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62764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Integration Portfolio Governance kickoff with Enterprise Architecture 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73461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Prepare draft Canonical Models and Release Priority for MVP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93032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Prepare MVP impacted Application integration strategy  - DRAFT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4/21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332924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Prepare Integration Strategy document, ready be presented with DT integration team by 4/12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WIP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81497"/>
                  </a:ext>
                </a:extLst>
              </a:tr>
              <a:tr h="21377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286047"/>
                  </a:ext>
                </a:extLst>
              </a:tr>
              <a:tr h="21377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596285"/>
                  </a:ext>
                </a:extLst>
              </a:tr>
            </a:tbl>
          </a:graphicData>
        </a:graphic>
      </p:graphicFrame>
      <p:graphicFrame>
        <p:nvGraphicFramePr>
          <p:cNvPr id="74" name="Table 4">
            <a:extLst>
              <a:ext uri="{FF2B5EF4-FFF2-40B4-BE49-F238E27FC236}">
                <a16:creationId xmlns:a16="http://schemas.microsoft.com/office/drawing/2014/main" id="{EBF72164-D44B-4AB2-93B0-8CDC112F8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219577"/>
              </p:ext>
            </p:extLst>
          </p:nvPr>
        </p:nvGraphicFramePr>
        <p:xfrm>
          <a:off x="4001197" y="1670960"/>
          <a:ext cx="7955775" cy="15195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45">
                  <a:extLst>
                    <a:ext uri="{9D8B030D-6E8A-4147-A177-3AD203B41FA5}">
                      <a16:colId xmlns:a16="http://schemas.microsoft.com/office/drawing/2014/main" val="3395070529"/>
                    </a:ext>
                  </a:extLst>
                </a:gridCol>
                <a:gridCol w="4044588">
                  <a:extLst>
                    <a:ext uri="{9D8B030D-6E8A-4147-A177-3AD203B41FA5}">
                      <a16:colId xmlns:a16="http://schemas.microsoft.com/office/drawing/2014/main" val="3864803265"/>
                    </a:ext>
                  </a:extLst>
                </a:gridCol>
                <a:gridCol w="745724">
                  <a:extLst>
                    <a:ext uri="{9D8B030D-6E8A-4147-A177-3AD203B41FA5}">
                      <a16:colId xmlns:a16="http://schemas.microsoft.com/office/drawing/2014/main" val="3027399220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3085072682"/>
                    </a:ext>
                  </a:extLst>
                </a:gridCol>
                <a:gridCol w="994299">
                  <a:extLst>
                    <a:ext uri="{9D8B030D-6E8A-4147-A177-3AD203B41FA5}">
                      <a16:colId xmlns:a16="http://schemas.microsoft.com/office/drawing/2014/main" val="4151964516"/>
                    </a:ext>
                  </a:extLst>
                </a:gridCol>
                <a:gridCol w="1099583">
                  <a:extLst>
                    <a:ext uri="{9D8B030D-6E8A-4147-A177-3AD203B41FA5}">
                      <a16:colId xmlns:a16="http://schemas.microsoft.com/office/drawing/2014/main" val="1508659131"/>
                    </a:ext>
                  </a:extLst>
                </a:gridCol>
              </a:tblGrid>
              <a:tr h="378497">
                <a:tc gridSpan="2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KEY</a:t>
                      </a:r>
                      <a:r>
                        <a:rPr lang="en-US" sz="12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 CHALLENGES </a:t>
                      </a:r>
                      <a:endParaRPr lang="en-US" sz="1200" b="1" kern="0" baseline="0">
                        <a:solidFill>
                          <a:schemeClr val="tx1"/>
                        </a:solidFill>
                        <a:latin typeface="+mn-lt"/>
                        <a:ea typeface="ＭＳ Ｐゴシック" charset="0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(R = Risk, I = Issue, A = Action, D = Decision)</a:t>
                      </a:r>
                      <a:endParaRPr lang="en-US" sz="9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OPEN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DATE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OWNER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PLAN TO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CLOSE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HELP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NEEDED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44806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effectLst/>
                        </a:rPr>
                        <a:t>Need to set regular cadence with the core IPG team to understand other ongoing initiatives – By 4/14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4/6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362562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8722463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212416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6D1D85A7-FFBE-4B56-BDE1-6B68796E4F46}"/>
              </a:ext>
            </a:extLst>
          </p:cNvPr>
          <p:cNvGrpSpPr/>
          <p:nvPr/>
        </p:nvGrpSpPr>
        <p:grpSpPr>
          <a:xfrm>
            <a:off x="453690" y="6183677"/>
            <a:ext cx="287492" cy="260840"/>
            <a:chOff x="6361113" y="2438400"/>
            <a:chExt cx="1192213" cy="1084263"/>
          </a:xfrm>
          <a:solidFill>
            <a:srgbClr val="008000"/>
          </a:solidFill>
        </p:grpSpPr>
        <p:sp>
          <p:nvSpPr>
            <p:cNvPr id="76" name="Freeform 21">
              <a:extLst>
                <a:ext uri="{FF2B5EF4-FFF2-40B4-BE49-F238E27FC236}">
                  <a16:creationId xmlns:a16="http://schemas.microsoft.com/office/drawing/2014/main" id="{07F99712-2C68-4FD8-93E9-C94BE92E6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1113" y="2706688"/>
              <a:ext cx="1192213" cy="560388"/>
            </a:xfrm>
            <a:custGeom>
              <a:avLst/>
              <a:gdLst>
                <a:gd name="T0" fmla="*/ 751 w 751"/>
                <a:gd name="T1" fmla="*/ 0 h 353"/>
                <a:gd name="T2" fmla="*/ 0 w 751"/>
                <a:gd name="T3" fmla="*/ 0 h 353"/>
                <a:gd name="T4" fmla="*/ 0 w 751"/>
                <a:gd name="T5" fmla="*/ 353 h 353"/>
                <a:gd name="T6" fmla="*/ 751 w 751"/>
                <a:gd name="T7" fmla="*/ 353 h 353"/>
                <a:gd name="T8" fmla="*/ 751 w 751"/>
                <a:gd name="T9" fmla="*/ 0 h 353"/>
                <a:gd name="T10" fmla="*/ 232 w 751"/>
                <a:gd name="T11" fmla="*/ 173 h 353"/>
                <a:gd name="T12" fmla="*/ 232 w 751"/>
                <a:gd name="T13" fmla="*/ 265 h 353"/>
                <a:gd name="T14" fmla="*/ 69 w 751"/>
                <a:gd name="T15" fmla="*/ 161 h 353"/>
                <a:gd name="T16" fmla="*/ 232 w 751"/>
                <a:gd name="T17" fmla="*/ 57 h 353"/>
                <a:gd name="T18" fmla="*/ 232 w 751"/>
                <a:gd name="T19" fmla="*/ 149 h 353"/>
                <a:gd name="T20" fmla="*/ 523 w 751"/>
                <a:gd name="T21" fmla="*/ 149 h 353"/>
                <a:gd name="T22" fmla="*/ 523 w 751"/>
                <a:gd name="T23" fmla="*/ 57 h 353"/>
                <a:gd name="T24" fmla="*/ 687 w 751"/>
                <a:gd name="T25" fmla="*/ 161 h 353"/>
                <a:gd name="T26" fmla="*/ 523 w 751"/>
                <a:gd name="T27" fmla="*/ 265 h 353"/>
                <a:gd name="T28" fmla="*/ 523 w 751"/>
                <a:gd name="T29" fmla="*/ 173 h 353"/>
                <a:gd name="T30" fmla="*/ 232 w 751"/>
                <a:gd name="T31" fmla="*/ 173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1" h="353">
                  <a:moveTo>
                    <a:pt x="751" y="0"/>
                  </a:moveTo>
                  <a:lnTo>
                    <a:pt x="0" y="0"/>
                  </a:lnTo>
                  <a:lnTo>
                    <a:pt x="0" y="353"/>
                  </a:lnTo>
                  <a:lnTo>
                    <a:pt x="751" y="353"/>
                  </a:lnTo>
                  <a:lnTo>
                    <a:pt x="751" y="0"/>
                  </a:lnTo>
                  <a:close/>
                  <a:moveTo>
                    <a:pt x="232" y="173"/>
                  </a:moveTo>
                  <a:lnTo>
                    <a:pt x="232" y="265"/>
                  </a:lnTo>
                  <a:lnTo>
                    <a:pt x="69" y="161"/>
                  </a:lnTo>
                  <a:lnTo>
                    <a:pt x="232" y="57"/>
                  </a:lnTo>
                  <a:lnTo>
                    <a:pt x="232" y="149"/>
                  </a:lnTo>
                  <a:lnTo>
                    <a:pt x="523" y="149"/>
                  </a:lnTo>
                  <a:lnTo>
                    <a:pt x="523" y="57"/>
                  </a:lnTo>
                  <a:lnTo>
                    <a:pt x="687" y="161"/>
                  </a:lnTo>
                  <a:lnTo>
                    <a:pt x="523" y="265"/>
                  </a:lnTo>
                  <a:lnTo>
                    <a:pt x="523" y="173"/>
                  </a:lnTo>
                  <a:lnTo>
                    <a:pt x="232" y="1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7" name="Freeform 22">
              <a:extLst>
                <a:ext uri="{FF2B5EF4-FFF2-40B4-BE49-F238E27FC236}">
                  <a16:creationId xmlns:a16="http://schemas.microsoft.com/office/drawing/2014/main" id="{35FD81B7-4D87-44FD-8156-5C1D8FE7C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2438400"/>
              <a:ext cx="1192213" cy="230188"/>
            </a:xfrm>
            <a:custGeom>
              <a:avLst/>
              <a:gdLst>
                <a:gd name="T0" fmla="*/ 751 w 751"/>
                <a:gd name="T1" fmla="*/ 0 h 145"/>
                <a:gd name="T2" fmla="*/ 599 w 751"/>
                <a:gd name="T3" fmla="*/ 0 h 145"/>
                <a:gd name="T4" fmla="*/ 599 w 751"/>
                <a:gd name="T5" fmla="*/ 83 h 145"/>
                <a:gd name="T6" fmla="*/ 576 w 751"/>
                <a:gd name="T7" fmla="*/ 83 h 145"/>
                <a:gd name="T8" fmla="*/ 576 w 751"/>
                <a:gd name="T9" fmla="*/ 0 h 145"/>
                <a:gd name="T10" fmla="*/ 393 w 751"/>
                <a:gd name="T11" fmla="*/ 0 h 145"/>
                <a:gd name="T12" fmla="*/ 393 w 751"/>
                <a:gd name="T13" fmla="*/ 83 h 145"/>
                <a:gd name="T14" fmla="*/ 370 w 751"/>
                <a:gd name="T15" fmla="*/ 83 h 145"/>
                <a:gd name="T16" fmla="*/ 370 w 751"/>
                <a:gd name="T17" fmla="*/ 0 h 145"/>
                <a:gd name="T18" fmla="*/ 161 w 751"/>
                <a:gd name="T19" fmla="*/ 0 h 145"/>
                <a:gd name="T20" fmla="*/ 161 w 751"/>
                <a:gd name="T21" fmla="*/ 83 h 145"/>
                <a:gd name="T22" fmla="*/ 137 w 751"/>
                <a:gd name="T23" fmla="*/ 83 h 145"/>
                <a:gd name="T24" fmla="*/ 137 w 751"/>
                <a:gd name="T25" fmla="*/ 0 h 145"/>
                <a:gd name="T26" fmla="*/ 0 w 751"/>
                <a:gd name="T27" fmla="*/ 0 h 145"/>
                <a:gd name="T28" fmla="*/ 0 w 751"/>
                <a:gd name="T29" fmla="*/ 145 h 145"/>
                <a:gd name="T30" fmla="*/ 751 w 751"/>
                <a:gd name="T31" fmla="*/ 145 h 145"/>
                <a:gd name="T32" fmla="*/ 751 w 751"/>
                <a:gd name="T33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45">
                  <a:moveTo>
                    <a:pt x="751" y="0"/>
                  </a:moveTo>
                  <a:lnTo>
                    <a:pt x="599" y="0"/>
                  </a:lnTo>
                  <a:lnTo>
                    <a:pt x="599" y="83"/>
                  </a:lnTo>
                  <a:lnTo>
                    <a:pt x="576" y="83"/>
                  </a:lnTo>
                  <a:lnTo>
                    <a:pt x="576" y="0"/>
                  </a:lnTo>
                  <a:lnTo>
                    <a:pt x="393" y="0"/>
                  </a:lnTo>
                  <a:lnTo>
                    <a:pt x="393" y="83"/>
                  </a:lnTo>
                  <a:lnTo>
                    <a:pt x="370" y="83"/>
                  </a:lnTo>
                  <a:lnTo>
                    <a:pt x="370" y="0"/>
                  </a:lnTo>
                  <a:lnTo>
                    <a:pt x="161" y="0"/>
                  </a:lnTo>
                  <a:lnTo>
                    <a:pt x="161" y="83"/>
                  </a:lnTo>
                  <a:lnTo>
                    <a:pt x="137" y="83"/>
                  </a:lnTo>
                  <a:lnTo>
                    <a:pt x="137" y="0"/>
                  </a:lnTo>
                  <a:lnTo>
                    <a:pt x="0" y="0"/>
                  </a:lnTo>
                  <a:lnTo>
                    <a:pt x="0" y="145"/>
                  </a:lnTo>
                  <a:lnTo>
                    <a:pt x="751" y="145"/>
                  </a:lnTo>
                  <a:lnTo>
                    <a:pt x="7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8" name="Freeform 23">
              <a:extLst>
                <a:ext uri="{FF2B5EF4-FFF2-40B4-BE49-F238E27FC236}">
                  <a16:creationId xmlns:a16="http://schemas.microsoft.com/office/drawing/2014/main" id="{EDCE3E85-1643-4F8A-AED7-2920DD7A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3305175"/>
              <a:ext cx="1192213" cy="217488"/>
            </a:xfrm>
            <a:custGeom>
              <a:avLst/>
              <a:gdLst>
                <a:gd name="T0" fmla="*/ 0 w 751"/>
                <a:gd name="T1" fmla="*/ 137 h 137"/>
                <a:gd name="T2" fmla="*/ 137 w 751"/>
                <a:gd name="T3" fmla="*/ 137 h 137"/>
                <a:gd name="T4" fmla="*/ 137 w 751"/>
                <a:gd name="T5" fmla="*/ 54 h 137"/>
                <a:gd name="T6" fmla="*/ 161 w 751"/>
                <a:gd name="T7" fmla="*/ 54 h 137"/>
                <a:gd name="T8" fmla="*/ 161 w 751"/>
                <a:gd name="T9" fmla="*/ 137 h 137"/>
                <a:gd name="T10" fmla="*/ 370 w 751"/>
                <a:gd name="T11" fmla="*/ 137 h 137"/>
                <a:gd name="T12" fmla="*/ 370 w 751"/>
                <a:gd name="T13" fmla="*/ 54 h 137"/>
                <a:gd name="T14" fmla="*/ 393 w 751"/>
                <a:gd name="T15" fmla="*/ 54 h 137"/>
                <a:gd name="T16" fmla="*/ 393 w 751"/>
                <a:gd name="T17" fmla="*/ 137 h 137"/>
                <a:gd name="T18" fmla="*/ 576 w 751"/>
                <a:gd name="T19" fmla="*/ 137 h 137"/>
                <a:gd name="T20" fmla="*/ 576 w 751"/>
                <a:gd name="T21" fmla="*/ 54 h 137"/>
                <a:gd name="T22" fmla="*/ 599 w 751"/>
                <a:gd name="T23" fmla="*/ 54 h 137"/>
                <a:gd name="T24" fmla="*/ 599 w 751"/>
                <a:gd name="T25" fmla="*/ 137 h 137"/>
                <a:gd name="T26" fmla="*/ 751 w 751"/>
                <a:gd name="T27" fmla="*/ 137 h 137"/>
                <a:gd name="T28" fmla="*/ 751 w 751"/>
                <a:gd name="T29" fmla="*/ 0 h 137"/>
                <a:gd name="T30" fmla="*/ 0 w 751"/>
                <a:gd name="T31" fmla="*/ 0 h 137"/>
                <a:gd name="T32" fmla="*/ 0 w 751"/>
                <a:gd name="T3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37">
                  <a:moveTo>
                    <a:pt x="0" y="137"/>
                  </a:moveTo>
                  <a:lnTo>
                    <a:pt x="137" y="137"/>
                  </a:lnTo>
                  <a:lnTo>
                    <a:pt x="137" y="54"/>
                  </a:lnTo>
                  <a:lnTo>
                    <a:pt x="161" y="54"/>
                  </a:lnTo>
                  <a:lnTo>
                    <a:pt x="161" y="137"/>
                  </a:lnTo>
                  <a:lnTo>
                    <a:pt x="370" y="137"/>
                  </a:lnTo>
                  <a:lnTo>
                    <a:pt x="370" y="54"/>
                  </a:lnTo>
                  <a:lnTo>
                    <a:pt x="393" y="54"/>
                  </a:lnTo>
                  <a:lnTo>
                    <a:pt x="393" y="137"/>
                  </a:lnTo>
                  <a:lnTo>
                    <a:pt x="576" y="137"/>
                  </a:lnTo>
                  <a:lnTo>
                    <a:pt x="576" y="54"/>
                  </a:lnTo>
                  <a:lnTo>
                    <a:pt x="599" y="54"/>
                  </a:lnTo>
                  <a:lnTo>
                    <a:pt x="599" y="137"/>
                  </a:lnTo>
                  <a:lnTo>
                    <a:pt x="751" y="137"/>
                  </a:lnTo>
                  <a:lnTo>
                    <a:pt x="751" y="0"/>
                  </a:ln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DBE5DBDB-7191-423C-A7BA-1D06B26A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068835"/>
              </p:ext>
            </p:extLst>
          </p:nvPr>
        </p:nvGraphicFramePr>
        <p:xfrm>
          <a:off x="4001197" y="5694644"/>
          <a:ext cx="7955774" cy="1097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3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747">
                  <a:extLst>
                    <a:ext uri="{9D8B030D-6E8A-4147-A177-3AD203B41FA5}">
                      <a16:colId xmlns:a16="http://schemas.microsoft.com/office/drawing/2014/main" val="109970816"/>
                    </a:ext>
                  </a:extLst>
                </a:gridCol>
              </a:tblGrid>
              <a:tr h="2745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KEY ACCOMPLISHMENTS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2745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generic entity relationship models have been identified for MVP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623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316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26255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73DE2A73-F124-49CE-A59E-E8FEE3C3D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395862"/>
              </p:ext>
            </p:extLst>
          </p:nvPr>
        </p:nvGraphicFramePr>
        <p:xfrm>
          <a:off x="353676" y="1670960"/>
          <a:ext cx="3551879" cy="16275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8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HEADLINES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115643"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Engaged with Enterprise Architecture team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Participated in project kickoff sessions, oracle foundation session and MVP breakout planning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Integration strategy and portfolio governance planning in progress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</a:pPr>
                      <a:endParaRPr lang="en-US" sz="1200" b="0" i="0" u="none" strike="noStrike" kern="1200" baseline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764E9-397A-4FEE-BE8F-0A55A10F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45439" y="6461653"/>
            <a:ext cx="22045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792D4-8FCB-4391-8F5D-038B8C6DF5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263039-D033-DE38-765A-DE209481C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066641"/>
              </p:ext>
            </p:extLst>
          </p:nvPr>
        </p:nvGraphicFramePr>
        <p:xfrm>
          <a:off x="353675" y="763141"/>
          <a:ext cx="11591756" cy="4267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1868">
                  <a:extLst>
                    <a:ext uri="{9D8B030D-6E8A-4147-A177-3AD203B41FA5}">
                      <a16:colId xmlns:a16="http://schemas.microsoft.com/office/drawing/2014/main" val="289832473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27536416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705719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11104500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3724495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029764863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88982471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98189912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2260647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6473915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72581358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730589314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6532444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8129591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41201056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151150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51029071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2 Q1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3 Q1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4 Q2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  <a:endParaRPr sz="1000" b="1" u="none" strike="noStrike" cap="none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u="none" strike="noStrike" cap="none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6 Q2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77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03/20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03/27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4/3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04/24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05/01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05/08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05/15</a:t>
                      </a:r>
                      <a:endParaRPr sz="1000" b="0" u="none" strike="noStrike" kern="1200" cap="none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05/22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5/29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06/05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06/19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06/26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07/03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21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267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281D647E-AB06-4503-91E1-9D2E663A4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021761"/>
              </p:ext>
            </p:extLst>
          </p:nvPr>
        </p:nvGraphicFramePr>
        <p:xfrm>
          <a:off x="355043" y="4718862"/>
          <a:ext cx="3551879" cy="144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Path to 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08061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700D2D8-F279-4BD0-AE75-A35824C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008706"/>
              </p:ext>
            </p:extLst>
          </p:nvPr>
        </p:nvGraphicFramePr>
        <p:xfrm>
          <a:off x="353676" y="6168795"/>
          <a:ext cx="3553246" cy="6396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24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314399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E4F9061D-66F6-46F5-A528-2CAD67D6D0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E4F9061D-66F6-46F5-A528-2CAD67D6D0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71A01C71-E6B9-4439-A77C-C8D429F5E0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  <a:sym typeface="Arial Black" panose="020B0A040201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77763" y="1335973"/>
            <a:ext cx="5867677" cy="279218"/>
            <a:chOff x="-1977497" y="6479196"/>
            <a:chExt cx="5867677" cy="27921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98A3D2-2955-47A3-A45F-954E71C3A29B}"/>
                </a:ext>
              </a:extLst>
            </p:cNvPr>
            <p:cNvSpPr/>
            <p:nvPr/>
          </p:nvSpPr>
          <p:spPr>
            <a:xfrm>
              <a:off x="2622702" y="6529323"/>
              <a:ext cx="517585" cy="1552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36A68D8-F079-49D7-B3EE-3ED56FC5754C}"/>
                </a:ext>
              </a:extLst>
            </p:cNvPr>
            <p:cNvSpPr/>
            <p:nvPr/>
          </p:nvSpPr>
          <p:spPr>
            <a:xfrm>
              <a:off x="-672926" y="6533734"/>
              <a:ext cx="517585" cy="15527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402094A-7919-4D9B-8D13-EFC68E877178}"/>
                </a:ext>
              </a:extLst>
            </p:cNvPr>
            <p:cNvSpPr/>
            <p:nvPr/>
          </p:nvSpPr>
          <p:spPr>
            <a:xfrm>
              <a:off x="-1901217" y="6537025"/>
              <a:ext cx="517585" cy="15527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EF15C40-2AB1-4FD2-91AB-74F497DDCBD9}"/>
                </a:ext>
              </a:extLst>
            </p:cNvPr>
            <p:cNvSpPr/>
            <p:nvPr/>
          </p:nvSpPr>
          <p:spPr>
            <a:xfrm>
              <a:off x="762747" y="6537025"/>
              <a:ext cx="517585" cy="1552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0B7D58-6D5D-42E5-930B-7972EE66EF4B}"/>
                </a:ext>
              </a:extLst>
            </p:cNvPr>
            <p:cNvSpPr txBox="1"/>
            <p:nvPr/>
          </p:nvSpPr>
          <p:spPr>
            <a:xfrm>
              <a:off x="3235114" y="6529323"/>
              <a:ext cx="655066" cy="1542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Completed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7B0633D-8BD0-4BA8-B93C-F8A7F2588FBF}"/>
                </a:ext>
              </a:extLst>
            </p:cNvPr>
            <p:cNvSpPr txBox="1"/>
            <p:nvPr/>
          </p:nvSpPr>
          <p:spPr>
            <a:xfrm>
              <a:off x="-1323456" y="6522648"/>
              <a:ext cx="555825" cy="16965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On-track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3C59F7-6B3A-4EF8-BD04-E23EF4982980}"/>
                </a:ext>
              </a:extLst>
            </p:cNvPr>
            <p:cNvSpPr txBox="1"/>
            <p:nvPr/>
          </p:nvSpPr>
          <p:spPr>
            <a:xfrm>
              <a:off x="-66324" y="6528815"/>
              <a:ext cx="732664" cy="15474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Risk or delay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8C42740-DEF9-4138-9AC9-F6A6A5B73E3A}"/>
                </a:ext>
              </a:extLst>
            </p:cNvPr>
            <p:cNvSpPr txBox="1"/>
            <p:nvPr/>
          </p:nvSpPr>
          <p:spPr>
            <a:xfrm>
              <a:off x="1340508" y="6527100"/>
              <a:ext cx="1222018" cy="8345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Critical issue or delay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6C01C49-4DF8-404E-A676-F50C124A6CB7}"/>
                </a:ext>
              </a:extLst>
            </p:cNvPr>
            <p:cNvSpPr/>
            <p:nvPr/>
          </p:nvSpPr>
          <p:spPr>
            <a:xfrm>
              <a:off x="-1977497" y="6479196"/>
              <a:ext cx="5867677" cy="279218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44" name="Title 30">
            <a:extLst>
              <a:ext uri="{FF2B5EF4-FFF2-40B4-BE49-F238E27FC236}">
                <a16:creationId xmlns:a16="http://schemas.microsoft.com/office/drawing/2014/main" id="{236596C2-8276-4E0D-8650-48667463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05" y="160431"/>
            <a:ext cx="11491383" cy="648404"/>
          </a:xfrm>
        </p:spPr>
        <p:txBody>
          <a:bodyPr vert="horz">
            <a:normAutofit/>
          </a:bodyPr>
          <a:lstStyle/>
          <a:p>
            <a:r>
              <a:rPr lang="en-US" sz="2000">
                <a:latin typeface="Arial Black"/>
              </a:rPr>
              <a:t>PROJECT WEEKLY STATUS: IPOD/QA</a:t>
            </a:r>
            <a:br>
              <a:rPr lang="en-US" sz="2000" b="1" cap="all">
                <a:highlight>
                  <a:srgbClr val="FFFF00"/>
                </a:highlight>
                <a:latin typeface="Calibri"/>
              </a:rPr>
            </a:br>
            <a:r>
              <a:rPr lang="en-US" sz="2000" b="1" cap="all">
                <a:latin typeface="Arial Black"/>
              </a:rPr>
              <a:t>MARCH 31</a:t>
            </a:r>
            <a:r>
              <a:rPr lang="en-US" sz="2000">
                <a:latin typeface="Arial Black"/>
              </a:rPr>
              <a:t>, 2023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30764F-3742-49CF-A60A-6961F7F54D67}"/>
              </a:ext>
            </a:extLst>
          </p:cNvPr>
          <p:cNvSpPr txBox="1"/>
          <p:nvPr/>
        </p:nvSpPr>
        <p:spPr>
          <a:xfrm>
            <a:off x="2880361" y="445736"/>
            <a:ext cx="9158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EXECUTIVE SPONSOR: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Bobby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Aflatooni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Larry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Gatta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Rick McNeely 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PROGRAM LEADER: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Abhay Shetty / Bryan Byrd  </a:t>
            </a:r>
            <a:r>
              <a:rPr kumimoji="0" lang="en-US" sz="1200" b="1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/>
                <a:cs typeface="Calibri"/>
              </a:rPr>
              <a:t>PM/lead: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Rajesh Thukral </a:t>
            </a: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82" y="6462"/>
            <a:ext cx="1980004" cy="313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7" name="Table 2">
            <a:extLst>
              <a:ext uri="{FF2B5EF4-FFF2-40B4-BE49-F238E27FC236}">
                <a16:creationId xmlns:a16="http://schemas.microsoft.com/office/drawing/2014/main" id="{2852C303-53E8-434F-AAB5-EB07D4B0D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534821"/>
              </p:ext>
            </p:extLst>
          </p:nvPr>
        </p:nvGraphicFramePr>
        <p:xfrm>
          <a:off x="355043" y="3299591"/>
          <a:ext cx="3553246" cy="13406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3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3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 panose="020F0502020204030204" pitchFamily="34" charset="0"/>
                        </a:rPr>
                        <a:t>DELIVERABLES &amp; KEY MILESTONES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 panose="020F0502020204030204" pitchFamily="34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 Finalize templates &amp; coding standards for integrations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286481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Kick start data mapping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4/21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569122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726863"/>
                  </a:ext>
                </a:extLst>
              </a:tr>
            </a:tbl>
          </a:graphicData>
        </a:graphic>
      </p:graphicFrame>
      <p:sp>
        <p:nvSpPr>
          <p:cNvPr id="70" name="Freeform 25">
            <a:extLst>
              <a:ext uri="{FF2B5EF4-FFF2-40B4-BE49-F238E27FC236}">
                <a16:creationId xmlns:a16="http://schemas.microsoft.com/office/drawing/2014/main" id="{C5D33FCC-FDF7-4224-9E4B-38B41F1E9470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202665"/>
            <a:ext cx="274050" cy="252680"/>
          </a:xfrm>
          <a:custGeom>
            <a:avLst/>
            <a:gdLst>
              <a:gd name="T0" fmla="*/ 259 w 288"/>
              <a:gd name="T1" fmla="*/ 0 h 288"/>
              <a:gd name="T2" fmla="*/ 29 w 288"/>
              <a:gd name="T3" fmla="*/ 0 h 288"/>
              <a:gd name="T4" fmla="*/ 0 w 288"/>
              <a:gd name="T5" fmla="*/ 29 h 288"/>
              <a:gd name="T6" fmla="*/ 0 w 288"/>
              <a:gd name="T7" fmla="*/ 260 h 288"/>
              <a:gd name="T8" fmla="*/ 29 w 288"/>
              <a:gd name="T9" fmla="*/ 288 h 288"/>
              <a:gd name="T10" fmla="*/ 48 w 288"/>
              <a:gd name="T11" fmla="*/ 288 h 288"/>
              <a:gd name="T12" fmla="*/ 48 w 288"/>
              <a:gd name="T13" fmla="*/ 224 h 288"/>
              <a:gd name="T14" fmla="*/ 108 w 288"/>
              <a:gd name="T15" fmla="*/ 164 h 288"/>
              <a:gd name="T16" fmla="*/ 183 w 288"/>
              <a:gd name="T17" fmla="*/ 164 h 288"/>
              <a:gd name="T18" fmla="*/ 244 w 288"/>
              <a:gd name="T19" fmla="*/ 224 h 288"/>
              <a:gd name="T20" fmla="*/ 244 w 288"/>
              <a:gd name="T21" fmla="*/ 288 h 288"/>
              <a:gd name="T22" fmla="*/ 259 w 288"/>
              <a:gd name="T23" fmla="*/ 288 h 288"/>
              <a:gd name="T24" fmla="*/ 288 w 288"/>
              <a:gd name="T25" fmla="*/ 260 h 288"/>
              <a:gd name="T26" fmla="*/ 288 w 288"/>
              <a:gd name="T27" fmla="*/ 29 h 288"/>
              <a:gd name="T28" fmla="*/ 259 w 288"/>
              <a:gd name="T29" fmla="*/ 0 h 288"/>
              <a:gd name="T30" fmla="*/ 144 w 288"/>
              <a:gd name="T31" fmla="*/ 135 h 288"/>
              <a:gd name="T32" fmla="*/ 93 w 288"/>
              <a:gd name="T33" fmla="*/ 84 h 288"/>
              <a:gd name="T34" fmla="*/ 144 w 288"/>
              <a:gd name="T35" fmla="*/ 33 h 288"/>
              <a:gd name="T36" fmla="*/ 195 w 288"/>
              <a:gd name="T37" fmla="*/ 84 h 288"/>
              <a:gd name="T38" fmla="*/ 144 w 288"/>
              <a:gd name="T39" fmla="*/ 135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8" h="288">
                <a:moveTo>
                  <a:pt x="259" y="0"/>
                </a:moveTo>
                <a:cubicBezTo>
                  <a:pt x="29" y="0"/>
                  <a:pt x="29" y="0"/>
                  <a:pt x="29" y="0"/>
                </a:cubicBezTo>
                <a:cubicBezTo>
                  <a:pt x="13" y="0"/>
                  <a:pt x="0" y="13"/>
                  <a:pt x="0" y="29"/>
                </a:cubicBezTo>
                <a:cubicBezTo>
                  <a:pt x="0" y="260"/>
                  <a:pt x="0" y="260"/>
                  <a:pt x="0" y="260"/>
                </a:cubicBezTo>
                <a:cubicBezTo>
                  <a:pt x="0" y="275"/>
                  <a:pt x="13" y="288"/>
                  <a:pt x="29" y="288"/>
                </a:cubicBezTo>
                <a:cubicBezTo>
                  <a:pt x="48" y="288"/>
                  <a:pt x="48" y="288"/>
                  <a:pt x="48" y="288"/>
                </a:cubicBezTo>
                <a:cubicBezTo>
                  <a:pt x="48" y="224"/>
                  <a:pt x="48" y="224"/>
                  <a:pt x="48" y="224"/>
                </a:cubicBezTo>
                <a:cubicBezTo>
                  <a:pt x="48" y="191"/>
                  <a:pt x="75" y="164"/>
                  <a:pt x="108" y="164"/>
                </a:cubicBezTo>
                <a:cubicBezTo>
                  <a:pt x="183" y="164"/>
                  <a:pt x="183" y="164"/>
                  <a:pt x="183" y="164"/>
                </a:cubicBezTo>
                <a:cubicBezTo>
                  <a:pt x="216" y="164"/>
                  <a:pt x="244" y="191"/>
                  <a:pt x="244" y="224"/>
                </a:cubicBezTo>
                <a:cubicBezTo>
                  <a:pt x="244" y="288"/>
                  <a:pt x="244" y="288"/>
                  <a:pt x="244" y="288"/>
                </a:cubicBezTo>
                <a:cubicBezTo>
                  <a:pt x="259" y="288"/>
                  <a:pt x="259" y="288"/>
                  <a:pt x="259" y="288"/>
                </a:cubicBezTo>
                <a:cubicBezTo>
                  <a:pt x="275" y="288"/>
                  <a:pt x="288" y="275"/>
                  <a:pt x="288" y="260"/>
                </a:cubicBezTo>
                <a:cubicBezTo>
                  <a:pt x="288" y="29"/>
                  <a:pt x="288" y="29"/>
                  <a:pt x="288" y="29"/>
                </a:cubicBezTo>
                <a:cubicBezTo>
                  <a:pt x="288" y="13"/>
                  <a:pt x="275" y="0"/>
                  <a:pt x="259" y="0"/>
                </a:cubicBezTo>
                <a:close/>
                <a:moveTo>
                  <a:pt x="144" y="135"/>
                </a:moveTo>
                <a:cubicBezTo>
                  <a:pt x="116" y="135"/>
                  <a:pt x="93" y="112"/>
                  <a:pt x="93" y="84"/>
                </a:cubicBezTo>
                <a:cubicBezTo>
                  <a:pt x="93" y="56"/>
                  <a:pt x="116" y="33"/>
                  <a:pt x="144" y="33"/>
                </a:cubicBezTo>
                <a:cubicBezTo>
                  <a:pt x="172" y="33"/>
                  <a:pt x="195" y="56"/>
                  <a:pt x="195" y="84"/>
                </a:cubicBezTo>
                <a:cubicBezTo>
                  <a:pt x="195" y="112"/>
                  <a:pt x="172" y="135"/>
                  <a:pt x="144" y="135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1" name="Freeform 19">
            <a:extLst>
              <a:ext uri="{FF2B5EF4-FFF2-40B4-BE49-F238E27FC236}">
                <a16:creationId xmlns:a16="http://schemas.microsoft.com/office/drawing/2014/main" id="{64948846-B5AF-48EF-A542-0EB74288CF7B}"/>
              </a:ext>
            </a:extLst>
          </p:cNvPr>
          <p:cNvSpPr>
            <a:spLocks noEditPoints="1"/>
          </p:cNvSpPr>
          <p:nvPr/>
        </p:nvSpPr>
        <p:spPr bwMode="auto">
          <a:xfrm>
            <a:off x="460612" y="6526975"/>
            <a:ext cx="273648" cy="259045"/>
          </a:xfrm>
          <a:custGeom>
            <a:avLst/>
            <a:gdLst>
              <a:gd name="T0" fmla="*/ 288 w 288"/>
              <a:gd name="T1" fmla="*/ 144 h 288"/>
              <a:gd name="T2" fmla="*/ 234 w 288"/>
              <a:gd name="T3" fmla="*/ 31 h 288"/>
              <a:gd name="T4" fmla="*/ 234 w 288"/>
              <a:gd name="T5" fmla="*/ 31 h 288"/>
              <a:gd name="T6" fmla="*/ 233 w 288"/>
              <a:gd name="T7" fmla="*/ 31 h 288"/>
              <a:gd name="T8" fmla="*/ 144 w 288"/>
              <a:gd name="T9" fmla="*/ 0 h 288"/>
              <a:gd name="T10" fmla="*/ 0 w 288"/>
              <a:gd name="T11" fmla="*/ 144 h 288"/>
              <a:gd name="T12" fmla="*/ 144 w 288"/>
              <a:gd name="T13" fmla="*/ 288 h 288"/>
              <a:gd name="T14" fmla="*/ 287 w 288"/>
              <a:gd name="T15" fmla="*/ 156 h 288"/>
              <a:gd name="T16" fmla="*/ 287 w 288"/>
              <a:gd name="T17" fmla="*/ 156 h 288"/>
              <a:gd name="T18" fmla="*/ 287 w 288"/>
              <a:gd name="T19" fmla="*/ 156 h 288"/>
              <a:gd name="T20" fmla="*/ 288 w 288"/>
              <a:gd name="T21" fmla="*/ 144 h 288"/>
              <a:gd name="T22" fmla="*/ 247 w 288"/>
              <a:gd name="T23" fmla="*/ 79 h 288"/>
              <a:gd name="T24" fmla="*/ 251 w 288"/>
              <a:gd name="T25" fmla="*/ 87 h 288"/>
              <a:gd name="T26" fmla="*/ 220 w 288"/>
              <a:gd name="T27" fmla="*/ 105 h 288"/>
              <a:gd name="T28" fmla="*/ 215 w 288"/>
              <a:gd name="T29" fmla="*/ 97 h 288"/>
              <a:gd name="T30" fmla="*/ 247 w 288"/>
              <a:gd name="T31" fmla="*/ 79 h 288"/>
              <a:gd name="T32" fmla="*/ 201 w 288"/>
              <a:gd name="T33" fmla="*/ 36 h 288"/>
              <a:gd name="T34" fmla="*/ 208 w 288"/>
              <a:gd name="T35" fmla="*/ 41 h 288"/>
              <a:gd name="T36" fmla="*/ 190 w 288"/>
              <a:gd name="T37" fmla="*/ 73 h 288"/>
              <a:gd name="T38" fmla="*/ 182 w 288"/>
              <a:gd name="T39" fmla="*/ 68 h 288"/>
              <a:gd name="T40" fmla="*/ 201 w 288"/>
              <a:gd name="T41" fmla="*/ 36 h 288"/>
              <a:gd name="T42" fmla="*/ 208 w 288"/>
              <a:gd name="T43" fmla="*/ 246 h 288"/>
              <a:gd name="T44" fmla="*/ 191 w 288"/>
              <a:gd name="T45" fmla="*/ 215 h 288"/>
              <a:gd name="T46" fmla="*/ 183 w 288"/>
              <a:gd name="T47" fmla="*/ 220 h 288"/>
              <a:gd name="T48" fmla="*/ 201 w 288"/>
              <a:gd name="T49" fmla="*/ 250 h 288"/>
              <a:gd name="T50" fmla="*/ 149 w 288"/>
              <a:gd name="T51" fmla="*/ 264 h 288"/>
              <a:gd name="T52" fmla="*/ 149 w 288"/>
              <a:gd name="T53" fmla="*/ 229 h 288"/>
              <a:gd name="T54" fmla="*/ 140 w 288"/>
              <a:gd name="T55" fmla="*/ 229 h 288"/>
              <a:gd name="T56" fmla="*/ 140 w 288"/>
              <a:gd name="T57" fmla="*/ 265 h 288"/>
              <a:gd name="T58" fmla="*/ 88 w 288"/>
              <a:gd name="T59" fmla="*/ 251 h 288"/>
              <a:gd name="T60" fmla="*/ 106 w 288"/>
              <a:gd name="T61" fmla="*/ 220 h 288"/>
              <a:gd name="T62" fmla="*/ 98 w 288"/>
              <a:gd name="T63" fmla="*/ 216 h 288"/>
              <a:gd name="T64" fmla="*/ 80 w 288"/>
              <a:gd name="T65" fmla="*/ 247 h 288"/>
              <a:gd name="T66" fmla="*/ 42 w 288"/>
              <a:gd name="T67" fmla="*/ 209 h 288"/>
              <a:gd name="T68" fmla="*/ 73 w 288"/>
              <a:gd name="T69" fmla="*/ 191 h 288"/>
              <a:gd name="T70" fmla="*/ 68 w 288"/>
              <a:gd name="T71" fmla="*/ 183 h 288"/>
              <a:gd name="T72" fmla="*/ 37 w 288"/>
              <a:gd name="T73" fmla="*/ 201 h 288"/>
              <a:gd name="T74" fmla="*/ 23 w 288"/>
              <a:gd name="T75" fmla="*/ 149 h 288"/>
              <a:gd name="T76" fmla="*/ 59 w 288"/>
              <a:gd name="T77" fmla="*/ 149 h 288"/>
              <a:gd name="T78" fmla="*/ 59 w 288"/>
              <a:gd name="T79" fmla="*/ 140 h 288"/>
              <a:gd name="T80" fmla="*/ 23 w 288"/>
              <a:gd name="T81" fmla="*/ 140 h 288"/>
              <a:gd name="T82" fmla="*/ 36 w 288"/>
              <a:gd name="T83" fmla="*/ 88 h 288"/>
              <a:gd name="T84" fmla="*/ 68 w 288"/>
              <a:gd name="T85" fmla="*/ 106 h 288"/>
              <a:gd name="T86" fmla="*/ 72 w 288"/>
              <a:gd name="T87" fmla="*/ 98 h 288"/>
              <a:gd name="T88" fmla="*/ 41 w 288"/>
              <a:gd name="T89" fmla="*/ 80 h 288"/>
              <a:gd name="T90" fmla="*/ 36 w 288"/>
              <a:gd name="T91" fmla="*/ 88 h 288"/>
              <a:gd name="T92" fmla="*/ 79 w 288"/>
              <a:gd name="T93" fmla="*/ 41 h 288"/>
              <a:gd name="T94" fmla="*/ 97 w 288"/>
              <a:gd name="T95" fmla="*/ 72 h 288"/>
              <a:gd name="T96" fmla="*/ 105 w 288"/>
              <a:gd name="T97" fmla="*/ 68 h 288"/>
              <a:gd name="T98" fmla="*/ 87 w 288"/>
              <a:gd name="T99" fmla="*/ 36 h 288"/>
              <a:gd name="T100" fmla="*/ 144 w 288"/>
              <a:gd name="T101" fmla="*/ 22 h 288"/>
              <a:gd name="T102" fmla="*/ 144 w 288"/>
              <a:gd name="T103" fmla="*/ 147 h 288"/>
              <a:gd name="T104" fmla="*/ 241 w 288"/>
              <a:gd name="T105" fmla="*/ 216 h 288"/>
              <a:gd name="T106" fmla="*/ 208 w 288"/>
              <a:gd name="T107" fmla="*/ 246 h 288"/>
              <a:gd name="T108" fmla="*/ 266 w 288"/>
              <a:gd name="T109" fmla="*/ 148 h 288"/>
              <a:gd name="T110" fmla="*/ 229 w 288"/>
              <a:gd name="T111" fmla="*/ 148 h 288"/>
              <a:gd name="T112" fmla="*/ 229 w 288"/>
              <a:gd name="T113" fmla="*/ 139 h 288"/>
              <a:gd name="T114" fmla="*/ 266 w 288"/>
              <a:gd name="T115" fmla="*/ 139 h 288"/>
              <a:gd name="T116" fmla="*/ 266 w 288"/>
              <a:gd name="T117" fmla="*/ 14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88" h="288">
                <a:moveTo>
                  <a:pt x="288" y="144"/>
                </a:moveTo>
                <a:cubicBezTo>
                  <a:pt x="288" y="98"/>
                  <a:pt x="266" y="58"/>
                  <a:pt x="234" y="31"/>
                </a:cubicBezTo>
                <a:cubicBezTo>
                  <a:pt x="234" y="31"/>
                  <a:pt x="234" y="31"/>
                  <a:pt x="234" y="31"/>
                </a:cubicBezTo>
                <a:cubicBezTo>
                  <a:pt x="233" y="31"/>
                  <a:pt x="233" y="31"/>
                  <a:pt x="233" y="31"/>
                </a:cubicBezTo>
                <a:cubicBezTo>
                  <a:pt x="209" y="11"/>
                  <a:pt x="178" y="0"/>
                  <a:pt x="144" y="0"/>
                </a:cubicBez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19" y="288"/>
                  <a:pt x="281" y="230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2"/>
                  <a:pt x="288" y="148"/>
                  <a:pt x="288" y="144"/>
                </a:cubicBezTo>
                <a:close/>
                <a:moveTo>
                  <a:pt x="247" y="79"/>
                </a:moveTo>
                <a:cubicBezTo>
                  <a:pt x="251" y="87"/>
                  <a:pt x="251" y="87"/>
                  <a:pt x="251" y="87"/>
                </a:cubicBezTo>
                <a:cubicBezTo>
                  <a:pt x="220" y="105"/>
                  <a:pt x="220" y="105"/>
                  <a:pt x="220" y="105"/>
                </a:cubicBezTo>
                <a:cubicBezTo>
                  <a:pt x="215" y="97"/>
                  <a:pt x="215" y="97"/>
                  <a:pt x="215" y="97"/>
                </a:cubicBezTo>
                <a:lnTo>
                  <a:pt x="247" y="79"/>
                </a:lnTo>
                <a:close/>
                <a:moveTo>
                  <a:pt x="201" y="36"/>
                </a:moveTo>
                <a:cubicBezTo>
                  <a:pt x="208" y="41"/>
                  <a:pt x="208" y="41"/>
                  <a:pt x="208" y="41"/>
                </a:cubicBezTo>
                <a:cubicBezTo>
                  <a:pt x="190" y="73"/>
                  <a:pt x="190" y="73"/>
                  <a:pt x="190" y="73"/>
                </a:cubicBezTo>
                <a:cubicBezTo>
                  <a:pt x="182" y="68"/>
                  <a:pt x="182" y="68"/>
                  <a:pt x="182" y="68"/>
                </a:cubicBezTo>
                <a:lnTo>
                  <a:pt x="201" y="36"/>
                </a:lnTo>
                <a:close/>
                <a:moveTo>
                  <a:pt x="208" y="246"/>
                </a:moveTo>
                <a:cubicBezTo>
                  <a:pt x="191" y="215"/>
                  <a:pt x="191" y="215"/>
                  <a:pt x="191" y="215"/>
                </a:cubicBezTo>
                <a:cubicBezTo>
                  <a:pt x="183" y="220"/>
                  <a:pt x="183" y="220"/>
                  <a:pt x="183" y="220"/>
                </a:cubicBezTo>
                <a:cubicBezTo>
                  <a:pt x="201" y="250"/>
                  <a:pt x="201" y="250"/>
                  <a:pt x="201" y="250"/>
                </a:cubicBezTo>
                <a:cubicBezTo>
                  <a:pt x="185" y="259"/>
                  <a:pt x="168" y="264"/>
                  <a:pt x="149" y="264"/>
                </a:cubicBezTo>
                <a:cubicBezTo>
                  <a:pt x="149" y="229"/>
                  <a:pt x="149" y="229"/>
                  <a:pt x="149" y="229"/>
                </a:cubicBezTo>
                <a:cubicBezTo>
                  <a:pt x="140" y="229"/>
                  <a:pt x="140" y="229"/>
                  <a:pt x="140" y="229"/>
                </a:cubicBezTo>
                <a:cubicBezTo>
                  <a:pt x="140" y="265"/>
                  <a:pt x="140" y="265"/>
                  <a:pt x="140" y="265"/>
                </a:cubicBezTo>
                <a:cubicBezTo>
                  <a:pt x="121" y="264"/>
                  <a:pt x="104" y="259"/>
                  <a:pt x="88" y="251"/>
                </a:cubicBezTo>
                <a:cubicBezTo>
                  <a:pt x="106" y="220"/>
                  <a:pt x="106" y="220"/>
                  <a:pt x="106" y="220"/>
                </a:cubicBezTo>
                <a:cubicBezTo>
                  <a:pt x="98" y="216"/>
                  <a:pt x="98" y="216"/>
                  <a:pt x="98" y="216"/>
                </a:cubicBezTo>
                <a:cubicBezTo>
                  <a:pt x="80" y="247"/>
                  <a:pt x="80" y="247"/>
                  <a:pt x="80" y="247"/>
                </a:cubicBezTo>
                <a:cubicBezTo>
                  <a:pt x="65" y="237"/>
                  <a:pt x="52" y="224"/>
                  <a:pt x="42" y="209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68" y="183"/>
                  <a:pt x="68" y="183"/>
                  <a:pt x="68" y="183"/>
                </a:cubicBezTo>
                <a:cubicBezTo>
                  <a:pt x="37" y="201"/>
                  <a:pt x="37" y="201"/>
                  <a:pt x="37" y="201"/>
                </a:cubicBezTo>
                <a:cubicBezTo>
                  <a:pt x="29" y="186"/>
                  <a:pt x="23" y="168"/>
                  <a:pt x="23" y="149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59" y="140"/>
                  <a:pt x="59" y="140"/>
                  <a:pt x="59" y="140"/>
                </a:cubicBezTo>
                <a:cubicBezTo>
                  <a:pt x="23" y="140"/>
                  <a:pt x="23" y="140"/>
                  <a:pt x="23" y="140"/>
                </a:cubicBezTo>
                <a:cubicBezTo>
                  <a:pt x="23" y="121"/>
                  <a:pt x="28" y="104"/>
                  <a:pt x="36" y="88"/>
                </a:cubicBezTo>
                <a:cubicBezTo>
                  <a:pt x="68" y="106"/>
                  <a:pt x="68" y="106"/>
                  <a:pt x="68" y="106"/>
                </a:cubicBezTo>
                <a:cubicBezTo>
                  <a:pt x="72" y="98"/>
                  <a:pt x="72" y="98"/>
                  <a:pt x="72" y="98"/>
                </a:cubicBezTo>
                <a:cubicBezTo>
                  <a:pt x="41" y="80"/>
                  <a:pt x="41" y="80"/>
                  <a:pt x="41" y="80"/>
                </a:cubicBezTo>
                <a:cubicBezTo>
                  <a:pt x="36" y="88"/>
                  <a:pt x="36" y="88"/>
                  <a:pt x="36" y="88"/>
                </a:cubicBezTo>
                <a:cubicBezTo>
                  <a:pt x="46" y="69"/>
                  <a:pt x="61" y="52"/>
                  <a:pt x="79" y="41"/>
                </a:cubicBezTo>
                <a:cubicBezTo>
                  <a:pt x="97" y="72"/>
                  <a:pt x="97" y="72"/>
                  <a:pt x="97" y="72"/>
                </a:cubicBezTo>
                <a:cubicBezTo>
                  <a:pt x="105" y="68"/>
                  <a:pt x="105" y="68"/>
                  <a:pt x="105" y="68"/>
                </a:cubicBezTo>
                <a:cubicBezTo>
                  <a:pt x="87" y="36"/>
                  <a:pt x="87" y="36"/>
                  <a:pt x="87" y="36"/>
                </a:cubicBezTo>
                <a:cubicBezTo>
                  <a:pt x="104" y="28"/>
                  <a:pt x="123" y="22"/>
                  <a:pt x="144" y="22"/>
                </a:cubicBezTo>
                <a:cubicBezTo>
                  <a:pt x="144" y="147"/>
                  <a:pt x="144" y="147"/>
                  <a:pt x="144" y="147"/>
                </a:cubicBezTo>
                <a:cubicBezTo>
                  <a:pt x="241" y="216"/>
                  <a:pt x="241" y="216"/>
                  <a:pt x="241" y="216"/>
                </a:cubicBezTo>
                <a:cubicBezTo>
                  <a:pt x="232" y="228"/>
                  <a:pt x="221" y="238"/>
                  <a:pt x="208" y="246"/>
                </a:cubicBezTo>
                <a:close/>
                <a:moveTo>
                  <a:pt x="266" y="148"/>
                </a:moveTo>
                <a:cubicBezTo>
                  <a:pt x="229" y="148"/>
                  <a:pt x="229" y="148"/>
                  <a:pt x="229" y="148"/>
                </a:cubicBezTo>
                <a:cubicBezTo>
                  <a:pt x="229" y="139"/>
                  <a:pt x="229" y="139"/>
                  <a:pt x="229" y="139"/>
                </a:cubicBezTo>
                <a:cubicBezTo>
                  <a:pt x="266" y="139"/>
                  <a:pt x="266" y="139"/>
                  <a:pt x="266" y="139"/>
                </a:cubicBezTo>
                <a:lnTo>
                  <a:pt x="266" y="1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2" name="Freeform 18">
            <a:extLst>
              <a:ext uri="{FF2B5EF4-FFF2-40B4-BE49-F238E27FC236}">
                <a16:creationId xmlns:a16="http://schemas.microsoft.com/office/drawing/2014/main" id="{A85B0944-CED0-4864-92D3-39B40785AA9C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519472"/>
            <a:ext cx="274050" cy="274050"/>
          </a:xfrm>
          <a:custGeom>
            <a:avLst/>
            <a:gdLst>
              <a:gd name="T0" fmla="*/ 144 w 288"/>
              <a:gd name="T1" fmla="*/ 0 h 288"/>
              <a:gd name="T2" fmla="*/ 0 w 288"/>
              <a:gd name="T3" fmla="*/ 144 h 288"/>
              <a:gd name="T4" fmla="*/ 144 w 288"/>
              <a:gd name="T5" fmla="*/ 288 h 288"/>
              <a:gd name="T6" fmla="*/ 288 w 288"/>
              <a:gd name="T7" fmla="*/ 144 h 288"/>
              <a:gd name="T8" fmla="*/ 144 w 288"/>
              <a:gd name="T9" fmla="*/ 0 h 288"/>
              <a:gd name="T10" fmla="*/ 196 w 288"/>
              <a:gd name="T11" fmla="*/ 211 h 288"/>
              <a:gd name="T12" fmla="*/ 162 w 288"/>
              <a:gd name="T13" fmla="*/ 227 h 288"/>
              <a:gd name="T14" fmla="*/ 162 w 288"/>
              <a:gd name="T15" fmla="*/ 245 h 288"/>
              <a:gd name="T16" fmla="*/ 131 w 288"/>
              <a:gd name="T17" fmla="*/ 245 h 288"/>
              <a:gd name="T18" fmla="*/ 131 w 288"/>
              <a:gd name="T19" fmla="*/ 228 h 288"/>
              <a:gd name="T20" fmla="*/ 84 w 288"/>
              <a:gd name="T21" fmla="*/ 211 h 288"/>
              <a:gd name="T22" fmla="*/ 84 w 288"/>
              <a:gd name="T23" fmla="*/ 173 h 288"/>
              <a:gd name="T24" fmla="*/ 111 w 288"/>
              <a:gd name="T25" fmla="*/ 191 h 288"/>
              <a:gd name="T26" fmla="*/ 143 w 288"/>
              <a:gd name="T27" fmla="*/ 198 h 288"/>
              <a:gd name="T28" fmla="*/ 164 w 288"/>
              <a:gd name="T29" fmla="*/ 194 h 288"/>
              <a:gd name="T30" fmla="*/ 176 w 288"/>
              <a:gd name="T31" fmla="*/ 177 h 288"/>
              <a:gd name="T32" fmla="*/ 152 w 288"/>
              <a:gd name="T33" fmla="*/ 155 h 288"/>
              <a:gd name="T34" fmla="*/ 107 w 288"/>
              <a:gd name="T35" fmla="*/ 139 h 288"/>
              <a:gd name="T36" fmla="*/ 83 w 288"/>
              <a:gd name="T37" fmla="*/ 103 h 288"/>
              <a:gd name="T38" fmla="*/ 98 w 288"/>
              <a:gd name="T39" fmla="*/ 70 h 288"/>
              <a:gd name="T40" fmla="*/ 131 w 288"/>
              <a:gd name="T41" fmla="*/ 55 h 288"/>
              <a:gd name="T42" fmla="*/ 131 w 288"/>
              <a:gd name="T43" fmla="*/ 37 h 288"/>
              <a:gd name="T44" fmla="*/ 162 w 288"/>
              <a:gd name="T45" fmla="*/ 37 h 288"/>
              <a:gd name="T46" fmla="*/ 162 w 288"/>
              <a:gd name="T47" fmla="*/ 56 h 288"/>
              <a:gd name="T48" fmla="*/ 202 w 288"/>
              <a:gd name="T49" fmla="*/ 70 h 288"/>
              <a:gd name="T50" fmla="*/ 202 w 288"/>
              <a:gd name="T51" fmla="*/ 106 h 288"/>
              <a:gd name="T52" fmla="*/ 175 w 288"/>
              <a:gd name="T53" fmla="*/ 90 h 288"/>
              <a:gd name="T54" fmla="*/ 144 w 288"/>
              <a:gd name="T55" fmla="*/ 83 h 288"/>
              <a:gd name="T56" fmla="*/ 127 w 288"/>
              <a:gd name="T57" fmla="*/ 88 h 288"/>
              <a:gd name="T58" fmla="*/ 117 w 288"/>
              <a:gd name="T59" fmla="*/ 101 h 288"/>
              <a:gd name="T60" fmla="*/ 141 w 288"/>
              <a:gd name="T61" fmla="*/ 121 h 288"/>
              <a:gd name="T62" fmla="*/ 186 w 288"/>
              <a:gd name="T63" fmla="*/ 137 h 288"/>
              <a:gd name="T64" fmla="*/ 210 w 288"/>
              <a:gd name="T65" fmla="*/ 175 h 288"/>
              <a:gd name="T66" fmla="*/ 196 w 288"/>
              <a:gd name="T67" fmla="*/ 211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8" h="288">
                <a:moveTo>
                  <a:pt x="144" y="0"/>
                </a:move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23" y="288"/>
                  <a:pt x="288" y="223"/>
                  <a:pt x="288" y="144"/>
                </a:cubicBezTo>
                <a:cubicBezTo>
                  <a:pt x="288" y="64"/>
                  <a:pt x="223" y="0"/>
                  <a:pt x="144" y="0"/>
                </a:cubicBezTo>
                <a:close/>
                <a:moveTo>
                  <a:pt x="196" y="211"/>
                </a:moveTo>
                <a:cubicBezTo>
                  <a:pt x="188" y="219"/>
                  <a:pt x="176" y="224"/>
                  <a:pt x="162" y="227"/>
                </a:cubicBezTo>
                <a:cubicBezTo>
                  <a:pt x="162" y="245"/>
                  <a:pt x="162" y="245"/>
                  <a:pt x="162" y="245"/>
                </a:cubicBezTo>
                <a:cubicBezTo>
                  <a:pt x="131" y="245"/>
                  <a:pt x="131" y="245"/>
                  <a:pt x="131" y="245"/>
                </a:cubicBezTo>
                <a:cubicBezTo>
                  <a:pt x="131" y="228"/>
                  <a:pt x="131" y="228"/>
                  <a:pt x="131" y="228"/>
                </a:cubicBezTo>
                <a:cubicBezTo>
                  <a:pt x="116" y="227"/>
                  <a:pt x="101" y="221"/>
                  <a:pt x="84" y="211"/>
                </a:cubicBezTo>
                <a:cubicBezTo>
                  <a:pt x="84" y="173"/>
                  <a:pt x="84" y="173"/>
                  <a:pt x="84" y="173"/>
                </a:cubicBezTo>
                <a:cubicBezTo>
                  <a:pt x="95" y="181"/>
                  <a:pt x="104" y="187"/>
                  <a:pt x="111" y="191"/>
                </a:cubicBezTo>
                <a:cubicBezTo>
                  <a:pt x="121" y="196"/>
                  <a:pt x="132" y="198"/>
                  <a:pt x="143" y="198"/>
                </a:cubicBezTo>
                <a:cubicBezTo>
                  <a:pt x="152" y="198"/>
                  <a:pt x="159" y="197"/>
                  <a:pt x="164" y="194"/>
                </a:cubicBezTo>
                <a:cubicBezTo>
                  <a:pt x="172" y="190"/>
                  <a:pt x="176" y="184"/>
                  <a:pt x="176" y="177"/>
                </a:cubicBezTo>
                <a:cubicBezTo>
                  <a:pt x="176" y="168"/>
                  <a:pt x="168" y="161"/>
                  <a:pt x="152" y="155"/>
                </a:cubicBezTo>
                <a:cubicBezTo>
                  <a:pt x="123" y="145"/>
                  <a:pt x="109" y="140"/>
                  <a:pt x="107" y="139"/>
                </a:cubicBezTo>
                <a:cubicBezTo>
                  <a:pt x="91" y="131"/>
                  <a:pt x="83" y="119"/>
                  <a:pt x="83" y="103"/>
                </a:cubicBezTo>
                <a:cubicBezTo>
                  <a:pt x="83" y="89"/>
                  <a:pt x="88" y="78"/>
                  <a:pt x="98" y="70"/>
                </a:cubicBezTo>
                <a:cubicBezTo>
                  <a:pt x="107" y="62"/>
                  <a:pt x="118" y="57"/>
                  <a:pt x="131" y="55"/>
                </a:cubicBezTo>
                <a:cubicBezTo>
                  <a:pt x="131" y="37"/>
                  <a:pt x="131" y="37"/>
                  <a:pt x="131" y="37"/>
                </a:cubicBezTo>
                <a:cubicBezTo>
                  <a:pt x="162" y="37"/>
                  <a:pt x="162" y="37"/>
                  <a:pt x="162" y="37"/>
                </a:cubicBezTo>
                <a:cubicBezTo>
                  <a:pt x="162" y="56"/>
                  <a:pt x="162" y="56"/>
                  <a:pt x="162" y="56"/>
                </a:cubicBezTo>
                <a:cubicBezTo>
                  <a:pt x="176" y="58"/>
                  <a:pt x="189" y="62"/>
                  <a:pt x="202" y="70"/>
                </a:cubicBezTo>
                <a:cubicBezTo>
                  <a:pt x="202" y="106"/>
                  <a:pt x="202" y="106"/>
                  <a:pt x="202" y="106"/>
                </a:cubicBezTo>
                <a:cubicBezTo>
                  <a:pt x="190" y="98"/>
                  <a:pt x="181" y="92"/>
                  <a:pt x="175" y="90"/>
                </a:cubicBezTo>
                <a:cubicBezTo>
                  <a:pt x="165" y="85"/>
                  <a:pt x="155" y="83"/>
                  <a:pt x="144" y="83"/>
                </a:cubicBezTo>
                <a:cubicBezTo>
                  <a:pt x="138" y="83"/>
                  <a:pt x="132" y="85"/>
                  <a:pt x="127" y="88"/>
                </a:cubicBezTo>
                <a:cubicBezTo>
                  <a:pt x="120" y="91"/>
                  <a:pt x="117" y="95"/>
                  <a:pt x="117" y="101"/>
                </a:cubicBezTo>
                <a:cubicBezTo>
                  <a:pt x="117" y="109"/>
                  <a:pt x="125" y="116"/>
                  <a:pt x="141" y="121"/>
                </a:cubicBezTo>
                <a:cubicBezTo>
                  <a:pt x="167" y="129"/>
                  <a:pt x="182" y="135"/>
                  <a:pt x="186" y="137"/>
                </a:cubicBezTo>
                <a:cubicBezTo>
                  <a:pt x="202" y="146"/>
                  <a:pt x="210" y="159"/>
                  <a:pt x="210" y="175"/>
                </a:cubicBezTo>
                <a:cubicBezTo>
                  <a:pt x="210" y="190"/>
                  <a:pt x="205" y="202"/>
                  <a:pt x="196" y="211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73" name="Table 6">
            <a:extLst>
              <a:ext uri="{FF2B5EF4-FFF2-40B4-BE49-F238E27FC236}">
                <a16:creationId xmlns:a16="http://schemas.microsoft.com/office/drawing/2014/main" id="{901A9D8C-C4BB-436A-9323-1CFEBD9F8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500228"/>
              </p:ext>
            </p:extLst>
          </p:nvPr>
        </p:nvGraphicFramePr>
        <p:xfrm>
          <a:off x="4001197" y="3299591"/>
          <a:ext cx="7955775" cy="19471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0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PLANNED ACTIVITIES FOR NEXT FEW WEEKS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Start data mapping discussions for COA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/>
                        </a:rPr>
                        <a:t>4/21</a:t>
                      </a:r>
                      <a:endParaRPr lang="en-US" sz="1200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981046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Familiarize DT with templates for data mapping and technical specifications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74866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Follow up and finalize Oracle on functional specs drop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4/11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197575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Identify the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877943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344081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700948"/>
                  </a:ext>
                </a:extLst>
              </a:tr>
            </a:tbl>
          </a:graphicData>
        </a:graphic>
      </p:graphicFrame>
      <p:graphicFrame>
        <p:nvGraphicFramePr>
          <p:cNvPr id="74" name="Table 4">
            <a:extLst>
              <a:ext uri="{FF2B5EF4-FFF2-40B4-BE49-F238E27FC236}">
                <a16:creationId xmlns:a16="http://schemas.microsoft.com/office/drawing/2014/main" id="{EBF72164-D44B-4AB2-93B0-8CDC112F8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079149"/>
              </p:ext>
            </p:extLst>
          </p:nvPr>
        </p:nvGraphicFramePr>
        <p:xfrm>
          <a:off x="4001198" y="1653547"/>
          <a:ext cx="7955775" cy="15195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45">
                  <a:extLst>
                    <a:ext uri="{9D8B030D-6E8A-4147-A177-3AD203B41FA5}">
                      <a16:colId xmlns:a16="http://schemas.microsoft.com/office/drawing/2014/main" val="3395070529"/>
                    </a:ext>
                  </a:extLst>
                </a:gridCol>
                <a:gridCol w="4044588">
                  <a:extLst>
                    <a:ext uri="{9D8B030D-6E8A-4147-A177-3AD203B41FA5}">
                      <a16:colId xmlns:a16="http://schemas.microsoft.com/office/drawing/2014/main" val="3864803265"/>
                    </a:ext>
                  </a:extLst>
                </a:gridCol>
                <a:gridCol w="827360">
                  <a:extLst>
                    <a:ext uri="{9D8B030D-6E8A-4147-A177-3AD203B41FA5}">
                      <a16:colId xmlns:a16="http://schemas.microsoft.com/office/drawing/2014/main" val="3027399220"/>
                    </a:ext>
                  </a:extLst>
                </a:gridCol>
                <a:gridCol w="705679">
                  <a:extLst>
                    <a:ext uri="{9D8B030D-6E8A-4147-A177-3AD203B41FA5}">
                      <a16:colId xmlns:a16="http://schemas.microsoft.com/office/drawing/2014/main" val="3085072682"/>
                    </a:ext>
                  </a:extLst>
                </a:gridCol>
                <a:gridCol w="908320">
                  <a:extLst>
                    <a:ext uri="{9D8B030D-6E8A-4147-A177-3AD203B41FA5}">
                      <a16:colId xmlns:a16="http://schemas.microsoft.com/office/drawing/2014/main" val="4151964516"/>
                    </a:ext>
                  </a:extLst>
                </a:gridCol>
                <a:gridCol w="1099583">
                  <a:extLst>
                    <a:ext uri="{9D8B030D-6E8A-4147-A177-3AD203B41FA5}">
                      <a16:colId xmlns:a16="http://schemas.microsoft.com/office/drawing/2014/main" val="1508659131"/>
                    </a:ext>
                  </a:extLst>
                </a:gridCol>
              </a:tblGrid>
              <a:tr h="378497">
                <a:tc gridSpan="2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KEY</a:t>
                      </a:r>
                      <a:r>
                        <a:rPr lang="en-US" sz="12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 CHALLENGES </a:t>
                      </a:r>
                      <a:endParaRPr lang="en-US" sz="1200" b="1" kern="0" baseline="0">
                        <a:solidFill>
                          <a:schemeClr val="tx1"/>
                        </a:solidFill>
                        <a:latin typeface="+mn-lt"/>
                        <a:ea typeface="ＭＳ Ｐゴシック" charset="0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(R = Risk, I = Issue, A = Action, D = Decision)D</a:t>
                      </a:r>
                      <a:endParaRPr lang="en-US" sz="9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OPEN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DATE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OWNER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PLAN TO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CLOSE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HELP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NEEDED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44806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D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Functional specs drop date from Oracle (Pending)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4/5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Eloy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4/11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362562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D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Align on source for inbound integrations into MFCS identified (Store receipt)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4/6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Eloy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8722463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14286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6D1D85A7-FFBE-4B56-BDE1-6B68796E4F46}"/>
              </a:ext>
            </a:extLst>
          </p:cNvPr>
          <p:cNvGrpSpPr/>
          <p:nvPr/>
        </p:nvGrpSpPr>
        <p:grpSpPr>
          <a:xfrm>
            <a:off x="453690" y="6198585"/>
            <a:ext cx="287492" cy="260840"/>
            <a:chOff x="6361113" y="2438400"/>
            <a:chExt cx="1192213" cy="1084263"/>
          </a:xfrm>
          <a:solidFill>
            <a:srgbClr val="008000"/>
          </a:solidFill>
        </p:grpSpPr>
        <p:sp>
          <p:nvSpPr>
            <p:cNvPr id="76" name="Freeform 21">
              <a:extLst>
                <a:ext uri="{FF2B5EF4-FFF2-40B4-BE49-F238E27FC236}">
                  <a16:creationId xmlns:a16="http://schemas.microsoft.com/office/drawing/2014/main" id="{07F99712-2C68-4FD8-93E9-C94BE92E6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1113" y="2706688"/>
              <a:ext cx="1192213" cy="560388"/>
            </a:xfrm>
            <a:custGeom>
              <a:avLst/>
              <a:gdLst>
                <a:gd name="T0" fmla="*/ 751 w 751"/>
                <a:gd name="T1" fmla="*/ 0 h 353"/>
                <a:gd name="T2" fmla="*/ 0 w 751"/>
                <a:gd name="T3" fmla="*/ 0 h 353"/>
                <a:gd name="T4" fmla="*/ 0 w 751"/>
                <a:gd name="T5" fmla="*/ 353 h 353"/>
                <a:gd name="T6" fmla="*/ 751 w 751"/>
                <a:gd name="T7" fmla="*/ 353 h 353"/>
                <a:gd name="T8" fmla="*/ 751 w 751"/>
                <a:gd name="T9" fmla="*/ 0 h 353"/>
                <a:gd name="T10" fmla="*/ 232 w 751"/>
                <a:gd name="T11" fmla="*/ 173 h 353"/>
                <a:gd name="T12" fmla="*/ 232 w 751"/>
                <a:gd name="T13" fmla="*/ 265 h 353"/>
                <a:gd name="T14" fmla="*/ 69 w 751"/>
                <a:gd name="T15" fmla="*/ 161 h 353"/>
                <a:gd name="T16" fmla="*/ 232 w 751"/>
                <a:gd name="T17" fmla="*/ 57 h 353"/>
                <a:gd name="T18" fmla="*/ 232 w 751"/>
                <a:gd name="T19" fmla="*/ 149 h 353"/>
                <a:gd name="T20" fmla="*/ 523 w 751"/>
                <a:gd name="T21" fmla="*/ 149 h 353"/>
                <a:gd name="T22" fmla="*/ 523 w 751"/>
                <a:gd name="T23" fmla="*/ 57 h 353"/>
                <a:gd name="T24" fmla="*/ 687 w 751"/>
                <a:gd name="T25" fmla="*/ 161 h 353"/>
                <a:gd name="T26" fmla="*/ 523 w 751"/>
                <a:gd name="T27" fmla="*/ 265 h 353"/>
                <a:gd name="T28" fmla="*/ 523 w 751"/>
                <a:gd name="T29" fmla="*/ 173 h 353"/>
                <a:gd name="T30" fmla="*/ 232 w 751"/>
                <a:gd name="T31" fmla="*/ 173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1" h="353">
                  <a:moveTo>
                    <a:pt x="751" y="0"/>
                  </a:moveTo>
                  <a:lnTo>
                    <a:pt x="0" y="0"/>
                  </a:lnTo>
                  <a:lnTo>
                    <a:pt x="0" y="353"/>
                  </a:lnTo>
                  <a:lnTo>
                    <a:pt x="751" y="353"/>
                  </a:lnTo>
                  <a:lnTo>
                    <a:pt x="751" y="0"/>
                  </a:lnTo>
                  <a:close/>
                  <a:moveTo>
                    <a:pt x="232" y="173"/>
                  </a:moveTo>
                  <a:lnTo>
                    <a:pt x="232" y="265"/>
                  </a:lnTo>
                  <a:lnTo>
                    <a:pt x="69" y="161"/>
                  </a:lnTo>
                  <a:lnTo>
                    <a:pt x="232" y="57"/>
                  </a:lnTo>
                  <a:lnTo>
                    <a:pt x="232" y="149"/>
                  </a:lnTo>
                  <a:lnTo>
                    <a:pt x="523" y="149"/>
                  </a:lnTo>
                  <a:lnTo>
                    <a:pt x="523" y="57"/>
                  </a:lnTo>
                  <a:lnTo>
                    <a:pt x="687" y="161"/>
                  </a:lnTo>
                  <a:lnTo>
                    <a:pt x="523" y="265"/>
                  </a:lnTo>
                  <a:lnTo>
                    <a:pt x="523" y="173"/>
                  </a:lnTo>
                  <a:lnTo>
                    <a:pt x="232" y="1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7" name="Freeform 22">
              <a:extLst>
                <a:ext uri="{FF2B5EF4-FFF2-40B4-BE49-F238E27FC236}">
                  <a16:creationId xmlns:a16="http://schemas.microsoft.com/office/drawing/2014/main" id="{35FD81B7-4D87-44FD-8156-5C1D8FE7C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2438400"/>
              <a:ext cx="1192213" cy="230188"/>
            </a:xfrm>
            <a:custGeom>
              <a:avLst/>
              <a:gdLst>
                <a:gd name="T0" fmla="*/ 751 w 751"/>
                <a:gd name="T1" fmla="*/ 0 h 145"/>
                <a:gd name="T2" fmla="*/ 599 w 751"/>
                <a:gd name="T3" fmla="*/ 0 h 145"/>
                <a:gd name="T4" fmla="*/ 599 w 751"/>
                <a:gd name="T5" fmla="*/ 83 h 145"/>
                <a:gd name="T6" fmla="*/ 576 w 751"/>
                <a:gd name="T7" fmla="*/ 83 h 145"/>
                <a:gd name="T8" fmla="*/ 576 w 751"/>
                <a:gd name="T9" fmla="*/ 0 h 145"/>
                <a:gd name="T10" fmla="*/ 393 w 751"/>
                <a:gd name="T11" fmla="*/ 0 h 145"/>
                <a:gd name="T12" fmla="*/ 393 w 751"/>
                <a:gd name="T13" fmla="*/ 83 h 145"/>
                <a:gd name="T14" fmla="*/ 370 w 751"/>
                <a:gd name="T15" fmla="*/ 83 h 145"/>
                <a:gd name="T16" fmla="*/ 370 w 751"/>
                <a:gd name="T17" fmla="*/ 0 h 145"/>
                <a:gd name="T18" fmla="*/ 161 w 751"/>
                <a:gd name="T19" fmla="*/ 0 h 145"/>
                <a:gd name="T20" fmla="*/ 161 w 751"/>
                <a:gd name="T21" fmla="*/ 83 h 145"/>
                <a:gd name="T22" fmla="*/ 137 w 751"/>
                <a:gd name="T23" fmla="*/ 83 h 145"/>
                <a:gd name="T24" fmla="*/ 137 w 751"/>
                <a:gd name="T25" fmla="*/ 0 h 145"/>
                <a:gd name="T26" fmla="*/ 0 w 751"/>
                <a:gd name="T27" fmla="*/ 0 h 145"/>
                <a:gd name="T28" fmla="*/ 0 w 751"/>
                <a:gd name="T29" fmla="*/ 145 h 145"/>
                <a:gd name="T30" fmla="*/ 751 w 751"/>
                <a:gd name="T31" fmla="*/ 145 h 145"/>
                <a:gd name="T32" fmla="*/ 751 w 751"/>
                <a:gd name="T33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45">
                  <a:moveTo>
                    <a:pt x="751" y="0"/>
                  </a:moveTo>
                  <a:lnTo>
                    <a:pt x="599" y="0"/>
                  </a:lnTo>
                  <a:lnTo>
                    <a:pt x="599" y="83"/>
                  </a:lnTo>
                  <a:lnTo>
                    <a:pt x="576" y="83"/>
                  </a:lnTo>
                  <a:lnTo>
                    <a:pt x="576" y="0"/>
                  </a:lnTo>
                  <a:lnTo>
                    <a:pt x="393" y="0"/>
                  </a:lnTo>
                  <a:lnTo>
                    <a:pt x="393" y="83"/>
                  </a:lnTo>
                  <a:lnTo>
                    <a:pt x="370" y="83"/>
                  </a:lnTo>
                  <a:lnTo>
                    <a:pt x="370" y="0"/>
                  </a:lnTo>
                  <a:lnTo>
                    <a:pt x="161" y="0"/>
                  </a:lnTo>
                  <a:lnTo>
                    <a:pt x="161" y="83"/>
                  </a:lnTo>
                  <a:lnTo>
                    <a:pt x="137" y="83"/>
                  </a:lnTo>
                  <a:lnTo>
                    <a:pt x="137" y="0"/>
                  </a:lnTo>
                  <a:lnTo>
                    <a:pt x="0" y="0"/>
                  </a:lnTo>
                  <a:lnTo>
                    <a:pt x="0" y="145"/>
                  </a:lnTo>
                  <a:lnTo>
                    <a:pt x="751" y="145"/>
                  </a:lnTo>
                  <a:lnTo>
                    <a:pt x="7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8" name="Freeform 23">
              <a:extLst>
                <a:ext uri="{FF2B5EF4-FFF2-40B4-BE49-F238E27FC236}">
                  <a16:creationId xmlns:a16="http://schemas.microsoft.com/office/drawing/2014/main" id="{EDCE3E85-1643-4F8A-AED7-2920DD7A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3305175"/>
              <a:ext cx="1192213" cy="217488"/>
            </a:xfrm>
            <a:custGeom>
              <a:avLst/>
              <a:gdLst>
                <a:gd name="T0" fmla="*/ 0 w 751"/>
                <a:gd name="T1" fmla="*/ 137 h 137"/>
                <a:gd name="T2" fmla="*/ 137 w 751"/>
                <a:gd name="T3" fmla="*/ 137 h 137"/>
                <a:gd name="T4" fmla="*/ 137 w 751"/>
                <a:gd name="T5" fmla="*/ 54 h 137"/>
                <a:gd name="T6" fmla="*/ 161 w 751"/>
                <a:gd name="T7" fmla="*/ 54 h 137"/>
                <a:gd name="T8" fmla="*/ 161 w 751"/>
                <a:gd name="T9" fmla="*/ 137 h 137"/>
                <a:gd name="T10" fmla="*/ 370 w 751"/>
                <a:gd name="T11" fmla="*/ 137 h 137"/>
                <a:gd name="T12" fmla="*/ 370 w 751"/>
                <a:gd name="T13" fmla="*/ 54 h 137"/>
                <a:gd name="T14" fmla="*/ 393 w 751"/>
                <a:gd name="T15" fmla="*/ 54 h 137"/>
                <a:gd name="T16" fmla="*/ 393 w 751"/>
                <a:gd name="T17" fmla="*/ 137 h 137"/>
                <a:gd name="T18" fmla="*/ 576 w 751"/>
                <a:gd name="T19" fmla="*/ 137 h 137"/>
                <a:gd name="T20" fmla="*/ 576 w 751"/>
                <a:gd name="T21" fmla="*/ 54 h 137"/>
                <a:gd name="T22" fmla="*/ 599 w 751"/>
                <a:gd name="T23" fmla="*/ 54 h 137"/>
                <a:gd name="T24" fmla="*/ 599 w 751"/>
                <a:gd name="T25" fmla="*/ 137 h 137"/>
                <a:gd name="T26" fmla="*/ 751 w 751"/>
                <a:gd name="T27" fmla="*/ 137 h 137"/>
                <a:gd name="T28" fmla="*/ 751 w 751"/>
                <a:gd name="T29" fmla="*/ 0 h 137"/>
                <a:gd name="T30" fmla="*/ 0 w 751"/>
                <a:gd name="T31" fmla="*/ 0 h 137"/>
                <a:gd name="T32" fmla="*/ 0 w 751"/>
                <a:gd name="T3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37">
                  <a:moveTo>
                    <a:pt x="0" y="137"/>
                  </a:moveTo>
                  <a:lnTo>
                    <a:pt x="137" y="137"/>
                  </a:lnTo>
                  <a:lnTo>
                    <a:pt x="137" y="54"/>
                  </a:lnTo>
                  <a:lnTo>
                    <a:pt x="161" y="54"/>
                  </a:lnTo>
                  <a:lnTo>
                    <a:pt x="161" y="137"/>
                  </a:lnTo>
                  <a:lnTo>
                    <a:pt x="370" y="137"/>
                  </a:lnTo>
                  <a:lnTo>
                    <a:pt x="370" y="54"/>
                  </a:lnTo>
                  <a:lnTo>
                    <a:pt x="393" y="54"/>
                  </a:lnTo>
                  <a:lnTo>
                    <a:pt x="393" y="137"/>
                  </a:lnTo>
                  <a:lnTo>
                    <a:pt x="576" y="137"/>
                  </a:lnTo>
                  <a:lnTo>
                    <a:pt x="576" y="54"/>
                  </a:lnTo>
                  <a:lnTo>
                    <a:pt x="599" y="54"/>
                  </a:lnTo>
                  <a:lnTo>
                    <a:pt x="599" y="137"/>
                  </a:lnTo>
                  <a:lnTo>
                    <a:pt x="751" y="137"/>
                  </a:lnTo>
                  <a:lnTo>
                    <a:pt x="751" y="0"/>
                  </a:ln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DBE5DBDB-7191-423C-A7BA-1D06B26A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944810"/>
              </p:ext>
            </p:extLst>
          </p:nvPr>
        </p:nvGraphicFramePr>
        <p:xfrm>
          <a:off x="4001197" y="5704628"/>
          <a:ext cx="7955774" cy="1097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3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747">
                  <a:extLst>
                    <a:ext uri="{9D8B030D-6E8A-4147-A177-3AD203B41FA5}">
                      <a16:colId xmlns:a16="http://schemas.microsoft.com/office/drawing/2014/main" val="109970816"/>
                    </a:ext>
                  </a:extLst>
                </a:gridCol>
              </a:tblGrid>
              <a:tr h="2745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KEY ACCOMPLISHMENTS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274557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First round of alignment discussions on functional specs drop date from Oracle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325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65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498602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73DE2A73-F124-49CE-A59E-E8FEE3C3D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340012"/>
              </p:ext>
            </p:extLst>
          </p:nvPr>
        </p:nvGraphicFramePr>
        <p:xfrm>
          <a:off x="355043" y="1653547"/>
          <a:ext cx="3551879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8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HEADLINES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115643"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Identified systems/POC from current  landscape for Store receipt integration.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Participate in Oracle familiarization sessions and understand key design decisions impacting integrations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764E9-397A-4FEE-BE8F-0A55A10F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45439" y="6461653"/>
            <a:ext cx="22045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792D4-8FCB-4391-8F5D-038B8C6DF5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05A4782-6C23-48D9-A37D-11B020DB0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077497"/>
              </p:ext>
            </p:extLst>
          </p:nvPr>
        </p:nvGraphicFramePr>
        <p:xfrm>
          <a:off x="353675" y="763141"/>
          <a:ext cx="11591756" cy="4267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1868">
                  <a:extLst>
                    <a:ext uri="{9D8B030D-6E8A-4147-A177-3AD203B41FA5}">
                      <a16:colId xmlns:a16="http://schemas.microsoft.com/office/drawing/2014/main" val="289832473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27536416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705719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11104500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3724495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029764863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88982471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98189912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2260647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6473915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72581358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730589314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6532444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8129591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41201056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151150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51029071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2 Q1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3 Q1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4 Q2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6 Q2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77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03/20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03/27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4/3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04/24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05/01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05/08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05/15</a:t>
                      </a:r>
                      <a:endParaRPr sz="1000" b="0" u="none" strike="noStrike" kern="1200" cap="none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05/22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5/29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06/05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06/19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06/26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07/03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21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040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281D647E-AB06-4503-91E1-9D2E663A4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71342"/>
              </p:ext>
            </p:extLst>
          </p:nvPr>
        </p:nvGraphicFramePr>
        <p:xfrm>
          <a:off x="355043" y="4696518"/>
          <a:ext cx="3551879" cy="144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Path to 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08061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700D2D8-F279-4BD0-AE75-A35824C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71466"/>
              </p:ext>
            </p:extLst>
          </p:nvPr>
        </p:nvGraphicFramePr>
        <p:xfrm>
          <a:off x="353676" y="6149622"/>
          <a:ext cx="3553246" cy="6396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24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314399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E4F9061D-66F6-46F5-A528-2CAD67D6D0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E4F9061D-66F6-46F5-A528-2CAD67D6D0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71A01C71-E6B9-4439-A77C-C8D429F5E0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  <a:sym typeface="Arial Black" panose="020B0A040201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77763" y="1335973"/>
            <a:ext cx="5867677" cy="279218"/>
            <a:chOff x="-1977497" y="6479196"/>
            <a:chExt cx="5867677" cy="27921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98A3D2-2955-47A3-A45F-954E71C3A29B}"/>
                </a:ext>
              </a:extLst>
            </p:cNvPr>
            <p:cNvSpPr/>
            <p:nvPr/>
          </p:nvSpPr>
          <p:spPr>
            <a:xfrm>
              <a:off x="2622702" y="6529323"/>
              <a:ext cx="517585" cy="1552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36A68D8-F079-49D7-B3EE-3ED56FC5754C}"/>
                </a:ext>
              </a:extLst>
            </p:cNvPr>
            <p:cNvSpPr/>
            <p:nvPr/>
          </p:nvSpPr>
          <p:spPr>
            <a:xfrm>
              <a:off x="-672926" y="6533734"/>
              <a:ext cx="517585" cy="15527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402094A-7919-4D9B-8D13-EFC68E877178}"/>
                </a:ext>
              </a:extLst>
            </p:cNvPr>
            <p:cNvSpPr/>
            <p:nvPr/>
          </p:nvSpPr>
          <p:spPr>
            <a:xfrm>
              <a:off x="-1901217" y="6537025"/>
              <a:ext cx="517585" cy="15527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EF15C40-2AB1-4FD2-91AB-74F497DDCBD9}"/>
                </a:ext>
              </a:extLst>
            </p:cNvPr>
            <p:cNvSpPr/>
            <p:nvPr/>
          </p:nvSpPr>
          <p:spPr>
            <a:xfrm>
              <a:off x="762747" y="6537025"/>
              <a:ext cx="517585" cy="1552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0B7D58-6D5D-42E5-930B-7972EE66EF4B}"/>
                </a:ext>
              </a:extLst>
            </p:cNvPr>
            <p:cNvSpPr txBox="1"/>
            <p:nvPr/>
          </p:nvSpPr>
          <p:spPr>
            <a:xfrm>
              <a:off x="3235114" y="6529323"/>
              <a:ext cx="655066" cy="1542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Completed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7B0633D-8BD0-4BA8-B93C-F8A7F2588FBF}"/>
                </a:ext>
              </a:extLst>
            </p:cNvPr>
            <p:cNvSpPr txBox="1"/>
            <p:nvPr/>
          </p:nvSpPr>
          <p:spPr>
            <a:xfrm>
              <a:off x="-1323456" y="6522648"/>
              <a:ext cx="555825" cy="16965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On-track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3C59F7-6B3A-4EF8-BD04-E23EF4982980}"/>
                </a:ext>
              </a:extLst>
            </p:cNvPr>
            <p:cNvSpPr txBox="1"/>
            <p:nvPr/>
          </p:nvSpPr>
          <p:spPr>
            <a:xfrm>
              <a:off x="-66324" y="6528815"/>
              <a:ext cx="732664" cy="15474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Risk or delay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8C42740-DEF9-4138-9AC9-F6A6A5B73E3A}"/>
                </a:ext>
              </a:extLst>
            </p:cNvPr>
            <p:cNvSpPr txBox="1"/>
            <p:nvPr/>
          </p:nvSpPr>
          <p:spPr>
            <a:xfrm>
              <a:off x="1340508" y="6527100"/>
              <a:ext cx="1222018" cy="8345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Critical issue or delay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6C01C49-4DF8-404E-A676-F50C124A6CB7}"/>
                </a:ext>
              </a:extLst>
            </p:cNvPr>
            <p:cNvSpPr/>
            <p:nvPr/>
          </p:nvSpPr>
          <p:spPr>
            <a:xfrm>
              <a:off x="-1977497" y="6479196"/>
              <a:ext cx="5867677" cy="279218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44" name="Title 30">
            <a:extLst>
              <a:ext uri="{FF2B5EF4-FFF2-40B4-BE49-F238E27FC236}">
                <a16:creationId xmlns:a16="http://schemas.microsoft.com/office/drawing/2014/main" id="{236596C2-8276-4E0D-8650-48667463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05" y="160431"/>
            <a:ext cx="11491383" cy="648404"/>
          </a:xfrm>
        </p:spPr>
        <p:txBody>
          <a:bodyPr vert="horz">
            <a:normAutofit/>
          </a:bodyPr>
          <a:lstStyle/>
          <a:p>
            <a:r>
              <a:rPr lang="en-US" sz="2000">
                <a:latin typeface="Arial Black"/>
              </a:rPr>
              <a:t>PROJECT WEEKLY STATUS: Overall ESL Program</a:t>
            </a:r>
            <a:br>
              <a:rPr lang="en-US" sz="2000">
                <a:latin typeface="Arial Black"/>
              </a:rPr>
            </a:br>
            <a:r>
              <a:rPr lang="en-US" sz="2000" b="1" cap="all">
                <a:latin typeface="Arial Black"/>
              </a:rPr>
              <a:t>MARCH 31</a:t>
            </a:r>
            <a:r>
              <a:rPr lang="en-US" sz="2000">
                <a:latin typeface="Arial Black"/>
              </a:rPr>
              <a:t>, 2023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30764F-3742-49CF-A60A-6961F7F54D67}"/>
              </a:ext>
            </a:extLst>
          </p:cNvPr>
          <p:cNvSpPr txBox="1"/>
          <p:nvPr/>
        </p:nvSpPr>
        <p:spPr>
          <a:xfrm>
            <a:off x="2880361" y="445736"/>
            <a:ext cx="9158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EXECUTIVE SPONSOR: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Bobby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Aflatooni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Larry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Gatta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Rick McNeely 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PROGRAM LEADER: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Abhay Shetty / Bryan Byrd  </a:t>
            </a:r>
            <a:r>
              <a:rPr kumimoji="0" lang="en-US" sz="1200" b="1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/>
                <a:cs typeface="Calibri"/>
              </a:rPr>
              <a:t>PM/lead: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Rajesh Thukral </a:t>
            </a: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82" y="6462"/>
            <a:ext cx="1980004" cy="313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7" name="Table 2">
            <a:extLst>
              <a:ext uri="{FF2B5EF4-FFF2-40B4-BE49-F238E27FC236}">
                <a16:creationId xmlns:a16="http://schemas.microsoft.com/office/drawing/2014/main" id="{2852C303-53E8-434F-AAB5-EB07D4B0D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267767"/>
              </p:ext>
            </p:extLst>
          </p:nvPr>
        </p:nvGraphicFramePr>
        <p:xfrm>
          <a:off x="355043" y="3321130"/>
          <a:ext cx="3553246" cy="1183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3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3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 panose="020F0502020204030204" pitchFamily="34" charset="0"/>
                        </a:rPr>
                        <a:t>DELIVERABLES &amp; KEY MILESTONES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 panose="020F0502020204030204" pitchFamily="34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Integrated work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WO 4/10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01692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Expense Forecast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WO 4/21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662298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629769"/>
                  </a:ext>
                </a:extLst>
              </a:tr>
            </a:tbl>
          </a:graphicData>
        </a:graphic>
      </p:graphicFrame>
      <p:sp>
        <p:nvSpPr>
          <p:cNvPr id="70" name="Freeform 25">
            <a:extLst>
              <a:ext uri="{FF2B5EF4-FFF2-40B4-BE49-F238E27FC236}">
                <a16:creationId xmlns:a16="http://schemas.microsoft.com/office/drawing/2014/main" id="{C5D33FCC-FDF7-4224-9E4B-38B41F1E9470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173630"/>
            <a:ext cx="274050" cy="252680"/>
          </a:xfrm>
          <a:custGeom>
            <a:avLst/>
            <a:gdLst>
              <a:gd name="T0" fmla="*/ 259 w 288"/>
              <a:gd name="T1" fmla="*/ 0 h 288"/>
              <a:gd name="T2" fmla="*/ 29 w 288"/>
              <a:gd name="T3" fmla="*/ 0 h 288"/>
              <a:gd name="T4" fmla="*/ 0 w 288"/>
              <a:gd name="T5" fmla="*/ 29 h 288"/>
              <a:gd name="T6" fmla="*/ 0 w 288"/>
              <a:gd name="T7" fmla="*/ 260 h 288"/>
              <a:gd name="T8" fmla="*/ 29 w 288"/>
              <a:gd name="T9" fmla="*/ 288 h 288"/>
              <a:gd name="T10" fmla="*/ 48 w 288"/>
              <a:gd name="T11" fmla="*/ 288 h 288"/>
              <a:gd name="T12" fmla="*/ 48 w 288"/>
              <a:gd name="T13" fmla="*/ 224 h 288"/>
              <a:gd name="T14" fmla="*/ 108 w 288"/>
              <a:gd name="T15" fmla="*/ 164 h 288"/>
              <a:gd name="T16" fmla="*/ 183 w 288"/>
              <a:gd name="T17" fmla="*/ 164 h 288"/>
              <a:gd name="T18" fmla="*/ 244 w 288"/>
              <a:gd name="T19" fmla="*/ 224 h 288"/>
              <a:gd name="T20" fmla="*/ 244 w 288"/>
              <a:gd name="T21" fmla="*/ 288 h 288"/>
              <a:gd name="T22" fmla="*/ 259 w 288"/>
              <a:gd name="T23" fmla="*/ 288 h 288"/>
              <a:gd name="T24" fmla="*/ 288 w 288"/>
              <a:gd name="T25" fmla="*/ 260 h 288"/>
              <a:gd name="T26" fmla="*/ 288 w 288"/>
              <a:gd name="T27" fmla="*/ 29 h 288"/>
              <a:gd name="T28" fmla="*/ 259 w 288"/>
              <a:gd name="T29" fmla="*/ 0 h 288"/>
              <a:gd name="T30" fmla="*/ 144 w 288"/>
              <a:gd name="T31" fmla="*/ 135 h 288"/>
              <a:gd name="T32" fmla="*/ 93 w 288"/>
              <a:gd name="T33" fmla="*/ 84 h 288"/>
              <a:gd name="T34" fmla="*/ 144 w 288"/>
              <a:gd name="T35" fmla="*/ 33 h 288"/>
              <a:gd name="T36" fmla="*/ 195 w 288"/>
              <a:gd name="T37" fmla="*/ 84 h 288"/>
              <a:gd name="T38" fmla="*/ 144 w 288"/>
              <a:gd name="T39" fmla="*/ 135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8" h="288">
                <a:moveTo>
                  <a:pt x="259" y="0"/>
                </a:moveTo>
                <a:cubicBezTo>
                  <a:pt x="29" y="0"/>
                  <a:pt x="29" y="0"/>
                  <a:pt x="29" y="0"/>
                </a:cubicBezTo>
                <a:cubicBezTo>
                  <a:pt x="13" y="0"/>
                  <a:pt x="0" y="13"/>
                  <a:pt x="0" y="29"/>
                </a:cubicBezTo>
                <a:cubicBezTo>
                  <a:pt x="0" y="260"/>
                  <a:pt x="0" y="260"/>
                  <a:pt x="0" y="260"/>
                </a:cubicBezTo>
                <a:cubicBezTo>
                  <a:pt x="0" y="275"/>
                  <a:pt x="13" y="288"/>
                  <a:pt x="29" y="288"/>
                </a:cubicBezTo>
                <a:cubicBezTo>
                  <a:pt x="48" y="288"/>
                  <a:pt x="48" y="288"/>
                  <a:pt x="48" y="288"/>
                </a:cubicBezTo>
                <a:cubicBezTo>
                  <a:pt x="48" y="224"/>
                  <a:pt x="48" y="224"/>
                  <a:pt x="48" y="224"/>
                </a:cubicBezTo>
                <a:cubicBezTo>
                  <a:pt x="48" y="191"/>
                  <a:pt x="75" y="164"/>
                  <a:pt x="108" y="164"/>
                </a:cubicBezTo>
                <a:cubicBezTo>
                  <a:pt x="183" y="164"/>
                  <a:pt x="183" y="164"/>
                  <a:pt x="183" y="164"/>
                </a:cubicBezTo>
                <a:cubicBezTo>
                  <a:pt x="216" y="164"/>
                  <a:pt x="244" y="191"/>
                  <a:pt x="244" y="224"/>
                </a:cubicBezTo>
                <a:cubicBezTo>
                  <a:pt x="244" y="288"/>
                  <a:pt x="244" y="288"/>
                  <a:pt x="244" y="288"/>
                </a:cubicBezTo>
                <a:cubicBezTo>
                  <a:pt x="259" y="288"/>
                  <a:pt x="259" y="288"/>
                  <a:pt x="259" y="288"/>
                </a:cubicBezTo>
                <a:cubicBezTo>
                  <a:pt x="275" y="288"/>
                  <a:pt x="288" y="275"/>
                  <a:pt x="288" y="260"/>
                </a:cubicBezTo>
                <a:cubicBezTo>
                  <a:pt x="288" y="29"/>
                  <a:pt x="288" y="29"/>
                  <a:pt x="288" y="29"/>
                </a:cubicBezTo>
                <a:cubicBezTo>
                  <a:pt x="288" y="13"/>
                  <a:pt x="275" y="0"/>
                  <a:pt x="259" y="0"/>
                </a:cubicBezTo>
                <a:close/>
                <a:moveTo>
                  <a:pt x="144" y="135"/>
                </a:moveTo>
                <a:cubicBezTo>
                  <a:pt x="116" y="135"/>
                  <a:pt x="93" y="112"/>
                  <a:pt x="93" y="84"/>
                </a:cubicBezTo>
                <a:cubicBezTo>
                  <a:pt x="93" y="56"/>
                  <a:pt x="116" y="33"/>
                  <a:pt x="144" y="33"/>
                </a:cubicBezTo>
                <a:cubicBezTo>
                  <a:pt x="172" y="33"/>
                  <a:pt x="195" y="56"/>
                  <a:pt x="195" y="84"/>
                </a:cubicBezTo>
                <a:cubicBezTo>
                  <a:pt x="195" y="112"/>
                  <a:pt x="172" y="135"/>
                  <a:pt x="144" y="135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1" name="Freeform 19">
            <a:extLst>
              <a:ext uri="{FF2B5EF4-FFF2-40B4-BE49-F238E27FC236}">
                <a16:creationId xmlns:a16="http://schemas.microsoft.com/office/drawing/2014/main" id="{64948846-B5AF-48EF-A542-0EB74288CF7B}"/>
              </a:ext>
            </a:extLst>
          </p:cNvPr>
          <p:cNvSpPr>
            <a:spLocks noEditPoints="1"/>
          </p:cNvSpPr>
          <p:nvPr/>
        </p:nvSpPr>
        <p:spPr bwMode="auto">
          <a:xfrm>
            <a:off x="450704" y="6518188"/>
            <a:ext cx="273648" cy="259045"/>
          </a:xfrm>
          <a:custGeom>
            <a:avLst/>
            <a:gdLst>
              <a:gd name="T0" fmla="*/ 288 w 288"/>
              <a:gd name="T1" fmla="*/ 144 h 288"/>
              <a:gd name="T2" fmla="*/ 234 w 288"/>
              <a:gd name="T3" fmla="*/ 31 h 288"/>
              <a:gd name="T4" fmla="*/ 234 w 288"/>
              <a:gd name="T5" fmla="*/ 31 h 288"/>
              <a:gd name="T6" fmla="*/ 233 w 288"/>
              <a:gd name="T7" fmla="*/ 31 h 288"/>
              <a:gd name="T8" fmla="*/ 144 w 288"/>
              <a:gd name="T9" fmla="*/ 0 h 288"/>
              <a:gd name="T10" fmla="*/ 0 w 288"/>
              <a:gd name="T11" fmla="*/ 144 h 288"/>
              <a:gd name="T12" fmla="*/ 144 w 288"/>
              <a:gd name="T13" fmla="*/ 288 h 288"/>
              <a:gd name="T14" fmla="*/ 287 w 288"/>
              <a:gd name="T15" fmla="*/ 156 h 288"/>
              <a:gd name="T16" fmla="*/ 287 w 288"/>
              <a:gd name="T17" fmla="*/ 156 h 288"/>
              <a:gd name="T18" fmla="*/ 287 w 288"/>
              <a:gd name="T19" fmla="*/ 156 h 288"/>
              <a:gd name="T20" fmla="*/ 288 w 288"/>
              <a:gd name="T21" fmla="*/ 144 h 288"/>
              <a:gd name="T22" fmla="*/ 247 w 288"/>
              <a:gd name="T23" fmla="*/ 79 h 288"/>
              <a:gd name="T24" fmla="*/ 251 w 288"/>
              <a:gd name="T25" fmla="*/ 87 h 288"/>
              <a:gd name="T26" fmla="*/ 220 w 288"/>
              <a:gd name="T27" fmla="*/ 105 h 288"/>
              <a:gd name="T28" fmla="*/ 215 w 288"/>
              <a:gd name="T29" fmla="*/ 97 h 288"/>
              <a:gd name="T30" fmla="*/ 247 w 288"/>
              <a:gd name="T31" fmla="*/ 79 h 288"/>
              <a:gd name="T32" fmla="*/ 201 w 288"/>
              <a:gd name="T33" fmla="*/ 36 h 288"/>
              <a:gd name="T34" fmla="*/ 208 w 288"/>
              <a:gd name="T35" fmla="*/ 41 h 288"/>
              <a:gd name="T36" fmla="*/ 190 w 288"/>
              <a:gd name="T37" fmla="*/ 73 h 288"/>
              <a:gd name="T38" fmla="*/ 182 w 288"/>
              <a:gd name="T39" fmla="*/ 68 h 288"/>
              <a:gd name="T40" fmla="*/ 201 w 288"/>
              <a:gd name="T41" fmla="*/ 36 h 288"/>
              <a:gd name="T42" fmla="*/ 208 w 288"/>
              <a:gd name="T43" fmla="*/ 246 h 288"/>
              <a:gd name="T44" fmla="*/ 191 w 288"/>
              <a:gd name="T45" fmla="*/ 215 h 288"/>
              <a:gd name="T46" fmla="*/ 183 w 288"/>
              <a:gd name="T47" fmla="*/ 220 h 288"/>
              <a:gd name="T48" fmla="*/ 201 w 288"/>
              <a:gd name="T49" fmla="*/ 250 h 288"/>
              <a:gd name="T50" fmla="*/ 149 w 288"/>
              <a:gd name="T51" fmla="*/ 264 h 288"/>
              <a:gd name="T52" fmla="*/ 149 w 288"/>
              <a:gd name="T53" fmla="*/ 229 h 288"/>
              <a:gd name="T54" fmla="*/ 140 w 288"/>
              <a:gd name="T55" fmla="*/ 229 h 288"/>
              <a:gd name="T56" fmla="*/ 140 w 288"/>
              <a:gd name="T57" fmla="*/ 265 h 288"/>
              <a:gd name="T58" fmla="*/ 88 w 288"/>
              <a:gd name="T59" fmla="*/ 251 h 288"/>
              <a:gd name="T60" fmla="*/ 106 w 288"/>
              <a:gd name="T61" fmla="*/ 220 h 288"/>
              <a:gd name="T62" fmla="*/ 98 w 288"/>
              <a:gd name="T63" fmla="*/ 216 h 288"/>
              <a:gd name="T64" fmla="*/ 80 w 288"/>
              <a:gd name="T65" fmla="*/ 247 h 288"/>
              <a:gd name="T66" fmla="*/ 42 w 288"/>
              <a:gd name="T67" fmla="*/ 209 h 288"/>
              <a:gd name="T68" fmla="*/ 73 w 288"/>
              <a:gd name="T69" fmla="*/ 191 h 288"/>
              <a:gd name="T70" fmla="*/ 68 w 288"/>
              <a:gd name="T71" fmla="*/ 183 h 288"/>
              <a:gd name="T72" fmla="*/ 37 w 288"/>
              <a:gd name="T73" fmla="*/ 201 h 288"/>
              <a:gd name="T74" fmla="*/ 23 w 288"/>
              <a:gd name="T75" fmla="*/ 149 h 288"/>
              <a:gd name="T76" fmla="*/ 59 w 288"/>
              <a:gd name="T77" fmla="*/ 149 h 288"/>
              <a:gd name="T78" fmla="*/ 59 w 288"/>
              <a:gd name="T79" fmla="*/ 140 h 288"/>
              <a:gd name="T80" fmla="*/ 23 w 288"/>
              <a:gd name="T81" fmla="*/ 140 h 288"/>
              <a:gd name="T82" fmla="*/ 36 w 288"/>
              <a:gd name="T83" fmla="*/ 88 h 288"/>
              <a:gd name="T84" fmla="*/ 68 w 288"/>
              <a:gd name="T85" fmla="*/ 106 h 288"/>
              <a:gd name="T86" fmla="*/ 72 w 288"/>
              <a:gd name="T87" fmla="*/ 98 h 288"/>
              <a:gd name="T88" fmla="*/ 41 w 288"/>
              <a:gd name="T89" fmla="*/ 80 h 288"/>
              <a:gd name="T90" fmla="*/ 36 w 288"/>
              <a:gd name="T91" fmla="*/ 88 h 288"/>
              <a:gd name="T92" fmla="*/ 79 w 288"/>
              <a:gd name="T93" fmla="*/ 41 h 288"/>
              <a:gd name="T94" fmla="*/ 97 w 288"/>
              <a:gd name="T95" fmla="*/ 72 h 288"/>
              <a:gd name="T96" fmla="*/ 105 w 288"/>
              <a:gd name="T97" fmla="*/ 68 h 288"/>
              <a:gd name="T98" fmla="*/ 87 w 288"/>
              <a:gd name="T99" fmla="*/ 36 h 288"/>
              <a:gd name="T100" fmla="*/ 144 w 288"/>
              <a:gd name="T101" fmla="*/ 22 h 288"/>
              <a:gd name="T102" fmla="*/ 144 w 288"/>
              <a:gd name="T103" fmla="*/ 147 h 288"/>
              <a:gd name="T104" fmla="*/ 241 w 288"/>
              <a:gd name="T105" fmla="*/ 216 h 288"/>
              <a:gd name="T106" fmla="*/ 208 w 288"/>
              <a:gd name="T107" fmla="*/ 246 h 288"/>
              <a:gd name="T108" fmla="*/ 266 w 288"/>
              <a:gd name="T109" fmla="*/ 148 h 288"/>
              <a:gd name="T110" fmla="*/ 229 w 288"/>
              <a:gd name="T111" fmla="*/ 148 h 288"/>
              <a:gd name="T112" fmla="*/ 229 w 288"/>
              <a:gd name="T113" fmla="*/ 139 h 288"/>
              <a:gd name="T114" fmla="*/ 266 w 288"/>
              <a:gd name="T115" fmla="*/ 139 h 288"/>
              <a:gd name="T116" fmla="*/ 266 w 288"/>
              <a:gd name="T117" fmla="*/ 14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88" h="288">
                <a:moveTo>
                  <a:pt x="288" y="144"/>
                </a:moveTo>
                <a:cubicBezTo>
                  <a:pt x="288" y="98"/>
                  <a:pt x="266" y="58"/>
                  <a:pt x="234" y="31"/>
                </a:cubicBezTo>
                <a:cubicBezTo>
                  <a:pt x="234" y="31"/>
                  <a:pt x="234" y="31"/>
                  <a:pt x="234" y="31"/>
                </a:cubicBezTo>
                <a:cubicBezTo>
                  <a:pt x="233" y="31"/>
                  <a:pt x="233" y="31"/>
                  <a:pt x="233" y="31"/>
                </a:cubicBezTo>
                <a:cubicBezTo>
                  <a:pt x="209" y="11"/>
                  <a:pt x="178" y="0"/>
                  <a:pt x="144" y="0"/>
                </a:cubicBez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19" y="288"/>
                  <a:pt x="281" y="230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2"/>
                  <a:pt x="288" y="148"/>
                  <a:pt x="288" y="144"/>
                </a:cubicBezTo>
                <a:close/>
                <a:moveTo>
                  <a:pt x="247" y="79"/>
                </a:moveTo>
                <a:cubicBezTo>
                  <a:pt x="251" y="87"/>
                  <a:pt x="251" y="87"/>
                  <a:pt x="251" y="87"/>
                </a:cubicBezTo>
                <a:cubicBezTo>
                  <a:pt x="220" y="105"/>
                  <a:pt x="220" y="105"/>
                  <a:pt x="220" y="105"/>
                </a:cubicBezTo>
                <a:cubicBezTo>
                  <a:pt x="215" y="97"/>
                  <a:pt x="215" y="97"/>
                  <a:pt x="215" y="97"/>
                </a:cubicBezTo>
                <a:lnTo>
                  <a:pt x="247" y="79"/>
                </a:lnTo>
                <a:close/>
                <a:moveTo>
                  <a:pt x="201" y="36"/>
                </a:moveTo>
                <a:cubicBezTo>
                  <a:pt x="208" y="41"/>
                  <a:pt x="208" y="41"/>
                  <a:pt x="208" y="41"/>
                </a:cubicBezTo>
                <a:cubicBezTo>
                  <a:pt x="190" y="73"/>
                  <a:pt x="190" y="73"/>
                  <a:pt x="190" y="73"/>
                </a:cubicBezTo>
                <a:cubicBezTo>
                  <a:pt x="182" y="68"/>
                  <a:pt x="182" y="68"/>
                  <a:pt x="182" y="68"/>
                </a:cubicBezTo>
                <a:lnTo>
                  <a:pt x="201" y="36"/>
                </a:lnTo>
                <a:close/>
                <a:moveTo>
                  <a:pt x="208" y="246"/>
                </a:moveTo>
                <a:cubicBezTo>
                  <a:pt x="191" y="215"/>
                  <a:pt x="191" y="215"/>
                  <a:pt x="191" y="215"/>
                </a:cubicBezTo>
                <a:cubicBezTo>
                  <a:pt x="183" y="220"/>
                  <a:pt x="183" y="220"/>
                  <a:pt x="183" y="220"/>
                </a:cubicBezTo>
                <a:cubicBezTo>
                  <a:pt x="201" y="250"/>
                  <a:pt x="201" y="250"/>
                  <a:pt x="201" y="250"/>
                </a:cubicBezTo>
                <a:cubicBezTo>
                  <a:pt x="185" y="259"/>
                  <a:pt x="168" y="264"/>
                  <a:pt x="149" y="264"/>
                </a:cubicBezTo>
                <a:cubicBezTo>
                  <a:pt x="149" y="229"/>
                  <a:pt x="149" y="229"/>
                  <a:pt x="149" y="229"/>
                </a:cubicBezTo>
                <a:cubicBezTo>
                  <a:pt x="140" y="229"/>
                  <a:pt x="140" y="229"/>
                  <a:pt x="140" y="229"/>
                </a:cubicBezTo>
                <a:cubicBezTo>
                  <a:pt x="140" y="265"/>
                  <a:pt x="140" y="265"/>
                  <a:pt x="140" y="265"/>
                </a:cubicBezTo>
                <a:cubicBezTo>
                  <a:pt x="121" y="264"/>
                  <a:pt x="104" y="259"/>
                  <a:pt x="88" y="251"/>
                </a:cubicBezTo>
                <a:cubicBezTo>
                  <a:pt x="106" y="220"/>
                  <a:pt x="106" y="220"/>
                  <a:pt x="106" y="220"/>
                </a:cubicBezTo>
                <a:cubicBezTo>
                  <a:pt x="98" y="216"/>
                  <a:pt x="98" y="216"/>
                  <a:pt x="98" y="216"/>
                </a:cubicBezTo>
                <a:cubicBezTo>
                  <a:pt x="80" y="247"/>
                  <a:pt x="80" y="247"/>
                  <a:pt x="80" y="247"/>
                </a:cubicBezTo>
                <a:cubicBezTo>
                  <a:pt x="65" y="237"/>
                  <a:pt x="52" y="224"/>
                  <a:pt x="42" y="209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68" y="183"/>
                  <a:pt x="68" y="183"/>
                  <a:pt x="68" y="183"/>
                </a:cubicBezTo>
                <a:cubicBezTo>
                  <a:pt x="37" y="201"/>
                  <a:pt x="37" y="201"/>
                  <a:pt x="37" y="201"/>
                </a:cubicBezTo>
                <a:cubicBezTo>
                  <a:pt x="29" y="186"/>
                  <a:pt x="23" y="168"/>
                  <a:pt x="23" y="149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59" y="140"/>
                  <a:pt x="59" y="140"/>
                  <a:pt x="59" y="140"/>
                </a:cubicBezTo>
                <a:cubicBezTo>
                  <a:pt x="23" y="140"/>
                  <a:pt x="23" y="140"/>
                  <a:pt x="23" y="140"/>
                </a:cubicBezTo>
                <a:cubicBezTo>
                  <a:pt x="23" y="121"/>
                  <a:pt x="28" y="104"/>
                  <a:pt x="36" y="88"/>
                </a:cubicBezTo>
                <a:cubicBezTo>
                  <a:pt x="68" y="106"/>
                  <a:pt x="68" y="106"/>
                  <a:pt x="68" y="106"/>
                </a:cubicBezTo>
                <a:cubicBezTo>
                  <a:pt x="72" y="98"/>
                  <a:pt x="72" y="98"/>
                  <a:pt x="72" y="98"/>
                </a:cubicBezTo>
                <a:cubicBezTo>
                  <a:pt x="41" y="80"/>
                  <a:pt x="41" y="80"/>
                  <a:pt x="41" y="80"/>
                </a:cubicBezTo>
                <a:cubicBezTo>
                  <a:pt x="36" y="88"/>
                  <a:pt x="36" y="88"/>
                  <a:pt x="36" y="88"/>
                </a:cubicBezTo>
                <a:cubicBezTo>
                  <a:pt x="46" y="69"/>
                  <a:pt x="61" y="52"/>
                  <a:pt x="79" y="41"/>
                </a:cubicBezTo>
                <a:cubicBezTo>
                  <a:pt x="97" y="72"/>
                  <a:pt x="97" y="72"/>
                  <a:pt x="97" y="72"/>
                </a:cubicBezTo>
                <a:cubicBezTo>
                  <a:pt x="105" y="68"/>
                  <a:pt x="105" y="68"/>
                  <a:pt x="105" y="68"/>
                </a:cubicBezTo>
                <a:cubicBezTo>
                  <a:pt x="87" y="36"/>
                  <a:pt x="87" y="36"/>
                  <a:pt x="87" y="36"/>
                </a:cubicBezTo>
                <a:cubicBezTo>
                  <a:pt x="104" y="28"/>
                  <a:pt x="123" y="22"/>
                  <a:pt x="144" y="22"/>
                </a:cubicBezTo>
                <a:cubicBezTo>
                  <a:pt x="144" y="147"/>
                  <a:pt x="144" y="147"/>
                  <a:pt x="144" y="147"/>
                </a:cubicBezTo>
                <a:cubicBezTo>
                  <a:pt x="241" y="216"/>
                  <a:pt x="241" y="216"/>
                  <a:pt x="241" y="216"/>
                </a:cubicBezTo>
                <a:cubicBezTo>
                  <a:pt x="232" y="228"/>
                  <a:pt x="221" y="238"/>
                  <a:pt x="208" y="246"/>
                </a:cubicBezTo>
                <a:close/>
                <a:moveTo>
                  <a:pt x="266" y="148"/>
                </a:moveTo>
                <a:cubicBezTo>
                  <a:pt x="229" y="148"/>
                  <a:pt x="229" y="148"/>
                  <a:pt x="229" y="148"/>
                </a:cubicBezTo>
                <a:cubicBezTo>
                  <a:pt x="229" y="139"/>
                  <a:pt x="229" y="139"/>
                  <a:pt x="229" y="139"/>
                </a:cubicBezTo>
                <a:cubicBezTo>
                  <a:pt x="266" y="139"/>
                  <a:pt x="266" y="139"/>
                  <a:pt x="266" y="139"/>
                </a:cubicBezTo>
                <a:lnTo>
                  <a:pt x="266" y="1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2" name="Freeform 18">
            <a:extLst>
              <a:ext uri="{FF2B5EF4-FFF2-40B4-BE49-F238E27FC236}">
                <a16:creationId xmlns:a16="http://schemas.microsoft.com/office/drawing/2014/main" id="{A85B0944-CED0-4864-92D3-39B40785AA9C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515284"/>
            <a:ext cx="274050" cy="274050"/>
          </a:xfrm>
          <a:custGeom>
            <a:avLst/>
            <a:gdLst>
              <a:gd name="T0" fmla="*/ 144 w 288"/>
              <a:gd name="T1" fmla="*/ 0 h 288"/>
              <a:gd name="T2" fmla="*/ 0 w 288"/>
              <a:gd name="T3" fmla="*/ 144 h 288"/>
              <a:gd name="T4" fmla="*/ 144 w 288"/>
              <a:gd name="T5" fmla="*/ 288 h 288"/>
              <a:gd name="T6" fmla="*/ 288 w 288"/>
              <a:gd name="T7" fmla="*/ 144 h 288"/>
              <a:gd name="T8" fmla="*/ 144 w 288"/>
              <a:gd name="T9" fmla="*/ 0 h 288"/>
              <a:gd name="T10" fmla="*/ 196 w 288"/>
              <a:gd name="T11" fmla="*/ 211 h 288"/>
              <a:gd name="T12" fmla="*/ 162 w 288"/>
              <a:gd name="T13" fmla="*/ 227 h 288"/>
              <a:gd name="T14" fmla="*/ 162 w 288"/>
              <a:gd name="T15" fmla="*/ 245 h 288"/>
              <a:gd name="T16" fmla="*/ 131 w 288"/>
              <a:gd name="T17" fmla="*/ 245 h 288"/>
              <a:gd name="T18" fmla="*/ 131 w 288"/>
              <a:gd name="T19" fmla="*/ 228 h 288"/>
              <a:gd name="T20" fmla="*/ 84 w 288"/>
              <a:gd name="T21" fmla="*/ 211 h 288"/>
              <a:gd name="T22" fmla="*/ 84 w 288"/>
              <a:gd name="T23" fmla="*/ 173 h 288"/>
              <a:gd name="T24" fmla="*/ 111 w 288"/>
              <a:gd name="T25" fmla="*/ 191 h 288"/>
              <a:gd name="T26" fmla="*/ 143 w 288"/>
              <a:gd name="T27" fmla="*/ 198 h 288"/>
              <a:gd name="T28" fmla="*/ 164 w 288"/>
              <a:gd name="T29" fmla="*/ 194 h 288"/>
              <a:gd name="T30" fmla="*/ 176 w 288"/>
              <a:gd name="T31" fmla="*/ 177 h 288"/>
              <a:gd name="T32" fmla="*/ 152 w 288"/>
              <a:gd name="T33" fmla="*/ 155 h 288"/>
              <a:gd name="T34" fmla="*/ 107 w 288"/>
              <a:gd name="T35" fmla="*/ 139 h 288"/>
              <a:gd name="T36" fmla="*/ 83 w 288"/>
              <a:gd name="T37" fmla="*/ 103 h 288"/>
              <a:gd name="T38" fmla="*/ 98 w 288"/>
              <a:gd name="T39" fmla="*/ 70 h 288"/>
              <a:gd name="T40" fmla="*/ 131 w 288"/>
              <a:gd name="T41" fmla="*/ 55 h 288"/>
              <a:gd name="T42" fmla="*/ 131 w 288"/>
              <a:gd name="T43" fmla="*/ 37 h 288"/>
              <a:gd name="T44" fmla="*/ 162 w 288"/>
              <a:gd name="T45" fmla="*/ 37 h 288"/>
              <a:gd name="T46" fmla="*/ 162 w 288"/>
              <a:gd name="T47" fmla="*/ 56 h 288"/>
              <a:gd name="T48" fmla="*/ 202 w 288"/>
              <a:gd name="T49" fmla="*/ 70 h 288"/>
              <a:gd name="T50" fmla="*/ 202 w 288"/>
              <a:gd name="T51" fmla="*/ 106 h 288"/>
              <a:gd name="T52" fmla="*/ 175 w 288"/>
              <a:gd name="T53" fmla="*/ 90 h 288"/>
              <a:gd name="T54" fmla="*/ 144 w 288"/>
              <a:gd name="T55" fmla="*/ 83 h 288"/>
              <a:gd name="T56" fmla="*/ 127 w 288"/>
              <a:gd name="T57" fmla="*/ 88 h 288"/>
              <a:gd name="T58" fmla="*/ 117 w 288"/>
              <a:gd name="T59" fmla="*/ 101 h 288"/>
              <a:gd name="T60" fmla="*/ 141 w 288"/>
              <a:gd name="T61" fmla="*/ 121 h 288"/>
              <a:gd name="T62" fmla="*/ 186 w 288"/>
              <a:gd name="T63" fmla="*/ 137 h 288"/>
              <a:gd name="T64" fmla="*/ 210 w 288"/>
              <a:gd name="T65" fmla="*/ 175 h 288"/>
              <a:gd name="T66" fmla="*/ 196 w 288"/>
              <a:gd name="T67" fmla="*/ 211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8" h="288">
                <a:moveTo>
                  <a:pt x="144" y="0"/>
                </a:move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23" y="288"/>
                  <a:pt x="288" y="223"/>
                  <a:pt x="288" y="144"/>
                </a:cubicBezTo>
                <a:cubicBezTo>
                  <a:pt x="288" y="64"/>
                  <a:pt x="223" y="0"/>
                  <a:pt x="144" y="0"/>
                </a:cubicBezTo>
                <a:close/>
                <a:moveTo>
                  <a:pt x="196" y="211"/>
                </a:moveTo>
                <a:cubicBezTo>
                  <a:pt x="188" y="219"/>
                  <a:pt x="176" y="224"/>
                  <a:pt x="162" y="227"/>
                </a:cubicBezTo>
                <a:cubicBezTo>
                  <a:pt x="162" y="245"/>
                  <a:pt x="162" y="245"/>
                  <a:pt x="162" y="245"/>
                </a:cubicBezTo>
                <a:cubicBezTo>
                  <a:pt x="131" y="245"/>
                  <a:pt x="131" y="245"/>
                  <a:pt x="131" y="245"/>
                </a:cubicBezTo>
                <a:cubicBezTo>
                  <a:pt x="131" y="228"/>
                  <a:pt x="131" y="228"/>
                  <a:pt x="131" y="228"/>
                </a:cubicBezTo>
                <a:cubicBezTo>
                  <a:pt x="116" y="227"/>
                  <a:pt x="101" y="221"/>
                  <a:pt x="84" y="211"/>
                </a:cubicBezTo>
                <a:cubicBezTo>
                  <a:pt x="84" y="173"/>
                  <a:pt x="84" y="173"/>
                  <a:pt x="84" y="173"/>
                </a:cubicBezTo>
                <a:cubicBezTo>
                  <a:pt x="95" y="181"/>
                  <a:pt x="104" y="187"/>
                  <a:pt x="111" y="191"/>
                </a:cubicBezTo>
                <a:cubicBezTo>
                  <a:pt x="121" y="196"/>
                  <a:pt x="132" y="198"/>
                  <a:pt x="143" y="198"/>
                </a:cubicBezTo>
                <a:cubicBezTo>
                  <a:pt x="152" y="198"/>
                  <a:pt x="159" y="197"/>
                  <a:pt x="164" y="194"/>
                </a:cubicBezTo>
                <a:cubicBezTo>
                  <a:pt x="172" y="190"/>
                  <a:pt x="176" y="184"/>
                  <a:pt x="176" y="177"/>
                </a:cubicBezTo>
                <a:cubicBezTo>
                  <a:pt x="176" y="168"/>
                  <a:pt x="168" y="161"/>
                  <a:pt x="152" y="155"/>
                </a:cubicBezTo>
                <a:cubicBezTo>
                  <a:pt x="123" y="145"/>
                  <a:pt x="109" y="140"/>
                  <a:pt x="107" y="139"/>
                </a:cubicBezTo>
                <a:cubicBezTo>
                  <a:pt x="91" y="131"/>
                  <a:pt x="83" y="119"/>
                  <a:pt x="83" y="103"/>
                </a:cubicBezTo>
                <a:cubicBezTo>
                  <a:pt x="83" y="89"/>
                  <a:pt x="88" y="78"/>
                  <a:pt x="98" y="70"/>
                </a:cubicBezTo>
                <a:cubicBezTo>
                  <a:pt x="107" y="62"/>
                  <a:pt x="118" y="57"/>
                  <a:pt x="131" y="55"/>
                </a:cubicBezTo>
                <a:cubicBezTo>
                  <a:pt x="131" y="37"/>
                  <a:pt x="131" y="37"/>
                  <a:pt x="131" y="37"/>
                </a:cubicBezTo>
                <a:cubicBezTo>
                  <a:pt x="162" y="37"/>
                  <a:pt x="162" y="37"/>
                  <a:pt x="162" y="37"/>
                </a:cubicBezTo>
                <a:cubicBezTo>
                  <a:pt x="162" y="56"/>
                  <a:pt x="162" y="56"/>
                  <a:pt x="162" y="56"/>
                </a:cubicBezTo>
                <a:cubicBezTo>
                  <a:pt x="176" y="58"/>
                  <a:pt x="189" y="62"/>
                  <a:pt x="202" y="70"/>
                </a:cubicBezTo>
                <a:cubicBezTo>
                  <a:pt x="202" y="106"/>
                  <a:pt x="202" y="106"/>
                  <a:pt x="202" y="106"/>
                </a:cubicBezTo>
                <a:cubicBezTo>
                  <a:pt x="190" y="98"/>
                  <a:pt x="181" y="92"/>
                  <a:pt x="175" y="90"/>
                </a:cubicBezTo>
                <a:cubicBezTo>
                  <a:pt x="165" y="85"/>
                  <a:pt x="155" y="83"/>
                  <a:pt x="144" y="83"/>
                </a:cubicBezTo>
                <a:cubicBezTo>
                  <a:pt x="138" y="83"/>
                  <a:pt x="132" y="85"/>
                  <a:pt x="127" y="88"/>
                </a:cubicBezTo>
                <a:cubicBezTo>
                  <a:pt x="120" y="91"/>
                  <a:pt x="117" y="95"/>
                  <a:pt x="117" y="101"/>
                </a:cubicBezTo>
                <a:cubicBezTo>
                  <a:pt x="117" y="109"/>
                  <a:pt x="125" y="116"/>
                  <a:pt x="141" y="121"/>
                </a:cubicBezTo>
                <a:cubicBezTo>
                  <a:pt x="167" y="129"/>
                  <a:pt x="182" y="135"/>
                  <a:pt x="186" y="137"/>
                </a:cubicBezTo>
                <a:cubicBezTo>
                  <a:pt x="202" y="146"/>
                  <a:pt x="210" y="159"/>
                  <a:pt x="210" y="175"/>
                </a:cubicBezTo>
                <a:cubicBezTo>
                  <a:pt x="210" y="190"/>
                  <a:pt x="205" y="202"/>
                  <a:pt x="196" y="211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73" name="Table 6">
            <a:extLst>
              <a:ext uri="{FF2B5EF4-FFF2-40B4-BE49-F238E27FC236}">
                <a16:creationId xmlns:a16="http://schemas.microsoft.com/office/drawing/2014/main" id="{901A9D8C-C4BB-436A-9323-1CFEBD9F8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382832"/>
              </p:ext>
            </p:extLst>
          </p:nvPr>
        </p:nvGraphicFramePr>
        <p:xfrm>
          <a:off x="4001197" y="3321130"/>
          <a:ext cx="7955775" cy="22387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0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PLANNED ACTIVITIES FOR NEXT FEW WEEKS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Additional ATS Workshops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/>
                        </a:rPr>
                        <a:t>WO 4/10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81497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Integration deep dive sessions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/>
                        </a:rPr>
                        <a:t>4/12, 4/13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286047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Finalize travel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981046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SOW draft, WBS, and invoicing in progress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146090"/>
                  </a:ext>
                </a:extLst>
              </a:tr>
              <a:tr h="29158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Integrated project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222339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Expense Forecast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4/21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02379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371884"/>
                  </a:ext>
                </a:extLst>
              </a:tr>
            </a:tbl>
          </a:graphicData>
        </a:graphic>
      </p:graphicFrame>
      <p:graphicFrame>
        <p:nvGraphicFramePr>
          <p:cNvPr id="74" name="Table 4">
            <a:extLst>
              <a:ext uri="{FF2B5EF4-FFF2-40B4-BE49-F238E27FC236}">
                <a16:creationId xmlns:a16="http://schemas.microsoft.com/office/drawing/2014/main" id="{EBF72164-D44B-4AB2-93B0-8CDC112F8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296082"/>
              </p:ext>
            </p:extLst>
          </p:nvPr>
        </p:nvGraphicFramePr>
        <p:xfrm>
          <a:off x="4001198" y="1688383"/>
          <a:ext cx="7955775" cy="14106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45">
                  <a:extLst>
                    <a:ext uri="{9D8B030D-6E8A-4147-A177-3AD203B41FA5}">
                      <a16:colId xmlns:a16="http://schemas.microsoft.com/office/drawing/2014/main" val="3395070529"/>
                    </a:ext>
                  </a:extLst>
                </a:gridCol>
                <a:gridCol w="4044588">
                  <a:extLst>
                    <a:ext uri="{9D8B030D-6E8A-4147-A177-3AD203B41FA5}">
                      <a16:colId xmlns:a16="http://schemas.microsoft.com/office/drawing/2014/main" val="3864803265"/>
                    </a:ext>
                  </a:extLst>
                </a:gridCol>
                <a:gridCol w="745724">
                  <a:extLst>
                    <a:ext uri="{9D8B030D-6E8A-4147-A177-3AD203B41FA5}">
                      <a16:colId xmlns:a16="http://schemas.microsoft.com/office/drawing/2014/main" val="3027399220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3085072682"/>
                    </a:ext>
                  </a:extLst>
                </a:gridCol>
                <a:gridCol w="994299">
                  <a:extLst>
                    <a:ext uri="{9D8B030D-6E8A-4147-A177-3AD203B41FA5}">
                      <a16:colId xmlns:a16="http://schemas.microsoft.com/office/drawing/2014/main" val="4151964516"/>
                    </a:ext>
                  </a:extLst>
                </a:gridCol>
                <a:gridCol w="1099583">
                  <a:extLst>
                    <a:ext uri="{9D8B030D-6E8A-4147-A177-3AD203B41FA5}">
                      <a16:colId xmlns:a16="http://schemas.microsoft.com/office/drawing/2014/main" val="1508659131"/>
                    </a:ext>
                  </a:extLst>
                </a:gridCol>
              </a:tblGrid>
              <a:tr h="378497">
                <a:tc gridSpan="2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KEY</a:t>
                      </a:r>
                      <a:r>
                        <a:rPr lang="en-US" sz="12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 CHALLENGES </a:t>
                      </a:r>
                      <a:endParaRPr lang="en-US" sz="1200" b="1" kern="0" baseline="0">
                        <a:solidFill>
                          <a:schemeClr val="tx1"/>
                        </a:solidFill>
                        <a:latin typeface="+mn-lt"/>
                        <a:ea typeface="ＭＳ Ｐゴシック" charset="0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(R = Risk, I = Issue, A = Action, D = Decision)</a:t>
                      </a:r>
                      <a:endParaRPr lang="en-US" sz="9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OPEN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DATE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OWNER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PLAN TO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CLOSE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HELP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NEEDED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44806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362562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8722463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6D1D85A7-FFBE-4B56-BDE1-6B68796E4F46}"/>
              </a:ext>
            </a:extLst>
          </p:cNvPr>
          <p:cNvGrpSpPr/>
          <p:nvPr/>
        </p:nvGrpSpPr>
        <p:grpSpPr>
          <a:xfrm>
            <a:off x="456677" y="6203447"/>
            <a:ext cx="287492" cy="260840"/>
            <a:chOff x="6361113" y="2438400"/>
            <a:chExt cx="1192213" cy="1084263"/>
          </a:xfrm>
          <a:solidFill>
            <a:srgbClr val="008000"/>
          </a:solidFill>
        </p:grpSpPr>
        <p:sp>
          <p:nvSpPr>
            <p:cNvPr id="76" name="Freeform 21">
              <a:extLst>
                <a:ext uri="{FF2B5EF4-FFF2-40B4-BE49-F238E27FC236}">
                  <a16:creationId xmlns:a16="http://schemas.microsoft.com/office/drawing/2014/main" id="{07F99712-2C68-4FD8-93E9-C94BE92E6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1113" y="2706688"/>
              <a:ext cx="1192213" cy="560388"/>
            </a:xfrm>
            <a:custGeom>
              <a:avLst/>
              <a:gdLst>
                <a:gd name="T0" fmla="*/ 751 w 751"/>
                <a:gd name="T1" fmla="*/ 0 h 353"/>
                <a:gd name="T2" fmla="*/ 0 w 751"/>
                <a:gd name="T3" fmla="*/ 0 h 353"/>
                <a:gd name="T4" fmla="*/ 0 w 751"/>
                <a:gd name="T5" fmla="*/ 353 h 353"/>
                <a:gd name="T6" fmla="*/ 751 w 751"/>
                <a:gd name="T7" fmla="*/ 353 h 353"/>
                <a:gd name="T8" fmla="*/ 751 w 751"/>
                <a:gd name="T9" fmla="*/ 0 h 353"/>
                <a:gd name="T10" fmla="*/ 232 w 751"/>
                <a:gd name="T11" fmla="*/ 173 h 353"/>
                <a:gd name="T12" fmla="*/ 232 w 751"/>
                <a:gd name="T13" fmla="*/ 265 h 353"/>
                <a:gd name="T14" fmla="*/ 69 w 751"/>
                <a:gd name="T15" fmla="*/ 161 h 353"/>
                <a:gd name="T16" fmla="*/ 232 w 751"/>
                <a:gd name="T17" fmla="*/ 57 h 353"/>
                <a:gd name="T18" fmla="*/ 232 w 751"/>
                <a:gd name="T19" fmla="*/ 149 h 353"/>
                <a:gd name="T20" fmla="*/ 523 w 751"/>
                <a:gd name="T21" fmla="*/ 149 h 353"/>
                <a:gd name="T22" fmla="*/ 523 w 751"/>
                <a:gd name="T23" fmla="*/ 57 h 353"/>
                <a:gd name="T24" fmla="*/ 687 w 751"/>
                <a:gd name="T25" fmla="*/ 161 h 353"/>
                <a:gd name="T26" fmla="*/ 523 w 751"/>
                <a:gd name="T27" fmla="*/ 265 h 353"/>
                <a:gd name="T28" fmla="*/ 523 w 751"/>
                <a:gd name="T29" fmla="*/ 173 h 353"/>
                <a:gd name="T30" fmla="*/ 232 w 751"/>
                <a:gd name="T31" fmla="*/ 173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1" h="353">
                  <a:moveTo>
                    <a:pt x="751" y="0"/>
                  </a:moveTo>
                  <a:lnTo>
                    <a:pt x="0" y="0"/>
                  </a:lnTo>
                  <a:lnTo>
                    <a:pt x="0" y="353"/>
                  </a:lnTo>
                  <a:lnTo>
                    <a:pt x="751" y="353"/>
                  </a:lnTo>
                  <a:lnTo>
                    <a:pt x="751" y="0"/>
                  </a:lnTo>
                  <a:close/>
                  <a:moveTo>
                    <a:pt x="232" y="173"/>
                  </a:moveTo>
                  <a:lnTo>
                    <a:pt x="232" y="265"/>
                  </a:lnTo>
                  <a:lnTo>
                    <a:pt x="69" y="161"/>
                  </a:lnTo>
                  <a:lnTo>
                    <a:pt x="232" y="57"/>
                  </a:lnTo>
                  <a:lnTo>
                    <a:pt x="232" y="149"/>
                  </a:lnTo>
                  <a:lnTo>
                    <a:pt x="523" y="149"/>
                  </a:lnTo>
                  <a:lnTo>
                    <a:pt x="523" y="57"/>
                  </a:lnTo>
                  <a:lnTo>
                    <a:pt x="687" y="161"/>
                  </a:lnTo>
                  <a:lnTo>
                    <a:pt x="523" y="265"/>
                  </a:lnTo>
                  <a:lnTo>
                    <a:pt x="523" y="173"/>
                  </a:lnTo>
                  <a:lnTo>
                    <a:pt x="232" y="1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7" name="Freeform 22">
              <a:extLst>
                <a:ext uri="{FF2B5EF4-FFF2-40B4-BE49-F238E27FC236}">
                  <a16:creationId xmlns:a16="http://schemas.microsoft.com/office/drawing/2014/main" id="{35FD81B7-4D87-44FD-8156-5C1D8FE7C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2438400"/>
              <a:ext cx="1192213" cy="230188"/>
            </a:xfrm>
            <a:custGeom>
              <a:avLst/>
              <a:gdLst>
                <a:gd name="T0" fmla="*/ 751 w 751"/>
                <a:gd name="T1" fmla="*/ 0 h 145"/>
                <a:gd name="T2" fmla="*/ 599 w 751"/>
                <a:gd name="T3" fmla="*/ 0 h 145"/>
                <a:gd name="T4" fmla="*/ 599 w 751"/>
                <a:gd name="T5" fmla="*/ 83 h 145"/>
                <a:gd name="T6" fmla="*/ 576 w 751"/>
                <a:gd name="T7" fmla="*/ 83 h 145"/>
                <a:gd name="T8" fmla="*/ 576 w 751"/>
                <a:gd name="T9" fmla="*/ 0 h 145"/>
                <a:gd name="T10" fmla="*/ 393 w 751"/>
                <a:gd name="T11" fmla="*/ 0 h 145"/>
                <a:gd name="T12" fmla="*/ 393 w 751"/>
                <a:gd name="T13" fmla="*/ 83 h 145"/>
                <a:gd name="T14" fmla="*/ 370 w 751"/>
                <a:gd name="T15" fmla="*/ 83 h 145"/>
                <a:gd name="T16" fmla="*/ 370 w 751"/>
                <a:gd name="T17" fmla="*/ 0 h 145"/>
                <a:gd name="T18" fmla="*/ 161 w 751"/>
                <a:gd name="T19" fmla="*/ 0 h 145"/>
                <a:gd name="T20" fmla="*/ 161 w 751"/>
                <a:gd name="T21" fmla="*/ 83 h 145"/>
                <a:gd name="T22" fmla="*/ 137 w 751"/>
                <a:gd name="T23" fmla="*/ 83 h 145"/>
                <a:gd name="T24" fmla="*/ 137 w 751"/>
                <a:gd name="T25" fmla="*/ 0 h 145"/>
                <a:gd name="T26" fmla="*/ 0 w 751"/>
                <a:gd name="T27" fmla="*/ 0 h 145"/>
                <a:gd name="T28" fmla="*/ 0 w 751"/>
                <a:gd name="T29" fmla="*/ 145 h 145"/>
                <a:gd name="T30" fmla="*/ 751 w 751"/>
                <a:gd name="T31" fmla="*/ 145 h 145"/>
                <a:gd name="T32" fmla="*/ 751 w 751"/>
                <a:gd name="T33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45">
                  <a:moveTo>
                    <a:pt x="751" y="0"/>
                  </a:moveTo>
                  <a:lnTo>
                    <a:pt x="599" y="0"/>
                  </a:lnTo>
                  <a:lnTo>
                    <a:pt x="599" y="83"/>
                  </a:lnTo>
                  <a:lnTo>
                    <a:pt x="576" y="83"/>
                  </a:lnTo>
                  <a:lnTo>
                    <a:pt x="576" y="0"/>
                  </a:lnTo>
                  <a:lnTo>
                    <a:pt x="393" y="0"/>
                  </a:lnTo>
                  <a:lnTo>
                    <a:pt x="393" y="83"/>
                  </a:lnTo>
                  <a:lnTo>
                    <a:pt x="370" y="83"/>
                  </a:lnTo>
                  <a:lnTo>
                    <a:pt x="370" y="0"/>
                  </a:lnTo>
                  <a:lnTo>
                    <a:pt x="161" y="0"/>
                  </a:lnTo>
                  <a:lnTo>
                    <a:pt x="161" y="83"/>
                  </a:lnTo>
                  <a:lnTo>
                    <a:pt x="137" y="83"/>
                  </a:lnTo>
                  <a:lnTo>
                    <a:pt x="137" y="0"/>
                  </a:lnTo>
                  <a:lnTo>
                    <a:pt x="0" y="0"/>
                  </a:lnTo>
                  <a:lnTo>
                    <a:pt x="0" y="145"/>
                  </a:lnTo>
                  <a:lnTo>
                    <a:pt x="751" y="145"/>
                  </a:lnTo>
                  <a:lnTo>
                    <a:pt x="7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8" name="Freeform 23">
              <a:extLst>
                <a:ext uri="{FF2B5EF4-FFF2-40B4-BE49-F238E27FC236}">
                  <a16:creationId xmlns:a16="http://schemas.microsoft.com/office/drawing/2014/main" id="{EDCE3E85-1643-4F8A-AED7-2920DD7A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3305175"/>
              <a:ext cx="1192213" cy="217488"/>
            </a:xfrm>
            <a:custGeom>
              <a:avLst/>
              <a:gdLst>
                <a:gd name="T0" fmla="*/ 0 w 751"/>
                <a:gd name="T1" fmla="*/ 137 h 137"/>
                <a:gd name="T2" fmla="*/ 137 w 751"/>
                <a:gd name="T3" fmla="*/ 137 h 137"/>
                <a:gd name="T4" fmla="*/ 137 w 751"/>
                <a:gd name="T5" fmla="*/ 54 h 137"/>
                <a:gd name="T6" fmla="*/ 161 w 751"/>
                <a:gd name="T7" fmla="*/ 54 h 137"/>
                <a:gd name="T8" fmla="*/ 161 w 751"/>
                <a:gd name="T9" fmla="*/ 137 h 137"/>
                <a:gd name="T10" fmla="*/ 370 w 751"/>
                <a:gd name="T11" fmla="*/ 137 h 137"/>
                <a:gd name="T12" fmla="*/ 370 w 751"/>
                <a:gd name="T13" fmla="*/ 54 h 137"/>
                <a:gd name="T14" fmla="*/ 393 w 751"/>
                <a:gd name="T15" fmla="*/ 54 h 137"/>
                <a:gd name="T16" fmla="*/ 393 w 751"/>
                <a:gd name="T17" fmla="*/ 137 h 137"/>
                <a:gd name="T18" fmla="*/ 576 w 751"/>
                <a:gd name="T19" fmla="*/ 137 h 137"/>
                <a:gd name="T20" fmla="*/ 576 w 751"/>
                <a:gd name="T21" fmla="*/ 54 h 137"/>
                <a:gd name="T22" fmla="*/ 599 w 751"/>
                <a:gd name="T23" fmla="*/ 54 h 137"/>
                <a:gd name="T24" fmla="*/ 599 w 751"/>
                <a:gd name="T25" fmla="*/ 137 h 137"/>
                <a:gd name="T26" fmla="*/ 751 w 751"/>
                <a:gd name="T27" fmla="*/ 137 h 137"/>
                <a:gd name="T28" fmla="*/ 751 w 751"/>
                <a:gd name="T29" fmla="*/ 0 h 137"/>
                <a:gd name="T30" fmla="*/ 0 w 751"/>
                <a:gd name="T31" fmla="*/ 0 h 137"/>
                <a:gd name="T32" fmla="*/ 0 w 751"/>
                <a:gd name="T3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37">
                  <a:moveTo>
                    <a:pt x="0" y="137"/>
                  </a:moveTo>
                  <a:lnTo>
                    <a:pt x="137" y="137"/>
                  </a:lnTo>
                  <a:lnTo>
                    <a:pt x="137" y="54"/>
                  </a:lnTo>
                  <a:lnTo>
                    <a:pt x="161" y="54"/>
                  </a:lnTo>
                  <a:lnTo>
                    <a:pt x="161" y="137"/>
                  </a:lnTo>
                  <a:lnTo>
                    <a:pt x="370" y="137"/>
                  </a:lnTo>
                  <a:lnTo>
                    <a:pt x="370" y="54"/>
                  </a:lnTo>
                  <a:lnTo>
                    <a:pt x="393" y="54"/>
                  </a:lnTo>
                  <a:lnTo>
                    <a:pt x="393" y="137"/>
                  </a:lnTo>
                  <a:lnTo>
                    <a:pt x="576" y="137"/>
                  </a:lnTo>
                  <a:lnTo>
                    <a:pt x="576" y="54"/>
                  </a:lnTo>
                  <a:lnTo>
                    <a:pt x="599" y="54"/>
                  </a:lnTo>
                  <a:lnTo>
                    <a:pt x="599" y="137"/>
                  </a:lnTo>
                  <a:lnTo>
                    <a:pt x="751" y="137"/>
                  </a:lnTo>
                  <a:lnTo>
                    <a:pt x="751" y="0"/>
                  </a:ln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DBE5DBDB-7191-423C-A7BA-1D06B26A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507825"/>
              </p:ext>
            </p:extLst>
          </p:nvPr>
        </p:nvGraphicFramePr>
        <p:xfrm>
          <a:off x="4001197" y="5691507"/>
          <a:ext cx="7955774" cy="1097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3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747">
                  <a:extLst>
                    <a:ext uri="{9D8B030D-6E8A-4147-A177-3AD203B41FA5}">
                      <a16:colId xmlns:a16="http://schemas.microsoft.com/office/drawing/2014/main" val="109970816"/>
                    </a:ext>
                  </a:extLst>
                </a:gridCol>
              </a:tblGrid>
              <a:tr h="2745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KEY ACCOMPLISHMENTS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274557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PTO calendar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325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Established separate RAID Log purposes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316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65768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73DE2A73-F124-49CE-A59E-E8FEE3C3D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74457"/>
              </p:ext>
            </p:extLst>
          </p:nvPr>
        </p:nvGraphicFramePr>
        <p:xfrm>
          <a:off x="355043" y="1688383"/>
          <a:ext cx="3551879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8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HEADLINES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11564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Second week on-site complete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Core team onboarding complete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ATS Foundation Workshop Completed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SOW draft review with team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RAID and integrated project plan 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764E9-397A-4FEE-BE8F-0A55A10F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45439" y="6461653"/>
            <a:ext cx="22045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792D4-8FCB-4391-8F5D-038B8C6DF5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B2723A5-4EC1-432B-8F3F-EB9D99349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914447"/>
              </p:ext>
            </p:extLst>
          </p:nvPr>
        </p:nvGraphicFramePr>
        <p:xfrm>
          <a:off x="330200" y="800100"/>
          <a:ext cx="11591756" cy="4267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1868">
                  <a:extLst>
                    <a:ext uri="{9D8B030D-6E8A-4147-A177-3AD203B41FA5}">
                      <a16:colId xmlns:a16="http://schemas.microsoft.com/office/drawing/2014/main" val="289832473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27536416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705719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11104500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3724495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029764863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88982471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98189912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2260647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6473915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72581358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730589314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6532444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8129591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41201056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151150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51029071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2 Q1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3 Q1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4 Q2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6 Q2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77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03/20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03/27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4/3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04/24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05/01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05/08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05/15</a:t>
                      </a:r>
                      <a:endParaRPr sz="1000" b="0" u="none" strike="noStrike" kern="1200" cap="none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05/22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5/29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06/05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06/19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06/26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07/03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21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42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Dollar Tree Status Report Update Cadence</a:t>
            </a:r>
          </a:p>
        </p:txBody>
      </p:sp>
      <p:sp>
        <p:nvSpPr>
          <p:cNvPr id="57" name="Text Placeholder 7"/>
          <p:cNvSpPr txBox="1">
            <a:spLocks/>
          </p:cNvSpPr>
          <p:nvPr/>
        </p:nvSpPr>
        <p:spPr>
          <a:xfrm>
            <a:off x="532584" y="1803834"/>
            <a:ext cx="2652342" cy="779111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20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8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6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1. </a:t>
            </a:r>
            <a:r>
              <a:rPr lang="en-US" sz="1600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All tracks must submit updates every </a:t>
            </a:r>
            <a:r>
              <a:rPr lang="en-US" sz="1600" b="1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Wednesday by </a:t>
            </a:r>
            <a:r>
              <a:rPr lang="en-US" sz="1600" b="1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12:00 P</a:t>
            </a:r>
            <a:r>
              <a:rPr lang="en-US" sz="1600" b="1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.M. E.T.</a:t>
            </a:r>
          </a:p>
        </p:txBody>
      </p:sp>
      <p:sp>
        <p:nvSpPr>
          <p:cNvPr id="59" name="Text Placeholder 9"/>
          <p:cNvSpPr txBox="1">
            <a:spLocks/>
          </p:cNvSpPr>
          <p:nvPr/>
        </p:nvSpPr>
        <p:spPr>
          <a:xfrm>
            <a:off x="3577943" y="1803834"/>
            <a:ext cx="2652342" cy="779111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20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8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6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2. </a:t>
            </a:r>
            <a:r>
              <a:rPr lang="en-US" sz="1600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Internal review on </a:t>
            </a:r>
            <a:r>
              <a:rPr lang="en-US" sz="1600" b="1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Thursday Morning E.T.</a:t>
            </a:r>
          </a:p>
        </p:txBody>
      </p:sp>
      <p:sp>
        <p:nvSpPr>
          <p:cNvPr id="63" name="Text Placeholder 11"/>
          <p:cNvSpPr txBox="1">
            <a:spLocks/>
          </p:cNvSpPr>
          <p:nvPr/>
        </p:nvSpPr>
        <p:spPr>
          <a:xfrm>
            <a:off x="6146228" y="1803834"/>
            <a:ext cx="2652342" cy="779111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20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8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6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. Submit status report to Dollar Tree</a:t>
            </a:r>
            <a:r>
              <a:rPr lang="en-US" sz="1600" b="1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 every Thursday by noon E.T.</a:t>
            </a:r>
          </a:p>
        </p:txBody>
      </p:sp>
      <p:sp>
        <p:nvSpPr>
          <p:cNvPr id="65" name="Text Placeholder 13"/>
          <p:cNvSpPr txBox="1">
            <a:spLocks/>
          </p:cNvSpPr>
          <p:nvPr/>
        </p:nvSpPr>
        <p:spPr>
          <a:xfrm>
            <a:off x="8953051" y="1803833"/>
            <a:ext cx="2652342" cy="779111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20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8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6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4. </a:t>
            </a:r>
            <a:r>
              <a:rPr lang="en-US" sz="1600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Report</a:t>
            </a:r>
            <a:r>
              <a:rPr lang="en-US" sz="1600" b="1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 </a:t>
            </a:r>
            <a:r>
              <a:rPr lang="en-US" sz="160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r</a:t>
            </a:r>
            <a:r>
              <a:rPr lang="en-US" sz="1600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eview Session with Dollar Tree stakeholders on </a:t>
            </a:r>
            <a:r>
              <a:rPr lang="en-US" sz="1600" b="1" dirty="0">
                <a:solidFill>
                  <a:srgbClr val="000000"/>
                </a:solidFill>
                <a:ea typeface="Chronicle Display Black" charset="0"/>
                <a:cs typeface="Chronicle Display Black" charset="0"/>
              </a:rPr>
              <a:t>Friday Morning E.T.</a:t>
            </a:r>
          </a:p>
        </p:txBody>
      </p:sp>
      <p:sp>
        <p:nvSpPr>
          <p:cNvPr id="66" name="Text Placeholder 14"/>
          <p:cNvSpPr txBox="1">
            <a:spLocks/>
          </p:cNvSpPr>
          <p:nvPr/>
        </p:nvSpPr>
        <p:spPr>
          <a:xfrm>
            <a:off x="824819" y="2653653"/>
            <a:ext cx="2207139" cy="19913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20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8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6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 kern="1200">
                <a:solidFill>
                  <a:srgbClr val="3F3F3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  <a:tabLst>
                <a:tab pos="182880" algn="l"/>
              </a:tabLst>
            </a:pPr>
            <a:r>
              <a:rPr lang="en-US" sz="1200" u="sng" dirty="0">
                <a:solidFill>
                  <a:srgbClr val="000000"/>
                </a:solidFill>
                <a:cs typeface="Open Sans"/>
              </a:rPr>
              <a:t>Expectations of weekly updates:</a:t>
            </a:r>
          </a:p>
          <a:p>
            <a:pPr>
              <a:lnSpc>
                <a:spcPct val="130000"/>
              </a:lnSpc>
              <a:tabLst>
                <a:tab pos="182880" algn="l"/>
              </a:tabLst>
            </a:pPr>
            <a:r>
              <a:rPr lang="en-US" sz="1200" dirty="0">
                <a:solidFill>
                  <a:srgbClr val="000000"/>
                </a:solidFill>
                <a:cs typeface="Open Sans"/>
              </a:rPr>
              <a:t>Everyone must update the Overall ESL Program Slide (Slide 1)</a:t>
            </a:r>
          </a:p>
          <a:p>
            <a:pPr lvl="1">
              <a:lnSpc>
                <a:spcPct val="130000"/>
              </a:lnSpc>
              <a:tabLst>
                <a:tab pos="182880" algn="l"/>
              </a:tabLst>
            </a:pPr>
            <a:r>
              <a:rPr lang="en-US" sz="1000" dirty="0">
                <a:solidFill>
                  <a:srgbClr val="000000"/>
                </a:solidFill>
                <a:cs typeface="Open Sans"/>
              </a:rPr>
              <a:t>High-level notes from your track (e.g., headlines, accomplishments, milestones)</a:t>
            </a:r>
          </a:p>
          <a:p>
            <a:pPr>
              <a:lnSpc>
                <a:spcPct val="130000"/>
              </a:lnSpc>
              <a:tabLst>
                <a:tab pos="182880" algn="l"/>
              </a:tabLst>
            </a:pPr>
            <a:r>
              <a:rPr lang="en-US" sz="1200" dirty="0">
                <a:solidFill>
                  <a:srgbClr val="000000"/>
                </a:solidFill>
                <a:cs typeface="Open Sans"/>
              </a:rPr>
              <a:t>Update the slide of your respective track</a:t>
            </a:r>
          </a:p>
          <a:p>
            <a:pPr lvl="1">
              <a:lnSpc>
                <a:spcPct val="130000"/>
              </a:lnSpc>
              <a:tabLst>
                <a:tab pos="182880" algn="l"/>
              </a:tabLst>
            </a:pPr>
            <a:r>
              <a:rPr lang="en-US" sz="1000" dirty="0">
                <a:solidFill>
                  <a:srgbClr val="000000"/>
                </a:solidFill>
                <a:cs typeface="Open Sans"/>
              </a:rPr>
              <a:t>ATS-Navin, Hasan, Rita</a:t>
            </a:r>
          </a:p>
          <a:p>
            <a:pPr lvl="1">
              <a:lnSpc>
                <a:spcPct val="130000"/>
              </a:lnSpc>
              <a:tabLst>
                <a:tab pos="182880" algn="l"/>
              </a:tabLst>
            </a:pPr>
            <a:r>
              <a:rPr lang="en-US" sz="1000" dirty="0">
                <a:solidFill>
                  <a:srgbClr val="000000"/>
                </a:solidFill>
                <a:cs typeface="Open Sans"/>
              </a:rPr>
              <a:t>IPG-Geoff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en-US" sz="1000" dirty="0">
                <a:solidFill>
                  <a:srgbClr val="000000"/>
                </a:solidFill>
                <a:cs typeface="Open Sans"/>
              </a:rPr>
              <a:t>IPOD/QA-Bala, Sushanth</a:t>
            </a:r>
          </a:p>
          <a:p>
            <a:pPr marL="0" indent="0">
              <a:lnSpc>
                <a:spcPct val="130000"/>
              </a:lnSpc>
              <a:buNone/>
              <a:tabLst>
                <a:tab pos="182880" algn="l"/>
              </a:tabLst>
            </a:pPr>
            <a:endParaRPr lang="en-US" sz="1200" dirty="0">
              <a:solidFill>
                <a:srgbClr val="000000"/>
              </a:solidFill>
              <a:cs typeface="Open Sans"/>
            </a:endParaRPr>
          </a:p>
        </p:txBody>
      </p:sp>
      <p:sp>
        <p:nvSpPr>
          <p:cNvPr id="70" name="Text Placeholder 15"/>
          <p:cNvSpPr txBox="1">
            <a:spLocks/>
          </p:cNvSpPr>
          <p:nvPr/>
        </p:nvSpPr>
        <p:spPr>
          <a:xfrm>
            <a:off x="3627717" y="2627358"/>
            <a:ext cx="2107024" cy="199132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37160" indent="-137160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tabLst>
                <a:tab pos="182880" algn="l"/>
              </a:tabLst>
              <a:defRPr sz="1200">
                <a:solidFill>
                  <a:srgbClr val="000000"/>
                </a:solidFill>
                <a:cs typeface="Open Sans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>
                <a:solidFill>
                  <a:srgbClr val="3F3F3F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600">
                <a:solidFill>
                  <a:srgbClr val="3F3F3F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>
                <a:solidFill>
                  <a:srgbClr val="3F3F3F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>
                <a:solidFill>
                  <a:srgbClr val="3F3F3F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We will have a 30-minute meeting on </a:t>
            </a:r>
            <a:r>
              <a:rPr lang="en-US" b="1" dirty="0"/>
              <a:t>Thursday mornings</a:t>
            </a:r>
            <a:r>
              <a:rPr lang="en-US" dirty="0"/>
              <a:t> to discuss updates from each track</a:t>
            </a:r>
          </a:p>
          <a:p>
            <a:r>
              <a:rPr lang="en-US" dirty="0"/>
              <a:t>To make this meeting an efficient use of our time, please make sure your entries are complete by this time!</a:t>
            </a:r>
          </a:p>
        </p:txBody>
      </p:sp>
      <p:sp>
        <p:nvSpPr>
          <p:cNvPr id="72" name="Text Placeholder 16"/>
          <p:cNvSpPr txBox="1">
            <a:spLocks/>
          </p:cNvSpPr>
          <p:nvPr/>
        </p:nvSpPr>
        <p:spPr>
          <a:xfrm>
            <a:off x="6328290" y="2627358"/>
            <a:ext cx="2065671" cy="1991323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37160" indent="-137160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tabLst>
                <a:tab pos="182880" algn="l"/>
              </a:tabLst>
              <a:defRPr sz="1200">
                <a:solidFill>
                  <a:srgbClr val="000000"/>
                </a:solidFill>
                <a:cs typeface="Open Sans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>
                <a:solidFill>
                  <a:srgbClr val="3F3F3F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600">
                <a:solidFill>
                  <a:srgbClr val="3F3F3F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>
                <a:solidFill>
                  <a:srgbClr val="3F3F3F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>
                <a:solidFill>
                  <a:srgbClr val="3F3F3F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Once our updates are finalized for the week, we will submit the slides to Rajesh by </a:t>
            </a:r>
            <a:r>
              <a:rPr lang="en-US" b="1" dirty="0"/>
              <a:t>noon every Thursday</a:t>
            </a:r>
          </a:p>
        </p:txBody>
      </p:sp>
      <p:sp>
        <p:nvSpPr>
          <p:cNvPr id="73" name="Text Placeholder 17"/>
          <p:cNvSpPr txBox="1">
            <a:spLocks/>
          </p:cNvSpPr>
          <p:nvPr/>
        </p:nvSpPr>
        <p:spPr>
          <a:xfrm>
            <a:off x="9038389" y="2627359"/>
            <a:ext cx="2316763" cy="199132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37160" indent="-137160">
              <a:lnSpc>
                <a:spcPct val="13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tabLst>
                <a:tab pos="182880" algn="l"/>
              </a:tabLst>
              <a:defRPr sz="1200">
                <a:solidFill>
                  <a:srgbClr val="000000"/>
                </a:solidFill>
                <a:cs typeface="Open Sans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>
                <a:solidFill>
                  <a:srgbClr val="3F3F3F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600">
                <a:solidFill>
                  <a:srgbClr val="3F3F3F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>
                <a:solidFill>
                  <a:srgbClr val="3F3F3F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Wingdings" charset="2"/>
              <a:buChar char="§"/>
              <a:defRPr sz="1400">
                <a:solidFill>
                  <a:srgbClr val="3F3F3F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Weekly Friday morning review of Oracle, Deloitte, and Dollar Tree status report slides with Dollar Tree stakeholders and Oracle team</a:t>
            </a:r>
          </a:p>
          <a:p>
            <a:endParaRPr lang="en-US" dirty="0"/>
          </a:p>
        </p:txBody>
      </p:sp>
      <p:sp>
        <p:nvSpPr>
          <p:cNvPr id="38" name="Chevron 37"/>
          <p:cNvSpPr/>
          <p:nvPr/>
        </p:nvSpPr>
        <p:spPr>
          <a:xfrm>
            <a:off x="3137335" y="1844412"/>
            <a:ext cx="301653" cy="605692"/>
          </a:xfrm>
          <a:prstGeom prst="chevron">
            <a:avLst>
              <a:gd name="adj" fmla="val 72670"/>
            </a:avLst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Chevron 42"/>
          <p:cNvSpPr/>
          <p:nvPr/>
        </p:nvSpPr>
        <p:spPr>
          <a:xfrm>
            <a:off x="5902337" y="1844413"/>
            <a:ext cx="301653" cy="605692"/>
          </a:xfrm>
          <a:prstGeom prst="chevron">
            <a:avLst>
              <a:gd name="adj" fmla="val 72670"/>
            </a:avLst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Chevron 43"/>
          <p:cNvSpPr/>
          <p:nvPr/>
        </p:nvSpPr>
        <p:spPr>
          <a:xfrm>
            <a:off x="8522680" y="1844412"/>
            <a:ext cx="301653" cy="605692"/>
          </a:xfrm>
          <a:prstGeom prst="chevron">
            <a:avLst>
              <a:gd name="adj" fmla="val 72670"/>
            </a:avLst>
          </a:prstGeom>
          <a:solidFill>
            <a:srgbClr val="00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3258095" y="2709408"/>
            <a:ext cx="0" cy="2514785"/>
          </a:xfrm>
          <a:prstGeom prst="line">
            <a:avLst/>
          </a:prstGeom>
          <a:ln w="12700" cmpd="sng">
            <a:solidFill>
              <a:schemeClr val="accent5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014841" y="2709408"/>
            <a:ext cx="0" cy="2514785"/>
          </a:xfrm>
          <a:prstGeom prst="line">
            <a:avLst/>
          </a:prstGeom>
          <a:ln w="12700" cmpd="sng">
            <a:solidFill>
              <a:schemeClr val="accent5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8684414" y="2709408"/>
            <a:ext cx="0" cy="2514785"/>
          </a:xfrm>
          <a:prstGeom prst="line">
            <a:avLst/>
          </a:prstGeom>
          <a:ln w="12700" cmpd="sng">
            <a:solidFill>
              <a:schemeClr val="accent5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3">
            <a:extLst>
              <a:ext uri="{FF2B5EF4-FFF2-40B4-BE49-F238E27FC236}">
                <a16:creationId xmlns:a16="http://schemas.microsoft.com/office/drawing/2014/main" id="{69FED25E-DC8F-4E79-BC81-4A65B02BC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82" y="139835"/>
            <a:ext cx="1980004" cy="313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63311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.5IAAuyGoKwpBDiQ5R9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.5IAAuyGoKwpBDiQ5R9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.5IAAuyGoKwpBDiQ5R9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.5IAAuyGoKwpBDiQ5R9w"/>
</p:tagLst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9B22BE06811840A13B8778E93A5EB1" ma:contentTypeVersion="6" ma:contentTypeDescription="Create a new document." ma:contentTypeScope="" ma:versionID="e6bb28ec8651c068d8d863d80df6bcd3">
  <xsd:schema xmlns:xsd="http://www.w3.org/2001/XMLSchema" xmlns:xs="http://www.w3.org/2001/XMLSchema" xmlns:p="http://schemas.microsoft.com/office/2006/metadata/properties" xmlns:ns2="60abb974-290a-4d2d-a7d7-9131eff0095d" xmlns:ns3="5f71fc39-fc89-4395-9438-cea9f45828f0" targetNamespace="http://schemas.microsoft.com/office/2006/metadata/properties" ma:root="true" ma:fieldsID="8a2dda2680ab78bb2d82e23db40a902c" ns2:_="" ns3:_="">
    <xsd:import namespace="60abb974-290a-4d2d-a7d7-9131eff0095d"/>
    <xsd:import namespace="5f71fc39-fc89-4395-9438-cea9f45828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abb974-290a-4d2d-a7d7-9131eff009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1fc39-fc89-4395-9438-cea9f45828f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EEA6C6-66AF-4991-A05B-5A40FF9C07EE}">
  <ds:schemaRefs>
    <ds:schemaRef ds:uri="5f71fc39-fc89-4395-9438-cea9f45828f0"/>
    <ds:schemaRef ds:uri="60abb974-290a-4d2d-a7d7-9131eff009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D5B450C-E1C7-4154-AE0F-5B63238B37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6E0387-1378-495B-AD83-6D694CE7914C}">
  <ds:schemaRefs>
    <ds:schemaRef ds:uri="5f71fc39-fc89-4395-9438-cea9f45828f0"/>
    <ds:schemaRef ds:uri="60abb974-290a-4d2d-a7d7-9131eff009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2255</TotalTime>
  <Words>1436</Words>
  <Application>Microsoft Macintosh PowerPoint</Application>
  <PresentationFormat>Widescreen</PresentationFormat>
  <Paragraphs>386</Paragraphs>
  <Slides>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Black</vt:lpstr>
      <vt:lpstr>Arial,Sans-Serif</vt:lpstr>
      <vt:lpstr>Calibri</vt:lpstr>
      <vt:lpstr>Calibri Light</vt:lpstr>
      <vt:lpstr>Courier New</vt:lpstr>
      <vt:lpstr>Wingdings</vt:lpstr>
      <vt:lpstr>2_Office Theme</vt:lpstr>
      <vt:lpstr>think-cell Slide</vt:lpstr>
      <vt:lpstr>PowerPoint Presentation</vt:lpstr>
      <vt:lpstr>PROJECT WEEKLY STATUS: ATS MARCH 31, 2023</vt:lpstr>
      <vt:lpstr>PROJECT WEEKLY STATUS: IPG MARCH 31, 2023</vt:lpstr>
      <vt:lpstr>PROJECT WEEKLY STATUS: IPOD/QA MARCH 31, 2023</vt:lpstr>
      <vt:lpstr>PROJECT WEEKLY STATUS: Overall ESL Program MARCH 31, 2023</vt:lpstr>
      <vt:lpstr>Dollar Tree Status Report Update Cadence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WEEKLY STATUS: CORE MERCH MARCH 24, 2023</dc:title>
  <dc:creator>Rajesh Thukral</dc:creator>
  <cp:lastModifiedBy>Srinivasan, Shankaran</cp:lastModifiedBy>
  <cp:revision>2</cp:revision>
  <dcterms:created xsi:type="dcterms:W3CDTF">2023-03-28T20:08:01Z</dcterms:created>
  <dcterms:modified xsi:type="dcterms:W3CDTF">2023-04-06T15:48:49Z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2023-03-28T22:28:47Z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ccae4f70-b4d3-4f4c-a5a6-9a9e33a5a259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0x010100789B22BE06811840A13B8778E93A5EB1</vt:lpwstr>
  </property>
</Properties>
</file>