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7.xml" ContentType="application/vnd.openxmlformats-officedocument.presentationml.tags+xml"/>
  <Override PartName="/ppt/notesSlides/notesSlide12.xml" ContentType="application/vnd.openxmlformats-officedocument.presentationml.notesSlide+xml"/>
  <Override PartName="/ppt/tags/tag8.xml" ContentType="application/vnd.openxmlformats-officedocument.presentationml.tags+xml"/>
  <Override PartName="/ppt/notesSlides/notesSlide13.xml" ContentType="application/vnd.openxmlformats-officedocument.presentationml.notesSlide+xml"/>
  <Override PartName="/ppt/tags/tag9.xml" ContentType="application/vnd.openxmlformats-officedocument.presentationml.tags+xml"/>
  <Override PartName="/ppt/notesSlides/notesSlide14.xml" ContentType="application/vnd.openxmlformats-officedocument.presentationml.notesSlide+xml"/>
  <Override PartName="/ppt/tags/tag10.xml" ContentType="application/vnd.openxmlformats-officedocument.presentationml.tags+xml"/>
  <Override PartName="/ppt/notesSlides/notesSlide15.xml" ContentType="application/vnd.openxmlformats-officedocument.presentationml.notesSlide+xml"/>
  <Override PartName="/ppt/tags/tag11.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8"/>
  </p:notesMasterIdLst>
  <p:sldIdLst>
    <p:sldId id="2147471519" r:id="rId5"/>
    <p:sldId id="2147475092" r:id="rId6"/>
    <p:sldId id="2147475102" r:id="rId7"/>
    <p:sldId id="2147475100" r:id="rId8"/>
    <p:sldId id="2147471838" r:id="rId9"/>
    <p:sldId id="2147471836" r:id="rId10"/>
    <p:sldId id="2147471521" r:id="rId11"/>
    <p:sldId id="2147471528" r:id="rId12"/>
    <p:sldId id="2147475090" r:id="rId13"/>
    <p:sldId id="2147475088" r:id="rId14"/>
    <p:sldId id="2147471534" r:id="rId15"/>
    <p:sldId id="2147475096" r:id="rId16"/>
    <p:sldId id="2147475097" r:id="rId17"/>
    <p:sldId id="2147471538" r:id="rId18"/>
    <p:sldId id="2147475098" r:id="rId19"/>
    <p:sldId id="2147475099" r:id="rId20"/>
    <p:sldId id="2147471514" r:id="rId21"/>
    <p:sldId id="2147475091" r:id="rId22"/>
    <p:sldId id="2147475095" r:id="rId23"/>
    <p:sldId id="2147471544" r:id="rId24"/>
    <p:sldId id="2147471831" r:id="rId25"/>
    <p:sldId id="2147471835" r:id="rId26"/>
    <p:sldId id="2147475089" r:id="rId27"/>
    <p:sldId id="2147471269" r:id="rId28"/>
    <p:sldId id="2147471299" r:id="rId29"/>
    <p:sldId id="2147471291" r:id="rId30"/>
    <p:sldId id="2147471543" r:id="rId31"/>
    <p:sldId id="2147471540" r:id="rId32"/>
    <p:sldId id="2147471541" r:id="rId33"/>
    <p:sldId id="2147471530" r:id="rId34"/>
    <p:sldId id="2147471542" r:id="rId35"/>
    <p:sldId id="2147471533" r:id="rId36"/>
    <p:sldId id="2147471297"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D00"/>
    <a:srgbClr val="7F7F7F"/>
    <a:srgbClr val="43B02A"/>
    <a:srgbClr val="046A38"/>
    <a:srgbClr val="0076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A8F257-CEA1-425B-A8A4-B6892175A869}" v="61" dt="2023-03-23T14:42:40.348"/>
  </p1510:revLst>
</p1510:revInfo>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4" d="100"/>
          <a:sy n="54" d="100"/>
        </p:scale>
        <p:origin x="108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8D17F6-ECE8-4493-ABFB-C4D8ED953670}" type="datetimeFigureOut">
              <a:rPr lang="en-US" smtClean="0"/>
              <a:t>4/6/2023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105186-EE54-4CC4-BEBC-7E32B9314DBC}" type="slidenum">
              <a:rPr lang="en-US" smtClean="0"/>
              <a:t>‹#›</a:t>
            </a:fld>
            <a:endParaRPr lang="en-US"/>
          </a:p>
        </p:txBody>
      </p:sp>
    </p:spTree>
    <p:extLst>
      <p:ext uri="{BB962C8B-B14F-4D97-AF65-F5344CB8AC3E}">
        <p14:creationId xmlns:p14="http://schemas.microsoft.com/office/powerpoint/2010/main" val="3777393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6EAC46D-CB23-468C-A4C4-6C6D96EAF761}" type="slidenum">
              <a:rPr kumimoji="0" lang="en-US" sz="1200" b="0" i="0" u="none" strike="noStrike" kern="1200" cap="none" spc="0" normalizeH="0" baseline="0" noProof="0" smtClean="0">
                <a:ln>
                  <a:noFill/>
                </a:ln>
                <a:solidFill>
                  <a:prstClr val="black"/>
                </a:solidFill>
                <a:effectLst/>
                <a:uLnTx/>
                <a:uFillTx/>
                <a:latin typeface="Open Sans" panose="020B0606030504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Open Sans" panose="020B0606030504020204" pitchFamily="34" charset="0"/>
              <a:ea typeface="+mn-ea"/>
              <a:cs typeface="+mn-cs"/>
            </a:endParaRPr>
          </a:p>
        </p:txBody>
      </p:sp>
    </p:spTree>
    <p:extLst>
      <p:ext uri="{BB962C8B-B14F-4D97-AF65-F5344CB8AC3E}">
        <p14:creationId xmlns:p14="http://schemas.microsoft.com/office/powerpoint/2010/main" val="1727817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2077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311CBF-A117-4501-858C-06D47770AE09}" type="slidenum">
              <a:rPr lang="en-US" smtClean="0"/>
              <a:t>10</a:t>
            </a:fld>
            <a:endParaRPr lang="en-US"/>
          </a:p>
        </p:txBody>
      </p:sp>
    </p:spTree>
    <p:extLst>
      <p:ext uri="{BB962C8B-B14F-4D97-AF65-F5344CB8AC3E}">
        <p14:creationId xmlns:p14="http://schemas.microsoft.com/office/powerpoint/2010/main" val="2540895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550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311CBF-A117-4501-858C-06D47770AE09}" type="slidenum">
              <a:rPr lang="en-US" smtClean="0"/>
              <a:t>13</a:t>
            </a:fld>
            <a:endParaRPr lang="en-US"/>
          </a:p>
        </p:txBody>
      </p:sp>
    </p:spTree>
    <p:extLst>
      <p:ext uri="{BB962C8B-B14F-4D97-AF65-F5344CB8AC3E}">
        <p14:creationId xmlns:p14="http://schemas.microsoft.com/office/powerpoint/2010/main" val="1264069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40167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311CBF-A117-4501-858C-06D47770AE09}" type="slidenum">
              <a:rPr lang="en-US" smtClean="0"/>
              <a:t>16</a:t>
            </a:fld>
            <a:endParaRPr lang="en-US"/>
          </a:p>
        </p:txBody>
      </p:sp>
    </p:spTree>
    <p:extLst>
      <p:ext uri="{BB962C8B-B14F-4D97-AF65-F5344CB8AC3E}">
        <p14:creationId xmlns:p14="http://schemas.microsoft.com/office/powerpoint/2010/main" val="2355429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6EAC46D-CB23-468C-A4C4-6C6D96EAF761}" type="slidenum">
              <a:rPr kumimoji="0" lang="en-US" sz="1200" b="0" i="0" u="none" strike="noStrike" kern="1200" cap="none" spc="0" normalizeH="0" baseline="0" noProof="0" smtClean="0">
                <a:ln>
                  <a:noFill/>
                </a:ln>
                <a:solidFill>
                  <a:prstClr val="black"/>
                </a:solidFill>
                <a:effectLst/>
                <a:uLnTx/>
                <a:uFillTx/>
                <a:latin typeface="Open Sans" panose="020B0606030504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Open Sans" panose="020B0606030504020204" pitchFamily="34" charset="0"/>
              <a:ea typeface="+mn-ea"/>
              <a:cs typeface="+mn-cs"/>
            </a:endParaRPr>
          </a:p>
        </p:txBody>
      </p:sp>
    </p:spTree>
    <p:extLst>
      <p:ext uri="{BB962C8B-B14F-4D97-AF65-F5344CB8AC3E}">
        <p14:creationId xmlns:p14="http://schemas.microsoft.com/office/powerpoint/2010/main" val="240749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8105186-EE54-4CC4-BEBC-7E32B9314DBC}" type="slidenum">
              <a:rPr lang="en-US" smtClean="0"/>
              <a:t>20</a:t>
            </a:fld>
            <a:endParaRPr lang="en-US"/>
          </a:p>
        </p:txBody>
      </p:sp>
    </p:spTree>
    <p:extLst>
      <p:ext uri="{BB962C8B-B14F-4D97-AF65-F5344CB8AC3E}">
        <p14:creationId xmlns:p14="http://schemas.microsoft.com/office/powerpoint/2010/main" val="22857774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20779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Inputs/dependencies from Dollar Tree and by when.</a:t>
            </a:r>
          </a:p>
        </p:txBody>
      </p:sp>
      <p:sp>
        <p:nvSpPr>
          <p:cNvPr id="4" name="Slide Number Placeholder 3"/>
          <p:cNvSpPr>
            <a:spLocks noGrp="1"/>
          </p:cNvSpPr>
          <p:nvPr>
            <p:ph type="sldNum" sz="quarter" idx="5"/>
          </p:nvPr>
        </p:nvSpPr>
        <p:spPr/>
        <p:txBody>
          <a:bodyPr/>
          <a:lstStyle/>
          <a:p>
            <a:fld id="{88105186-EE54-4CC4-BEBC-7E32B9314DBC}" type="slidenum">
              <a:rPr lang="en-US" smtClean="0"/>
              <a:t>22</a:t>
            </a:fld>
            <a:endParaRPr lang="en-US"/>
          </a:p>
        </p:txBody>
      </p:sp>
    </p:spTree>
    <p:extLst>
      <p:ext uri="{BB962C8B-B14F-4D97-AF65-F5344CB8AC3E}">
        <p14:creationId xmlns:p14="http://schemas.microsoft.com/office/powerpoint/2010/main" val="33426835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311CBF-A117-4501-858C-06D47770AE09}" type="slidenum">
              <a:rPr lang="en-US" smtClean="0"/>
              <a:t>23</a:t>
            </a:fld>
            <a:endParaRPr lang="en-US"/>
          </a:p>
        </p:txBody>
      </p:sp>
    </p:spTree>
    <p:extLst>
      <p:ext uri="{BB962C8B-B14F-4D97-AF65-F5344CB8AC3E}">
        <p14:creationId xmlns:p14="http://schemas.microsoft.com/office/powerpoint/2010/main" val="2407373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6EAC46D-CB23-468C-A4C4-6C6D96EAF761}" type="slidenum">
              <a:rPr kumimoji="0" lang="en-US" sz="1200" b="0" i="0" u="none" strike="noStrike" kern="1200" cap="none" spc="0" normalizeH="0" baseline="0" noProof="0" smtClean="0">
                <a:ln>
                  <a:noFill/>
                </a:ln>
                <a:solidFill>
                  <a:prstClr val="black"/>
                </a:solidFill>
                <a:effectLst/>
                <a:uLnTx/>
                <a:uFillTx/>
                <a:latin typeface="Open Sans" panose="020B0606030504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Open Sans" panose="020B0606030504020204" pitchFamily="34" charset="0"/>
              <a:ea typeface="+mn-ea"/>
              <a:cs typeface="+mn-cs"/>
            </a:endParaRPr>
          </a:p>
        </p:txBody>
      </p:sp>
    </p:spTree>
    <p:extLst>
      <p:ext uri="{BB962C8B-B14F-4D97-AF65-F5344CB8AC3E}">
        <p14:creationId xmlns:p14="http://schemas.microsoft.com/office/powerpoint/2010/main" val="728775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1647ED-6139-4AD4-9755-EEB7F9EB06EB}" type="slidenum">
              <a:rPr lang="en-US" smtClean="0"/>
              <a:t>25</a:t>
            </a:fld>
            <a:endParaRPr lang="en-US"/>
          </a:p>
        </p:txBody>
      </p:sp>
    </p:spTree>
    <p:extLst>
      <p:ext uri="{BB962C8B-B14F-4D97-AF65-F5344CB8AC3E}">
        <p14:creationId xmlns:p14="http://schemas.microsoft.com/office/powerpoint/2010/main" val="16908348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1647ED-6139-4AD4-9755-EEB7F9EB06EB}" type="slidenum">
              <a:rPr lang="en-US" smtClean="0"/>
              <a:t>26</a:t>
            </a:fld>
            <a:endParaRPr lang="en-US"/>
          </a:p>
        </p:txBody>
      </p:sp>
    </p:spTree>
    <p:extLst>
      <p:ext uri="{BB962C8B-B14F-4D97-AF65-F5344CB8AC3E}">
        <p14:creationId xmlns:p14="http://schemas.microsoft.com/office/powerpoint/2010/main" val="16908348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Highlight how IPG will be working with QA </a:t>
            </a:r>
          </a:p>
        </p:txBody>
      </p:sp>
      <p:sp>
        <p:nvSpPr>
          <p:cNvPr id="4" name="Slide Number Placeholder 3"/>
          <p:cNvSpPr>
            <a:spLocks noGrp="1"/>
          </p:cNvSpPr>
          <p:nvPr>
            <p:ph type="sldNum" sz="quarter" idx="5"/>
          </p:nvPr>
        </p:nvSpPr>
        <p:spPr/>
        <p:txBody>
          <a:bodyPr/>
          <a:lstStyle/>
          <a:p>
            <a:fld id="{E71647ED-6139-4AD4-9755-EEB7F9EB06EB}" type="slidenum">
              <a:rPr lang="en-US" smtClean="0"/>
              <a:t>30</a:t>
            </a:fld>
            <a:endParaRPr lang="en-US"/>
          </a:p>
        </p:txBody>
      </p:sp>
    </p:spTree>
    <p:extLst>
      <p:ext uri="{BB962C8B-B14F-4D97-AF65-F5344CB8AC3E}">
        <p14:creationId xmlns:p14="http://schemas.microsoft.com/office/powerpoint/2010/main" val="21581409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Highlight this is a working model to support  Oracle Retail MVP.  Refine over the period of time for other nextgen apps implementation</a:t>
            </a:r>
          </a:p>
        </p:txBody>
      </p:sp>
      <p:sp>
        <p:nvSpPr>
          <p:cNvPr id="4" name="Slide Number Placeholder 3"/>
          <p:cNvSpPr>
            <a:spLocks noGrp="1"/>
          </p:cNvSpPr>
          <p:nvPr>
            <p:ph type="sldNum" sz="quarter" idx="5"/>
          </p:nvPr>
        </p:nvSpPr>
        <p:spPr/>
        <p:txBody>
          <a:bodyPr/>
          <a:lstStyle/>
          <a:p>
            <a:fld id="{E71647ED-6139-4AD4-9755-EEB7F9EB06EB}" type="slidenum">
              <a:rPr lang="en-US" smtClean="0"/>
              <a:t>33</a:t>
            </a:fld>
            <a:endParaRPr lang="en-US"/>
          </a:p>
        </p:txBody>
      </p:sp>
    </p:spTree>
    <p:extLst>
      <p:ext uri="{BB962C8B-B14F-4D97-AF65-F5344CB8AC3E}">
        <p14:creationId xmlns:p14="http://schemas.microsoft.com/office/powerpoint/2010/main" val="2661732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ACA25-0E36-4900-A84F-24D14939DC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E4828B-C77A-4839-8958-D55552E53A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7865EA-37AB-46BE-8F3E-A4CA8BA69518}"/>
              </a:ext>
            </a:extLst>
          </p:cNvPr>
          <p:cNvSpPr>
            <a:spLocks noGrp="1"/>
          </p:cNvSpPr>
          <p:nvPr>
            <p:ph type="dt" sz="half" idx="10"/>
          </p:nvPr>
        </p:nvSpPr>
        <p:spPr/>
        <p:txBody>
          <a:bodyPr/>
          <a:lstStyle/>
          <a:p>
            <a:fld id="{1BEED056-0C17-4F13-92C7-4B4EBBA459AF}" type="datetimeFigureOut">
              <a:rPr lang="en-US" smtClean="0"/>
              <a:t>4/6/2023</a:t>
            </a:fld>
            <a:endParaRPr lang="en-US"/>
          </a:p>
        </p:txBody>
      </p:sp>
      <p:sp>
        <p:nvSpPr>
          <p:cNvPr id="5" name="Footer Placeholder 4">
            <a:extLst>
              <a:ext uri="{FF2B5EF4-FFF2-40B4-BE49-F238E27FC236}">
                <a16:creationId xmlns:a16="http://schemas.microsoft.com/office/drawing/2014/main" id="{43B2EDFB-388F-4B50-95F5-4EDCC4F5B3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FD7744-C64A-42F5-9E28-6DB5542FA421}"/>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4208337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C8F5E-9E4B-4C12-AAD5-87245380C5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F2D447-D0F1-41D1-9C4E-F433564DA4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54E46E-5D06-4275-BD5C-CD6578D9A8F9}"/>
              </a:ext>
            </a:extLst>
          </p:cNvPr>
          <p:cNvSpPr>
            <a:spLocks noGrp="1"/>
          </p:cNvSpPr>
          <p:nvPr>
            <p:ph type="dt" sz="half" idx="10"/>
          </p:nvPr>
        </p:nvSpPr>
        <p:spPr/>
        <p:txBody>
          <a:bodyPr/>
          <a:lstStyle/>
          <a:p>
            <a:fld id="{1BEED056-0C17-4F13-92C7-4B4EBBA459AF}" type="datetimeFigureOut">
              <a:rPr lang="en-US" smtClean="0"/>
              <a:t>4/6/2023</a:t>
            </a:fld>
            <a:endParaRPr lang="en-US"/>
          </a:p>
        </p:txBody>
      </p:sp>
      <p:sp>
        <p:nvSpPr>
          <p:cNvPr id="5" name="Footer Placeholder 4">
            <a:extLst>
              <a:ext uri="{FF2B5EF4-FFF2-40B4-BE49-F238E27FC236}">
                <a16:creationId xmlns:a16="http://schemas.microsoft.com/office/drawing/2014/main" id="{646F252E-F8D8-4026-B97D-0A820B36D7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B6C006-1A65-4B05-A485-01C145DB8D86}"/>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2887112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015C4-F6EC-4AD5-BA12-6478DC61CE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F92A54-52E9-46DF-A0B8-5ADE0716E6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9E38C6-05B8-42FF-B59E-A4D016607522}"/>
              </a:ext>
            </a:extLst>
          </p:cNvPr>
          <p:cNvSpPr>
            <a:spLocks noGrp="1"/>
          </p:cNvSpPr>
          <p:nvPr>
            <p:ph type="dt" sz="half" idx="10"/>
          </p:nvPr>
        </p:nvSpPr>
        <p:spPr/>
        <p:txBody>
          <a:bodyPr/>
          <a:lstStyle/>
          <a:p>
            <a:fld id="{1BEED056-0C17-4F13-92C7-4B4EBBA459AF}" type="datetimeFigureOut">
              <a:rPr lang="en-US" smtClean="0"/>
              <a:t>4/6/2023</a:t>
            </a:fld>
            <a:endParaRPr lang="en-US"/>
          </a:p>
        </p:txBody>
      </p:sp>
      <p:sp>
        <p:nvSpPr>
          <p:cNvPr id="5" name="Footer Placeholder 4">
            <a:extLst>
              <a:ext uri="{FF2B5EF4-FFF2-40B4-BE49-F238E27FC236}">
                <a16:creationId xmlns:a16="http://schemas.microsoft.com/office/drawing/2014/main" id="{BC6C3929-C20F-4B68-ACF8-C358FB370A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676949-DF2A-4BFD-BD95-9B35E9FD2767}"/>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596389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A1F6C-82FE-4270-91A8-B1F7A45EE6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BC09D1-6000-41A4-B146-E8B0FAB09C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DA3D11-87B2-412B-9D77-B1F94D3F0C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2ACAEEE-2CF9-4689-BE7A-A166F27E0F8A}"/>
              </a:ext>
            </a:extLst>
          </p:cNvPr>
          <p:cNvSpPr>
            <a:spLocks noGrp="1"/>
          </p:cNvSpPr>
          <p:nvPr>
            <p:ph type="dt" sz="half" idx="10"/>
          </p:nvPr>
        </p:nvSpPr>
        <p:spPr/>
        <p:txBody>
          <a:bodyPr/>
          <a:lstStyle/>
          <a:p>
            <a:fld id="{1BEED056-0C17-4F13-92C7-4B4EBBA459AF}" type="datetimeFigureOut">
              <a:rPr lang="en-US" smtClean="0"/>
              <a:t>4/6/2023</a:t>
            </a:fld>
            <a:endParaRPr lang="en-US"/>
          </a:p>
        </p:txBody>
      </p:sp>
      <p:sp>
        <p:nvSpPr>
          <p:cNvPr id="6" name="Footer Placeholder 5">
            <a:extLst>
              <a:ext uri="{FF2B5EF4-FFF2-40B4-BE49-F238E27FC236}">
                <a16:creationId xmlns:a16="http://schemas.microsoft.com/office/drawing/2014/main" id="{CA20FD71-2655-4B2F-BC4E-29FADCF24E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05B7EB-9939-44A0-9B5D-8310CA4BD31E}"/>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057847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73C3C-BF77-4332-A7AB-64D313D23F4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6682AA-11D7-4AF1-A300-95D513B539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897624-0139-47FA-8889-197546FB05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C8F22C-D0C4-4AC6-9DDE-759AEE59FE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56F6FA-4467-4016-A054-1CFB4045A9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993C9A-2AAB-4B21-9F6B-550C83F412F4}"/>
              </a:ext>
            </a:extLst>
          </p:cNvPr>
          <p:cNvSpPr>
            <a:spLocks noGrp="1"/>
          </p:cNvSpPr>
          <p:nvPr>
            <p:ph type="dt" sz="half" idx="10"/>
          </p:nvPr>
        </p:nvSpPr>
        <p:spPr/>
        <p:txBody>
          <a:bodyPr/>
          <a:lstStyle/>
          <a:p>
            <a:fld id="{1BEED056-0C17-4F13-92C7-4B4EBBA459AF}" type="datetimeFigureOut">
              <a:rPr lang="en-US" smtClean="0"/>
              <a:t>4/6/2023</a:t>
            </a:fld>
            <a:endParaRPr lang="en-US"/>
          </a:p>
        </p:txBody>
      </p:sp>
      <p:sp>
        <p:nvSpPr>
          <p:cNvPr id="8" name="Footer Placeholder 7">
            <a:extLst>
              <a:ext uri="{FF2B5EF4-FFF2-40B4-BE49-F238E27FC236}">
                <a16:creationId xmlns:a16="http://schemas.microsoft.com/office/drawing/2014/main" id="{940CDFBB-E61E-4A98-A515-3E83558870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E8A7AC-12A3-4941-BFE8-A7E016732DC0}"/>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3157582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7824C-AC1B-4EA4-8EF0-6821BD52464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6F6C41-97DB-4C43-B659-659C1D8B2354}"/>
              </a:ext>
            </a:extLst>
          </p:cNvPr>
          <p:cNvSpPr>
            <a:spLocks noGrp="1"/>
          </p:cNvSpPr>
          <p:nvPr>
            <p:ph type="dt" sz="half" idx="10"/>
          </p:nvPr>
        </p:nvSpPr>
        <p:spPr/>
        <p:txBody>
          <a:bodyPr/>
          <a:lstStyle/>
          <a:p>
            <a:fld id="{1BEED056-0C17-4F13-92C7-4B4EBBA459AF}" type="datetimeFigureOut">
              <a:rPr lang="en-US" smtClean="0"/>
              <a:t>4/6/2023</a:t>
            </a:fld>
            <a:endParaRPr lang="en-US"/>
          </a:p>
        </p:txBody>
      </p:sp>
      <p:sp>
        <p:nvSpPr>
          <p:cNvPr id="4" name="Footer Placeholder 3">
            <a:extLst>
              <a:ext uri="{FF2B5EF4-FFF2-40B4-BE49-F238E27FC236}">
                <a16:creationId xmlns:a16="http://schemas.microsoft.com/office/drawing/2014/main" id="{CA4559E7-3A6E-4B91-954E-C12821A88C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BB992D-72BF-4572-BA64-BD5B72EBD781}"/>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235374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045F0B-91B1-4D5E-9210-6F953808A178}"/>
              </a:ext>
            </a:extLst>
          </p:cNvPr>
          <p:cNvSpPr>
            <a:spLocks noGrp="1"/>
          </p:cNvSpPr>
          <p:nvPr>
            <p:ph type="dt" sz="half" idx="10"/>
          </p:nvPr>
        </p:nvSpPr>
        <p:spPr/>
        <p:txBody>
          <a:bodyPr/>
          <a:lstStyle/>
          <a:p>
            <a:fld id="{1BEED056-0C17-4F13-92C7-4B4EBBA459AF}" type="datetimeFigureOut">
              <a:rPr lang="en-US" smtClean="0"/>
              <a:t>4/6/2023</a:t>
            </a:fld>
            <a:endParaRPr lang="en-US"/>
          </a:p>
        </p:txBody>
      </p:sp>
      <p:sp>
        <p:nvSpPr>
          <p:cNvPr id="3" name="Footer Placeholder 2">
            <a:extLst>
              <a:ext uri="{FF2B5EF4-FFF2-40B4-BE49-F238E27FC236}">
                <a16:creationId xmlns:a16="http://schemas.microsoft.com/office/drawing/2014/main" id="{B52AA9EA-759A-4A49-800A-0FBAA21E3A2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B6AE87-062D-443A-838F-C6A8EB3C75B5}"/>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654557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5D714-30F7-4D1C-86B6-008B7AA881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5F727D-800A-4114-9013-596805FD7D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4C9204-DB20-44A6-8513-C1DE67893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E2724-99F9-45E0-98F1-1379CDA847E2}"/>
              </a:ext>
            </a:extLst>
          </p:cNvPr>
          <p:cNvSpPr>
            <a:spLocks noGrp="1"/>
          </p:cNvSpPr>
          <p:nvPr>
            <p:ph type="dt" sz="half" idx="10"/>
          </p:nvPr>
        </p:nvSpPr>
        <p:spPr/>
        <p:txBody>
          <a:bodyPr/>
          <a:lstStyle/>
          <a:p>
            <a:fld id="{1BEED056-0C17-4F13-92C7-4B4EBBA459AF}" type="datetimeFigureOut">
              <a:rPr lang="en-US" smtClean="0"/>
              <a:t>4/6/2023</a:t>
            </a:fld>
            <a:endParaRPr lang="en-US"/>
          </a:p>
        </p:txBody>
      </p:sp>
      <p:sp>
        <p:nvSpPr>
          <p:cNvPr id="6" name="Footer Placeholder 5">
            <a:extLst>
              <a:ext uri="{FF2B5EF4-FFF2-40B4-BE49-F238E27FC236}">
                <a16:creationId xmlns:a16="http://schemas.microsoft.com/office/drawing/2014/main" id="{514C21BF-408E-4442-A264-032B081A9C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27628B-B9E0-4B6C-939E-062F6DEDFFF1}"/>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723575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E9F70-1CCB-4B48-99BB-3827A9C180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3A6982-54DD-4AD6-8174-0BF34D4A34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6A1D05A-8245-4112-98D3-45A91E3E41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A0F16D-4C80-4D82-84D5-E8D2D49EEEDC}"/>
              </a:ext>
            </a:extLst>
          </p:cNvPr>
          <p:cNvSpPr>
            <a:spLocks noGrp="1"/>
          </p:cNvSpPr>
          <p:nvPr>
            <p:ph type="dt" sz="half" idx="10"/>
          </p:nvPr>
        </p:nvSpPr>
        <p:spPr/>
        <p:txBody>
          <a:bodyPr/>
          <a:lstStyle/>
          <a:p>
            <a:fld id="{1BEED056-0C17-4F13-92C7-4B4EBBA459AF}" type="datetimeFigureOut">
              <a:rPr lang="en-US" smtClean="0"/>
              <a:t>4/6/2023</a:t>
            </a:fld>
            <a:endParaRPr lang="en-US"/>
          </a:p>
        </p:txBody>
      </p:sp>
      <p:sp>
        <p:nvSpPr>
          <p:cNvPr id="6" name="Footer Placeholder 5">
            <a:extLst>
              <a:ext uri="{FF2B5EF4-FFF2-40B4-BE49-F238E27FC236}">
                <a16:creationId xmlns:a16="http://schemas.microsoft.com/office/drawing/2014/main" id="{6FD8E81B-EE01-4EF7-8B5C-02D6469A06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7D9CDD-B73E-4236-B008-0803B85B5BAA}"/>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4105402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F763D-1AD1-4169-9F56-D9457711F8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F6CC31-F312-4E35-A7C4-039FF64C2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7C22F-9ACF-4750-8762-5250ED745959}"/>
              </a:ext>
            </a:extLst>
          </p:cNvPr>
          <p:cNvSpPr>
            <a:spLocks noGrp="1"/>
          </p:cNvSpPr>
          <p:nvPr>
            <p:ph type="dt" sz="half" idx="10"/>
          </p:nvPr>
        </p:nvSpPr>
        <p:spPr/>
        <p:txBody>
          <a:bodyPr/>
          <a:lstStyle/>
          <a:p>
            <a:fld id="{1BEED056-0C17-4F13-92C7-4B4EBBA459AF}" type="datetimeFigureOut">
              <a:rPr lang="en-US" smtClean="0"/>
              <a:t>4/6/2023</a:t>
            </a:fld>
            <a:endParaRPr lang="en-US"/>
          </a:p>
        </p:txBody>
      </p:sp>
      <p:sp>
        <p:nvSpPr>
          <p:cNvPr id="5" name="Footer Placeholder 4">
            <a:extLst>
              <a:ext uri="{FF2B5EF4-FFF2-40B4-BE49-F238E27FC236}">
                <a16:creationId xmlns:a16="http://schemas.microsoft.com/office/drawing/2014/main" id="{290BBFB0-C456-48E1-8CDF-DF43F0C78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06A636-98E7-4095-B088-0645A418150C}"/>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2207666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1B88A1-631B-4AF2-94E0-9C58E778975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09E3C7-C1A9-4CDA-A5D9-65A441E5AD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2A0DE3-E226-4A64-900B-FBFE471B8199}"/>
              </a:ext>
            </a:extLst>
          </p:cNvPr>
          <p:cNvSpPr>
            <a:spLocks noGrp="1"/>
          </p:cNvSpPr>
          <p:nvPr>
            <p:ph type="dt" sz="half" idx="10"/>
          </p:nvPr>
        </p:nvSpPr>
        <p:spPr/>
        <p:txBody>
          <a:bodyPr/>
          <a:lstStyle/>
          <a:p>
            <a:fld id="{1BEED056-0C17-4F13-92C7-4B4EBBA459AF}" type="datetimeFigureOut">
              <a:rPr lang="en-US" smtClean="0"/>
              <a:t>4/6/2023</a:t>
            </a:fld>
            <a:endParaRPr lang="en-US"/>
          </a:p>
        </p:txBody>
      </p:sp>
      <p:sp>
        <p:nvSpPr>
          <p:cNvPr id="5" name="Footer Placeholder 4">
            <a:extLst>
              <a:ext uri="{FF2B5EF4-FFF2-40B4-BE49-F238E27FC236}">
                <a16:creationId xmlns:a16="http://schemas.microsoft.com/office/drawing/2014/main" id="{BD22917A-6753-426C-A341-5BB1C69241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A66ADA-6ED2-4FD4-A456-F3BA46D6581F}"/>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381068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5070EDC-AD72-4D14-AA99-A68687567A84}"/>
              </a:ext>
            </a:extLst>
          </p:cNvPr>
          <p:cNvSpPr/>
          <p:nvPr userDrawn="1"/>
        </p:nvSpPr>
        <p:spPr bwMode="gray">
          <a:xfrm>
            <a:off x="0" y="0"/>
            <a:ext cx="12192000" cy="6858000"/>
          </a:xfrm>
          <a:prstGeom prst="rect">
            <a:avLst/>
          </a:prstGeom>
          <a:gradFill flip="none" rotWithShape="1">
            <a:gsLst>
              <a:gs pos="0">
                <a:schemeClr val="bg1"/>
              </a:gs>
              <a:gs pos="100000">
                <a:schemeClr val="bg1">
                  <a:lumMod val="85000"/>
                </a:schemeClr>
              </a:gs>
            </a:gsLst>
            <a:path path="circle">
              <a:fillToRect l="100000" t="100000"/>
            </a:path>
            <a:tileRect r="-100000" b="-100000"/>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nvGrpSpPr>
          <p:cNvPr id="27" name="Group 26">
            <a:extLst>
              <a:ext uri="{FF2B5EF4-FFF2-40B4-BE49-F238E27FC236}">
                <a16:creationId xmlns:a16="http://schemas.microsoft.com/office/drawing/2014/main" id="{A01EE57E-4C1B-4ECF-94C5-14A453751EA1}"/>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8" name="Oval 5">
              <a:extLst>
                <a:ext uri="{FF2B5EF4-FFF2-40B4-BE49-F238E27FC236}">
                  <a16:creationId xmlns:a16="http://schemas.microsoft.com/office/drawing/2014/main" id="{848B10DB-7BA0-47A6-A2BF-E43FDE325327}"/>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6">
              <a:extLst>
                <a:ext uri="{FF2B5EF4-FFF2-40B4-BE49-F238E27FC236}">
                  <a16:creationId xmlns:a16="http://schemas.microsoft.com/office/drawing/2014/main" id="{B690FCB5-02B0-42C1-A71D-2F5ABCA25FF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3" name="Rectangle 7">
              <a:extLst>
                <a:ext uri="{FF2B5EF4-FFF2-40B4-BE49-F238E27FC236}">
                  <a16:creationId xmlns:a16="http://schemas.microsoft.com/office/drawing/2014/main" id="{358223E3-2772-41EC-BDC5-F0327F14B28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4" name="Freeform 8">
              <a:extLst>
                <a:ext uri="{FF2B5EF4-FFF2-40B4-BE49-F238E27FC236}">
                  <a16:creationId xmlns:a16="http://schemas.microsoft.com/office/drawing/2014/main" id="{60E75CE7-1268-47E9-A585-16E350CB0979}"/>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5" name="Rectangle 9">
              <a:extLst>
                <a:ext uri="{FF2B5EF4-FFF2-40B4-BE49-F238E27FC236}">
                  <a16:creationId xmlns:a16="http://schemas.microsoft.com/office/drawing/2014/main" id="{BF8B8A80-FD9A-43B9-A936-A0BE1CAD803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6" name="Rectangle 10">
              <a:extLst>
                <a:ext uri="{FF2B5EF4-FFF2-40B4-BE49-F238E27FC236}">
                  <a16:creationId xmlns:a16="http://schemas.microsoft.com/office/drawing/2014/main" id="{5DA18E48-2689-422E-A84C-ECB5B61A0D2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7" name="Freeform 11">
              <a:extLst>
                <a:ext uri="{FF2B5EF4-FFF2-40B4-BE49-F238E27FC236}">
                  <a16:creationId xmlns:a16="http://schemas.microsoft.com/office/drawing/2014/main" id="{D9316E24-7A8A-4FCF-B2C4-4EE40E3BA99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8" name="Freeform 12">
              <a:extLst>
                <a:ext uri="{FF2B5EF4-FFF2-40B4-BE49-F238E27FC236}">
                  <a16:creationId xmlns:a16="http://schemas.microsoft.com/office/drawing/2014/main" id="{76354CE9-D577-46E8-886D-1BBB079BE4D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9" name="Freeform 13">
              <a:extLst>
                <a:ext uri="{FF2B5EF4-FFF2-40B4-BE49-F238E27FC236}">
                  <a16:creationId xmlns:a16="http://schemas.microsoft.com/office/drawing/2014/main" id="{2232419E-4011-4B15-A744-7F8FCDD1F55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2F957E66-C402-4A51-A806-6052AEAFC8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Tree>
    <p:extLst>
      <p:ext uri="{BB962C8B-B14F-4D97-AF65-F5344CB8AC3E}">
        <p14:creationId xmlns:p14="http://schemas.microsoft.com/office/powerpoint/2010/main" val="353322533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divider">
    <p:bg>
      <p:bgPr>
        <a:gradFill>
          <a:gsLst>
            <a:gs pos="0">
              <a:schemeClr val="bg1">
                <a:lumMod val="75000"/>
              </a:schemeClr>
            </a:gs>
            <a:gs pos="100000">
              <a:schemeClr val="bg1">
                <a:lumMod val="95000"/>
              </a:schemeClr>
            </a:gs>
          </a:gsLst>
          <a:lin ang="2700000" scaled="1"/>
        </a:gra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8982B5D-013A-4631-A340-92E6F504C430}"/>
              </a:ext>
            </a:extLst>
          </p:cNvPr>
          <p:cNvSpPr>
            <a:spLocks noGrp="1"/>
          </p:cNvSpPr>
          <p:nvPr>
            <p:ph type="body" sz="quarter" idx="10" hasCustomPrompt="1"/>
          </p:nvPr>
        </p:nvSpPr>
        <p:spPr>
          <a:xfrm>
            <a:off x="457200" y="1714500"/>
            <a:ext cx="6934200" cy="2786063"/>
          </a:xfrm>
          <a:prstGeom prst="rect">
            <a:avLst/>
          </a:prstGeom>
        </p:spPr>
        <p:txBody>
          <a:bodyPr/>
          <a:lstStyle>
            <a:lvl1pPr>
              <a:defRPr sz="4000">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pPr lvl="0"/>
            <a:r>
              <a:rPr lang="en-US"/>
              <a:t>Divider Heading</a:t>
            </a:r>
          </a:p>
        </p:txBody>
      </p:sp>
    </p:spTree>
    <p:extLst>
      <p:ext uri="{BB962C8B-B14F-4D97-AF65-F5344CB8AC3E}">
        <p14:creationId xmlns:p14="http://schemas.microsoft.com/office/powerpoint/2010/main" val="179750505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778190"/>
            <a:ext cx="11277600" cy="215444"/>
          </a:xfrm>
          <a:prstGeom prst="rect">
            <a:avLst/>
          </a:prstGeom>
        </p:spPr>
        <p:txBody>
          <a:bodyPr lIns="0" tIns="0" rIns="0" bIns="0">
            <a:spAutoFit/>
          </a:bodyPr>
          <a:lstStyle>
            <a:lvl1pPr marL="0" indent="0">
              <a:spcBef>
                <a:spcPts val="0"/>
              </a:spcBef>
              <a:spcAft>
                <a:spcPts val="0"/>
              </a:spcAft>
              <a:buNone/>
              <a:defRPr sz="1400" b="0">
                <a:solidFill>
                  <a:srgbClr val="53565A"/>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345992"/>
            <a:ext cx="11277600" cy="400110"/>
          </a:xfrm>
          <a:prstGeom prst="rect">
            <a:avLst/>
          </a:prstGeom>
        </p:spPr>
        <p:txBody>
          <a:bodyPr vert="horz" lIns="0" tIns="0" rIns="0" bIns="0" rtlCol="0" anchor="t" anchorCtr="0">
            <a:spAutoFit/>
          </a:bodyPr>
          <a:lstStyle>
            <a:lvl1pPr>
              <a:spcBef>
                <a:spcPts val="0"/>
              </a:spcBef>
              <a:spcAft>
                <a:spcPts val="0"/>
              </a:spcAft>
              <a:defRPr sz="2600">
                <a:latin typeface="+mj-lt"/>
              </a:defRPr>
            </a:lvl1pPr>
          </a:lstStyle>
          <a:p>
            <a:r>
              <a:rPr lang="en-US"/>
              <a:t>Click to add title</a:t>
            </a:r>
          </a:p>
        </p:txBody>
      </p:sp>
    </p:spTree>
    <p:extLst>
      <p:ext uri="{BB962C8B-B14F-4D97-AF65-F5344CB8AC3E}">
        <p14:creationId xmlns:p14="http://schemas.microsoft.com/office/powerpoint/2010/main" val="266942280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Thank you ">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045837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ODY WITHOUT BREADCRUMB">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A26112B3-744D-495C-BDC1-C08F4946CBA5}"/>
              </a:ext>
            </a:extLst>
          </p:cNvPr>
          <p:cNvGraphicFramePr>
            <a:graphicFrameLocks noChangeAspect="1"/>
          </p:cNvGraphicFramePr>
          <p:nvPr userDrawn="1">
            <p:custDataLst>
              <p:tags r:id="rId1"/>
            </p:custDataLst>
            <p:extLst>
              <p:ext uri="{D42A27DB-BD31-4B8C-83A1-F6EECF244321}">
                <p14:modId xmlns:p14="http://schemas.microsoft.com/office/powerpoint/2010/main" val="14169314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 name="Object 2" hidden="1">
                        <a:extLst>
                          <a:ext uri="{FF2B5EF4-FFF2-40B4-BE49-F238E27FC236}">
                            <a16:creationId xmlns:a16="http://schemas.microsoft.com/office/drawing/2014/main" id="{A26112B3-744D-495C-BDC1-C08F4946CB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4B580A5E-854F-4C53-84FB-FCAB15D68BB7}"/>
              </a:ext>
            </a:extLst>
          </p:cNvPr>
          <p:cNvSpPr>
            <a:spLocks noGrp="1"/>
          </p:cNvSpPr>
          <p:nvPr>
            <p:ph type="body" sz="quarter" idx="10" hasCustomPrompt="1"/>
          </p:nvPr>
        </p:nvSpPr>
        <p:spPr>
          <a:xfrm>
            <a:off x="126998" y="150168"/>
            <a:ext cx="9966960" cy="461665"/>
          </a:xfrm>
          <a:prstGeom prst="rect">
            <a:avLst/>
          </a:prstGeom>
        </p:spPr>
        <p:txBody>
          <a:bodyPr wrap="square" anchor="ctr">
            <a:spAutoFit/>
          </a:bodyPr>
          <a:lstStyle>
            <a:lvl1pPr marL="0" indent="0">
              <a:buNone/>
              <a:defRPr kumimoji="0" lang="en-US" sz="2400" b="1" i="0" u="none" strike="noStrike" kern="0" cap="none" spc="0" normalizeH="0" baseline="0" smtClean="0">
                <a:ln>
                  <a:noFill/>
                </a:ln>
                <a:solidFill>
                  <a:srgbClr val="FFFFFF"/>
                </a:solidFill>
                <a:effectLst/>
                <a:uLnTx/>
                <a:uFillTx/>
                <a:latin typeface="Futura"/>
                <a:ea typeface="Open Sans ExtraBold" panose="020B0906030804020204" pitchFamily="34" charset="0"/>
                <a:cs typeface="Open Sans ExtraBold" panose="020B0906030804020204" pitchFamily="34" charset="0"/>
              </a:defRPr>
            </a:lvl1pPr>
            <a:lvl2pPr>
              <a:defRPr lang="en-US" sz="1800" smtClean="0"/>
            </a:lvl2pPr>
            <a:lvl3pPr>
              <a:defRPr lang="en-US" sz="1800" smtClean="0"/>
            </a:lvl3pPr>
            <a:lvl4pPr>
              <a:defRPr lang="en-US" smtClean="0"/>
            </a:lvl4pPr>
            <a:lvl5pPr>
              <a:defRPr lang="en-US"/>
            </a:lvl5pPr>
          </a:lstStyle>
          <a:p>
            <a:pPr marL="228600" marR="0" lvl="0" indent="-228600" fontAlgn="auto">
              <a:lnSpc>
                <a:spcPct val="100000"/>
              </a:lnSpc>
              <a:spcBef>
                <a:spcPts val="0"/>
              </a:spcBef>
              <a:spcAft>
                <a:spcPts val="0"/>
              </a:spcAft>
              <a:buClrTx/>
              <a:buSzTx/>
              <a:tabLst/>
            </a:pPr>
            <a:r>
              <a:rPr lang="en-US"/>
              <a:t>CLICK TO EDIT MASTER TEXT STYLES</a:t>
            </a:r>
          </a:p>
        </p:txBody>
      </p:sp>
    </p:spTree>
    <p:extLst>
      <p:ext uri="{BB962C8B-B14F-4D97-AF65-F5344CB8AC3E}">
        <p14:creationId xmlns:p14="http://schemas.microsoft.com/office/powerpoint/2010/main" val="2744612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6E8C76-D59B-4A4D-B875-69CC395939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140E68-46A6-4050-9435-1865FD9234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AE95B5-1303-4F48-BEE3-2F4666CB83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EED056-0C17-4F13-92C7-4B4EBBA459AF}" type="datetimeFigureOut">
              <a:rPr lang="en-US" smtClean="0"/>
              <a:t>4/6/2023</a:t>
            </a:fld>
            <a:endParaRPr lang="en-US"/>
          </a:p>
        </p:txBody>
      </p:sp>
      <p:sp>
        <p:nvSpPr>
          <p:cNvPr id="5" name="Footer Placeholder 4">
            <a:extLst>
              <a:ext uri="{FF2B5EF4-FFF2-40B4-BE49-F238E27FC236}">
                <a16:creationId xmlns:a16="http://schemas.microsoft.com/office/drawing/2014/main" id="{4C437B21-698B-416E-930C-F44484A355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FF45F67-3427-4DBF-979A-4218C2677D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03169B-71D3-417C-B033-13F48CE18F9C}" type="slidenum">
              <a:rPr lang="en-US" smtClean="0"/>
              <a:t>‹#›</a:t>
            </a:fld>
            <a:endParaRPr lang="en-US"/>
          </a:p>
        </p:txBody>
      </p:sp>
    </p:spTree>
    <p:extLst>
      <p:ext uri="{BB962C8B-B14F-4D97-AF65-F5344CB8AC3E}">
        <p14:creationId xmlns:p14="http://schemas.microsoft.com/office/powerpoint/2010/main" val="29980244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 id="2147483664" r:id="rId15"/>
    <p:sldLayoutId id="214748366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tags" Target="../tags/tag2.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8.emf"/><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8.emf"/><Relationship Id="rId4"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8.emf"/><Relationship Id="rId4" Type="http://schemas.openxmlformats.org/officeDocument/2006/relationships/oleObject" Target="../embeddings/oleObject3.bin"/></Relationships>
</file>

<file path=ppt/slides/_rels/slide17.xml.rels><?xml version="1.0" encoding="UTF-8" standalone="yes"?>
<Relationships xmlns="http://schemas.openxmlformats.org/package/2006/relationships"><Relationship Id="rId3" Type="http://schemas.openxmlformats.org/officeDocument/2006/relationships/hyperlink" Target="https://www2.deloitte.com/us/en/legal/about-deloitte.html" TargetMode="External"/><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tags" Target="../tags/tag6.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8.emf"/><Relationship Id="rId4" Type="http://schemas.openxmlformats.org/officeDocument/2006/relationships/oleObject" Target="../embeddings/oleObject3.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tags" Target="../tags/tag8.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tags" Target="../tags/tag9.xml"/><Relationship Id="rId5" Type="http://schemas.openxmlformats.org/officeDocument/2006/relationships/image" Target="../media/image1.emf"/><Relationship Id="rId4" Type="http://schemas.openxmlformats.org/officeDocument/2006/relationships/oleObject" Target="../embeddings/oleObject4.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tags" Target="../tags/tag10.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tags" Target="../tags/tag11.xml"/><Relationship Id="rId5" Type="http://schemas.openxmlformats.org/officeDocument/2006/relationships/image" Target="../media/image1.emf"/><Relationship Id="rId4" Type="http://schemas.openxmlformats.org/officeDocument/2006/relationships/oleObject" Target="../embeddings/oleObject6.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ubtitle 2">
            <a:extLst>
              <a:ext uri="{FF2B5EF4-FFF2-40B4-BE49-F238E27FC236}">
                <a16:creationId xmlns:a16="http://schemas.microsoft.com/office/drawing/2014/main" id="{96ED46D4-BCBC-4B77-B588-6CC265BB5385}"/>
              </a:ext>
            </a:extLst>
          </p:cNvPr>
          <p:cNvSpPr txBox="1">
            <a:spLocks/>
          </p:cNvSpPr>
          <p:nvPr/>
        </p:nvSpPr>
        <p:spPr bwMode="gray">
          <a:xfrm>
            <a:off x="463297" y="2857501"/>
            <a:ext cx="5785104" cy="3183908"/>
          </a:xfrm>
          <a:prstGeom prst="rect">
            <a:avLst/>
          </a:prstGeom>
        </p:spPr>
        <p:txBody>
          <a:bodyPr lIns="0" tIns="0" rIns="0" bIns="0" anchor="ctr" anchorCtr="0">
            <a:noAutofit/>
          </a:bodyPr>
          <a:lstStyle>
            <a:lvl1pPr marL="0" indent="0" algn="l" defTabSz="914400" rtl="0" eaLnBrk="1" latinLnBrk="0" hangingPunct="1">
              <a:lnSpc>
                <a:spcPct val="110000"/>
              </a:lnSpc>
              <a:spcBef>
                <a:spcPts val="0"/>
              </a:spcBef>
              <a:spcAft>
                <a:spcPts val="0"/>
              </a:spcAft>
              <a:buSzPct val="100000"/>
              <a:buFont typeface="Arial" panose="020B0604020202020204" pitchFamily="34" charset="0"/>
              <a:buNone/>
              <a:defRPr lang="en-US" sz="4800" b="1" kern="1200" noProof="0" dirty="0">
                <a:ln w="25400">
                  <a:solidFill>
                    <a:schemeClr val="bg1"/>
                  </a:solidFill>
                </a:ln>
                <a:no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0" indent="0" algn="l" defTabSz="914400" rtl="0" eaLnBrk="1" latinLnBrk="0" hangingPunct="1">
              <a:lnSpc>
                <a:spcPts val="3600"/>
              </a:lnSpc>
              <a:spcBef>
                <a:spcPts val="0"/>
              </a:spcBef>
              <a:spcAft>
                <a:spcPts val="0"/>
              </a:spcAft>
              <a:buClrTx/>
              <a:buSzPct val="100000"/>
              <a:buFont typeface="Arial"/>
              <a:buNone/>
              <a:defRPr lang="en-US" sz="3600" b="1" i="0" kern="1200" spc="-120" baseline="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2pPr>
            <a:lvl3pPr marL="1219170" indent="0" algn="ctr" defTabSz="914400" rtl="0" eaLnBrk="1" latinLnBrk="0" hangingPunct="1">
              <a:spcBef>
                <a:spcPts val="0"/>
              </a:spcBef>
              <a:spcAft>
                <a:spcPts val="1000"/>
              </a:spcAft>
              <a:buClrTx/>
              <a:buSzPct val="100000"/>
              <a:buFont typeface="Arial" panose="020B0604020202020204" pitchFamily="34" charset="0"/>
              <a:buNone/>
              <a:defRPr lang="en-US" sz="2400" kern="1200">
                <a:solidFill>
                  <a:schemeClr val="tx1"/>
                </a:solidFill>
                <a:latin typeface="+mn-lt"/>
                <a:ea typeface="+mn-ea"/>
                <a:cs typeface="+mn-cs"/>
              </a:defRPr>
            </a:lvl3pPr>
            <a:lvl4pPr marL="1828754" indent="0" algn="ctr" defTabSz="914400" rtl="0" eaLnBrk="1" latinLnBrk="0" hangingPunct="1">
              <a:spcBef>
                <a:spcPts val="0"/>
              </a:spcBef>
              <a:spcAft>
                <a:spcPts val="1000"/>
              </a:spcAft>
              <a:buClrTx/>
              <a:buSzPct val="100000"/>
              <a:buFont typeface="Verdana" panose="020B0604030504040204" pitchFamily="34" charset="0"/>
              <a:buNone/>
              <a:defRPr lang="en-US" sz="2133" kern="1200" baseline="0">
                <a:solidFill>
                  <a:schemeClr val="tx1"/>
                </a:solidFill>
                <a:latin typeface="+mn-lt"/>
                <a:ea typeface="+mn-ea"/>
                <a:cs typeface="+mn-cs"/>
              </a:defRPr>
            </a:lvl4pPr>
            <a:lvl5pPr marL="2438339" indent="0" algn="ctr" defTabSz="798513" rtl="0" eaLnBrk="1" latinLnBrk="0" hangingPunct="1">
              <a:spcBef>
                <a:spcPts val="0"/>
              </a:spcBef>
              <a:spcAft>
                <a:spcPts val="1000"/>
              </a:spcAft>
              <a:buClrTx/>
              <a:buSzPct val="100000"/>
              <a:buFont typeface="Verdana" panose="020B0604030504040204" pitchFamily="34" charset="0"/>
              <a:buNone/>
              <a:tabLst/>
              <a:defRPr lang="en-US" sz="2133" kern="1200" baseline="0">
                <a:solidFill>
                  <a:schemeClr val="tx1"/>
                </a:solidFill>
                <a:latin typeface="+mn-lt"/>
                <a:ea typeface="+mn-ea"/>
                <a:cs typeface="+mn-cs"/>
              </a:defRPr>
            </a:lvl5pPr>
            <a:lvl6pPr marL="3047924"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6pPr>
            <a:lvl7pPr marL="3657509" indent="0" algn="ctr" defTabSz="914400" rtl="0" eaLnBrk="1" latinLnBrk="0" hangingPunct="1">
              <a:spcBef>
                <a:spcPts val="0"/>
              </a:spcBef>
              <a:spcAft>
                <a:spcPts val="1000"/>
              </a:spcAft>
              <a:buFont typeface="Verdana" panose="020B0604030504040204" pitchFamily="34" charset="0"/>
              <a:buNone/>
              <a:defRPr sz="2133" kern="1200">
                <a:solidFill>
                  <a:schemeClr val="tx1"/>
                </a:solidFill>
                <a:latin typeface="+mn-lt"/>
                <a:ea typeface="+mn-ea"/>
                <a:cs typeface="+mn-cs"/>
              </a:defRPr>
            </a:lvl7pPr>
            <a:lvl8pPr marL="4267093"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8pPr>
            <a:lvl9pPr marL="4876678"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9pPr>
          </a:lstStyle>
          <a:p>
            <a:r>
              <a:rPr lang="en-US" sz="380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rPr>
              <a:t>Dollar Tree</a:t>
            </a:r>
            <a:br>
              <a:rPr lang="en-US" sz="380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rPr>
            </a:br>
            <a:r>
              <a:rPr lang="en-US" sz="380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rPr>
              <a:t>Enterprise Service Layer:</a:t>
            </a:r>
          </a:p>
          <a:p>
            <a:endParaRPr lang="en-US" sz="380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endParaRPr>
          </a:p>
          <a:p>
            <a:r>
              <a:rPr lang="en-US" sz="380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rPr>
              <a:t>Initial Discovery Approach</a:t>
            </a:r>
          </a:p>
        </p:txBody>
      </p:sp>
      <p:pic>
        <p:nvPicPr>
          <p:cNvPr id="21" name="Graphic 20">
            <a:extLst>
              <a:ext uri="{FF2B5EF4-FFF2-40B4-BE49-F238E27FC236}">
                <a16:creationId xmlns:a16="http://schemas.microsoft.com/office/drawing/2014/main" id="{6A4A4C22-F29A-4CEA-846B-2A938EC79D2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3297" y="1714500"/>
            <a:ext cx="1930400" cy="649838"/>
          </a:xfrm>
          <a:prstGeom prst="rect">
            <a:avLst/>
          </a:prstGeom>
        </p:spPr>
      </p:pic>
      <p:pic>
        <p:nvPicPr>
          <p:cNvPr id="3" name="Picture 2">
            <a:extLst>
              <a:ext uri="{FF2B5EF4-FFF2-40B4-BE49-F238E27FC236}">
                <a16:creationId xmlns:a16="http://schemas.microsoft.com/office/drawing/2014/main" id="{4D00C7DC-4859-4235-BB85-465942174690}"/>
              </a:ext>
            </a:extLst>
          </p:cNvPr>
          <p:cNvPicPr>
            <a:picLocks noChangeAspect="1"/>
          </p:cNvPicPr>
          <p:nvPr/>
        </p:nvPicPr>
        <p:blipFill>
          <a:blip r:embed="rId4"/>
          <a:srcRect/>
          <a:stretch/>
        </p:blipFill>
        <p:spPr>
          <a:xfrm>
            <a:off x="5444958" y="685800"/>
            <a:ext cx="6686884" cy="6141840"/>
          </a:xfrm>
          <a:prstGeom prst="rect">
            <a:avLst/>
          </a:prstGeom>
        </p:spPr>
      </p:pic>
    </p:spTree>
    <p:extLst>
      <p:ext uri="{BB962C8B-B14F-4D97-AF65-F5344CB8AC3E}">
        <p14:creationId xmlns:p14="http://schemas.microsoft.com/office/powerpoint/2010/main" val="155023081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lstStyle/>
          <a:p>
            <a:pPr marL="0" indent="0">
              <a:buNone/>
            </a:pPr>
            <a:r>
              <a:rPr lang="en-US" dirty="0"/>
              <a:t>MVP Integration</a:t>
            </a:r>
          </a:p>
          <a:p>
            <a:pPr marL="0" indent="0">
              <a:buNone/>
            </a:pPr>
            <a:r>
              <a:rPr lang="en-US" dirty="0"/>
              <a:t>Landscape and ESL Operating Model</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10963444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9B055D-322A-461F-79EF-48B30FF0FD38}"/>
              </a:ext>
            </a:extLst>
          </p:cNvPr>
          <p:cNvPicPr>
            <a:picLocks noChangeAspect="1"/>
          </p:cNvPicPr>
          <p:nvPr/>
        </p:nvPicPr>
        <p:blipFill>
          <a:blip r:embed="rId2"/>
          <a:stretch>
            <a:fillRect/>
          </a:stretch>
        </p:blipFill>
        <p:spPr>
          <a:xfrm>
            <a:off x="0" y="35486"/>
            <a:ext cx="12192000" cy="6787027"/>
          </a:xfrm>
          <a:prstGeom prst="rect">
            <a:avLst/>
          </a:prstGeom>
        </p:spPr>
      </p:pic>
    </p:spTree>
    <p:extLst>
      <p:ext uri="{BB962C8B-B14F-4D97-AF65-F5344CB8AC3E}">
        <p14:creationId xmlns:p14="http://schemas.microsoft.com/office/powerpoint/2010/main" val="3900965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7FFD6C-9F9E-770A-AA3E-AC4A4E86261B}"/>
              </a:ext>
            </a:extLst>
          </p:cNvPr>
          <p:cNvPicPr>
            <a:picLocks noChangeAspect="1"/>
          </p:cNvPicPr>
          <p:nvPr/>
        </p:nvPicPr>
        <p:blipFill rotWithShape="1">
          <a:blip r:embed="rId2"/>
          <a:srcRect t="1355"/>
          <a:stretch/>
        </p:blipFill>
        <p:spPr>
          <a:xfrm>
            <a:off x="0" y="87464"/>
            <a:ext cx="12206204" cy="6768059"/>
          </a:xfrm>
          <a:prstGeom prst="rect">
            <a:avLst/>
          </a:prstGeom>
        </p:spPr>
      </p:pic>
    </p:spTree>
    <p:extLst>
      <p:ext uri="{BB962C8B-B14F-4D97-AF65-F5344CB8AC3E}">
        <p14:creationId xmlns:p14="http://schemas.microsoft.com/office/powerpoint/2010/main" val="3317402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A1936E-2AFA-FCE8-67D7-9615B6410B0C}"/>
              </a:ext>
            </a:extLst>
          </p:cNvPr>
          <p:cNvPicPr>
            <a:picLocks noChangeAspect="1"/>
          </p:cNvPicPr>
          <p:nvPr/>
        </p:nvPicPr>
        <p:blipFill rotWithShape="1">
          <a:blip r:embed="rId2"/>
          <a:srcRect l="2098" r="1" b="778"/>
          <a:stretch/>
        </p:blipFill>
        <p:spPr>
          <a:xfrm>
            <a:off x="159192" y="0"/>
            <a:ext cx="11873616" cy="6804621"/>
          </a:xfrm>
          <a:prstGeom prst="rect">
            <a:avLst/>
          </a:prstGeom>
        </p:spPr>
      </p:pic>
    </p:spTree>
    <p:extLst>
      <p:ext uri="{BB962C8B-B14F-4D97-AF65-F5344CB8AC3E}">
        <p14:creationId xmlns:p14="http://schemas.microsoft.com/office/powerpoint/2010/main" val="3416458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EB86723-1879-4937-BD18-B2CAFDA2E52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ct 3" hidden="1">
                        <a:extLst>
                          <a:ext uri="{FF2B5EF4-FFF2-40B4-BE49-F238E27FC236}">
                            <a16:creationId xmlns:a16="http://schemas.microsoft.com/office/drawing/2014/main" id="{2EB86723-1879-4937-BD18-B2CAFDA2E52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4" name="Table 103">
            <a:extLst>
              <a:ext uri="{FF2B5EF4-FFF2-40B4-BE49-F238E27FC236}">
                <a16:creationId xmlns:a16="http://schemas.microsoft.com/office/drawing/2014/main" id="{E85E580B-860B-4213-8264-FFBCE2D9F53F}"/>
              </a:ext>
            </a:extLst>
          </p:cNvPr>
          <p:cNvGraphicFramePr>
            <a:graphicFrameLocks noGrp="1"/>
          </p:cNvGraphicFramePr>
          <p:nvPr>
            <p:extLst>
              <p:ext uri="{D42A27DB-BD31-4B8C-83A1-F6EECF244321}">
                <p14:modId xmlns:p14="http://schemas.microsoft.com/office/powerpoint/2010/main" val="1245920145"/>
              </p:ext>
            </p:extLst>
          </p:nvPr>
        </p:nvGraphicFramePr>
        <p:xfrm>
          <a:off x="93939" y="659846"/>
          <a:ext cx="11469081" cy="1561226"/>
        </p:xfrm>
        <a:graphic>
          <a:graphicData uri="http://schemas.openxmlformats.org/drawingml/2006/table">
            <a:tbl>
              <a:tblPr firstRow="1" bandRow="1"/>
              <a:tblGrid>
                <a:gridCol w="1924666">
                  <a:extLst>
                    <a:ext uri="{9D8B030D-6E8A-4147-A177-3AD203B41FA5}">
                      <a16:colId xmlns:a16="http://schemas.microsoft.com/office/drawing/2014/main" val="702128557"/>
                    </a:ext>
                  </a:extLst>
                </a:gridCol>
                <a:gridCol w="915375">
                  <a:extLst>
                    <a:ext uri="{9D8B030D-6E8A-4147-A177-3AD203B41FA5}">
                      <a16:colId xmlns:a16="http://schemas.microsoft.com/office/drawing/2014/main" val="3453241497"/>
                    </a:ext>
                  </a:extLst>
                </a:gridCol>
                <a:gridCol w="971185">
                  <a:extLst>
                    <a:ext uri="{9D8B030D-6E8A-4147-A177-3AD203B41FA5}">
                      <a16:colId xmlns:a16="http://schemas.microsoft.com/office/drawing/2014/main" val="3830077496"/>
                    </a:ext>
                  </a:extLst>
                </a:gridCol>
                <a:gridCol w="1015838">
                  <a:extLst>
                    <a:ext uri="{9D8B030D-6E8A-4147-A177-3AD203B41FA5}">
                      <a16:colId xmlns:a16="http://schemas.microsoft.com/office/drawing/2014/main" val="1116999727"/>
                    </a:ext>
                  </a:extLst>
                </a:gridCol>
                <a:gridCol w="937967">
                  <a:extLst>
                    <a:ext uri="{9D8B030D-6E8A-4147-A177-3AD203B41FA5}">
                      <a16:colId xmlns:a16="http://schemas.microsoft.com/office/drawing/2014/main" val="1823675650"/>
                    </a:ext>
                  </a:extLst>
                </a:gridCol>
                <a:gridCol w="1140810">
                  <a:extLst>
                    <a:ext uri="{9D8B030D-6E8A-4147-A177-3AD203B41FA5}">
                      <a16:colId xmlns:a16="http://schemas.microsoft.com/office/drawing/2014/main" val="1850247057"/>
                    </a:ext>
                  </a:extLst>
                </a:gridCol>
                <a:gridCol w="1140810">
                  <a:extLst>
                    <a:ext uri="{9D8B030D-6E8A-4147-A177-3AD203B41FA5}">
                      <a16:colId xmlns:a16="http://schemas.microsoft.com/office/drawing/2014/main" val="1842095370"/>
                    </a:ext>
                  </a:extLst>
                </a:gridCol>
                <a:gridCol w="1140810">
                  <a:extLst>
                    <a:ext uri="{9D8B030D-6E8A-4147-A177-3AD203B41FA5}">
                      <a16:colId xmlns:a16="http://schemas.microsoft.com/office/drawing/2014/main" val="1630108107"/>
                    </a:ext>
                  </a:extLst>
                </a:gridCol>
                <a:gridCol w="1140810">
                  <a:extLst>
                    <a:ext uri="{9D8B030D-6E8A-4147-A177-3AD203B41FA5}">
                      <a16:colId xmlns:a16="http://schemas.microsoft.com/office/drawing/2014/main" val="3634664759"/>
                    </a:ext>
                  </a:extLst>
                </a:gridCol>
                <a:gridCol w="1140810">
                  <a:extLst>
                    <a:ext uri="{9D8B030D-6E8A-4147-A177-3AD203B41FA5}">
                      <a16:colId xmlns:a16="http://schemas.microsoft.com/office/drawing/2014/main" val="4259240834"/>
                    </a:ext>
                  </a:extLst>
                </a:gridCol>
              </a:tblGrid>
              <a:tr h="3763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313131"/>
                          </a:solidFill>
                          <a:effectLst/>
                          <a:uLnTx/>
                          <a:uFillTx/>
                          <a:ea typeface="+mn-ea"/>
                          <a:cs typeface="+mn-cs"/>
                        </a:rPr>
                        <a:t>Proposed Development Start: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srgbClr val="313131"/>
                          </a:solidFill>
                          <a:effectLst/>
                          <a:uLnTx/>
                          <a:uFillTx/>
                          <a:ea typeface="+mn-ea"/>
                          <a:cs typeface="+mn-cs"/>
                        </a:rPr>
                        <a:t>March 27 2023</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March</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April</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May</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Jun</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Jul</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Aug</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Sep</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Oct</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1">
                          <a:solidFill>
                            <a:schemeClr val="accent6"/>
                          </a:solidFill>
                          <a:latin typeface="+mn-lt"/>
                          <a:ea typeface="Open Sans" panose="020B0606030504020204" pitchFamily="34" charset="0"/>
                          <a:cs typeface="Open Sans" panose="020B0606030504020204" pitchFamily="34" charset="0"/>
                        </a:rPr>
                        <a:t>Nov</a:t>
                      </a:r>
                    </a:p>
                  </a:txBody>
                  <a:tcPr marL="89089" marR="89089" marT="44544" marB="4454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881870"/>
                  </a:ext>
                </a:extLst>
              </a:tr>
              <a:tr h="1184902">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chemeClr val="tx1"/>
                          </a:solidFill>
                          <a:latin typeface="+mn-lt"/>
                          <a:ea typeface="Open Sans" panose="020B0606030504020204" pitchFamily="34" charset="0"/>
                          <a:cs typeface="Open Sans" panose="020B0606030504020204" pitchFamily="34" charset="0"/>
                        </a:rPr>
                        <a:t>Oracle MVP Timeline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7471917"/>
                  </a:ext>
                </a:extLst>
              </a:tr>
            </a:tbl>
          </a:graphicData>
        </a:graphic>
      </p:graphicFrame>
      <p:sp>
        <p:nvSpPr>
          <p:cNvPr id="120" name="Title 2">
            <a:extLst>
              <a:ext uri="{FF2B5EF4-FFF2-40B4-BE49-F238E27FC236}">
                <a16:creationId xmlns:a16="http://schemas.microsoft.com/office/drawing/2014/main" id="{FBFCA566-FB8C-4211-9886-DEFA9B8B4542}"/>
              </a:ext>
            </a:extLst>
          </p:cNvPr>
          <p:cNvSpPr>
            <a:spLocks noGrp="1"/>
          </p:cNvSpPr>
          <p:nvPr>
            <p:ph type="title"/>
          </p:nvPr>
        </p:nvSpPr>
        <p:spPr>
          <a:xfrm>
            <a:off x="93939" y="253853"/>
            <a:ext cx="11277600" cy="360099"/>
          </a:xfrm>
        </p:spPr>
        <p:txBody>
          <a:bodyPr/>
          <a:lstStyle/>
          <a:p>
            <a:r>
              <a:rPr lang="en-US" dirty="0"/>
              <a:t>Oracle Retail MVP Timeline        (8 Months assuming March 27 Start Date)</a:t>
            </a:r>
          </a:p>
        </p:txBody>
      </p:sp>
      <p:cxnSp>
        <p:nvCxnSpPr>
          <p:cNvPr id="134" name="Straight Connector 133">
            <a:extLst>
              <a:ext uri="{FF2B5EF4-FFF2-40B4-BE49-F238E27FC236}">
                <a16:creationId xmlns:a16="http://schemas.microsoft.com/office/drawing/2014/main" id="{64616F85-6CFA-45A6-AC06-9187807B8ECD}"/>
              </a:ext>
            </a:extLst>
          </p:cNvPr>
          <p:cNvCxnSpPr>
            <a:cxnSpLocks/>
          </p:cNvCxnSpPr>
          <p:nvPr/>
        </p:nvCxnSpPr>
        <p:spPr>
          <a:xfrm>
            <a:off x="2598516" y="1101777"/>
            <a:ext cx="1395662" cy="0"/>
          </a:xfrm>
          <a:prstGeom prst="line">
            <a:avLst/>
          </a:prstGeom>
          <a:noFill/>
          <a:ln w="57150" cap="flat" cmpd="sng" algn="ctr">
            <a:solidFill>
              <a:srgbClr val="6FC2B4"/>
            </a:solidFill>
            <a:prstDash val="solid"/>
          </a:ln>
          <a:effectLst/>
        </p:spPr>
      </p:cxnSp>
      <p:cxnSp>
        <p:nvCxnSpPr>
          <p:cNvPr id="135" name="Straight Connector 134">
            <a:extLst>
              <a:ext uri="{FF2B5EF4-FFF2-40B4-BE49-F238E27FC236}">
                <a16:creationId xmlns:a16="http://schemas.microsoft.com/office/drawing/2014/main" id="{AB839E15-AF79-4901-8FC9-186012F5BB37}"/>
              </a:ext>
            </a:extLst>
          </p:cNvPr>
          <p:cNvCxnSpPr>
            <a:cxnSpLocks/>
          </p:cNvCxnSpPr>
          <p:nvPr/>
        </p:nvCxnSpPr>
        <p:spPr>
          <a:xfrm flipV="1">
            <a:off x="3407358" y="1276402"/>
            <a:ext cx="2703713" cy="5347"/>
          </a:xfrm>
          <a:prstGeom prst="line">
            <a:avLst/>
          </a:prstGeom>
          <a:noFill/>
          <a:ln w="57150" cap="flat" cmpd="sng" algn="ctr">
            <a:solidFill>
              <a:srgbClr val="6FC2B4"/>
            </a:solidFill>
            <a:prstDash val="solid"/>
          </a:ln>
          <a:effectLst/>
        </p:spPr>
      </p:cxnSp>
      <p:cxnSp>
        <p:nvCxnSpPr>
          <p:cNvPr id="157" name="Straight Connector 156">
            <a:extLst>
              <a:ext uri="{FF2B5EF4-FFF2-40B4-BE49-F238E27FC236}">
                <a16:creationId xmlns:a16="http://schemas.microsoft.com/office/drawing/2014/main" id="{92C456D4-2F42-4A8E-9F77-6E3C5D048431}"/>
              </a:ext>
            </a:extLst>
          </p:cNvPr>
          <p:cNvCxnSpPr>
            <a:cxnSpLocks/>
          </p:cNvCxnSpPr>
          <p:nvPr/>
        </p:nvCxnSpPr>
        <p:spPr>
          <a:xfrm flipV="1">
            <a:off x="4372288" y="1477074"/>
            <a:ext cx="2902159" cy="11436"/>
          </a:xfrm>
          <a:prstGeom prst="line">
            <a:avLst/>
          </a:prstGeom>
          <a:noFill/>
          <a:ln w="57150" cap="flat" cmpd="sng" algn="ctr">
            <a:solidFill>
              <a:srgbClr val="595959"/>
            </a:solidFill>
            <a:prstDash val="solid"/>
          </a:ln>
          <a:effectLst/>
        </p:spPr>
      </p:cxnSp>
      <p:sp>
        <p:nvSpPr>
          <p:cNvPr id="177" name="TextBox 176">
            <a:extLst>
              <a:ext uri="{FF2B5EF4-FFF2-40B4-BE49-F238E27FC236}">
                <a16:creationId xmlns:a16="http://schemas.microsoft.com/office/drawing/2014/main" id="{A726E6E6-27C8-43B2-8D45-DD4F3FE6706D}"/>
              </a:ext>
            </a:extLst>
          </p:cNvPr>
          <p:cNvSpPr txBox="1"/>
          <p:nvPr/>
        </p:nvSpPr>
        <p:spPr>
          <a:xfrm>
            <a:off x="4057624" y="1040984"/>
            <a:ext cx="1101793"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Solution Overview</a:t>
            </a:r>
          </a:p>
        </p:txBody>
      </p:sp>
      <p:sp>
        <p:nvSpPr>
          <p:cNvPr id="188" name="TextBox 187">
            <a:extLst>
              <a:ext uri="{FF2B5EF4-FFF2-40B4-BE49-F238E27FC236}">
                <a16:creationId xmlns:a16="http://schemas.microsoft.com/office/drawing/2014/main" id="{65927EB2-E753-4EDE-970F-4EE91CD07D53}"/>
              </a:ext>
            </a:extLst>
          </p:cNvPr>
          <p:cNvSpPr txBox="1"/>
          <p:nvPr/>
        </p:nvSpPr>
        <p:spPr>
          <a:xfrm>
            <a:off x="8445628" y="1532864"/>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SIT </a:t>
            </a:r>
          </a:p>
        </p:txBody>
      </p:sp>
      <p:sp>
        <p:nvSpPr>
          <p:cNvPr id="189" name="TextBox 188">
            <a:extLst>
              <a:ext uri="{FF2B5EF4-FFF2-40B4-BE49-F238E27FC236}">
                <a16:creationId xmlns:a16="http://schemas.microsoft.com/office/drawing/2014/main" id="{2E09EC51-ACA8-4AE8-ACAF-946BFF787B1C}"/>
              </a:ext>
            </a:extLst>
          </p:cNvPr>
          <p:cNvSpPr txBox="1"/>
          <p:nvPr/>
        </p:nvSpPr>
        <p:spPr>
          <a:xfrm>
            <a:off x="7193800" y="1382957"/>
            <a:ext cx="1557296" cy="200055"/>
          </a:xfrm>
          <a:prstGeom prst="rect">
            <a:avLst/>
          </a:prstGeom>
          <a:noFill/>
        </p:spPr>
        <p:txBody>
          <a:bodyPr wrap="square">
            <a:spAutoFit/>
          </a:bodyPr>
          <a:lstStyle/>
          <a:p>
            <a:pPr marL="8659" marR="0" lvl="0" indent="0" algn="l" defTabSz="831227" rtl="0" eaLnBrk="1" fontAlgn="b"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Configure &amp; Build</a:t>
            </a:r>
          </a:p>
        </p:txBody>
      </p:sp>
      <p:sp>
        <p:nvSpPr>
          <p:cNvPr id="190" name="TextBox 189">
            <a:extLst>
              <a:ext uri="{FF2B5EF4-FFF2-40B4-BE49-F238E27FC236}">
                <a16:creationId xmlns:a16="http://schemas.microsoft.com/office/drawing/2014/main" id="{2389D4E1-0A9F-4DE2-8081-5CB6595453D0}"/>
              </a:ext>
            </a:extLst>
          </p:cNvPr>
          <p:cNvSpPr txBox="1"/>
          <p:nvPr/>
        </p:nvSpPr>
        <p:spPr>
          <a:xfrm>
            <a:off x="6108806" y="1165339"/>
            <a:ext cx="1371291" cy="200055"/>
          </a:xfrm>
          <a:prstGeom prst="rect">
            <a:avLst/>
          </a:prstGeom>
          <a:noFill/>
        </p:spPr>
        <p:txBody>
          <a:bodyPr wrap="square">
            <a:spAutoFit/>
          </a:bodyPr>
          <a:lstStyle/>
          <a:p>
            <a:pPr marL="8659" marR="0" lvl="0" indent="0" algn="l" defTabSz="831227" rtl="0" eaLnBrk="1" fontAlgn="b"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Design Sprints</a:t>
            </a:r>
          </a:p>
        </p:txBody>
      </p:sp>
      <p:grpSp>
        <p:nvGrpSpPr>
          <p:cNvPr id="191" name="Group 190">
            <a:extLst>
              <a:ext uri="{FF2B5EF4-FFF2-40B4-BE49-F238E27FC236}">
                <a16:creationId xmlns:a16="http://schemas.microsoft.com/office/drawing/2014/main" id="{AEF17404-1301-4081-A450-4F62B8F97E68}"/>
              </a:ext>
            </a:extLst>
          </p:cNvPr>
          <p:cNvGrpSpPr/>
          <p:nvPr/>
        </p:nvGrpSpPr>
        <p:grpSpPr>
          <a:xfrm>
            <a:off x="10583842" y="1880208"/>
            <a:ext cx="257544" cy="249382"/>
            <a:chOff x="5859236" y="3546542"/>
            <a:chExt cx="257544" cy="249382"/>
          </a:xfrm>
        </p:grpSpPr>
        <p:sp>
          <p:nvSpPr>
            <p:cNvPr id="192" name="Oval 191">
              <a:extLst>
                <a:ext uri="{FF2B5EF4-FFF2-40B4-BE49-F238E27FC236}">
                  <a16:creationId xmlns:a16="http://schemas.microsoft.com/office/drawing/2014/main" id="{5A9D24E7-DAA0-4B36-8192-7978035FC1BB}"/>
                </a:ext>
              </a:extLst>
            </p:cNvPr>
            <p:cNvSpPr>
              <a:spLocks noChangeArrowheads="1"/>
            </p:cNvSpPr>
            <p:nvPr/>
          </p:nvSpPr>
          <p:spPr bwMode="auto">
            <a:xfrm>
              <a:off x="5859236" y="3546542"/>
              <a:ext cx="257544" cy="249382"/>
            </a:xfrm>
            <a:prstGeom prst="ellipse">
              <a:avLst/>
            </a:prstGeom>
            <a:solidFill>
              <a:srgbClr val="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193" name="Graphic 4">
              <a:extLst>
                <a:ext uri="{FF2B5EF4-FFF2-40B4-BE49-F238E27FC236}">
                  <a16:creationId xmlns:a16="http://schemas.microsoft.com/office/drawing/2014/main" id="{A384BCDC-3485-4F68-8707-FF7E0ED53905}"/>
                </a:ext>
              </a:extLst>
            </p:cNvPr>
            <p:cNvGrpSpPr/>
            <p:nvPr/>
          </p:nvGrpSpPr>
          <p:grpSpPr>
            <a:xfrm>
              <a:off x="5859236" y="3546542"/>
              <a:ext cx="257544" cy="249382"/>
              <a:chOff x="467743" y="2371173"/>
              <a:chExt cx="361670" cy="362610"/>
            </a:xfrm>
            <a:solidFill>
              <a:sysClr val="windowText" lastClr="000000"/>
            </a:solidFill>
          </p:grpSpPr>
          <p:sp>
            <p:nvSpPr>
              <p:cNvPr id="194" name="Graphic 4">
                <a:extLst>
                  <a:ext uri="{FF2B5EF4-FFF2-40B4-BE49-F238E27FC236}">
                    <a16:creationId xmlns:a16="http://schemas.microsoft.com/office/drawing/2014/main" id="{264AE205-9980-4A67-829F-BA1CD1E7142D}"/>
                  </a:ext>
                </a:extLst>
              </p:cNvPr>
              <p:cNvSpPr/>
              <p:nvPr/>
            </p:nvSpPr>
            <p:spPr>
              <a:xfrm>
                <a:off x="467743" y="2371173"/>
                <a:ext cx="361670" cy="362610"/>
              </a:xfrm>
              <a:custGeom>
                <a:avLst/>
                <a:gdLst>
                  <a:gd name="connsiteX0" fmla="*/ 180835 w 361670"/>
                  <a:gd name="connsiteY0" fmla="*/ 349204 h 362610"/>
                  <a:gd name="connsiteX1" fmla="*/ 12780 w 361670"/>
                  <a:gd name="connsiteY1" fmla="*/ 180667 h 362610"/>
                  <a:gd name="connsiteX2" fmla="*/ 180835 w 361670"/>
                  <a:gd name="connsiteY2" fmla="*/ 12130 h 362610"/>
                  <a:gd name="connsiteX3" fmla="*/ 348891 w 361670"/>
                  <a:gd name="connsiteY3" fmla="*/ 180667 h 362610"/>
                  <a:gd name="connsiteX4" fmla="*/ 180835 w 361670"/>
                  <a:gd name="connsiteY4" fmla="*/ 349204 h 362610"/>
                  <a:gd name="connsiteX5" fmla="*/ 180835 w 361670"/>
                  <a:gd name="connsiteY5" fmla="*/ 0 h 362610"/>
                  <a:gd name="connsiteX6" fmla="*/ 0 w 361670"/>
                  <a:gd name="connsiteY6" fmla="*/ 181305 h 362610"/>
                  <a:gd name="connsiteX7" fmla="*/ 180835 w 361670"/>
                  <a:gd name="connsiteY7" fmla="*/ 362610 h 362610"/>
                  <a:gd name="connsiteX8" fmla="*/ 361670 w 361670"/>
                  <a:gd name="connsiteY8" fmla="*/ 181305 h 362610"/>
                  <a:gd name="connsiteX9" fmla="*/ 361670 w 361670"/>
                  <a:gd name="connsiteY9" fmla="*/ 181305 h 362610"/>
                  <a:gd name="connsiteX10" fmla="*/ 180835 w 361670"/>
                  <a:gd name="connsiteY10" fmla="*/ 0 h 362610"/>
                  <a:gd name="connsiteX11" fmla="*/ 180835 w 361670"/>
                  <a:gd name="connsiteY11" fmla="*/ 0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670" h="362610">
                    <a:moveTo>
                      <a:pt x="180835" y="349204"/>
                    </a:moveTo>
                    <a:cubicBezTo>
                      <a:pt x="87542" y="349204"/>
                      <a:pt x="12780" y="273873"/>
                      <a:pt x="12780" y="180667"/>
                    </a:cubicBezTo>
                    <a:cubicBezTo>
                      <a:pt x="12780" y="87461"/>
                      <a:pt x="88181" y="12130"/>
                      <a:pt x="180835" y="12130"/>
                    </a:cubicBezTo>
                    <a:cubicBezTo>
                      <a:pt x="273489" y="12130"/>
                      <a:pt x="348891" y="87461"/>
                      <a:pt x="348891" y="180667"/>
                    </a:cubicBezTo>
                    <a:cubicBezTo>
                      <a:pt x="348891" y="273873"/>
                      <a:pt x="273489" y="349204"/>
                      <a:pt x="180835" y="349204"/>
                    </a:cubicBezTo>
                    <a:moveTo>
                      <a:pt x="180835" y="0"/>
                    </a:moveTo>
                    <a:cubicBezTo>
                      <a:pt x="80513" y="0"/>
                      <a:pt x="0" y="81077"/>
                      <a:pt x="0" y="181305"/>
                    </a:cubicBezTo>
                    <a:cubicBezTo>
                      <a:pt x="0" y="281534"/>
                      <a:pt x="81152" y="362610"/>
                      <a:pt x="180835" y="362610"/>
                    </a:cubicBezTo>
                    <a:cubicBezTo>
                      <a:pt x="280518" y="362610"/>
                      <a:pt x="361670" y="281534"/>
                      <a:pt x="361670" y="181305"/>
                    </a:cubicBezTo>
                    <a:cubicBezTo>
                      <a:pt x="361670" y="181305"/>
                      <a:pt x="361670" y="181305"/>
                      <a:pt x="361670" y="181305"/>
                    </a:cubicBezTo>
                    <a:cubicBezTo>
                      <a:pt x="361670" y="81077"/>
                      <a:pt x="281157" y="0"/>
                      <a:pt x="180835" y="0"/>
                    </a:cubicBezTo>
                    <a:cubicBezTo>
                      <a:pt x="180835" y="0"/>
                      <a:pt x="180835" y="0"/>
                      <a:pt x="180835" y="0"/>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195" name="Graphic 4">
                <a:extLst>
                  <a:ext uri="{FF2B5EF4-FFF2-40B4-BE49-F238E27FC236}">
                    <a16:creationId xmlns:a16="http://schemas.microsoft.com/office/drawing/2014/main" id="{D51D000C-30EB-4CC7-82F2-5FD3D7686138}"/>
                  </a:ext>
                </a:extLst>
              </p:cNvPr>
              <p:cNvSpPr/>
              <p:nvPr/>
            </p:nvSpPr>
            <p:spPr>
              <a:xfrm>
                <a:off x="544800" y="2440759"/>
                <a:ext cx="206277" cy="222800"/>
              </a:xfrm>
              <a:custGeom>
                <a:avLst/>
                <a:gdLst>
                  <a:gd name="connsiteX0" fmla="*/ 170872 w 206277"/>
                  <a:gd name="connsiteY0" fmla="*/ 112996 h 222800"/>
                  <a:gd name="connsiteX1" fmla="*/ 147869 w 206277"/>
                  <a:gd name="connsiteY1" fmla="*/ 129595 h 222800"/>
                  <a:gd name="connsiteX2" fmla="*/ 161926 w 206277"/>
                  <a:gd name="connsiteY2" fmla="*/ 52987 h 222800"/>
                  <a:gd name="connsiteX3" fmla="*/ 190681 w 206277"/>
                  <a:gd name="connsiteY3" fmla="*/ 56179 h 222800"/>
                  <a:gd name="connsiteX4" fmla="*/ 170872 w 206277"/>
                  <a:gd name="connsiteY4" fmla="*/ 112996 h 222800"/>
                  <a:gd name="connsiteX5" fmla="*/ 103778 w 206277"/>
                  <a:gd name="connsiteY5" fmla="*/ 158323 h 222800"/>
                  <a:gd name="connsiteX6" fmla="*/ 85886 w 206277"/>
                  <a:gd name="connsiteY6" fmla="*/ 150024 h 222800"/>
                  <a:gd name="connsiteX7" fmla="*/ 57770 w 206277"/>
                  <a:gd name="connsiteY7" fmla="*/ 13406 h 222800"/>
                  <a:gd name="connsiteX8" fmla="*/ 149786 w 206277"/>
                  <a:gd name="connsiteY8" fmla="*/ 13406 h 222800"/>
                  <a:gd name="connsiteX9" fmla="*/ 121670 w 206277"/>
                  <a:gd name="connsiteY9" fmla="*/ 150024 h 222800"/>
                  <a:gd name="connsiteX10" fmla="*/ 103778 w 206277"/>
                  <a:gd name="connsiteY10" fmla="*/ 158323 h 222800"/>
                  <a:gd name="connsiteX11" fmla="*/ 90998 w 206277"/>
                  <a:gd name="connsiteY11" fmla="*/ 210033 h 222800"/>
                  <a:gd name="connsiteX12" fmla="*/ 103778 w 206277"/>
                  <a:gd name="connsiteY12" fmla="*/ 180667 h 222800"/>
                  <a:gd name="connsiteX13" fmla="*/ 116558 w 206277"/>
                  <a:gd name="connsiteY13" fmla="*/ 210033 h 222800"/>
                  <a:gd name="connsiteX14" fmla="*/ 90998 w 206277"/>
                  <a:gd name="connsiteY14" fmla="*/ 210033 h 222800"/>
                  <a:gd name="connsiteX15" fmla="*/ 36684 w 206277"/>
                  <a:gd name="connsiteY15" fmla="*/ 112996 h 222800"/>
                  <a:gd name="connsiteX16" fmla="*/ 17514 w 206277"/>
                  <a:gd name="connsiteY16" fmla="*/ 55541 h 222800"/>
                  <a:gd name="connsiteX17" fmla="*/ 46269 w 206277"/>
                  <a:gd name="connsiteY17" fmla="*/ 52349 h 222800"/>
                  <a:gd name="connsiteX18" fmla="*/ 60326 w 206277"/>
                  <a:gd name="connsiteY18" fmla="*/ 129595 h 222800"/>
                  <a:gd name="connsiteX19" fmla="*/ 36684 w 206277"/>
                  <a:gd name="connsiteY19" fmla="*/ 112996 h 222800"/>
                  <a:gd name="connsiteX20" fmla="*/ 162565 w 206277"/>
                  <a:gd name="connsiteY20" fmla="*/ 39581 h 222800"/>
                  <a:gd name="connsiteX21" fmla="*/ 162565 w 206277"/>
                  <a:gd name="connsiteY21" fmla="*/ 6384 h 222800"/>
                  <a:gd name="connsiteX22" fmla="*/ 156175 w 206277"/>
                  <a:gd name="connsiteY22" fmla="*/ 0 h 222800"/>
                  <a:gd name="connsiteX23" fmla="*/ 51381 w 206277"/>
                  <a:gd name="connsiteY23" fmla="*/ 0 h 222800"/>
                  <a:gd name="connsiteX24" fmla="*/ 44991 w 206277"/>
                  <a:gd name="connsiteY24" fmla="*/ 6384 h 222800"/>
                  <a:gd name="connsiteX25" fmla="*/ 44991 w 206277"/>
                  <a:gd name="connsiteY25" fmla="*/ 39581 h 222800"/>
                  <a:gd name="connsiteX26" fmla="*/ 7929 w 206277"/>
                  <a:gd name="connsiteY26" fmla="*/ 47241 h 222800"/>
                  <a:gd name="connsiteX27" fmla="*/ 27738 w 206277"/>
                  <a:gd name="connsiteY27" fmla="*/ 122572 h 222800"/>
                  <a:gd name="connsiteX28" fmla="*/ 67994 w 206277"/>
                  <a:gd name="connsiteY28" fmla="*/ 147470 h 222800"/>
                  <a:gd name="connsiteX29" fmla="*/ 76301 w 206277"/>
                  <a:gd name="connsiteY29" fmla="*/ 158323 h 222800"/>
                  <a:gd name="connsiteX30" fmla="*/ 94193 w 206277"/>
                  <a:gd name="connsiteY30" fmla="*/ 169176 h 222800"/>
                  <a:gd name="connsiteX31" fmla="*/ 75023 w 206277"/>
                  <a:gd name="connsiteY31" fmla="*/ 213863 h 222800"/>
                  <a:gd name="connsiteX32" fmla="*/ 78218 w 206277"/>
                  <a:gd name="connsiteY32" fmla="*/ 222163 h 222800"/>
                  <a:gd name="connsiteX33" fmla="*/ 80774 w 206277"/>
                  <a:gd name="connsiteY33" fmla="*/ 222801 h 222800"/>
                  <a:gd name="connsiteX34" fmla="*/ 125504 w 206277"/>
                  <a:gd name="connsiteY34" fmla="*/ 222801 h 222800"/>
                  <a:gd name="connsiteX35" fmla="*/ 130616 w 206277"/>
                  <a:gd name="connsiteY35" fmla="*/ 219609 h 222800"/>
                  <a:gd name="connsiteX36" fmla="*/ 131255 w 206277"/>
                  <a:gd name="connsiteY36" fmla="*/ 213225 h 222800"/>
                  <a:gd name="connsiteX37" fmla="*/ 112085 w 206277"/>
                  <a:gd name="connsiteY37" fmla="*/ 168537 h 222800"/>
                  <a:gd name="connsiteX38" fmla="*/ 129977 w 206277"/>
                  <a:gd name="connsiteY38" fmla="*/ 157684 h 222800"/>
                  <a:gd name="connsiteX39" fmla="*/ 138284 w 206277"/>
                  <a:gd name="connsiteY39" fmla="*/ 146193 h 222800"/>
                  <a:gd name="connsiteX40" fmla="*/ 178540 w 206277"/>
                  <a:gd name="connsiteY40" fmla="*/ 121934 h 222800"/>
                  <a:gd name="connsiteX41" fmla="*/ 198349 w 206277"/>
                  <a:gd name="connsiteY41" fmla="*/ 46603 h 222800"/>
                  <a:gd name="connsiteX42" fmla="*/ 162565 w 206277"/>
                  <a:gd name="connsiteY42" fmla="*/ 39581 h 22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6277" h="222800">
                    <a:moveTo>
                      <a:pt x="170872" y="112996"/>
                    </a:moveTo>
                    <a:cubicBezTo>
                      <a:pt x="163843" y="119380"/>
                      <a:pt x="156175" y="125126"/>
                      <a:pt x="147869" y="129595"/>
                    </a:cubicBezTo>
                    <a:cubicBezTo>
                      <a:pt x="156175" y="104697"/>
                      <a:pt x="160648" y="79161"/>
                      <a:pt x="161926" y="52987"/>
                    </a:cubicBezTo>
                    <a:cubicBezTo>
                      <a:pt x="174706" y="49157"/>
                      <a:pt x="184930" y="49795"/>
                      <a:pt x="190681" y="56179"/>
                    </a:cubicBezTo>
                    <a:cubicBezTo>
                      <a:pt x="200905" y="67032"/>
                      <a:pt x="191959" y="93206"/>
                      <a:pt x="170872" y="112996"/>
                    </a:cubicBezTo>
                    <a:moveTo>
                      <a:pt x="103778" y="158323"/>
                    </a:moveTo>
                    <a:cubicBezTo>
                      <a:pt x="96749" y="158323"/>
                      <a:pt x="90359" y="155131"/>
                      <a:pt x="85886" y="150024"/>
                    </a:cubicBezTo>
                    <a:cubicBezTo>
                      <a:pt x="59048" y="121934"/>
                      <a:pt x="57770" y="37027"/>
                      <a:pt x="57770" y="13406"/>
                    </a:cubicBezTo>
                    <a:lnTo>
                      <a:pt x="149786" y="13406"/>
                    </a:lnTo>
                    <a:cubicBezTo>
                      <a:pt x="149786" y="37027"/>
                      <a:pt x="148508" y="121934"/>
                      <a:pt x="121670" y="150024"/>
                    </a:cubicBezTo>
                    <a:cubicBezTo>
                      <a:pt x="117836" y="155131"/>
                      <a:pt x="110807" y="157684"/>
                      <a:pt x="103778" y="158323"/>
                    </a:cubicBezTo>
                    <a:moveTo>
                      <a:pt x="90998" y="210033"/>
                    </a:moveTo>
                    <a:lnTo>
                      <a:pt x="103778" y="180667"/>
                    </a:lnTo>
                    <a:lnTo>
                      <a:pt x="116558" y="210033"/>
                    </a:lnTo>
                    <a:lnTo>
                      <a:pt x="90998" y="210033"/>
                    </a:lnTo>
                    <a:close/>
                    <a:moveTo>
                      <a:pt x="36684" y="112996"/>
                    </a:moveTo>
                    <a:cubicBezTo>
                      <a:pt x="15597" y="93206"/>
                      <a:pt x="6651" y="67032"/>
                      <a:pt x="17514" y="55541"/>
                    </a:cubicBezTo>
                    <a:cubicBezTo>
                      <a:pt x="23265" y="49795"/>
                      <a:pt x="33489" y="48518"/>
                      <a:pt x="46269" y="52349"/>
                    </a:cubicBezTo>
                    <a:cubicBezTo>
                      <a:pt x="47547" y="78523"/>
                      <a:pt x="52020" y="104697"/>
                      <a:pt x="60326" y="129595"/>
                    </a:cubicBezTo>
                    <a:cubicBezTo>
                      <a:pt x="52020" y="125126"/>
                      <a:pt x="43713" y="119380"/>
                      <a:pt x="36684" y="112996"/>
                    </a:cubicBezTo>
                    <a:moveTo>
                      <a:pt x="162565" y="39581"/>
                    </a:moveTo>
                    <a:cubicBezTo>
                      <a:pt x="163204" y="21067"/>
                      <a:pt x="162565" y="8299"/>
                      <a:pt x="162565" y="6384"/>
                    </a:cubicBezTo>
                    <a:cubicBezTo>
                      <a:pt x="162565" y="2554"/>
                      <a:pt x="160009" y="0"/>
                      <a:pt x="156175" y="0"/>
                    </a:cubicBezTo>
                    <a:lnTo>
                      <a:pt x="51381" y="0"/>
                    </a:lnTo>
                    <a:cubicBezTo>
                      <a:pt x="47547" y="0"/>
                      <a:pt x="44991" y="2554"/>
                      <a:pt x="44991" y="6384"/>
                    </a:cubicBezTo>
                    <a:cubicBezTo>
                      <a:pt x="44991" y="7661"/>
                      <a:pt x="44352" y="21067"/>
                      <a:pt x="44991" y="39581"/>
                    </a:cubicBezTo>
                    <a:cubicBezTo>
                      <a:pt x="29655" y="35750"/>
                      <a:pt x="16236" y="38304"/>
                      <a:pt x="7929" y="47241"/>
                    </a:cubicBezTo>
                    <a:cubicBezTo>
                      <a:pt x="-8046" y="64478"/>
                      <a:pt x="900" y="97675"/>
                      <a:pt x="27738" y="122572"/>
                    </a:cubicBezTo>
                    <a:cubicBezTo>
                      <a:pt x="39240" y="133425"/>
                      <a:pt x="53297" y="142363"/>
                      <a:pt x="67994" y="147470"/>
                    </a:cubicBezTo>
                    <a:cubicBezTo>
                      <a:pt x="70550" y="151300"/>
                      <a:pt x="73106" y="155131"/>
                      <a:pt x="76301" y="158323"/>
                    </a:cubicBezTo>
                    <a:cubicBezTo>
                      <a:pt x="81413" y="163430"/>
                      <a:pt x="87803" y="167260"/>
                      <a:pt x="94193" y="169176"/>
                    </a:cubicBezTo>
                    <a:lnTo>
                      <a:pt x="75023" y="213863"/>
                    </a:lnTo>
                    <a:cubicBezTo>
                      <a:pt x="73745" y="217055"/>
                      <a:pt x="75023" y="220886"/>
                      <a:pt x="78218" y="222163"/>
                    </a:cubicBezTo>
                    <a:cubicBezTo>
                      <a:pt x="78857" y="222801"/>
                      <a:pt x="80135" y="222801"/>
                      <a:pt x="80774" y="222801"/>
                    </a:cubicBezTo>
                    <a:lnTo>
                      <a:pt x="125504" y="222801"/>
                    </a:lnTo>
                    <a:cubicBezTo>
                      <a:pt x="127421" y="222801"/>
                      <a:pt x="129977" y="221524"/>
                      <a:pt x="130616" y="219609"/>
                    </a:cubicBezTo>
                    <a:cubicBezTo>
                      <a:pt x="131894" y="217694"/>
                      <a:pt x="131894" y="215140"/>
                      <a:pt x="131255" y="213225"/>
                    </a:cubicBezTo>
                    <a:lnTo>
                      <a:pt x="112085" y="168537"/>
                    </a:lnTo>
                    <a:cubicBezTo>
                      <a:pt x="119114" y="166622"/>
                      <a:pt x="125504" y="162792"/>
                      <a:pt x="129977" y="157684"/>
                    </a:cubicBezTo>
                    <a:cubicBezTo>
                      <a:pt x="133172" y="154492"/>
                      <a:pt x="136367" y="150662"/>
                      <a:pt x="138284" y="146193"/>
                    </a:cubicBezTo>
                    <a:cubicBezTo>
                      <a:pt x="152980" y="140448"/>
                      <a:pt x="167038" y="132148"/>
                      <a:pt x="178540" y="121934"/>
                    </a:cubicBezTo>
                    <a:cubicBezTo>
                      <a:pt x="205378" y="96398"/>
                      <a:pt x="214324" y="63201"/>
                      <a:pt x="198349" y="46603"/>
                    </a:cubicBezTo>
                    <a:cubicBezTo>
                      <a:pt x="190681" y="37665"/>
                      <a:pt x="177262" y="35112"/>
                      <a:pt x="162565" y="39581"/>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196" name="Group 195">
            <a:extLst>
              <a:ext uri="{FF2B5EF4-FFF2-40B4-BE49-F238E27FC236}">
                <a16:creationId xmlns:a16="http://schemas.microsoft.com/office/drawing/2014/main" id="{7166623D-1CC9-4496-B3A5-23E60D0E78C1}"/>
              </a:ext>
            </a:extLst>
          </p:cNvPr>
          <p:cNvGrpSpPr/>
          <p:nvPr/>
        </p:nvGrpSpPr>
        <p:grpSpPr>
          <a:xfrm>
            <a:off x="5410905" y="1390780"/>
            <a:ext cx="257544" cy="249382"/>
            <a:chOff x="3496837" y="2461236"/>
            <a:chExt cx="257544" cy="249382"/>
          </a:xfrm>
        </p:grpSpPr>
        <p:sp>
          <p:nvSpPr>
            <p:cNvPr id="197" name="Oval 196">
              <a:extLst>
                <a:ext uri="{FF2B5EF4-FFF2-40B4-BE49-F238E27FC236}">
                  <a16:creationId xmlns:a16="http://schemas.microsoft.com/office/drawing/2014/main" id="{40529C9D-9F16-4486-A527-A47361E02E1A}"/>
                </a:ext>
              </a:extLst>
            </p:cNvPr>
            <p:cNvSpPr>
              <a:spLocks noChangeArrowheads="1"/>
            </p:cNvSpPr>
            <p:nvPr/>
          </p:nvSpPr>
          <p:spPr bwMode="auto">
            <a:xfrm>
              <a:off x="3496837"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198" name="Graphic 4">
              <a:extLst>
                <a:ext uri="{FF2B5EF4-FFF2-40B4-BE49-F238E27FC236}">
                  <a16:creationId xmlns:a16="http://schemas.microsoft.com/office/drawing/2014/main" id="{B68829A4-7584-4318-82A5-B976BD4F9C9C}"/>
                </a:ext>
              </a:extLst>
            </p:cNvPr>
            <p:cNvGrpSpPr/>
            <p:nvPr/>
          </p:nvGrpSpPr>
          <p:grpSpPr>
            <a:xfrm>
              <a:off x="3496837" y="2461236"/>
              <a:ext cx="257544" cy="249382"/>
              <a:chOff x="3607758" y="1402723"/>
              <a:chExt cx="362309" cy="361971"/>
            </a:xfrm>
            <a:solidFill>
              <a:sysClr val="windowText" lastClr="000000"/>
            </a:solidFill>
          </p:grpSpPr>
          <p:sp>
            <p:nvSpPr>
              <p:cNvPr id="199" name="Graphic 4">
                <a:extLst>
                  <a:ext uri="{FF2B5EF4-FFF2-40B4-BE49-F238E27FC236}">
                    <a16:creationId xmlns:a16="http://schemas.microsoft.com/office/drawing/2014/main" id="{0BCAE6BD-C4EF-4E32-AC43-D1B39219E99D}"/>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0" name="Graphic 4">
                <a:extLst>
                  <a:ext uri="{FF2B5EF4-FFF2-40B4-BE49-F238E27FC236}">
                    <a16:creationId xmlns:a16="http://schemas.microsoft.com/office/drawing/2014/main" id="{1986E84A-54D6-4479-BFB0-9DED142DE812}"/>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1" name="Graphic 4">
                <a:extLst>
                  <a:ext uri="{FF2B5EF4-FFF2-40B4-BE49-F238E27FC236}">
                    <a16:creationId xmlns:a16="http://schemas.microsoft.com/office/drawing/2014/main" id="{85EE9A7C-D5A5-44D9-AA21-CDF410AAC57E}"/>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8" name="Graphic 4">
                <a:extLst>
                  <a:ext uri="{FF2B5EF4-FFF2-40B4-BE49-F238E27FC236}">
                    <a16:creationId xmlns:a16="http://schemas.microsoft.com/office/drawing/2014/main" id="{FD172C39-C556-455A-A6CF-749B156FFBCD}"/>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9" name="Graphic 4">
                <a:extLst>
                  <a:ext uri="{FF2B5EF4-FFF2-40B4-BE49-F238E27FC236}">
                    <a16:creationId xmlns:a16="http://schemas.microsoft.com/office/drawing/2014/main" id="{550CCB5C-D1EF-4601-82A8-3E0D6FB43BBB}"/>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0" name="Graphic 4">
                <a:extLst>
                  <a:ext uri="{FF2B5EF4-FFF2-40B4-BE49-F238E27FC236}">
                    <a16:creationId xmlns:a16="http://schemas.microsoft.com/office/drawing/2014/main" id="{637DE873-FD44-4580-A4E4-DE599170C5B6}"/>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1" name="Graphic 4">
                <a:extLst>
                  <a:ext uri="{FF2B5EF4-FFF2-40B4-BE49-F238E27FC236}">
                    <a16:creationId xmlns:a16="http://schemas.microsoft.com/office/drawing/2014/main" id="{5E444436-C539-44B3-B28B-22B0A8F83670}"/>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2" name="Graphic 4">
                <a:extLst>
                  <a:ext uri="{FF2B5EF4-FFF2-40B4-BE49-F238E27FC236}">
                    <a16:creationId xmlns:a16="http://schemas.microsoft.com/office/drawing/2014/main" id="{B951FC30-4AC8-40BD-A27F-7DACC5BEBFE3}"/>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14" name="Group 213">
            <a:extLst>
              <a:ext uri="{FF2B5EF4-FFF2-40B4-BE49-F238E27FC236}">
                <a16:creationId xmlns:a16="http://schemas.microsoft.com/office/drawing/2014/main" id="{F086D0CA-2357-4695-90F8-687DA77D9B23}"/>
              </a:ext>
            </a:extLst>
          </p:cNvPr>
          <p:cNvGrpSpPr/>
          <p:nvPr/>
        </p:nvGrpSpPr>
        <p:grpSpPr>
          <a:xfrm>
            <a:off x="4517074" y="1380129"/>
            <a:ext cx="257544" cy="249382"/>
            <a:chOff x="2951069" y="2461236"/>
            <a:chExt cx="257544" cy="249382"/>
          </a:xfrm>
        </p:grpSpPr>
        <p:sp>
          <p:nvSpPr>
            <p:cNvPr id="215" name="Oval 214">
              <a:extLst>
                <a:ext uri="{FF2B5EF4-FFF2-40B4-BE49-F238E27FC236}">
                  <a16:creationId xmlns:a16="http://schemas.microsoft.com/office/drawing/2014/main" id="{ACFB3260-E468-457C-B499-44060E14FD25}"/>
                </a:ext>
              </a:extLst>
            </p:cNvPr>
            <p:cNvSpPr>
              <a:spLocks noChangeArrowheads="1"/>
            </p:cNvSpPr>
            <p:nvPr/>
          </p:nvSpPr>
          <p:spPr bwMode="auto">
            <a:xfrm>
              <a:off x="2951069"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16" name="Graphic 4">
              <a:extLst>
                <a:ext uri="{FF2B5EF4-FFF2-40B4-BE49-F238E27FC236}">
                  <a16:creationId xmlns:a16="http://schemas.microsoft.com/office/drawing/2014/main" id="{6C89CE72-C481-4B3E-8980-A07EB20F96C3}"/>
                </a:ext>
              </a:extLst>
            </p:cNvPr>
            <p:cNvGrpSpPr/>
            <p:nvPr/>
          </p:nvGrpSpPr>
          <p:grpSpPr>
            <a:xfrm>
              <a:off x="2951069" y="2461236"/>
              <a:ext cx="257544" cy="249382"/>
              <a:chOff x="3607758" y="1402723"/>
              <a:chExt cx="362309" cy="361971"/>
            </a:xfrm>
            <a:solidFill>
              <a:sysClr val="windowText" lastClr="000000"/>
            </a:solidFill>
          </p:grpSpPr>
          <p:sp>
            <p:nvSpPr>
              <p:cNvPr id="217" name="Graphic 4">
                <a:extLst>
                  <a:ext uri="{FF2B5EF4-FFF2-40B4-BE49-F238E27FC236}">
                    <a16:creationId xmlns:a16="http://schemas.microsoft.com/office/drawing/2014/main" id="{D7FF9DD4-E08C-4E75-BED2-8174D9C7FEF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8" name="Graphic 4">
                <a:extLst>
                  <a:ext uri="{FF2B5EF4-FFF2-40B4-BE49-F238E27FC236}">
                    <a16:creationId xmlns:a16="http://schemas.microsoft.com/office/drawing/2014/main" id="{CAB287D4-6DD2-4D5A-859A-0280C04E3997}"/>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9" name="Graphic 4">
                <a:extLst>
                  <a:ext uri="{FF2B5EF4-FFF2-40B4-BE49-F238E27FC236}">
                    <a16:creationId xmlns:a16="http://schemas.microsoft.com/office/drawing/2014/main" id="{B54FC09C-313E-427C-BA8B-2306C6543F3A}"/>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0" name="Graphic 4">
                <a:extLst>
                  <a:ext uri="{FF2B5EF4-FFF2-40B4-BE49-F238E27FC236}">
                    <a16:creationId xmlns:a16="http://schemas.microsoft.com/office/drawing/2014/main" id="{239A8C2E-59F4-45F9-ADE1-C72B31580963}"/>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1" name="Graphic 4">
                <a:extLst>
                  <a:ext uri="{FF2B5EF4-FFF2-40B4-BE49-F238E27FC236}">
                    <a16:creationId xmlns:a16="http://schemas.microsoft.com/office/drawing/2014/main" id="{57C0E76F-442D-4995-9052-0D9248347365}"/>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2" name="Graphic 4">
                <a:extLst>
                  <a:ext uri="{FF2B5EF4-FFF2-40B4-BE49-F238E27FC236}">
                    <a16:creationId xmlns:a16="http://schemas.microsoft.com/office/drawing/2014/main" id="{FF9BC537-9D6F-48B4-A645-81CEFCE0D373}"/>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3" name="Graphic 4">
                <a:extLst>
                  <a:ext uri="{FF2B5EF4-FFF2-40B4-BE49-F238E27FC236}">
                    <a16:creationId xmlns:a16="http://schemas.microsoft.com/office/drawing/2014/main" id="{53C6E7D5-C333-49A3-BE7E-304375905E63}"/>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4" name="Graphic 4">
                <a:extLst>
                  <a:ext uri="{FF2B5EF4-FFF2-40B4-BE49-F238E27FC236}">
                    <a16:creationId xmlns:a16="http://schemas.microsoft.com/office/drawing/2014/main" id="{14ED724E-BF0B-4387-B4EE-6BFB5B5AC229}"/>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25" name="Group 224">
            <a:extLst>
              <a:ext uri="{FF2B5EF4-FFF2-40B4-BE49-F238E27FC236}">
                <a16:creationId xmlns:a16="http://schemas.microsoft.com/office/drawing/2014/main" id="{41AD7D47-9971-4DD9-A51B-D0805C31A0DD}"/>
              </a:ext>
            </a:extLst>
          </p:cNvPr>
          <p:cNvGrpSpPr/>
          <p:nvPr/>
        </p:nvGrpSpPr>
        <p:grpSpPr>
          <a:xfrm>
            <a:off x="6319202" y="1350683"/>
            <a:ext cx="257544" cy="249382"/>
            <a:chOff x="4042606" y="2461236"/>
            <a:chExt cx="257544" cy="249382"/>
          </a:xfrm>
        </p:grpSpPr>
        <p:sp>
          <p:nvSpPr>
            <p:cNvPr id="226" name="Oval 225">
              <a:extLst>
                <a:ext uri="{FF2B5EF4-FFF2-40B4-BE49-F238E27FC236}">
                  <a16:creationId xmlns:a16="http://schemas.microsoft.com/office/drawing/2014/main" id="{C7FAE797-46CA-42C9-967E-CFDBB2305B73}"/>
                </a:ext>
              </a:extLst>
            </p:cNvPr>
            <p:cNvSpPr>
              <a:spLocks noChangeArrowheads="1"/>
            </p:cNvSpPr>
            <p:nvPr/>
          </p:nvSpPr>
          <p:spPr bwMode="auto">
            <a:xfrm>
              <a:off x="4042606"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27" name="Graphic 4">
              <a:extLst>
                <a:ext uri="{FF2B5EF4-FFF2-40B4-BE49-F238E27FC236}">
                  <a16:creationId xmlns:a16="http://schemas.microsoft.com/office/drawing/2014/main" id="{4CFE5A31-4F23-421C-B2DD-931359503B19}"/>
                </a:ext>
              </a:extLst>
            </p:cNvPr>
            <p:cNvGrpSpPr/>
            <p:nvPr/>
          </p:nvGrpSpPr>
          <p:grpSpPr>
            <a:xfrm>
              <a:off x="4042606" y="2461236"/>
              <a:ext cx="257544" cy="249382"/>
              <a:chOff x="3607758" y="1402723"/>
              <a:chExt cx="362309" cy="361971"/>
            </a:xfrm>
            <a:solidFill>
              <a:sysClr val="windowText" lastClr="000000"/>
            </a:solidFill>
          </p:grpSpPr>
          <p:sp>
            <p:nvSpPr>
              <p:cNvPr id="228" name="Graphic 4">
                <a:extLst>
                  <a:ext uri="{FF2B5EF4-FFF2-40B4-BE49-F238E27FC236}">
                    <a16:creationId xmlns:a16="http://schemas.microsoft.com/office/drawing/2014/main" id="{134BEB87-63AE-4DAA-BD00-BA983D0ACCAE}"/>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9" name="Graphic 4">
                <a:extLst>
                  <a:ext uri="{FF2B5EF4-FFF2-40B4-BE49-F238E27FC236}">
                    <a16:creationId xmlns:a16="http://schemas.microsoft.com/office/drawing/2014/main" id="{2AF2F530-6D9E-4807-9B5C-ADA07851392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0" name="Graphic 4">
                <a:extLst>
                  <a:ext uri="{FF2B5EF4-FFF2-40B4-BE49-F238E27FC236}">
                    <a16:creationId xmlns:a16="http://schemas.microsoft.com/office/drawing/2014/main" id="{EB21BBD9-558B-4B37-B76D-6BDB8242CF25}"/>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1" name="Graphic 4">
                <a:extLst>
                  <a:ext uri="{FF2B5EF4-FFF2-40B4-BE49-F238E27FC236}">
                    <a16:creationId xmlns:a16="http://schemas.microsoft.com/office/drawing/2014/main" id="{BC65111F-4D2C-4350-A4D6-7AA3A1B3F956}"/>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2" name="Graphic 4">
                <a:extLst>
                  <a:ext uri="{FF2B5EF4-FFF2-40B4-BE49-F238E27FC236}">
                    <a16:creationId xmlns:a16="http://schemas.microsoft.com/office/drawing/2014/main" id="{7BC26E06-94BE-4C8D-B8E2-8E437707D324}"/>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3" name="Graphic 4">
                <a:extLst>
                  <a:ext uri="{FF2B5EF4-FFF2-40B4-BE49-F238E27FC236}">
                    <a16:creationId xmlns:a16="http://schemas.microsoft.com/office/drawing/2014/main" id="{B8B2EC7B-4CAD-4F44-982C-852D3C4748A7}"/>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4" name="Graphic 4">
                <a:extLst>
                  <a:ext uri="{FF2B5EF4-FFF2-40B4-BE49-F238E27FC236}">
                    <a16:creationId xmlns:a16="http://schemas.microsoft.com/office/drawing/2014/main" id="{7E4304AB-0E5A-41A7-8641-2E651ACCCD45}"/>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5" name="Graphic 4">
                <a:extLst>
                  <a:ext uri="{FF2B5EF4-FFF2-40B4-BE49-F238E27FC236}">
                    <a16:creationId xmlns:a16="http://schemas.microsoft.com/office/drawing/2014/main" id="{4282B1F3-232A-41D0-9709-FF6A42040530}"/>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cxnSp>
        <p:nvCxnSpPr>
          <p:cNvPr id="237" name="Straight Connector 236">
            <a:extLst>
              <a:ext uri="{FF2B5EF4-FFF2-40B4-BE49-F238E27FC236}">
                <a16:creationId xmlns:a16="http://schemas.microsoft.com/office/drawing/2014/main" id="{B399F22F-FE88-4504-A4FD-E1CD9AFF3E5C}"/>
              </a:ext>
            </a:extLst>
          </p:cNvPr>
          <p:cNvCxnSpPr>
            <a:cxnSpLocks/>
          </p:cNvCxnSpPr>
          <p:nvPr/>
        </p:nvCxnSpPr>
        <p:spPr>
          <a:xfrm>
            <a:off x="7288588" y="1600101"/>
            <a:ext cx="1128846" cy="0"/>
          </a:xfrm>
          <a:prstGeom prst="line">
            <a:avLst/>
          </a:prstGeom>
          <a:noFill/>
          <a:ln w="57150" cap="flat" cmpd="sng" algn="ctr">
            <a:solidFill>
              <a:schemeClr val="tx1">
                <a:lumMod val="65000"/>
                <a:lumOff val="35000"/>
              </a:schemeClr>
            </a:solidFill>
            <a:prstDash val="solid"/>
          </a:ln>
          <a:effectLst/>
        </p:spPr>
      </p:cxnSp>
      <p:cxnSp>
        <p:nvCxnSpPr>
          <p:cNvPr id="238" name="Straight Connector 237">
            <a:extLst>
              <a:ext uri="{FF2B5EF4-FFF2-40B4-BE49-F238E27FC236}">
                <a16:creationId xmlns:a16="http://schemas.microsoft.com/office/drawing/2014/main" id="{53D7D0C7-FCD0-4C62-9E71-7E59D01B8444}"/>
              </a:ext>
            </a:extLst>
          </p:cNvPr>
          <p:cNvCxnSpPr>
            <a:cxnSpLocks/>
          </p:cNvCxnSpPr>
          <p:nvPr/>
        </p:nvCxnSpPr>
        <p:spPr>
          <a:xfrm>
            <a:off x="8619716" y="1911207"/>
            <a:ext cx="947691" cy="0"/>
          </a:xfrm>
          <a:prstGeom prst="line">
            <a:avLst/>
          </a:prstGeom>
          <a:noFill/>
          <a:ln w="57150" cap="flat" cmpd="sng" algn="ctr">
            <a:solidFill>
              <a:schemeClr val="tx1">
                <a:lumMod val="65000"/>
                <a:lumOff val="35000"/>
              </a:schemeClr>
            </a:solidFill>
            <a:prstDash val="solid"/>
          </a:ln>
          <a:effectLst/>
        </p:spPr>
      </p:cxnSp>
      <p:sp>
        <p:nvSpPr>
          <p:cNvPr id="239" name="TextBox 238">
            <a:extLst>
              <a:ext uri="{FF2B5EF4-FFF2-40B4-BE49-F238E27FC236}">
                <a16:creationId xmlns:a16="http://schemas.microsoft.com/office/drawing/2014/main" id="{5AAAAEEE-A02C-4192-848D-4EF0567E5105}"/>
              </a:ext>
            </a:extLst>
          </p:cNvPr>
          <p:cNvSpPr txBox="1"/>
          <p:nvPr/>
        </p:nvSpPr>
        <p:spPr>
          <a:xfrm>
            <a:off x="4864800" y="1621985"/>
            <a:ext cx="1557296"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Sprints (4 -5 weeks each)</a:t>
            </a:r>
          </a:p>
        </p:txBody>
      </p:sp>
      <p:cxnSp>
        <p:nvCxnSpPr>
          <p:cNvPr id="240" name="Straight Connector 239">
            <a:extLst>
              <a:ext uri="{FF2B5EF4-FFF2-40B4-BE49-F238E27FC236}">
                <a16:creationId xmlns:a16="http://schemas.microsoft.com/office/drawing/2014/main" id="{32B284CB-1CB7-47A4-BC5E-776E8915DED2}"/>
              </a:ext>
            </a:extLst>
          </p:cNvPr>
          <p:cNvCxnSpPr>
            <a:cxnSpLocks/>
          </p:cNvCxnSpPr>
          <p:nvPr/>
        </p:nvCxnSpPr>
        <p:spPr>
          <a:xfrm>
            <a:off x="6825756" y="1993564"/>
            <a:ext cx="418539" cy="0"/>
          </a:xfrm>
          <a:prstGeom prst="line">
            <a:avLst/>
          </a:prstGeom>
          <a:noFill/>
          <a:ln w="57150" cap="flat" cmpd="sng" algn="ctr">
            <a:solidFill>
              <a:schemeClr val="tx1">
                <a:lumMod val="65000"/>
                <a:lumOff val="35000"/>
              </a:schemeClr>
            </a:solidFill>
            <a:prstDash val="solid"/>
          </a:ln>
          <a:effectLst/>
        </p:spPr>
      </p:cxnSp>
      <p:cxnSp>
        <p:nvCxnSpPr>
          <p:cNvPr id="241" name="Straight Connector 240">
            <a:extLst>
              <a:ext uri="{FF2B5EF4-FFF2-40B4-BE49-F238E27FC236}">
                <a16:creationId xmlns:a16="http://schemas.microsoft.com/office/drawing/2014/main" id="{71BE5725-4416-4890-A8A4-B0B15DADA3DE}"/>
              </a:ext>
            </a:extLst>
          </p:cNvPr>
          <p:cNvCxnSpPr>
            <a:cxnSpLocks/>
          </p:cNvCxnSpPr>
          <p:nvPr/>
        </p:nvCxnSpPr>
        <p:spPr>
          <a:xfrm>
            <a:off x="5915169" y="1992548"/>
            <a:ext cx="418539" cy="0"/>
          </a:xfrm>
          <a:prstGeom prst="line">
            <a:avLst/>
          </a:prstGeom>
          <a:noFill/>
          <a:ln w="57150" cap="flat" cmpd="sng" algn="ctr">
            <a:solidFill>
              <a:schemeClr val="tx1">
                <a:lumMod val="65000"/>
                <a:lumOff val="35000"/>
              </a:schemeClr>
            </a:solidFill>
            <a:prstDash val="solid"/>
          </a:ln>
          <a:effectLst/>
        </p:spPr>
      </p:cxnSp>
      <p:cxnSp>
        <p:nvCxnSpPr>
          <p:cNvPr id="242" name="Straight Connector 241">
            <a:extLst>
              <a:ext uri="{FF2B5EF4-FFF2-40B4-BE49-F238E27FC236}">
                <a16:creationId xmlns:a16="http://schemas.microsoft.com/office/drawing/2014/main" id="{8545BBE6-E8A7-404F-B57F-DD754BF95D0E}"/>
              </a:ext>
            </a:extLst>
          </p:cNvPr>
          <p:cNvCxnSpPr>
            <a:cxnSpLocks/>
          </p:cNvCxnSpPr>
          <p:nvPr/>
        </p:nvCxnSpPr>
        <p:spPr>
          <a:xfrm>
            <a:off x="4992366" y="1997353"/>
            <a:ext cx="418539" cy="0"/>
          </a:xfrm>
          <a:prstGeom prst="line">
            <a:avLst/>
          </a:prstGeom>
          <a:noFill/>
          <a:ln w="57150" cap="flat" cmpd="sng" algn="ctr">
            <a:solidFill>
              <a:schemeClr val="tx1">
                <a:lumMod val="65000"/>
                <a:lumOff val="35000"/>
              </a:schemeClr>
            </a:solidFill>
            <a:prstDash val="solid"/>
          </a:ln>
          <a:effectLst/>
        </p:spPr>
      </p:cxnSp>
      <p:cxnSp>
        <p:nvCxnSpPr>
          <p:cNvPr id="243" name="Straight Connector 242">
            <a:extLst>
              <a:ext uri="{FF2B5EF4-FFF2-40B4-BE49-F238E27FC236}">
                <a16:creationId xmlns:a16="http://schemas.microsoft.com/office/drawing/2014/main" id="{97ED6F0A-9D7F-4348-ACDD-3B525BE80766}"/>
              </a:ext>
            </a:extLst>
          </p:cNvPr>
          <p:cNvCxnSpPr>
            <a:cxnSpLocks/>
          </p:cNvCxnSpPr>
          <p:nvPr/>
        </p:nvCxnSpPr>
        <p:spPr>
          <a:xfrm>
            <a:off x="8171200" y="1991967"/>
            <a:ext cx="418539" cy="0"/>
          </a:xfrm>
          <a:prstGeom prst="line">
            <a:avLst/>
          </a:prstGeom>
          <a:noFill/>
          <a:ln w="57150" cap="flat" cmpd="sng" algn="ctr">
            <a:solidFill>
              <a:schemeClr val="tx1">
                <a:lumMod val="65000"/>
                <a:lumOff val="35000"/>
              </a:schemeClr>
            </a:solidFill>
            <a:prstDash val="solid"/>
          </a:ln>
          <a:effectLst/>
        </p:spPr>
      </p:cxnSp>
      <p:sp>
        <p:nvSpPr>
          <p:cNvPr id="244" name="TextBox 243">
            <a:extLst>
              <a:ext uri="{FF2B5EF4-FFF2-40B4-BE49-F238E27FC236}">
                <a16:creationId xmlns:a16="http://schemas.microsoft.com/office/drawing/2014/main" id="{9823386C-71A8-408D-B27B-C9307B524AE0}"/>
              </a:ext>
            </a:extLst>
          </p:cNvPr>
          <p:cNvSpPr txBox="1"/>
          <p:nvPr/>
        </p:nvSpPr>
        <p:spPr>
          <a:xfrm>
            <a:off x="4893432" y="2024938"/>
            <a:ext cx="627032"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0</a:t>
            </a:r>
          </a:p>
        </p:txBody>
      </p:sp>
      <p:sp>
        <p:nvSpPr>
          <p:cNvPr id="245" name="TextBox 244">
            <a:extLst>
              <a:ext uri="{FF2B5EF4-FFF2-40B4-BE49-F238E27FC236}">
                <a16:creationId xmlns:a16="http://schemas.microsoft.com/office/drawing/2014/main" id="{0B253449-B63B-46D0-8824-AAD7360BE7FE}"/>
              </a:ext>
            </a:extLst>
          </p:cNvPr>
          <p:cNvSpPr txBox="1"/>
          <p:nvPr/>
        </p:nvSpPr>
        <p:spPr>
          <a:xfrm>
            <a:off x="5858376" y="2024156"/>
            <a:ext cx="627032"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1</a:t>
            </a:r>
          </a:p>
        </p:txBody>
      </p:sp>
      <p:grpSp>
        <p:nvGrpSpPr>
          <p:cNvPr id="249" name="Group 248">
            <a:extLst>
              <a:ext uri="{FF2B5EF4-FFF2-40B4-BE49-F238E27FC236}">
                <a16:creationId xmlns:a16="http://schemas.microsoft.com/office/drawing/2014/main" id="{3D251FFA-8E71-4F5B-82D5-41DE0A684330}"/>
              </a:ext>
            </a:extLst>
          </p:cNvPr>
          <p:cNvGrpSpPr/>
          <p:nvPr/>
        </p:nvGrpSpPr>
        <p:grpSpPr>
          <a:xfrm>
            <a:off x="5273552" y="1147420"/>
            <a:ext cx="257544" cy="249382"/>
            <a:chOff x="2924893" y="2103407"/>
            <a:chExt cx="257544" cy="249382"/>
          </a:xfrm>
        </p:grpSpPr>
        <p:sp>
          <p:nvSpPr>
            <p:cNvPr id="250" name="Oval 249">
              <a:extLst>
                <a:ext uri="{FF2B5EF4-FFF2-40B4-BE49-F238E27FC236}">
                  <a16:creationId xmlns:a16="http://schemas.microsoft.com/office/drawing/2014/main" id="{88164C49-F757-4070-B660-48DC5BC11540}"/>
                </a:ext>
              </a:extLst>
            </p:cNvPr>
            <p:cNvSpPr>
              <a:spLocks noChangeArrowheads="1"/>
            </p:cNvSpPr>
            <p:nvPr/>
          </p:nvSpPr>
          <p:spPr bwMode="auto">
            <a:xfrm>
              <a:off x="2924893"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51" name="Graphic 4">
              <a:extLst>
                <a:ext uri="{FF2B5EF4-FFF2-40B4-BE49-F238E27FC236}">
                  <a16:creationId xmlns:a16="http://schemas.microsoft.com/office/drawing/2014/main" id="{81233C59-795C-4726-BB09-E26E36217928}"/>
                </a:ext>
              </a:extLst>
            </p:cNvPr>
            <p:cNvGrpSpPr/>
            <p:nvPr/>
          </p:nvGrpSpPr>
          <p:grpSpPr>
            <a:xfrm>
              <a:off x="2924893" y="2103407"/>
              <a:ext cx="257544" cy="249382"/>
              <a:chOff x="3607758" y="1402723"/>
              <a:chExt cx="362309" cy="361971"/>
            </a:xfrm>
            <a:solidFill>
              <a:sysClr val="windowText" lastClr="000000"/>
            </a:solidFill>
          </p:grpSpPr>
          <p:sp>
            <p:nvSpPr>
              <p:cNvPr id="252" name="Graphic 4">
                <a:extLst>
                  <a:ext uri="{FF2B5EF4-FFF2-40B4-BE49-F238E27FC236}">
                    <a16:creationId xmlns:a16="http://schemas.microsoft.com/office/drawing/2014/main" id="{ABDD3747-7786-4204-97E2-BEF5F0D3540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3" name="Graphic 4">
                <a:extLst>
                  <a:ext uri="{FF2B5EF4-FFF2-40B4-BE49-F238E27FC236}">
                    <a16:creationId xmlns:a16="http://schemas.microsoft.com/office/drawing/2014/main" id="{4E1A988B-BD1F-4EB8-9CD8-8ABAE5D9C63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4" name="Graphic 4">
                <a:extLst>
                  <a:ext uri="{FF2B5EF4-FFF2-40B4-BE49-F238E27FC236}">
                    <a16:creationId xmlns:a16="http://schemas.microsoft.com/office/drawing/2014/main" id="{1CBFD0A1-3354-4495-A3F1-482547CEFCB4}"/>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5" name="Graphic 4">
                <a:extLst>
                  <a:ext uri="{FF2B5EF4-FFF2-40B4-BE49-F238E27FC236}">
                    <a16:creationId xmlns:a16="http://schemas.microsoft.com/office/drawing/2014/main" id="{5497B95A-562C-4859-AF60-E8E580722535}"/>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6" name="Graphic 4">
                <a:extLst>
                  <a:ext uri="{FF2B5EF4-FFF2-40B4-BE49-F238E27FC236}">
                    <a16:creationId xmlns:a16="http://schemas.microsoft.com/office/drawing/2014/main" id="{7D8F7D9E-1C7B-4CFC-A03B-F2F0CD423851}"/>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7" name="Graphic 4">
                <a:extLst>
                  <a:ext uri="{FF2B5EF4-FFF2-40B4-BE49-F238E27FC236}">
                    <a16:creationId xmlns:a16="http://schemas.microsoft.com/office/drawing/2014/main" id="{BE25D016-78F0-4E6A-9EBC-F6EE099659D9}"/>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8" name="Graphic 4">
                <a:extLst>
                  <a:ext uri="{FF2B5EF4-FFF2-40B4-BE49-F238E27FC236}">
                    <a16:creationId xmlns:a16="http://schemas.microsoft.com/office/drawing/2014/main" id="{A06211A0-D423-4C71-BEA6-676E8866EC7F}"/>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9" name="Graphic 4">
                <a:extLst>
                  <a:ext uri="{FF2B5EF4-FFF2-40B4-BE49-F238E27FC236}">
                    <a16:creationId xmlns:a16="http://schemas.microsoft.com/office/drawing/2014/main" id="{ED4AE579-168B-41CE-9618-D2DACCFF0BE7}"/>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60" name="Group 259">
            <a:extLst>
              <a:ext uri="{FF2B5EF4-FFF2-40B4-BE49-F238E27FC236}">
                <a16:creationId xmlns:a16="http://schemas.microsoft.com/office/drawing/2014/main" id="{4D8CA785-6047-475E-A10F-6B5BF4BCD280}"/>
              </a:ext>
            </a:extLst>
          </p:cNvPr>
          <p:cNvGrpSpPr/>
          <p:nvPr/>
        </p:nvGrpSpPr>
        <p:grpSpPr>
          <a:xfrm>
            <a:off x="4280211" y="1147420"/>
            <a:ext cx="257544" cy="249382"/>
            <a:chOff x="2427175" y="2103407"/>
            <a:chExt cx="257544" cy="249382"/>
          </a:xfrm>
        </p:grpSpPr>
        <p:sp>
          <p:nvSpPr>
            <p:cNvPr id="261" name="Oval 260">
              <a:extLst>
                <a:ext uri="{FF2B5EF4-FFF2-40B4-BE49-F238E27FC236}">
                  <a16:creationId xmlns:a16="http://schemas.microsoft.com/office/drawing/2014/main" id="{2B3B73FB-9F89-4FB0-8A67-FF463803C332}"/>
                </a:ext>
              </a:extLst>
            </p:cNvPr>
            <p:cNvSpPr>
              <a:spLocks noChangeArrowheads="1"/>
            </p:cNvSpPr>
            <p:nvPr/>
          </p:nvSpPr>
          <p:spPr bwMode="auto">
            <a:xfrm>
              <a:off x="2427175"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62" name="Graphic 4">
              <a:extLst>
                <a:ext uri="{FF2B5EF4-FFF2-40B4-BE49-F238E27FC236}">
                  <a16:creationId xmlns:a16="http://schemas.microsoft.com/office/drawing/2014/main" id="{E7E2A2F3-217D-4EC9-B2F4-E3F55F721CAA}"/>
                </a:ext>
              </a:extLst>
            </p:cNvPr>
            <p:cNvGrpSpPr/>
            <p:nvPr/>
          </p:nvGrpSpPr>
          <p:grpSpPr>
            <a:xfrm>
              <a:off x="2427175" y="2103407"/>
              <a:ext cx="257544" cy="249382"/>
              <a:chOff x="3607758" y="1402723"/>
              <a:chExt cx="362309" cy="361971"/>
            </a:xfrm>
            <a:solidFill>
              <a:sysClr val="windowText" lastClr="000000"/>
            </a:solidFill>
          </p:grpSpPr>
          <p:sp>
            <p:nvSpPr>
              <p:cNvPr id="263" name="Graphic 4">
                <a:extLst>
                  <a:ext uri="{FF2B5EF4-FFF2-40B4-BE49-F238E27FC236}">
                    <a16:creationId xmlns:a16="http://schemas.microsoft.com/office/drawing/2014/main" id="{041E6012-91A5-45A2-97FA-7E2693AA816A}"/>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4" name="Graphic 4">
                <a:extLst>
                  <a:ext uri="{FF2B5EF4-FFF2-40B4-BE49-F238E27FC236}">
                    <a16:creationId xmlns:a16="http://schemas.microsoft.com/office/drawing/2014/main" id="{56B3BCEC-3635-4B6D-818F-528A93E071F1}"/>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5" name="Graphic 4">
                <a:extLst>
                  <a:ext uri="{FF2B5EF4-FFF2-40B4-BE49-F238E27FC236}">
                    <a16:creationId xmlns:a16="http://schemas.microsoft.com/office/drawing/2014/main" id="{B88C6CBE-3E8F-4FFF-8B47-01E2F44BAD5B}"/>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6" name="Graphic 4">
                <a:extLst>
                  <a:ext uri="{FF2B5EF4-FFF2-40B4-BE49-F238E27FC236}">
                    <a16:creationId xmlns:a16="http://schemas.microsoft.com/office/drawing/2014/main" id="{85CAF14B-A29D-43B6-A8DF-594DFFF48377}"/>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7" name="Graphic 4">
                <a:extLst>
                  <a:ext uri="{FF2B5EF4-FFF2-40B4-BE49-F238E27FC236}">
                    <a16:creationId xmlns:a16="http://schemas.microsoft.com/office/drawing/2014/main" id="{65198C28-004A-4F2F-B670-2AF117CC7805}"/>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8" name="Graphic 4">
                <a:extLst>
                  <a:ext uri="{FF2B5EF4-FFF2-40B4-BE49-F238E27FC236}">
                    <a16:creationId xmlns:a16="http://schemas.microsoft.com/office/drawing/2014/main" id="{28ED8BDF-0A35-4B8D-8E79-1566F81E8D28}"/>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9" name="Graphic 4">
                <a:extLst>
                  <a:ext uri="{FF2B5EF4-FFF2-40B4-BE49-F238E27FC236}">
                    <a16:creationId xmlns:a16="http://schemas.microsoft.com/office/drawing/2014/main" id="{2FF99046-6A19-46A8-B2A5-78717ACA9DF9}"/>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0" name="Graphic 4">
                <a:extLst>
                  <a:ext uri="{FF2B5EF4-FFF2-40B4-BE49-F238E27FC236}">
                    <a16:creationId xmlns:a16="http://schemas.microsoft.com/office/drawing/2014/main" id="{F0B6BBFF-401E-4B8F-96C3-7C63AB980DED}"/>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71" name="Group 270">
            <a:extLst>
              <a:ext uri="{FF2B5EF4-FFF2-40B4-BE49-F238E27FC236}">
                <a16:creationId xmlns:a16="http://schemas.microsoft.com/office/drawing/2014/main" id="{FDBB402E-BEF6-4769-8BE5-60EE6EE70128}"/>
              </a:ext>
            </a:extLst>
          </p:cNvPr>
          <p:cNvGrpSpPr/>
          <p:nvPr/>
        </p:nvGrpSpPr>
        <p:grpSpPr>
          <a:xfrm>
            <a:off x="3510838" y="1147420"/>
            <a:ext cx="257544" cy="249382"/>
            <a:chOff x="1929456" y="2103407"/>
            <a:chExt cx="257544" cy="249382"/>
          </a:xfrm>
        </p:grpSpPr>
        <p:sp>
          <p:nvSpPr>
            <p:cNvPr id="272" name="Oval 271">
              <a:extLst>
                <a:ext uri="{FF2B5EF4-FFF2-40B4-BE49-F238E27FC236}">
                  <a16:creationId xmlns:a16="http://schemas.microsoft.com/office/drawing/2014/main" id="{2F9F7283-FD8A-48D3-9BBD-C4461F7585FD}"/>
                </a:ext>
              </a:extLst>
            </p:cNvPr>
            <p:cNvSpPr>
              <a:spLocks noChangeArrowheads="1"/>
            </p:cNvSpPr>
            <p:nvPr/>
          </p:nvSpPr>
          <p:spPr bwMode="auto">
            <a:xfrm>
              <a:off x="1929456"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73" name="Graphic 4">
              <a:extLst>
                <a:ext uri="{FF2B5EF4-FFF2-40B4-BE49-F238E27FC236}">
                  <a16:creationId xmlns:a16="http://schemas.microsoft.com/office/drawing/2014/main" id="{2F4140E3-7D5C-4EC5-9152-7C9F68DD8DFB}"/>
                </a:ext>
              </a:extLst>
            </p:cNvPr>
            <p:cNvGrpSpPr/>
            <p:nvPr/>
          </p:nvGrpSpPr>
          <p:grpSpPr>
            <a:xfrm>
              <a:off x="1929456" y="2103407"/>
              <a:ext cx="257544" cy="249382"/>
              <a:chOff x="3607758" y="1402723"/>
              <a:chExt cx="362309" cy="361971"/>
            </a:xfrm>
            <a:solidFill>
              <a:sysClr val="windowText" lastClr="000000"/>
            </a:solidFill>
          </p:grpSpPr>
          <p:sp>
            <p:nvSpPr>
              <p:cNvPr id="274" name="Graphic 4">
                <a:extLst>
                  <a:ext uri="{FF2B5EF4-FFF2-40B4-BE49-F238E27FC236}">
                    <a16:creationId xmlns:a16="http://schemas.microsoft.com/office/drawing/2014/main" id="{836E64AA-9304-446E-9A6A-23825B7CFC0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5" name="Graphic 4">
                <a:extLst>
                  <a:ext uri="{FF2B5EF4-FFF2-40B4-BE49-F238E27FC236}">
                    <a16:creationId xmlns:a16="http://schemas.microsoft.com/office/drawing/2014/main" id="{1D4D3D17-A7E0-4116-BE3D-98C60ACF09C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6" name="Graphic 4">
                <a:extLst>
                  <a:ext uri="{FF2B5EF4-FFF2-40B4-BE49-F238E27FC236}">
                    <a16:creationId xmlns:a16="http://schemas.microsoft.com/office/drawing/2014/main" id="{F765CA33-7B9F-415D-A16E-9B82DBAAFFED}"/>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7" name="Graphic 4">
                <a:extLst>
                  <a:ext uri="{FF2B5EF4-FFF2-40B4-BE49-F238E27FC236}">
                    <a16:creationId xmlns:a16="http://schemas.microsoft.com/office/drawing/2014/main" id="{8A1BDE4A-2672-42A3-BDB0-87B60739393B}"/>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8" name="Graphic 4">
                <a:extLst>
                  <a:ext uri="{FF2B5EF4-FFF2-40B4-BE49-F238E27FC236}">
                    <a16:creationId xmlns:a16="http://schemas.microsoft.com/office/drawing/2014/main" id="{4583596E-E858-485A-8289-6E2E6F2F9388}"/>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9" name="Graphic 4">
                <a:extLst>
                  <a:ext uri="{FF2B5EF4-FFF2-40B4-BE49-F238E27FC236}">
                    <a16:creationId xmlns:a16="http://schemas.microsoft.com/office/drawing/2014/main" id="{0BD1A25B-76A0-46A8-9AB2-8E0CBC6CF541}"/>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80" name="Graphic 4">
                <a:extLst>
                  <a:ext uri="{FF2B5EF4-FFF2-40B4-BE49-F238E27FC236}">
                    <a16:creationId xmlns:a16="http://schemas.microsoft.com/office/drawing/2014/main" id="{743AE297-64AD-4F87-B0CF-91DE5E55F4B2}"/>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81" name="Graphic 4">
                <a:extLst>
                  <a:ext uri="{FF2B5EF4-FFF2-40B4-BE49-F238E27FC236}">
                    <a16:creationId xmlns:a16="http://schemas.microsoft.com/office/drawing/2014/main" id="{AA25D741-BD13-41E0-B178-4C0DA1A8C303}"/>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sp>
        <p:nvSpPr>
          <p:cNvPr id="283" name="TextBox 282">
            <a:extLst>
              <a:ext uri="{FF2B5EF4-FFF2-40B4-BE49-F238E27FC236}">
                <a16:creationId xmlns:a16="http://schemas.microsoft.com/office/drawing/2014/main" id="{E4C758B7-2FD0-410A-9668-18B00B403CBB}"/>
              </a:ext>
            </a:extLst>
          </p:cNvPr>
          <p:cNvSpPr txBox="1"/>
          <p:nvPr/>
        </p:nvSpPr>
        <p:spPr>
          <a:xfrm>
            <a:off x="10858178" y="1945737"/>
            <a:ext cx="873843"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MVP1 Go-Live </a:t>
            </a:r>
          </a:p>
        </p:txBody>
      </p:sp>
      <p:sp>
        <p:nvSpPr>
          <p:cNvPr id="284" name="TextBox 283">
            <a:extLst>
              <a:ext uri="{FF2B5EF4-FFF2-40B4-BE49-F238E27FC236}">
                <a16:creationId xmlns:a16="http://schemas.microsoft.com/office/drawing/2014/main" id="{644E71CA-74C7-47BE-9795-F86A306EB953}"/>
              </a:ext>
            </a:extLst>
          </p:cNvPr>
          <p:cNvSpPr txBox="1"/>
          <p:nvPr/>
        </p:nvSpPr>
        <p:spPr>
          <a:xfrm>
            <a:off x="9913028" y="2020518"/>
            <a:ext cx="679092" cy="200055"/>
          </a:xfrm>
          <a:prstGeom prst="rect">
            <a:avLst/>
          </a:prstGeom>
          <a:noFill/>
        </p:spPr>
        <p:txBody>
          <a:bodyPr wrap="square">
            <a:spAutoFit/>
          </a:bodyPr>
          <a:lstStyle/>
          <a:p>
            <a:pPr marL="0" marR="0" lvl="0" indent="0" algn="ctr" defTabSz="914400" rtl="0" eaLnBrk="1" fontAlgn="auto" latinLnBrk="0" hangingPunct="1">
              <a:lnSpc>
                <a:spcPct val="100000"/>
              </a:lnSpc>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Cutover</a:t>
            </a:r>
          </a:p>
        </p:txBody>
      </p:sp>
      <p:cxnSp>
        <p:nvCxnSpPr>
          <p:cNvPr id="286" name="Straight Connector 285">
            <a:extLst>
              <a:ext uri="{FF2B5EF4-FFF2-40B4-BE49-F238E27FC236}">
                <a16:creationId xmlns:a16="http://schemas.microsoft.com/office/drawing/2014/main" id="{51118A5B-6882-47A8-AB98-BB7FDD0976AF}"/>
              </a:ext>
            </a:extLst>
          </p:cNvPr>
          <p:cNvCxnSpPr>
            <a:cxnSpLocks/>
          </p:cNvCxnSpPr>
          <p:nvPr/>
        </p:nvCxnSpPr>
        <p:spPr>
          <a:xfrm>
            <a:off x="9980258" y="1991909"/>
            <a:ext cx="566762" cy="0"/>
          </a:xfrm>
          <a:prstGeom prst="line">
            <a:avLst/>
          </a:prstGeom>
          <a:noFill/>
          <a:ln w="57150" cap="flat" cmpd="sng" algn="ctr">
            <a:solidFill>
              <a:schemeClr val="tx1">
                <a:lumMod val="65000"/>
                <a:lumOff val="35000"/>
              </a:schemeClr>
            </a:solidFill>
            <a:prstDash val="solid"/>
          </a:ln>
          <a:effectLst/>
        </p:spPr>
      </p:cxnSp>
      <p:cxnSp>
        <p:nvCxnSpPr>
          <p:cNvPr id="372" name="Straight Connector 371">
            <a:extLst>
              <a:ext uri="{FF2B5EF4-FFF2-40B4-BE49-F238E27FC236}">
                <a16:creationId xmlns:a16="http://schemas.microsoft.com/office/drawing/2014/main" id="{45FD6751-8836-48BF-B85D-40EC657DA12F}"/>
              </a:ext>
            </a:extLst>
          </p:cNvPr>
          <p:cNvCxnSpPr>
            <a:cxnSpLocks/>
          </p:cNvCxnSpPr>
          <p:nvPr/>
        </p:nvCxnSpPr>
        <p:spPr>
          <a:xfrm>
            <a:off x="7956894" y="1706853"/>
            <a:ext cx="460233" cy="0"/>
          </a:xfrm>
          <a:prstGeom prst="line">
            <a:avLst/>
          </a:prstGeom>
          <a:noFill/>
          <a:ln w="57150" cap="flat" cmpd="sng" algn="ctr">
            <a:solidFill>
              <a:schemeClr val="tx1">
                <a:lumMod val="65000"/>
                <a:lumOff val="35000"/>
              </a:schemeClr>
            </a:solidFill>
            <a:prstDash val="solid"/>
          </a:ln>
          <a:effectLst/>
        </p:spPr>
      </p:cxnSp>
      <p:sp>
        <p:nvSpPr>
          <p:cNvPr id="373" name="TextBox 372">
            <a:extLst>
              <a:ext uri="{FF2B5EF4-FFF2-40B4-BE49-F238E27FC236}">
                <a16:creationId xmlns:a16="http://schemas.microsoft.com/office/drawing/2014/main" id="{94975910-7636-4177-B8B0-AB78D835220B}"/>
              </a:ext>
            </a:extLst>
          </p:cNvPr>
          <p:cNvSpPr txBox="1"/>
          <p:nvPr/>
        </p:nvSpPr>
        <p:spPr>
          <a:xfrm>
            <a:off x="8437907" y="1655520"/>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Performance Testing</a:t>
            </a:r>
          </a:p>
        </p:txBody>
      </p:sp>
      <p:cxnSp>
        <p:nvCxnSpPr>
          <p:cNvPr id="374" name="Straight Connector 373">
            <a:extLst>
              <a:ext uri="{FF2B5EF4-FFF2-40B4-BE49-F238E27FC236}">
                <a16:creationId xmlns:a16="http://schemas.microsoft.com/office/drawing/2014/main" id="{3994F9A7-028F-4A31-AA5C-3E138917D269}"/>
              </a:ext>
            </a:extLst>
          </p:cNvPr>
          <p:cNvCxnSpPr>
            <a:cxnSpLocks/>
          </p:cNvCxnSpPr>
          <p:nvPr/>
        </p:nvCxnSpPr>
        <p:spPr>
          <a:xfrm>
            <a:off x="7965146" y="1807597"/>
            <a:ext cx="460233" cy="0"/>
          </a:xfrm>
          <a:prstGeom prst="line">
            <a:avLst/>
          </a:prstGeom>
          <a:noFill/>
          <a:ln w="57150" cap="flat" cmpd="sng" algn="ctr">
            <a:solidFill>
              <a:schemeClr val="tx1">
                <a:lumMod val="65000"/>
                <a:lumOff val="35000"/>
              </a:schemeClr>
            </a:solidFill>
            <a:prstDash val="solid"/>
          </a:ln>
          <a:effectLst/>
        </p:spPr>
      </p:cxnSp>
      <p:sp>
        <p:nvSpPr>
          <p:cNvPr id="375" name="TextBox 374">
            <a:extLst>
              <a:ext uri="{FF2B5EF4-FFF2-40B4-BE49-F238E27FC236}">
                <a16:creationId xmlns:a16="http://schemas.microsoft.com/office/drawing/2014/main" id="{2C8F9C3E-8AFE-494A-B418-1AD44546DC71}"/>
              </a:ext>
            </a:extLst>
          </p:cNvPr>
          <p:cNvSpPr txBox="1"/>
          <p:nvPr/>
        </p:nvSpPr>
        <p:spPr>
          <a:xfrm>
            <a:off x="8446159" y="1756264"/>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Train The Trainer</a:t>
            </a:r>
          </a:p>
        </p:txBody>
      </p:sp>
      <p:sp>
        <p:nvSpPr>
          <p:cNvPr id="376" name="TextBox 375">
            <a:extLst>
              <a:ext uri="{FF2B5EF4-FFF2-40B4-BE49-F238E27FC236}">
                <a16:creationId xmlns:a16="http://schemas.microsoft.com/office/drawing/2014/main" id="{AF014CFA-D90F-4000-90B6-03DF02625C1F}"/>
              </a:ext>
            </a:extLst>
          </p:cNvPr>
          <p:cNvSpPr txBox="1"/>
          <p:nvPr/>
        </p:nvSpPr>
        <p:spPr>
          <a:xfrm>
            <a:off x="9601789" y="1863133"/>
            <a:ext cx="182880"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UAT</a:t>
            </a:r>
          </a:p>
        </p:txBody>
      </p:sp>
      <p:sp>
        <p:nvSpPr>
          <p:cNvPr id="377" name="TextBox 376">
            <a:extLst>
              <a:ext uri="{FF2B5EF4-FFF2-40B4-BE49-F238E27FC236}">
                <a16:creationId xmlns:a16="http://schemas.microsoft.com/office/drawing/2014/main" id="{F800C7D1-CE8A-48CB-A567-FE16D52C292D}"/>
              </a:ext>
            </a:extLst>
          </p:cNvPr>
          <p:cNvSpPr txBox="1"/>
          <p:nvPr/>
        </p:nvSpPr>
        <p:spPr>
          <a:xfrm>
            <a:off x="6707297" y="2021384"/>
            <a:ext cx="614984"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2</a:t>
            </a:r>
          </a:p>
        </p:txBody>
      </p:sp>
      <p:sp>
        <p:nvSpPr>
          <p:cNvPr id="378" name="TextBox 377">
            <a:extLst>
              <a:ext uri="{FF2B5EF4-FFF2-40B4-BE49-F238E27FC236}">
                <a16:creationId xmlns:a16="http://schemas.microsoft.com/office/drawing/2014/main" id="{151C9C4C-88E6-4D23-8554-863BA0A10996}"/>
              </a:ext>
            </a:extLst>
          </p:cNvPr>
          <p:cNvSpPr txBox="1"/>
          <p:nvPr/>
        </p:nvSpPr>
        <p:spPr>
          <a:xfrm>
            <a:off x="8022609" y="2000403"/>
            <a:ext cx="811940"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UAT</a:t>
            </a:r>
          </a:p>
        </p:txBody>
      </p:sp>
      <p:sp>
        <p:nvSpPr>
          <p:cNvPr id="2" name="TextBox 1">
            <a:extLst>
              <a:ext uri="{FF2B5EF4-FFF2-40B4-BE49-F238E27FC236}">
                <a16:creationId xmlns:a16="http://schemas.microsoft.com/office/drawing/2014/main" id="{16E6EE6A-1350-2FD8-314D-4F80DC4A2C45}"/>
              </a:ext>
            </a:extLst>
          </p:cNvPr>
          <p:cNvSpPr txBox="1"/>
          <p:nvPr/>
        </p:nvSpPr>
        <p:spPr>
          <a:xfrm>
            <a:off x="390378" y="2244735"/>
            <a:ext cx="11857647" cy="338554"/>
          </a:xfrm>
          <a:prstGeom prst="rect">
            <a:avLst/>
          </a:prstGeom>
          <a:noFill/>
        </p:spPr>
        <p:txBody>
          <a:bodyPr wrap="square" rtlCol="0">
            <a:spAutoFit/>
          </a:bodyPr>
          <a:lstStyle/>
          <a:p>
            <a:r>
              <a:rPr lang="en-US" sz="1600" dirty="0"/>
              <a:t>Key dependencies across workstreams to ensure environments are prepared and integration development can start in week 6:</a:t>
            </a:r>
          </a:p>
        </p:txBody>
      </p:sp>
      <p:graphicFrame>
        <p:nvGraphicFramePr>
          <p:cNvPr id="5" name="Table 28">
            <a:extLst>
              <a:ext uri="{FF2B5EF4-FFF2-40B4-BE49-F238E27FC236}">
                <a16:creationId xmlns:a16="http://schemas.microsoft.com/office/drawing/2014/main" id="{23715277-AA60-355B-769E-48BFD0C3FF98}"/>
              </a:ext>
            </a:extLst>
          </p:cNvPr>
          <p:cNvGraphicFramePr>
            <a:graphicFrameLocks noGrp="1"/>
          </p:cNvGraphicFramePr>
          <p:nvPr>
            <p:extLst>
              <p:ext uri="{D42A27DB-BD31-4B8C-83A1-F6EECF244321}">
                <p14:modId xmlns:p14="http://schemas.microsoft.com/office/powerpoint/2010/main" val="4039168887"/>
              </p:ext>
            </p:extLst>
          </p:nvPr>
        </p:nvGraphicFramePr>
        <p:xfrm>
          <a:off x="453224" y="2662980"/>
          <a:ext cx="11278796" cy="3982709"/>
        </p:xfrm>
        <a:graphic>
          <a:graphicData uri="http://schemas.openxmlformats.org/drawingml/2006/table">
            <a:tbl>
              <a:tblPr firstRow="1" bandRow="1">
                <a:tableStyleId>{93296810-A885-4BE3-A3E7-6D5BEEA58F35}</a:tableStyleId>
              </a:tblPr>
              <a:tblGrid>
                <a:gridCol w="1780415">
                  <a:extLst>
                    <a:ext uri="{9D8B030D-6E8A-4147-A177-3AD203B41FA5}">
                      <a16:colId xmlns:a16="http://schemas.microsoft.com/office/drawing/2014/main" val="2909219541"/>
                    </a:ext>
                  </a:extLst>
                </a:gridCol>
                <a:gridCol w="1979185">
                  <a:extLst>
                    <a:ext uri="{9D8B030D-6E8A-4147-A177-3AD203B41FA5}">
                      <a16:colId xmlns:a16="http://schemas.microsoft.com/office/drawing/2014/main" val="1965159160"/>
                    </a:ext>
                  </a:extLst>
                </a:gridCol>
                <a:gridCol w="1879799">
                  <a:extLst>
                    <a:ext uri="{9D8B030D-6E8A-4147-A177-3AD203B41FA5}">
                      <a16:colId xmlns:a16="http://schemas.microsoft.com/office/drawing/2014/main" val="2020839740"/>
                    </a:ext>
                  </a:extLst>
                </a:gridCol>
                <a:gridCol w="1879799">
                  <a:extLst>
                    <a:ext uri="{9D8B030D-6E8A-4147-A177-3AD203B41FA5}">
                      <a16:colId xmlns:a16="http://schemas.microsoft.com/office/drawing/2014/main" val="2939452777"/>
                    </a:ext>
                  </a:extLst>
                </a:gridCol>
                <a:gridCol w="1879799">
                  <a:extLst>
                    <a:ext uri="{9D8B030D-6E8A-4147-A177-3AD203B41FA5}">
                      <a16:colId xmlns:a16="http://schemas.microsoft.com/office/drawing/2014/main" val="1215842623"/>
                    </a:ext>
                  </a:extLst>
                </a:gridCol>
                <a:gridCol w="1879799">
                  <a:extLst>
                    <a:ext uri="{9D8B030D-6E8A-4147-A177-3AD203B41FA5}">
                      <a16:colId xmlns:a16="http://schemas.microsoft.com/office/drawing/2014/main" val="2324270328"/>
                    </a:ext>
                  </a:extLst>
                </a:gridCol>
              </a:tblGrid>
              <a:tr h="265635">
                <a:tc>
                  <a:txBody>
                    <a:bodyPr/>
                    <a:lstStyle/>
                    <a:p>
                      <a:r>
                        <a:rPr lang="en-US" sz="1200" dirty="0"/>
                        <a:t>Workstream</a:t>
                      </a:r>
                    </a:p>
                  </a:txBody>
                  <a:tcPr/>
                </a:tc>
                <a:tc>
                  <a:txBody>
                    <a:bodyPr/>
                    <a:lstStyle/>
                    <a:p>
                      <a:pPr algn="ctr"/>
                      <a:r>
                        <a:rPr lang="en-US" sz="1200" dirty="0"/>
                        <a:t>Week 1</a:t>
                      </a:r>
                    </a:p>
                  </a:txBody>
                  <a:tcPr/>
                </a:tc>
                <a:tc>
                  <a:txBody>
                    <a:bodyPr/>
                    <a:lstStyle/>
                    <a:p>
                      <a:pPr algn="ctr"/>
                      <a:r>
                        <a:rPr lang="en-US" sz="1200" dirty="0"/>
                        <a:t>Week 2</a:t>
                      </a:r>
                    </a:p>
                  </a:txBody>
                  <a:tcPr/>
                </a:tc>
                <a:tc>
                  <a:txBody>
                    <a:bodyPr/>
                    <a:lstStyle/>
                    <a:p>
                      <a:pPr algn="ctr"/>
                      <a:r>
                        <a:rPr lang="en-US" sz="1200" dirty="0"/>
                        <a:t>Week 3</a:t>
                      </a:r>
                    </a:p>
                  </a:txBody>
                  <a:tcPr/>
                </a:tc>
                <a:tc>
                  <a:txBody>
                    <a:bodyPr/>
                    <a:lstStyle/>
                    <a:p>
                      <a:pPr algn="ctr"/>
                      <a:r>
                        <a:rPr lang="en-US" sz="1200" dirty="0"/>
                        <a:t>Week 4</a:t>
                      </a:r>
                    </a:p>
                  </a:txBody>
                  <a:tcPr/>
                </a:tc>
                <a:tc>
                  <a:txBody>
                    <a:bodyPr/>
                    <a:lstStyle/>
                    <a:p>
                      <a:pPr algn="ctr"/>
                      <a:r>
                        <a:rPr lang="en-US" sz="1200" dirty="0"/>
                        <a:t>Week 5</a:t>
                      </a:r>
                    </a:p>
                  </a:txBody>
                  <a:tcPr/>
                </a:tc>
                <a:extLst>
                  <a:ext uri="{0D108BD9-81ED-4DB2-BD59-A6C34878D82A}">
                    <a16:rowId xmlns:a16="http://schemas.microsoft.com/office/drawing/2014/main" val="3721392916"/>
                  </a:ext>
                </a:extLst>
              </a:tr>
              <a:tr h="751829">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200" kern="1200" dirty="0">
                          <a:solidFill>
                            <a:schemeClr val="dk1"/>
                          </a:solidFill>
                        </a:rPr>
                        <a:t>Dollar Tree</a:t>
                      </a:r>
                      <a:endParaRPr lang="en-US" sz="1200" kern="1200" dirty="0">
                        <a:solidFill>
                          <a:schemeClr val="dk1"/>
                        </a:solidFill>
                        <a:latin typeface="+mn-lt"/>
                        <a:ea typeface="+mn-ea"/>
                        <a:cs typeface="+mn-cs"/>
                      </a:endParaRPr>
                    </a:p>
                  </a:txBody>
                  <a:tcPr marL="89089" marR="89089" marT="44544" marB="44544"/>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t>Discovery workshops  Kickoff</a:t>
                      </a:r>
                    </a:p>
                    <a:p>
                      <a:pPr marL="285750" indent="-285750" algn="l">
                        <a:buFont typeface="Arial" panose="020B0604020202020204" pitchFamily="34" charset="0"/>
                        <a:buChar char="•"/>
                      </a:pPr>
                      <a:endParaRPr lang="en-US" sz="1000" dirty="0"/>
                    </a:p>
                  </a:txBody>
                  <a:tcPr/>
                </a:tc>
                <a:tc>
                  <a:txBody>
                    <a:bodyPr/>
                    <a:lstStyle/>
                    <a:p>
                      <a:pPr marL="285750" indent="-285750" algn="l">
                        <a:buFont typeface="Arial" panose="020B0604020202020204" pitchFamily="34" charset="0"/>
                        <a:buChar cha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LZ Build START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LZ Design submitted for Approval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Integration patterns  Approvals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LZ build support network &amp; IAM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Process and Integration Scope approved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extLst>
                  <a:ext uri="{0D108BD9-81ED-4DB2-BD59-A6C34878D82A}">
                    <a16:rowId xmlns:a16="http://schemas.microsoft.com/office/drawing/2014/main" val="2873272365"/>
                  </a:ext>
                </a:extLst>
              </a:tr>
              <a:tr h="751829">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200" kern="1200" dirty="0">
                          <a:solidFill>
                            <a:schemeClr val="dk1"/>
                          </a:solidFill>
                        </a:rPr>
                        <a:t>Oracle </a:t>
                      </a:r>
                      <a:endParaRPr lang="en-US" sz="1200" kern="1200" dirty="0">
                        <a:solidFill>
                          <a:schemeClr val="dk1"/>
                        </a:solidFill>
                        <a:latin typeface="+mn-lt"/>
                        <a:ea typeface="+mn-ea"/>
                        <a:cs typeface="+mn-cs"/>
                      </a:endParaRPr>
                    </a:p>
                  </a:txBody>
                  <a:tcPr marL="89089" marR="89089" marT="44544" marB="44544"/>
                </a:tc>
                <a:tc>
                  <a:txBody>
                    <a:bodyPr/>
                    <a:lstStyle/>
                    <a:p>
                      <a:pPr marL="285750" indent="-285750" algn="l">
                        <a:buFont typeface="Arial" panose="020B0604020202020204" pitchFamily="34" charset="0"/>
                        <a:buChar char="•"/>
                      </a:pPr>
                      <a:r>
                        <a:rPr lang="en-US" sz="1000" dirty="0"/>
                        <a:t>Knowledge Session Kickoffs</a:t>
                      </a:r>
                    </a:p>
                  </a:txBody>
                  <a:tcPr/>
                </a:tc>
                <a:tc>
                  <a:txBody>
                    <a:bodyPr/>
                    <a:lstStyle/>
                    <a:p>
                      <a:pPr marL="285750" indent="-285750" algn="l">
                        <a:buFont typeface="Arial" panose="020B0604020202020204" pitchFamily="34" charset="0"/>
                        <a:buChar char="•"/>
                      </a:pPr>
                      <a:r>
                        <a:rPr lang="en-US" sz="1000" kern="1200" dirty="0">
                          <a:solidFill>
                            <a:schemeClr val="dk1"/>
                          </a:solidFill>
                        </a:rPr>
                        <a:t>Foundation workshops complete for Drop 1</a:t>
                      </a:r>
                    </a:p>
                    <a:p>
                      <a:pPr marL="285750" indent="-285750" algn="l">
                        <a:buFont typeface="Arial" panose="020B0604020202020204" pitchFamily="34" charset="0"/>
                        <a:buChar char="•"/>
                      </a:pPr>
                      <a:r>
                        <a:rPr lang="en-US" sz="1000" kern="1200" dirty="0">
                          <a:solidFill>
                            <a:schemeClr val="dk1"/>
                          </a:solidFill>
                        </a:rPr>
                        <a:t>Foundation Design Start</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Oracle Provide Development Environment for MFCS</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Process and Integration Scope completed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Functional specs – Drop 1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extLst>
                  <a:ext uri="{0D108BD9-81ED-4DB2-BD59-A6C34878D82A}">
                    <a16:rowId xmlns:a16="http://schemas.microsoft.com/office/drawing/2014/main" val="2667867902"/>
                  </a:ext>
                </a:extLst>
              </a:tr>
              <a:tr h="751829">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kern="1200" dirty="0">
                          <a:solidFill>
                            <a:schemeClr val="dk1"/>
                          </a:solidFill>
                        </a:rPr>
                        <a:t>Integration Portfolio Governance </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kern="1200" dirty="0">
                          <a:solidFill>
                            <a:schemeClr val="dk1"/>
                          </a:solidFill>
                        </a:rPr>
                        <a:t>(IPG)</a:t>
                      </a:r>
                      <a:endParaRPr lang="en-US" sz="1200" kern="1200" dirty="0">
                        <a:solidFill>
                          <a:schemeClr val="dk1"/>
                        </a:solidFill>
                        <a:latin typeface="+mn-lt"/>
                        <a:ea typeface="+mn-ea"/>
                        <a:cs typeface="+mn-cs"/>
                      </a:endParaRPr>
                    </a:p>
                  </a:txBody>
                  <a:tcPr marL="89089" marR="89089" marT="44544" marB="44544"/>
                </a:tc>
                <a:tc>
                  <a:txBody>
                    <a:bodyPr/>
                    <a:lstStyle/>
                    <a:p>
                      <a:pPr marL="285750" indent="-285750" algn="l">
                        <a:buFont typeface="Arial" panose="020B0604020202020204" pitchFamily="34" charset="0"/>
                        <a:buChar char="•"/>
                      </a:pPr>
                      <a:r>
                        <a:rPr lang="en-US" sz="1000" dirty="0"/>
                        <a:t>ESL Operating Model team Engaged</a:t>
                      </a:r>
                    </a:p>
                    <a:p>
                      <a:pPr marL="285750" indent="-285750" algn="l">
                        <a:buFont typeface="Arial" panose="020B0604020202020204" pitchFamily="34" charset="0"/>
                        <a:buChar char="•"/>
                      </a:pPr>
                      <a:r>
                        <a:rPr lang="en-US" sz="1000" dirty="0"/>
                        <a:t>ESL Standards and Requirements </a:t>
                      </a:r>
                    </a:p>
                    <a:p>
                      <a:pPr marL="285750" indent="-285750" algn="l">
                        <a:buFont typeface="Arial" panose="020B0604020202020204" pitchFamily="34" charset="0"/>
                        <a:buChar char="•"/>
                      </a:pPr>
                      <a:endParaRPr lang="en-US" sz="10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rPr>
                        <a:t>Decision on DevOps Tooling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rPr>
                        <a:t>Integration Patterns Identified for MVP</a:t>
                      </a:r>
                    </a:p>
                    <a:p>
                      <a:pPr marL="285750" indent="-285750" algn="l">
                        <a:buFont typeface="Arial" panose="020B0604020202020204" pitchFamily="34" charset="0"/>
                        <a:buChar cha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MVP impacted Application integration strategy  - DRAFT</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Integration Strategy Approval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extLst>
                  <a:ext uri="{0D108BD9-81ED-4DB2-BD59-A6C34878D82A}">
                    <a16:rowId xmlns:a16="http://schemas.microsoft.com/office/drawing/2014/main" val="1784402483"/>
                  </a:ext>
                </a:extLst>
              </a:tr>
              <a:tr h="483318">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kern="1200" dirty="0">
                          <a:solidFill>
                            <a:schemeClr val="dk1"/>
                          </a:solidFill>
                        </a:rPr>
                        <a:t>Arch Tools and Security (ATS)</a:t>
                      </a:r>
                      <a:endParaRPr lang="en-US" sz="1200" kern="1200" dirty="0">
                        <a:solidFill>
                          <a:schemeClr val="dk1"/>
                        </a:solidFill>
                        <a:latin typeface="+mn-lt"/>
                        <a:ea typeface="+mn-ea"/>
                        <a:cs typeface="+mn-cs"/>
                      </a:endParaRPr>
                    </a:p>
                  </a:txBody>
                  <a:tcPr marL="89089" marR="89089" marT="44544" marB="44544"/>
                </a:tc>
                <a:tc>
                  <a:txBody>
                    <a:bodyPr/>
                    <a:lstStyle/>
                    <a:p>
                      <a:pPr marL="285750" indent="-285750" algn="l">
                        <a:buFont typeface="Arial" panose="020B0604020202020204" pitchFamily="34" charset="0"/>
                        <a:buChar char="•"/>
                      </a:pPr>
                      <a:endParaRPr lang="en-US" sz="10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rPr>
                        <a:t>OIC Coding Starts </a:t>
                      </a:r>
                    </a:p>
                    <a:p>
                      <a:pPr marL="285750" indent="-285750" algn="l">
                        <a:buFont typeface="Arial" panose="020B0604020202020204" pitchFamily="34" charset="0"/>
                        <a:buChar cha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Dev Env. Released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Dev Ops Tools built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Dev Env. Config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Dev Ops Config</a:t>
                      </a:r>
                    </a:p>
                  </a:txBody>
                  <a:tcPr/>
                </a:tc>
                <a:extLst>
                  <a:ext uri="{0D108BD9-81ED-4DB2-BD59-A6C34878D82A}">
                    <a16:rowId xmlns:a16="http://schemas.microsoft.com/office/drawing/2014/main" val="403150222"/>
                  </a:ext>
                </a:extLst>
              </a:tr>
              <a:tr h="523992">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kern="1200" dirty="0">
                          <a:solidFill>
                            <a:schemeClr val="dk1"/>
                          </a:solidFill>
                        </a:rPr>
                        <a:t>Integration Pod </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kern="1200" dirty="0">
                          <a:solidFill>
                            <a:schemeClr val="dk1"/>
                          </a:solidFill>
                        </a:rPr>
                        <a:t>(IPODs)</a:t>
                      </a:r>
                      <a:endParaRPr lang="en-US" sz="1200" kern="1200" dirty="0">
                        <a:solidFill>
                          <a:schemeClr val="dk1"/>
                        </a:solidFill>
                        <a:latin typeface="+mn-lt"/>
                        <a:ea typeface="+mn-ea"/>
                        <a:cs typeface="+mn-cs"/>
                      </a:endParaRPr>
                    </a:p>
                  </a:txBody>
                  <a:tcPr marL="89089" marR="89089" marT="44544" marB="44544"/>
                </a:tc>
                <a:tc>
                  <a:txBody>
                    <a:bodyPr/>
                    <a:lstStyle/>
                    <a:p>
                      <a:pPr marL="285750" indent="-285750" algn="l">
                        <a:buFont typeface="Arial" panose="020B0604020202020204" pitchFamily="34" charset="0"/>
                        <a:buChar char="•"/>
                      </a:pPr>
                      <a:endParaRPr lang="en-US" sz="1000" dirty="0"/>
                    </a:p>
                  </a:txBody>
                  <a:tcPr/>
                </a:tc>
                <a:tc>
                  <a:txBody>
                    <a:bodyPr/>
                    <a:lstStyle/>
                    <a:p>
                      <a:pPr marL="285750" indent="-285750" algn="l">
                        <a:buFont typeface="Arial" panose="020B0604020202020204" pitchFamily="34" charset="0"/>
                        <a:buChar cha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Code Review Checklist Complete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Golden gate – configuration complete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Development Ready to Start</a:t>
                      </a:r>
                    </a:p>
                  </a:txBody>
                  <a:tcPr/>
                </a:tc>
                <a:extLst>
                  <a:ext uri="{0D108BD9-81ED-4DB2-BD59-A6C34878D82A}">
                    <a16:rowId xmlns:a16="http://schemas.microsoft.com/office/drawing/2014/main" val="1339038736"/>
                  </a:ext>
                </a:extLst>
              </a:tr>
            </a:tbl>
          </a:graphicData>
        </a:graphic>
      </p:graphicFrame>
    </p:spTree>
    <p:extLst>
      <p:ext uri="{BB962C8B-B14F-4D97-AF65-F5344CB8AC3E}">
        <p14:creationId xmlns:p14="http://schemas.microsoft.com/office/powerpoint/2010/main" val="172825603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lstStyle/>
          <a:p>
            <a:pPr marL="0" indent="0">
              <a:buNone/>
            </a:pPr>
            <a:r>
              <a:rPr lang="en-US" dirty="0"/>
              <a:t>MVP Timeline</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378693319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lstStyle/>
          <a:p>
            <a:pPr marL="0" indent="0">
              <a:buNone/>
            </a:pPr>
            <a:r>
              <a:rPr lang="en-US" dirty="0"/>
              <a:t>IPG</a:t>
            </a:r>
          </a:p>
          <a:p>
            <a:pPr marL="0" indent="0">
              <a:buNone/>
            </a:pPr>
            <a:endParaRPr lang="en-US" dirty="0"/>
          </a:p>
          <a:p>
            <a:pPr marL="0" indent="0">
              <a:buNone/>
            </a:pPr>
            <a:r>
              <a:rPr lang="en-US" dirty="0"/>
              <a:t>Integration Portfolio Governance</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8605265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141C4C-FE32-4006-BADA-24CFFA578C2C}"/>
              </a:ext>
            </a:extLst>
          </p:cNvPr>
          <p:cNvSpPr>
            <a:spLocks noGrp="1"/>
          </p:cNvSpPr>
          <p:nvPr>
            <p:ph type="body" sz="quarter" idx="10"/>
          </p:nvPr>
        </p:nvSpPr>
        <p:spPr>
          <a:xfrm>
            <a:off x="126998" y="168634"/>
            <a:ext cx="9966960" cy="424732"/>
          </a:xfrm>
        </p:spPr>
        <p:txBody>
          <a:bodyPr vert="horz" lIns="91440" tIns="45720" rIns="91440" bIns="45720" rtlCol="0" anchor="ctr">
            <a:normAutofit fontScale="85000" lnSpcReduction="20000"/>
          </a:bodyPr>
          <a:lstStyle/>
          <a:p>
            <a:pPr>
              <a:spcBef>
                <a:spcPts val="0"/>
              </a:spcBef>
            </a:pPr>
            <a:r>
              <a:rPr lang="en-US" sz="3200" kern="1200" dirty="0">
                <a:solidFill>
                  <a:schemeClr val="tx1"/>
                </a:solidFill>
                <a:latin typeface="+mj-lt"/>
                <a:ea typeface="+mj-ea"/>
                <a:cs typeface="+mj-cs"/>
              </a:rPr>
              <a:t>Initial 4 week Discovery Plan - IPG</a:t>
            </a:r>
          </a:p>
        </p:txBody>
      </p:sp>
      <p:sp>
        <p:nvSpPr>
          <p:cNvPr id="41" name="Tagline">
            <a:extLst>
              <a:ext uri="{FF2B5EF4-FFF2-40B4-BE49-F238E27FC236}">
                <a16:creationId xmlns:a16="http://schemas.microsoft.com/office/drawing/2014/main" id="{4D54039E-4D35-903A-BB96-EA81836D52E4}"/>
              </a:ext>
            </a:extLst>
          </p:cNvPr>
          <p:cNvSpPr txBox="1"/>
          <p:nvPr/>
        </p:nvSpPr>
        <p:spPr>
          <a:xfrm>
            <a:off x="559807" y="806947"/>
            <a:ext cx="11270628" cy="553998"/>
          </a:xfrm>
          <a:prstGeom prst="rect">
            <a:avLst/>
          </a:prstGeom>
          <a:noFill/>
        </p:spPr>
        <p:txBody>
          <a:bodyPr vert="horz" wrap="square" lIns="0" tIns="0" rIns="0" bIns="0" rtlCol="0" anchor="t">
            <a:spAutoFit/>
          </a:bodyPr>
          <a:lstStyle/>
          <a:p>
            <a:pPr>
              <a:defRPr/>
            </a:pPr>
            <a:r>
              <a:rPr kumimoji="0" lang="en-US" b="0" i="0" u="none" strike="noStrike" kern="1200" cap="none" spc="0" normalizeH="0" baseline="0" noProof="0" dirty="0">
                <a:ln>
                  <a:noFill/>
                </a:ln>
                <a:solidFill>
                  <a:srgbClr val="000000"/>
                </a:solidFill>
                <a:effectLst/>
                <a:uLnTx/>
                <a:uFillTx/>
                <a:latin typeface="Futura"/>
                <a:ea typeface="+mn-ea"/>
                <a:cs typeface="Futura" panose="020B0602020204020303"/>
              </a:rPr>
              <a:t>Establish IPG Program Plan, Strategies and Practices, Dev Ops processes and preliminary Integration </a:t>
            </a:r>
            <a:r>
              <a:rPr lang="en-US" dirty="0">
                <a:solidFill>
                  <a:srgbClr val="000000"/>
                </a:solidFill>
                <a:latin typeface="Futura"/>
                <a:cs typeface="Futura" panose="020B0602020204020303"/>
              </a:rPr>
              <a:t>architecture required </a:t>
            </a:r>
            <a:r>
              <a:rPr kumimoji="0" lang="en-US" b="0" i="0" u="none" strike="noStrike" kern="1200" cap="none" spc="0" normalizeH="0" baseline="0" noProof="0" dirty="0">
                <a:ln>
                  <a:noFill/>
                </a:ln>
                <a:solidFill>
                  <a:srgbClr val="000000"/>
                </a:solidFill>
                <a:effectLst/>
                <a:uLnTx/>
                <a:uFillTx/>
                <a:latin typeface="Futura"/>
                <a:ea typeface="+mn-ea"/>
                <a:cs typeface="Futura" panose="020B0602020204020303"/>
              </a:rPr>
              <a:t>to support the Transformation Program for Dollar Tree and kickstart the MVP.</a:t>
            </a:r>
            <a:endParaRPr kumimoji="0" lang="en-US" b="1" i="0" u="none" strike="noStrike" kern="1200" cap="none" spc="0" normalizeH="0" baseline="0" noProof="0" dirty="0">
              <a:ln>
                <a:noFill/>
              </a:ln>
              <a:solidFill>
                <a:srgbClr val="000000"/>
              </a:solidFill>
              <a:effectLst/>
              <a:uLnTx/>
              <a:uFillTx/>
              <a:latin typeface="Futura" panose="020B0602020204020303"/>
              <a:ea typeface="+mn-ea"/>
              <a:cs typeface="+mn-cs"/>
            </a:endParaRPr>
          </a:p>
        </p:txBody>
      </p:sp>
      <p:graphicFrame>
        <p:nvGraphicFramePr>
          <p:cNvPr id="3" name="Table 3">
            <a:extLst>
              <a:ext uri="{FF2B5EF4-FFF2-40B4-BE49-F238E27FC236}">
                <a16:creationId xmlns:a16="http://schemas.microsoft.com/office/drawing/2014/main" id="{FA3D3108-2886-B223-AB59-735746CC7560}"/>
              </a:ext>
            </a:extLst>
          </p:cNvPr>
          <p:cNvGraphicFramePr>
            <a:graphicFrameLocks noGrp="1"/>
          </p:cNvGraphicFramePr>
          <p:nvPr>
            <p:extLst>
              <p:ext uri="{D42A27DB-BD31-4B8C-83A1-F6EECF244321}">
                <p14:modId xmlns:p14="http://schemas.microsoft.com/office/powerpoint/2010/main" val="3229313781"/>
              </p:ext>
            </p:extLst>
          </p:nvPr>
        </p:nvGraphicFramePr>
        <p:xfrm>
          <a:off x="559807" y="1535443"/>
          <a:ext cx="11270628" cy="4666684"/>
        </p:xfrm>
        <a:graphic>
          <a:graphicData uri="http://schemas.openxmlformats.org/drawingml/2006/table">
            <a:tbl>
              <a:tblPr firstRow="1" bandRow="1">
                <a:tableStyleId>{93296810-A885-4BE3-A3E7-6D5BEEA58F35}</a:tableStyleId>
              </a:tblPr>
              <a:tblGrid>
                <a:gridCol w="3756876">
                  <a:extLst>
                    <a:ext uri="{9D8B030D-6E8A-4147-A177-3AD203B41FA5}">
                      <a16:colId xmlns:a16="http://schemas.microsoft.com/office/drawing/2014/main" val="396754977"/>
                    </a:ext>
                  </a:extLst>
                </a:gridCol>
                <a:gridCol w="3756876">
                  <a:extLst>
                    <a:ext uri="{9D8B030D-6E8A-4147-A177-3AD203B41FA5}">
                      <a16:colId xmlns:a16="http://schemas.microsoft.com/office/drawing/2014/main" val="3932474466"/>
                    </a:ext>
                  </a:extLst>
                </a:gridCol>
                <a:gridCol w="3756876">
                  <a:extLst>
                    <a:ext uri="{9D8B030D-6E8A-4147-A177-3AD203B41FA5}">
                      <a16:colId xmlns:a16="http://schemas.microsoft.com/office/drawing/2014/main" val="1889474980"/>
                    </a:ext>
                  </a:extLst>
                </a:gridCol>
              </a:tblGrid>
              <a:tr h="4014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Key Discovery Activities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Dependencies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Deliverables and Decisions</a:t>
                      </a:r>
                    </a:p>
                  </a:txBody>
                  <a:tcPr/>
                </a:tc>
                <a:extLst>
                  <a:ext uri="{0D108BD9-81ED-4DB2-BD59-A6C34878D82A}">
                    <a16:rowId xmlns:a16="http://schemas.microsoft.com/office/drawing/2014/main" val="3664395086"/>
                  </a:ext>
                </a:extLst>
              </a:tr>
              <a:tr h="4265249">
                <a:tc>
                  <a:txBody>
                    <a:bodyPr/>
                    <a:lstStyle/>
                    <a:p>
                      <a:pPr marL="171450" lvl="0" indent="-171450">
                        <a:spcAft>
                          <a:spcPts val="600"/>
                        </a:spcAft>
                        <a:buFont typeface="Arial" panose="020B0604020202020204" pitchFamily="34" charset="0"/>
                        <a:buChar char="•"/>
                        <a:defRPr/>
                      </a:pPr>
                      <a:r>
                        <a:rPr kumimoji="0" lang="en-US" sz="1400" b="0" i="0" u="none" strike="noStrike" kern="0" cap="none" spc="0" normalizeH="0" baseline="0" noProof="0" dirty="0">
                          <a:ln>
                            <a:noFill/>
                          </a:ln>
                          <a:solidFill>
                            <a:srgbClr val="000000"/>
                          </a:solidFill>
                          <a:effectLst/>
                          <a:uLnTx/>
                          <a:uFillTx/>
                          <a:latin typeface="Open Sans"/>
                          <a:ea typeface="+mn-ea"/>
                          <a:cs typeface="+mn-cs"/>
                        </a:rPr>
                        <a:t>W1: Understand timelines of ongoing </a:t>
                      </a:r>
                      <a:r>
                        <a:rPr lang="en-US" sz="1400" kern="0" dirty="0">
                          <a:solidFill>
                            <a:srgbClr val="000000"/>
                          </a:solidFill>
                          <a:latin typeface="Open Sans"/>
                        </a:rPr>
                        <a:t>NextGen initiatives and EA vision of the Transformation Plan and Program Level priorities</a:t>
                      </a:r>
                      <a:endParaRPr kumimoji="0" lang="en-US" sz="1400" b="0" i="0" u="none" strike="noStrike" kern="0" cap="none" spc="0" normalizeH="0" baseline="0" noProof="0" dirty="0">
                        <a:ln>
                          <a:noFill/>
                        </a:ln>
                        <a:solidFill>
                          <a:srgbClr val="000000"/>
                        </a:solidFill>
                        <a:effectLst/>
                        <a:uLnTx/>
                        <a:uFillTx/>
                        <a:latin typeface="Open Sans"/>
                        <a:ea typeface="+mn-ea"/>
                        <a:cs typeface="+mn-cs"/>
                      </a:endParaRPr>
                    </a:p>
                    <a:p>
                      <a:pPr marL="171450" indent="-171450">
                        <a:spcAft>
                          <a:spcPts val="600"/>
                        </a:spcAft>
                        <a:buFont typeface="Arial" panose="020B0604020202020204" pitchFamily="34" charset="0"/>
                        <a:buChar char="•"/>
                        <a:defRPr/>
                      </a:pPr>
                      <a:r>
                        <a:rPr kumimoji="0" lang="en-US" sz="1400" b="0" i="0" u="none" strike="noStrike" kern="0" cap="none" spc="0" normalizeH="0" baseline="0" noProof="0" dirty="0">
                          <a:ln>
                            <a:noFill/>
                          </a:ln>
                          <a:solidFill>
                            <a:srgbClr val="000000"/>
                          </a:solidFill>
                          <a:effectLst/>
                          <a:uLnTx/>
                          <a:uFillTx/>
                          <a:latin typeface="Open Sans"/>
                          <a:ea typeface="+mn-ea"/>
                          <a:cs typeface="+mn-cs"/>
                        </a:rPr>
                        <a:t>W2: Agree requirements for Program CICD process and DevOps tooling for the ESL </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W2: Review Integration Patterns and Draft MVP Application Integration Strategy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400" kern="0" dirty="0">
                          <a:solidFill>
                            <a:srgbClr val="000000"/>
                          </a:solidFill>
                          <a:latin typeface="Open Sans"/>
                        </a:rPr>
                        <a:t>W3: Begin documenting integration landscape and canonical models to support MVP plan</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W1 - 4: Assist in development of integrated MVP Sprint Plan </a:t>
                      </a:r>
                    </a:p>
                    <a:p>
                      <a:endParaRPr lang="en-US" sz="1400" dirty="0"/>
                    </a:p>
                  </a:txBody>
                  <a:tcPr/>
                </a:tc>
                <a:tc>
                  <a:txBody>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Open Sans"/>
                          <a:ea typeface="+mn-ea"/>
                          <a:cs typeface="+mn-cs"/>
                        </a:rPr>
                        <a:t>Scope of MVP Business Processes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Application and Data Scope / Segmentation for MVP</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Drop 1 of Functional Specifications   </a:t>
                      </a:r>
                    </a:p>
                    <a:p>
                      <a:endParaRPr lang="en-US" sz="1400" dirty="0"/>
                    </a:p>
                  </a:txBody>
                  <a:tcPr/>
                </a:tc>
                <a:tc>
                  <a:txBody>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Approved Integration Patterns for MVP Drop 1</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Preliminary Design and Build Sequence for MVP</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Draft Canonical models and Integration Strategy for MVP</a:t>
                      </a:r>
                    </a:p>
                    <a:p>
                      <a:endParaRPr lang="en-US" sz="1400" dirty="0"/>
                    </a:p>
                  </a:txBody>
                  <a:tcPr/>
                </a:tc>
                <a:extLst>
                  <a:ext uri="{0D108BD9-81ED-4DB2-BD59-A6C34878D82A}">
                    <a16:rowId xmlns:a16="http://schemas.microsoft.com/office/drawing/2014/main" val="3856370024"/>
                  </a:ext>
                </a:extLst>
              </a:tr>
            </a:tbl>
          </a:graphicData>
        </a:graphic>
      </p:graphicFrame>
    </p:spTree>
    <p:extLst>
      <p:ext uri="{BB962C8B-B14F-4D97-AF65-F5344CB8AC3E}">
        <p14:creationId xmlns:p14="http://schemas.microsoft.com/office/powerpoint/2010/main" val="2830442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EF053F0D-C564-41C1-8793-AE331A4D022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2" name="Object 11" hidden="1">
                        <a:extLst>
                          <a:ext uri="{FF2B5EF4-FFF2-40B4-BE49-F238E27FC236}">
                            <a16:creationId xmlns:a16="http://schemas.microsoft.com/office/drawing/2014/main" id="{EF053F0D-C564-41C1-8793-AE331A4D022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8" name="Table 8">
            <a:extLst>
              <a:ext uri="{FF2B5EF4-FFF2-40B4-BE49-F238E27FC236}">
                <a16:creationId xmlns:a16="http://schemas.microsoft.com/office/drawing/2014/main" id="{98376A59-1245-4633-9080-708E0F006624}"/>
              </a:ext>
            </a:extLst>
          </p:cNvPr>
          <p:cNvGraphicFramePr>
            <a:graphicFrameLocks noGrp="1"/>
          </p:cNvGraphicFramePr>
          <p:nvPr>
            <p:ph idx="1"/>
            <p:extLst>
              <p:ext uri="{D42A27DB-BD31-4B8C-83A1-F6EECF244321}">
                <p14:modId xmlns:p14="http://schemas.microsoft.com/office/powerpoint/2010/main" val="437871539"/>
              </p:ext>
            </p:extLst>
          </p:nvPr>
        </p:nvGraphicFramePr>
        <p:xfrm>
          <a:off x="477961" y="841168"/>
          <a:ext cx="11236077" cy="5806122"/>
        </p:xfrm>
        <a:graphic>
          <a:graphicData uri="http://schemas.openxmlformats.org/drawingml/2006/table">
            <a:tbl>
              <a:tblPr firstRow="1" bandRow="1">
                <a:tableStyleId>{93296810-A885-4BE3-A3E7-6D5BEEA58F35}</a:tableStyleId>
              </a:tblPr>
              <a:tblGrid>
                <a:gridCol w="535675">
                  <a:extLst>
                    <a:ext uri="{9D8B030D-6E8A-4147-A177-3AD203B41FA5}">
                      <a16:colId xmlns:a16="http://schemas.microsoft.com/office/drawing/2014/main" val="1804304856"/>
                    </a:ext>
                  </a:extLst>
                </a:gridCol>
                <a:gridCol w="2309126">
                  <a:extLst>
                    <a:ext uri="{9D8B030D-6E8A-4147-A177-3AD203B41FA5}">
                      <a16:colId xmlns:a16="http://schemas.microsoft.com/office/drawing/2014/main" val="3487582892"/>
                    </a:ext>
                  </a:extLst>
                </a:gridCol>
                <a:gridCol w="3633746">
                  <a:extLst>
                    <a:ext uri="{9D8B030D-6E8A-4147-A177-3AD203B41FA5}">
                      <a16:colId xmlns:a16="http://schemas.microsoft.com/office/drawing/2014/main" val="4022828597"/>
                    </a:ext>
                  </a:extLst>
                </a:gridCol>
                <a:gridCol w="2084125">
                  <a:extLst>
                    <a:ext uri="{9D8B030D-6E8A-4147-A177-3AD203B41FA5}">
                      <a16:colId xmlns:a16="http://schemas.microsoft.com/office/drawing/2014/main" val="3430374848"/>
                    </a:ext>
                  </a:extLst>
                </a:gridCol>
                <a:gridCol w="1486905">
                  <a:extLst>
                    <a:ext uri="{9D8B030D-6E8A-4147-A177-3AD203B41FA5}">
                      <a16:colId xmlns:a16="http://schemas.microsoft.com/office/drawing/2014/main" val="695367081"/>
                    </a:ext>
                  </a:extLst>
                </a:gridCol>
                <a:gridCol w="1186500">
                  <a:extLst>
                    <a:ext uri="{9D8B030D-6E8A-4147-A177-3AD203B41FA5}">
                      <a16:colId xmlns:a16="http://schemas.microsoft.com/office/drawing/2014/main" val="3926366452"/>
                    </a:ext>
                  </a:extLst>
                </a:gridCol>
              </a:tblGrid>
              <a:tr h="316130">
                <a:tc>
                  <a:txBody>
                    <a:bodyPr/>
                    <a:lstStyle/>
                    <a:p>
                      <a:pPr algn="ctr"/>
                      <a:r>
                        <a:rPr lang="en-US" sz="1400"/>
                        <a:t>WK</a:t>
                      </a:r>
                      <a:endParaRPr lang="en-US" sz="1400" i="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Focus Area</a:t>
                      </a:r>
                      <a:endParaRPr lang="en-US" sz="1400" i="0"/>
                    </a:p>
                  </a:txBody>
                  <a:tcPr anchor="ctr"/>
                </a:tc>
                <a:tc>
                  <a:txBody>
                    <a:bodyPr/>
                    <a:lstStyle/>
                    <a:p>
                      <a:pPr algn="ctr"/>
                      <a:r>
                        <a:rPr lang="en-US" sz="1400" dirty="0"/>
                        <a:t>Expected Outcomes</a:t>
                      </a:r>
                      <a:endParaRPr lang="en-US" sz="1400" i="0" dirty="0"/>
                    </a:p>
                  </a:txBody>
                  <a:tcPr anchor="ctr"/>
                </a:tc>
                <a:tc>
                  <a:txBody>
                    <a:bodyPr/>
                    <a:lstStyle/>
                    <a:p>
                      <a:pPr algn="ctr"/>
                      <a:r>
                        <a:rPr lang="en-US" sz="1400" dirty="0"/>
                        <a:t>Attendees</a:t>
                      </a:r>
                      <a:endParaRPr lang="en-US" sz="1400" i="0" dirty="0"/>
                    </a:p>
                  </a:txBody>
                  <a:tcPr anchor="ctr"/>
                </a:tc>
                <a:tc>
                  <a:txBody>
                    <a:bodyPr/>
                    <a:lstStyle/>
                    <a:p>
                      <a:pPr algn="ctr"/>
                      <a:r>
                        <a:rPr lang="en-US" sz="1400" dirty="0"/>
                        <a:t>Inputs Required</a:t>
                      </a:r>
                      <a:endParaRPr lang="en-US" sz="1400" i="0" dirty="0"/>
                    </a:p>
                  </a:txBody>
                  <a:tcPr anchor="ctr"/>
                </a:tc>
                <a:tc>
                  <a:txBody>
                    <a:bodyPr/>
                    <a:lstStyle/>
                    <a:p>
                      <a:pPr algn="ctr"/>
                      <a:r>
                        <a:rPr lang="en-US" sz="1400"/>
                        <a:t>Est. Duration</a:t>
                      </a:r>
                      <a:endParaRPr lang="en-US" sz="1400" i="0"/>
                    </a:p>
                  </a:txBody>
                  <a:tcPr anchor="ctr"/>
                </a:tc>
                <a:extLst>
                  <a:ext uri="{0D108BD9-81ED-4DB2-BD59-A6C34878D82A}">
                    <a16:rowId xmlns:a16="http://schemas.microsoft.com/office/drawing/2014/main" val="3608970412"/>
                  </a:ext>
                </a:extLst>
              </a:tr>
              <a:tr h="1204585">
                <a:tc>
                  <a:txBody>
                    <a:bodyPr/>
                    <a:lstStyle/>
                    <a:p>
                      <a:pPr algn="ctr"/>
                      <a:r>
                        <a:rPr lang="en-US" sz="1200" b="1" dirty="0"/>
                        <a:t>1</a:t>
                      </a:r>
                    </a:p>
                  </a:txBody>
                  <a:tcPr marL="45720" marR="45720" marT="27432" marB="27432" anchor="ctr"/>
                </a:tc>
                <a:tc>
                  <a:txBody>
                    <a:bodyPr/>
                    <a:lstStyle/>
                    <a:p>
                      <a:pPr algn="ctr"/>
                      <a:r>
                        <a:rPr lang="en-US" sz="1200" b="1" dirty="0"/>
                        <a:t>Knowledge Session:</a:t>
                      </a:r>
                    </a:p>
                    <a:p>
                      <a:pPr algn="ctr"/>
                      <a:r>
                        <a:rPr lang="en-US" sz="1200" b="1" dirty="0"/>
                        <a:t>ESL Operating Model Kickoff</a:t>
                      </a:r>
                      <a:endParaRPr lang="en-US" sz="1200" i="0" dirty="0"/>
                    </a:p>
                  </a:txBody>
                  <a:tcPr marL="45720" marR="45720" marT="27432" marB="27432"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dirty="0"/>
                        <a:t>Introduce ESL Operating Model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Socialize scope of the MVP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Introduce Integration Patterns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High-level ESL Architecture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Establish roles and responsibilities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Establish cadence and ways of working</a:t>
                      </a:r>
                      <a:br>
                        <a:rPr lang="en-US" sz="1200" dirty="0"/>
                      </a:br>
                      <a:endParaRPr lang="en-US" sz="1200" i="0" dirty="0"/>
                    </a:p>
                  </a:txBody>
                  <a:tcPr marL="45720" marR="45720" marT="27432" marB="27432" anchor="ctr"/>
                </a:tc>
                <a:tc>
                  <a:txBody>
                    <a:bodyPr/>
                    <a:lstStyle/>
                    <a:p>
                      <a:pPr marL="171450" indent="-171450">
                        <a:buFont typeface="Arial" panose="020B0604020202020204" pitchFamily="34" charset="0"/>
                        <a:buChar char="•"/>
                      </a:pPr>
                      <a:r>
                        <a:rPr lang="en-US" sz="1200" dirty="0"/>
                        <a:t>Enterprise Architects</a:t>
                      </a:r>
                    </a:p>
                    <a:p>
                      <a:pPr marL="171450" indent="-171450">
                        <a:buFont typeface="Arial" panose="020B0604020202020204" pitchFamily="34" charset="0"/>
                        <a:buChar char="•"/>
                      </a:pPr>
                      <a:r>
                        <a:rPr lang="en-US" sz="1200" dirty="0"/>
                        <a:t>ESL Workstream Leads </a:t>
                      </a:r>
                    </a:p>
                    <a:p>
                      <a:pPr marL="0" indent="0">
                        <a:buFont typeface="Arial" panose="020B0604020202020204" pitchFamily="34" charset="0"/>
                        <a:buNone/>
                      </a:pPr>
                      <a:endParaRPr lang="en-US" sz="1200" dirty="0"/>
                    </a:p>
                  </a:txBody>
                  <a:tcPr marL="45720" marR="45720" marT="27432" marB="27432" anchor="ctr"/>
                </a:tc>
                <a:tc>
                  <a:txBody>
                    <a:bodyPr/>
                    <a:lstStyle/>
                    <a:p>
                      <a:pPr marL="171450" indent="-171450">
                        <a:buFont typeface="Arial" panose="020B0604020202020204" pitchFamily="34" charset="0"/>
                        <a:buChar char="•"/>
                      </a:pPr>
                      <a:r>
                        <a:rPr lang="en-US" sz="1200" dirty="0"/>
                        <a:t>Program Kickoff</a:t>
                      </a:r>
                    </a:p>
                    <a:p>
                      <a:pPr marL="0" indent="0">
                        <a:buFont typeface="Arial" panose="020B0604020202020204" pitchFamily="34" charset="0"/>
                        <a:buNone/>
                      </a:pPr>
                      <a:endParaRPr lang="en-US" sz="1200" dirty="0"/>
                    </a:p>
                  </a:txBody>
                  <a:tcPr marL="45720" marR="45720" marT="27432" marB="27432" anchor="ctr"/>
                </a:tc>
                <a:tc>
                  <a:txBody>
                    <a:bodyPr/>
                    <a:lstStyle/>
                    <a:p>
                      <a:pPr algn="ctr"/>
                      <a:r>
                        <a:rPr lang="en-US" sz="1200" b="1" dirty="0"/>
                        <a:t>2 Hours</a:t>
                      </a:r>
                      <a:endParaRPr lang="en-US" sz="1200" b="1" i="0" dirty="0"/>
                    </a:p>
                  </a:txBody>
                  <a:tcPr marL="45720" marR="45720" marT="27432" marB="27432" anchor="ctr"/>
                </a:tc>
                <a:extLst>
                  <a:ext uri="{0D108BD9-81ED-4DB2-BD59-A6C34878D82A}">
                    <a16:rowId xmlns:a16="http://schemas.microsoft.com/office/drawing/2014/main" val="2843730546"/>
                  </a:ext>
                </a:extLst>
              </a:tr>
              <a:tr h="725533">
                <a:tc>
                  <a:txBody>
                    <a:bodyPr/>
                    <a:lstStyle/>
                    <a:p>
                      <a:pPr algn="ctr"/>
                      <a:r>
                        <a:rPr lang="en-US" sz="1200" b="1" dirty="0"/>
                        <a:t>1</a:t>
                      </a:r>
                      <a:endParaRPr lang="en-US" sz="1200" b="1" i="0" dirty="0"/>
                    </a:p>
                  </a:txBody>
                  <a:tcPr marL="45720" marR="45720" marT="27432" marB="27432" anchor="ctr"/>
                </a:tc>
                <a:tc>
                  <a:txBody>
                    <a:bodyPr/>
                    <a:lstStyle/>
                    <a:p>
                      <a:pPr algn="ctr"/>
                      <a:r>
                        <a:rPr lang="en-US" sz="1200" b="1" dirty="0"/>
                        <a:t>Knowledge Session:</a:t>
                      </a:r>
                    </a:p>
                    <a:p>
                      <a:pPr algn="ctr"/>
                      <a:r>
                        <a:rPr lang="en-US" sz="1200" b="1" dirty="0"/>
                        <a:t>DevOps Process and Toolsets</a:t>
                      </a:r>
                      <a:endParaRPr lang="en-US" sz="1200" dirty="0"/>
                    </a:p>
                  </a:txBody>
                  <a:tcPr marL="45720" marR="45720" marT="27432" marB="27432"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dirty="0"/>
                        <a:t>Present approach to Integration build and configure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dirty="0"/>
                        <a:t>Propose DevOps toolsets and CICD concepts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dirty="0"/>
                        <a:t>Agree Requirments and Design Process</a:t>
                      </a:r>
                    </a:p>
                  </a:txBody>
                  <a:tcPr marL="45720" marR="45720" marT="27432" marB="27432" anchor="ctr"/>
                </a:tc>
                <a:tc>
                  <a:txBody>
                    <a:bodyPr/>
                    <a:lstStyle/>
                    <a:p>
                      <a:pPr marL="171450" indent="-171450">
                        <a:buFont typeface="Arial" panose="020B0604020202020204" pitchFamily="34" charset="0"/>
                        <a:buChar char="•"/>
                      </a:pPr>
                      <a:r>
                        <a:rPr lang="en-US" sz="1200" dirty="0"/>
                        <a:t>Enterprise Architects</a:t>
                      </a:r>
                    </a:p>
                    <a:p>
                      <a:pPr marL="171450" indent="-171450">
                        <a:buFont typeface="Arial" panose="020B0604020202020204" pitchFamily="34" charset="0"/>
                        <a:buChar char="•"/>
                      </a:pPr>
                      <a:r>
                        <a:rPr lang="en-US" sz="1200" dirty="0"/>
                        <a:t>ESL Workstream Leads </a:t>
                      </a:r>
                    </a:p>
                    <a:p>
                      <a:pPr marL="171450" indent="-171450">
                        <a:buFont typeface="Arial" panose="020B0604020202020204" pitchFamily="34" charset="0"/>
                        <a:buChar char="•"/>
                      </a:pPr>
                      <a:r>
                        <a:rPr lang="en-US" sz="1200" dirty="0"/>
                        <a:t>Future State Leads</a:t>
                      </a:r>
                    </a:p>
                    <a:p>
                      <a:pPr marL="171450" indent="-171450">
                        <a:buFont typeface="Arial" panose="020B0604020202020204" pitchFamily="34" charset="0"/>
                        <a:buChar char="•"/>
                      </a:pPr>
                      <a:r>
                        <a:rPr lang="en-US" sz="1200" dirty="0"/>
                        <a:t>Legacy Owners</a:t>
                      </a:r>
                    </a:p>
                  </a:txBody>
                  <a:tcPr marL="45720" marR="45720" marT="27432" marB="27432"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lang="en-US" sz="1200" i="0" dirty="0"/>
                    </a:p>
                  </a:txBody>
                  <a:tcPr marL="45720" marR="45720" marT="27432" marB="27432" anchor="ctr"/>
                </a:tc>
                <a:tc>
                  <a:txBody>
                    <a:bodyPr/>
                    <a:lstStyle/>
                    <a:p>
                      <a:pPr algn="ctr"/>
                      <a:r>
                        <a:rPr lang="en-US" sz="1200" b="1" i="0" dirty="0"/>
                        <a:t>2 Hour</a:t>
                      </a:r>
                    </a:p>
                  </a:txBody>
                  <a:tcPr marL="45720" marR="45720" marT="27432" marB="27432" anchor="ctr"/>
                </a:tc>
                <a:extLst>
                  <a:ext uri="{0D108BD9-81ED-4DB2-BD59-A6C34878D82A}">
                    <a16:rowId xmlns:a16="http://schemas.microsoft.com/office/drawing/2014/main" val="1046502614"/>
                  </a:ext>
                </a:extLst>
              </a:tr>
              <a:tr h="887777">
                <a:tc>
                  <a:txBody>
                    <a:bodyPr/>
                    <a:lstStyle/>
                    <a:p>
                      <a:pPr algn="ctr"/>
                      <a:r>
                        <a:rPr lang="en-US" sz="1200" b="1" i="0" dirty="0"/>
                        <a:t>1 - 4</a:t>
                      </a:r>
                    </a:p>
                  </a:txBody>
                  <a:tcPr marL="45720" marR="45720" marT="27432" marB="27432" anchor="ctr"/>
                </a:tc>
                <a:tc>
                  <a:txBody>
                    <a:bodyPr/>
                    <a:lstStyle/>
                    <a:p>
                      <a:pPr algn="ctr"/>
                      <a:r>
                        <a:rPr lang="en-US" sz="1200" b="1" dirty="0"/>
                        <a:t>Working Sessions: </a:t>
                      </a:r>
                    </a:p>
                    <a:p>
                      <a:pPr algn="ctr"/>
                      <a:r>
                        <a:rPr lang="en-US" sz="1200" b="0" dirty="0"/>
                        <a:t>Integration Discovery </a:t>
                      </a:r>
                      <a:endParaRPr lang="en-US" sz="1200" b="0" i="0" dirty="0"/>
                    </a:p>
                  </a:txBody>
                  <a:tcPr marL="45720" marR="45720" marT="27432" marB="27432" anchor="ctr"/>
                </a:tc>
                <a:tc>
                  <a:txBody>
                    <a:bodyPr/>
                    <a:lstStyle/>
                    <a:p>
                      <a:pPr marL="285750" indent="-285750">
                        <a:buFont typeface="Arial" panose="020B0604020202020204" pitchFamily="34" charset="0"/>
                        <a:buChar char="•"/>
                      </a:pPr>
                      <a:r>
                        <a:rPr lang="en-US" sz="1200" dirty="0"/>
                        <a:t>ESL specific strategy sessions aligned to discovery schedule</a:t>
                      </a:r>
                    </a:p>
                    <a:p>
                      <a:pPr marL="285750" indent="-285750">
                        <a:buFont typeface="Arial" panose="020B0604020202020204" pitchFamily="34" charset="0"/>
                        <a:buChar char="•"/>
                      </a:pPr>
                      <a:r>
                        <a:rPr lang="en-US" sz="1200" dirty="0"/>
                        <a:t>Formulate conceptual Data Models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Develop Integration Strategy</a:t>
                      </a:r>
                    </a:p>
                  </a:txBody>
                  <a:tcPr marL="45720" marR="45720" marT="27432" marB="27432"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Enterprise Architects</a:t>
                      </a:r>
                    </a:p>
                    <a:p>
                      <a:pPr marL="171450" indent="-171450">
                        <a:buFont typeface="Arial" panose="020B0604020202020204" pitchFamily="34" charset="0"/>
                        <a:buChar char="•"/>
                      </a:pPr>
                      <a:endParaRPr lang="en-US" sz="1200" i="0" dirty="0"/>
                    </a:p>
                  </a:txBody>
                  <a:tcPr marL="45720" marR="45720" marT="27432" marB="27432" anchor="ctr"/>
                </a:tc>
                <a:tc>
                  <a:txBody>
                    <a:bodyPr/>
                    <a:lstStyle/>
                    <a:p>
                      <a:pPr marL="171450" indent="-171450">
                        <a:buFont typeface="Arial" panose="020B0604020202020204" pitchFamily="34" charset="0"/>
                        <a:buChar char="•"/>
                      </a:pPr>
                      <a:r>
                        <a:rPr lang="en-US" sz="1200" i="0" dirty="0"/>
                        <a:t>Discovery Sessions</a:t>
                      </a:r>
                    </a:p>
                    <a:p>
                      <a:pPr marL="171450" indent="-171450">
                        <a:buFont typeface="Arial" panose="020B0604020202020204" pitchFamily="34" charset="0"/>
                        <a:buChar char="•"/>
                      </a:pPr>
                      <a:r>
                        <a:rPr lang="en-US" sz="1200" i="0" dirty="0"/>
                        <a:t>Legacy </a:t>
                      </a:r>
                    </a:p>
                  </a:txBody>
                  <a:tcPr marL="45720" marR="45720" marT="27432" marB="2743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t>Periodic to align with overall Discovery Workshops</a:t>
                      </a:r>
                    </a:p>
                  </a:txBody>
                  <a:tcPr marL="45720" marR="45720" marT="27432" marB="27432" anchor="ctr"/>
                </a:tc>
                <a:extLst>
                  <a:ext uri="{0D108BD9-81ED-4DB2-BD59-A6C34878D82A}">
                    <a16:rowId xmlns:a16="http://schemas.microsoft.com/office/drawing/2014/main" val="2836545424"/>
                  </a:ext>
                </a:extLst>
              </a:tr>
              <a:tr h="1232107">
                <a:tc>
                  <a:txBody>
                    <a:bodyPr/>
                    <a:lstStyle/>
                    <a:p>
                      <a:pPr algn="ctr"/>
                      <a:r>
                        <a:rPr lang="en-US" sz="1200" b="1" i="0" dirty="0"/>
                        <a:t>4</a:t>
                      </a:r>
                    </a:p>
                  </a:txBody>
                  <a:tcPr marL="45720" marR="45720" marT="27432" marB="27432" anchor="ctr"/>
                </a:tc>
                <a:tc>
                  <a:txBody>
                    <a:bodyPr/>
                    <a:lstStyle/>
                    <a:p>
                      <a:pPr algn="ctr"/>
                      <a:r>
                        <a:rPr lang="en-US" sz="1200" b="1" dirty="0"/>
                        <a:t>Approval Session: </a:t>
                      </a:r>
                    </a:p>
                    <a:p>
                      <a:pPr algn="ctr"/>
                      <a:r>
                        <a:rPr lang="en-US" sz="1200" b="0" dirty="0"/>
                        <a:t>MVP Integration Strategy</a:t>
                      </a:r>
                    </a:p>
                  </a:txBody>
                  <a:tcPr marL="45720" marR="45720" marT="27432" marB="27432" anchor="ctr"/>
                </a:tc>
                <a:tc>
                  <a:txBody>
                    <a:bodyPr/>
                    <a:lstStyle/>
                    <a:p>
                      <a:pPr marL="285750" indent="-285750">
                        <a:buFont typeface="Arial" panose="020B0604020202020204" pitchFamily="34" charset="0"/>
                        <a:buChar char="•"/>
                      </a:pPr>
                      <a:r>
                        <a:rPr lang="en-US" sz="1200" dirty="0"/>
                        <a:t>Agreed Integration strategy and patterns</a:t>
                      </a:r>
                    </a:p>
                    <a:p>
                      <a:pPr marL="285750" indent="-285750">
                        <a:buFont typeface="Arial" panose="020B0604020202020204" pitchFamily="34" charset="0"/>
                        <a:buChar char="•"/>
                      </a:pPr>
                      <a:r>
                        <a:rPr lang="en-US" sz="1200" dirty="0"/>
                        <a:t>Preliminary Data Models</a:t>
                      </a:r>
                    </a:p>
                    <a:p>
                      <a:pPr marL="285750" indent="-285750">
                        <a:buFont typeface="Arial" panose="020B0604020202020204" pitchFamily="34" charset="0"/>
                        <a:buChar char="•"/>
                      </a:pPr>
                      <a:r>
                        <a:rPr lang="en-US" sz="1200" dirty="0"/>
                        <a:t>MVP Integration Landscape</a:t>
                      </a:r>
                    </a:p>
                    <a:p>
                      <a:pPr marL="285750" indent="-285750">
                        <a:buFont typeface="Arial" panose="020B0604020202020204" pitchFamily="34" charset="0"/>
                        <a:buChar char="•"/>
                      </a:pPr>
                      <a:r>
                        <a:rPr lang="en-US" sz="1200" dirty="0"/>
                        <a:t>Sprint Sequencing</a:t>
                      </a:r>
                    </a:p>
                    <a:p>
                      <a:pPr marL="285750" indent="-285750">
                        <a:buFont typeface="Arial" panose="020B0604020202020204" pitchFamily="34" charset="0"/>
                        <a:buChar char="•"/>
                      </a:pPr>
                      <a:r>
                        <a:rPr lang="en-US" sz="1200" dirty="0"/>
                        <a:t>Release and Capacity Plans</a:t>
                      </a:r>
                    </a:p>
                  </a:txBody>
                  <a:tcPr marL="45720" marR="45720" marT="27432" marB="27432" anchor="ctr"/>
                </a:tc>
                <a:tc>
                  <a:txBody>
                    <a:bodyPr/>
                    <a:lstStyle/>
                    <a:p>
                      <a:pPr marL="171450" indent="-171450">
                        <a:buFont typeface="Arial" panose="020B0604020202020204" pitchFamily="34" charset="0"/>
                        <a:buChar char="•"/>
                      </a:pPr>
                      <a:r>
                        <a:rPr lang="en-US" sz="1200" dirty="0"/>
                        <a:t>Enterprise Architects</a:t>
                      </a:r>
                    </a:p>
                    <a:p>
                      <a:pPr marL="171450" indent="-171450">
                        <a:buFont typeface="Arial" panose="020B0604020202020204" pitchFamily="34" charset="0"/>
                        <a:buChar char="•"/>
                      </a:pPr>
                      <a:r>
                        <a:rPr lang="en-US" sz="1200" dirty="0"/>
                        <a:t>ESL Workstream Leads </a:t>
                      </a:r>
                    </a:p>
                    <a:p>
                      <a:pPr marL="171450" indent="-171450">
                        <a:buFont typeface="Arial" panose="020B0604020202020204" pitchFamily="34" charset="0"/>
                        <a:buChar char="•"/>
                      </a:pPr>
                      <a:r>
                        <a:rPr lang="en-US" sz="1200" dirty="0"/>
                        <a:t>Future State Leads</a:t>
                      </a:r>
                    </a:p>
                    <a:p>
                      <a:pPr marL="171450" indent="-171450">
                        <a:buFont typeface="Arial" panose="020B0604020202020204" pitchFamily="34" charset="0"/>
                        <a:buChar char="•"/>
                      </a:pPr>
                      <a:r>
                        <a:rPr lang="en-US" sz="1200" dirty="0"/>
                        <a:t>Legacy Owners</a:t>
                      </a:r>
                    </a:p>
                    <a:p>
                      <a:pPr marL="171450" indent="-171450">
                        <a:buFont typeface="Arial" panose="020B0604020202020204" pitchFamily="34" charset="0"/>
                        <a:buChar char="•"/>
                      </a:pPr>
                      <a:endParaRPr lang="en-US" sz="1200" i="0" dirty="0"/>
                    </a:p>
                  </a:txBody>
                  <a:tcPr marL="45720" marR="45720" marT="27432" marB="27432" anchor="ctr"/>
                </a:tc>
                <a:tc>
                  <a:txBody>
                    <a:bodyPr/>
                    <a:lstStyle/>
                    <a:p>
                      <a:pPr marL="171450" indent="-171450">
                        <a:buFont typeface="Arial" panose="020B0604020202020204" pitchFamily="34" charset="0"/>
                        <a:buChar char="•"/>
                      </a:pPr>
                      <a:r>
                        <a:rPr lang="en-US" sz="1200" i="0" dirty="0"/>
                        <a:t>Approved DevOps Process</a:t>
                      </a:r>
                    </a:p>
                    <a:p>
                      <a:pPr marL="171450" indent="-171450">
                        <a:buFont typeface="Arial" panose="020B0604020202020204" pitchFamily="34" charset="0"/>
                        <a:buChar char="•"/>
                      </a:pPr>
                      <a:r>
                        <a:rPr lang="en-US" sz="1200" i="0" dirty="0"/>
                        <a:t>Partner resourcing and capacity plans</a:t>
                      </a:r>
                    </a:p>
                    <a:p>
                      <a:pPr marL="171450" indent="-171450">
                        <a:buFont typeface="Arial" panose="020B0604020202020204" pitchFamily="34" charset="0"/>
                        <a:buChar char="•"/>
                      </a:pPr>
                      <a:endParaRPr lang="en-US" sz="1200" i="0" dirty="0"/>
                    </a:p>
                  </a:txBody>
                  <a:tcPr marL="45720" marR="45720" marT="27432" marB="2743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t>2 Hours</a:t>
                      </a:r>
                    </a:p>
                  </a:txBody>
                  <a:tcPr marL="45720" marR="45720" marT="27432" marB="27432" anchor="ctr"/>
                </a:tc>
                <a:extLst>
                  <a:ext uri="{0D108BD9-81ED-4DB2-BD59-A6C34878D82A}">
                    <a16:rowId xmlns:a16="http://schemas.microsoft.com/office/drawing/2014/main" val="302023635"/>
                  </a:ext>
                </a:extLst>
              </a:tr>
              <a:tr h="1248700">
                <a:tc>
                  <a:txBody>
                    <a:bodyPr/>
                    <a:lstStyle/>
                    <a:p>
                      <a:pPr algn="ctr"/>
                      <a:r>
                        <a:rPr lang="en-US" sz="1200" b="1" i="0" dirty="0"/>
                        <a:t>5</a:t>
                      </a:r>
                    </a:p>
                  </a:txBody>
                  <a:tcPr marL="45720" marR="45720" marT="27432" marB="27432" anchor="ctr"/>
                </a:tc>
                <a:tc>
                  <a:txBody>
                    <a:bodyPr/>
                    <a:lstStyle/>
                    <a:p>
                      <a:pPr algn="ctr"/>
                      <a:r>
                        <a:rPr lang="en-US" sz="1200" b="1" dirty="0"/>
                        <a:t>Governance:</a:t>
                      </a:r>
                    </a:p>
                    <a:p>
                      <a:pPr algn="ctr"/>
                      <a:r>
                        <a:rPr lang="en-US" sz="1200" b="0" dirty="0"/>
                        <a:t>MVP Drop 1 Design Approval</a:t>
                      </a:r>
                    </a:p>
                  </a:txBody>
                  <a:tcPr marL="45720" marR="45720" marT="27432" marB="27432" anchor="ctr"/>
                </a:tc>
                <a:tc>
                  <a:txBody>
                    <a:bodyPr/>
                    <a:lstStyle/>
                    <a:p>
                      <a:pPr marL="285750" indent="-285750">
                        <a:buFont typeface="Arial" panose="020B0604020202020204" pitchFamily="34" charset="0"/>
                        <a:buChar char="•"/>
                      </a:pPr>
                      <a:r>
                        <a:rPr lang="en-US" sz="1200" dirty="0"/>
                        <a:t>Approve scope and approach for Sprint 1 functional specifications</a:t>
                      </a:r>
                    </a:p>
                  </a:txBody>
                  <a:tcPr marL="45720" marR="45720" marT="27432" marB="27432" anchor="ctr"/>
                </a:tc>
                <a:tc>
                  <a:txBody>
                    <a:bodyPr/>
                    <a:lstStyle/>
                    <a:p>
                      <a:pPr marL="171450" indent="-171450">
                        <a:buFont typeface="Arial" panose="020B0604020202020204" pitchFamily="34" charset="0"/>
                        <a:buChar char="•"/>
                      </a:pPr>
                      <a:r>
                        <a:rPr lang="en-US" sz="1200" i="0" dirty="0"/>
                        <a:t>To be agreed</a:t>
                      </a:r>
                    </a:p>
                  </a:txBody>
                  <a:tcPr marL="45720" marR="45720" marT="27432" marB="27432" anchor="ctr"/>
                </a:tc>
                <a:tc>
                  <a:txBody>
                    <a:bodyPr/>
                    <a:lstStyle/>
                    <a:p>
                      <a:pPr marL="171450" indent="-171450">
                        <a:buFont typeface="Arial" panose="020B0604020202020204" pitchFamily="34" charset="0"/>
                        <a:buChar char="•"/>
                      </a:pPr>
                      <a:r>
                        <a:rPr lang="en-US" sz="1200" i="0" dirty="0"/>
                        <a:t>Approved Integration strategy</a:t>
                      </a:r>
                    </a:p>
                    <a:p>
                      <a:pPr marL="171450" indent="-171450">
                        <a:buFont typeface="Arial" panose="020B0604020202020204" pitchFamily="34" charset="0"/>
                        <a:buChar char="•"/>
                      </a:pPr>
                      <a:r>
                        <a:rPr lang="en-US" sz="1200" i="0" dirty="0"/>
                        <a:t>Drop 1 Functional Specifications</a:t>
                      </a:r>
                    </a:p>
                    <a:p>
                      <a:pPr marL="171450" indent="-171450">
                        <a:buFont typeface="Arial" panose="020B0604020202020204" pitchFamily="34" charset="0"/>
                        <a:buChar char="•"/>
                      </a:pPr>
                      <a:r>
                        <a:rPr lang="en-US" sz="1200" i="0" dirty="0"/>
                        <a:t>Infrastructure in place</a:t>
                      </a:r>
                    </a:p>
                  </a:txBody>
                  <a:tcPr marL="45720" marR="45720" marT="27432" marB="2743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t>4 hours</a:t>
                      </a:r>
                    </a:p>
                  </a:txBody>
                  <a:tcPr marL="45720" marR="45720" marT="27432" marB="27432" anchor="ctr"/>
                </a:tc>
                <a:extLst>
                  <a:ext uri="{0D108BD9-81ED-4DB2-BD59-A6C34878D82A}">
                    <a16:rowId xmlns:a16="http://schemas.microsoft.com/office/drawing/2014/main" val="3590205484"/>
                  </a:ext>
                </a:extLst>
              </a:tr>
            </a:tbl>
          </a:graphicData>
        </a:graphic>
      </p:graphicFrame>
      <p:sp>
        <p:nvSpPr>
          <p:cNvPr id="15" name="Title 1">
            <a:extLst>
              <a:ext uri="{FF2B5EF4-FFF2-40B4-BE49-F238E27FC236}">
                <a16:creationId xmlns:a16="http://schemas.microsoft.com/office/drawing/2014/main" id="{B5B76825-3536-4664-B4D3-189EA219EA1B}"/>
              </a:ext>
            </a:extLst>
          </p:cNvPr>
          <p:cNvSpPr txBox="1">
            <a:spLocks/>
          </p:cNvSpPr>
          <p:nvPr/>
        </p:nvSpPr>
        <p:spPr>
          <a:xfrm>
            <a:off x="516836" y="353568"/>
            <a:ext cx="11236076" cy="4876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sz="2400" dirty="0"/>
              <a:t>IPG MVP Kickoff Sessions</a:t>
            </a:r>
          </a:p>
        </p:txBody>
      </p:sp>
    </p:spTree>
    <p:extLst>
      <p:ext uri="{BB962C8B-B14F-4D97-AF65-F5344CB8AC3E}">
        <p14:creationId xmlns:p14="http://schemas.microsoft.com/office/powerpoint/2010/main" val="24530851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normAutofit/>
          </a:bodyPr>
          <a:lstStyle/>
          <a:p>
            <a:pPr marL="0" indent="0">
              <a:buNone/>
            </a:pPr>
            <a:r>
              <a:rPr lang="en-US" dirty="0"/>
              <a:t>ATS</a:t>
            </a:r>
          </a:p>
          <a:p>
            <a:pPr marL="0" indent="0">
              <a:buNone/>
            </a:pPr>
            <a:endParaRPr lang="en-US" dirty="0"/>
          </a:p>
          <a:p>
            <a:pPr marL="0" indent="0">
              <a:buNone/>
            </a:pPr>
            <a:r>
              <a:rPr lang="en-US" dirty="0"/>
              <a:t>Architecture Tools &amp; Security</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400197832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141C4C-FE32-4006-BADA-24CFFA578C2C}"/>
              </a:ext>
            </a:extLst>
          </p:cNvPr>
          <p:cNvSpPr>
            <a:spLocks noGrp="1"/>
          </p:cNvSpPr>
          <p:nvPr>
            <p:ph type="body" sz="quarter" idx="10"/>
          </p:nvPr>
        </p:nvSpPr>
        <p:spPr>
          <a:xfrm>
            <a:off x="126998" y="168634"/>
            <a:ext cx="9966960" cy="424732"/>
          </a:xfrm>
        </p:spPr>
        <p:txBody>
          <a:bodyPr vert="horz" lIns="91440" tIns="45720" rIns="91440" bIns="45720" rtlCol="0" anchor="ctr">
            <a:normAutofit fontScale="85000" lnSpcReduction="20000"/>
          </a:bodyPr>
          <a:lstStyle/>
          <a:p>
            <a:pPr>
              <a:spcBef>
                <a:spcPts val="0"/>
              </a:spcBef>
            </a:pPr>
            <a:r>
              <a:rPr lang="en-US" sz="3200" kern="1200" dirty="0">
                <a:solidFill>
                  <a:schemeClr val="tx1"/>
                </a:solidFill>
                <a:latin typeface="+mj-lt"/>
                <a:ea typeface="+mj-ea"/>
                <a:cs typeface="+mj-cs"/>
              </a:rPr>
              <a:t>Initial 4 week Discovery Plan - IPG</a:t>
            </a:r>
          </a:p>
        </p:txBody>
      </p:sp>
      <p:sp>
        <p:nvSpPr>
          <p:cNvPr id="41" name="Tagline">
            <a:extLst>
              <a:ext uri="{FF2B5EF4-FFF2-40B4-BE49-F238E27FC236}">
                <a16:creationId xmlns:a16="http://schemas.microsoft.com/office/drawing/2014/main" id="{4D54039E-4D35-903A-BB96-EA81836D52E4}"/>
              </a:ext>
            </a:extLst>
          </p:cNvPr>
          <p:cNvSpPr txBox="1"/>
          <p:nvPr/>
        </p:nvSpPr>
        <p:spPr>
          <a:xfrm>
            <a:off x="251684" y="655873"/>
            <a:ext cx="11578751" cy="369332"/>
          </a:xfrm>
          <a:prstGeom prst="rect">
            <a:avLst/>
          </a:prstGeom>
          <a:noFill/>
        </p:spPr>
        <p:txBody>
          <a:bodyPr vert="horz" wrap="square" lIns="0" tIns="0" rIns="0" bIns="0" rtlCol="0" anchor="t">
            <a:spAutoFit/>
          </a:bodyPr>
          <a:lstStyle/>
          <a:p>
            <a:pPr>
              <a:defRPr/>
            </a:pPr>
            <a:r>
              <a:rPr kumimoji="0" lang="en-US" sz="1200" b="0" i="0" u="none" strike="noStrike" kern="1200" cap="none" spc="0" normalizeH="0" baseline="0" noProof="0" dirty="0">
                <a:ln>
                  <a:noFill/>
                </a:ln>
                <a:solidFill>
                  <a:srgbClr val="000000"/>
                </a:solidFill>
                <a:effectLst/>
                <a:uLnTx/>
                <a:uFillTx/>
                <a:latin typeface="Futura"/>
                <a:ea typeface="+mn-ea"/>
                <a:cs typeface="Futura" panose="020B0602020204020303"/>
              </a:rPr>
              <a:t>Establish IPG Program Plan, Strategies and Practices, Dev Ops processes and preliminary Integration </a:t>
            </a:r>
            <a:r>
              <a:rPr lang="en-US" sz="1200" dirty="0">
                <a:solidFill>
                  <a:srgbClr val="000000"/>
                </a:solidFill>
                <a:latin typeface="Futura"/>
                <a:cs typeface="Futura" panose="020B0602020204020303"/>
              </a:rPr>
              <a:t>architecture required </a:t>
            </a:r>
            <a:r>
              <a:rPr kumimoji="0" lang="en-US" sz="1200" b="0" i="0" u="none" strike="noStrike" kern="1200" cap="none" spc="0" normalizeH="0" baseline="0" noProof="0" dirty="0">
                <a:ln>
                  <a:noFill/>
                </a:ln>
                <a:solidFill>
                  <a:srgbClr val="000000"/>
                </a:solidFill>
                <a:effectLst/>
                <a:uLnTx/>
                <a:uFillTx/>
                <a:latin typeface="Futura"/>
                <a:ea typeface="+mn-ea"/>
                <a:cs typeface="Futura" panose="020B0602020204020303"/>
              </a:rPr>
              <a:t>to support the Transformation Program for Dollar Tree.</a:t>
            </a:r>
            <a:endParaRPr kumimoji="0" lang="en-US" sz="1200" b="1" i="0" u="none" strike="noStrike" kern="1200" cap="none" spc="0" normalizeH="0" baseline="0" noProof="0" dirty="0">
              <a:ln>
                <a:noFill/>
              </a:ln>
              <a:solidFill>
                <a:srgbClr val="000000"/>
              </a:solidFill>
              <a:effectLst/>
              <a:uLnTx/>
              <a:uFillTx/>
              <a:latin typeface="Futura" panose="020B0602020204020303"/>
              <a:ea typeface="+mn-ea"/>
              <a:cs typeface="+mn-cs"/>
            </a:endParaRPr>
          </a:p>
        </p:txBody>
      </p:sp>
      <p:graphicFrame>
        <p:nvGraphicFramePr>
          <p:cNvPr id="3" name="Table 3">
            <a:extLst>
              <a:ext uri="{FF2B5EF4-FFF2-40B4-BE49-F238E27FC236}">
                <a16:creationId xmlns:a16="http://schemas.microsoft.com/office/drawing/2014/main" id="{FA3D3108-2886-B223-AB59-735746CC7560}"/>
              </a:ext>
            </a:extLst>
          </p:cNvPr>
          <p:cNvGraphicFramePr>
            <a:graphicFrameLocks noGrp="1"/>
          </p:cNvGraphicFramePr>
          <p:nvPr/>
        </p:nvGraphicFramePr>
        <p:xfrm>
          <a:off x="490896" y="1257038"/>
          <a:ext cx="11270628" cy="4541520"/>
        </p:xfrm>
        <a:graphic>
          <a:graphicData uri="http://schemas.openxmlformats.org/drawingml/2006/table">
            <a:tbl>
              <a:tblPr firstRow="1" bandRow="1">
                <a:tableStyleId>{93296810-A885-4BE3-A3E7-6D5BEEA58F35}</a:tableStyleId>
              </a:tblPr>
              <a:tblGrid>
                <a:gridCol w="3756876">
                  <a:extLst>
                    <a:ext uri="{9D8B030D-6E8A-4147-A177-3AD203B41FA5}">
                      <a16:colId xmlns:a16="http://schemas.microsoft.com/office/drawing/2014/main" val="396754977"/>
                    </a:ext>
                  </a:extLst>
                </a:gridCol>
                <a:gridCol w="3756876">
                  <a:extLst>
                    <a:ext uri="{9D8B030D-6E8A-4147-A177-3AD203B41FA5}">
                      <a16:colId xmlns:a16="http://schemas.microsoft.com/office/drawing/2014/main" val="3932474466"/>
                    </a:ext>
                  </a:extLst>
                </a:gridCol>
                <a:gridCol w="3756876">
                  <a:extLst>
                    <a:ext uri="{9D8B030D-6E8A-4147-A177-3AD203B41FA5}">
                      <a16:colId xmlns:a16="http://schemas.microsoft.com/office/drawing/2014/main" val="1889474980"/>
                    </a:ext>
                  </a:extLst>
                </a:gridCol>
              </a:tblGrid>
              <a:tr h="2635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Key Discovery Activities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Dependencies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Deliverables and Decisions</a:t>
                      </a:r>
                    </a:p>
                  </a:txBody>
                  <a:tcPr/>
                </a:tc>
                <a:extLst>
                  <a:ext uri="{0D108BD9-81ED-4DB2-BD59-A6C34878D82A}">
                    <a16:rowId xmlns:a16="http://schemas.microsoft.com/office/drawing/2014/main" val="3664395086"/>
                  </a:ext>
                </a:extLst>
              </a:tr>
              <a:tr h="370840">
                <a:tc>
                  <a:txBody>
                    <a:bodyPr/>
                    <a:lstStyle/>
                    <a:p>
                      <a:pPr marL="171450" lvl="0" indent="-171450">
                        <a:spcAft>
                          <a:spcPts val="600"/>
                        </a:spcAft>
                        <a:buFont typeface="Arial" panose="020B0604020202020204" pitchFamily="34" charset="0"/>
                        <a:buChar char="•"/>
                        <a:defRPr/>
                      </a:pPr>
                      <a:r>
                        <a:rPr kumimoji="0" lang="en-US" sz="1400" b="0" i="0" u="none" strike="noStrike" kern="0" cap="none" spc="0" normalizeH="0" baseline="0" noProof="0" dirty="0">
                          <a:ln>
                            <a:noFill/>
                          </a:ln>
                          <a:solidFill>
                            <a:srgbClr val="000000"/>
                          </a:solidFill>
                          <a:effectLst/>
                          <a:uLnTx/>
                          <a:uFillTx/>
                          <a:latin typeface="Open Sans"/>
                          <a:ea typeface="+mn-ea"/>
                          <a:cs typeface="+mn-cs"/>
                        </a:rPr>
                        <a:t>W1: Understand timelines of ongoing </a:t>
                      </a:r>
                      <a:r>
                        <a:rPr lang="en-US" sz="1400" kern="0" dirty="0">
                          <a:solidFill>
                            <a:srgbClr val="000000"/>
                          </a:solidFill>
                          <a:latin typeface="Open Sans"/>
                        </a:rPr>
                        <a:t>NextGen initiatives and EA vision of the Transformation Plan and Program Level priorities</a:t>
                      </a:r>
                      <a:endParaRPr kumimoji="0" lang="en-US" sz="1400" b="0" i="0" u="none" strike="noStrike" kern="0" cap="none" spc="0" normalizeH="0" baseline="0" noProof="0" dirty="0">
                        <a:ln>
                          <a:noFill/>
                        </a:ln>
                        <a:solidFill>
                          <a:srgbClr val="000000"/>
                        </a:solidFill>
                        <a:effectLst/>
                        <a:uLnTx/>
                        <a:uFillTx/>
                        <a:latin typeface="Open Sans"/>
                        <a:ea typeface="+mn-ea"/>
                        <a:cs typeface="+mn-cs"/>
                      </a:endParaRPr>
                    </a:p>
                    <a:p>
                      <a:pPr marL="171450" indent="-171450">
                        <a:spcAft>
                          <a:spcPts val="600"/>
                        </a:spcAft>
                        <a:buFont typeface="Arial" panose="020B0604020202020204" pitchFamily="34" charset="0"/>
                        <a:buChar char="•"/>
                        <a:defRPr/>
                      </a:pPr>
                      <a:r>
                        <a:rPr kumimoji="0" lang="en-US" sz="1400" b="0" i="0" u="none" strike="noStrike" kern="0" cap="none" spc="0" normalizeH="0" baseline="0" noProof="0" dirty="0">
                          <a:ln>
                            <a:noFill/>
                          </a:ln>
                          <a:solidFill>
                            <a:srgbClr val="000000"/>
                          </a:solidFill>
                          <a:effectLst/>
                          <a:uLnTx/>
                          <a:uFillTx/>
                          <a:latin typeface="Open Sans"/>
                          <a:ea typeface="+mn-ea"/>
                          <a:cs typeface="+mn-cs"/>
                        </a:rPr>
                        <a:t>W2: Establish requirements for Program CICD process, Integration Patterns, Requirements gathering process, Tool Sets across partners</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W2: Agree design principles, integration patterns, data classifications</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W2: Capture MVP Architecture and Environment Requirements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400" kern="0" dirty="0">
                          <a:solidFill>
                            <a:srgbClr val="000000"/>
                          </a:solidFill>
                          <a:latin typeface="Open Sans"/>
                        </a:rPr>
                        <a:t>W3: Catalog integration landscape and proposed sprint plan</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W1 - 4: Assist in development of integrated MVP Project Plan </a:t>
                      </a:r>
                    </a:p>
                    <a:p>
                      <a:endParaRPr lang="en-US" sz="1400" dirty="0"/>
                    </a:p>
                  </a:txBody>
                  <a:tcPr/>
                </a:tc>
                <a:tc>
                  <a:txBody>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Open Sans"/>
                          <a:ea typeface="+mn-ea"/>
                          <a:cs typeface="+mn-cs"/>
                        </a:rPr>
                        <a:t>Agreement of Business Process Taxonomy </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Open Sans"/>
                          <a:ea typeface="+mn-ea"/>
                          <a:cs typeface="+mn-cs"/>
                        </a:rPr>
                        <a:t>Scope of MVP Business Processes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Data Scope / Segmentation for MVP agreed by all Partners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Drop 1 of Functional Specifications   </a:t>
                      </a:r>
                    </a:p>
                    <a:p>
                      <a:endParaRPr lang="en-US" sz="1400" dirty="0"/>
                    </a:p>
                  </a:txBody>
                  <a:tcPr/>
                </a:tc>
                <a:tc>
                  <a:txBody>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Draft Canonical Models and Data Definitions for MVP Scope</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Preliminary Design and Build Sequence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Proposed Non Prod Architecture and timeline dependencies</a:t>
                      </a:r>
                    </a:p>
                    <a:p>
                      <a:endParaRPr lang="en-US" sz="1400" dirty="0"/>
                    </a:p>
                  </a:txBody>
                  <a:tcPr/>
                </a:tc>
                <a:extLst>
                  <a:ext uri="{0D108BD9-81ED-4DB2-BD59-A6C34878D82A}">
                    <a16:rowId xmlns:a16="http://schemas.microsoft.com/office/drawing/2014/main" val="3856370024"/>
                  </a:ext>
                </a:extLst>
              </a:tr>
            </a:tbl>
          </a:graphicData>
        </a:graphic>
      </p:graphicFrame>
      <p:sp>
        <p:nvSpPr>
          <p:cNvPr id="5" name="TextBox 4">
            <a:extLst>
              <a:ext uri="{FF2B5EF4-FFF2-40B4-BE49-F238E27FC236}">
                <a16:creationId xmlns:a16="http://schemas.microsoft.com/office/drawing/2014/main" id="{F6A36594-128D-404A-AFBD-A49B5364B780}"/>
              </a:ext>
            </a:extLst>
          </p:cNvPr>
          <p:cNvSpPr txBox="1"/>
          <p:nvPr/>
        </p:nvSpPr>
        <p:spPr>
          <a:xfrm>
            <a:off x="3557926" y="2396508"/>
            <a:ext cx="4376986" cy="369332"/>
          </a:xfrm>
          <a:prstGeom prst="rect">
            <a:avLst/>
          </a:prstGeom>
          <a:solidFill>
            <a:srgbClr val="FFFF00"/>
          </a:solidFill>
        </p:spPr>
        <p:txBody>
          <a:bodyPr wrap="square" rtlCol="0">
            <a:spAutoFit/>
          </a:bodyPr>
          <a:lstStyle/>
          <a:p>
            <a:r>
              <a:rPr lang="en-US" dirty="0"/>
              <a:t>To be updated with Track Specific details</a:t>
            </a:r>
          </a:p>
        </p:txBody>
      </p:sp>
    </p:spTree>
    <p:extLst>
      <p:ext uri="{BB962C8B-B14F-4D97-AF65-F5344CB8AC3E}">
        <p14:creationId xmlns:p14="http://schemas.microsoft.com/office/powerpoint/2010/main" val="1621701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EF053F0D-C564-41C1-8793-AE331A4D022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2" name="Object 11" hidden="1">
                        <a:extLst>
                          <a:ext uri="{FF2B5EF4-FFF2-40B4-BE49-F238E27FC236}">
                            <a16:creationId xmlns:a16="http://schemas.microsoft.com/office/drawing/2014/main" id="{EF053F0D-C564-41C1-8793-AE331A4D022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8" name="Table 8">
            <a:extLst>
              <a:ext uri="{FF2B5EF4-FFF2-40B4-BE49-F238E27FC236}">
                <a16:creationId xmlns:a16="http://schemas.microsoft.com/office/drawing/2014/main" id="{98376A59-1245-4633-9080-708E0F006624}"/>
              </a:ext>
            </a:extLst>
          </p:cNvPr>
          <p:cNvGraphicFramePr>
            <a:graphicFrameLocks noGrp="1"/>
          </p:cNvGraphicFramePr>
          <p:nvPr>
            <p:ph idx="1"/>
          </p:nvPr>
        </p:nvGraphicFramePr>
        <p:xfrm>
          <a:off x="810392" y="1007800"/>
          <a:ext cx="10998987" cy="7107936"/>
        </p:xfrm>
        <a:graphic>
          <a:graphicData uri="http://schemas.openxmlformats.org/drawingml/2006/table">
            <a:tbl>
              <a:tblPr firstRow="1" bandRow="1">
                <a:tableStyleId>{5C22544A-7EE6-4342-B048-85BDC9FD1C3A}</a:tableStyleId>
              </a:tblPr>
              <a:tblGrid>
                <a:gridCol w="524372">
                  <a:extLst>
                    <a:ext uri="{9D8B030D-6E8A-4147-A177-3AD203B41FA5}">
                      <a16:colId xmlns:a16="http://schemas.microsoft.com/office/drawing/2014/main" val="1804304856"/>
                    </a:ext>
                  </a:extLst>
                </a:gridCol>
                <a:gridCol w="1282809">
                  <a:extLst>
                    <a:ext uri="{9D8B030D-6E8A-4147-A177-3AD203B41FA5}">
                      <a16:colId xmlns:a16="http://schemas.microsoft.com/office/drawing/2014/main" val="3487582892"/>
                    </a:ext>
                  </a:extLst>
                </a:gridCol>
                <a:gridCol w="3046124">
                  <a:extLst>
                    <a:ext uri="{9D8B030D-6E8A-4147-A177-3AD203B41FA5}">
                      <a16:colId xmlns:a16="http://schemas.microsoft.com/office/drawing/2014/main" val="4022828597"/>
                    </a:ext>
                  </a:extLst>
                </a:gridCol>
                <a:gridCol w="2492109">
                  <a:extLst>
                    <a:ext uri="{9D8B030D-6E8A-4147-A177-3AD203B41FA5}">
                      <a16:colId xmlns:a16="http://schemas.microsoft.com/office/drawing/2014/main" val="3430374848"/>
                    </a:ext>
                  </a:extLst>
                </a:gridCol>
                <a:gridCol w="2492109">
                  <a:extLst>
                    <a:ext uri="{9D8B030D-6E8A-4147-A177-3AD203B41FA5}">
                      <a16:colId xmlns:a16="http://schemas.microsoft.com/office/drawing/2014/main" val="695367081"/>
                    </a:ext>
                  </a:extLst>
                </a:gridCol>
                <a:gridCol w="1161464">
                  <a:extLst>
                    <a:ext uri="{9D8B030D-6E8A-4147-A177-3AD203B41FA5}">
                      <a16:colId xmlns:a16="http://schemas.microsoft.com/office/drawing/2014/main" val="3926366452"/>
                    </a:ext>
                  </a:extLst>
                </a:gridCol>
              </a:tblGrid>
              <a:tr h="0">
                <a:tc>
                  <a:txBody>
                    <a:bodyPr/>
                    <a:lstStyle/>
                    <a:p>
                      <a:pPr algn="ctr"/>
                      <a:r>
                        <a:rPr lang="en-US" sz="1400" i="0"/>
                        <a:t>WK</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0"/>
                        <a:t>Focus Area</a:t>
                      </a:r>
                    </a:p>
                  </a:txBody>
                  <a:tcPr anchor="ctr"/>
                </a:tc>
                <a:tc>
                  <a:txBody>
                    <a:bodyPr/>
                    <a:lstStyle/>
                    <a:p>
                      <a:pPr algn="ctr"/>
                      <a:r>
                        <a:rPr lang="en-US" sz="1400" i="0" dirty="0"/>
                        <a:t>Expected Outcomes</a:t>
                      </a:r>
                    </a:p>
                  </a:txBody>
                  <a:tcPr anchor="ctr"/>
                </a:tc>
                <a:tc>
                  <a:txBody>
                    <a:bodyPr/>
                    <a:lstStyle/>
                    <a:p>
                      <a:pPr algn="ctr"/>
                      <a:r>
                        <a:rPr lang="en-US" sz="1400" i="0" dirty="0"/>
                        <a:t>Attendees</a:t>
                      </a:r>
                    </a:p>
                  </a:txBody>
                  <a:tcPr anchor="ctr"/>
                </a:tc>
                <a:tc>
                  <a:txBody>
                    <a:bodyPr/>
                    <a:lstStyle/>
                    <a:p>
                      <a:pPr algn="ctr"/>
                      <a:r>
                        <a:rPr lang="en-US" sz="1400" i="0" dirty="0"/>
                        <a:t>Inputs Required</a:t>
                      </a:r>
                    </a:p>
                  </a:txBody>
                  <a:tcPr anchor="ctr"/>
                </a:tc>
                <a:tc>
                  <a:txBody>
                    <a:bodyPr/>
                    <a:lstStyle/>
                    <a:p>
                      <a:pPr algn="ctr"/>
                      <a:r>
                        <a:rPr lang="en-US" sz="1400" i="0"/>
                        <a:t>Est. Duration</a:t>
                      </a:r>
                    </a:p>
                  </a:txBody>
                  <a:tcPr anchor="ctr"/>
                </a:tc>
                <a:extLst>
                  <a:ext uri="{0D108BD9-81ED-4DB2-BD59-A6C34878D82A}">
                    <a16:rowId xmlns:a16="http://schemas.microsoft.com/office/drawing/2014/main" val="3608970412"/>
                  </a:ext>
                </a:extLst>
              </a:tr>
              <a:tr h="358193">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Familiarization Session: </a:t>
                      </a:r>
                      <a:r>
                        <a:rPr lang="en-US" sz="1200" i="0"/>
                        <a:t>Foundations Organizational Hierarchy</a:t>
                      </a:r>
                    </a:p>
                  </a:txBody>
                  <a:tcPr marL="45720" marR="45720" marT="27432" marB="27432" anchor="ctr">
                    <a:solidFill>
                      <a:schemeClr val="bg1">
                        <a:lumMod val="95000"/>
                      </a:schemeClr>
                    </a:solidFill>
                  </a:tcPr>
                </a:tc>
                <a:tc rowSpan="3">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Confirm and validate functional scope of the Merchandising Cloud Service (MCS) 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Validate decisions for key solution choices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Identify and assess high-level business impacts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Enable 60% completion of system configuration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Build a greater understanding of how business users will interact with the system</a:t>
                      </a:r>
                      <a:endParaRPr lang="en-US" sz="1200" i="0"/>
                    </a:p>
                  </a:txBody>
                  <a:tcPr marL="45720" marR="45720" marT="27432" marB="27432" anchor="ctr">
                    <a:solidFill>
                      <a:schemeClr val="bg1">
                        <a:lumMod val="95000"/>
                      </a:schemeClr>
                    </a:solidFill>
                  </a:tcPr>
                </a:tc>
                <a:tc rowSpan="3">
                  <a:txBody>
                    <a:bodyPr/>
                    <a:lstStyle/>
                    <a:p>
                      <a:pPr marL="171450" indent="-171450">
                        <a:buFont typeface="Arial" panose="020B0604020202020204" pitchFamily="34" charset="0"/>
                        <a:buChar char="•"/>
                      </a:pPr>
                      <a:r>
                        <a:rPr lang="en-US" sz="1200" i="0"/>
                        <a:t>DT &amp; FD Core Business and Project Team: IT, Data Governance, Merchandising/Purchasing, E-Comm, Finance, AP, Store and DC Operations</a:t>
                      </a:r>
                      <a:endParaRPr lang="en-US" sz="1200"/>
                    </a:p>
                  </a:txBody>
                  <a:tcPr marL="45720" marR="45720" marT="27432" marB="27432" anchor="ctr">
                    <a:solidFill>
                      <a:schemeClr val="bg1">
                        <a:lumMod val="95000"/>
                      </a:schemeClr>
                    </a:solidFill>
                  </a:tcPr>
                </a:tc>
                <a:tc rowSpan="3">
                  <a:txBody>
                    <a:bodyPr/>
                    <a:lstStyle/>
                    <a:p>
                      <a:pPr marL="171450" indent="-171450">
                        <a:buFont typeface="Arial" panose="020B0604020202020204" pitchFamily="34" charset="0"/>
                        <a:buChar char="•"/>
                      </a:pPr>
                      <a:endParaRPr lang="en-US" sz="1200" dirty="0"/>
                    </a:p>
                  </a:txBody>
                  <a:tcPr marL="45720" marR="45720" marT="27432" marB="27432" anchor="ctr">
                    <a:solidFill>
                      <a:schemeClr val="bg1">
                        <a:lumMod val="95000"/>
                      </a:schemeClr>
                    </a:solidFill>
                  </a:tcPr>
                </a:tc>
                <a:tc rowSpan="2">
                  <a:txBody>
                    <a:bodyPr/>
                    <a:lstStyle/>
                    <a:p>
                      <a:pPr algn="ctr"/>
                      <a:r>
                        <a:rPr lang="en-US" sz="1200" b="1" i="0"/>
                        <a:t>4 hours</a:t>
                      </a:r>
                    </a:p>
                  </a:txBody>
                  <a:tcPr marL="45720" marR="45720" marT="27432" marB="27432" anchor="ctr">
                    <a:solidFill>
                      <a:schemeClr val="bg1">
                        <a:lumMod val="95000"/>
                      </a:schemeClr>
                    </a:solidFill>
                  </a:tcPr>
                </a:tc>
                <a:extLst>
                  <a:ext uri="{0D108BD9-81ED-4DB2-BD59-A6C34878D82A}">
                    <a16:rowId xmlns:a16="http://schemas.microsoft.com/office/drawing/2014/main" val="2843730546"/>
                  </a:ext>
                </a:extLst>
              </a:tr>
              <a:tr h="0">
                <a:tc rowSpan="2">
                  <a:txBody>
                    <a:bodyPr/>
                    <a:lstStyle/>
                    <a:p>
                      <a:pPr algn="ctr"/>
                      <a:r>
                        <a:rPr lang="en-US" sz="1200" b="1" i="0"/>
                        <a:t>2</a:t>
                      </a:r>
                    </a:p>
                  </a:txBody>
                  <a:tcPr marL="45720" marR="45720" marT="27432" marB="27432" anchor="ctr">
                    <a:solidFill>
                      <a:schemeClr val="bg1">
                        <a:lumMod val="95000"/>
                      </a:schemeClr>
                    </a:solidFill>
                  </a:tcPr>
                </a:tc>
                <a:tc rowSpan="2">
                  <a:txBody>
                    <a:bodyPr/>
                    <a:lstStyle/>
                    <a:p>
                      <a:pPr algn="ctr"/>
                      <a:r>
                        <a:rPr lang="en-US" sz="1200" b="1" i="0"/>
                        <a:t>Familiarization Session: </a:t>
                      </a:r>
                      <a:r>
                        <a:rPr lang="en-US" sz="1200" i="0"/>
                        <a:t>Vendor/Supplier</a:t>
                      </a:r>
                    </a:p>
                  </a:txBody>
                  <a:tcPr marL="45720" marR="45720" marT="27432" marB="27432" anchor="ctr">
                    <a:solidFill>
                      <a:schemeClr val="bg1">
                        <a:lumMod val="95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i="0"/>
                    </a:p>
                  </a:txBody>
                  <a:tcPr marL="45720" marR="45720" marT="27432" marB="27432" anchor="ctr">
                    <a:solidFill>
                      <a:schemeClr val="bg1">
                        <a:lumMod val="95000"/>
                      </a:schemeClr>
                    </a:solidFill>
                  </a:tcPr>
                </a:tc>
                <a:tc vMerge="1">
                  <a:txBody>
                    <a:bodyPr/>
                    <a:lstStyle/>
                    <a:p>
                      <a:pPr marL="171450" indent="-171450">
                        <a:buFont typeface="Arial"/>
                        <a:buChar char="•"/>
                      </a:pPr>
                      <a:r>
                        <a:rPr lang="en-US" sz="1200" i="0"/>
                        <a:t>DT &amp; FD Core Business and Project Team: IT, Data Governance, Merchandising/Purchasing, E-Comm, Finance, AP</a:t>
                      </a:r>
                    </a:p>
                  </a:txBody>
                  <a:tcPr marL="45720" marR="45720" marT="27432" marB="27432" anchor="ctr">
                    <a:solidFill>
                      <a:schemeClr val="bg1">
                        <a:lumMod val="95000"/>
                      </a:schemeClr>
                    </a:solidFill>
                  </a:tcPr>
                </a:tc>
                <a:tc vMerge="1">
                  <a:txBody>
                    <a:bodyPr/>
                    <a:lstStyle/>
                    <a:p>
                      <a:endParaRPr lang="en-US"/>
                    </a:p>
                  </a:txBody>
                  <a:tcPr/>
                </a:tc>
                <a:tc vMerge="1">
                  <a:txBody>
                    <a:bodyPr/>
                    <a:lstStyle/>
                    <a:p>
                      <a:pPr algn="ctr"/>
                      <a:r>
                        <a:rPr lang="en-US" sz="1200" b="1" i="0"/>
                        <a:t>4 hour</a:t>
                      </a:r>
                    </a:p>
                  </a:txBody>
                  <a:tcPr marL="45720" marR="45720" marT="27432" marB="27432" anchor="ctr">
                    <a:solidFill>
                      <a:schemeClr val="bg1">
                        <a:lumMod val="95000"/>
                      </a:schemeClr>
                    </a:solidFill>
                  </a:tcPr>
                </a:tc>
                <a:extLst>
                  <a:ext uri="{0D108BD9-81ED-4DB2-BD59-A6C34878D82A}">
                    <a16:rowId xmlns:a16="http://schemas.microsoft.com/office/drawing/2014/main" val="1516700124"/>
                  </a:ext>
                </a:extLst>
              </a:tr>
              <a:tr h="66751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6 hours</a:t>
                      </a:r>
                    </a:p>
                  </a:txBody>
                  <a:tcPr marL="45720" marR="45720" marT="27432" marB="27432" anchor="ctr">
                    <a:solidFill>
                      <a:schemeClr val="bg1">
                        <a:lumMod val="95000"/>
                      </a:schemeClr>
                    </a:solidFill>
                  </a:tcPr>
                </a:tc>
                <a:extLst>
                  <a:ext uri="{0D108BD9-81ED-4DB2-BD59-A6C34878D82A}">
                    <a16:rowId xmlns:a16="http://schemas.microsoft.com/office/drawing/2014/main" val="3188176464"/>
                  </a:ext>
                </a:extLst>
              </a:tr>
              <a:tr h="705949">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Familiarization Session: </a:t>
                      </a:r>
                    </a:p>
                    <a:p>
                      <a:pPr algn="ctr"/>
                      <a:r>
                        <a:rPr lang="en-US" sz="1200" b="0" i="0"/>
                        <a:t>Technical Overview and Technical Integration</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err="1"/>
                        <a:t>High-Level</a:t>
                      </a:r>
                      <a:r>
                        <a:rPr lang="pt-PT" sz="1200"/>
                        <a:t> </a:t>
                      </a:r>
                      <a:r>
                        <a:rPr lang="pt-PT" sz="1200" err="1"/>
                        <a:t>technical</a:t>
                      </a:r>
                      <a:r>
                        <a:rPr lang="pt-PT" sz="1200"/>
                        <a:t> </a:t>
                      </a:r>
                      <a:r>
                        <a:rPr lang="pt-PT" sz="1200" err="1"/>
                        <a:t>understanding</a:t>
                      </a:r>
                      <a:r>
                        <a:rPr lang="pt-PT" sz="1200"/>
                        <a:t> </a:t>
                      </a:r>
                      <a:r>
                        <a:rPr lang="pt-PT" sz="1200" err="1"/>
                        <a:t>of</a:t>
                      </a:r>
                      <a:r>
                        <a:rPr lang="pt-PT" sz="1200"/>
                        <a:t> MFCS: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a:t>Data </a:t>
                      </a:r>
                      <a:r>
                        <a:rPr lang="pt-PT" sz="1200" err="1"/>
                        <a:t>Migration</a:t>
                      </a:r>
                      <a:r>
                        <a:rPr lang="pt-PT" sz="1200"/>
                        <a:t> – </a:t>
                      </a:r>
                      <a:r>
                        <a:rPr lang="pt-PT" sz="1200" err="1"/>
                        <a:t>Requirements</a:t>
                      </a:r>
                      <a:r>
                        <a:rPr lang="pt-PT" sz="1200"/>
                        <a:t> </a:t>
                      </a:r>
                      <a:r>
                        <a:rPr lang="pt-PT" sz="1200" err="1"/>
                        <a:t>and</a:t>
                      </a:r>
                      <a:r>
                        <a:rPr lang="pt-PT" sz="1200"/>
                        <a:t> </a:t>
                      </a:r>
                      <a:r>
                        <a:rPr lang="pt-PT" sz="1200" err="1"/>
                        <a:t>Tools</a:t>
                      </a:r>
                      <a:endParaRPr lang="pt-PT" sz="120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Integration – Patterns and Default Interfaces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err="1"/>
                        <a:t>Security</a:t>
                      </a:r>
                      <a:r>
                        <a:rPr lang="pt-PT" sz="1200"/>
                        <a:t> – </a:t>
                      </a:r>
                      <a:r>
                        <a:rPr lang="pt-PT" sz="1200" err="1"/>
                        <a:t>Applications</a:t>
                      </a:r>
                      <a:r>
                        <a:rPr lang="pt-PT" sz="1200"/>
                        <a:t> </a:t>
                      </a:r>
                      <a:r>
                        <a:rPr lang="pt-PT" sz="1200" err="1"/>
                        <a:t>and</a:t>
                      </a:r>
                      <a:r>
                        <a:rPr lang="pt-PT" sz="1200"/>
                        <a:t> </a:t>
                      </a:r>
                      <a:r>
                        <a:rPr lang="pt-PT" sz="1200" err="1"/>
                        <a:t>Infrastructure</a:t>
                      </a:r>
                      <a:endParaRPr lang="pt-PT" sz="1200">
                        <a:solidFill>
                          <a:schemeClr val="dk1"/>
                        </a:solidFil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kern="1200" err="1">
                          <a:solidFill>
                            <a:schemeClr val="dk1"/>
                          </a:solidFill>
                          <a:latin typeface="+mn-lt"/>
                          <a:ea typeface="+mn-ea"/>
                          <a:cs typeface="+mn-cs"/>
                        </a:rPr>
                        <a:t>Batch</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and</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Integration</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with</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other</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systems</a:t>
                      </a:r>
                      <a:endParaRPr lang="en-US" sz="1200" kern="1200">
                        <a:solidFill>
                          <a:schemeClr val="dk1"/>
                        </a:solidFill>
                        <a:latin typeface="+mn-lt"/>
                        <a:ea typeface="+mn-ea"/>
                        <a:cs typeface="+mn-cs"/>
                      </a:endParaRP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i="0"/>
                        <a:t>DT &amp; FD Project Team:  IT</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lang="en-US" sz="1200" i="0"/>
                    </a:p>
                  </a:txBody>
                  <a:tcPr marL="45720" marR="45720" marT="27432" marB="27432" anchor="ctr">
                    <a:solidFill>
                      <a:schemeClr val="bg1">
                        <a:lumMod val="95000"/>
                      </a:schemeClr>
                    </a:solidFill>
                  </a:tcPr>
                </a:tc>
                <a:tc>
                  <a:txBody>
                    <a:bodyPr/>
                    <a:lstStyle/>
                    <a:p>
                      <a:pPr algn="ctr"/>
                      <a:r>
                        <a:rPr lang="en-US" sz="1200" b="1" i="0"/>
                        <a:t>4 hours</a:t>
                      </a:r>
                    </a:p>
                  </a:txBody>
                  <a:tcPr marL="45720" marR="45720" marT="27432" marB="27432" anchor="ctr">
                    <a:solidFill>
                      <a:schemeClr val="bg1">
                        <a:lumMod val="95000"/>
                      </a:schemeClr>
                    </a:solidFill>
                  </a:tcPr>
                </a:tc>
                <a:extLst>
                  <a:ext uri="{0D108BD9-81ED-4DB2-BD59-A6C34878D82A}">
                    <a16:rowId xmlns:a16="http://schemas.microsoft.com/office/drawing/2014/main" val="2075312267"/>
                  </a:ext>
                </a:extLst>
              </a:tr>
              <a:tr h="792366">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Familiarization Session: </a:t>
                      </a:r>
                    </a:p>
                    <a:p>
                      <a:pPr algn="ctr"/>
                      <a:r>
                        <a:rPr lang="en-US" sz="1200" b="0" i="0"/>
                        <a:t>Environment Strategy and Security</a:t>
                      </a:r>
                    </a:p>
                    <a:p>
                      <a:pPr algn="ctr"/>
                      <a:endParaRPr lang="en-US" sz="1200" b="0" i="0"/>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dk1"/>
                          </a:solidFill>
                          <a:latin typeface="+mn-lt"/>
                          <a:ea typeface="+mn-ea"/>
                          <a:cs typeface="+mn-cs"/>
                        </a:rPr>
                        <a:t>Understanding of:</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Oracle Retail Security Architecture &amp; Access Control</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MFCS Environment Provisioning and Upgrade and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Initial Write-up of MOM Environment Plan for MVP and ED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a:solidFill>
                          <a:schemeClr val="dk1"/>
                        </a:solidFill>
                        <a:latin typeface="+mn-lt"/>
                        <a:ea typeface="+mn-ea"/>
                        <a:cs typeface="+mn-cs"/>
                      </a:endParaRP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i="0"/>
                        <a:t>DT &amp; FD Project Team:  IT</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lang="en-US" sz="1200" i="0"/>
                    </a:p>
                  </a:txBody>
                  <a:tcPr marL="45720" marR="45720" marT="27432" marB="27432" anchor="ctr">
                    <a:solidFill>
                      <a:schemeClr val="bg1">
                        <a:lumMod val="95000"/>
                      </a:schemeClr>
                    </a:solidFill>
                  </a:tcPr>
                </a:tc>
                <a:tc>
                  <a:txBody>
                    <a:bodyPr/>
                    <a:lstStyle/>
                    <a:p>
                      <a:pPr algn="ctr"/>
                      <a:r>
                        <a:rPr lang="en-US" sz="1200" b="1" i="0"/>
                        <a:t>6 hours</a:t>
                      </a:r>
                    </a:p>
                  </a:txBody>
                  <a:tcPr marL="45720" marR="45720" marT="27432" marB="27432" anchor="ctr">
                    <a:solidFill>
                      <a:schemeClr val="bg1">
                        <a:lumMod val="95000"/>
                      </a:schemeClr>
                    </a:solidFill>
                  </a:tcPr>
                </a:tc>
                <a:extLst>
                  <a:ext uri="{0D108BD9-81ED-4DB2-BD59-A6C34878D82A}">
                    <a16:rowId xmlns:a16="http://schemas.microsoft.com/office/drawing/2014/main" val="1046502614"/>
                  </a:ext>
                </a:extLst>
              </a:tr>
              <a:tr h="900909">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Preparation Session: </a:t>
                      </a:r>
                    </a:p>
                    <a:p>
                      <a:pPr algn="ctr"/>
                      <a:r>
                        <a:rPr lang="en-US" sz="1200" b="0" i="0"/>
                        <a:t>Data Conversion</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Understanding of data conversion activities such as (but not limited to)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Source and Target Systems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a:solidFill>
                            <a:schemeClr val="tx1"/>
                          </a:solidFill>
                          <a:latin typeface="+mn-lt"/>
                          <a:cs typeface="Arial"/>
                        </a:rPr>
                        <a:t>Analyse Merch Legacy Application Data Model</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Data Cleansing requirements before migration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Data Volume considerations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Etc.</a:t>
                      </a:r>
                    </a:p>
                    <a:p>
                      <a:pPr marL="285750" indent="-285750">
                        <a:buFont typeface="Arial" panose="020B0604020202020204" pitchFamily="34" charset="0"/>
                        <a:buChar char="•"/>
                      </a:pPr>
                      <a:endParaRPr lang="en-US" sz="1200"/>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Project Team:  IT</a:t>
                      </a: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endParaRPr lang="en-US" sz="1200" i="0" dirty="0"/>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t>2 hours</a:t>
                      </a:r>
                    </a:p>
                  </a:txBody>
                  <a:tcPr marL="45720" marR="45720" marT="27432" marB="27432" anchor="ctr">
                    <a:solidFill>
                      <a:schemeClr val="bg1">
                        <a:lumMod val="95000"/>
                      </a:schemeClr>
                    </a:solidFill>
                  </a:tcPr>
                </a:tc>
                <a:extLst>
                  <a:ext uri="{0D108BD9-81ED-4DB2-BD59-A6C34878D82A}">
                    <a16:rowId xmlns:a16="http://schemas.microsoft.com/office/drawing/2014/main" val="2836545424"/>
                  </a:ext>
                </a:extLst>
              </a:tr>
            </a:tbl>
          </a:graphicData>
        </a:graphic>
      </p:graphicFrame>
      <p:sp>
        <p:nvSpPr>
          <p:cNvPr id="15" name="Title 1">
            <a:extLst>
              <a:ext uri="{FF2B5EF4-FFF2-40B4-BE49-F238E27FC236}">
                <a16:creationId xmlns:a16="http://schemas.microsoft.com/office/drawing/2014/main" id="{B5B76825-3536-4664-B4D3-189EA219EA1B}"/>
              </a:ext>
            </a:extLst>
          </p:cNvPr>
          <p:cNvSpPr txBox="1">
            <a:spLocks/>
          </p:cNvSpPr>
          <p:nvPr/>
        </p:nvSpPr>
        <p:spPr>
          <a:xfrm>
            <a:off x="1118158" y="353568"/>
            <a:ext cx="10634753" cy="4876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Sessions Agenda: Week 2</a:t>
            </a:r>
          </a:p>
        </p:txBody>
      </p:sp>
      <p:sp>
        <p:nvSpPr>
          <p:cNvPr id="2" name="TextBox 1">
            <a:extLst>
              <a:ext uri="{FF2B5EF4-FFF2-40B4-BE49-F238E27FC236}">
                <a16:creationId xmlns:a16="http://schemas.microsoft.com/office/drawing/2014/main" id="{106A5170-7691-4E0D-A013-2A88181EBB51}"/>
              </a:ext>
            </a:extLst>
          </p:cNvPr>
          <p:cNvSpPr txBox="1"/>
          <p:nvPr/>
        </p:nvSpPr>
        <p:spPr>
          <a:xfrm>
            <a:off x="3557926" y="2396508"/>
            <a:ext cx="4376986" cy="646331"/>
          </a:xfrm>
          <a:prstGeom prst="rect">
            <a:avLst/>
          </a:prstGeom>
          <a:solidFill>
            <a:srgbClr val="FFFF00"/>
          </a:solidFill>
        </p:spPr>
        <p:txBody>
          <a:bodyPr wrap="square" rtlCol="0">
            <a:spAutoFit/>
          </a:bodyPr>
          <a:lstStyle/>
          <a:p>
            <a:r>
              <a:rPr lang="en-US" dirty="0"/>
              <a:t>To be updated with Track Specific recommendation for planned sessions</a:t>
            </a:r>
          </a:p>
        </p:txBody>
      </p:sp>
    </p:spTree>
    <p:extLst>
      <p:ext uri="{BB962C8B-B14F-4D97-AF65-F5344CB8AC3E}">
        <p14:creationId xmlns:p14="http://schemas.microsoft.com/office/powerpoint/2010/main" val="3039750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lstStyle/>
          <a:p>
            <a:pPr marL="0" indent="0">
              <a:buNone/>
            </a:pPr>
            <a:r>
              <a:rPr lang="en-US" dirty="0"/>
              <a:t>IPODs</a:t>
            </a:r>
          </a:p>
          <a:p>
            <a:pPr marL="0" indent="0">
              <a:buNone/>
            </a:pPr>
            <a:endParaRPr lang="en-US" dirty="0"/>
          </a:p>
          <a:p>
            <a:pPr marL="0" indent="0">
              <a:buNone/>
            </a:pPr>
            <a:r>
              <a:rPr lang="en-US" dirty="0"/>
              <a:t>Integration PODs</a:t>
            </a:r>
          </a:p>
          <a:p>
            <a:pPr marL="0" indent="0">
              <a:buNone/>
            </a:pPr>
            <a:r>
              <a:rPr lang="en-US" dirty="0"/>
              <a:t> &amp; QA</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358200163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141C4C-FE32-4006-BADA-24CFFA578C2C}"/>
              </a:ext>
            </a:extLst>
          </p:cNvPr>
          <p:cNvSpPr>
            <a:spLocks noGrp="1"/>
          </p:cNvSpPr>
          <p:nvPr>
            <p:ph type="body" sz="quarter" idx="10"/>
          </p:nvPr>
        </p:nvSpPr>
        <p:spPr>
          <a:xfrm>
            <a:off x="126998" y="168634"/>
            <a:ext cx="9966960" cy="424732"/>
          </a:xfrm>
        </p:spPr>
        <p:txBody>
          <a:bodyPr vert="horz" lIns="91440" tIns="45720" rIns="91440" bIns="45720" rtlCol="0" anchor="ctr">
            <a:normAutofit fontScale="85000" lnSpcReduction="20000"/>
          </a:bodyPr>
          <a:lstStyle/>
          <a:p>
            <a:pPr>
              <a:spcBef>
                <a:spcPts val="0"/>
              </a:spcBef>
            </a:pPr>
            <a:r>
              <a:rPr lang="en-US" sz="3200" kern="1200" dirty="0">
                <a:solidFill>
                  <a:schemeClr val="tx1"/>
                </a:solidFill>
                <a:latin typeface="+mj-lt"/>
                <a:ea typeface="+mj-ea"/>
                <a:cs typeface="+mj-cs"/>
              </a:rPr>
              <a:t>Initial 4 week Discovery Plan – IPOD &amp; QA</a:t>
            </a:r>
          </a:p>
        </p:txBody>
      </p:sp>
      <p:sp>
        <p:nvSpPr>
          <p:cNvPr id="41" name="Tagline">
            <a:extLst>
              <a:ext uri="{FF2B5EF4-FFF2-40B4-BE49-F238E27FC236}">
                <a16:creationId xmlns:a16="http://schemas.microsoft.com/office/drawing/2014/main" id="{4D54039E-4D35-903A-BB96-EA81836D52E4}"/>
              </a:ext>
            </a:extLst>
          </p:cNvPr>
          <p:cNvSpPr txBox="1"/>
          <p:nvPr/>
        </p:nvSpPr>
        <p:spPr>
          <a:xfrm>
            <a:off x="251684" y="655873"/>
            <a:ext cx="11578751" cy="369332"/>
          </a:xfrm>
          <a:prstGeom prst="rect">
            <a:avLst/>
          </a:prstGeom>
          <a:noFill/>
        </p:spPr>
        <p:txBody>
          <a:bodyPr vert="horz" wrap="square" lIns="0" tIns="0" rIns="0" bIns="0" rtlCol="0" anchor="t">
            <a:spAutoFit/>
          </a:bodyPr>
          <a:lstStyle/>
          <a:p>
            <a:pPr>
              <a:defRPr/>
            </a:pPr>
            <a:r>
              <a:rPr kumimoji="0" lang="en-US" sz="1200" b="0" i="0" u="none" strike="noStrike" kern="1200" cap="none" spc="0" normalizeH="0" baseline="0" noProof="0" dirty="0">
                <a:ln>
                  <a:noFill/>
                </a:ln>
                <a:solidFill>
                  <a:srgbClr val="000000"/>
                </a:solidFill>
                <a:effectLst/>
                <a:uLnTx/>
                <a:uFillTx/>
                <a:latin typeface="Futura"/>
                <a:ea typeface="+mn-ea"/>
                <a:cs typeface="Futura" panose="020B0602020204020303"/>
              </a:rPr>
              <a:t>Establish IPG Program Plan, Strategies and Practices, Dev Ops processes and preliminary Integration </a:t>
            </a:r>
            <a:r>
              <a:rPr lang="en-US" sz="1200" dirty="0">
                <a:solidFill>
                  <a:srgbClr val="000000"/>
                </a:solidFill>
                <a:latin typeface="Futura"/>
                <a:cs typeface="Futura" panose="020B0602020204020303"/>
              </a:rPr>
              <a:t>architecture required </a:t>
            </a:r>
            <a:r>
              <a:rPr kumimoji="0" lang="en-US" sz="1200" b="0" i="0" u="none" strike="noStrike" kern="1200" cap="none" spc="0" normalizeH="0" baseline="0" noProof="0" dirty="0">
                <a:ln>
                  <a:noFill/>
                </a:ln>
                <a:solidFill>
                  <a:srgbClr val="000000"/>
                </a:solidFill>
                <a:effectLst/>
                <a:uLnTx/>
                <a:uFillTx/>
                <a:latin typeface="Futura"/>
                <a:ea typeface="+mn-ea"/>
                <a:cs typeface="Futura" panose="020B0602020204020303"/>
              </a:rPr>
              <a:t>to support the Transformation Program for Dollar Tree.</a:t>
            </a:r>
            <a:endParaRPr kumimoji="0" lang="en-US" sz="1200" b="1" i="0" u="none" strike="noStrike" kern="1200" cap="none" spc="0" normalizeH="0" baseline="0" noProof="0" dirty="0">
              <a:ln>
                <a:noFill/>
              </a:ln>
              <a:solidFill>
                <a:srgbClr val="000000"/>
              </a:solidFill>
              <a:effectLst/>
              <a:uLnTx/>
              <a:uFillTx/>
              <a:latin typeface="Futura" panose="020B0602020204020303"/>
              <a:ea typeface="+mn-ea"/>
              <a:cs typeface="+mn-cs"/>
            </a:endParaRPr>
          </a:p>
        </p:txBody>
      </p:sp>
      <p:graphicFrame>
        <p:nvGraphicFramePr>
          <p:cNvPr id="3" name="Table 3">
            <a:extLst>
              <a:ext uri="{FF2B5EF4-FFF2-40B4-BE49-F238E27FC236}">
                <a16:creationId xmlns:a16="http://schemas.microsoft.com/office/drawing/2014/main" id="{FA3D3108-2886-B223-AB59-735746CC7560}"/>
              </a:ext>
            </a:extLst>
          </p:cNvPr>
          <p:cNvGraphicFramePr>
            <a:graphicFrameLocks noGrp="1"/>
          </p:cNvGraphicFramePr>
          <p:nvPr>
            <p:extLst>
              <p:ext uri="{D42A27DB-BD31-4B8C-83A1-F6EECF244321}">
                <p14:modId xmlns:p14="http://schemas.microsoft.com/office/powerpoint/2010/main" val="2289671280"/>
              </p:ext>
            </p:extLst>
          </p:nvPr>
        </p:nvGraphicFramePr>
        <p:xfrm>
          <a:off x="490896" y="1257038"/>
          <a:ext cx="11270628" cy="4907280"/>
        </p:xfrm>
        <a:graphic>
          <a:graphicData uri="http://schemas.openxmlformats.org/drawingml/2006/table">
            <a:tbl>
              <a:tblPr firstRow="1" bandRow="1">
                <a:tableStyleId>{93296810-A885-4BE3-A3E7-6D5BEEA58F35}</a:tableStyleId>
              </a:tblPr>
              <a:tblGrid>
                <a:gridCol w="3756876">
                  <a:extLst>
                    <a:ext uri="{9D8B030D-6E8A-4147-A177-3AD203B41FA5}">
                      <a16:colId xmlns:a16="http://schemas.microsoft.com/office/drawing/2014/main" val="396754977"/>
                    </a:ext>
                  </a:extLst>
                </a:gridCol>
                <a:gridCol w="3756876">
                  <a:extLst>
                    <a:ext uri="{9D8B030D-6E8A-4147-A177-3AD203B41FA5}">
                      <a16:colId xmlns:a16="http://schemas.microsoft.com/office/drawing/2014/main" val="3932474466"/>
                    </a:ext>
                  </a:extLst>
                </a:gridCol>
                <a:gridCol w="3756876">
                  <a:extLst>
                    <a:ext uri="{9D8B030D-6E8A-4147-A177-3AD203B41FA5}">
                      <a16:colId xmlns:a16="http://schemas.microsoft.com/office/drawing/2014/main" val="1889474980"/>
                    </a:ext>
                  </a:extLst>
                </a:gridCol>
              </a:tblGrid>
              <a:tr h="2635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Key Discovery Activities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Dependencies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Deliverables and Decisions</a:t>
                      </a:r>
                    </a:p>
                  </a:txBody>
                  <a:tcPr/>
                </a:tc>
                <a:extLst>
                  <a:ext uri="{0D108BD9-81ED-4DB2-BD59-A6C34878D82A}">
                    <a16:rowId xmlns:a16="http://schemas.microsoft.com/office/drawing/2014/main" val="3664395086"/>
                  </a:ext>
                </a:extLst>
              </a:tr>
              <a:tr h="370840">
                <a:tc>
                  <a:txBody>
                    <a:bodyPr/>
                    <a:lstStyle/>
                    <a:p>
                      <a:pPr marL="171450" indent="-171450">
                        <a:spcAft>
                          <a:spcPts val="600"/>
                        </a:spcAft>
                        <a:buFont typeface="Arial" panose="020B0604020202020204" pitchFamily="34" charset="0"/>
                        <a:buChar char="•"/>
                        <a:defRPr/>
                      </a:pPr>
                      <a:r>
                        <a:rPr lang="en-US" sz="1400" kern="0" dirty="0">
                          <a:solidFill>
                            <a:srgbClr val="000000"/>
                          </a:solidFill>
                          <a:latin typeface="Open Sans"/>
                        </a:rPr>
                        <a:t>W1: Participate in scope review sessions conducted by Oracle</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W1-2: </a:t>
                      </a:r>
                      <a:r>
                        <a:rPr kumimoji="0" lang="en-US" sz="1400" b="0" i="0" u="none" strike="noStrike" kern="0" cap="none" spc="0" normalizeH="0" baseline="0" noProof="0" dirty="0">
                          <a:ln>
                            <a:noFill/>
                          </a:ln>
                          <a:solidFill>
                            <a:srgbClr val="000000"/>
                          </a:solidFill>
                          <a:effectLst/>
                          <a:uLnTx/>
                          <a:uFillTx/>
                          <a:latin typeface="Open Sans"/>
                          <a:ea typeface="+mn-ea"/>
                          <a:cs typeface="+mn-cs"/>
                        </a:rPr>
                        <a:t>Review Existing Landscape, identify source systems and POC for channels in scope, </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W2-3: </a:t>
                      </a:r>
                      <a:r>
                        <a:rPr kumimoji="0" lang="en-US" sz="1400" b="0" i="0" u="none" strike="noStrike" kern="0" cap="none" spc="0" normalizeH="0" baseline="0" noProof="0" dirty="0">
                          <a:ln>
                            <a:noFill/>
                          </a:ln>
                          <a:solidFill>
                            <a:srgbClr val="000000"/>
                          </a:solidFill>
                          <a:effectLst/>
                          <a:uLnTx/>
                          <a:uFillTx/>
                          <a:latin typeface="Open Sans"/>
                          <a:ea typeface="+mn-ea"/>
                          <a:cs typeface="+mn-cs"/>
                        </a:rPr>
                        <a:t>work with Oracle, Dollar Tree &amp; Family Dollar to finalize the integration scope for MVP, Plan for data mapping sessions, finalize plan for rest of the phases based agreed scope.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W4: </a:t>
                      </a:r>
                      <a:r>
                        <a:rPr kumimoji="0" lang="en-US" sz="1400" b="0" i="0" u="none" strike="noStrike" kern="0" cap="none" spc="0" normalizeH="0" baseline="0" noProof="0" dirty="0">
                          <a:ln>
                            <a:noFill/>
                          </a:ln>
                          <a:solidFill>
                            <a:srgbClr val="000000"/>
                          </a:solidFill>
                          <a:effectLst/>
                          <a:uLnTx/>
                          <a:uFillTx/>
                          <a:latin typeface="Open Sans"/>
                          <a:ea typeface="+mn-ea"/>
                          <a:cs typeface="+mn-cs"/>
                        </a:rPr>
                        <a:t>Work with IPG team to finalize the no. of PODs, initiate onboarding or additional PODs. </a:t>
                      </a:r>
                      <a:r>
                        <a:rPr lang="en-US" sz="1400" kern="0" dirty="0">
                          <a:solidFill>
                            <a:srgbClr val="000000"/>
                          </a:solidFill>
                          <a:latin typeface="Open Sans"/>
                        </a:rPr>
                        <a:t>Based on Oracle functional specs, start data mapping sessions. Review/Finalize coding standards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Test strategy, alignment on tools for QA and metrics</a:t>
                      </a:r>
                      <a:endParaRPr kumimoji="0" lang="en-US" sz="1400" b="0" i="0" u="none" strike="noStrike" kern="0" cap="none" spc="0" normalizeH="0" baseline="0" noProof="0" dirty="0">
                        <a:ln>
                          <a:noFill/>
                        </a:ln>
                        <a:solidFill>
                          <a:srgbClr val="000000"/>
                        </a:solidFill>
                        <a:effectLst/>
                        <a:uLnTx/>
                        <a:uFillTx/>
                        <a:latin typeface="Open Sans"/>
                        <a:ea typeface="+mn-ea"/>
                        <a:cs typeface="+mn-cs"/>
                      </a:endParaRPr>
                    </a:p>
                    <a:p>
                      <a:endParaRPr lang="en-US" sz="1400" dirty="0"/>
                    </a:p>
                  </a:txBody>
                  <a:tcPr/>
                </a:tc>
                <a:tc>
                  <a:txBody>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First drop of integration functional specs (4 integrations) from Oracle by April end</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Finalize Coding standards by end of April</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Environment strategy is finalized by mid April</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Decision on CICD tool , alignment on environment deployment plan alignment with deployment plan</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Current system SME availability for scope review /data mapping discussions.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Integrations scope will be finalized in the first couple of weeks of scope review sessions to help integration planning efforts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Environment deployment is finalized and aligned with development plan</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 </a:t>
                      </a:r>
                    </a:p>
                    <a:p>
                      <a:endParaRPr lang="en-US" sz="1400" dirty="0"/>
                    </a:p>
                  </a:txBody>
                  <a:tcPr/>
                </a:tc>
                <a:tc>
                  <a:txBody>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List of integrations scope for Oracle Retail MVP</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Test Strategy</a:t>
                      </a:r>
                    </a:p>
                    <a:p>
                      <a:endParaRPr lang="en-US" sz="1400" dirty="0"/>
                    </a:p>
                  </a:txBody>
                  <a:tcPr/>
                </a:tc>
                <a:extLst>
                  <a:ext uri="{0D108BD9-81ED-4DB2-BD59-A6C34878D82A}">
                    <a16:rowId xmlns:a16="http://schemas.microsoft.com/office/drawing/2014/main" val="3856370024"/>
                  </a:ext>
                </a:extLst>
              </a:tr>
            </a:tbl>
          </a:graphicData>
        </a:graphic>
      </p:graphicFrame>
    </p:spTree>
    <p:extLst>
      <p:ext uri="{BB962C8B-B14F-4D97-AF65-F5344CB8AC3E}">
        <p14:creationId xmlns:p14="http://schemas.microsoft.com/office/powerpoint/2010/main" val="1090141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EF053F0D-C564-41C1-8793-AE331A4D022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2" name="Object 11" hidden="1">
                        <a:extLst>
                          <a:ext uri="{FF2B5EF4-FFF2-40B4-BE49-F238E27FC236}">
                            <a16:creationId xmlns:a16="http://schemas.microsoft.com/office/drawing/2014/main" id="{EF053F0D-C564-41C1-8793-AE331A4D022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8" name="Table 8">
            <a:extLst>
              <a:ext uri="{FF2B5EF4-FFF2-40B4-BE49-F238E27FC236}">
                <a16:creationId xmlns:a16="http://schemas.microsoft.com/office/drawing/2014/main" id="{98376A59-1245-4633-9080-708E0F006624}"/>
              </a:ext>
            </a:extLst>
          </p:cNvPr>
          <p:cNvGraphicFramePr>
            <a:graphicFrameLocks noGrp="1"/>
          </p:cNvGraphicFramePr>
          <p:nvPr>
            <p:ph idx="1"/>
          </p:nvPr>
        </p:nvGraphicFramePr>
        <p:xfrm>
          <a:off x="810392" y="1007800"/>
          <a:ext cx="10998987" cy="7107936"/>
        </p:xfrm>
        <a:graphic>
          <a:graphicData uri="http://schemas.openxmlformats.org/drawingml/2006/table">
            <a:tbl>
              <a:tblPr firstRow="1" bandRow="1">
                <a:tableStyleId>{5C22544A-7EE6-4342-B048-85BDC9FD1C3A}</a:tableStyleId>
              </a:tblPr>
              <a:tblGrid>
                <a:gridCol w="524372">
                  <a:extLst>
                    <a:ext uri="{9D8B030D-6E8A-4147-A177-3AD203B41FA5}">
                      <a16:colId xmlns:a16="http://schemas.microsoft.com/office/drawing/2014/main" val="1804304856"/>
                    </a:ext>
                  </a:extLst>
                </a:gridCol>
                <a:gridCol w="1282809">
                  <a:extLst>
                    <a:ext uri="{9D8B030D-6E8A-4147-A177-3AD203B41FA5}">
                      <a16:colId xmlns:a16="http://schemas.microsoft.com/office/drawing/2014/main" val="3487582892"/>
                    </a:ext>
                  </a:extLst>
                </a:gridCol>
                <a:gridCol w="3046124">
                  <a:extLst>
                    <a:ext uri="{9D8B030D-6E8A-4147-A177-3AD203B41FA5}">
                      <a16:colId xmlns:a16="http://schemas.microsoft.com/office/drawing/2014/main" val="4022828597"/>
                    </a:ext>
                  </a:extLst>
                </a:gridCol>
                <a:gridCol w="2492109">
                  <a:extLst>
                    <a:ext uri="{9D8B030D-6E8A-4147-A177-3AD203B41FA5}">
                      <a16:colId xmlns:a16="http://schemas.microsoft.com/office/drawing/2014/main" val="3430374848"/>
                    </a:ext>
                  </a:extLst>
                </a:gridCol>
                <a:gridCol w="2492109">
                  <a:extLst>
                    <a:ext uri="{9D8B030D-6E8A-4147-A177-3AD203B41FA5}">
                      <a16:colId xmlns:a16="http://schemas.microsoft.com/office/drawing/2014/main" val="695367081"/>
                    </a:ext>
                  </a:extLst>
                </a:gridCol>
                <a:gridCol w="1161464">
                  <a:extLst>
                    <a:ext uri="{9D8B030D-6E8A-4147-A177-3AD203B41FA5}">
                      <a16:colId xmlns:a16="http://schemas.microsoft.com/office/drawing/2014/main" val="3926366452"/>
                    </a:ext>
                  </a:extLst>
                </a:gridCol>
              </a:tblGrid>
              <a:tr h="0">
                <a:tc>
                  <a:txBody>
                    <a:bodyPr/>
                    <a:lstStyle/>
                    <a:p>
                      <a:pPr algn="ctr"/>
                      <a:r>
                        <a:rPr lang="en-US" sz="1400" i="0"/>
                        <a:t>WK</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0"/>
                        <a:t>Focus Area</a:t>
                      </a:r>
                    </a:p>
                  </a:txBody>
                  <a:tcPr anchor="ctr"/>
                </a:tc>
                <a:tc>
                  <a:txBody>
                    <a:bodyPr/>
                    <a:lstStyle/>
                    <a:p>
                      <a:pPr algn="ctr"/>
                      <a:r>
                        <a:rPr lang="en-US" sz="1400" i="0" dirty="0"/>
                        <a:t>Expected Outcomes</a:t>
                      </a:r>
                    </a:p>
                  </a:txBody>
                  <a:tcPr anchor="ctr"/>
                </a:tc>
                <a:tc>
                  <a:txBody>
                    <a:bodyPr/>
                    <a:lstStyle/>
                    <a:p>
                      <a:pPr algn="ctr"/>
                      <a:r>
                        <a:rPr lang="en-US" sz="1400" i="0" dirty="0"/>
                        <a:t>Attendees</a:t>
                      </a:r>
                    </a:p>
                  </a:txBody>
                  <a:tcPr anchor="ctr"/>
                </a:tc>
                <a:tc>
                  <a:txBody>
                    <a:bodyPr/>
                    <a:lstStyle/>
                    <a:p>
                      <a:pPr algn="ctr"/>
                      <a:r>
                        <a:rPr lang="en-US" sz="1400" i="0" dirty="0"/>
                        <a:t>Inputs Required</a:t>
                      </a:r>
                    </a:p>
                  </a:txBody>
                  <a:tcPr anchor="ctr"/>
                </a:tc>
                <a:tc>
                  <a:txBody>
                    <a:bodyPr/>
                    <a:lstStyle/>
                    <a:p>
                      <a:pPr algn="ctr"/>
                      <a:r>
                        <a:rPr lang="en-US" sz="1400" i="0"/>
                        <a:t>Est. Duration</a:t>
                      </a:r>
                    </a:p>
                  </a:txBody>
                  <a:tcPr anchor="ctr"/>
                </a:tc>
                <a:extLst>
                  <a:ext uri="{0D108BD9-81ED-4DB2-BD59-A6C34878D82A}">
                    <a16:rowId xmlns:a16="http://schemas.microsoft.com/office/drawing/2014/main" val="3608970412"/>
                  </a:ext>
                </a:extLst>
              </a:tr>
              <a:tr h="358193">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Familiarization Session: </a:t>
                      </a:r>
                      <a:r>
                        <a:rPr lang="en-US" sz="1200" i="0"/>
                        <a:t>Foundations Organizational Hierarchy</a:t>
                      </a:r>
                    </a:p>
                  </a:txBody>
                  <a:tcPr marL="45720" marR="45720" marT="27432" marB="27432" anchor="ctr">
                    <a:solidFill>
                      <a:schemeClr val="bg1">
                        <a:lumMod val="95000"/>
                      </a:schemeClr>
                    </a:solidFill>
                  </a:tcPr>
                </a:tc>
                <a:tc rowSpan="3">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Confirm and validate functional scope of the Merchandising Cloud Service (MCS) 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Validate decisions for key solution choices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Identify and assess high-level business impacts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Enable 60% completion of system configuration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Build a greater understanding of how business users will interact with the system</a:t>
                      </a:r>
                      <a:endParaRPr lang="en-US" sz="1200" i="0"/>
                    </a:p>
                  </a:txBody>
                  <a:tcPr marL="45720" marR="45720" marT="27432" marB="27432" anchor="ctr">
                    <a:solidFill>
                      <a:schemeClr val="bg1">
                        <a:lumMod val="95000"/>
                      </a:schemeClr>
                    </a:solidFill>
                  </a:tcPr>
                </a:tc>
                <a:tc rowSpan="3">
                  <a:txBody>
                    <a:bodyPr/>
                    <a:lstStyle/>
                    <a:p>
                      <a:pPr marL="171450" indent="-171450">
                        <a:buFont typeface="Arial" panose="020B0604020202020204" pitchFamily="34" charset="0"/>
                        <a:buChar char="•"/>
                      </a:pPr>
                      <a:r>
                        <a:rPr lang="en-US" sz="1200" i="0"/>
                        <a:t>DT &amp; FD Core Business and Project Team: IT, Data Governance, Merchandising/Purchasing, E-Comm, Finance, AP, Store and DC Operations</a:t>
                      </a:r>
                      <a:endParaRPr lang="en-US" sz="1200"/>
                    </a:p>
                  </a:txBody>
                  <a:tcPr marL="45720" marR="45720" marT="27432" marB="27432" anchor="ctr">
                    <a:solidFill>
                      <a:schemeClr val="bg1">
                        <a:lumMod val="95000"/>
                      </a:schemeClr>
                    </a:solidFill>
                  </a:tcPr>
                </a:tc>
                <a:tc rowSpan="3">
                  <a:txBody>
                    <a:bodyPr/>
                    <a:lstStyle/>
                    <a:p>
                      <a:pPr marL="171450" indent="-171450">
                        <a:buFont typeface="Arial" panose="020B0604020202020204" pitchFamily="34" charset="0"/>
                        <a:buChar char="•"/>
                      </a:pPr>
                      <a:endParaRPr lang="en-US" sz="1200" dirty="0"/>
                    </a:p>
                  </a:txBody>
                  <a:tcPr marL="45720" marR="45720" marT="27432" marB="27432" anchor="ctr">
                    <a:solidFill>
                      <a:schemeClr val="bg1">
                        <a:lumMod val="95000"/>
                      </a:schemeClr>
                    </a:solidFill>
                  </a:tcPr>
                </a:tc>
                <a:tc rowSpan="2">
                  <a:txBody>
                    <a:bodyPr/>
                    <a:lstStyle/>
                    <a:p>
                      <a:pPr algn="ctr"/>
                      <a:r>
                        <a:rPr lang="en-US" sz="1200" b="1" i="0"/>
                        <a:t>4 hours</a:t>
                      </a:r>
                    </a:p>
                  </a:txBody>
                  <a:tcPr marL="45720" marR="45720" marT="27432" marB="27432" anchor="ctr">
                    <a:solidFill>
                      <a:schemeClr val="bg1">
                        <a:lumMod val="95000"/>
                      </a:schemeClr>
                    </a:solidFill>
                  </a:tcPr>
                </a:tc>
                <a:extLst>
                  <a:ext uri="{0D108BD9-81ED-4DB2-BD59-A6C34878D82A}">
                    <a16:rowId xmlns:a16="http://schemas.microsoft.com/office/drawing/2014/main" val="2843730546"/>
                  </a:ext>
                </a:extLst>
              </a:tr>
              <a:tr h="0">
                <a:tc rowSpan="2">
                  <a:txBody>
                    <a:bodyPr/>
                    <a:lstStyle/>
                    <a:p>
                      <a:pPr algn="ctr"/>
                      <a:r>
                        <a:rPr lang="en-US" sz="1200" b="1" i="0"/>
                        <a:t>2</a:t>
                      </a:r>
                    </a:p>
                  </a:txBody>
                  <a:tcPr marL="45720" marR="45720" marT="27432" marB="27432" anchor="ctr">
                    <a:solidFill>
                      <a:schemeClr val="bg1">
                        <a:lumMod val="95000"/>
                      </a:schemeClr>
                    </a:solidFill>
                  </a:tcPr>
                </a:tc>
                <a:tc rowSpan="2">
                  <a:txBody>
                    <a:bodyPr/>
                    <a:lstStyle/>
                    <a:p>
                      <a:pPr algn="ctr"/>
                      <a:r>
                        <a:rPr lang="en-US" sz="1200" b="1" i="0"/>
                        <a:t>Familiarization Session: </a:t>
                      </a:r>
                      <a:r>
                        <a:rPr lang="en-US" sz="1200" i="0"/>
                        <a:t>Vendor/Supplier</a:t>
                      </a:r>
                    </a:p>
                  </a:txBody>
                  <a:tcPr marL="45720" marR="45720" marT="27432" marB="27432" anchor="ctr">
                    <a:solidFill>
                      <a:schemeClr val="bg1">
                        <a:lumMod val="95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i="0"/>
                    </a:p>
                  </a:txBody>
                  <a:tcPr marL="45720" marR="45720" marT="27432" marB="27432" anchor="ctr">
                    <a:solidFill>
                      <a:schemeClr val="bg1">
                        <a:lumMod val="95000"/>
                      </a:schemeClr>
                    </a:solidFill>
                  </a:tcPr>
                </a:tc>
                <a:tc vMerge="1">
                  <a:txBody>
                    <a:bodyPr/>
                    <a:lstStyle/>
                    <a:p>
                      <a:pPr marL="171450" indent="-171450">
                        <a:buFont typeface="Arial"/>
                        <a:buChar char="•"/>
                      </a:pPr>
                      <a:r>
                        <a:rPr lang="en-US" sz="1200" i="0"/>
                        <a:t>DT &amp; FD Core Business and Project Team: IT, Data Governance, Merchandising/Purchasing, E-Comm, Finance, AP</a:t>
                      </a:r>
                    </a:p>
                  </a:txBody>
                  <a:tcPr marL="45720" marR="45720" marT="27432" marB="27432" anchor="ctr">
                    <a:solidFill>
                      <a:schemeClr val="bg1">
                        <a:lumMod val="95000"/>
                      </a:schemeClr>
                    </a:solidFill>
                  </a:tcPr>
                </a:tc>
                <a:tc vMerge="1">
                  <a:txBody>
                    <a:bodyPr/>
                    <a:lstStyle/>
                    <a:p>
                      <a:endParaRPr lang="en-US"/>
                    </a:p>
                  </a:txBody>
                  <a:tcPr/>
                </a:tc>
                <a:tc vMerge="1">
                  <a:txBody>
                    <a:bodyPr/>
                    <a:lstStyle/>
                    <a:p>
                      <a:pPr algn="ctr"/>
                      <a:r>
                        <a:rPr lang="en-US" sz="1200" b="1" i="0"/>
                        <a:t>4 hour</a:t>
                      </a:r>
                    </a:p>
                  </a:txBody>
                  <a:tcPr marL="45720" marR="45720" marT="27432" marB="27432" anchor="ctr">
                    <a:solidFill>
                      <a:schemeClr val="bg1">
                        <a:lumMod val="95000"/>
                      </a:schemeClr>
                    </a:solidFill>
                  </a:tcPr>
                </a:tc>
                <a:extLst>
                  <a:ext uri="{0D108BD9-81ED-4DB2-BD59-A6C34878D82A}">
                    <a16:rowId xmlns:a16="http://schemas.microsoft.com/office/drawing/2014/main" val="1516700124"/>
                  </a:ext>
                </a:extLst>
              </a:tr>
              <a:tr h="66751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6 hours</a:t>
                      </a:r>
                    </a:p>
                  </a:txBody>
                  <a:tcPr marL="45720" marR="45720" marT="27432" marB="27432" anchor="ctr">
                    <a:solidFill>
                      <a:schemeClr val="bg1">
                        <a:lumMod val="95000"/>
                      </a:schemeClr>
                    </a:solidFill>
                  </a:tcPr>
                </a:tc>
                <a:extLst>
                  <a:ext uri="{0D108BD9-81ED-4DB2-BD59-A6C34878D82A}">
                    <a16:rowId xmlns:a16="http://schemas.microsoft.com/office/drawing/2014/main" val="3188176464"/>
                  </a:ext>
                </a:extLst>
              </a:tr>
              <a:tr h="705949">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Familiarization Session: </a:t>
                      </a:r>
                    </a:p>
                    <a:p>
                      <a:pPr algn="ctr"/>
                      <a:r>
                        <a:rPr lang="en-US" sz="1200" b="0" i="0"/>
                        <a:t>Technical Overview and Technical Integration</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err="1"/>
                        <a:t>High-Level</a:t>
                      </a:r>
                      <a:r>
                        <a:rPr lang="pt-PT" sz="1200"/>
                        <a:t> </a:t>
                      </a:r>
                      <a:r>
                        <a:rPr lang="pt-PT" sz="1200" err="1"/>
                        <a:t>technical</a:t>
                      </a:r>
                      <a:r>
                        <a:rPr lang="pt-PT" sz="1200"/>
                        <a:t> </a:t>
                      </a:r>
                      <a:r>
                        <a:rPr lang="pt-PT" sz="1200" err="1"/>
                        <a:t>understanding</a:t>
                      </a:r>
                      <a:r>
                        <a:rPr lang="pt-PT" sz="1200"/>
                        <a:t> </a:t>
                      </a:r>
                      <a:r>
                        <a:rPr lang="pt-PT" sz="1200" err="1"/>
                        <a:t>of</a:t>
                      </a:r>
                      <a:r>
                        <a:rPr lang="pt-PT" sz="1200"/>
                        <a:t> MFCS: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a:t>Data </a:t>
                      </a:r>
                      <a:r>
                        <a:rPr lang="pt-PT" sz="1200" err="1"/>
                        <a:t>Migration</a:t>
                      </a:r>
                      <a:r>
                        <a:rPr lang="pt-PT" sz="1200"/>
                        <a:t> – </a:t>
                      </a:r>
                      <a:r>
                        <a:rPr lang="pt-PT" sz="1200" err="1"/>
                        <a:t>Requirements</a:t>
                      </a:r>
                      <a:r>
                        <a:rPr lang="pt-PT" sz="1200"/>
                        <a:t> </a:t>
                      </a:r>
                      <a:r>
                        <a:rPr lang="pt-PT" sz="1200" err="1"/>
                        <a:t>and</a:t>
                      </a:r>
                      <a:r>
                        <a:rPr lang="pt-PT" sz="1200"/>
                        <a:t> </a:t>
                      </a:r>
                      <a:r>
                        <a:rPr lang="pt-PT" sz="1200" err="1"/>
                        <a:t>Tools</a:t>
                      </a:r>
                      <a:endParaRPr lang="pt-PT" sz="120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Integration – Patterns and Default Interfaces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err="1"/>
                        <a:t>Security</a:t>
                      </a:r>
                      <a:r>
                        <a:rPr lang="pt-PT" sz="1200"/>
                        <a:t> – </a:t>
                      </a:r>
                      <a:r>
                        <a:rPr lang="pt-PT" sz="1200" err="1"/>
                        <a:t>Applications</a:t>
                      </a:r>
                      <a:r>
                        <a:rPr lang="pt-PT" sz="1200"/>
                        <a:t> </a:t>
                      </a:r>
                      <a:r>
                        <a:rPr lang="pt-PT" sz="1200" err="1"/>
                        <a:t>and</a:t>
                      </a:r>
                      <a:r>
                        <a:rPr lang="pt-PT" sz="1200"/>
                        <a:t> </a:t>
                      </a:r>
                      <a:r>
                        <a:rPr lang="pt-PT" sz="1200" err="1"/>
                        <a:t>Infrastructure</a:t>
                      </a:r>
                      <a:endParaRPr lang="pt-PT" sz="1200">
                        <a:solidFill>
                          <a:schemeClr val="dk1"/>
                        </a:solidFil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kern="1200" err="1">
                          <a:solidFill>
                            <a:schemeClr val="dk1"/>
                          </a:solidFill>
                          <a:latin typeface="+mn-lt"/>
                          <a:ea typeface="+mn-ea"/>
                          <a:cs typeface="+mn-cs"/>
                        </a:rPr>
                        <a:t>Batch</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and</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Integration</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with</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other</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systems</a:t>
                      </a:r>
                      <a:endParaRPr lang="en-US" sz="1200" kern="1200">
                        <a:solidFill>
                          <a:schemeClr val="dk1"/>
                        </a:solidFill>
                        <a:latin typeface="+mn-lt"/>
                        <a:ea typeface="+mn-ea"/>
                        <a:cs typeface="+mn-cs"/>
                      </a:endParaRP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i="0"/>
                        <a:t>DT &amp; FD Project Team:  IT</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lang="en-US" sz="1200" i="0"/>
                    </a:p>
                  </a:txBody>
                  <a:tcPr marL="45720" marR="45720" marT="27432" marB="27432" anchor="ctr">
                    <a:solidFill>
                      <a:schemeClr val="bg1">
                        <a:lumMod val="95000"/>
                      </a:schemeClr>
                    </a:solidFill>
                  </a:tcPr>
                </a:tc>
                <a:tc>
                  <a:txBody>
                    <a:bodyPr/>
                    <a:lstStyle/>
                    <a:p>
                      <a:pPr algn="ctr"/>
                      <a:r>
                        <a:rPr lang="en-US" sz="1200" b="1" i="0"/>
                        <a:t>4 hours</a:t>
                      </a:r>
                    </a:p>
                  </a:txBody>
                  <a:tcPr marL="45720" marR="45720" marT="27432" marB="27432" anchor="ctr">
                    <a:solidFill>
                      <a:schemeClr val="bg1">
                        <a:lumMod val="95000"/>
                      </a:schemeClr>
                    </a:solidFill>
                  </a:tcPr>
                </a:tc>
                <a:extLst>
                  <a:ext uri="{0D108BD9-81ED-4DB2-BD59-A6C34878D82A}">
                    <a16:rowId xmlns:a16="http://schemas.microsoft.com/office/drawing/2014/main" val="2075312267"/>
                  </a:ext>
                </a:extLst>
              </a:tr>
              <a:tr h="792366">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Familiarization Session: </a:t>
                      </a:r>
                    </a:p>
                    <a:p>
                      <a:pPr algn="ctr"/>
                      <a:r>
                        <a:rPr lang="en-US" sz="1200" b="0" i="0"/>
                        <a:t>Environment Strategy and Security</a:t>
                      </a:r>
                    </a:p>
                    <a:p>
                      <a:pPr algn="ctr"/>
                      <a:endParaRPr lang="en-US" sz="1200" b="0" i="0"/>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dk1"/>
                          </a:solidFill>
                          <a:latin typeface="+mn-lt"/>
                          <a:ea typeface="+mn-ea"/>
                          <a:cs typeface="+mn-cs"/>
                        </a:rPr>
                        <a:t>Understanding of:</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Oracle Retail Security Architecture &amp; Access Control</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MFCS Environment Provisioning and Upgrade and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Initial Write-up of MOM Environment Plan for MVP and ED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a:solidFill>
                          <a:schemeClr val="dk1"/>
                        </a:solidFill>
                        <a:latin typeface="+mn-lt"/>
                        <a:ea typeface="+mn-ea"/>
                        <a:cs typeface="+mn-cs"/>
                      </a:endParaRP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i="0"/>
                        <a:t>DT &amp; FD Project Team:  IT</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lang="en-US" sz="1200" i="0"/>
                    </a:p>
                  </a:txBody>
                  <a:tcPr marL="45720" marR="45720" marT="27432" marB="27432" anchor="ctr">
                    <a:solidFill>
                      <a:schemeClr val="bg1">
                        <a:lumMod val="95000"/>
                      </a:schemeClr>
                    </a:solidFill>
                  </a:tcPr>
                </a:tc>
                <a:tc>
                  <a:txBody>
                    <a:bodyPr/>
                    <a:lstStyle/>
                    <a:p>
                      <a:pPr algn="ctr"/>
                      <a:r>
                        <a:rPr lang="en-US" sz="1200" b="1" i="0"/>
                        <a:t>6 hours</a:t>
                      </a:r>
                    </a:p>
                  </a:txBody>
                  <a:tcPr marL="45720" marR="45720" marT="27432" marB="27432" anchor="ctr">
                    <a:solidFill>
                      <a:schemeClr val="bg1">
                        <a:lumMod val="95000"/>
                      </a:schemeClr>
                    </a:solidFill>
                  </a:tcPr>
                </a:tc>
                <a:extLst>
                  <a:ext uri="{0D108BD9-81ED-4DB2-BD59-A6C34878D82A}">
                    <a16:rowId xmlns:a16="http://schemas.microsoft.com/office/drawing/2014/main" val="1046502614"/>
                  </a:ext>
                </a:extLst>
              </a:tr>
              <a:tr h="900909">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Preparation Session: </a:t>
                      </a:r>
                    </a:p>
                    <a:p>
                      <a:pPr algn="ctr"/>
                      <a:r>
                        <a:rPr lang="en-US" sz="1200" b="0" i="0"/>
                        <a:t>Data Conversion</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Understanding of data conversion activities such as (but not limited to)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Source and Target Systems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a:solidFill>
                            <a:schemeClr val="tx1"/>
                          </a:solidFill>
                          <a:latin typeface="+mn-lt"/>
                          <a:cs typeface="Arial"/>
                        </a:rPr>
                        <a:t>Analyse Merch Legacy Application Data Model</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Data Cleansing requirements before migration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Data Volume considerations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Etc.</a:t>
                      </a:r>
                    </a:p>
                    <a:p>
                      <a:pPr marL="285750" indent="-285750">
                        <a:buFont typeface="Arial" panose="020B0604020202020204" pitchFamily="34" charset="0"/>
                        <a:buChar char="•"/>
                      </a:pPr>
                      <a:endParaRPr lang="en-US" sz="1200"/>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Project Team:  IT</a:t>
                      </a: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endParaRPr lang="en-US" sz="1200" i="0" dirty="0"/>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t>2 hours</a:t>
                      </a:r>
                    </a:p>
                  </a:txBody>
                  <a:tcPr marL="45720" marR="45720" marT="27432" marB="27432" anchor="ctr">
                    <a:solidFill>
                      <a:schemeClr val="bg1">
                        <a:lumMod val="95000"/>
                      </a:schemeClr>
                    </a:solidFill>
                  </a:tcPr>
                </a:tc>
                <a:extLst>
                  <a:ext uri="{0D108BD9-81ED-4DB2-BD59-A6C34878D82A}">
                    <a16:rowId xmlns:a16="http://schemas.microsoft.com/office/drawing/2014/main" val="2836545424"/>
                  </a:ext>
                </a:extLst>
              </a:tr>
            </a:tbl>
          </a:graphicData>
        </a:graphic>
      </p:graphicFrame>
      <p:sp>
        <p:nvSpPr>
          <p:cNvPr id="15" name="Title 1">
            <a:extLst>
              <a:ext uri="{FF2B5EF4-FFF2-40B4-BE49-F238E27FC236}">
                <a16:creationId xmlns:a16="http://schemas.microsoft.com/office/drawing/2014/main" id="{B5B76825-3536-4664-B4D3-189EA219EA1B}"/>
              </a:ext>
            </a:extLst>
          </p:cNvPr>
          <p:cNvSpPr txBox="1">
            <a:spLocks/>
          </p:cNvSpPr>
          <p:nvPr/>
        </p:nvSpPr>
        <p:spPr>
          <a:xfrm>
            <a:off x="1118158" y="353568"/>
            <a:ext cx="10634753" cy="4876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Sessions Agenda: Week 2</a:t>
            </a:r>
          </a:p>
        </p:txBody>
      </p:sp>
      <p:sp>
        <p:nvSpPr>
          <p:cNvPr id="2" name="TextBox 1">
            <a:extLst>
              <a:ext uri="{FF2B5EF4-FFF2-40B4-BE49-F238E27FC236}">
                <a16:creationId xmlns:a16="http://schemas.microsoft.com/office/drawing/2014/main" id="{106A5170-7691-4E0D-A013-2A88181EBB51}"/>
              </a:ext>
            </a:extLst>
          </p:cNvPr>
          <p:cNvSpPr txBox="1"/>
          <p:nvPr/>
        </p:nvSpPr>
        <p:spPr>
          <a:xfrm>
            <a:off x="3557926" y="2396508"/>
            <a:ext cx="4376986" cy="646331"/>
          </a:xfrm>
          <a:prstGeom prst="rect">
            <a:avLst/>
          </a:prstGeom>
          <a:solidFill>
            <a:srgbClr val="FFFF00"/>
          </a:solidFill>
        </p:spPr>
        <p:txBody>
          <a:bodyPr wrap="square" rtlCol="0">
            <a:spAutoFit/>
          </a:bodyPr>
          <a:lstStyle/>
          <a:p>
            <a:r>
              <a:rPr lang="en-US" dirty="0"/>
              <a:t>To be updated with Track Specific recommendation for planned sessions</a:t>
            </a:r>
          </a:p>
        </p:txBody>
      </p:sp>
    </p:spTree>
    <p:extLst>
      <p:ext uri="{BB962C8B-B14F-4D97-AF65-F5344CB8AC3E}">
        <p14:creationId xmlns:p14="http://schemas.microsoft.com/office/powerpoint/2010/main" val="4167876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668B02F-D955-4327-BB70-292A933891BB}"/>
              </a:ext>
            </a:extLst>
          </p:cNvPr>
          <p:cNvGrpSpPr>
            <a:grpSpLocks noChangeAspect="1"/>
          </p:cNvGrpSpPr>
          <p:nvPr/>
        </p:nvGrpSpPr>
        <p:grpSpPr>
          <a:xfrm>
            <a:off x="460540" y="344136"/>
            <a:ext cx="1819105" cy="345827"/>
            <a:chOff x="398463" y="404813"/>
            <a:chExt cx="1627187" cy="307976"/>
          </a:xfrm>
          <a:solidFill>
            <a:schemeClr val="tx1"/>
          </a:solidFill>
        </p:grpSpPr>
        <p:sp>
          <p:nvSpPr>
            <p:cNvPr id="7" name="Oval 5">
              <a:extLst>
                <a:ext uri="{FF2B5EF4-FFF2-40B4-BE49-F238E27FC236}">
                  <a16:creationId xmlns:a16="http://schemas.microsoft.com/office/drawing/2014/main" id="{ADE8AD84-E47E-4692-BD7D-A9A1DEA71BD8}"/>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8" name="Freeform 6">
              <a:extLst>
                <a:ext uri="{FF2B5EF4-FFF2-40B4-BE49-F238E27FC236}">
                  <a16:creationId xmlns:a16="http://schemas.microsoft.com/office/drawing/2014/main" id="{22D54762-235C-4B49-A851-DAD6211397D3}"/>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9" name="Rectangle 7">
              <a:extLst>
                <a:ext uri="{FF2B5EF4-FFF2-40B4-BE49-F238E27FC236}">
                  <a16:creationId xmlns:a16="http://schemas.microsoft.com/office/drawing/2014/main" id="{059D4F8B-708E-4C3B-A1AC-068B6CFB96C1}"/>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0" name="Freeform 8">
              <a:extLst>
                <a:ext uri="{FF2B5EF4-FFF2-40B4-BE49-F238E27FC236}">
                  <a16:creationId xmlns:a16="http://schemas.microsoft.com/office/drawing/2014/main" id="{6F4693DD-22D5-4B0A-88CC-F3121B2A8EE6}"/>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1" name="Rectangle 9">
              <a:extLst>
                <a:ext uri="{FF2B5EF4-FFF2-40B4-BE49-F238E27FC236}">
                  <a16:creationId xmlns:a16="http://schemas.microsoft.com/office/drawing/2014/main" id="{DABE5AEE-A35F-49F0-96AC-E21C24E384C0}"/>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2" name="Rectangle 10">
              <a:extLst>
                <a:ext uri="{FF2B5EF4-FFF2-40B4-BE49-F238E27FC236}">
                  <a16:creationId xmlns:a16="http://schemas.microsoft.com/office/drawing/2014/main" id="{1E54FABE-E068-4439-97F8-344F7A71618E}"/>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3" name="Freeform 11">
              <a:extLst>
                <a:ext uri="{FF2B5EF4-FFF2-40B4-BE49-F238E27FC236}">
                  <a16:creationId xmlns:a16="http://schemas.microsoft.com/office/drawing/2014/main" id="{44CFAE17-9420-41A4-91AD-37DAD079FAA9}"/>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4" name="Freeform 12">
              <a:extLst>
                <a:ext uri="{FF2B5EF4-FFF2-40B4-BE49-F238E27FC236}">
                  <a16:creationId xmlns:a16="http://schemas.microsoft.com/office/drawing/2014/main" id="{8A37E189-C878-4165-87B7-FE77E81CE66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5" name="Freeform 13">
              <a:extLst>
                <a:ext uri="{FF2B5EF4-FFF2-40B4-BE49-F238E27FC236}">
                  <a16:creationId xmlns:a16="http://schemas.microsoft.com/office/drawing/2014/main" id="{50ADAAD8-DE65-418B-95BC-EFD70B5743E9}"/>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6" name="Freeform 14">
              <a:extLst>
                <a:ext uri="{FF2B5EF4-FFF2-40B4-BE49-F238E27FC236}">
                  <a16:creationId xmlns:a16="http://schemas.microsoft.com/office/drawing/2014/main" id="{80AA8F98-634C-4019-844E-9DBC92AC1DBD}"/>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pic>
        <p:nvPicPr>
          <p:cNvPr id="23" name="Picture 22">
            <a:extLst>
              <a:ext uri="{FF2B5EF4-FFF2-40B4-BE49-F238E27FC236}">
                <a16:creationId xmlns:a16="http://schemas.microsoft.com/office/drawing/2014/main" id="{6C3BC7DC-E0B1-429B-9350-DCCF9F7C20C1}"/>
              </a:ext>
            </a:extLst>
          </p:cNvPr>
          <p:cNvPicPr>
            <a:picLocks noChangeAspect="1"/>
          </p:cNvPicPr>
          <p:nvPr/>
        </p:nvPicPr>
        <p:blipFill>
          <a:blip r:embed="rId2"/>
          <a:srcRect/>
          <a:stretch/>
        </p:blipFill>
        <p:spPr>
          <a:xfrm>
            <a:off x="5444958" y="685800"/>
            <a:ext cx="6686884" cy="6141840"/>
          </a:xfrm>
          <a:prstGeom prst="rect">
            <a:avLst/>
          </a:prstGeom>
        </p:spPr>
      </p:pic>
      <p:sp>
        <p:nvSpPr>
          <p:cNvPr id="24" name="Subtitle 2">
            <a:extLst>
              <a:ext uri="{FF2B5EF4-FFF2-40B4-BE49-F238E27FC236}">
                <a16:creationId xmlns:a16="http://schemas.microsoft.com/office/drawing/2014/main" id="{62EB86E1-78BC-4F94-B9BD-4BF41581FB6F}"/>
              </a:ext>
            </a:extLst>
          </p:cNvPr>
          <p:cNvSpPr txBox="1">
            <a:spLocks/>
          </p:cNvSpPr>
          <p:nvPr/>
        </p:nvSpPr>
        <p:spPr bwMode="gray">
          <a:xfrm>
            <a:off x="457200" y="2230805"/>
            <a:ext cx="4128655" cy="2313486"/>
          </a:xfrm>
          <a:prstGeom prst="rect">
            <a:avLst/>
          </a:prstGeom>
        </p:spPr>
        <p:txBody>
          <a:bodyPr lIns="0" tIns="0" rIns="0" bIns="0" anchor="t" anchorCtr="0">
            <a:noAutofit/>
          </a:bodyPr>
          <a:lstStyle>
            <a:lvl1pPr marL="0" indent="0" algn="l" defTabSz="914400" rtl="0" eaLnBrk="1" latinLnBrk="0" hangingPunct="1">
              <a:lnSpc>
                <a:spcPct val="110000"/>
              </a:lnSpc>
              <a:spcBef>
                <a:spcPts val="0"/>
              </a:spcBef>
              <a:spcAft>
                <a:spcPts val="0"/>
              </a:spcAft>
              <a:buSzPct val="100000"/>
              <a:buFont typeface="Arial" panose="020B0604020202020204" pitchFamily="34" charset="0"/>
              <a:buNone/>
              <a:defRPr lang="en-US" sz="4800" b="1" kern="1200" noProof="0" dirty="0">
                <a:ln w="25400">
                  <a:solidFill>
                    <a:schemeClr val="bg1"/>
                  </a:solidFill>
                </a:ln>
                <a:no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0" indent="0" algn="l" defTabSz="914400" rtl="0" eaLnBrk="1" latinLnBrk="0" hangingPunct="1">
              <a:lnSpc>
                <a:spcPts val="3600"/>
              </a:lnSpc>
              <a:spcBef>
                <a:spcPts val="0"/>
              </a:spcBef>
              <a:spcAft>
                <a:spcPts val="0"/>
              </a:spcAft>
              <a:buClrTx/>
              <a:buSzPct val="100000"/>
              <a:buFont typeface="Arial"/>
              <a:buNone/>
              <a:defRPr lang="en-US" sz="3600" b="1" i="0" kern="1200" spc="-120" baseline="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2pPr>
            <a:lvl3pPr marL="1219170" indent="0" algn="ctr" defTabSz="914400" rtl="0" eaLnBrk="1" latinLnBrk="0" hangingPunct="1">
              <a:spcBef>
                <a:spcPts val="0"/>
              </a:spcBef>
              <a:spcAft>
                <a:spcPts val="1000"/>
              </a:spcAft>
              <a:buClrTx/>
              <a:buSzPct val="100000"/>
              <a:buFont typeface="Arial" panose="020B0604020202020204" pitchFamily="34" charset="0"/>
              <a:buNone/>
              <a:defRPr lang="en-US" sz="2400" kern="1200">
                <a:solidFill>
                  <a:schemeClr val="tx1"/>
                </a:solidFill>
                <a:latin typeface="+mn-lt"/>
                <a:ea typeface="+mn-ea"/>
                <a:cs typeface="+mn-cs"/>
              </a:defRPr>
            </a:lvl3pPr>
            <a:lvl4pPr marL="1828754" indent="0" algn="ctr" defTabSz="914400" rtl="0" eaLnBrk="1" latinLnBrk="0" hangingPunct="1">
              <a:spcBef>
                <a:spcPts val="0"/>
              </a:spcBef>
              <a:spcAft>
                <a:spcPts val="1000"/>
              </a:spcAft>
              <a:buClrTx/>
              <a:buSzPct val="100000"/>
              <a:buFont typeface="Verdana" panose="020B0604030504040204" pitchFamily="34" charset="0"/>
              <a:buNone/>
              <a:defRPr lang="en-US" sz="2133" kern="1200" baseline="0">
                <a:solidFill>
                  <a:schemeClr val="tx1"/>
                </a:solidFill>
                <a:latin typeface="+mn-lt"/>
                <a:ea typeface="+mn-ea"/>
                <a:cs typeface="+mn-cs"/>
              </a:defRPr>
            </a:lvl4pPr>
            <a:lvl5pPr marL="2438339" indent="0" algn="ctr" defTabSz="798513" rtl="0" eaLnBrk="1" latinLnBrk="0" hangingPunct="1">
              <a:spcBef>
                <a:spcPts val="0"/>
              </a:spcBef>
              <a:spcAft>
                <a:spcPts val="1000"/>
              </a:spcAft>
              <a:buClrTx/>
              <a:buSzPct val="100000"/>
              <a:buFont typeface="Verdana" panose="020B0604030504040204" pitchFamily="34" charset="0"/>
              <a:buNone/>
              <a:tabLst/>
              <a:defRPr lang="en-US" sz="2133" kern="1200" baseline="0">
                <a:solidFill>
                  <a:schemeClr val="tx1"/>
                </a:solidFill>
                <a:latin typeface="+mn-lt"/>
                <a:ea typeface="+mn-ea"/>
                <a:cs typeface="+mn-cs"/>
              </a:defRPr>
            </a:lvl5pPr>
            <a:lvl6pPr marL="3047924"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6pPr>
            <a:lvl7pPr marL="3657509" indent="0" algn="ctr" defTabSz="914400" rtl="0" eaLnBrk="1" latinLnBrk="0" hangingPunct="1">
              <a:spcBef>
                <a:spcPts val="0"/>
              </a:spcBef>
              <a:spcAft>
                <a:spcPts val="1000"/>
              </a:spcAft>
              <a:buFont typeface="Verdana" panose="020B0604030504040204" pitchFamily="34" charset="0"/>
              <a:buNone/>
              <a:defRPr sz="2133" kern="1200">
                <a:solidFill>
                  <a:schemeClr val="tx1"/>
                </a:solidFill>
                <a:latin typeface="+mn-lt"/>
                <a:ea typeface="+mn-ea"/>
                <a:cs typeface="+mn-cs"/>
              </a:defRPr>
            </a:lvl7pPr>
            <a:lvl8pPr marL="4267093"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8pPr>
            <a:lvl9pPr marL="4876678"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9pPr>
          </a:lstStyle>
          <a:p>
            <a:pPr>
              <a:lnSpc>
                <a:spcPts val="9000"/>
              </a:lnSpc>
            </a:pPr>
            <a:r>
              <a:rPr lang="en-US" sz="9000">
                <a:ln w="25400">
                  <a:noFill/>
                </a:ln>
                <a:gradFill flip="none" rotWithShape="1">
                  <a:gsLst>
                    <a:gs pos="100000">
                      <a:srgbClr val="FFCD00"/>
                    </a:gs>
                    <a:gs pos="0">
                      <a:srgbClr val="046A38"/>
                    </a:gs>
                  </a:gsLst>
                  <a:lin ang="2700000" scaled="1"/>
                  <a:tileRect/>
                </a:gradFill>
                <a:latin typeface="Open Sans Extrabold" panose="020B0906030804020204" pitchFamily="34" charset="0"/>
                <a:ea typeface="Open Sans Extrabold" panose="020B0906030804020204" pitchFamily="34" charset="0"/>
                <a:cs typeface="Open Sans Extrabold" panose="020B0906030804020204" pitchFamily="34" charset="0"/>
              </a:rPr>
              <a:t>Thank you</a:t>
            </a:r>
          </a:p>
        </p:txBody>
      </p:sp>
      <p:sp>
        <p:nvSpPr>
          <p:cNvPr id="25" name="USOC_Text2">
            <a:extLst>
              <a:ext uri="{FF2B5EF4-FFF2-40B4-BE49-F238E27FC236}">
                <a16:creationId xmlns:a16="http://schemas.microsoft.com/office/drawing/2014/main" id="{B136E1DB-D5E0-4C06-85C5-49A07F974E09}"/>
              </a:ext>
            </a:extLst>
          </p:cNvPr>
          <p:cNvSpPr txBox="1">
            <a:spLocks/>
          </p:cNvSpPr>
          <p:nvPr/>
        </p:nvSpPr>
        <p:spPr bwMode="gray">
          <a:xfrm>
            <a:off x="460542" y="4872841"/>
            <a:ext cx="5289094" cy="1586501"/>
          </a:xfrm>
          <a:prstGeom prst="rect">
            <a:avLst/>
          </a:prstGeom>
        </p:spPr>
        <p:txBody>
          <a:bodyPr lIns="0" rIns="0" anchor="t" anchorCtr="0"/>
          <a:lstStyle>
            <a:lvl1pPr marL="0" indent="0" algn="l" defTabSz="914400" rtl="0" eaLnBrk="1" latinLnBrk="0" hangingPunct="1">
              <a:spcBef>
                <a:spcPts val="1200"/>
              </a:spcBef>
              <a:buFont typeface="Arial" pitchFamily="34" charset="0"/>
              <a:buNone/>
              <a:defRPr sz="1800" b="0" kern="1200">
                <a:solidFill>
                  <a:schemeClr val="tx2"/>
                </a:solidFill>
                <a:latin typeface="+mn-lt"/>
                <a:ea typeface="+mn-ea"/>
                <a:cs typeface="+mn-cs"/>
              </a:defRPr>
            </a:lvl1pPr>
            <a:lvl2pPr marL="266700" indent="-26670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2pPr>
            <a:lvl3pPr marL="266700" indent="-266700" algn="l" defTabSz="914400" rtl="0" eaLnBrk="1" latinLnBrk="0" hangingPunct="1">
              <a:spcBef>
                <a:spcPts val="1200"/>
              </a:spcBef>
              <a:buFont typeface="Arial" pitchFamily="34" charset="0"/>
              <a:buChar char="•"/>
              <a:defRPr sz="1800" i="1" kern="1200">
                <a:solidFill>
                  <a:schemeClr val="tx2"/>
                </a:solidFill>
                <a:latin typeface="+mn-lt"/>
                <a:ea typeface="+mn-ea"/>
                <a:cs typeface="+mn-cs"/>
              </a:defRPr>
            </a:lvl3pPr>
            <a:lvl4pPr marL="539750" indent="-27305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4pPr>
            <a:lvl5pPr marL="806450" indent="-266700" algn="l" defTabSz="914400" rtl="0" eaLnBrk="1" latinLnBrk="0" hangingPunct="1">
              <a:spcBef>
                <a:spcPts val="1200"/>
              </a:spcBef>
              <a:buSzPct val="60000"/>
              <a:buFont typeface="Courier New" panose="02070309020205020404" pitchFamily="49" charset="0"/>
              <a:buChar char="o"/>
              <a:defRPr sz="18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lnSpc>
                <a:spcPts val="900"/>
              </a:lnSpc>
              <a:spcAft>
                <a:spcPts val="400"/>
              </a:spcAft>
              <a:defRPr/>
            </a:pPr>
            <a:r>
              <a:rPr lang="en-US" sz="800" b="1">
                <a:solidFill>
                  <a:schemeClr val="tx1"/>
                </a:solidFill>
                <a:ea typeface="Open Sans" panose="020B0606030504020204" pitchFamily="34" charset="0"/>
                <a:cs typeface="Open Sans" panose="020B0606030504020204" pitchFamily="34" charset="0"/>
              </a:rPr>
              <a:t>ABOUT DELOITTE</a:t>
            </a:r>
            <a:endParaRPr lang="en-US" sz="800">
              <a:solidFill>
                <a:schemeClr val="tx1"/>
              </a:solidFill>
              <a:ea typeface="Open Sans" panose="020B0606030504020204" pitchFamily="34" charset="0"/>
              <a:cs typeface="Open Sans" panose="020B0606030504020204" pitchFamily="34" charset="0"/>
            </a:endParaRPr>
          </a:p>
          <a:p>
            <a:pPr fontAlgn="auto">
              <a:lnSpc>
                <a:spcPct val="110000"/>
              </a:lnSpc>
              <a:spcBef>
                <a:spcPts val="0"/>
              </a:spcBef>
              <a:spcAft>
                <a:spcPts val="400"/>
              </a:spcAft>
              <a:defRPr/>
            </a:pPr>
            <a:r>
              <a:rPr lang="en-US" sz="800">
                <a:solidFill>
                  <a:schemeClr val="tx1"/>
                </a:solidFill>
                <a:ea typeface="Open Sans" panose="020B0606030504020204" pitchFamily="34" charset="0"/>
                <a:cs typeface="Open Sans" panose="020B0606030504020204" pitchFamily="34" charset="0"/>
              </a:rPr>
              <a:t>Deloitte refers to one or more of Deloitte </a:t>
            </a:r>
            <a:r>
              <a:rPr lang="en-US" sz="800" err="1">
                <a:solidFill>
                  <a:schemeClr val="tx1"/>
                </a:solidFill>
                <a:ea typeface="Open Sans" panose="020B0606030504020204" pitchFamily="34" charset="0"/>
                <a:cs typeface="Open Sans" panose="020B0606030504020204" pitchFamily="34" charset="0"/>
              </a:rPr>
              <a:t>Touche</a:t>
            </a:r>
            <a:r>
              <a:rPr lang="en-US" sz="800">
                <a:solidFill>
                  <a:schemeClr val="tx1"/>
                </a:solidFill>
                <a:ea typeface="Open Sans" panose="020B0606030504020204" pitchFamily="34" charset="0"/>
                <a:cs typeface="Open Sans" panose="020B0606030504020204" pitchFamily="34" charset="0"/>
              </a:rPr>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In the United States, Deloitte refers to one or more of the US member firms of DTTL, their related entities that operate using the “Deloitte” name in the United States and their respective affiliates. Certain services may not be available to attest clients under the rules and regulations of public accounting. Please see </a:t>
            </a:r>
            <a:r>
              <a:rPr lang="en-US" sz="800">
                <a:solidFill>
                  <a:schemeClr val="tx1"/>
                </a:solidFill>
                <a:ea typeface="Open Sans" panose="020B0606030504020204" pitchFamily="34" charset="0"/>
                <a:cs typeface="Open Sans" panose="020B0606030504020204" pitchFamily="34" charset="0"/>
                <a:hlinkClick r:id="rId3">
                  <a:extLst>
                    <a:ext uri="{A12FA001-AC4F-418D-AE19-62706E023703}">
                      <ahyp:hlinkClr xmlns:ahyp="http://schemas.microsoft.com/office/drawing/2018/hyperlinkcolor" val="tx"/>
                    </a:ext>
                  </a:extLst>
                </a:hlinkClick>
              </a:rPr>
              <a:t>www.deloitte.com/about</a:t>
            </a:r>
            <a:r>
              <a:rPr lang="en-US" sz="800">
                <a:solidFill>
                  <a:schemeClr val="tx1"/>
                </a:solidFill>
                <a:ea typeface="Open Sans" panose="020B0606030504020204" pitchFamily="34" charset="0"/>
                <a:cs typeface="Open Sans" panose="020B0606030504020204" pitchFamily="34" charset="0"/>
              </a:rPr>
              <a:t> to learn more about our global network of member firms.</a:t>
            </a:r>
            <a:br>
              <a:rPr lang="en-US" sz="800">
                <a:solidFill>
                  <a:schemeClr val="tx1"/>
                </a:solidFill>
                <a:ea typeface="Open Sans" panose="020B0606030504020204" pitchFamily="34" charset="0"/>
                <a:cs typeface="Open Sans" panose="020B0606030504020204" pitchFamily="34" charset="0"/>
              </a:rPr>
            </a:br>
            <a:br>
              <a:rPr lang="en-US" sz="800">
                <a:solidFill>
                  <a:schemeClr val="tx1"/>
                </a:solidFill>
                <a:ea typeface="Open Sans" panose="020B0606030504020204" pitchFamily="34" charset="0"/>
                <a:cs typeface="Open Sans" panose="020B0606030504020204" pitchFamily="34" charset="0"/>
              </a:rPr>
            </a:br>
            <a:r>
              <a:rPr lang="en-US" sz="800">
                <a:solidFill>
                  <a:schemeClr val="tx1"/>
                </a:solidFill>
                <a:ea typeface="Open Sans" panose="020B0606030504020204" pitchFamily="34" charset="0"/>
                <a:cs typeface="Open Sans" panose="020B0606030504020204" pitchFamily="34" charset="0"/>
              </a:rPr>
              <a:t>Copyright © 2023 Deloitte Development LLC. </a:t>
            </a:r>
            <a:br>
              <a:rPr lang="en-US" sz="800">
                <a:solidFill>
                  <a:schemeClr val="tx1"/>
                </a:solidFill>
                <a:ea typeface="Open Sans" panose="020B0606030504020204" pitchFamily="34" charset="0"/>
                <a:cs typeface="Open Sans" panose="020B0606030504020204" pitchFamily="34" charset="0"/>
              </a:rPr>
            </a:br>
            <a:r>
              <a:rPr lang="en-US" sz="800">
                <a:solidFill>
                  <a:schemeClr val="tx1"/>
                </a:solidFill>
                <a:ea typeface="Open Sans" panose="020B0606030504020204" pitchFamily="34" charset="0"/>
                <a:cs typeface="Open Sans" panose="020B0606030504020204" pitchFamily="34" charset="0"/>
              </a:rPr>
              <a:t>All rights reserved.</a:t>
            </a:r>
          </a:p>
        </p:txBody>
      </p:sp>
    </p:spTree>
    <p:extLst>
      <p:ext uri="{BB962C8B-B14F-4D97-AF65-F5344CB8AC3E}">
        <p14:creationId xmlns:p14="http://schemas.microsoft.com/office/powerpoint/2010/main" val="3589312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A19B7FC1-A5AD-458B-BD17-F958BF0C2A6F}"/>
              </a:ext>
            </a:extLst>
          </p:cNvPr>
          <p:cNvGraphicFramePr>
            <a:graphicFrameLocks noGrp="1"/>
          </p:cNvGraphicFramePr>
          <p:nvPr/>
        </p:nvGraphicFramePr>
        <p:xfrm>
          <a:off x="540288" y="1168805"/>
          <a:ext cx="10682722" cy="4324350"/>
        </p:xfrm>
        <a:graphic>
          <a:graphicData uri="http://schemas.openxmlformats.org/drawingml/2006/table">
            <a:tbl>
              <a:tblPr firstRow="1" bandRow="1">
                <a:tableStyleId>{93296810-A885-4BE3-A3E7-6D5BEEA58F35}</a:tableStyleId>
              </a:tblPr>
              <a:tblGrid>
                <a:gridCol w="1264924">
                  <a:extLst>
                    <a:ext uri="{9D8B030D-6E8A-4147-A177-3AD203B41FA5}">
                      <a16:colId xmlns:a16="http://schemas.microsoft.com/office/drawing/2014/main" val="2027741553"/>
                    </a:ext>
                  </a:extLst>
                </a:gridCol>
                <a:gridCol w="4667333">
                  <a:extLst>
                    <a:ext uri="{9D8B030D-6E8A-4147-A177-3AD203B41FA5}">
                      <a16:colId xmlns:a16="http://schemas.microsoft.com/office/drawing/2014/main" val="2212234916"/>
                    </a:ext>
                  </a:extLst>
                </a:gridCol>
                <a:gridCol w="1333537">
                  <a:extLst>
                    <a:ext uri="{9D8B030D-6E8A-4147-A177-3AD203B41FA5}">
                      <a16:colId xmlns:a16="http://schemas.microsoft.com/office/drawing/2014/main" val="3128840304"/>
                    </a:ext>
                  </a:extLst>
                </a:gridCol>
                <a:gridCol w="1275636">
                  <a:extLst>
                    <a:ext uri="{9D8B030D-6E8A-4147-A177-3AD203B41FA5}">
                      <a16:colId xmlns:a16="http://schemas.microsoft.com/office/drawing/2014/main" val="4057921746"/>
                    </a:ext>
                  </a:extLst>
                </a:gridCol>
                <a:gridCol w="2141292">
                  <a:extLst>
                    <a:ext uri="{9D8B030D-6E8A-4147-A177-3AD203B41FA5}">
                      <a16:colId xmlns:a16="http://schemas.microsoft.com/office/drawing/2014/main" val="3642394042"/>
                    </a:ext>
                  </a:extLst>
                </a:gridCol>
              </a:tblGrid>
              <a:tr h="925830">
                <a:tc>
                  <a:txBody>
                    <a:bodyPr/>
                    <a:lstStyle/>
                    <a:p>
                      <a:r>
                        <a:rPr lang="en-US" sz="1100" dirty="0"/>
                        <a:t>Phase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Activities </a:t>
                      </a:r>
                    </a:p>
                    <a:p>
                      <a:endParaRPr lang="en-US" sz="1100" dirty="0"/>
                    </a:p>
                  </a:txBody>
                  <a:tcPr/>
                </a:tc>
                <a:tc>
                  <a:txBody>
                    <a:bodyPr/>
                    <a:lstStyle/>
                    <a:p>
                      <a:r>
                        <a:rPr lang="en-US" sz="1100" dirty="0"/>
                        <a:t>Owner</a:t>
                      </a:r>
                    </a:p>
                  </a:txBody>
                  <a:tcPr/>
                </a:tc>
                <a:tc>
                  <a:txBody>
                    <a:bodyPr/>
                    <a:lstStyle/>
                    <a:p>
                      <a:pPr algn="ctr"/>
                      <a:r>
                        <a:rPr lang="en-US" sz="1100" dirty="0"/>
                        <a:t>Target Week</a:t>
                      </a:r>
                    </a:p>
                  </a:txBody>
                  <a:tcPr/>
                </a:tc>
                <a:tc>
                  <a:txBody>
                    <a:bodyPr/>
                    <a:lstStyle/>
                    <a:p>
                      <a:r>
                        <a:rPr lang="en-US" sz="1100" dirty="0"/>
                        <a:t>Expected Outcome/</a:t>
                      </a:r>
                    </a:p>
                    <a:p>
                      <a:r>
                        <a:rPr lang="en-US" sz="1100" dirty="0"/>
                        <a:t>Deliverables</a:t>
                      </a:r>
                    </a:p>
                  </a:txBody>
                  <a:tcPr/>
                </a:tc>
                <a:extLst>
                  <a:ext uri="{0D108BD9-81ED-4DB2-BD59-A6C34878D82A}">
                    <a16:rowId xmlns:a16="http://schemas.microsoft.com/office/drawing/2014/main" val="1764356976"/>
                  </a:ext>
                </a:extLst>
              </a:tr>
              <a:tr h="375476">
                <a:tc rowSpan="6">
                  <a:txBody>
                    <a:bodyPr/>
                    <a:lstStyle/>
                    <a:p>
                      <a:pPr algn="ctr"/>
                      <a:r>
                        <a:rPr lang="en-US" sz="1100" dirty="0"/>
                        <a:t>Discovery</a:t>
                      </a:r>
                    </a:p>
                  </a:txBody>
                  <a:tcPr/>
                </a:tc>
                <a:tc>
                  <a:txBody>
                    <a:bodyPr/>
                    <a:lstStyle/>
                    <a:p>
                      <a:r>
                        <a:rPr lang="en-US" sz="1100" dirty="0"/>
                        <a:t>Participate in Program Kickoff, Understand NextGen Initiatives and scope of future state transformation programs</a:t>
                      </a:r>
                    </a:p>
                  </a:txBody>
                  <a:tcPr/>
                </a:tc>
                <a:tc>
                  <a:txBody>
                    <a:bodyPr/>
                    <a:lstStyle/>
                    <a:p>
                      <a:r>
                        <a:rPr lang="en-US" sz="1100"/>
                        <a:t>Geoff/</a:t>
                      </a:r>
                    </a:p>
                    <a:p>
                      <a:r>
                        <a:rPr lang="en-US" sz="1100"/>
                        <a:t>Shankar</a:t>
                      </a:r>
                    </a:p>
                  </a:txBody>
                  <a:tcPr/>
                </a:tc>
                <a:tc>
                  <a:txBody>
                    <a:bodyPr/>
                    <a:lstStyle/>
                    <a:p>
                      <a:pPr algn="ctr"/>
                      <a:r>
                        <a:rPr lang="en-US" sz="1100" dirty="0"/>
                        <a:t>W1</a:t>
                      </a:r>
                    </a:p>
                  </a:txBody>
                  <a:tcPr/>
                </a:tc>
                <a:tc>
                  <a:txBody>
                    <a:bodyPr/>
                    <a:lstStyle/>
                    <a:p>
                      <a:r>
                        <a:rPr lang="en-US" sz="1100" dirty="0"/>
                        <a:t>Common understanding of NextGen scope and Approach</a:t>
                      </a:r>
                    </a:p>
                  </a:txBody>
                  <a:tcPr/>
                </a:tc>
                <a:extLst>
                  <a:ext uri="{0D108BD9-81ED-4DB2-BD59-A6C34878D82A}">
                    <a16:rowId xmlns:a16="http://schemas.microsoft.com/office/drawing/2014/main" val="3030336129"/>
                  </a:ext>
                </a:extLst>
              </a:tr>
              <a:tr h="375476">
                <a:tc vMerge="1">
                  <a:txBody>
                    <a:bodyPr/>
                    <a:lstStyle/>
                    <a:p>
                      <a:endParaRPr lang="en-US" sz="1100"/>
                    </a:p>
                  </a:txBody>
                  <a:tcPr/>
                </a:tc>
                <a:tc>
                  <a:txBody>
                    <a:bodyPr/>
                    <a:lstStyle/>
                    <a:p>
                      <a:r>
                        <a:rPr lang="en-US" sz="1100" dirty="0"/>
                        <a:t>Understand the current landscape, Enterprise Architecture vision for future state, key stakeholders of current and NextGen Apps</a:t>
                      </a:r>
                    </a:p>
                  </a:txBody>
                  <a:tcPr/>
                </a:tc>
                <a:tc>
                  <a:txBody>
                    <a:bodyPr/>
                    <a:lstStyle/>
                    <a:p>
                      <a:r>
                        <a:rPr lang="en-US" sz="1100"/>
                        <a:t>Geoff/</a:t>
                      </a:r>
                    </a:p>
                    <a:p>
                      <a:r>
                        <a:rPr lang="en-US" sz="1100"/>
                        <a:t>Shankar</a:t>
                      </a:r>
                    </a:p>
                  </a:txBody>
                  <a:tcPr/>
                </a:tc>
                <a:tc>
                  <a:txBody>
                    <a:bodyPr/>
                    <a:lstStyle/>
                    <a:p>
                      <a:pPr algn="ctr"/>
                      <a:r>
                        <a:rPr lang="en-US" sz="1100" dirty="0"/>
                        <a:t>W1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Identify key stakeholders, current system owners and to be system landscape</a:t>
                      </a:r>
                    </a:p>
                  </a:txBody>
                  <a:tcPr/>
                </a:tc>
                <a:extLst>
                  <a:ext uri="{0D108BD9-81ED-4DB2-BD59-A6C34878D82A}">
                    <a16:rowId xmlns:a16="http://schemas.microsoft.com/office/drawing/2014/main" val="187872957"/>
                  </a:ext>
                </a:extLst>
              </a:tr>
              <a:tr h="375476">
                <a:tc vMerge="1">
                  <a:txBody>
                    <a:bodyPr/>
                    <a:lstStyle/>
                    <a:p>
                      <a:endParaRPr lang="en-US" sz="1100"/>
                    </a:p>
                  </a:txBody>
                  <a:tcPr/>
                </a:tc>
                <a:tc>
                  <a:txBody>
                    <a:bodyPr/>
                    <a:lstStyle/>
                    <a:p>
                      <a:r>
                        <a:rPr lang="en-US" sz="1100" dirty="0"/>
                        <a:t>Understand the Scope, Milestones and CSFs for the MVP</a:t>
                      </a:r>
                    </a:p>
                  </a:txBody>
                  <a:tcPr/>
                </a:tc>
                <a:tc>
                  <a:txBody>
                    <a:bodyPr/>
                    <a:lstStyle/>
                    <a:p>
                      <a:r>
                        <a:rPr lang="en-US" sz="1100"/>
                        <a:t>Geoff</a:t>
                      </a:r>
                    </a:p>
                  </a:txBody>
                  <a:tcPr/>
                </a:tc>
                <a:tc>
                  <a:txBody>
                    <a:bodyPr/>
                    <a:lstStyle/>
                    <a:p>
                      <a:pPr algn="ctr"/>
                      <a:r>
                        <a:rPr lang="en-US" sz="1100" dirty="0"/>
                        <a:t>W2</a:t>
                      </a:r>
                    </a:p>
                  </a:txBody>
                  <a:tcPr/>
                </a:tc>
                <a:tc>
                  <a:txBody>
                    <a:bodyPr/>
                    <a:lstStyle/>
                    <a:p>
                      <a:r>
                        <a:rPr lang="en-US" sz="1100" dirty="0"/>
                        <a:t>Identified dependencies and critical path milestones across process, systems and partners for MVP</a:t>
                      </a:r>
                    </a:p>
                  </a:txBody>
                  <a:tcPr/>
                </a:tc>
                <a:extLst>
                  <a:ext uri="{0D108BD9-81ED-4DB2-BD59-A6C34878D82A}">
                    <a16:rowId xmlns:a16="http://schemas.microsoft.com/office/drawing/2014/main" val="192904392"/>
                  </a:ext>
                </a:extLst>
              </a:tr>
              <a:tr h="375476">
                <a:tc vMerge="1">
                  <a:txBody>
                    <a:bodyPr/>
                    <a:lstStyle/>
                    <a:p>
                      <a:endParaRPr lang="en-US" sz="1100"/>
                    </a:p>
                  </a:txBody>
                  <a:tcPr/>
                </a:tc>
                <a:tc>
                  <a:txBody>
                    <a:bodyPr/>
                    <a:lstStyle/>
                    <a:p>
                      <a:r>
                        <a:rPr lang="en-US" sz="1100" dirty="0"/>
                        <a:t>Participate in workshops and collect inputs for preliminary data dictionary and canonical models required to support MVP Scope</a:t>
                      </a:r>
                    </a:p>
                  </a:txBody>
                  <a:tcPr/>
                </a:tc>
                <a:tc>
                  <a:txBody>
                    <a:bodyPr/>
                    <a:lstStyle/>
                    <a:p>
                      <a:r>
                        <a:rPr lang="en-US" sz="1100" dirty="0"/>
                        <a:t>Geoff</a:t>
                      </a:r>
                    </a:p>
                  </a:txBody>
                  <a:tcPr/>
                </a:tc>
                <a:tc>
                  <a:txBody>
                    <a:bodyPr/>
                    <a:lstStyle/>
                    <a:p>
                      <a:pPr algn="ctr"/>
                      <a:r>
                        <a:rPr lang="en-US" sz="1100" dirty="0"/>
                        <a:t>W1 - 4</a:t>
                      </a:r>
                    </a:p>
                  </a:txBody>
                  <a:tcPr/>
                </a:tc>
                <a:tc>
                  <a:txBody>
                    <a:bodyPr/>
                    <a:lstStyle/>
                    <a:p>
                      <a:pPr marL="0" indent="0">
                        <a:buFont typeface="Arial" panose="020B0604020202020204" pitchFamily="34" charset="0"/>
                        <a:buNone/>
                      </a:pPr>
                      <a:r>
                        <a:rPr lang="en-US" sz="1100" dirty="0"/>
                        <a:t>Present ways of working, roles and responsibilities and </a:t>
                      </a:r>
                    </a:p>
                  </a:txBody>
                  <a:tcPr/>
                </a:tc>
                <a:extLst>
                  <a:ext uri="{0D108BD9-81ED-4DB2-BD59-A6C34878D82A}">
                    <a16:rowId xmlns:a16="http://schemas.microsoft.com/office/drawing/2014/main" val="2415364628"/>
                  </a:ext>
                </a:extLst>
              </a:tr>
              <a:tr h="375476">
                <a:tc vMerge="1">
                  <a:txBody>
                    <a:bodyPr/>
                    <a:lstStyle/>
                    <a:p>
                      <a:endParaRPr lang="en-US" sz="1100"/>
                    </a:p>
                  </a:txBody>
                  <a:tcPr/>
                </a:tc>
                <a:tc>
                  <a:txBody>
                    <a:bodyPr/>
                    <a:lstStyle/>
                    <a:p>
                      <a:r>
                        <a:rPr lang="en-US" sz="1100" dirty="0"/>
                        <a:t>Prepare conceptual integration landscape and release plan for MVP and Milestone Plan for NextGen initiatives</a:t>
                      </a:r>
                    </a:p>
                  </a:txBody>
                  <a:tcPr/>
                </a:tc>
                <a:tc>
                  <a:txBody>
                    <a:bodyPr/>
                    <a:lstStyle/>
                    <a:p>
                      <a:r>
                        <a:rPr lang="en-US" sz="1100" dirty="0"/>
                        <a:t>Geoff</a:t>
                      </a:r>
                    </a:p>
                  </a:txBody>
                  <a:tcPr/>
                </a:tc>
                <a:tc>
                  <a:txBody>
                    <a:bodyPr/>
                    <a:lstStyle/>
                    <a:p>
                      <a:pPr algn="ctr"/>
                      <a:r>
                        <a:rPr lang="en-US" sz="1100" dirty="0"/>
                        <a:t>W3-4</a:t>
                      </a:r>
                    </a:p>
                  </a:txBody>
                  <a:tcPr/>
                </a:tc>
                <a:tc>
                  <a:txBody>
                    <a:bodyPr/>
                    <a:lstStyle/>
                    <a:p>
                      <a:r>
                        <a:rPr lang="en-US" sz="1100" dirty="0"/>
                        <a:t>MVP Release Plan</a:t>
                      </a:r>
                    </a:p>
                    <a:p>
                      <a:r>
                        <a:rPr lang="en-US" sz="1100" dirty="0"/>
                        <a:t>NextGen Transformation Plan</a:t>
                      </a:r>
                    </a:p>
                  </a:txBody>
                  <a:tcPr/>
                </a:tc>
                <a:extLst>
                  <a:ext uri="{0D108BD9-81ED-4DB2-BD59-A6C34878D82A}">
                    <a16:rowId xmlns:a16="http://schemas.microsoft.com/office/drawing/2014/main" val="676785884"/>
                  </a:ext>
                </a:extLst>
              </a:tr>
              <a:tr h="37547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Hold Kick off for IPG Define IPG strategies and practices, Dev Ops processes and Integration governance</a:t>
                      </a:r>
                    </a:p>
                  </a:txBody>
                  <a:tcPr/>
                </a:tc>
                <a:tc>
                  <a:txBody>
                    <a:bodyPr/>
                    <a:lstStyle/>
                    <a:p>
                      <a:r>
                        <a:rPr lang="en-US" sz="1100" dirty="0"/>
                        <a:t>Geoff/Shankar</a:t>
                      </a:r>
                    </a:p>
                  </a:txBody>
                  <a:tcPr/>
                </a:tc>
                <a:tc>
                  <a:txBody>
                    <a:bodyPr/>
                    <a:lstStyle/>
                    <a:p>
                      <a:pPr algn="ctr"/>
                      <a:r>
                        <a:rPr lang="en-US" sz="1100" dirty="0"/>
                        <a:t>W4</a:t>
                      </a:r>
                    </a:p>
                  </a:txBody>
                  <a:tcPr/>
                </a:tc>
                <a:tc>
                  <a:txBody>
                    <a:bodyPr/>
                    <a:lstStyle/>
                    <a:p>
                      <a:pPr marL="0" indent="0">
                        <a:buFont typeface="Arial" panose="020B0604020202020204" pitchFamily="34" charset="0"/>
                        <a:buNone/>
                      </a:pPr>
                      <a:r>
                        <a:rPr lang="en-US" sz="1100" dirty="0"/>
                        <a:t>Agree Integration Design And Build Approach,  Finalize the tool set (CICD /QA/Program management) </a:t>
                      </a:r>
                    </a:p>
                  </a:txBody>
                  <a:tcPr/>
                </a:tc>
                <a:extLst>
                  <a:ext uri="{0D108BD9-81ED-4DB2-BD59-A6C34878D82A}">
                    <a16:rowId xmlns:a16="http://schemas.microsoft.com/office/drawing/2014/main" val="459934666"/>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11011293" cy="1325563"/>
          </a:xfrm>
        </p:spPr>
        <p:txBody>
          <a:bodyPr>
            <a:normAutofit/>
          </a:bodyPr>
          <a:lstStyle/>
          <a:p>
            <a:pPr>
              <a:spcBef>
                <a:spcPts val="0"/>
              </a:spcBef>
            </a:pPr>
            <a:r>
              <a:rPr lang="en-US" sz="3200" dirty="0"/>
              <a:t>IPG Discovery Schedule</a:t>
            </a:r>
          </a:p>
        </p:txBody>
      </p:sp>
    </p:spTree>
    <p:extLst>
      <p:ext uri="{BB962C8B-B14F-4D97-AF65-F5344CB8AC3E}">
        <p14:creationId xmlns:p14="http://schemas.microsoft.com/office/powerpoint/2010/main" val="33713855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EB86723-1879-4937-BD18-B2CAFDA2E52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ct 3" hidden="1">
                        <a:extLst>
                          <a:ext uri="{FF2B5EF4-FFF2-40B4-BE49-F238E27FC236}">
                            <a16:creationId xmlns:a16="http://schemas.microsoft.com/office/drawing/2014/main" id="{2EB86723-1879-4937-BD18-B2CAFDA2E52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4" name="Table 103">
            <a:extLst>
              <a:ext uri="{FF2B5EF4-FFF2-40B4-BE49-F238E27FC236}">
                <a16:creationId xmlns:a16="http://schemas.microsoft.com/office/drawing/2014/main" id="{E85E580B-860B-4213-8264-FFBCE2D9F53F}"/>
              </a:ext>
            </a:extLst>
          </p:cNvPr>
          <p:cNvGraphicFramePr>
            <a:graphicFrameLocks noGrp="1"/>
          </p:cNvGraphicFramePr>
          <p:nvPr/>
        </p:nvGraphicFramePr>
        <p:xfrm>
          <a:off x="378367" y="682721"/>
          <a:ext cx="11469081" cy="6126860"/>
        </p:xfrm>
        <a:graphic>
          <a:graphicData uri="http://schemas.openxmlformats.org/drawingml/2006/table">
            <a:tbl>
              <a:tblPr firstRow="1" bandRow="1"/>
              <a:tblGrid>
                <a:gridCol w="1924666">
                  <a:extLst>
                    <a:ext uri="{9D8B030D-6E8A-4147-A177-3AD203B41FA5}">
                      <a16:colId xmlns:a16="http://schemas.microsoft.com/office/drawing/2014/main" val="702128557"/>
                    </a:ext>
                  </a:extLst>
                </a:gridCol>
                <a:gridCol w="915375">
                  <a:extLst>
                    <a:ext uri="{9D8B030D-6E8A-4147-A177-3AD203B41FA5}">
                      <a16:colId xmlns:a16="http://schemas.microsoft.com/office/drawing/2014/main" val="3453241497"/>
                    </a:ext>
                  </a:extLst>
                </a:gridCol>
                <a:gridCol w="971185">
                  <a:extLst>
                    <a:ext uri="{9D8B030D-6E8A-4147-A177-3AD203B41FA5}">
                      <a16:colId xmlns:a16="http://schemas.microsoft.com/office/drawing/2014/main" val="3830077496"/>
                    </a:ext>
                  </a:extLst>
                </a:gridCol>
                <a:gridCol w="1015838">
                  <a:extLst>
                    <a:ext uri="{9D8B030D-6E8A-4147-A177-3AD203B41FA5}">
                      <a16:colId xmlns:a16="http://schemas.microsoft.com/office/drawing/2014/main" val="1116999727"/>
                    </a:ext>
                  </a:extLst>
                </a:gridCol>
                <a:gridCol w="937967">
                  <a:extLst>
                    <a:ext uri="{9D8B030D-6E8A-4147-A177-3AD203B41FA5}">
                      <a16:colId xmlns:a16="http://schemas.microsoft.com/office/drawing/2014/main" val="1823675650"/>
                    </a:ext>
                  </a:extLst>
                </a:gridCol>
                <a:gridCol w="1140810">
                  <a:extLst>
                    <a:ext uri="{9D8B030D-6E8A-4147-A177-3AD203B41FA5}">
                      <a16:colId xmlns:a16="http://schemas.microsoft.com/office/drawing/2014/main" val="1850247057"/>
                    </a:ext>
                  </a:extLst>
                </a:gridCol>
                <a:gridCol w="1140810">
                  <a:extLst>
                    <a:ext uri="{9D8B030D-6E8A-4147-A177-3AD203B41FA5}">
                      <a16:colId xmlns:a16="http://schemas.microsoft.com/office/drawing/2014/main" val="1842095370"/>
                    </a:ext>
                  </a:extLst>
                </a:gridCol>
                <a:gridCol w="1140810">
                  <a:extLst>
                    <a:ext uri="{9D8B030D-6E8A-4147-A177-3AD203B41FA5}">
                      <a16:colId xmlns:a16="http://schemas.microsoft.com/office/drawing/2014/main" val="1630108107"/>
                    </a:ext>
                  </a:extLst>
                </a:gridCol>
                <a:gridCol w="1140810">
                  <a:extLst>
                    <a:ext uri="{9D8B030D-6E8A-4147-A177-3AD203B41FA5}">
                      <a16:colId xmlns:a16="http://schemas.microsoft.com/office/drawing/2014/main" val="3634664759"/>
                    </a:ext>
                  </a:extLst>
                </a:gridCol>
                <a:gridCol w="1140810">
                  <a:extLst>
                    <a:ext uri="{9D8B030D-6E8A-4147-A177-3AD203B41FA5}">
                      <a16:colId xmlns:a16="http://schemas.microsoft.com/office/drawing/2014/main" val="4259240834"/>
                    </a:ext>
                  </a:extLst>
                </a:gridCol>
              </a:tblGrid>
              <a:tr h="3763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313131"/>
                          </a:solidFill>
                          <a:effectLst/>
                          <a:uLnTx/>
                          <a:uFillTx/>
                          <a:ea typeface="+mn-ea"/>
                          <a:cs typeface="+mn-cs"/>
                        </a:rPr>
                        <a:t>Proposed Development Start: </a:t>
                      </a:r>
                      <a:r>
                        <a:rPr kumimoji="0" lang="en-US" sz="900" b="1" i="1" u="none" strike="noStrike" kern="1200" cap="none" spc="0" normalizeH="0" baseline="0" noProof="0">
                          <a:ln>
                            <a:noFill/>
                          </a:ln>
                          <a:solidFill>
                            <a:srgbClr val="313131"/>
                          </a:solidFill>
                          <a:effectLst/>
                          <a:uLnTx/>
                          <a:uFillTx/>
                          <a:ea typeface="+mn-ea"/>
                          <a:cs typeface="+mn-cs"/>
                        </a:rPr>
                        <a:t>March 27 2023</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March</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April</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May</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Jun</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Jul</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Aug</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Sep</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Oct</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1">
                          <a:solidFill>
                            <a:schemeClr val="accent6"/>
                          </a:solidFill>
                          <a:latin typeface="+mn-lt"/>
                          <a:ea typeface="Open Sans" panose="020B0606030504020204" pitchFamily="34" charset="0"/>
                          <a:cs typeface="Open Sans" panose="020B0606030504020204" pitchFamily="34" charset="0"/>
                        </a:rPr>
                        <a:t>Nov</a:t>
                      </a:r>
                    </a:p>
                  </a:txBody>
                  <a:tcPr marL="89089" marR="89089" marT="44544" marB="4454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881870"/>
                  </a:ext>
                </a:extLst>
              </a:tr>
              <a:tr h="1184902">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Timeline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7471917"/>
                  </a:ext>
                </a:extLst>
              </a:tr>
              <a:tr h="805180">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IPG – Integration Portfolio Governance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9376789"/>
                  </a:ext>
                </a:extLst>
              </a:tr>
              <a:tr h="759661">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ATS - Arch Tools and Security</a:t>
                      </a:r>
                      <a:endParaRPr lang="en-US" sz="1000" b="1" kern="1200">
                        <a:solidFill>
                          <a:schemeClr val="tx1"/>
                        </a:solidFill>
                        <a:latin typeface="+mn-lt"/>
                        <a:ea typeface="Open Sans" panose="020B0606030504020204" pitchFamily="34" charset="0"/>
                        <a:cs typeface="Open Sans" panose="020B0606030504020204" pitchFamily="34" charset="0"/>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0331777"/>
                  </a:ext>
                </a:extLst>
              </a:tr>
              <a:tr h="701749">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IPODS – Integration Pod</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388896"/>
                  </a:ext>
                </a:extLst>
              </a:tr>
              <a:tr h="829340">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RIT – Retail system Integration and QA Testing</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3747723"/>
                  </a:ext>
                </a:extLst>
              </a:tr>
              <a:tr h="734852">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Oracle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4858681"/>
                  </a:ext>
                </a:extLst>
              </a:tr>
              <a:tr h="734852">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Dollar Tree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8950004"/>
                  </a:ext>
                </a:extLst>
              </a:tr>
            </a:tbl>
          </a:graphicData>
        </a:graphic>
      </p:graphicFrame>
      <p:sp>
        <p:nvSpPr>
          <p:cNvPr id="120" name="Title 2">
            <a:extLst>
              <a:ext uri="{FF2B5EF4-FFF2-40B4-BE49-F238E27FC236}">
                <a16:creationId xmlns:a16="http://schemas.microsoft.com/office/drawing/2014/main" id="{FBFCA566-FB8C-4211-9886-DEFA9B8B4542}"/>
              </a:ext>
            </a:extLst>
          </p:cNvPr>
          <p:cNvSpPr>
            <a:spLocks noGrp="1"/>
          </p:cNvSpPr>
          <p:nvPr>
            <p:ph type="title"/>
          </p:nvPr>
        </p:nvSpPr>
        <p:spPr>
          <a:xfrm>
            <a:off x="463295" y="-19043"/>
            <a:ext cx="11277600" cy="400110"/>
          </a:xfrm>
        </p:spPr>
        <p:txBody>
          <a:bodyPr/>
          <a:lstStyle/>
          <a:p>
            <a:r>
              <a:rPr lang="en-US"/>
              <a:t>Timeline</a:t>
            </a:r>
          </a:p>
        </p:txBody>
      </p:sp>
      <p:cxnSp>
        <p:nvCxnSpPr>
          <p:cNvPr id="134" name="Straight Connector 133">
            <a:extLst>
              <a:ext uri="{FF2B5EF4-FFF2-40B4-BE49-F238E27FC236}">
                <a16:creationId xmlns:a16="http://schemas.microsoft.com/office/drawing/2014/main" id="{64616F85-6CFA-45A6-AC06-9187807B8ECD}"/>
              </a:ext>
            </a:extLst>
          </p:cNvPr>
          <p:cNvCxnSpPr>
            <a:cxnSpLocks/>
          </p:cNvCxnSpPr>
          <p:nvPr/>
        </p:nvCxnSpPr>
        <p:spPr>
          <a:xfrm>
            <a:off x="2598516" y="1149483"/>
            <a:ext cx="1395662" cy="0"/>
          </a:xfrm>
          <a:prstGeom prst="line">
            <a:avLst/>
          </a:prstGeom>
          <a:noFill/>
          <a:ln w="57150" cap="flat" cmpd="sng" algn="ctr">
            <a:solidFill>
              <a:srgbClr val="6FC2B4"/>
            </a:solidFill>
            <a:prstDash val="solid"/>
          </a:ln>
          <a:effectLst/>
        </p:spPr>
      </p:cxnSp>
      <p:cxnSp>
        <p:nvCxnSpPr>
          <p:cNvPr id="135" name="Straight Connector 134">
            <a:extLst>
              <a:ext uri="{FF2B5EF4-FFF2-40B4-BE49-F238E27FC236}">
                <a16:creationId xmlns:a16="http://schemas.microsoft.com/office/drawing/2014/main" id="{AB839E15-AF79-4901-8FC9-186012F5BB37}"/>
              </a:ext>
            </a:extLst>
          </p:cNvPr>
          <p:cNvCxnSpPr>
            <a:cxnSpLocks/>
          </p:cNvCxnSpPr>
          <p:nvPr/>
        </p:nvCxnSpPr>
        <p:spPr>
          <a:xfrm flipV="1">
            <a:off x="3407358" y="1324108"/>
            <a:ext cx="2703713" cy="5347"/>
          </a:xfrm>
          <a:prstGeom prst="line">
            <a:avLst/>
          </a:prstGeom>
          <a:noFill/>
          <a:ln w="57150" cap="flat" cmpd="sng" algn="ctr">
            <a:solidFill>
              <a:srgbClr val="6FC2B4"/>
            </a:solidFill>
            <a:prstDash val="solid"/>
          </a:ln>
          <a:effectLst/>
        </p:spPr>
      </p:cxnSp>
      <p:cxnSp>
        <p:nvCxnSpPr>
          <p:cNvPr id="157" name="Straight Connector 156">
            <a:extLst>
              <a:ext uri="{FF2B5EF4-FFF2-40B4-BE49-F238E27FC236}">
                <a16:creationId xmlns:a16="http://schemas.microsoft.com/office/drawing/2014/main" id="{92C456D4-2F42-4A8E-9F77-6E3C5D048431}"/>
              </a:ext>
            </a:extLst>
          </p:cNvPr>
          <p:cNvCxnSpPr>
            <a:cxnSpLocks/>
          </p:cNvCxnSpPr>
          <p:nvPr/>
        </p:nvCxnSpPr>
        <p:spPr>
          <a:xfrm flipV="1">
            <a:off x="4372288" y="1524780"/>
            <a:ext cx="2902159" cy="11436"/>
          </a:xfrm>
          <a:prstGeom prst="line">
            <a:avLst/>
          </a:prstGeom>
          <a:noFill/>
          <a:ln w="57150" cap="flat" cmpd="sng" algn="ctr">
            <a:solidFill>
              <a:srgbClr val="595959"/>
            </a:solidFill>
            <a:prstDash val="solid"/>
          </a:ln>
          <a:effectLst/>
        </p:spPr>
      </p:cxnSp>
      <p:sp>
        <p:nvSpPr>
          <p:cNvPr id="177" name="TextBox 176">
            <a:extLst>
              <a:ext uri="{FF2B5EF4-FFF2-40B4-BE49-F238E27FC236}">
                <a16:creationId xmlns:a16="http://schemas.microsoft.com/office/drawing/2014/main" id="{A726E6E6-27C8-43B2-8D45-DD4F3FE6706D}"/>
              </a:ext>
            </a:extLst>
          </p:cNvPr>
          <p:cNvSpPr txBox="1"/>
          <p:nvPr/>
        </p:nvSpPr>
        <p:spPr>
          <a:xfrm>
            <a:off x="4057624" y="1088690"/>
            <a:ext cx="1101793"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Solution Overview</a:t>
            </a:r>
          </a:p>
        </p:txBody>
      </p:sp>
      <p:sp>
        <p:nvSpPr>
          <p:cNvPr id="188" name="TextBox 187">
            <a:extLst>
              <a:ext uri="{FF2B5EF4-FFF2-40B4-BE49-F238E27FC236}">
                <a16:creationId xmlns:a16="http://schemas.microsoft.com/office/drawing/2014/main" id="{65927EB2-E753-4EDE-970F-4EE91CD07D53}"/>
              </a:ext>
            </a:extLst>
          </p:cNvPr>
          <p:cNvSpPr txBox="1"/>
          <p:nvPr/>
        </p:nvSpPr>
        <p:spPr>
          <a:xfrm>
            <a:off x="8445628" y="1580570"/>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SIT </a:t>
            </a:r>
          </a:p>
        </p:txBody>
      </p:sp>
      <p:sp>
        <p:nvSpPr>
          <p:cNvPr id="189" name="TextBox 188">
            <a:extLst>
              <a:ext uri="{FF2B5EF4-FFF2-40B4-BE49-F238E27FC236}">
                <a16:creationId xmlns:a16="http://schemas.microsoft.com/office/drawing/2014/main" id="{2E09EC51-ACA8-4AE8-ACAF-946BFF787B1C}"/>
              </a:ext>
            </a:extLst>
          </p:cNvPr>
          <p:cNvSpPr txBox="1"/>
          <p:nvPr/>
        </p:nvSpPr>
        <p:spPr>
          <a:xfrm>
            <a:off x="7193800" y="1430663"/>
            <a:ext cx="1557296" cy="200055"/>
          </a:xfrm>
          <a:prstGeom prst="rect">
            <a:avLst/>
          </a:prstGeom>
          <a:noFill/>
        </p:spPr>
        <p:txBody>
          <a:bodyPr wrap="square">
            <a:spAutoFit/>
          </a:bodyPr>
          <a:lstStyle/>
          <a:p>
            <a:pPr marL="8659" marR="0" lvl="0" indent="0" algn="l" defTabSz="831227" rtl="0" eaLnBrk="1" fontAlgn="b"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Configure &amp; Build</a:t>
            </a:r>
          </a:p>
        </p:txBody>
      </p:sp>
      <p:sp>
        <p:nvSpPr>
          <p:cNvPr id="190" name="TextBox 189">
            <a:extLst>
              <a:ext uri="{FF2B5EF4-FFF2-40B4-BE49-F238E27FC236}">
                <a16:creationId xmlns:a16="http://schemas.microsoft.com/office/drawing/2014/main" id="{2389D4E1-0A9F-4DE2-8081-5CB6595453D0}"/>
              </a:ext>
            </a:extLst>
          </p:cNvPr>
          <p:cNvSpPr txBox="1"/>
          <p:nvPr/>
        </p:nvSpPr>
        <p:spPr>
          <a:xfrm>
            <a:off x="6108806" y="1213045"/>
            <a:ext cx="1371291" cy="200055"/>
          </a:xfrm>
          <a:prstGeom prst="rect">
            <a:avLst/>
          </a:prstGeom>
          <a:noFill/>
        </p:spPr>
        <p:txBody>
          <a:bodyPr wrap="square">
            <a:spAutoFit/>
          </a:bodyPr>
          <a:lstStyle/>
          <a:p>
            <a:pPr marL="8659" marR="0" lvl="0" indent="0" algn="l" defTabSz="831227" rtl="0" eaLnBrk="1" fontAlgn="b"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Design Sprints</a:t>
            </a:r>
          </a:p>
        </p:txBody>
      </p:sp>
      <p:grpSp>
        <p:nvGrpSpPr>
          <p:cNvPr id="191" name="Group 190">
            <a:extLst>
              <a:ext uri="{FF2B5EF4-FFF2-40B4-BE49-F238E27FC236}">
                <a16:creationId xmlns:a16="http://schemas.microsoft.com/office/drawing/2014/main" id="{AEF17404-1301-4081-A450-4F62B8F97E68}"/>
              </a:ext>
            </a:extLst>
          </p:cNvPr>
          <p:cNvGrpSpPr/>
          <p:nvPr/>
        </p:nvGrpSpPr>
        <p:grpSpPr>
          <a:xfrm>
            <a:off x="10583842" y="1927914"/>
            <a:ext cx="257544" cy="249382"/>
            <a:chOff x="5859236" y="3546542"/>
            <a:chExt cx="257544" cy="249382"/>
          </a:xfrm>
        </p:grpSpPr>
        <p:sp>
          <p:nvSpPr>
            <p:cNvPr id="192" name="Oval 191">
              <a:extLst>
                <a:ext uri="{FF2B5EF4-FFF2-40B4-BE49-F238E27FC236}">
                  <a16:creationId xmlns:a16="http://schemas.microsoft.com/office/drawing/2014/main" id="{5A9D24E7-DAA0-4B36-8192-7978035FC1BB}"/>
                </a:ext>
              </a:extLst>
            </p:cNvPr>
            <p:cNvSpPr>
              <a:spLocks noChangeArrowheads="1"/>
            </p:cNvSpPr>
            <p:nvPr/>
          </p:nvSpPr>
          <p:spPr bwMode="auto">
            <a:xfrm>
              <a:off x="5859236" y="3546542"/>
              <a:ext cx="257544" cy="249382"/>
            </a:xfrm>
            <a:prstGeom prst="ellipse">
              <a:avLst/>
            </a:prstGeom>
            <a:solidFill>
              <a:srgbClr val="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193" name="Graphic 4">
              <a:extLst>
                <a:ext uri="{FF2B5EF4-FFF2-40B4-BE49-F238E27FC236}">
                  <a16:creationId xmlns:a16="http://schemas.microsoft.com/office/drawing/2014/main" id="{A384BCDC-3485-4F68-8707-FF7E0ED53905}"/>
                </a:ext>
              </a:extLst>
            </p:cNvPr>
            <p:cNvGrpSpPr/>
            <p:nvPr/>
          </p:nvGrpSpPr>
          <p:grpSpPr>
            <a:xfrm>
              <a:off x="5859236" y="3546542"/>
              <a:ext cx="257544" cy="249382"/>
              <a:chOff x="467743" y="2371173"/>
              <a:chExt cx="361670" cy="362610"/>
            </a:xfrm>
            <a:solidFill>
              <a:sysClr val="windowText" lastClr="000000"/>
            </a:solidFill>
          </p:grpSpPr>
          <p:sp>
            <p:nvSpPr>
              <p:cNvPr id="194" name="Graphic 4">
                <a:extLst>
                  <a:ext uri="{FF2B5EF4-FFF2-40B4-BE49-F238E27FC236}">
                    <a16:creationId xmlns:a16="http://schemas.microsoft.com/office/drawing/2014/main" id="{264AE205-9980-4A67-829F-BA1CD1E7142D}"/>
                  </a:ext>
                </a:extLst>
              </p:cNvPr>
              <p:cNvSpPr/>
              <p:nvPr/>
            </p:nvSpPr>
            <p:spPr>
              <a:xfrm>
                <a:off x="467743" y="2371173"/>
                <a:ext cx="361670" cy="362610"/>
              </a:xfrm>
              <a:custGeom>
                <a:avLst/>
                <a:gdLst>
                  <a:gd name="connsiteX0" fmla="*/ 180835 w 361670"/>
                  <a:gd name="connsiteY0" fmla="*/ 349204 h 362610"/>
                  <a:gd name="connsiteX1" fmla="*/ 12780 w 361670"/>
                  <a:gd name="connsiteY1" fmla="*/ 180667 h 362610"/>
                  <a:gd name="connsiteX2" fmla="*/ 180835 w 361670"/>
                  <a:gd name="connsiteY2" fmla="*/ 12130 h 362610"/>
                  <a:gd name="connsiteX3" fmla="*/ 348891 w 361670"/>
                  <a:gd name="connsiteY3" fmla="*/ 180667 h 362610"/>
                  <a:gd name="connsiteX4" fmla="*/ 180835 w 361670"/>
                  <a:gd name="connsiteY4" fmla="*/ 349204 h 362610"/>
                  <a:gd name="connsiteX5" fmla="*/ 180835 w 361670"/>
                  <a:gd name="connsiteY5" fmla="*/ 0 h 362610"/>
                  <a:gd name="connsiteX6" fmla="*/ 0 w 361670"/>
                  <a:gd name="connsiteY6" fmla="*/ 181305 h 362610"/>
                  <a:gd name="connsiteX7" fmla="*/ 180835 w 361670"/>
                  <a:gd name="connsiteY7" fmla="*/ 362610 h 362610"/>
                  <a:gd name="connsiteX8" fmla="*/ 361670 w 361670"/>
                  <a:gd name="connsiteY8" fmla="*/ 181305 h 362610"/>
                  <a:gd name="connsiteX9" fmla="*/ 361670 w 361670"/>
                  <a:gd name="connsiteY9" fmla="*/ 181305 h 362610"/>
                  <a:gd name="connsiteX10" fmla="*/ 180835 w 361670"/>
                  <a:gd name="connsiteY10" fmla="*/ 0 h 362610"/>
                  <a:gd name="connsiteX11" fmla="*/ 180835 w 361670"/>
                  <a:gd name="connsiteY11" fmla="*/ 0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670" h="362610">
                    <a:moveTo>
                      <a:pt x="180835" y="349204"/>
                    </a:moveTo>
                    <a:cubicBezTo>
                      <a:pt x="87542" y="349204"/>
                      <a:pt x="12780" y="273873"/>
                      <a:pt x="12780" y="180667"/>
                    </a:cubicBezTo>
                    <a:cubicBezTo>
                      <a:pt x="12780" y="87461"/>
                      <a:pt x="88181" y="12130"/>
                      <a:pt x="180835" y="12130"/>
                    </a:cubicBezTo>
                    <a:cubicBezTo>
                      <a:pt x="273489" y="12130"/>
                      <a:pt x="348891" y="87461"/>
                      <a:pt x="348891" y="180667"/>
                    </a:cubicBezTo>
                    <a:cubicBezTo>
                      <a:pt x="348891" y="273873"/>
                      <a:pt x="273489" y="349204"/>
                      <a:pt x="180835" y="349204"/>
                    </a:cubicBezTo>
                    <a:moveTo>
                      <a:pt x="180835" y="0"/>
                    </a:moveTo>
                    <a:cubicBezTo>
                      <a:pt x="80513" y="0"/>
                      <a:pt x="0" y="81077"/>
                      <a:pt x="0" y="181305"/>
                    </a:cubicBezTo>
                    <a:cubicBezTo>
                      <a:pt x="0" y="281534"/>
                      <a:pt x="81152" y="362610"/>
                      <a:pt x="180835" y="362610"/>
                    </a:cubicBezTo>
                    <a:cubicBezTo>
                      <a:pt x="280518" y="362610"/>
                      <a:pt x="361670" y="281534"/>
                      <a:pt x="361670" y="181305"/>
                    </a:cubicBezTo>
                    <a:cubicBezTo>
                      <a:pt x="361670" y="181305"/>
                      <a:pt x="361670" y="181305"/>
                      <a:pt x="361670" y="181305"/>
                    </a:cubicBezTo>
                    <a:cubicBezTo>
                      <a:pt x="361670" y="81077"/>
                      <a:pt x="281157" y="0"/>
                      <a:pt x="180835" y="0"/>
                    </a:cubicBezTo>
                    <a:cubicBezTo>
                      <a:pt x="180835" y="0"/>
                      <a:pt x="180835" y="0"/>
                      <a:pt x="180835" y="0"/>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195" name="Graphic 4">
                <a:extLst>
                  <a:ext uri="{FF2B5EF4-FFF2-40B4-BE49-F238E27FC236}">
                    <a16:creationId xmlns:a16="http://schemas.microsoft.com/office/drawing/2014/main" id="{D51D000C-30EB-4CC7-82F2-5FD3D7686138}"/>
                  </a:ext>
                </a:extLst>
              </p:cNvPr>
              <p:cNvSpPr/>
              <p:nvPr/>
            </p:nvSpPr>
            <p:spPr>
              <a:xfrm>
                <a:off x="544800" y="2440759"/>
                <a:ext cx="206277" cy="222800"/>
              </a:xfrm>
              <a:custGeom>
                <a:avLst/>
                <a:gdLst>
                  <a:gd name="connsiteX0" fmla="*/ 170872 w 206277"/>
                  <a:gd name="connsiteY0" fmla="*/ 112996 h 222800"/>
                  <a:gd name="connsiteX1" fmla="*/ 147869 w 206277"/>
                  <a:gd name="connsiteY1" fmla="*/ 129595 h 222800"/>
                  <a:gd name="connsiteX2" fmla="*/ 161926 w 206277"/>
                  <a:gd name="connsiteY2" fmla="*/ 52987 h 222800"/>
                  <a:gd name="connsiteX3" fmla="*/ 190681 w 206277"/>
                  <a:gd name="connsiteY3" fmla="*/ 56179 h 222800"/>
                  <a:gd name="connsiteX4" fmla="*/ 170872 w 206277"/>
                  <a:gd name="connsiteY4" fmla="*/ 112996 h 222800"/>
                  <a:gd name="connsiteX5" fmla="*/ 103778 w 206277"/>
                  <a:gd name="connsiteY5" fmla="*/ 158323 h 222800"/>
                  <a:gd name="connsiteX6" fmla="*/ 85886 w 206277"/>
                  <a:gd name="connsiteY6" fmla="*/ 150024 h 222800"/>
                  <a:gd name="connsiteX7" fmla="*/ 57770 w 206277"/>
                  <a:gd name="connsiteY7" fmla="*/ 13406 h 222800"/>
                  <a:gd name="connsiteX8" fmla="*/ 149786 w 206277"/>
                  <a:gd name="connsiteY8" fmla="*/ 13406 h 222800"/>
                  <a:gd name="connsiteX9" fmla="*/ 121670 w 206277"/>
                  <a:gd name="connsiteY9" fmla="*/ 150024 h 222800"/>
                  <a:gd name="connsiteX10" fmla="*/ 103778 w 206277"/>
                  <a:gd name="connsiteY10" fmla="*/ 158323 h 222800"/>
                  <a:gd name="connsiteX11" fmla="*/ 90998 w 206277"/>
                  <a:gd name="connsiteY11" fmla="*/ 210033 h 222800"/>
                  <a:gd name="connsiteX12" fmla="*/ 103778 w 206277"/>
                  <a:gd name="connsiteY12" fmla="*/ 180667 h 222800"/>
                  <a:gd name="connsiteX13" fmla="*/ 116558 w 206277"/>
                  <a:gd name="connsiteY13" fmla="*/ 210033 h 222800"/>
                  <a:gd name="connsiteX14" fmla="*/ 90998 w 206277"/>
                  <a:gd name="connsiteY14" fmla="*/ 210033 h 222800"/>
                  <a:gd name="connsiteX15" fmla="*/ 36684 w 206277"/>
                  <a:gd name="connsiteY15" fmla="*/ 112996 h 222800"/>
                  <a:gd name="connsiteX16" fmla="*/ 17514 w 206277"/>
                  <a:gd name="connsiteY16" fmla="*/ 55541 h 222800"/>
                  <a:gd name="connsiteX17" fmla="*/ 46269 w 206277"/>
                  <a:gd name="connsiteY17" fmla="*/ 52349 h 222800"/>
                  <a:gd name="connsiteX18" fmla="*/ 60326 w 206277"/>
                  <a:gd name="connsiteY18" fmla="*/ 129595 h 222800"/>
                  <a:gd name="connsiteX19" fmla="*/ 36684 w 206277"/>
                  <a:gd name="connsiteY19" fmla="*/ 112996 h 222800"/>
                  <a:gd name="connsiteX20" fmla="*/ 162565 w 206277"/>
                  <a:gd name="connsiteY20" fmla="*/ 39581 h 222800"/>
                  <a:gd name="connsiteX21" fmla="*/ 162565 w 206277"/>
                  <a:gd name="connsiteY21" fmla="*/ 6384 h 222800"/>
                  <a:gd name="connsiteX22" fmla="*/ 156175 w 206277"/>
                  <a:gd name="connsiteY22" fmla="*/ 0 h 222800"/>
                  <a:gd name="connsiteX23" fmla="*/ 51381 w 206277"/>
                  <a:gd name="connsiteY23" fmla="*/ 0 h 222800"/>
                  <a:gd name="connsiteX24" fmla="*/ 44991 w 206277"/>
                  <a:gd name="connsiteY24" fmla="*/ 6384 h 222800"/>
                  <a:gd name="connsiteX25" fmla="*/ 44991 w 206277"/>
                  <a:gd name="connsiteY25" fmla="*/ 39581 h 222800"/>
                  <a:gd name="connsiteX26" fmla="*/ 7929 w 206277"/>
                  <a:gd name="connsiteY26" fmla="*/ 47241 h 222800"/>
                  <a:gd name="connsiteX27" fmla="*/ 27738 w 206277"/>
                  <a:gd name="connsiteY27" fmla="*/ 122572 h 222800"/>
                  <a:gd name="connsiteX28" fmla="*/ 67994 w 206277"/>
                  <a:gd name="connsiteY28" fmla="*/ 147470 h 222800"/>
                  <a:gd name="connsiteX29" fmla="*/ 76301 w 206277"/>
                  <a:gd name="connsiteY29" fmla="*/ 158323 h 222800"/>
                  <a:gd name="connsiteX30" fmla="*/ 94193 w 206277"/>
                  <a:gd name="connsiteY30" fmla="*/ 169176 h 222800"/>
                  <a:gd name="connsiteX31" fmla="*/ 75023 w 206277"/>
                  <a:gd name="connsiteY31" fmla="*/ 213863 h 222800"/>
                  <a:gd name="connsiteX32" fmla="*/ 78218 w 206277"/>
                  <a:gd name="connsiteY32" fmla="*/ 222163 h 222800"/>
                  <a:gd name="connsiteX33" fmla="*/ 80774 w 206277"/>
                  <a:gd name="connsiteY33" fmla="*/ 222801 h 222800"/>
                  <a:gd name="connsiteX34" fmla="*/ 125504 w 206277"/>
                  <a:gd name="connsiteY34" fmla="*/ 222801 h 222800"/>
                  <a:gd name="connsiteX35" fmla="*/ 130616 w 206277"/>
                  <a:gd name="connsiteY35" fmla="*/ 219609 h 222800"/>
                  <a:gd name="connsiteX36" fmla="*/ 131255 w 206277"/>
                  <a:gd name="connsiteY36" fmla="*/ 213225 h 222800"/>
                  <a:gd name="connsiteX37" fmla="*/ 112085 w 206277"/>
                  <a:gd name="connsiteY37" fmla="*/ 168537 h 222800"/>
                  <a:gd name="connsiteX38" fmla="*/ 129977 w 206277"/>
                  <a:gd name="connsiteY38" fmla="*/ 157684 h 222800"/>
                  <a:gd name="connsiteX39" fmla="*/ 138284 w 206277"/>
                  <a:gd name="connsiteY39" fmla="*/ 146193 h 222800"/>
                  <a:gd name="connsiteX40" fmla="*/ 178540 w 206277"/>
                  <a:gd name="connsiteY40" fmla="*/ 121934 h 222800"/>
                  <a:gd name="connsiteX41" fmla="*/ 198349 w 206277"/>
                  <a:gd name="connsiteY41" fmla="*/ 46603 h 222800"/>
                  <a:gd name="connsiteX42" fmla="*/ 162565 w 206277"/>
                  <a:gd name="connsiteY42" fmla="*/ 39581 h 22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6277" h="222800">
                    <a:moveTo>
                      <a:pt x="170872" y="112996"/>
                    </a:moveTo>
                    <a:cubicBezTo>
                      <a:pt x="163843" y="119380"/>
                      <a:pt x="156175" y="125126"/>
                      <a:pt x="147869" y="129595"/>
                    </a:cubicBezTo>
                    <a:cubicBezTo>
                      <a:pt x="156175" y="104697"/>
                      <a:pt x="160648" y="79161"/>
                      <a:pt x="161926" y="52987"/>
                    </a:cubicBezTo>
                    <a:cubicBezTo>
                      <a:pt x="174706" y="49157"/>
                      <a:pt x="184930" y="49795"/>
                      <a:pt x="190681" y="56179"/>
                    </a:cubicBezTo>
                    <a:cubicBezTo>
                      <a:pt x="200905" y="67032"/>
                      <a:pt x="191959" y="93206"/>
                      <a:pt x="170872" y="112996"/>
                    </a:cubicBezTo>
                    <a:moveTo>
                      <a:pt x="103778" y="158323"/>
                    </a:moveTo>
                    <a:cubicBezTo>
                      <a:pt x="96749" y="158323"/>
                      <a:pt x="90359" y="155131"/>
                      <a:pt x="85886" y="150024"/>
                    </a:cubicBezTo>
                    <a:cubicBezTo>
                      <a:pt x="59048" y="121934"/>
                      <a:pt x="57770" y="37027"/>
                      <a:pt x="57770" y="13406"/>
                    </a:cubicBezTo>
                    <a:lnTo>
                      <a:pt x="149786" y="13406"/>
                    </a:lnTo>
                    <a:cubicBezTo>
                      <a:pt x="149786" y="37027"/>
                      <a:pt x="148508" y="121934"/>
                      <a:pt x="121670" y="150024"/>
                    </a:cubicBezTo>
                    <a:cubicBezTo>
                      <a:pt x="117836" y="155131"/>
                      <a:pt x="110807" y="157684"/>
                      <a:pt x="103778" y="158323"/>
                    </a:cubicBezTo>
                    <a:moveTo>
                      <a:pt x="90998" y="210033"/>
                    </a:moveTo>
                    <a:lnTo>
                      <a:pt x="103778" y="180667"/>
                    </a:lnTo>
                    <a:lnTo>
                      <a:pt x="116558" y="210033"/>
                    </a:lnTo>
                    <a:lnTo>
                      <a:pt x="90998" y="210033"/>
                    </a:lnTo>
                    <a:close/>
                    <a:moveTo>
                      <a:pt x="36684" y="112996"/>
                    </a:moveTo>
                    <a:cubicBezTo>
                      <a:pt x="15597" y="93206"/>
                      <a:pt x="6651" y="67032"/>
                      <a:pt x="17514" y="55541"/>
                    </a:cubicBezTo>
                    <a:cubicBezTo>
                      <a:pt x="23265" y="49795"/>
                      <a:pt x="33489" y="48518"/>
                      <a:pt x="46269" y="52349"/>
                    </a:cubicBezTo>
                    <a:cubicBezTo>
                      <a:pt x="47547" y="78523"/>
                      <a:pt x="52020" y="104697"/>
                      <a:pt x="60326" y="129595"/>
                    </a:cubicBezTo>
                    <a:cubicBezTo>
                      <a:pt x="52020" y="125126"/>
                      <a:pt x="43713" y="119380"/>
                      <a:pt x="36684" y="112996"/>
                    </a:cubicBezTo>
                    <a:moveTo>
                      <a:pt x="162565" y="39581"/>
                    </a:moveTo>
                    <a:cubicBezTo>
                      <a:pt x="163204" y="21067"/>
                      <a:pt x="162565" y="8299"/>
                      <a:pt x="162565" y="6384"/>
                    </a:cubicBezTo>
                    <a:cubicBezTo>
                      <a:pt x="162565" y="2554"/>
                      <a:pt x="160009" y="0"/>
                      <a:pt x="156175" y="0"/>
                    </a:cubicBezTo>
                    <a:lnTo>
                      <a:pt x="51381" y="0"/>
                    </a:lnTo>
                    <a:cubicBezTo>
                      <a:pt x="47547" y="0"/>
                      <a:pt x="44991" y="2554"/>
                      <a:pt x="44991" y="6384"/>
                    </a:cubicBezTo>
                    <a:cubicBezTo>
                      <a:pt x="44991" y="7661"/>
                      <a:pt x="44352" y="21067"/>
                      <a:pt x="44991" y="39581"/>
                    </a:cubicBezTo>
                    <a:cubicBezTo>
                      <a:pt x="29655" y="35750"/>
                      <a:pt x="16236" y="38304"/>
                      <a:pt x="7929" y="47241"/>
                    </a:cubicBezTo>
                    <a:cubicBezTo>
                      <a:pt x="-8046" y="64478"/>
                      <a:pt x="900" y="97675"/>
                      <a:pt x="27738" y="122572"/>
                    </a:cubicBezTo>
                    <a:cubicBezTo>
                      <a:pt x="39240" y="133425"/>
                      <a:pt x="53297" y="142363"/>
                      <a:pt x="67994" y="147470"/>
                    </a:cubicBezTo>
                    <a:cubicBezTo>
                      <a:pt x="70550" y="151300"/>
                      <a:pt x="73106" y="155131"/>
                      <a:pt x="76301" y="158323"/>
                    </a:cubicBezTo>
                    <a:cubicBezTo>
                      <a:pt x="81413" y="163430"/>
                      <a:pt x="87803" y="167260"/>
                      <a:pt x="94193" y="169176"/>
                    </a:cubicBezTo>
                    <a:lnTo>
                      <a:pt x="75023" y="213863"/>
                    </a:lnTo>
                    <a:cubicBezTo>
                      <a:pt x="73745" y="217055"/>
                      <a:pt x="75023" y="220886"/>
                      <a:pt x="78218" y="222163"/>
                    </a:cubicBezTo>
                    <a:cubicBezTo>
                      <a:pt x="78857" y="222801"/>
                      <a:pt x="80135" y="222801"/>
                      <a:pt x="80774" y="222801"/>
                    </a:cubicBezTo>
                    <a:lnTo>
                      <a:pt x="125504" y="222801"/>
                    </a:lnTo>
                    <a:cubicBezTo>
                      <a:pt x="127421" y="222801"/>
                      <a:pt x="129977" y="221524"/>
                      <a:pt x="130616" y="219609"/>
                    </a:cubicBezTo>
                    <a:cubicBezTo>
                      <a:pt x="131894" y="217694"/>
                      <a:pt x="131894" y="215140"/>
                      <a:pt x="131255" y="213225"/>
                    </a:cubicBezTo>
                    <a:lnTo>
                      <a:pt x="112085" y="168537"/>
                    </a:lnTo>
                    <a:cubicBezTo>
                      <a:pt x="119114" y="166622"/>
                      <a:pt x="125504" y="162792"/>
                      <a:pt x="129977" y="157684"/>
                    </a:cubicBezTo>
                    <a:cubicBezTo>
                      <a:pt x="133172" y="154492"/>
                      <a:pt x="136367" y="150662"/>
                      <a:pt x="138284" y="146193"/>
                    </a:cubicBezTo>
                    <a:cubicBezTo>
                      <a:pt x="152980" y="140448"/>
                      <a:pt x="167038" y="132148"/>
                      <a:pt x="178540" y="121934"/>
                    </a:cubicBezTo>
                    <a:cubicBezTo>
                      <a:pt x="205378" y="96398"/>
                      <a:pt x="214324" y="63201"/>
                      <a:pt x="198349" y="46603"/>
                    </a:cubicBezTo>
                    <a:cubicBezTo>
                      <a:pt x="190681" y="37665"/>
                      <a:pt x="177262" y="35112"/>
                      <a:pt x="162565" y="39581"/>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196" name="Group 195">
            <a:extLst>
              <a:ext uri="{FF2B5EF4-FFF2-40B4-BE49-F238E27FC236}">
                <a16:creationId xmlns:a16="http://schemas.microsoft.com/office/drawing/2014/main" id="{7166623D-1CC9-4496-B3A5-23E60D0E78C1}"/>
              </a:ext>
            </a:extLst>
          </p:cNvPr>
          <p:cNvGrpSpPr/>
          <p:nvPr/>
        </p:nvGrpSpPr>
        <p:grpSpPr>
          <a:xfrm>
            <a:off x="5410905" y="1438486"/>
            <a:ext cx="257544" cy="249382"/>
            <a:chOff x="3496837" y="2461236"/>
            <a:chExt cx="257544" cy="249382"/>
          </a:xfrm>
        </p:grpSpPr>
        <p:sp>
          <p:nvSpPr>
            <p:cNvPr id="197" name="Oval 196">
              <a:extLst>
                <a:ext uri="{FF2B5EF4-FFF2-40B4-BE49-F238E27FC236}">
                  <a16:creationId xmlns:a16="http://schemas.microsoft.com/office/drawing/2014/main" id="{40529C9D-9F16-4486-A527-A47361E02E1A}"/>
                </a:ext>
              </a:extLst>
            </p:cNvPr>
            <p:cNvSpPr>
              <a:spLocks noChangeArrowheads="1"/>
            </p:cNvSpPr>
            <p:nvPr/>
          </p:nvSpPr>
          <p:spPr bwMode="auto">
            <a:xfrm>
              <a:off x="3496837"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198" name="Graphic 4">
              <a:extLst>
                <a:ext uri="{FF2B5EF4-FFF2-40B4-BE49-F238E27FC236}">
                  <a16:creationId xmlns:a16="http://schemas.microsoft.com/office/drawing/2014/main" id="{B68829A4-7584-4318-82A5-B976BD4F9C9C}"/>
                </a:ext>
              </a:extLst>
            </p:cNvPr>
            <p:cNvGrpSpPr/>
            <p:nvPr/>
          </p:nvGrpSpPr>
          <p:grpSpPr>
            <a:xfrm>
              <a:off x="3496837" y="2461236"/>
              <a:ext cx="257544" cy="249382"/>
              <a:chOff x="3607758" y="1402723"/>
              <a:chExt cx="362309" cy="361971"/>
            </a:xfrm>
            <a:solidFill>
              <a:sysClr val="windowText" lastClr="000000"/>
            </a:solidFill>
          </p:grpSpPr>
          <p:sp>
            <p:nvSpPr>
              <p:cNvPr id="199" name="Graphic 4">
                <a:extLst>
                  <a:ext uri="{FF2B5EF4-FFF2-40B4-BE49-F238E27FC236}">
                    <a16:creationId xmlns:a16="http://schemas.microsoft.com/office/drawing/2014/main" id="{0BCAE6BD-C4EF-4E32-AC43-D1B39219E99D}"/>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0" name="Graphic 4">
                <a:extLst>
                  <a:ext uri="{FF2B5EF4-FFF2-40B4-BE49-F238E27FC236}">
                    <a16:creationId xmlns:a16="http://schemas.microsoft.com/office/drawing/2014/main" id="{1986E84A-54D6-4479-BFB0-9DED142DE812}"/>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1" name="Graphic 4">
                <a:extLst>
                  <a:ext uri="{FF2B5EF4-FFF2-40B4-BE49-F238E27FC236}">
                    <a16:creationId xmlns:a16="http://schemas.microsoft.com/office/drawing/2014/main" id="{85EE9A7C-D5A5-44D9-AA21-CDF410AAC57E}"/>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8" name="Graphic 4">
                <a:extLst>
                  <a:ext uri="{FF2B5EF4-FFF2-40B4-BE49-F238E27FC236}">
                    <a16:creationId xmlns:a16="http://schemas.microsoft.com/office/drawing/2014/main" id="{FD172C39-C556-455A-A6CF-749B156FFBCD}"/>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9" name="Graphic 4">
                <a:extLst>
                  <a:ext uri="{FF2B5EF4-FFF2-40B4-BE49-F238E27FC236}">
                    <a16:creationId xmlns:a16="http://schemas.microsoft.com/office/drawing/2014/main" id="{550CCB5C-D1EF-4601-82A8-3E0D6FB43BBB}"/>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0" name="Graphic 4">
                <a:extLst>
                  <a:ext uri="{FF2B5EF4-FFF2-40B4-BE49-F238E27FC236}">
                    <a16:creationId xmlns:a16="http://schemas.microsoft.com/office/drawing/2014/main" id="{637DE873-FD44-4580-A4E4-DE599170C5B6}"/>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1" name="Graphic 4">
                <a:extLst>
                  <a:ext uri="{FF2B5EF4-FFF2-40B4-BE49-F238E27FC236}">
                    <a16:creationId xmlns:a16="http://schemas.microsoft.com/office/drawing/2014/main" id="{5E444436-C539-44B3-B28B-22B0A8F83670}"/>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2" name="Graphic 4">
                <a:extLst>
                  <a:ext uri="{FF2B5EF4-FFF2-40B4-BE49-F238E27FC236}">
                    <a16:creationId xmlns:a16="http://schemas.microsoft.com/office/drawing/2014/main" id="{B951FC30-4AC8-40BD-A27F-7DACC5BEBFE3}"/>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14" name="Group 213">
            <a:extLst>
              <a:ext uri="{FF2B5EF4-FFF2-40B4-BE49-F238E27FC236}">
                <a16:creationId xmlns:a16="http://schemas.microsoft.com/office/drawing/2014/main" id="{F086D0CA-2357-4695-90F8-687DA77D9B23}"/>
              </a:ext>
            </a:extLst>
          </p:cNvPr>
          <p:cNvGrpSpPr/>
          <p:nvPr/>
        </p:nvGrpSpPr>
        <p:grpSpPr>
          <a:xfrm>
            <a:off x="4517074" y="1427835"/>
            <a:ext cx="257544" cy="249382"/>
            <a:chOff x="2951069" y="2461236"/>
            <a:chExt cx="257544" cy="249382"/>
          </a:xfrm>
        </p:grpSpPr>
        <p:sp>
          <p:nvSpPr>
            <p:cNvPr id="215" name="Oval 214">
              <a:extLst>
                <a:ext uri="{FF2B5EF4-FFF2-40B4-BE49-F238E27FC236}">
                  <a16:creationId xmlns:a16="http://schemas.microsoft.com/office/drawing/2014/main" id="{ACFB3260-E468-457C-B499-44060E14FD25}"/>
                </a:ext>
              </a:extLst>
            </p:cNvPr>
            <p:cNvSpPr>
              <a:spLocks noChangeArrowheads="1"/>
            </p:cNvSpPr>
            <p:nvPr/>
          </p:nvSpPr>
          <p:spPr bwMode="auto">
            <a:xfrm>
              <a:off x="2951069"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16" name="Graphic 4">
              <a:extLst>
                <a:ext uri="{FF2B5EF4-FFF2-40B4-BE49-F238E27FC236}">
                  <a16:creationId xmlns:a16="http://schemas.microsoft.com/office/drawing/2014/main" id="{6C89CE72-C481-4B3E-8980-A07EB20F96C3}"/>
                </a:ext>
              </a:extLst>
            </p:cNvPr>
            <p:cNvGrpSpPr/>
            <p:nvPr/>
          </p:nvGrpSpPr>
          <p:grpSpPr>
            <a:xfrm>
              <a:off x="2951069" y="2461236"/>
              <a:ext cx="257544" cy="249382"/>
              <a:chOff x="3607758" y="1402723"/>
              <a:chExt cx="362309" cy="361971"/>
            </a:xfrm>
            <a:solidFill>
              <a:sysClr val="windowText" lastClr="000000"/>
            </a:solidFill>
          </p:grpSpPr>
          <p:sp>
            <p:nvSpPr>
              <p:cNvPr id="217" name="Graphic 4">
                <a:extLst>
                  <a:ext uri="{FF2B5EF4-FFF2-40B4-BE49-F238E27FC236}">
                    <a16:creationId xmlns:a16="http://schemas.microsoft.com/office/drawing/2014/main" id="{D7FF9DD4-E08C-4E75-BED2-8174D9C7FEF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8" name="Graphic 4">
                <a:extLst>
                  <a:ext uri="{FF2B5EF4-FFF2-40B4-BE49-F238E27FC236}">
                    <a16:creationId xmlns:a16="http://schemas.microsoft.com/office/drawing/2014/main" id="{CAB287D4-6DD2-4D5A-859A-0280C04E3997}"/>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9" name="Graphic 4">
                <a:extLst>
                  <a:ext uri="{FF2B5EF4-FFF2-40B4-BE49-F238E27FC236}">
                    <a16:creationId xmlns:a16="http://schemas.microsoft.com/office/drawing/2014/main" id="{B54FC09C-313E-427C-BA8B-2306C6543F3A}"/>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0" name="Graphic 4">
                <a:extLst>
                  <a:ext uri="{FF2B5EF4-FFF2-40B4-BE49-F238E27FC236}">
                    <a16:creationId xmlns:a16="http://schemas.microsoft.com/office/drawing/2014/main" id="{239A8C2E-59F4-45F9-ADE1-C72B31580963}"/>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1" name="Graphic 4">
                <a:extLst>
                  <a:ext uri="{FF2B5EF4-FFF2-40B4-BE49-F238E27FC236}">
                    <a16:creationId xmlns:a16="http://schemas.microsoft.com/office/drawing/2014/main" id="{57C0E76F-442D-4995-9052-0D9248347365}"/>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2" name="Graphic 4">
                <a:extLst>
                  <a:ext uri="{FF2B5EF4-FFF2-40B4-BE49-F238E27FC236}">
                    <a16:creationId xmlns:a16="http://schemas.microsoft.com/office/drawing/2014/main" id="{FF9BC537-9D6F-48B4-A645-81CEFCE0D373}"/>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3" name="Graphic 4">
                <a:extLst>
                  <a:ext uri="{FF2B5EF4-FFF2-40B4-BE49-F238E27FC236}">
                    <a16:creationId xmlns:a16="http://schemas.microsoft.com/office/drawing/2014/main" id="{53C6E7D5-C333-49A3-BE7E-304375905E63}"/>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4" name="Graphic 4">
                <a:extLst>
                  <a:ext uri="{FF2B5EF4-FFF2-40B4-BE49-F238E27FC236}">
                    <a16:creationId xmlns:a16="http://schemas.microsoft.com/office/drawing/2014/main" id="{14ED724E-BF0B-4387-B4EE-6BFB5B5AC229}"/>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25" name="Group 224">
            <a:extLst>
              <a:ext uri="{FF2B5EF4-FFF2-40B4-BE49-F238E27FC236}">
                <a16:creationId xmlns:a16="http://schemas.microsoft.com/office/drawing/2014/main" id="{41AD7D47-9971-4DD9-A51B-D0805C31A0DD}"/>
              </a:ext>
            </a:extLst>
          </p:cNvPr>
          <p:cNvGrpSpPr/>
          <p:nvPr/>
        </p:nvGrpSpPr>
        <p:grpSpPr>
          <a:xfrm>
            <a:off x="6319202" y="1398389"/>
            <a:ext cx="257544" cy="249382"/>
            <a:chOff x="4042606" y="2461236"/>
            <a:chExt cx="257544" cy="249382"/>
          </a:xfrm>
        </p:grpSpPr>
        <p:sp>
          <p:nvSpPr>
            <p:cNvPr id="226" name="Oval 225">
              <a:extLst>
                <a:ext uri="{FF2B5EF4-FFF2-40B4-BE49-F238E27FC236}">
                  <a16:creationId xmlns:a16="http://schemas.microsoft.com/office/drawing/2014/main" id="{C7FAE797-46CA-42C9-967E-CFDBB2305B73}"/>
                </a:ext>
              </a:extLst>
            </p:cNvPr>
            <p:cNvSpPr>
              <a:spLocks noChangeArrowheads="1"/>
            </p:cNvSpPr>
            <p:nvPr/>
          </p:nvSpPr>
          <p:spPr bwMode="auto">
            <a:xfrm>
              <a:off x="4042606"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27" name="Graphic 4">
              <a:extLst>
                <a:ext uri="{FF2B5EF4-FFF2-40B4-BE49-F238E27FC236}">
                  <a16:creationId xmlns:a16="http://schemas.microsoft.com/office/drawing/2014/main" id="{4CFE5A31-4F23-421C-B2DD-931359503B19}"/>
                </a:ext>
              </a:extLst>
            </p:cNvPr>
            <p:cNvGrpSpPr/>
            <p:nvPr/>
          </p:nvGrpSpPr>
          <p:grpSpPr>
            <a:xfrm>
              <a:off x="4042606" y="2461236"/>
              <a:ext cx="257544" cy="249382"/>
              <a:chOff x="3607758" y="1402723"/>
              <a:chExt cx="362309" cy="361971"/>
            </a:xfrm>
            <a:solidFill>
              <a:sysClr val="windowText" lastClr="000000"/>
            </a:solidFill>
          </p:grpSpPr>
          <p:sp>
            <p:nvSpPr>
              <p:cNvPr id="228" name="Graphic 4">
                <a:extLst>
                  <a:ext uri="{FF2B5EF4-FFF2-40B4-BE49-F238E27FC236}">
                    <a16:creationId xmlns:a16="http://schemas.microsoft.com/office/drawing/2014/main" id="{134BEB87-63AE-4DAA-BD00-BA983D0ACCAE}"/>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9" name="Graphic 4">
                <a:extLst>
                  <a:ext uri="{FF2B5EF4-FFF2-40B4-BE49-F238E27FC236}">
                    <a16:creationId xmlns:a16="http://schemas.microsoft.com/office/drawing/2014/main" id="{2AF2F530-6D9E-4807-9B5C-ADA07851392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0" name="Graphic 4">
                <a:extLst>
                  <a:ext uri="{FF2B5EF4-FFF2-40B4-BE49-F238E27FC236}">
                    <a16:creationId xmlns:a16="http://schemas.microsoft.com/office/drawing/2014/main" id="{EB21BBD9-558B-4B37-B76D-6BDB8242CF25}"/>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1" name="Graphic 4">
                <a:extLst>
                  <a:ext uri="{FF2B5EF4-FFF2-40B4-BE49-F238E27FC236}">
                    <a16:creationId xmlns:a16="http://schemas.microsoft.com/office/drawing/2014/main" id="{BC65111F-4D2C-4350-A4D6-7AA3A1B3F956}"/>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2" name="Graphic 4">
                <a:extLst>
                  <a:ext uri="{FF2B5EF4-FFF2-40B4-BE49-F238E27FC236}">
                    <a16:creationId xmlns:a16="http://schemas.microsoft.com/office/drawing/2014/main" id="{7BC26E06-94BE-4C8D-B8E2-8E437707D324}"/>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3" name="Graphic 4">
                <a:extLst>
                  <a:ext uri="{FF2B5EF4-FFF2-40B4-BE49-F238E27FC236}">
                    <a16:creationId xmlns:a16="http://schemas.microsoft.com/office/drawing/2014/main" id="{B8B2EC7B-4CAD-4F44-982C-852D3C4748A7}"/>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4" name="Graphic 4">
                <a:extLst>
                  <a:ext uri="{FF2B5EF4-FFF2-40B4-BE49-F238E27FC236}">
                    <a16:creationId xmlns:a16="http://schemas.microsoft.com/office/drawing/2014/main" id="{7E4304AB-0E5A-41A7-8641-2E651ACCCD45}"/>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5" name="Graphic 4">
                <a:extLst>
                  <a:ext uri="{FF2B5EF4-FFF2-40B4-BE49-F238E27FC236}">
                    <a16:creationId xmlns:a16="http://schemas.microsoft.com/office/drawing/2014/main" id="{4282B1F3-232A-41D0-9709-FF6A42040530}"/>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cxnSp>
        <p:nvCxnSpPr>
          <p:cNvPr id="237" name="Straight Connector 236">
            <a:extLst>
              <a:ext uri="{FF2B5EF4-FFF2-40B4-BE49-F238E27FC236}">
                <a16:creationId xmlns:a16="http://schemas.microsoft.com/office/drawing/2014/main" id="{B399F22F-FE88-4504-A4FD-E1CD9AFF3E5C}"/>
              </a:ext>
            </a:extLst>
          </p:cNvPr>
          <p:cNvCxnSpPr>
            <a:cxnSpLocks/>
          </p:cNvCxnSpPr>
          <p:nvPr/>
        </p:nvCxnSpPr>
        <p:spPr>
          <a:xfrm>
            <a:off x="7288588" y="1647807"/>
            <a:ext cx="1128846" cy="0"/>
          </a:xfrm>
          <a:prstGeom prst="line">
            <a:avLst/>
          </a:prstGeom>
          <a:noFill/>
          <a:ln w="57150" cap="flat" cmpd="sng" algn="ctr">
            <a:solidFill>
              <a:schemeClr val="tx1">
                <a:lumMod val="65000"/>
                <a:lumOff val="35000"/>
              </a:schemeClr>
            </a:solidFill>
            <a:prstDash val="solid"/>
          </a:ln>
          <a:effectLst/>
        </p:spPr>
      </p:cxnSp>
      <p:cxnSp>
        <p:nvCxnSpPr>
          <p:cNvPr id="238" name="Straight Connector 237">
            <a:extLst>
              <a:ext uri="{FF2B5EF4-FFF2-40B4-BE49-F238E27FC236}">
                <a16:creationId xmlns:a16="http://schemas.microsoft.com/office/drawing/2014/main" id="{53D7D0C7-FCD0-4C62-9E71-7E59D01B8444}"/>
              </a:ext>
            </a:extLst>
          </p:cNvPr>
          <p:cNvCxnSpPr>
            <a:cxnSpLocks/>
          </p:cNvCxnSpPr>
          <p:nvPr/>
        </p:nvCxnSpPr>
        <p:spPr>
          <a:xfrm>
            <a:off x="8619716" y="1958913"/>
            <a:ext cx="947691" cy="0"/>
          </a:xfrm>
          <a:prstGeom prst="line">
            <a:avLst/>
          </a:prstGeom>
          <a:noFill/>
          <a:ln w="57150" cap="flat" cmpd="sng" algn="ctr">
            <a:solidFill>
              <a:schemeClr val="tx1">
                <a:lumMod val="65000"/>
                <a:lumOff val="35000"/>
              </a:schemeClr>
            </a:solidFill>
            <a:prstDash val="solid"/>
          </a:ln>
          <a:effectLst/>
        </p:spPr>
      </p:cxnSp>
      <p:sp>
        <p:nvSpPr>
          <p:cNvPr id="239" name="TextBox 238">
            <a:extLst>
              <a:ext uri="{FF2B5EF4-FFF2-40B4-BE49-F238E27FC236}">
                <a16:creationId xmlns:a16="http://schemas.microsoft.com/office/drawing/2014/main" id="{5AAAAEEE-A02C-4192-848D-4EF0567E5105}"/>
              </a:ext>
            </a:extLst>
          </p:cNvPr>
          <p:cNvSpPr txBox="1"/>
          <p:nvPr/>
        </p:nvSpPr>
        <p:spPr>
          <a:xfrm>
            <a:off x="4864800" y="1669691"/>
            <a:ext cx="1557296"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Sprints (4 -5 weeks each)</a:t>
            </a:r>
          </a:p>
        </p:txBody>
      </p:sp>
      <p:cxnSp>
        <p:nvCxnSpPr>
          <p:cNvPr id="240" name="Straight Connector 239">
            <a:extLst>
              <a:ext uri="{FF2B5EF4-FFF2-40B4-BE49-F238E27FC236}">
                <a16:creationId xmlns:a16="http://schemas.microsoft.com/office/drawing/2014/main" id="{32B284CB-1CB7-47A4-BC5E-776E8915DED2}"/>
              </a:ext>
            </a:extLst>
          </p:cNvPr>
          <p:cNvCxnSpPr>
            <a:cxnSpLocks/>
          </p:cNvCxnSpPr>
          <p:nvPr/>
        </p:nvCxnSpPr>
        <p:spPr>
          <a:xfrm>
            <a:off x="6825756" y="2041270"/>
            <a:ext cx="418539" cy="0"/>
          </a:xfrm>
          <a:prstGeom prst="line">
            <a:avLst/>
          </a:prstGeom>
          <a:noFill/>
          <a:ln w="57150" cap="flat" cmpd="sng" algn="ctr">
            <a:solidFill>
              <a:schemeClr val="tx1">
                <a:lumMod val="65000"/>
                <a:lumOff val="35000"/>
              </a:schemeClr>
            </a:solidFill>
            <a:prstDash val="solid"/>
          </a:ln>
          <a:effectLst/>
        </p:spPr>
      </p:cxnSp>
      <p:cxnSp>
        <p:nvCxnSpPr>
          <p:cNvPr id="241" name="Straight Connector 240">
            <a:extLst>
              <a:ext uri="{FF2B5EF4-FFF2-40B4-BE49-F238E27FC236}">
                <a16:creationId xmlns:a16="http://schemas.microsoft.com/office/drawing/2014/main" id="{71BE5725-4416-4890-A8A4-B0B15DADA3DE}"/>
              </a:ext>
            </a:extLst>
          </p:cNvPr>
          <p:cNvCxnSpPr>
            <a:cxnSpLocks/>
          </p:cNvCxnSpPr>
          <p:nvPr/>
        </p:nvCxnSpPr>
        <p:spPr>
          <a:xfrm>
            <a:off x="5915169" y="2040254"/>
            <a:ext cx="418539" cy="0"/>
          </a:xfrm>
          <a:prstGeom prst="line">
            <a:avLst/>
          </a:prstGeom>
          <a:noFill/>
          <a:ln w="57150" cap="flat" cmpd="sng" algn="ctr">
            <a:solidFill>
              <a:schemeClr val="tx1">
                <a:lumMod val="65000"/>
                <a:lumOff val="35000"/>
              </a:schemeClr>
            </a:solidFill>
            <a:prstDash val="solid"/>
          </a:ln>
          <a:effectLst/>
        </p:spPr>
      </p:cxnSp>
      <p:cxnSp>
        <p:nvCxnSpPr>
          <p:cNvPr id="242" name="Straight Connector 241">
            <a:extLst>
              <a:ext uri="{FF2B5EF4-FFF2-40B4-BE49-F238E27FC236}">
                <a16:creationId xmlns:a16="http://schemas.microsoft.com/office/drawing/2014/main" id="{8545BBE6-E8A7-404F-B57F-DD754BF95D0E}"/>
              </a:ext>
            </a:extLst>
          </p:cNvPr>
          <p:cNvCxnSpPr>
            <a:cxnSpLocks/>
          </p:cNvCxnSpPr>
          <p:nvPr/>
        </p:nvCxnSpPr>
        <p:spPr>
          <a:xfrm>
            <a:off x="4992366" y="2045059"/>
            <a:ext cx="418539" cy="0"/>
          </a:xfrm>
          <a:prstGeom prst="line">
            <a:avLst/>
          </a:prstGeom>
          <a:noFill/>
          <a:ln w="57150" cap="flat" cmpd="sng" algn="ctr">
            <a:solidFill>
              <a:schemeClr val="tx1">
                <a:lumMod val="65000"/>
                <a:lumOff val="35000"/>
              </a:schemeClr>
            </a:solidFill>
            <a:prstDash val="solid"/>
          </a:ln>
          <a:effectLst/>
        </p:spPr>
      </p:cxnSp>
      <p:cxnSp>
        <p:nvCxnSpPr>
          <p:cNvPr id="243" name="Straight Connector 242">
            <a:extLst>
              <a:ext uri="{FF2B5EF4-FFF2-40B4-BE49-F238E27FC236}">
                <a16:creationId xmlns:a16="http://schemas.microsoft.com/office/drawing/2014/main" id="{97ED6F0A-9D7F-4348-ACDD-3B525BE80766}"/>
              </a:ext>
            </a:extLst>
          </p:cNvPr>
          <p:cNvCxnSpPr>
            <a:cxnSpLocks/>
          </p:cNvCxnSpPr>
          <p:nvPr/>
        </p:nvCxnSpPr>
        <p:spPr>
          <a:xfrm>
            <a:off x="8171200" y="2039673"/>
            <a:ext cx="418539" cy="0"/>
          </a:xfrm>
          <a:prstGeom prst="line">
            <a:avLst/>
          </a:prstGeom>
          <a:noFill/>
          <a:ln w="57150" cap="flat" cmpd="sng" algn="ctr">
            <a:solidFill>
              <a:schemeClr val="tx1">
                <a:lumMod val="65000"/>
                <a:lumOff val="35000"/>
              </a:schemeClr>
            </a:solidFill>
            <a:prstDash val="solid"/>
          </a:ln>
          <a:effectLst/>
        </p:spPr>
      </p:cxnSp>
      <p:sp>
        <p:nvSpPr>
          <p:cNvPr id="244" name="TextBox 243">
            <a:extLst>
              <a:ext uri="{FF2B5EF4-FFF2-40B4-BE49-F238E27FC236}">
                <a16:creationId xmlns:a16="http://schemas.microsoft.com/office/drawing/2014/main" id="{9823386C-71A8-408D-B27B-C9307B524AE0}"/>
              </a:ext>
            </a:extLst>
          </p:cNvPr>
          <p:cNvSpPr txBox="1"/>
          <p:nvPr/>
        </p:nvSpPr>
        <p:spPr>
          <a:xfrm>
            <a:off x="4893432" y="2072644"/>
            <a:ext cx="627032"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0</a:t>
            </a:r>
          </a:p>
        </p:txBody>
      </p:sp>
      <p:sp>
        <p:nvSpPr>
          <p:cNvPr id="245" name="TextBox 244">
            <a:extLst>
              <a:ext uri="{FF2B5EF4-FFF2-40B4-BE49-F238E27FC236}">
                <a16:creationId xmlns:a16="http://schemas.microsoft.com/office/drawing/2014/main" id="{0B253449-B63B-46D0-8824-AAD7360BE7FE}"/>
              </a:ext>
            </a:extLst>
          </p:cNvPr>
          <p:cNvSpPr txBox="1"/>
          <p:nvPr/>
        </p:nvSpPr>
        <p:spPr>
          <a:xfrm>
            <a:off x="5858376" y="2071862"/>
            <a:ext cx="627032"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1</a:t>
            </a:r>
          </a:p>
        </p:txBody>
      </p:sp>
      <p:grpSp>
        <p:nvGrpSpPr>
          <p:cNvPr id="249" name="Group 248">
            <a:extLst>
              <a:ext uri="{FF2B5EF4-FFF2-40B4-BE49-F238E27FC236}">
                <a16:creationId xmlns:a16="http://schemas.microsoft.com/office/drawing/2014/main" id="{3D251FFA-8E71-4F5B-82D5-41DE0A684330}"/>
              </a:ext>
            </a:extLst>
          </p:cNvPr>
          <p:cNvGrpSpPr/>
          <p:nvPr/>
        </p:nvGrpSpPr>
        <p:grpSpPr>
          <a:xfrm>
            <a:off x="5273552" y="1195126"/>
            <a:ext cx="257544" cy="249382"/>
            <a:chOff x="2924893" y="2103407"/>
            <a:chExt cx="257544" cy="249382"/>
          </a:xfrm>
        </p:grpSpPr>
        <p:sp>
          <p:nvSpPr>
            <p:cNvPr id="250" name="Oval 249">
              <a:extLst>
                <a:ext uri="{FF2B5EF4-FFF2-40B4-BE49-F238E27FC236}">
                  <a16:creationId xmlns:a16="http://schemas.microsoft.com/office/drawing/2014/main" id="{88164C49-F757-4070-B660-48DC5BC11540}"/>
                </a:ext>
              </a:extLst>
            </p:cNvPr>
            <p:cNvSpPr>
              <a:spLocks noChangeArrowheads="1"/>
            </p:cNvSpPr>
            <p:nvPr/>
          </p:nvSpPr>
          <p:spPr bwMode="auto">
            <a:xfrm>
              <a:off x="2924893"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51" name="Graphic 4">
              <a:extLst>
                <a:ext uri="{FF2B5EF4-FFF2-40B4-BE49-F238E27FC236}">
                  <a16:creationId xmlns:a16="http://schemas.microsoft.com/office/drawing/2014/main" id="{81233C59-795C-4726-BB09-E26E36217928}"/>
                </a:ext>
              </a:extLst>
            </p:cNvPr>
            <p:cNvGrpSpPr/>
            <p:nvPr/>
          </p:nvGrpSpPr>
          <p:grpSpPr>
            <a:xfrm>
              <a:off x="2924893" y="2103407"/>
              <a:ext cx="257544" cy="249382"/>
              <a:chOff x="3607758" y="1402723"/>
              <a:chExt cx="362309" cy="361971"/>
            </a:xfrm>
            <a:solidFill>
              <a:sysClr val="windowText" lastClr="000000"/>
            </a:solidFill>
          </p:grpSpPr>
          <p:sp>
            <p:nvSpPr>
              <p:cNvPr id="252" name="Graphic 4">
                <a:extLst>
                  <a:ext uri="{FF2B5EF4-FFF2-40B4-BE49-F238E27FC236}">
                    <a16:creationId xmlns:a16="http://schemas.microsoft.com/office/drawing/2014/main" id="{ABDD3747-7786-4204-97E2-BEF5F0D3540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3" name="Graphic 4">
                <a:extLst>
                  <a:ext uri="{FF2B5EF4-FFF2-40B4-BE49-F238E27FC236}">
                    <a16:creationId xmlns:a16="http://schemas.microsoft.com/office/drawing/2014/main" id="{4E1A988B-BD1F-4EB8-9CD8-8ABAE5D9C63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4" name="Graphic 4">
                <a:extLst>
                  <a:ext uri="{FF2B5EF4-FFF2-40B4-BE49-F238E27FC236}">
                    <a16:creationId xmlns:a16="http://schemas.microsoft.com/office/drawing/2014/main" id="{1CBFD0A1-3354-4495-A3F1-482547CEFCB4}"/>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5" name="Graphic 4">
                <a:extLst>
                  <a:ext uri="{FF2B5EF4-FFF2-40B4-BE49-F238E27FC236}">
                    <a16:creationId xmlns:a16="http://schemas.microsoft.com/office/drawing/2014/main" id="{5497B95A-562C-4859-AF60-E8E580722535}"/>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6" name="Graphic 4">
                <a:extLst>
                  <a:ext uri="{FF2B5EF4-FFF2-40B4-BE49-F238E27FC236}">
                    <a16:creationId xmlns:a16="http://schemas.microsoft.com/office/drawing/2014/main" id="{7D8F7D9E-1C7B-4CFC-A03B-F2F0CD423851}"/>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7" name="Graphic 4">
                <a:extLst>
                  <a:ext uri="{FF2B5EF4-FFF2-40B4-BE49-F238E27FC236}">
                    <a16:creationId xmlns:a16="http://schemas.microsoft.com/office/drawing/2014/main" id="{BE25D016-78F0-4E6A-9EBC-F6EE099659D9}"/>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8" name="Graphic 4">
                <a:extLst>
                  <a:ext uri="{FF2B5EF4-FFF2-40B4-BE49-F238E27FC236}">
                    <a16:creationId xmlns:a16="http://schemas.microsoft.com/office/drawing/2014/main" id="{A06211A0-D423-4C71-BEA6-676E8866EC7F}"/>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9" name="Graphic 4">
                <a:extLst>
                  <a:ext uri="{FF2B5EF4-FFF2-40B4-BE49-F238E27FC236}">
                    <a16:creationId xmlns:a16="http://schemas.microsoft.com/office/drawing/2014/main" id="{ED4AE579-168B-41CE-9618-D2DACCFF0BE7}"/>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60" name="Group 259">
            <a:extLst>
              <a:ext uri="{FF2B5EF4-FFF2-40B4-BE49-F238E27FC236}">
                <a16:creationId xmlns:a16="http://schemas.microsoft.com/office/drawing/2014/main" id="{4D8CA785-6047-475E-A10F-6B5BF4BCD280}"/>
              </a:ext>
            </a:extLst>
          </p:cNvPr>
          <p:cNvGrpSpPr/>
          <p:nvPr/>
        </p:nvGrpSpPr>
        <p:grpSpPr>
          <a:xfrm>
            <a:off x="4280211" y="1195126"/>
            <a:ext cx="257544" cy="249382"/>
            <a:chOff x="2427175" y="2103407"/>
            <a:chExt cx="257544" cy="249382"/>
          </a:xfrm>
        </p:grpSpPr>
        <p:sp>
          <p:nvSpPr>
            <p:cNvPr id="261" name="Oval 260">
              <a:extLst>
                <a:ext uri="{FF2B5EF4-FFF2-40B4-BE49-F238E27FC236}">
                  <a16:creationId xmlns:a16="http://schemas.microsoft.com/office/drawing/2014/main" id="{2B3B73FB-9F89-4FB0-8A67-FF463803C332}"/>
                </a:ext>
              </a:extLst>
            </p:cNvPr>
            <p:cNvSpPr>
              <a:spLocks noChangeArrowheads="1"/>
            </p:cNvSpPr>
            <p:nvPr/>
          </p:nvSpPr>
          <p:spPr bwMode="auto">
            <a:xfrm>
              <a:off x="2427175"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62" name="Graphic 4">
              <a:extLst>
                <a:ext uri="{FF2B5EF4-FFF2-40B4-BE49-F238E27FC236}">
                  <a16:creationId xmlns:a16="http://schemas.microsoft.com/office/drawing/2014/main" id="{E7E2A2F3-217D-4EC9-B2F4-E3F55F721CAA}"/>
                </a:ext>
              </a:extLst>
            </p:cNvPr>
            <p:cNvGrpSpPr/>
            <p:nvPr/>
          </p:nvGrpSpPr>
          <p:grpSpPr>
            <a:xfrm>
              <a:off x="2427175" y="2103407"/>
              <a:ext cx="257544" cy="249382"/>
              <a:chOff x="3607758" y="1402723"/>
              <a:chExt cx="362309" cy="361971"/>
            </a:xfrm>
            <a:solidFill>
              <a:sysClr val="windowText" lastClr="000000"/>
            </a:solidFill>
          </p:grpSpPr>
          <p:sp>
            <p:nvSpPr>
              <p:cNvPr id="263" name="Graphic 4">
                <a:extLst>
                  <a:ext uri="{FF2B5EF4-FFF2-40B4-BE49-F238E27FC236}">
                    <a16:creationId xmlns:a16="http://schemas.microsoft.com/office/drawing/2014/main" id="{041E6012-91A5-45A2-97FA-7E2693AA816A}"/>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4" name="Graphic 4">
                <a:extLst>
                  <a:ext uri="{FF2B5EF4-FFF2-40B4-BE49-F238E27FC236}">
                    <a16:creationId xmlns:a16="http://schemas.microsoft.com/office/drawing/2014/main" id="{56B3BCEC-3635-4B6D-818F-528A93E071F1}"/>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5" name="Graphic 4">
                <a:extLst>
                  <a:ext uri="{FF2B5EF4-FFF2-40B4-BE49-F238E27FC236}">
                    <a16:creationId xmlns:a16="http://schemas.microsoft.com/office/drawing/2014/main" id="{B88C6CBE-3E8F-4FFF-8B47-01E2F44BAD5B}"/>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6" name="Graphic 4">
                <a:extLst>
                  <a:ext uri="{FF2B5EF4-FFF2-40B4-BE49-F238E27FC236}">
                    <a16:creationId xmlns:a16="http://schemas.microsoft.com/office/drawing/2014/main" id="{85CAF14B-A29D-43B6-A8DF-594DFFF48377}"/>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7" name="Graphic 4">
                <a:extLst>
                  <a:ext uri="{FF2B5EF4-FFF2-40B4-BE49-F238E27FC236}">
                    <a16:creationId xmlns:a16="http://schemas.microsoft.com/office/drawing/2014/main" id="{65198C28-004A-4F2F-B670-2AF117CC7805}"/>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8" name="Graphic 4">
                <a:extLst>
                  <a:ext uri="{FF2B5EF4-FFF2-40B4-BE49-F238E27FC236}">
                    <a16:creationId xmlns:a16="http://schemas.microsoft.com/office/drawing/2014/main" id="{28ED8BDF-0A35-4B8D-8E79-1566F81E8D28}"/>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9" name="Graphic 4">
                <a:extLst>
                  <a:ext uri="{FF2B5EF4-FFF2-40B4-BE49-F238E27FC236}">
                    <a16:creationId xmlns:a16="http://schemas.microsoft.com/office/drawing/2014/main" id="{2FF99046-6A19-46A8-B2A5-78717ACA9DF9}"/>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0" name="Graphic 4">
                <a:extLst>
                  <a:ext uri="{FF2B5EF4-FFF2-40B4-BE49-F238E27FC236}">
                    <a16:creationId xmlns:a16="http://schemas.microsoft.com/office/drawing/2014/main" id="{F0B6BBFF-401E-4B8F-96C3-7C63AB980DED}"/>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71" name="Group 270">
            <a:extLst>
              <a:ext uri="{FF2B5EF4-FFF2-40B4-BE49-F238E27FC236}">
                <a16:creationId xmlns:a16="http://schemas.microsoft.com/office/drawing/2014/main" id="{FDBB402E-BEF6-4769-8BE5-60EE6EE70128}"/>
              </a:ext>
            </a:extLst>
          </p:cNvPr>
          <p:cNvGrpSpPr/>
          <p:nvPr/>
        </p:nvGrpSpPr>
        <p:grpSpPr>
          <a:xfrm>
            <a:off x="3510838" y="1195126"/>
            <a:ext cx="257544" cy="249382"/>
            <a:chOff x="1929456" y="2103407"/>
            <a:chExt cx="257544" cy="249382"/>
          </a:xfrm>
        </p:grpSpPr>
        <p:sp>
          <p:nvSpPr>
            <p:cNvPr id="272" name="Oval 271">
              <a:extLst>
                <a:ext uri="{FF2B5EF4-FFF2-40B4-BE49-F238E27FC236}">
                  <a16:creationId xmlns:a16="http://schemas.microsoft.com/office/drawing/2014/main" id="{2F9F7283-FD8A-48D3-9BBD-C4461F7585FD}"/>
                </a:ext>
              </a:extLst>
            </p:cNvPr>
            <p:cNvSpPr>
              <a:spLocks noChangeArrowheads="1"/>
            </p:cNvSpPr>
            <p:nvPr/>
          </p:nvSpPr>
          <p:spPr bwMode="auto">
            <a:xfrm>
              <a:off x="1929456"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73" name="Graphic 4">
              <a:extLst>
                <a:ext uri="{FF2B5EF4-FFF2-40B4-BE49-F238E27FC236}">
                  <a16:creationId xmlns:a16="http://schemas.microsoft.com/office/drawing/2014/main" id="{2F4140E3-7D5C-4EC5-9152-7C9F68DD8DFB}"/>
                </a:ext>
              </a:extLst>
            </p:cNvPr>
            <p:cNvGrpSpPr/>
            <p:nvPr/>
          </p:nvGrpSpPr>
          <p:grpSpPr>
            <a:xfrm>
              <a:off x="1929456" y="2103407"/>
              <a:ext cx="257544" cy="249382"/>
              <a:chOff x="3607758" y="1402723"/>
              <a:chExt cx="362309" cy="361971"/>
            </a:xfrm>
            <a:solidFill>
              <a:sysClr val="windowText" lastClr="000000"/>
            </a:solidFill>
          </p:grpSpPr>
          <p:sp>
            <p:nvSpPr>
              <p:cNvPr id="274" name="Graphic 4">
                <a:extLst>
                  <a:ext uri="{FF2B5EF4-FFF2-40B4-BE49-F238E27FC236}">
                    <a16:creationId xmlns:a16="http://schemas.microsoft.com/office/drawing/2014/main" id="{836E64AA-9304-446E-9A6A-23825B7CFC0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5" name="Graphic 4">
                <a:extLst>
                  <a:ext uri="{FF2B5EF4-FFF2-40B4-BE49-F238E27FC236}">
                    <a16:creationId xmlns:a16="http://schemas.microsoft.com/office/drawing/2014/main" id="{1D4D3D17-A7E0-4116-BE3D-98C60ACF09C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6" name="Graphic 4">
                <a:extLst>
                  <a:ext uri="{FF2B5EF4-FFF2-40B4-BE49-F238E27FC236}">
                    <a16:creationId xmlns:a16="http://schemas.microsoft.com/office/drawing/2014/main" id="{F765CA33-7B9F-415D-A16E-9B82DBAAFFED}"/>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7" name="Graphic 4">
                <a:extLst>
                  <a:ext uri="{FF2B5EF4-FFF2-40B4-BE49-F238E27FC236}">
                    <a16:creationId xmlns:a16="http://schemas.microsoft.com/office/drawing/2014/main" id="{8A1BDE4A-2672-42A3-BDB0-87B60739393B}"/>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8" name="Graphic 4">
                <a:extLst>
                  <a:ext uri="{FF2B5EF4-FFF2-40B4-BE49-F238E27FC236}">
                    <a16:creationId xmlns:a16="http://schemas.microsoft.com/office/drawing/2014/main" id="{4583596E-E858-485A-8289-6E2E6F2F9388}"/>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9" name="Graphic 4">
                <a:extLst>
                  <a:ext uri="{FF2B5EF4-FFF2-40B4-BE49-F238E27FC236}">
                    <a16:creationId xmlns:a16="http://schemas.microsoft.com/office/drawing/2014/main" id="{0BD1A25B-76A0-46A8-9AB2-8E0CBC6CF541}"/>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80" name="Graphic 4">
                <a:extLst>
                  <a:ext uri="{FF2B5EF4-FFF2-40B4-BE49-F238E27FC236}">
                    <a16:creationId xmlns:a16="http://schemas.microsoft.com/office/drawing/2014/main" id="{743AE297-64AD-4F87-B0CF-91DE5E55F4B2}"/>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81" name="Graphic 4">
                <a:extLst>
                  <a:ext uri="{FF2B5EF4-FFF2-40B4-BE49-F238E27FC236}">
                    <a16:creationId xmlns:a16="http://schemas.microsoft.com/office/drawing/2014/main" id="{AA25D741-BD13-41E0-B178-4C0DA1A8C303}"/>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sp>
        <p:nvSpPr>
          <p:cNvPr id="283" name="TextBox 282">
            <a:extLst>
              <a:ext uri="{FF2B5EF4-FFF2-40B4-BE49-F238E27FC236}">
                <a16:creationId xmlns:a16="http://schemas.microsoft.com/office/drawing/2014/main" id="{E4C758B7-2FD0-410A-9668-18B00B403CBB}"/>
              </a:ext>
            </a:extLst>
          </p:cNvPr>
          <p:cNvSpPr txBox="1"/>
          <p:nvPr/>
        </p:nvSpPr>
        <p:spPr>
          <a:xfrm>
            <a:off x="10858178" y="1993443"/>
            <a:ext cx="873843"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MVP1 Go-Live </a:t>
            </a:r>
          </a:p>
        </p:txBody>
      </p:sp>
      <p:sp>
        <p:nvSpPr>
          <p:cNvPr id="284" name="TextBox 283">
            <a:extLst>
              <a:ext uri="{FF2B5EF4-FFF2-40B4-BE49-F238E27FC236}">
                <a16:creationId xmlns:a16="http://schemas.microsoft.com/office/drawing/2014/main" id="{644E71CA-74C7-47BE-9795-F86A306EB953}"/>
              </a:ext>
            </a:extLst>
          </p:cNvPr>
          <p:cNvSpPr txBox="1"/>
          <p:nvPr/>
        </p:nvSpPr>
        <p:spPr>
          <a:xfrm>
            <a:off x="9913028" y="2068224"/>
            <a:ext cx="679092" cy="200055"/>
          </a:xfrm>
          <a:prstGeom prst="rect">
            <a:avLst/>
          </a:prstGeom>
          <a:noFill/>
        </p:spPr>
        <p:txBody>
          <a:bodyPr wrap="square">
            <a:spAutoFit/>
          </a:bodyPr>
          <a:lstStyle/>
          <a:p>
            <a:pPr marL="0" marR="0" lvl="0" indent="0" algn="ctr" defTabSz="914400" rtl="0" eaLnBrk="1" fontAlgn="auto" latinLnBrk="0" hangingPunct="1">
              <a:lnSpc>
                <a:spcPct val="100000"/>
              </a:lnSpc>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Cutover</a:t>
            </a:r>
          </a:p>
        </p:txBody>
      </p:sp>
      <p:cxnSp>
        <p:nvCxnSpPr>
          <p:cNvPr id="286" name="Straight Connector 285">
            <a:extLst>
              <a:ext uri="{FF2B5EF4-FFF2-40B4-BE49-F238E27FC236}">
                <a16:creationId xmlns:a16="http://schemas.microsoft.com/office/drawing/2014/main" id="{51118A5B-6882-47A8-AB98-BB7FDD0976AF}"/>
              </a:ext>
            </a:extLst>
          </p:cNvPr>
          <p:cNvCxnSpPr>
            <a:cxnSpLocks/>
          </p:cNvCxnSpPr>
          <p:nvPr/>
        </p:nvCxnSpPr>
        <p:spPr>
          <a:xfrm>
            <a:off x="9980258" y="2039615"/>
            <a:ext cx="566762" cy="0"/>
          </a:xfrm>
          <a:prstGeom prst="line">
            <a:avLst/>
          </a:prstGeom>
          <a:noFill/>
          <a:ln w="57150" cap="flat" cmpd="sng" algn="ctr">
            <a:solidFill>
              <a:schemeClr val="tx1">
                <a:lumMod val="65000"/>
                <a:lumOff val="35000"/>
              </a:schemeClr>
            </a:solidFill>
            <a:prstDash val="solid"/>
          </a:ln>
          <a:effectLst/>
        </p:spPr>
      </p:cxnSp>
      <p:sp>
        <p:nvSpPr>
          <p:cNvPr id="319" name="Diamond 318">
            <a:extLst>
              <a:ext uri="{FF2B5EF4-FFF2-40B4-BE49-F238E27FC236}">
                <a16:creationId xmlns:a16="http://schemas.microsoft.com/office/drawing/2014/main" id="{65939578-C85E-4E6E-8126-AFE5CC2B8B9A}"/>
              </a:ext>
            </a:extLst>
          </p:cNvPr>
          <p:cNvSpPr/>
          <p:nvPr/>
        </p:nvSpPr>
        <p:spPr bwMode="gray">
          <a:xfrm>
            <a:off x="8323259" y="105101"/>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20" name="Rectangle 319">
            <a:extLst>
              <a:ext uri="{FF2B5EF4-FFF2-40B4-BE49-F238E27FC236}">
                <a16:creationId xmlns:a16="http://schemas.microsoft.com/office/drawing/2014/main" id="{13AF7DFD-DA37-4161-8FF8-44A4D6167C3B}"/>
              </a:ext>
            </a:extLst>
          </p:cNvPr>
          <p:cNvSpPr/>
          <p:nvPr/>
        </p:nvSpPr>
        <p:spPr>
          <a:xfrm>
            <a:off x="8466292" y="104208"/>
            <a:ext cx="1271261"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Steering Co Meetings </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21" name="Diamond 320">
            <a:extLst>
              <a:ext uri="{FF2B5EF4-FFF2-40B4-BE49-F238E27FC236}">
                <a16:creationId xmlns:a16="http://schemas.microsoft.com/office/drawing/2014/main" id="{B3EAB08A-F644-49B6-A447-4E4FC3435D85}"/>
              </a:ext>
            </a:extLst>
          </p:cNvPr>
          <p:cNvSpPr/>
          <p:nvPr/>
        </p:nvSpPr>
        <p:spPr bwMode="gray">
          <a:xfrm>
            <a:off x="7157167" y="105101"/>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22" name="Rectangle 321">
            <a:extLst>
              <a:ext uri="{FF2B5EF4-FFF2-40B4-BE49-F238E27FC236}">
                <a16:creationId xmlns:a16="http://schemas.microsoft.com/office/drawing/2014/main" id="{E007CE27-FF2D-4A86-84CF-DAC9007ED704}"/>
              </a:ext>
            </a:extLst>
          </p:cNvPr>
          <p:cNvSpPr/>
          <p:nvPr/>
        </p:nvSpPr>
        <p:spPr>
          <a:xfrm>
            <a:off x="7320319" y="104208"/>
            <a:ext cx="1351575"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Cross-Team Meeting</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23" name="Star: 5 Points 322">
            <a:extLst>
              <a:ext uri="{FF2B5EF4-FFF2-40B4-BE49-F238E27FC236}">
                <a16:creationId xmlns:a16="http://schemas.microsoft.com/office/drawing/2014/main" id="{2F7E0DD1-B7FC-43DB-9C30-F9B20705E1E4}"/>
              </a:ext>
            </a:extLst>
          </p:cNvPr>
          <p:cNvSpPr/>
          <p:nvPr/>
        </p:nvSpPr>
        <p:spPr bwMode="gray">
          <a:xfrm>
            <a:off x="10230836" y="105101"/>
            <a:ext cx="182880" cy="182880"/>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24" name="Rectangle 323">
            <a:extLst>
              <a:ext uri="{FF2B5EF4-FFF2-40B4-BE49-F238E27FC236}">
                <a16:creationId xmlns:a16="http://schemas.microsoft.com/office/drawing/2014/main" id="{68814926-CCAD-4768-BF44-6EDFADDF8AD1}"/>
              </a:ext>
            </a:extLst>
          </p:cNvPr>
          <p:cNvSpPr/>
          <p:nvPr/>
        </p:nvSpPr>
        <p:spPr>
          <a:xfrm>
            <a:off x="10413716" y="104208"/>
            <a:ext cx="1728042"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Critical Check points Steering Co</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grpSp>
        <p:nvGrpSpPr>
          <p:cNvPr id="325" name="Group 324">
            <a:extLst>
              <a:ext uri="{FF2B5EF4-FFF2-40B4-BE49-F238E27FC236}">
                <a16:creationId xmlns:a16="http://schemas.microsoft.com/office/drawing/2014/main" id="{51B04ECB-18DA-462C-B993-1A80B4406179}"/>
              </a:ext>
            </a:extLst>
          </p:cNvPr>
          <p:cNvGrpSpPr/>
          <p:nvPr/>
        </p:nvGrpSpPr>
        <p:grpSpPr>
          <a:xfrm>
            <a:off x="9565589" y="48419"/>
            <a:ext cx="257544" cy="249382"/>
            <a:chOff x="2951069" y="2461236"/>
            <a:chExt cx="257544" cy="249382"/>
          </a:xfrm>
        </p:grpSpPr>
        <p:sp>
          <p:nvSpPr>
            <p:cNvPr id="326" name="Oval 325">
              <a:extLst>
                <a:ext uri="{FF2B5EF4-FFF2-40B4-BE49-F238E27FC236}">
                  <a16:creationId xmlns:a16="http://schemas.microsoft.com/office/drawing/2014/main" id="{6A878726-14FA-47A5-BA60-E95E4E763276}"/>
                </a:ext>
              </a:extLst>
            </p:cNvPr>
            <p:cNvSpPr>
              <a:spLocks noChangeArrowheads="1"/>
            </p:cNvSpPr>
            <p:nvPr/>
          </p:nvSpPr>
          <p:spPr bwMode="auto">
            <a:xfrm>
              <a:off x="2951069"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327" name="Graphic 4">
              <a:extLst>
                <a:ext uri="{FF2B5EF4-FFF2-40B4-BE49-F238E27FC236}">
                  <a16:creationId xmlns:a16="http://schemas.microsoft.com/office/drawing/2014/main" id="{78D2AA41-F29E-4DFE-A218-CB8E2ED0A293}"/>
                </a:ext>
              </a:extLst>
            </p:cNvPr>
            <p:cNvGrpSpPr/>
            <p:nvPr/>
          </p:nvGrpSpPr>
          <p:grpSpPr>
            <a:xfrm>
              <a:off x="2951069" y="2461236"/>
              <a:ext cx="257544" cy="249382"/>
              <a:chOff x="3607758" y="1402723"/>
              <a:chExt cx="362309" cy="361971"/>
            </a:xfrm>
            <a:solidFill>
              <a:sysClr val="windowText" lastClr="000000"/>
            </a:solidFill>
          </p:grpSpPr>
          <p:sp>
            <p:nvSpPr>
              <p:cNvPr id="328" name="Graphic 4">
                <a:extLst>
                  <a:ext uri="{FF2B5EF4-FFF2-40B4-BE49-F238E27FC236}">
                    <a16:creationId xmlns:a16="http://schemas.microsoft.com/office/drawing/2014/main" id="{5CBF5391-45B5-4CD7-997E-97695161689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29" name="Graphic 4">
                <a:extLst>
                  <a:ext uri="{FF2B5EF4-FFF2-40B4-BE49-F238E27FC236}">
                    <a16:creationId xmlns:a16="http://schemas.microsoft.com/office/drawing/2014/main" id="{FEA4CC58-899A-49A6-887F-65FC8147572A}"/>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0" name="Graphic 4">
                <a:extLst>
                  <a:ext uri="{FF2B5EF4-FFF2-40B4-BE49-F238E27FC236}">
                    <a16:creationId xmlns:a16="http://schemas.microsoft.com/office/drawing/2014/main" id="{3E582D03-71EE-4C51-96FE-BCD3BC2D9563}"/>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1" name="Graphic 4">
                <a:extLst>
                  <a:ext uri="{FF2B5EF4-FFF2-40B4-BE49-F238E27FC236}">
                    <a16:creationId xmlns:a16="http://schemas.microsoft.com/office/drawing/2014/main" id="{CDEF0AE3-CA02-47D3-90C3-72E34DC31D4C}"/>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2" name="Graphic 4">
                <a:extLst>
                  <a:ext uri="{FF2B5EF4-FFF2-40B4-BE49-F238E27FC236}">
                    <a16:creationId xmlns:a16="http://schemas.microsoft.com/office/drawing/2014/main" id="{608983A1-B30C-437A-AEC6-5C605631724A}"/>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3" name="Graphic 4">
                <a:extLst>
                  <a:ext uri="{FF2B5EF4-FFF2-40B4-BE49-F238E27FC236}">
                    <a16:creationId xmlns:a16="http://schemas.microsoft.com/office/drawing/2014/main" id="{CBBE0F0B-2419-4E36-89D0-F64DF7194171}"/>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4" name="Graphic 4">
                <a:extLst>
                  <a:ext uri="{FF2B5EF4-FFF2-40B4-BE49-F238E27FC236}">
                    <a16:creationId xmlns:a16="http://schemas.microsoft.com/office/drawing/2014/main" id="{0A2A0EFC-4F91-4001-8E8C-4183AAFFBB6F}"/>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5" name="Graphic 4">
                <a:extLst>
                  <a:ext uri="{FF2B5EF4-FFF2-40B4-BE49-F238E27FC236}">
                    <a16:creationId xmlns:a16="http://schemas.microsoft.com/office/drawing/2014/main" id="{FCD9573A-7F85-4DDE-A45F-D199D168C84E}"/>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sp>
        <p:nvSpPr>
          <p:cNvPr id="336" name="Rectangle 335">
            <a:extLst>
              <a:ext uri="{FF2B5EF4-FFF2-40B4-BE49-F238E27FC236}">
                <a16:creationId xmlns:a16="http://schemas.microsoft.com/office/drawing/2014/main" id="{2800A69B-4052-4C30-AAE4-845BD905081C}"/>
              </a:ext>
            </a:extLst>
          </p:cNvPr>
          <p:cNvSpPr/>
          <p:nvPr/>
        </p:nvSpPr>
        <p:spPr>
          <a:xfrm>
            <a:off x="9761007" y="104208"/>
            <a:ext cx="511515"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Sprints</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cxnSp>
        <p:nvCxnSpPr>
          <p:cNvPr id="337" name="Straight Connector 336">
            <a:extLst>
              <a:ext uri="{FF2B5EF4-FFF2-40B4-BE49-F238E27FC236}">
                <a16:creationId xmlns:a16="http://schemas.microsoft.com/office/drawing/2014/main" id="{AC17B14B-F402-4852-9AE0-C53490F8241C}"/>
              </a:ext>
            </a:extLst>
          </p:cNvPr>
          <p:cNvCxnSpPr>
            <a:cxnSpLocks/>
          </p:cNvCxnSpPr>
          <p:nvPr/>
        </p:nvCxnSpPr>
        <p:spPr>
          <a:xfrm>
            <a:off x="4775303" y="196637"/>
            <a:ext cx="457200"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38" name="Rectangle 337">
            <a:extLst>
              <a:ext uri="{FF2B5EF4-FFF2-40B4-BE49-F238E27FC236}">
                <a16:creationId xmlns:a16="http://schemas.microsoft.com/office/drawing/2014/main" id="{440F3160-4CC8-451C-89BD-E1BBC56FE9B4}"/>
              </a:ext>
            </a:extLst>
          </p:cNvPr>
          <p:cNvSpPr/>
          <p:nvPr/>
        </p:nvSpPr>
        <p:spPr>
          <a:xfrm>
            <a:off x="5278768" y="104303"/>
            <a:ext cx="878767"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Key Activities</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39" name="object 144">
            <a:extLst>
              <a:ext uri="{FF2B5EF4-FFF2-40B4-BE49-F238E27FC236}">
                <a16:creationId xmlns:a16="http://schemas.microsoft.com/office/drawing/2014/main" id="{1B82ECAA-51E4-4293-9D71-CE883DBFCA21}"/>
              </a:ext>
            </a:extLst>
          </p:cNvPr>
          <p:cNvSpPr/>
          <p:nvPr/>
        </p:nvSpPr>
        <p:spPr>
          <a:xfrm>
            <a:off x="6222959" y="105197"/>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40" name="Rectangle 339">
            <a:extLst>
              <a:ext uri="{FF2B5EF4-FFF2-40B4-BE49-F238E27FC236}">
                <a16:creationId xmlns:a16="http://schemas.microsoft.com/office/drawing/2014/main" id="{4871C67F-2460-4E71-9D82-DC82CB06287A}"/>
              </a:ext>
            </a:extLst>
          </p:cNvPr>
          <p:cNvSpPr/>
          <p:nvPr/>
        </p:nvSpPr>
        <p:spPr>
          <a:xfrm>
            <a:off x="6366525" y="104304"/>
            <a:ext cx="717149"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Deliverables</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43" name="TextBox 342">
            <a:extLst>
              <a:ext uri="{FF2B5EF4-FFF2-40B4-BE49-F238E27FC236}">
                <a16:creationId xmlns:a16="http://schemas.microsoft.com/office/drawing/2014/main" id="{ADA3EC9E-4AC1-45FD-9E8F-924F1AC1928B}"/>
              </a:ext>
            </a:extLst>
          </p:cNvPr>
          <p:cNvSpPr txBox="1"/>
          <p:nvPr/>
        </p:nvSpPr>
        <p:spPr>
          <a:xfrm>
            <a:off x="3671758" y="2682894"/>
            <a:ext cx="103575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Strategies &amp; Standards</a:t>
            </a:r>
          </a:p>
        </p:txBody>
      </p:sp>
      <p:sp>
        <p:nvSpPr>
          <p:cNvPr id="347" name="TextBox 346">
            <a:extLst>
              <a:ext uri="{FF2B5EF4-FFF2-40B4-BE49-F238E27FC236}">
                <a16:creationId xmlns:a16="http://schemas.microsoft.com/office/drawing/2014/main" id="{BF567ADD-35B9-4823-95DF-3B2F7373AD25}"/>
              </a:ext>
            </a:extLst>
          </p:cNvPr>
          <p:cNvSpPr txBox="1"/>
          <p:nvPr/>
        </p:nvSpPr>
        <p:spPr>
          <a:xfrm>
            <a:off x="4679978" y="2686754"/>
            <a:ext cx="109920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CICD Setup and Code Review Checklist</a:t>
            </a:r>
          </a:p>
        </p:txBody>
      </p:sp>
      <p:sp>
        <p:nvSpPr>
          <p:cNvPr id="350" name="TextBox 349">
            <a:extLst>
              <a:ext uri="{FF2B5EF4-FFF2-40B4-BE49-F238E27FC236}">
                <a16:creationId xmlns:a16="http://schemas.microsoft.com/office/drawing/2014/main" id="{0BF8D9FA-0F22-4BE7-963B-B6016AD55F36}"/>
              </a:ext>
            </a:extLst>
          </p:cNvPr>
          <p:cNvSpPr txBox="1"/>
          <p:nvPr/>
        </p:nvSpPr>
        <p:spPr>
          <a:xfrm>
            <a:off x="5641890" y="2685785"/>
            <a:ext cx="103575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Testing Approach &amp; Boundary Readiness</a:t>
            </a:r>
          </a:p>
        </p:txBody>
      </p:sp>
      <p:cxnSp>
        <p:nvCxnSpPr>
          <p:cNvPr id="354" name="Straight Connector 353">
            <a:extLst>
              <a:ext uri="{FF2B5EF4-FFF2-40B4-BE49-F238E27FC236}">
                <a16:creationId xmlns:a16="http://schemas.microsoft.com/office/drawing/2014/main" id="{A4B0BF31-40D4-4850-AA47-269ABF706573}"/>
              </a:ext>
            </a:extLst>
          </p:cNvPr>
          <p:cNvCxnSpPr>
            <a:cxnSpLocks/>
          </p:cNvCxnSpPr>
          <p:nvPr/>
        </p:nvCxnSpPr>
        <p:spPr>
          <a:xfrm flipV="1">
            <a:off x="3216105" y="2569267"/>
            <a:ext cx="8631343" cy="2734"/>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55" name="object 144">
            <a:extLst>
              <a:ext uri="{FF2B5EF4-FFF2-40B4-BE49-F238E27FC236}">
                <a16:creationId xmlns:a16="http://schemas.microsoft.com/office/drawing/2014/main" id="{9E0DAA2A-C0A1-4BC9-8BFE-004237ACDB10}"/>
              </a:ext>
            </a:extLst>
          </p:cNvPr>
          <p:cNvSpPr/>
          <p:nvPr/>
        </p:nvSpPr>
        <p:spPr>
          <a:xfrm>
            <a:off x="8320070" y="247585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56" name="TextBox 355">
            <a:extLst>
              <a:ext uri="{FF2B5EF4-FFF2-40B4-BE49-F238E27FC236}">
                <a16:creationId xmlns:a16="http://schemas.microsoft.com/office/drawing/2014/main" id="{DE9FF93C-1FA7-420C-B363-B4CB3B373DEB}"/>
              </a:ext>
            </a:extLst>
          </p:cNvPr>
          <p:cNvSpPr txBox="1"/>
          <p:nvPr/>
        </p:nvSpPr>
        <p:spPr>
          <a:xfrm>
            <a:off x="7781162" y="2673770"/>
            <a:ext cx="1049355"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SIT  &amp; Performance  Sign Off</a:t>
            </a:r>
          </a:p>
        </p:txBody>
      </p:sp>
      <p:sp>
        <p:nvSpPr>
          <p:cNvPr id="358" name="object 144">
            <a:extLst>
              <a:ext uri="{FF2B5EF4-FFF2-40B4-BE49-F238E27FC236}">
                <a16:creationId xmlns:a16="http://schemas.microsoft.com/office/drawing/2014/main" id="{5016565D-FA4C-4DC3-845F-1C017B04DD14}"/>
              </a:ext>
            </a:extLst>
          </p:cNvPr>
          <p:cNvSpPr/>
          <p:nvPr/>
        </p:nvSpPr>
        <p:spPr>
          <a:xfrm>
            <a:off x="9591803" y="2470239"/>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59" name="TextBox 358">
            <a:extLst>
              <a:ext uri="{FF2B5EF4-FFF2-40B4-BE49-F238E27FC236}">
                <a16:creationId xmlns:a16="http://schemas.microsoft.com/office/drawing/2014/main" id="{C44BAFCD-EBA6-4743-B12A-B86869329AB3}"/>
              </a:ext>
            </a:extLst>
          </p:cNvPr>
          <p:cNvSpPr txBox="1"/>
          <p:nvPr/>
        </p:nvSpPr>
        <p:spPr>
          <a:xfrm>
            <a:off x="9302446" y="2783503"/>
            <a:ext cx="735841"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UAT Sign Off</a:t>
            </a:r>
          </a:p>
        </p:txBody>
      </p:sp>
      <p:sp>
        <p:nvSpPr>
          <p:cNvPr id="360" name="object 144">
            <a:extLst>
              <a:ext uri="{FF2B5EF4-FFF2-40B4-BE49-F238E27FC236}">
                <a16:creationId xmlns:a16="http://schemas.microsoft.com/office/drawing/2014/main" id="{A398D354-9DA3-4A42-821A-473208211F89}"/>
              </a:ext>
            </a:extLst>
          </p:cNvPr>
          <p:cNvSpPr/>
          <p:nvPr/>
        </p:nvSpPr>
        <p:spPr>
          <a:xfrm>
            <a:off x="9896294" y="246666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61" name="TextBox 360">
            <a:extLst>
              <a:ext uri="{FF2B5EF4-FFF2-40B4-BE49-F238E27FC236}">
                <a16:creationId xmlns:a16="http://schemas.microsoft.com/office/drawing/2014/main" id="{903C6860-666F-4954-B094-7D88A742BCF7}"/>
              </a:ext>
            </a:extLst>
          </p:cNvPr>
          <p:cNvSpPr txBox="1"/>
          <p:nvPr/>
        </p:nvSpPr>
        <p:spPr>
          <a:xfrm>
            <a:off x="9691374" y="2652099"/>
            <a:ext cx="941582"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Cutover Go Ahead</a:t>
            </a:r>
          </a:p>
        </p:txBody>
      </p:sp>
      <p:cxnSp>
        <p:nvCxnSpPr>
          <p:cNvPr id="362" name="Straight Connector 361">
            <a:extLst>
              <a:ext uri="{FF2B5EF4-FFF2-40B4-BE49-F238E27FC236}">
                <a16:creationId xmlns:a16="http://schemas.microsoft.com/office/drawing/2014/main" id="{48B4D18E-DA9A-49F4-9B6B-30003B8AE7F5}"/>
              </a:ext>
            </a:extLst>
          </p:cNvPr>
          <p:cNvCxnSpPr>
            <a:cxnSpLocks/>
          </p:cNvCxnSpPr>
          <p:nvPr/>
        </p:nvCxnSpPr>
        <p:spPr>
          <a:xfrm>
            <a:off x="4722441" y="4824850"/>
            <a:ext cx="255879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63" name="TextBox 362">
            <a:extLst>
              <a:ext uri="{FF2B5EF4-FFF2-40B4-BE49-F238E27FC236}">
                <a16:creationId xmlns:a16="http://schemas.microsoft.com/office/drawing/2014/main" id="{268C75F9-3866-4293-9A09-2ECCF8754294}"/>
              </a:ext>
            </a:extLst>
          </p:cNvPr>
          <p:cNvSpPr txBox="1"/>
          <p:nvPr/>
        </p:nvSpPr>
        <p:spPr>
          <a:xfrm>
            <a:off x="5572381" y="4635957"/>
            <a:ext cx="1215317"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Functional Testing</a:t>
            </a:r>
          </a:p>
        </p:txBody>
      </p:sp>
      <p:cxnSp>
        <p:nvCxnSpPr>
          <p:cNvPr id="364" name="Straight Connector 363">
            <a:extLst>
              <a:ext uri="{FF2B5EF4-FFF2-40B4-BE49-F238E27FC236}">
                <a16:creationId xmlns:a16="http://schemas.microsoft.com/office/drawing/2014/main" id="{00CD6A9A-2CEA-47E5-AC19-DE703CADF90A}"/>
              </a:ext>
            </a:extLst>
          </p:cNvPr>
          <p:cNvCxnSpPr>
            <a:cxnSpLocks/>
          </p:cNvCxnSpPr>
          <p:nvPr/>
        </p:nvCxnSpPr>
        <p:spPr>
          <a:xfrm>
            <a:off x="5204151" y="4942843"/>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65" name="TextBox 364">
            <a:extLst>
              <a:ext uri="{FF2B5EF4-FFF2-40B4-BE49-F238E27FC236}">
                <a16:creationId xmlns:a16="http://schemas.microsoft.com/office/drawing/2014/main" id="{EE986AF2-A3A8-4EB2-A89E-16E4F0CBC91B}"/>
              </a:ext>
            </a:extLst>
          </p:cNvPr>
          <p:cNvSpPr txBox="1"/>
          <p:nvPr/>
        </p:nvSpPr>
        <p:spPr>
          <a:xfrm>
            <a:off x="5388974" y="4967136"/>
            <a:ext cx="128906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Test scripts Preparation</a:t>
            </a:r>
          </a:p>
        </p:txBody>
      </p:sp>
      <p:cxnSp>
        <p:nvCxnSpPr>
          <p:cNvPr id="366" name="Straight Connector 365">
            <a:extLst>
              <a:ext uri="{FF2B5EF4-FFF2-40B4-BE49-F238E27FC236}">
                <a16:creationId xmlns:a16="http://schemas.microsoft.com/office/drawing/2014/main" id="{92F119F8-0A65-4A20-8625-25B87B1B80B0}"/>
              </a:ext>
            </a:extLst>
          </p:cNvPr>
          <p:cNvCxnSpPr>
            <a:cxnSpLocks/>
          </p:cNvCxnSpPr>
          <p:nvPr/>
        </p:nvCxnSpPr>
        <p:spPr>
          <a:xfrm>
            <a:off x="7281240" y="5074205"/>
            <a:ext cx="113062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a16="http://schemas.microsoft.com/office/drawing/2014/main" id="{7993A9EB-4BCB-49D6-8F8B-6FC4B3F64388}"/>
              </a:ext>
            </a:extLst>
          </p:cNvPr>
          <p:cNvCxnSpPr>
            <a:cxnSpLocks/>
          </p:cNvCxnSpPr>
          <p:nvPr/>
        </p:nvCxnSpPr>
        <p:spPr>
          <a:xfrm>
            <a:off x="8739713" y="4960843"/>
            <a:ext cx="80987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69" name="TextBox 368">
            <a:extLst>
              <a:ext uri="{FF2B5EF4-FFF2-40B4-BE49-F238E27FC236}">
                <a16:creationId xmlns:a16="http://schemas.microsoft.com/office/drawing/2014/main" id="{548E5D14-0118-49EA-B9F5-B5208CC69D36}"/>
              </a:ext>
            </a:extLst>
          </p:cNvPr>
          <p:cNvSpPr txBox="1"/>
          <p:nvPr/>
        </p:nvSpPr>
        <p:spPr>
          <a:xfrm>
            <a:off x="8548319" y="4723679"/>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UAT Exec &amp; Cutover Prep</a:t>
            </a:r>
          </a:p>
        </p:txBody>
      </p:sp>
      <p:cxnSp>
        <p:nvCxnSpPr>
          <p:cNvPr id="370" name="Straight Connector 369">
            <a:extLst>
              <a:ext uri="{FF2B5EF4-FFF2-40B4-BE49-F238E27FC236}">
                <a16:creationId xmlns:a16="http://schemas.microsoft.com/office/drawing/2014/main" id="{C5C872C6-D80F-43DB-860E-9FEF6E2EA7A5}"/>
              </a:ext>
            </a:extLst>
          </p:cNvPr>
          <p:cNvCxnSpPr>
            <a:cxnSpLocks/>
          </p:cNvCxnSpPr>
          <p:nvPr/>
        </p:nvCxnSpPr>
        <p:spPr>
          <a:xfrm>
            <a:off x="9836524" y="5050861"/>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72" name="Straight Connector 371">
            <a:extLst>
              <a:ext uri="{FF2B5EF4-FFF2-40B4-BE49-F238E27FC236}">
                <a16:creationId xmlns:a16="http://schemas.microsoft.com/office/drawing/2014/main" id="{45FD6751-8836-48BF-B85D-40EC657DA12F}"/>
              </a:ext>
            </a:extLst>
          </p:cNvPr>
          <p:cNvCxnSpPr>
            <a:cxnSpLocks/>
          </p:cNvCxnSpPr>
          <p:nvPr/>
        </p:nvCxnSpPr>
        <p:spPr>
          <a:xfrm>
            <a:off x="7956894" y="1754559"/>
            <a:ext cx="460233" cy="0"/>
          </a:xfrm>
          <a:prstGeom prst="line">
            <a:avLst/>
          </a:prstGeom>
          <a:noFill/>
          <a:ln w="57150" cap="flat" cmpd="sng" algn="ctr">
            <a:solidFill>
              <a:schemeClr val="tx1">
                <a:lumMod val="65000"/>
                <a:lumOff val="35000"/>
              </a:schemeClr>
            </a:solidFill>
            <a:prstDash val="solid"/>
          </a:ln>
          <a:effectLst/>
        </p:spPr>
      </p:cxnSp>
      <p:sp>
        <p:nvSpPr>
          <p:cNvPr id="373" name="TextBox 372">
            <a:extLst>
              <a:ext uri="{FF2B5EF4-FFF2-40B4-BE49-F238E27FC236}">
                <a16:creationId xmlns:a16="http://schemas.microsoft.com/office/drawing/2014/main" id="{94975910-7636-4177-B8B0-AB78D835220B}"/>
              </a:ext>
            </a:extLst>
          </p:cNvPr>
          <p:cNvSpPr txBox="1"/>
          <p:nvPr/>
        </p:nvSpPr>
        <p:spPr>
          <a:xfrm>
            <a:off x="8437907" y="1703226"/>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Performance Testing</a:t>
            </a:r>
          </a:p>
        </p:txBody>
      </p:sp>
      <p:cxnSp>
        <p:nvCxnSpPr>
          <p:cNvPr id="374" name="Straight Connector 373">
            <a:extLst>
              <a:ext uri="{FF2B5EF4-FFF2-40B4-BE49-F238E27FC236}">
                <a16:creationId xmlns:a16="http://schemas.microsoft.com/office/drawing/2014/main" id="{3994F9A7-028F-4A31-AA5C-3E138917D269}"/>
              </a:ext>
            </a:extLst>
          </p:cNvPr>
          <p:cNvCxnSpPr>
            <a:cxnSpLocks/>
          </p:cNvCxnSpPr>
          <p:nvPr/>
        </p:nvCxnSpPr>
        <p:spPr>
          <a:xfrm>
            <a:off x="7965146" y="1855303"/>
            <a:ext cx="460233" cy="0"/>
          </a:xfrm>
          <a:prstGeom prst="line">
            <a:avLst/>
          </a:prstGeom>
          <a:noFill/>
          <a:ln w="57150" cap="flat" cmpd="sng" algn="ctr">
            <a:solidFill>
              <a:schemeClr val="tx1">
                <a:lumMod val="65000"/>
                <a:lumOff val="35000"/>
              </a:schemeClr>
            </a:solidFill>
            <a:prstDash val="solid"/>
          </a:ln>
          <a:effectLst/>
        </p:spPr>
      </p:cxnSp>
      <p:sp>
        <p:nvSpPr>
          <p:cNvPr id="375" name="TextBox 374">
            <a:extLst>
              <a:ext uri="{FF2B5EF4-FFF2-40B4-BE49-F238E27FC236}">
                <a16:creationId xmlns:a16="http://schemas.microsoft.com/office/drawing/2014/main" id="{2C8F9C3E-8AFE-494A-B418-1AD44546DC71}"/>
              </a:ext>
            </a:extLst>
          </p:cNvPr>
          <p:cNvSpPr txBox="1"/>
          <p:nvPr/>
        </p:nvSpPr>
        <p:spPr>
          <a:xfrm>
            <a:off x="8446159" y="1803970"/>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Train The Trainer</a:t>
            </a:r>
          </a:p>
        </p:txBody>
      </p:sp>
      <p:sp>
        <p:nvSpPr>
          <p:cNvPr id="376" name="TextBox 375">
            <a:extLst>
              <a:ext uri="{FF2B5EF4-FFF2-40B4-BE49-F238E27FC236}">
                <a16:creationId xmlns:a16="http://schemas.microsoft.com/office/drawing/2014/main" id="{AF014CFA-D90F-4000-90B6-03DF02625C1F}"/>
              </a:ext>
            </a:extLst>
          </p:cNvPr>
          <p:cNvSpPr txBox="1"/>
          <p:nvPr/>
        </p:nvSpPr>
        <p:spPr>
          <a:xfrm>
            <a:off x="9601789" y="1910839"/>
            <a:ext cx="182880"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UAT</a:t>
            </a:r>
          </a:p>
        </p:txBody>
      </p:sp>
      <p:sp>
        <p:nvSpPr>
          <p:cNvPr id="377" name="TextBox 376">
            <a:extLst>
              <a:ext uri="{FF2B5EF4-FFF2-40B4-BE49-F238E27FC236}">
                <a16:creationId xmlns:a16="http://schemas.microsoft.com/office/drawing/2014/main" id="{F800C7D1-CE8A-48CB-A567-FE16D52C292D}"/>
              </a:ext>
            </a:extLst>
          </p:cNvPr>
          <p:cNvSpPr txBox="1"/>
          <p:nvPr/>
        </p:nvSpPr>
        <p:spPr>
          <a:xfrm>
            <a:off x="6707297" y="2069090"/>
            <a:ext cx="614984"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2</a:t>
            </a:r>
          </a:p>
        </p:txBody>
      </p:sp>
      <p:sp>
        <p:nvSpPr>
          <p:cNvPr id="378" name="TextBox 377">
            <a:extLst>
              <a:ext uri="{FF2B5EF4-FFF2-40B4-BE49-F238E27FC236}">
                <a16:creationId xmlns:a16="http://schemas.microsoft.com/office/drawing/2014/main" id="{151C9C4C-88E6-4D23-8554-863BA0A10996}"/>
              </a:ext>
            </a:extLst>
          </p:cNvPr>
          <p:cNvSpPr txBox="1"/>
          <p:nvPr/>
        </p:nvSpPr>
        <p:spPr>
          <a:xfrm>
            <a:off x="8022609" y="2048109"/>
            <a:ext cx="811940"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UAT</a:t>
            </a:r>
          </a:p>
        </p:txBody>
      </p:sp>
      <p:sp>
        <p:nvSpPr>
          <p:cNvPr id="381" name="object 144">
            <a:extLst>
              <a:ext uri="{FF2B5EF4-FFF2-40B4-BE49-F238E27FC236}">
                <a16:creationId xmlns:a16="http://schemas.microsoft.com/office/drawing/2014/main" id="{133682A4-DD8D-4EF7-9471-7195923D85F8}"/>
              </a:ext>
            </a:extLst>
          </p:cNvPr>
          <p:cNvSpPr/>
          <p:nvPr/>
        </p:nvSpPr>
        <p:spPr>
          <a:xfrm>
            <a:off x="6047021" y="247428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2" name="object 144">
            <a:extLst>
              <a:ext uri="{FF2B5EF4-FFF2-40B4-BE49-F238E27FC236}">
                <a16:creationId xmlns:a16="http://schemas.microsoft.com/office/drawing/2014/main" id="{B8879C51-C319-400D-AF46-5C29EB8BDBA7}"/>
              </a:ext>
            </a:extLst>
          </p:cNvPr>
          <p:cNvSpPr/>
          <p:nvPr/>
        </p:nvSpPr>
        <p:spPr>
          <a:xfrm>
            <a:off x="5107232" y="2484561"/>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3" name="object 144">
            <a:extLst>
              <a:ext uri="{FF2B5EF4-FFF2-40B4-BE49-F238E27FC236}">
                <a16:creationId xmlns:a16="http://schemas.microsoft.com/office/drawing/2014/main" id="{BC8FD696-478D-4A82-BD25-0D01D26AFAEE}"/>
              </a:ext>
            </a:extLst>
          </p:cNvPr>
          <p:cNvSpPr/>
          <p:nvPr/>
        </p:nvSpPr>
        <p:spPr>
          <a:xfrm>
            <a:off x="4096740" y="247585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6" name="object 144">
            <a:extLst>
              <a:ext uri="{FF2B5EF4-FFF2-40B4-BE49-F238E27FC236}">
                <a16:creationId xmlns:a16="http://schemas.microsoft.com/office/drawing/2014/main" id="{771E552E-25B5-40D5-A7E0-0447B675B6C3}"/>
              </a:ext>
            </a:extLst>
          </p:cNvPr>
          <p:cNvSpPr/>
          <p:nvPr/>
        </p:nvSpPr>
        <p:spPr>
          <a:xfrm>
            <a:off x="8973094" y="2469861"/>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7" name="TextBox 386">
            <a:extLst>
              <a:ext uri="{FF2B5EF4-FFF2-40B4-BE49-F238E27FC236}">
                <a16:creationId xmlns:a16="http://schemas.microsoft.com/office/drawing/2014/main" id="{B862D2C0-EEAB-4C69-B478-11222E3C3C79}"/>
              </a:ext>
            </a:extLst>
          </p:cNvPr>
          <p:cNvSpPr txBox="1"/>
          <p:nvPr/>
        </p:nvSpPr>
        <p:spPr>
          <a:xfrm>
            <a:off x="8640717" y="2671064"/>
            <a:ext cx="88088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Cutover Plan &amp; KT Plan</a:t>
            </a:r>
          </a:p>
        </p:txBody>
      </p:sp>
      <p:sp>
        <p:nvSpPr>
          <p:cNvPr id="205" name="TextBox 204">
            <a:extLst>
              <a:ext uri="{FF2B5EF4-FFF2-40B4-BE49-F238E27FC236}">
                <a16:creationId xmlns:a16="http://schemas.microsoft.com/office/drawing/2014/main" id="{7137B93E-CCE5-454F-9E52-3AE4BDA3046B}"/>
              </a:ext>
            </a:extLst>
          </p:cNvPr>
          <p:cNvSpPr txBox="1"/>
          <p:nvPr/>
        </p:nvSpPr>
        <p:spPr>
          <a:xfrm>
            <a:off x="11526530" y="2292245"/>
            <a:ext cx="399526"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PMO</a:t>
            </a:r>
          </a:p>
        </p:txBody>
      </p:sp>
      <p:sp>
        <p:nvSpPr>
          <p:cNvPr id="206" name="object 144">
            <a:extLst>
              <a:ext uri="{FF2B5EF4-FFF2-40B4-BE49-F238E27FC236}">
                <a16:creationId xmlns:a16="http://schemas.microsoft.com/office/drawing/2014/main" id="{A765A284-6470-4496-82AF-D16DF30F0C24}"/>
              </a:ext>
            </a:extLst>
          </p:cNvPr>
          <p:cNvSpPr/>
          <p:nvPr/>
        </p:nvSpPr>
        <p:spPr>
          <a:xfrm>
            <a:off x="10851358" y="245786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207" name="TextBox 206">
            <a:extLst>
              <a:ext uri="{FF2B5EF4-FFF2-40B4-BE49-F238E27FC236}">
                <a16:creationId xmlns:a16="http://schemas.microsoft.com/office/drawing/2014/main" id="{455AFD8A-97E7-4ED4-BEE6-A5D7B1F4C95E}"/>
              </a:ext>
            </a:extLst>
          </p:cNvPr>
          <p:cNvSpPr txBox="1"/>
          <p:nvPr/>
        </p:nvSpPr>
        <p:spPr>
          <a:xfrm>
            <a:off x="10500332" y="2676278"/>
            <a:ext cx="941582"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Initiate KT</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sp>
        <p:nvSpPr>
          <p:cNvPr id="289" name="TextBox 288">
            <a:extLst>
              <a:ext uri="{FF2B5EF4-FFF2-40B4-BE49-F238E27FC236}">
                <a16:creationId xmlns:a16="http://schemas.microsoft.com/office/drawing/2014/main" id="{BF45E320-F25B-4019-AACF-5D1612C43055}"/>
              </a:ext>
            </a:extLst>
          </p:cNvPr>
          <p:cNvSpPr txBox="1"/>
          <p:nvPr/>
        </p:nvSpPr>
        <p:spPr>
          <a:xfrm>
            <a:off x="9657509" y="4857519"/>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Assist</a:t>
            </a: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 Cutover, Smoke test</a:t>
            </a:r>
          </a:p>
        </p:txBody>
      </p:sp>
      <p:cxnSp>
        <p:nvCxnSpPr>
          <p:cNvPr id="295" name="Straight Connector 294">
            <a:extLst>
              <a:ext uri="{FF2B5EF4-FFF2-40B4-BE49-F238E27FC236}">
                <a16:creationId xmlns:a16="http://schemas.microsoft.com/office/drawing/2014/main" id="{A7E0D3BF-C038-404E-AFB2-E3D9DB8D0F6B}"/>
              </a:ext>
            </a:extLst>
          </p:cNvPr>
          <p:cNvCxnSpPr>
            <a:cxnSpLocks/>
          </p:cNvCxnSpPr>
          <p:nvPr/>
        </p:nvCxnSpPr>
        <p:spPr>
          <a:xfrm>
            <a:off x="2989031" y="4712472"/>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6" name="TextBox 295">
            <a:extLst>
              <a:ext uri="{FF2B5EF4-FFF2-40B4-BE49-F238E27FC236}">
                <a16:creationId xmlns:a16="http://schemas.microsoft.com/office/drawing/2014/main" id="{E3AC4557-BA85-44E4-BB7D-0BE137945247}"/>
              </a:ext>
            </a:extLst>
          </p:cNvPr>
          <p:cNvSpPr txBox="1"/>
          <p:nvPr/>
        </p:nvSpPr>
        <p:spPr>
          <a:xfrm>
            <a:off x="3027327" y="4500375"/>
            <a:ext cx="1534855"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Review Solution and test plan </a:t>
            </a:r>
          </a:p>
        </p:txBody>
      </p:sp>
      <p:cxnSp>
        <p:nvCxnSpPr>
          <p:cNvPr id="305" name="Straight Connector 304">
            <a:extLst>
              <a:ext uri="{FF2B5EF4-FFF2-40B4-BE49-F238E27FC236}">
                <a16:creationId xmlns:a16="http://schemas.microsoft.com/office/drawing/2014/main" id="{F115D368-1728-4939-8234-9CD4D927E8D4}"/>
              </a:ext>
            </a:extLst>
          </p:cNvPr>
          <p:cNvCxnSpPr>
            <a:cxnSpLocks/>
          </p:cNvCxnSpPr>
          <p:nvPr/>
        </p:nvCxnSpPr>
        <p:spPr>
          <a:xfrm flipV="1">
            <a:off x="4545704" y="4123834"/>
            <a:ext cx="2733352" cy="2807"/>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E276F02D-0DE2-43C1-8E66-D78342AEDDB9}"/>
              </a:ext>
            </a:extLst>
          </p:cNvPr>
          <p:cNvCxnSpPr>
            <a:cxnSpLocks/>
          </p:cNvCxnSpPr>
          <p:nvPr/>
        </p:nvCxnSpPr>
        <p:spPr>
          <a:xfrm>
            <a:off x="7279056" y="4286592"/>
            <a:ext cx="2297515"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42" name="Straight Connector 341">
            <a:extLst>
              <a:ext uri="{FF2B5EF4-FFF2-40B4-BE49-F238E27FC236}">
                <a16:creationId xmlns:a16="http://schemas.microsoft.com/office/drawing/2014/main" id="{B82A52E5-C0A7-424E-B72F-729F108CE4E3}"/>
              </a:ext>
            </a:extLst>
          </p:cNvPr>
          <p:cNvCxnSpPr>
            <a:cxnSpLocks/>
          </p:cNvCxnSpPr>
          <p:nvPr/>
        </p:nvCxnSpPr>
        <p:spPr>
          <a:xfrm>
            <a:off x="9818810" y="4131929"/>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4" name="TextBox 343">
            <a:extLst>
              <a:ext uri="{FF2B5EF4-FFF2-40B4-BE49-F238E27FC236}">
                <a16:creationId xmlns:a16="http://schemas.microsoft.com/office/drawing/2014/main" id="{F10A2570-CF6E-4792-B154-7967509587C7}"/>
              </a:ext>
            </a:extLst>
          </p:cNvPr>
          <p:cNvSpPr txBox="1"/>
          <p:nvPr/>
        </p:nvSpPr>
        <p:spPr>
          <a:xfrm>
            <a:off x="9836524" y="3938263"/>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Cutover Support</a:t>
            </a:r>
          </a:p>
        </p:txBody>
      </p:sp>
      <p:cxnSp>
        <p:nvCxnSpPr>
          <p:cNvPr id="345" name="Straight Connector 344">
            <a:extLst>
              <a:ext uri="{FF2B5EF4-FFF2-40B4-BE49-F238E27FC236}">
                <a16:creationId xmlns:a16="http://schemas.microsoft.com/office/drawing/2014/main" id="{F12B9078-747D-40C1-8F91-F8A545DCC09B}"/>
              </a:ext>
            </a:extLst>
          </p:cNvPr>
          <p:cNvCxnSpPr>
            <a:cxnSpLocks/>
          </p:cNvCxnSpPr>
          <p:nvPr/>
        </p:nvCxnSpPr>
        <p:spPr>
          <a:xfrm>
            <a:off x="2971317" y="4014263"/>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6" name="TextBox 345">
            <a:extLst>
              <a:ext uri="{FF2B5EF4-FFF2-40B4-BE49-F238E27FC236}">
                <a16:creationId xmlns:a16="http://schemas.microsoft.com/office/drawing/2014/main" id="{21B669E9-EE94-41D9-966D-B264AE4966B9}"/>
              </a:ext>
            </a:extLst>
          </p:cNvPr>
          <p:cNvSpPr txBox="1"/>
          <p:nvPr/>
        </p:nvSpPr>
        <p:spPr>
          <a:xfrm>
            <a:off x="2871901" y="3805826"/>
            <a:ext cx="1763003"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Review strategy and integration arch</a:t>
            </a:r>
          </a:p>
        </p:txBody>
      </p:sp>
      <p:cxnSp>
        <p:nvCxnSpPr>
          <p:cNvPr id="348" name="Straight Connector 347">
            <a:extLst>
              <a:ext uri="{FF2B5EF4-FFF2-40B4-BE49-F238E27FC236}">
                <a16:creationId xmlns:a16="http://schemas.microsoft.com/office/drawing/2014/main" id="{1C0CE833-EC36-48A2-BC08-1D9259F81871}"/>
              </a:ext>
            </a:extLst>
          </p:cNvPr>
          <p:cNvCxnSpPr>
            <a:cxnSpLocks/>
          </p:cNvCxnSpPr>
          <p:nvPr/>
        </p:nvCxnSpPr>
        <p:spPr>
          <a:xfrm>
            <a:off x="10699366" y="4288680"/>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9" name="TextBox 348">
            <a:extLst>
              <a:ext uri="{FF2B5EF4-FFF2-40B4-BE49-F238E27FC236}">
                <a16:creationId xmlns:a16="http://schemas.microsoft.com/office/drawing/2014/main" id="{DF06D4E9-8ABD-4FE7-BF06-36B984F77FA4}"/>
              </a:ext>
            </a:extLst>
          </p:cNvPr>
          <p:cNvSpPr txBox="1"/>
          <p:nvPr/>
        </p:nvSpPr>
        <p:spPr>
          <a:xfrm>
            <a:off x="10848437" y="4113472"/>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Hypercare</a:t>
            </a:r>
          </a:p>
        </p:txBody>
      </p:sp>
      <p:sp>
        <p:nvSpPr>
          <p:cNvPr id="186" name="TextBox 185">
            <a:extLst>
              <a:ext uri="{FF2B5EF4-FFF2-40B4-BE49-F238E27FC236}">
                <a16:creationId xmlns:a16="http://schemas.microsoft.com/office/drawing/2014/main" id="{B6E1A788-3214-4D32-9DA2-3C3900B2DACB}"/>
              </a:ext>
            </a:extLst>
          </p:cNvPr>
          <p:cNvSpPr txBox="1"/>
          <p:nvPr/>
        </p:nvSpPr>
        <p:spPr>
          <a:xfrm>
            <a:off x="4781123" y="3923779"/>
            <a:ext cx="176300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Code Build and Unit Testing</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sp>
        <p:nvSpPr>
          <p:cNvPr id="187" name="TextBox 186">
            <a:extLst>
              <a:ext uri="{FF2B5EF4-FFF2-40B4-BE49-F238E27FC236}">
                <a16:creationId xmlns:a16="http://schemas.microsoft.com/office/drawing/2014/main" id="{62D7EA56-FEEF-4292-A985-E4D954D7FD2E}"/>
              </a:ext>
            </a:extLst>
          </p:cNvPr>
          <p:cNvSpPr txBox="1"/>
          <p:nvPr/>
        </p:nvSpPr>
        <p:spPr>
          <a:xfrm>
            <a:off x="7520349" y="4092050"/>
            <a:ext cx="176300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Test Cycle Support</a:t>
            </a:r>
          </a:p>
        </p:txBody>
      </p:sp>
      <p:sp>
        <p:nvSpPr>
          <p:cNvPr id="204" name="TextBox 203">
            <a:extLst>
              <a:ext uri="{FF2B5EF4-FFF2-40B4-BE49-F238E27FC236}">
                <a16:creationId xmlns:a16="http://schemas.microsoft.com/office/drawing/2014/main" id="{845552B6-9990-4D2D-AB47-D8CE9F6FC583}"/>
              </a:ext>
            </a:extLst>
          </p:cNvPr>
          <p:cNvSpPr txBox="1"/>
          <p:nvPr/>
        </p:nvSpPr>
        <p:spPr>
          <a:xfrm>
            <a:off x="7221776" y="4837925"/>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INT Prep &amp; Exec; UAT Prep</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213" name="Straight Connector 212">
            <a:extLst>
              <a:ext uri="{FF2B5EF4-FFF2-40B4-BE49-F238E27FC236}">
                <a16:creationId xmlns:a16="http://schemas.microsoft.com/office/drawing/2014/main" id="{A86BC0AA-6FA6-40F7-BA71-1090A3F48EC9}"/>
              </a:ext>
            </a:extLst>
          </p:cNvPr>
          <p:cNvCxnSpPr>
            <a:cxnSpLocks/>
          </p:cNvCxnSpPr>
          <p:nvPr/>
        </p:nvCxnSpPr>
        <p:spPr>
          <a:xfrm>
            <a:off x="2953593" y="5591421"/>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36" name="TextBox 235">
            <a:extLst>
              <a:ext uri="{FF2B5EF4-FFF2-40B4-BE49-F238E27FC236}">
                <a16:creationId xmlns:a16="http://schemas.microsoft.com/office/drawing/2014/main" id="{969ADE92-7C7D-4AC5-B5E1-30A46F5F93B5}"/>
              </a:ext>
            </a:extLst>
          </p:cNvPr>
          <p:cNvSpPr txBox="1"/>
          <p:nvPr/>
        </p:nvSpPr>
        <p:spPr>
          <a:xfrm>
            <a:off x="2953592" y="5374684"/>
            <a:ext cx="1453231"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Identify Integrations</a:t>
            </a:r>
          </a:p>
        </p:txBody>
      </p:sp>
      <p:cxnSp>
        <p:nvCxnSpPr>
          <p:cNvPr id="246" name="Straight Connector 245">
            <a:extLst>
              <a:ext uri="{FF2B5EF4-FFF2-40B4-BE49-F238E27FC236}">
                <a16:creationId xmlns:a16="http://schemas.microsoft.com/office/drawing/2014/main" id="{37319686-1962-487B-AB1A-500E03145038}"/>
              </a:ext>
            </a:extLst>
          </p:cNvPr>
          <p:cNvCxnSpPr>
            <a:cxnSpLocks/>
          </p:cNvCxnSpPr>
          <p:nvPr/>
        </p:nvCxnSpPr>
        <p:spPr>
          <a:xfrm>
            <a:off x="3878507" y="5828349"/>
            <a:ext cx="2344452"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47" name="TextBox 246">
            <a:extLst>
              <a:ext uri="{FF2B5EF4-FFF2-40B4-BE49-F238E27FC236}">
                <a16:creationId xmlns:a16="http://schemas.microsoft.com/office/drawing/2014/main" id="{EB5F4762-9EBB-43A1-857F-EAD406123DD3}"/>
              </a:ext>
            </a:extLst>
          </p:cNvPr>
          <p:cNvSpPr txBox="1"/>
          <p:nvPr/>
        </p:nvSpPr>
        <p:spPr>
          <a:xfrm>
            <a:off x="3878507" y="5628294"/>
            <a:ext cx="235533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Design Functional Spec &amp; Inputs to Data Mapping</a:t>
            </a:r>
          </a:p>
        </p:txBody>
      </p:sp>
      <p:cxnSp>
        <p:nvCxnSpPr>
          <p:cNvPr id="288" name="Straight Connector 287">
            <a:extLst>
              <a:ext uri="{FF2B5EF4-FFF2-40B4-BE49-F238E27FC236}">
                <a16:creationId xmlns:a16="http://schemas.microsoft.com/office/drawing/2014/main" id="{69CA6DB2-77F4-47FB-9957-B0477ADDB3AB}"/>
              </a:ext>
            </a:extLst>
          </p:cNvPr>
          <p:cNvCxnSpPr>
            <a:cxnSpLocks/>
          </p:cNvCxnSpPr>
          <p:nvPr/>
        </p:nvCxnSpPr>
        <p:spPr>
          <a:xfrm>
            <a:off x="7293232" y="5794647"/>
            <a:ext cx="2297515"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1" name="TextBox 290">
            <a:extLst>
              <a:ext uri="{FF2B5EF4-FFF2-40B4-BE49-F238E27FC236}">
                <a16:creationId xmlns:a16="http://schemas.microsoft.com/office/drawing/2014/main" id="{501119CA-9A51-422F-B199-F0008ABA3137}"/>
              </a:ext>
            </a:extLst>
          </p:cNvPr>
          <p:cNvSpPr txBox="1"/>
          <p:nvPr/>
        </p:nvSpPr>
        <p:spPr>
          <a:xfrm>
            <a:off x="7534525" y="5467198"/>
            <a:ext cx="1763003"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Execute Process Testing Cycle and Support Integration testing</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292" name="Straight Connector 291">
            <a:extLst>
              <a:ext uri="{FF2B5EF4-FFF2-40B4-BE49-F238E27FC236}">
                <a16:creationId xmlns:a16="http://schemas.microsoft.com/office/drawing/2014/main" id="{F4E9E0ED-A508-4873-83E9-11EBB70667C7}"/>
              </a:ext>
            </a:extLst>
          </p:cNvPr>
          <p:cNvCxnSpPr>
            <a:cxnSpLocks/>
          </p:cNvCxnSpPr>
          <p:nvPr/>
        </p:nvCxnSpPr>
        <p:spPr>
          <a:xfrm>
            <a:off x="9838002" y="5772101"/>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4" name="TextBox 293">
            <a:extLst>
              <a:ext uri="{FF2B5EF4-FFF2-40B4-BE49-F238E27FC236}">
                <a16:creationId xmlns:a16="http://schemas.microsoft.com/office/drawing/2014/main" id="{CF860F12-820A-41DD-8ED2-3CCC2E1C7860}"/>
              </a:ext>
            </a:extLst>
          </p:cNvPr>
          <p:cNvSpPr txBox="1"/>
          <p:nvPr/>
        </p:nvSpPr>
        <p:spPr>
          <a:xfrm>
            <a:off x="9671687" y="5553359"/>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Assist</a:t>
            </a: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 Cutover</a:t>
            </a:r>
          </a:p>
        </p:txBody>
      </p:sp>
      <p:cxnSp>
        <p:nvCxnSpPr>
          <p:cNvPr id="297" name="Straight Connector 296">
            <a:extLst>
              <a:ext uri="{FF2B5EF4-FFF2-40B4-BE49-F238E27FC236}">
                <a16:creationId xmlns:a16="http://schemas.microsoft.com/office/drawing/2014/main" id="{C013F605-9F37-42B0-9A39-9D4DC5786834}"/>
              </a:ext>
            </a:extLst>
          </p:cNvPr>
          <p:cNvCxnSpPr>
            <a:cxnSpLocks/>
          </p:cNvCxnSpPr>
          <p:nvPr/>
        </p:nvCxnSpPr>
        <p:spPr>
          <a:xfrm>
            <a:off x="3876735" y="6514840"/>
            <a:ext cx="2344452"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10" name="TextBox 309">
            <a:extLst>
              <a:ext uri="{FF2B5EF4-FFF2-40B4-BE49-F238E27FC236}">
                <a16:creationId xmlns:a16="http://schemas.microsoft.com/office/drawing/2014/main" id="{04C470F8-5EAB-464D-945C-D3E0B7EEC745}"/>
              </a:ext>
            </a:extLst>
          </p:cNvPr>
          <p:cNvSpPr txBox="1"/>
          <p:nvPr/>
        </p:nvSpPr>
        <p:spPr>
          <a:xfrm>
            <a:off x="3885201" y="6327485"/>
            <a:ext cx="235533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Inputs to Data Mapping</a:t>
            </a:r>
          </a:p>
        </p:txBody>
      </p:sp>
      <p:cxnSp>
        <p:nvCxnSpPr>
          <p:cNvPr id="318" name="Straight Connector 317">
            <a:extLst>
              <a:ext uri="{FF2B5EF4-FFF2-40B4-BE49-F238E27FC236}">
                <a16:creationId xmlns:a16="http://schemas.microsoft.com/office/drawing/2014/main" id="{840DBD84-9EF4-4222-806C-98FBC4C454AD}"/>
              </a:ext>
            </a:extLst>
          </p:cNvPr>
          <p:cNvCxnSpPr>
            <a:cxnSpLocks/>
          </p:cNvCxnSpPr>
          <p:nvPr/>
        </p:nvCxnSpPr>
        <p:spPr>
          <a:xfrm>
            <a:off x="2949654" y="6311877"/>
            <a:ext cx="2384145"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1" name="TextBox 340">
            <a:extLst>
              <a:ext uri="{FF2B5EF4-FFF2-40B4-BE49-F238E27FC236}">
                <a16:creationId xmlns:a16="http://schemas.microsoft.com/office/drawing/2014/main" id="{8B83E09E-5E48-4CF3-A45B-2D0072507B87}"/>
              </a:ext>
            </a:extLst>
          </p:cNvPr>
          <p:cNvSpPr txBox="1"/>
          <p:nvPr/>
        </p:nvSpPr>
        <p:spPr>
          <a:xfrm>
            <a:off x="2949653" y="6095140"/>
            <a:ext cx="239096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Existing Process Walkthrough</a:t>
            </a:r>
          </a:p>
        </p:txBody>
      </p:sp>
      <p:cxnSp>
        <p:nvCxnSpPr>
          <p:cNvPr id="351" name="Straight Connector 350">
            <a:extLst>
              <a:ext uri="{FF2B5EF4-FFF2-40B4-BE49-F238E27FC236}">
                <a16:creationId xmlns:a16="http://schemas.microsoft.com/office/drawing/2014/main" id="{B7903855-E9B2-4437-9C59-B259F2DAB97F}"/>
              </a:ext>
            </a:extLst>
          </p:cNvPr>
          <p:cNvCxnSpPr>
            <a:cxnSpLocks/>
          </p:cNvCxnSpPr>
          <p:nvPr/>
        </p:nvCxnSpPr>
        <p:spPr>
          <a:xfrm>
            <a:off x="4153211" y="6737773"/>
            <a:ext cx="3108283"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52" name="TextBox 351">
            <a:extLst>
              <a:ext uri="{FF2B5EF4-FFF2-40B4-BE49-F238E27FC236}">
                <a16:creationId xmlns:a16="http://schemas.microsoft.com/office/drawing/2014/main" id="{FEC49A29-F574-493E-8901-A895E2096C13}"/>
              </a:ext>
            </a:extLst>
          </p:cNvPr>
          <p:cNvSpPr txBox="1"/>
          <p:nvPr/>
        </p:nvSpPr>
        <p:spPr>
          <a:xfrm>
            <a:off x="4280211" y="6565216"/>
            <a:ext cx="314288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Retrofit existing programs (If required)</a:t>
            </a:r>
          </a:p>
        </p:txBody>
      </p:sp>
      <p:sp>
        <p:nvSpPr>
          <p:cNvPr id="371" name="TextBox 370">
            <a:extLst>
              <a:ext uri="{FF2B5EF4-FFF2-40B4-BE49-F238E27FC236}">
                <a16:creationId xmlns:a16="http://schemas.microsoft.com/office/drawing/2014/main" id="{105C9131-C773-4BCF-9B1E-4ACA5C55F375}"/>
              </a:ext>
            </a:extLst>
          </p:cNvPr>
          <p:cNvSpPr txBox="1"/>
          <p:nvPr/>
        </p:nvSpPr>
        <p:spPr>
          <a:xfrm>
            <a:off x="8509924" y="6303002"/>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UAT Execution</a:t>
            </a:r>
          </a:p>
        </p:txBody>
      </p:sp>
      <p:sp>
        <p:nvSpPr>
          <p:cNvPr id="379" name="TextBox 378">
            <a:extLst>
              <a:ext uri="{FF2B5EF4-FFF2-40B4-BE49-F238E27FC236}">
                <a16:creationId xmlns:a16="http://schemas.microsoft.com/office/drawing/2014/main" id="{592C1BCF-9B56-4277-A1A4-73726902A6B8}"/>
              </a:ext>
            </a:extLst>
          </p:cNvPr>
          <p:cNvSpPr txBox="1"/>
          <p:nvPr/>
        </p:nvSpPr>
        <p:spPr>
          <a:xfrm>
            <a:off x="7183381" y="6283898"/>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SIT Support</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380" name="Straight Connector 379">
            <a:extLst>
              <a:ext uri="{FF2B5EF4-FFF2-40B4-BE49-F238E27FC236}">
                <a16:creationId xmlns:a16="http://schemas.microsoft.com/office/drawing/2014/main" id="{7BD05B08-4901-4981-8175-78408140C275}"/>
              </a:ext>
            </a:extLst>
          </p:cNvPr>
          <p:cNvCxnSpPr>
            <a:cxnSpLocks/>
          </p:cNvCxnSpPr>
          <p:nvPr/>
        </p:nvCxnSpPr>
        <p:spPr>
          <a:xfrm>
            <a:off x="7300290" y="6502955"/>
            <a:ext cx="113062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88" name="Straight Connector 387">
            <a:extLst>
              <a:ext uri="{FF2B5EF4-FFF2-40B4-BE49-F238E27FC236}">
                <a16:creationId xmlns:a16="http://schemas.microsoft.com/office/drawing/2014/main" id="{4E719F72-3B64-4B7A-8524-B20F2B430649}"/>
              </a:ext>
            </a:extLst>
          </p:cNvPr>
          <p:cNvCxnSpPr>
            <a:cxnSpLocks/>
          </p:cNvCxnSpPr>
          <p:nvPr/>
        </p:nvCxnSpPr>
        <p:spPr>
          <a:xfrm>
            <a:off x="8758763" y="6516593"/>
            <a:ext cx="80987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84757130-C960-41DD-881F-348E488DE1EC}"/>
              </a:ext>
            </a:extLst>
          </p:cNvPr>
          <p:cNvCxnSpPr>
            <a:cxnSpLocks/>
          </p:cNvCxnSpPr>
          <p:nvPr/>
        </p:nvCxnSpPr>
        <p:spPr>
          <a:xfrm>
            <a:off x="9901502" y="6521401"/>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90" name="TextBox 389">
            <a:extLst>
              <a:ext uri="{FF2B5EF4-FFF2-40B4-BE49-F238E27FC236}">
                <a16:creationId xmlns:a16="http://schemas.microsoft.com/office/drawing/2014/main" id="{67FB7E4D-D7C4-4C52-A85E-8D6750B43A01}"/>
              </a:ext>
            </a:extLst>
          </p:cNvPr>
          <p:cNvSpPr txBox="1"/>
          <p:nvPr/>
        </p:nvSpPr>
        <p:spPr>
          <a:xfrm>
            <a:off x="9722487" y="6328059"/>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Assist</a:t>
            </a: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 Cutover</a:t>
            </a:r>
          </a:p>
        </p:txBody>
      </p:sp>
      <p:cxnSp>
        <p:nvCxnSpPr>
          <p:cNvPr id="391" name="Straight Connector 390">
            <a:extLst>
              <a:ext uri="{FF2B5EF4-FFF2-40B4-BE49-F238E27FC236}">
                <a16:creationId xmlns:a16="http://schemas.microsoft.com/office/drawing/2014/main" id="{44F01750-7EB1-45B1-9EBC-1EF6C7D7F4F0}"/>
              </a:ext>
            </a:extLst>
          </p:cNvPr>
          <p:cNvCxnSpPr>
            <a:cxnSpLocks/>
          </p:cNvCxnSpPr>
          <p:nvPr/>
        </p:nvCxnSpPr>
        <p:spPr>
          <a:xfrm>
            <a:off x="10782058" y="5772101"/>
            <a:ext cx="810564" cy="2479"/>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92" name="TextBox 391">
            <a:extLst>
              <a:ext uri="{FF2B5EF4-FFF2-40B4-BE49-F238E27FC236}">
                <a16:creationId xmlns:a16="http://schemas.microsoft.com/office/drawing/2014/main" id="{68D46F9B-5695-4556-8FAE-D7586713ED04}"/>
              </a:ext>
            </a:extLst>
          </p:cNvPr>
          <p:cNvSpPr txBox="1"/>
          <p:nvPr/>
        </p:nvSpPr>
        <p:spPr>
          <a:xfrm>
            <a:off x="10719626" y="5542770"/>
            <a:ext cx="986311"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Support Hypercare</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248" name="Straight Connector 247">
            <a:extLst>
              <a:ext uri="{FF2B5EF4-FFF2-40B4-BE49-F238E27FC236}">
                <a16:creationId xmlns:a16="http://schemas.microsoft.com/office/drawing/2014/main" id="{4768C692-C9F5-4ED7-A87A-D7BEF458AA92}"/>
              </a:ext>
            </a:extLst>
          </p:cNvPr>
          <p:cNvCxnSpPr>
            <a:cxnSpLocks/>
          </p:cNvCxnSpPr>
          <p:nvPr/>
        </p:nvCxnSpPr>
        <p:spPr>
          <a:xfrm>
            <a:off x="2958899" y="3394854"/>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82" name="TextBox 281">
            <a:extLst>
              <a:ext uri="{FF2B5EF4-FFF2-40B4-BE49-F238E27FC236}">
                <a16:creationId xmlns:a16="http://schemas.microsoft.com/office/drawing/2014/main" id="{BBAE3032-F0AC-400C-B1E4-4EEFE753A841}"/>
              </a:ext>
            </a:extLst>
          </p:cNvPr>
          <p:cNvSpPr txBox="1"/>
          <p:nvPr/>
        </p:nvSpPr>
        <p:spPr>
          <a:xfrm>
            <a:off x="2859483" y="3186417"/>
            <a:ext cx="1763003"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OCI Landing Zone Design</a:t>
            </a:r>
          </a:p>
        </p:txBody>
      </p:sp>
      <p:sp>
        <p:nvSpPr>
          <p:cNvPr id="314" name="TextBox 313">
            <a:extLst>
              <a:ext uri="{FF2B5EF4-FFF2-40B4-BE49-F238E27FC236}">
                <a16:creationId xmlns:a16="http://schemas.microsoft.com/office/drawing/2014/main" id="{8C655207-87E6-4910-9A25-9B0C0F78B993}"/>
              </a:ext>
            </a:extLst>
          </p:cNvPr>
          <p:cNvSpPr txBox="1"/>
          <p:nvPr/>
        </p:nvSpPr>
        <p:spPr>
          <a:xfrm>
            <a:off x="3296205" y="2910281"/>
            <a:ext cx="1918795" cy="107722"/>
          </a:xfrm>
          <a:prstGeom prst="rect">
            <a:avLst/>
          </a:prstGeom>
          <a:noFill/>
        </p:spPr>
        <p:txBody>
          <a:bodyPr wrap="none" lIns="0" tIns="0" rIns="0" bIns="0" rtlCol="0">
            <a:spAutoFit/>
          </a:bodyPr>
          <a:lstStyle/>
          <a:p>
            <a:pPr marL="203200" indent="-203200">
              <a:spcBef>
                <a:spcPts val="600"/>
              </a:spcBef>
              <a:buSzPct val="100000"/>
              <a:buFont typeface="Arial"/>
              <a:buChar char="•"/>
            </a:pPr>
            <a:r>
              <a:rPr lang="en-US" sz="700">
                <a:solidFill>
                  <a:srgbClr val="313131"/>
                </a:solidFill>
              </a:rPr>
              <a:t>CICD requirements/standards, tooling</a:t>
            </a:r>
          </a:p>
        </p:txBody>
      </p:sp>
      <p:sp>
        <p:nvSpPr>
          <p:cNvPr id="7" name="Text Placeholder 6">
            <a:extLst>
              <a:ext uri="{FF2B5EF4-FFF2-40B4-BE49-F238E27FC236}">
                <a16:creationId xmlns:a16="http://schemas.microsoft.com/office/drawing/2014/main" id="{ABBF4B46-368A-453A-9E80-8B655A00FD32}"/>
              </a:ext>
            </a:extLst>
          </p:cNvPr>
          <p:cNvSpPr>
            <a:spLocks noGrp="1"/>
          </p:cNvSpPr>
          <p:nvPr>
            <p:ph type="body" sz="quarter" idx="22"/>
          </p:nvPr>
        </p:nvSpPr>
        <p:spPr/>
        <p:txBody>
          <a:bodyPr/>
          <a:lstStyle/>
          <a:p>
            <a:endParaRPr lang="en-US"/>
          </a:p>
        </p:txBody>
      </p:sp>
    </p:spTree>
    <p:extLst>
      <p:ext uri="{BB962C8B-B14F-4D97-AF65-F5344CB8AC3E}">
        <p14:creationId xmlns:p14="http://schemas.microsoft.com/office/powerpoint/2010/main" val="88808527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4EF24-1770-3C37-5864-575631731D59}"/>
              </a:ext>
            </a:extLst>
          </p:cNvPr>
          <p:cNvSpPr>
            <a:spLocks noGrp="1"/>
          </p:cNvSpPr>
          <p:nvPr>
            <p:ph type="title"/>
          </p:nvPr>
        </p:nvSpPr>
        <p:spPr>
          <a:xfrm>
            <a:off x="344552" y="-311531"/>
            <a:ext cx="10515600" cy="1325563"/>
          </a:xfrm>
        </p:spPr>
        <p:txBody>
          <a:bodyPr>
            <a:normAutofit/>
          </a:bodyPr>
          <a:lstStyle/>
          <a:p>
            <a:r>
              <a:rPr lang="en-US" sz="2800" dirty="0"/>
              <a:t>8 Week Deliverables/Milestones/Dependencies</a:t>
            </a:r>
          </a:p>
        </p:txBody>
      </p:sp>
      <p:graphicFrame>
        <p:nvGraphicFramePr>
          <p:cNvPr id="3" name="Table 2">
            <a:extLst>
              <a:ext uri="{FF2B5EF4-FFF2-40B4-BE49-F238E27FC236}">
                <a16:creationId xmlns:a16="http://schemas.microsoft.com/office/drawing/2014/main" id="{36C6728C-8AC5-C1A2-FB5C-C3AF6FCBCDD8}"/>
              </a:ext>
            </a:extLst>
          </p:cNvPr>
          <p:cNvGraphicFramePr>
            <a:graphicFrameLocks noGrp="1"/>
          </p:cNvGraphicFramePr>
          <p:nvPr>
            <p:extLst>
              <p:ext uri="{D42A27DB-BD31-4B8C-83A1-F6EECF244321}">
                <p14:modId xmlns:p14="http://schemas.microsoft.com/office/powerpoint/2010/main" val="3161491556"/>
              </p:ext>
            </p:extLst>
          </p:nvPr>
        </p:nvGraphicFramePr>
        <p:xfrm>
          <a:off x="378367" y="679822"/>
          <a:ext cx="11469081" cy="5391310"/>
        </p:xfrm>
        <a:graphic>
          <a:graphicData uri="http://schemas.openxmlformats.org/drawingml/2006/table">
            <a:tbl>
              <a:tblPr firstRow="1" bandRow="1"/>
              <a:tblGrid>
                <a:gridCol w="1924666">
                  <a:extLst>
                    <a:ext uri="{9D8B030D-6E8A-4147-A177-3AD203B41FA5}">
                      <a16:colId xmlns:a16="http://schemas.microsoft.com/office/drawing/2014/main" val="702128557"/>
                    </a:ext>
                  </a:extLst>
                </a:gridCol>
                <a:gridCol w="915375">
                  <a:extLst>
                    <a:ext uri="{9D8B030D-6E8A-4147-A177-3AD203B41FA5}">
                      <a16:colId xmlns:a16="http://schemas.microsoft.com/office/drawing/2014/main" val="3453241497"/>
                    </a:ext>
                  </a:extLst>
                </a:gridCol>
                <a:gridCol w="971185">
                  <a:extLst>
                    <a:ext uri="{9D8B030D-6E8A-4147-A177-3AD203B41FA5}">
                      <a16:colId xmlns:a16="http://schemas.microsoft.com/office/drawing/2014/main" val="3830077496"/>
                    </a:ext>
                  </a:extLst>
                </a:gridCol>
                <a:gridCol w="1015838">
                  <a:extLst>
                    <a:ext uri="{9D8B030D-6E8A-4147-A177-3AD203B41FA5}">
                      <a16:colId xmlns:a16="http://schemas.microsoft.com/office/drawing/2014/main" val="1116999727"/>
                    </a:ext>
                  </a:extLst>
                </a:gridCol>
                <a:gridCol w="937967">
                  <a:extLst>
                    <a:ext uri="{9D8B030D-6E8A-4147-A177-3AD203B41FA5}">
                      <a16:colId xmlns:a16="http://schemas.microsoft.com/office/drawing/2014/main" val="1823675650"/>
                    </a:ext>
                  </a:extLst>
                </a:gridCol>
                <a:gridCol w="1140810">
                  <a:extLst>
                    <a:ext uri="{9D8B030D-6E8A-4147-A177-3AD203B41FA5}">
                      <a16:colId xmlns:a16="http://schemas.microsoft.com/office/drawing/2014/main" val="1850247057"/>
                    </a:ext>
                  </a:extLst>
                </a:gridCol>
                <a:gridCol w="1140810">
                  <a:extLst>
                    <a:ext uri="{9D8B030D-6E8A-4147-A177-3AD203B41FA5}">
                      <a16:colId xmlns:a16="http://schemas.microsoft.com/office/drawing/2014/main" val="1842095370"/>
                    </a:ext>
                  </a:extLst>
                </a:gridCol>
                <a:gridCol w="1140810">
                  <a:extLst>
                    <a:ext uri="{9D8B030D-6E8A-4147-A177-3AD203B41FA5}">
                      <a16:colId xmlns:a16="http://schemas.microsoft.com/office/drawing/2014/main" val="1630108107"/>
                    </a:ext>
                  </a:extLst>
                </a:gridCol>
                <a:gridCol w="1140810">
                  <a:extLst>
                    <a:ext uri="{9D8B030D-6E8A-4147-A177-3AD203B41FA5}">
                      <a16:colId xmlns:a16="http://schemas.microsoft.com/office/drawing/2014/main" val="3634664759"/>
                    </a:ext>
                  </a:extLst>
                </a:gridCol>
                <a:gridCol w="1140810">
                  <a:extLst>
                    <a:ext uri="{9D8B030D-6E8A-4147-A177-3AD203B41FA5}">
                      <a16:colId xmlns:a16="http://schemas.microsoft.com/office/drawing/2014/main" val="4259240834"/>
                    </a:ext>
                  </a:extLst>
                </a:gridCol>
              </a:tblGrid>
              <a:tr h="3763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313131"/>
                          </a:solidFill>
                          <a:effectLst/>
                          <a:uLnTx/>
                          <a:uFillTx/>
                          <a:ea typeface="+mn-ea"/>
                          <a:cs typeface="+mn-cs"/>
                        </a:rPr>
                        <a:t>Proposed Development Start: </a:t>
                      </a:r>
                      <a:r>
                        <a:rPr kumimoji="0" lang="en-US" sz="900" b="1" i="1" u="none" strike="noStrike" kern="1200" cap="none" spc="0" normalizeH="0" baseline="0" noProof="0">
                          <a:ln>
                            <a:noFill/>
                          </a:ln>
                          <a:solidFill>
                            <a:srgbClr val="313131"/>
                          </a:solidFill>
                          <a:effectLst/>
                          <a:uLnTx/>
                          <a:uFillTx/>
                          <a:ea typeface="+mn-ea"/>
                          <a:cs typeface="+mn-cs"/>
                        </a:rPr>
                        <a:t>March 27 2023</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3/27</a:t>
                      </a:r>
                    </a:p>
                    <a:p>
                      <a:pPr algn="ctr"/>
                      <a:r>
                        <a:rPr lang="en-US" sz="900">
                          <a:solidFill>
                            <a:schemeClr val="accent6"/>
                          </a:solidFill>
                          <a:latin typeface="+mn-lt"/>
                          <a:ea typeface="Open Sans" panose="020B0606030504020204" pitchFamily="34" charset="0"/>
                          <a:cs typeface="Open Sans" panose="020B0606030504020204" pitchFamily="34" charset="0"/>
                        </a:rPr>
                        <a:t>Kick off week</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4/3</a:t>
                      </a:r>
                    </a:p>
                    <a:p>
                      <a:pPr algn="ctr"/>
                      <a:r>
                        <a:rPr lang="en-US" sz="900">
                          <a:solidFill>
                            <a:schemeClr val="accent6"/>
                          </a:solidFill>
                          <a:latin typeface="+mn-lt"/>
                          <a:ea typeface="Open Sans" panose="020B0606030504020204" pitchFamily="34" charset="0"/>
                          <a:cs typeface="Open Sans" panose="020B0606030504020204" pitchFamily="34" charset="0"/>
                        </a:rPr>
                        <a:t>Week 1</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4/10</a:t>
                      </a:r>
                    </a:p>
                    <a:p>
                      <a:pPr algn="ctr"/>
                      <a:r>
                        <a:rPr lang="en-US" sz="900">
                          <a:solidFill>
                            <a:schemeClr val="accent6"/>
                          </a:solidFill>
                          <a:latin typeface="+mn-lt"/>
                          <a:ea typeface="Open Sans" panose="020B0606030504020204" pitchFamily="34" charset="0"/>
                          <a:cs typeface="Open Sans" panose="020B0606030504020204" pitchFamily="34" charset="0"/>
                        </a:rPr>
                        <a:t>Week 2</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4/17</a:t>
                      </a:r>
                    </a:p>
                    <a:p>
                      <a:pPr algn="ctr"/>
                      <a:r>
                        <a:rPr lang="en-US" sz="900">
                          <a:solidFill>
                            <a:schemeClr val="accent6"/>
                          </a:solidFill>
                          <a:latin typeface="+mn-lt"/>
                          <a:ea typeface="Open Sans" panose="020B0606030504020204" pitchFamily="34" charset="0"/>
                          <a:cs typeface="Open Sans" panose="020B0606030504020204" pitchFamily="34" charset="0"/>
                        </a:rPr>
                        <a:t>Week 3</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4/24</a:t>
                      </a:r>
                    </a:p>
                    <a:p>
                      <a:pPr algn="ctr"/>
                      <a:r>
                        <a:rPr lang="en-US" sz="900">
                          <a:solidFill>
                            <a:schemeClr val="accent6"/>
                          </a:solidFill>
                          <a:latin typeface="+mn-lt"/>
                          <a:ea typeface="Open Sans" panose="020B0606030504020204" pitchFamily="34" charset="0"/>
                          <a:cs typeface="Open Sans" panose="020B0606030504020204" pitchFamily="34" charset="0"/>
                        </a:rPr>
                        <a:t>Week 4</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5/1</a:t>
                      </a:r>
                    </a:p>
                    <a:p>
                      <a:pPr algn="ctr"/>
                      <a:r>
                        <a:rPr lang="en-US" sz="900">
                          <a:solidFill>
                            <a:schemeClr val="accent6"/>
                          </a:solidFill>
                          <a:latin typeface="+mn-lt"/>
                          <a:ea typeface="Open Sans" panose="020B0606030504020204" pitchFamily="34" charset="0"/>
                          <a:cs typeface="Open Sans" panose="020B0606030504020204" pitchFamily="34" charset="0"/>
                        </a:rPr>
                        <a:t>Week 5</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dirty="0">
                          <a:solidFill>
                            <a:schemeClr val="accent6"/>
                          </a:solidFill>
                          <a:latin typeface="+mn-lt"/>
                          <a:ea typeface="Open Sans" panose="020B0606030504020204" pitchFamily="34" charset="0"/>
                          <a:cs typeface="Open Sans" panose="020B0606030504020204" pitchFamily="34" charset="0"/>
                        </a:rPr>
                        <a:t>5/8</a:t>
                      </a:r>
                    </a:p>
                    <a:p>
                      <a:pPr algn="ctr"/>
                      <a:r>
                        <a:rPr lang="en-US" sz="900" dirty="0">
                          <a:solidFill>
                            <a:schemeClr val="accent6"/>
                          </a:solidFill>
                          <a:latin typeface="+mn-lt"/>
                          <a:ea typeface="Open Sans" panose="020B0606030504020204" pitchFamily="34" charset="0"/>
                          <a:cs typeface="Open Sans" panose="020B0606030504020204" pitchFamily="34" charset="0"/>
                        </a:rPr>
                        <a:t>Week 6</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5/15</a:t>
                      </a:r>
                    </a:p>
                    <a:p>
                      <a:pPr algn="ctr"/>
                      <a:r>
                        <a:rPr lang="en-US" sz="900">
                          <a:solidFill>
                            <a:schemeClr val="accent6"/>
                          </a:solidFill>
                          <a:latin typeface="+mn-lt"/>
                          <a:ea typeface="Open Sans" panose="020B0606030504020204" pitchFamily="34" charset="0"/>
                          <a:cs typeface="Open Sans" panose="020B0606030504020204" pitchFamily="34" charset="0"/>
                        </a:rPr>
                        <a:t>Week 7</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1">
                          <a:solidFill>
                            <a:schemeClr val="accent6"/>
                          </a:solidFill>
                          <a:latin typeface="+mn-lt"/>
                          <a:ea typeface="Open Sans" panose="020B0606030504020204" pitchFamily="34" charset="0"/>
                          <a:cs typeface="Open Sans" panose="020B0606030504020204" pitchFamily="34" charset="0"/>
                        </a:rPr>
                        <a:t>5/22</a:t>
                      </a:r>
                    </a:p>
                    <a:p>
                      <a:pPr algn="ctr"/>
                      <a:r>
                        <a:rPr lang="en-US" sz="900" b="1">
                          <a:solidFill>
                            <a:schemeClr val="accent6"/>
                          </a:solidFill>
                          <a:latin typeface="+mn-lt"/>
                          <a:ea typeface="Open Sans" panose="020B0606030504020204" pitchFamily="34" charset="0"/>
                          <a:cs typeface="Open Sans" panose="020B0606030504020204" pitchFamily="34" charset="0"/>
                        </a:rPr>
                        <a:t>Week 8</a:t>
                      </a:r>
                    </a:p>
                  </a:txBody>
                  <a:tcPr marL="89089" marR="89089" marT="44544" marB="4454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881870"/>
                  </a:ext>
                </a:extLst>
              </a:tr>
              <a:tr h="1184902">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Dollar Tree – Key Milestones</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7471917"/>
                  </a:ext>
                </a:extLst>
              </a:tr>
              <a:tr h="805180">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Oracle</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9376789"/>
                  </a:ext>
                </a:extLst>
              </a:tr>
              <a:tr h="934565">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IPG – Integration Portfolio Governance</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0331777"/>
                  </a:ext>
                </a:extLst>
              </a:tr>
              <a:tr h="786860">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ATS - Arch Tools and Security</a:t>
                      </a:r>
                      <a:endParaRPr lang="en-US" sz="1000" b="1" kern="1200">
                        <a:solidFill>
                          <a:schemeClr val="tx1"/>
                        </a:solidFill>
                        <a:latin typeface="+mn-lt"/>
                        <a:ea typeface="Open Sans" panose="020B0606030504020204" pitchFamily="34" charset="0"/>
                        <a:cs typeface="Open Sans" panose="020B0606030504020204" pitchFamily="34" charset="0"/>
                      </a:endParaRP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388896"/>
                  </a:ext>
                </a:extLst>
              </a:tr>
              <a:tr h="690172">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IPODS – Integration Pod</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3747723"/>
                  </a:ext>
                </a:extLst>
              </a:tr>
              <a:tr h="613307">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RIT – Retail system Integration and QA Testing</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4858681"/>
                  </a:ext>
                </a:extLst>
              </a:tr>
            </a:tbl>
          </a:graphicData>
        </a:graphic>
      </p:graphicFrame>
      <p:sp>
        <p:nvSpPr>
          <p:cNvPr id="4" name="object 144">
            <a:extLst>
              <a:ext uri="{FF2B5EF4-FFF2-40B4-BE49-F238E27FC236}">
                <a16:creationId xmlns:a16="http://schemas.microsoft.com/office/drawing/2014/main" id="{05B051A6-5C16-2B9F-474E-B8B2AE2F2E93}"/>
              </a:ext>
            </a:extLst>
          </p:cNvPr>
          <p:cNvSpPr/>
          <p:nvPr/>
        </p:nvSpPr>
        <p:spPr>
          <a:xfrm>
            <a:off x="4261434" y="3429000"/>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5" name="TextBox 4">
            <a:extLst>
              <a:ext uri="{FF2B5EF4-FFF2-40B4-BE49-F238E27FC236}">
                <a16:creationId xmlns:a16="http://schemas.microsoft.com/office/drawing/2014/main" id="{56424577-9099-ABB2-B907-4FCFF694762C}"/>
              </a:ext>
            </a:extLst>
          </p:cNvPr>
          <p:cNvSpPr txBox="1"/>
          <p:nvPr/>
        </p:nvSpPr>
        <p:spPr>
          <a:xfrm>
            <a:off x="4073349" y="3635181"/>
            <a:ext cx="906005" cy="215444"/>
          </a:xfrm>
          <a:prstGeom prst="rect">
            <a:avLst/>
          </a:prstGeom>
          <a:noFill/>
        </p:spPr>
        <p:txBody>
          <a:bodyPr wrap="square" lIns="0" tIns="0" rIns="0" bIns="0" rtlCol="0">
            <a:spAutoFit/>
          </a:bodyPr>
          <a:lstStyle/>
          <a:p>
            <a:pPr>
              <a:buSzPct val="100000"/>
            </a:pPr>
            <a:r>
              <a:rPr lang="en-US" sz="700">
                <a:solidFill>
                  <a:srgbClr val="313131"/>
                </a:solidFill>
              </a:rPr>
              <a:t>4/10- Decision on Dev/Ops tooling</a:t>
            </a:r>
          </a:p>
        </p:txBody>
      </p:sp>
      <p:sp>
        <p:nvSpPr>
          <p:cNvPr id="6" name="object 144">
            <a:extLst>
              <a:ext uri="{FF2B5EF4-FFF2-40B4-BE49-F238E27FC236}">
                <a16:creationId xmlns:a16="http://schemas.microsoft.com/office/drawing/2014/main" id="{AEBA69F6-04CA-41F3-1664-CE33F6862433}"/>
              </a:ext>
            </a:extLst>
          </p:cNvPr>
          <p:cNvSpPr/>
          <p:nvPr/>
        </p:nvSpPr>
        <p:spPr>
          <a:xfrm>
            <a:off x="8472626" y="5022576"/>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7" name="TextBox 6">
            <a:extLst>
              <a:ext uri="{FF2B5EF4-FFF2-40B4-BE49-F238E27FC236}">
                <a16:creationId xmlns:a16="http://schemas.microsoft.com/office/drawing/2014/main" id="{324CFC00-3454-DF38-E09A-B2EDB48F3267}"/>
              </a:ext>
            </a:extLst>
          </p:cNvPr>
          <p:cNvSpPr txBox="1"/>
          <p:nvPr/>
        </p:nvSpPr>
        <p:spPr>
          <a:xfrm>
            <a:off x="8284541" y="5223189"/>
            <a:ext cx="850315" cy="430887"/>
          </a:xfrm>
          <a:prstGeom prst="rect">
            <a:avLst/>
          </a:prstGeom>
          <a:noFill/>
        </p:spPr>
        <p:txBody>
          <a:bodyPr wrap="square" lIns="0" tIns="0" rIns="0" bIns="0" rtlCol="0">
            <a:spAutoFit/>
          </a:bodyPr>
          <a:lstStyle/>
          <a:p>
            <a:pPr>
              <a:buSzPct val="100000"/>
            </a:pPr>
            <a:r>
              <a:rPr lang="en-US" sz="700">
                <a:solidFill>
                  <a:srgbClr val="313131"/>
                </a:solidFill>
              </a:rPr>
              <a:t>5/8</a:t>
            </a:r>
          </a:p>
          <a:p>
            <a:pPr>
              <a:buSzPct val="100000"/>
            </a:pPr>
            <a:r>
              <a:rPr lang="en-US" sz="700">
                <a:solidFill>
                  <a:srgbClr val="313131"/>
                </a:solidFill>
              </a:rPr>
              <a:t>Development Start</a:t>
            </a:r>
          </a:p>
          <a:p>
            <a:pPr>
              <a:buSzPct val="100000"/>
            </a:pPr>
            <a:r>
              <a:rPr lang="en-US" sz="700">
                <a:solidFill>
                  <a:srgbClr val="313131"/>
                </a:solidFill>
              </a:rPr>
              <a:t>Golden gate – configuration complete</a:t>
            </a:r>
          </a:p>
        </p:txBody>
      </p:sp>
      <p:sp>
        <p:nvSpPr>
          <p:cNvPr id="8" name="object 144">
            <a:extLst>
              <a:ext uri="{FF2B5EF4-FFF2-40B4-BE49-F238E27FC236}">
                <a16:creationId xmlns:a16="http://schemas.microsoft.com/office/drawing/2014/main" id="{CD89F12D-7568-2C32-48B0-D834D009B91A}"/>
              </a:ext>
            </a:extLst>
          </p:cNvPr>
          <p:cNvSpPr/>
          <p:nvPr/>
        </p:nvSpPr>
        <p:spPr>
          <a:xfrm>
            <a:off x="7171207" y="2507067"/>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9" name="TextBox 8">
            <a:extLst>
              <a:ext uri="{FF2B5EF4-FFF2-40B4-BE49-F238E27FC236}">
                <a16:creationId xmlns:a16="http://schemas.microsoft.com/office/drawing/2014/main" id="{C2A17996-AA9E-9D86-6C39-C87DB6FC8C56}"/>
              </a:ext>
            </a:extLst>
          </p:cNvPr>
          <p:cNvSpPr txBox="1"/>
          <p:nvPr/>
        </p:nvSpPr>
        <p:spPr>
          <a:xfrm>
            <a:off x="6983122" y="2713248"/>
            <a:ext cx="1109318" cy="323165"/>
          </a:xfrm>
          <a:prstGeom prst="rect">
            <a:avLst/>
          </a:prstGeom>
          <a:noFill/>
        </p:spPr>
        <p:txBody>
          <a:bodyPr wrap="square" lIns="0" tIns="0" rIns="0" bIns="0" rtlCol="0">
            <a:spAutoFit/>
          </a:bodyPr>
          <a:lstStyle/>
          <a:p>
            <a:pPr>
              <a:buSzPct val="100000"/>
            </a:pPr>
            <a:r>
              <a:rPr lang="en-US" sz="700">
                <a:solidFill>
                  <a:srgbClr val="313131"/>
                </a:solidFill>
              </a:rPr>
              <a:t>5/1 -Process and Integration Scope completed</a:t>
            </a:r>
          </a:p>
          <a:p>
            <a:pPr>
              <a:buSzPct val="100000"/>
            </a:pPr>
            <a:r>
              <a:rPr lang="en-US" sz="700">
                <a:solidFill>
                  <a:srgbClr val="313131"/>
                </a:solidFill>
              </a:rPr>
              <a:t>Functional specs – Drop 1 </a:t>
            </a:r>
          </a:p>
        </p:txBody>
      </p:sp>
      <p:sp>
        <p:nvSpPr>
          <p:cNvPr id="10" name="object 144">
            <a:extLst>
              <a:ext uri="{FF2B5EF4-FFF2-40B4-BE49-F238E27FC236}">
                <a16:creationId xmlns:a16="http://schemas.microsoft.com/office/drawing/2014/main" id="{364DC6FE-8A25-2D78-7760-3F531D4C7CE3}"/>
              </a:ext>
            </a:extLst>
          </p:cNvPr>
          <p:cNvSpPr/>
          <p:nvPr/>
        </p:nvSpPr>
        <p:spPr>
          <a:xfrm>
            <a:off x="7108479" y="422306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11" name="TextBox 10">
            <a:extLst>
              <a:ext uri="{FF2B5EF4-FFF2-40B4-BE49-F238E27FC236}">
                <a16:creationId xmlns:a16="http://schemas.microsoft.com/office/drawing/2014/main" id="{8A506677-34E1-967D-8086-DE3BC248A2ED}"/>
              </a:ext>
            </a:extLst>
          </p:cNvPr>
          <p:cNvSpPr txBox="1"/>
          <p:nvPr/>
        </p:nvSpPr>
        <p:spPr>
          <a:xfrm>
            <a:off x="7130886" y="4440248"/>
            <a:ext cx="906005" cy="323165"/>
          </a:xfrm>
          <a:prstGeom prst="rect">
            <a:avLst/>
          </a:prstGeom>
          <a:noFill/>
        </p:spPr>
        <p:txBody>
          <a:bodyPr wrap="square" lIns="0" tIns="0" rIns="0" bIns="0" rtlCol="0">
            <a:spAutoFit/>
          </a:bodyPr>
          <a:lstStyle/>
          <a:p>
            <a:pPr>
              <a:buSzPct val="100000"/>
            </a:pPr>
            <a:r>
              <a:rPr lang="en-US" sz="700">
                <a:solidFill>
                  <a:srgbClr val="313131"/>
                </a:solidFill>
              </a:rPr>
              <a:t>4/28</a:t>
            </a:r>
          </a:p>
          <a:p>
            <a:pPr>
              <a:buSzPct val="100000"/>
            </a:pPr>
            <a:r>
              <a:rPr lang="en-US" sz="700">
                <a:solidFill>
                  <a:srgbClr val="313131"/>
                </a:solidFill>
              </a:rPr>
              <a:t>1. Dev Env. Released</a:t>
            </a:r>
          </a:p>
          <a:p>
            <a:pPr>
              <a:buSzPct val="100000"/>
            </a:pPr>
            <a:r>
              <a:rPr lang="en-US" sz="700">
                <a:solidFill>
                  <a:srgbClr val="313131"/>
                </a:solidFill>
              </a:rPr>
              <a:t>2.Dev Ops built</a:t>
            </a:r>
          </a:p>
        </p:txBody>
      </p:sp>
      <p:sp>
        <p:nvSpPr>
          <p:cNvPr id="12" name="object 144">
            <a:extLst>
              <a:ext uri="{FF2B5EF4-FFF2-40B4-BE49-F238E27FC236}">
                <a16:creationId xmlns:a16="http://schemas.microsoft.com/office/drawing/2014/main" id="{6407A61C-5F0B-8D8B-64B1-2605AAC315C8}"/>
              </a:ext>
            </a:extLst>
          </p:cNvPr>
          <p:cNvSpPr/>
          <p:nvPr/>
        </p:nvSpPr>
        <p:spPr>
          <a:xfrm>
            <a:off x="5213909" y="4143460"/>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14" name="TextBox 13">
            <a:extLst>
              <a:ext uri="{FF2B5EF4-FFF2-40B4-BE49-F238E27FC236}">
                <a16:creationId xmlns:a16="http://schemas.microsoft.com/office/drawing/2014/main" id="{069069A1-DA5A-6C9B-3C20-2C928D700BC8}"/>
              </a:ext>
            </a:extLst>
          </p:cNvPr>
          <p:cNvSpPr txBox="1"/>
          <p:nvPr/>
        </p:nvSpPr>
        <p:spPr>
          <a:xfrm>
            <a:off x="5234841" y="4334687"/>
            <a:ext cx="906005" cy="430887"/>
          </a:xfrm>
          <a:prstGeom prst="rect">
            <a:avLst/>
          </a:prstGeom>
          <a:noFill/>
        </p:spPr>
        <p:txBody>
          <a:bodyPr wrap="square" lIns="0" tIns="0" rIns="0" bIns="0" rtlCol="0">
            <a:spAutoFit/>
          </a:bodyPr>
          <a:lstStyle/>
          <a:p>
            <a:pPr>
              <a:buSzPct val="100000"/>
            </a:pPr>
            <a:r>
              <a:rPr lang="en-US" sz="700">
                <a:solidFill>
                  <a:srgbClr val="313131"/>
                </a:solidFill>
              </a:rPr>
              <a:t>4/17</a:t>
            </a:r>
          </a:p>
          <a:p>
            <a:pPr>
              <a:buSzPct val="100000"/>
            </a:pPr>
            <a:r>
              <a:rPr lang="en-US" sz="700">
                <a:solidFill>
                  <a:srgbClr val="313131"/>
                </a:solidFill>
              </a:rPr>
              <a:t>1.LZ Build START </a:t>
            </a:r>
          </a:p>
          <a:p>
            <a:pPr>
              <a:buSzPct val="100000"/>
            </a:pPr>
            <a:r>
              <a:rPr lang="en-US" sz="700">
                <a:solidFill>
                  <a:srgbClr val="313131"/>
                </a:solidFill>
              </a:rPr>
              <a:t>2.LZ Design </a:t>
            </a:r>
          </a:p>
          <a:p>
            <a:pPr>
              <a:buSzPct val="100000"/>
            </a:pPr>
            <a:r>
              <a:rPr lang="en-US" sz="700">
                <a:solidFill>
                  <a:srgbClr val="313131"/>
                </a:solidFill>
              </a:rPr>
              <a:t>submitted for Approval </a:t>
            </a:r>
          </a:p>
        </p:txBody>
      </p:sp>
      <p:sp>
        <p:nvSpPr>
          <p:cNvPr id="15" name="TextBox 14">
            <a:extLst>
              <a:ext uri="{FF2B5EF4-FFF2-40B4-BE49-F238E27FC236}">
                <a16:creationId xmlns:a16="http://schemas.microsoft.com/office/drawing/2014/main" id="{FFD54354-0B88-0B74-6B03-DA4F5790112D}"/>
              </a:ext>
            </a:extLst>
          </p:cNvPr>
          <p:cNvSpPr txBox="1"/>
          <p:nvPr/>
        </p:nvSpPr>
        <p:spPr>
          <a:xfrm>
            <a:off x="8284541" y="1652544"/>
            <a:ext cx="906005" cy="323165"/>
          </a:xfrm>
          <a:prstGeom prst="rect">
            <a:avLst/>
          </a:prstGeom>
          <a:noFill/>
        </p:spPr>
        <p:txBody>
          <a:bodyPr wrap="square" lIns="0" tIns="0" rIns="0" bIns="0" rtlCol="0">
            <a:spAutoFit/>
          </a:bodyPr>
          <a:lstStyle/>
          <a:p>
            <a:pPr>
              <a:buSzPct val="100000"/>
            </a:pPr>
            <a:r>
              <a:rPr lang="en-US" sz="700">
                <a:solidFill>
                  <a:srgbClr val="313131"/>
                </a:solidFill>
              </a:rPr>
              <a:t>5/8 -Process and Integration Scope approved</a:t>
            </a:r>
          </a:p>
        </p:txBody>
      </p:sp>
      <p:sp>
        <p:nvSpPr>
          <p:cNvPr id="16" name="object 144">
            <a:extLst>
              <a:ext uri="{FF2B5EF4-FFF2-40B4-BE49-F238E27FC236}">
                <a16:creationId xmlns:a16="http://schemas.microsoft.com/office/drawing/2014/main" id="{51CCC434-2B1B-0030-8C4D-5FB7EE90D36C}"/>
              </a:ext>
            </a:extLst>
          </p:cNvPr>
          <p:cNvSpPr/>
          <p:nvPr/>
        </p:nvSpPr>
        <p:spPr>
          <a:xfrm>
            <a:off x="8285807" y="136657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17" name="object 144">
            <a:extLst>
              <a:ext uri="{FF2B5EF4-FFF2-40B4-BE49-F238E27FC236}">
                <a16:creationId xmlns:a16="http://schemas.microsoft.com/office/drawing/2014/main" id="{6A4B02A7-98B2-4EE1-4057-49D631C5980F}"/>
              </a:ext>
            </a:extLst>
          </p:cNvPr>
          <p:cNvSpPr/>
          <p:nvPr/>
        </p:nvSpPr>
        <p:spPr>
          <a:xfrm>
            <a:off x="4212652" y="4157236"/>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18" name="TextBox 17">
            <a:extLst>
              <a:ext uri="{FF2B5EF4-FFF2-40B4-BE49-F238E27FC236}">
                <a16:creationId xmlns:a16="http://schemas.microsoft.com/office/drawing/2014/main" id="{4ABF210B-6ECE-F37A-B3C7-DEC9C8AA7F87}"/>
              </a:ext>
            </a:extLst>
          </p:cNvPr>
          <p:cNvSpPr txBox="1"/>
          <p:nvPr/>
        </p:nvSpPr>
        <p:spPr>
          <a:xfrm>
            <a:off x="4209200" y="4320825"/>
            <a:ext cx="1028076" cy="430887"/>
          </a:xfrm>
          <a:prstGeom prst="rect">
            <a:avLst/>
          </a:prstGeom>
          <a:noFill/>
        </p:spPr>
        <p:txBody>
          <a:bodyPr wrap="square" lIns="0" tIns="0" rIns="0" bIns="0" rtlCol="0">
            <a:spAutoFit/>
          </a:bodyPr>
          <a:lstStyle/>
          <a:p>
            <a:pPr>
              <a:buSzPct val="100000"/>
            </a:pPr>
            <a:r>
              <a:rPr lang="en-US" sz="700">
                <a:solidFill>
                  <a:srgbClr val="313131"/>
                </a:solidFill>
              </a:rPr>
              <a:t>4/10</a:t>
            </a:r>
          </a:p>
          <a:p>
            <a:pPr>
              <a:buSzPct val="100000"/>
            </a:pPr>
            <a:r>
              <a:rPr lang="en-US" sz="700">
                <a:solidFill>
                  <a:srgbClr val="313131"/>
                </a:solidFill>
              </a:rPr>
              <a:t>1.Foundation - workshops complete</a:t>
            </a:r>
          </a:p>
          <a:p>
            <a:pPr>
              <a:buSzPct val="100000"/>
            </a:pPr>
            <a:r>
              <a:rPr lang="en-US" sz="700">
                <a:solidFill>
                  <a:srgbClr val="313131"/>
                </a:solidFill>
              </a:rPr>
              <a:t>2.Foundation Design START</a:t>
            </a:r>
          </a:p>
        </p:txBody>
      </p:sp>
      <p:sp>
        <p:nvSpPr>
          <p:cNvPr id="19" name="object 144">
            <a:extLst>
              <a:ext uri="{FF2B5EF4-FFF2-40B4-BE49-F238E27FC236}">
                <a16:creationId xmlns:a16="http://schemas.microsoft.com/office/drawing/2014/main" id="{334C6C10-E971-78C2-AAED-082309355A2A}"/>
              </a:ext>
            </a:extLst>
          </p:cNvPr>
          <p:cNvSpPr/>
          <p:nvPr/>
        </p:nvSpPr>
        <p:spPr>
          <a:xfrm>
            <a:off x="6120978" y="2420685"/>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20" name="TextBox 19">
            <a:extLst>
              <a:ext uri="{FF2B5EF4-FFF2-40B4-BE49-F238E27FC236}">
                <a16:creationId xmlns:a16="http://schemas.microsoft.com/office/drawing/2014/main" id="{3455CBE3-0E96-B924-5192-62718EE6BCFF}"/>
              </a:ext>
            </a:extLst>
          </p:cNvPr>
          <p:cNvSpPr txBox="1"/>
          <p:nvPr/>
        </p:nvSpPr>
        <p:spPr>
          <a:xfrm>
            <a:off x="5932893" y="2621298"/>
            <a:ext cx="850315" cy="430887"/>
          </a:xfrm>
          <a:prstGeom prst="rect">
            <a:avLst/>
          </a:prstGeom>
          <a:noFill/>
        </p:spPr>
        <p:txBody>
          <a:bodyPr wrap="square" lIns="0" tIns="0" rIns="0" bIns="0" rtlCol="0">
            <a:spAutoFit/>
          </a:bodyPr>
          <a:lstStyle/>
          <a:p>
            <a:pPr>
              <a:buSzPct val="100000"/>
            </a:pPr>
            <a:r>
              <a:rPr lang="en-US" sz="700">
                <a:solidFill>
                  <a:srgbClr val="313131"/>
                </a:solidFill>
              </a:rPr>
              <a:t>4/24</a:t>
            </a:r>
          </a:p>
          <a:p>
            <a:pPr>
              <a:buSzPct val="100000"/>
            </a:pPr>
            <a:r>
              <a:rPr lang="en-US" sz="700">
                <a:solidFill>
                  <a:srgbClr val="313131"/>
                </a:solidFill>
              </a:rPr>
              <a:t>Development environment for Oracle MCS - Released</a:t>
            </a:r>
          </a:p>
        </p:txBody>
      </p:sp>
      <p:pic>
        <p:nvPicPr>
          <p:cNvPr id="21" name="Picture 5" descr="Dollar Tree logo in transparent PNG and vectorized SVG formats">
            <a:extLst>
              <a:ext uri="{FF2B5EF4-FFF2-40B4-BE49-F238E27FC236}">
                <a16:creationId xmlns:a16="http://schemas.microsoft.com/office/drawing/2014/main" id="{58A76A48-C036-452F-A55F-0B71A56CFD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7750" y="4021388"/>
            <a:ext cx="216384" cy="213512"/>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E85CAF13-763B-4ADC-8936-92A5549767F7}"/>
              </a:ext>
            </a:extLst>
          </p:cNvPr>
          <p:cNvSpPr txBox="1"/>
          <p:nvPr/>
        </p:nvSpPr>
        <p:spPr>
          <a:xfrm>
            <a:off x="2341926" y="4249895"/>
            <a:ext cx="768065" cy="323165"/>
          </a:xfrm>
          <a:prstGeom prst="rect">
            <a:avLst/>
          </a:prstGeom>
          <a:noFill/>
        </p:spPr>
        <p:txBody>
          <a:bodyPr wrap="square" lIns="0" tIns="0" rIns="0" bIns="0" rtlCol="0">
            <a:spAutoFit/>
          </a:bodyPr>
          <a:lstStyle/>
          <a:p>
            <a:pPr>
              <a:buSzPct val="100000"/>
            </a:pPr>
            <a:r>
              <a:rPr lang="en-US" sz="700">
                <a:solidFill>
                  <a:srgbClr val="313131"/>
                </a:solidFill>
              </a:rPr>
              <a:t>3/27</a:t>
            </a:r>
          </a:p>
          <a:p>
            <a:pPr>
              <a:buSzPct val="100000"/>
            </a:pPr>
            <a:r>
              <a:rPr lang="en-US" sz="700">
                <a:solidFill>
                  <a:srgbClr val="313131"/>
                </a:solidFill>
              </a:rPr>
              <a:t>1.Workshop scheduled</a:t>
            </a:r>
          </a:p>
        </p:txBody>
      </p:sp>
      <p:pic>
        <p:nvPicPr>
          <p:cNvPr id="23" name="Picture 5" descr="Dollar Tree logo in transparent PNG and vectorized SVG formats">
            <a:extLst>
              <a:ext uri="{FF2B5EF4-FFF2-40B4-BE49-F238E27FC236}">
                <a16:creationId xmlns:a16="http://schemas.microsoft.com/office/drawing/2014/main" id="{01B0586C-C94F-46C7-81AD-EC6A69E8A3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3465" y="4021388"/>
            <a:ext cx="216384" cy="213512"/>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8779BA3D-E0C9-43CD-923B-CF2E12102A8A}"/>
              </a:ext>
            </a:extLst>
          </p:cNvPr>
          <p:cNvSpPr txBox="1"/>
          <p:nvPr/>
        </p:nvSpPr>
        <p:spPr>
          <a:xfrm>
            <a:off x="3185266" y="4249895"/>
            <a:ext cx="768065" cy="323165"/>
          </a:xfrm>
          <a:prstGeom prst="rect">
            <a:avLst/>
          </a:prstGeom>
          <a:noFill/>
        </p:spPr>
        <p:txBody>
          <a:bodyPr wrap="square" lIns="0" tIns="0" rIns="0" bIns="0" rtlCol="0">
            <a:spAutoFit/>
          </a:bodyPr>
          <a:lstStyle/>
          <a:p>
            <a:pPr>
              <a:buSzPct val="100000"/>
            </a:pPr>
            <a:r>
              <a:rPr lang="en-US" sz="700">
                <a:solidFill>
                  <a:srgbClr val="313131"/>
                </a:solidFill>
              </a:rPr>
              <a:t>3/3</a:t>
            </a:r>
          </a:p>
          <a:p>
            <a:pPr>
              <a:buSzPct val="100000"/>
            </a:pPr>
            <a:r>
              <a:rPr lang="en-US" sz="700">
                <a:solidFill>
                  <a:srgbClr val="313131"/>
                </a:solidFill>
              </a:rPr>
              <a:t>1Standards &amp; requirements </a:t>
            </a:r>
          </a:p>
        </p:txBody>
      </p:sp>
      <p:pic>
        <p:nvPicPr>
          <p:cNvPr id="25" name="Picture 5" descr="Dollar Tree logo in transparent PNG and vectorized SVG formats">
            <a:extLst>
              <a:ext uri="{FF2B5EF4-FFF2-40B4-BE49-F238E27FC236}">
                <a16:creationId xmlns:a16="http://schemas.microsoft.com/office/drawing/2014/main" id="{780AB297-D8FE-414D-AF84-63D120E6A9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8552" y="3983595"/>
            <a:ext cx="216384" cy="213512"/>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BD8A6F2B-0DB6-4C65-BF31-C8BFD73DACBF}"/>
              </a:ext>
            </a:extLst>
          </p:cNvPr>
          <p:cNvSpPr txBox="1"/>
          <p:nvPr/>
        </p:nvSpPr>
        <p:spPr>
          <a:xfrm>
            <a:off x="5603241" y="4081971"/>
            <a:ext cx="611925" cy="323165"/>
          </a:xfrm>
          <a:prstGeom prst="rect">
            <a:avLst/>
          </a:prstGeom>
          <a:noFill/>
        </p:spPr>
        <p:txBody>
          <a:bodyPr wrap="square" lIns="0" tIns="0" rIns="0" bIns="0" rtlCol="0">
            <a:spAutoFit/>
          </a:bodyPr>
          <a:lstStyle/>
          <a:p>
            <a:pPr>
              <a:buSzPct val="100000"/>
            </a:pPr>
            <a:r>
              <a:rPr lang="en-US" sz="700">
                <a:solidFill>
                  <a:srgbClr val="313131"/>
                </a:solidFill>
              </a:rPr>
              <a:t>4/17</a:t>
            </a:r>
          </a:p>
          <a:p>
            <a:pPr>
              <a:buSzPct val="100000"/>
            </a:pPr>
            <a:r>
              <a:rPr lang="en-US" sz="700">
                <a:solidFill>
                  <a:srgbClr val="313131"/>
                </a:solidFill>
              </a:rPr>
              <a:t>LZ Architecture </a:t>
            </a:r>
          </a:p>
          <a:p>
            <a:pPr>
              <a:buSzPct val="100000"/>
            </a:pPr>
            <a:r>
              <a:rPr lang="en-US" sz="700">
                <a:solidFill>
                  <a:srgbClr val="313131"/>
                </a:solidFill>
              </a:rPr>
              <a:t>Approval</a:t>
            </a:r>
          </a:p>
        </p:txBody>
      </p:sp>
      <p:sp>
        <p:nvSpPr>
          <p:cNvPr id="27" name="object 144">
            <a:extLst>
              <a:ext uri="{FF2B5EF4-FFF2-40B4-BE49-F238E27FC236}">
                <a16:creationId xmlns:a16="http://schemas.microsoft.com/office/drawing/2014/main" id="{AAE1FDA3-D229-1337-B7C5-6C0828ACDA02}"/>
              </a:ext>
            </a:extLst>
          </p:cNvPr>
          <p:cNvSpPr/>
          <p:nvPr/>
        </p:nvSpPr>
        <p:spPr>
          <a:xfrm>
            <a:off x="5118399" y="337630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28" name="TextBox 27">
            <a:extLst>
              <a:ext uri="{FF2B5EF4-FFF2-40B4-BE49-F238E27FC236}">
                <a16:creationId xmlns:a16="http://schemas.microsoft.com/office/drawing/2014/main" id="{DE688DFE-5070-EE08-A9CE-0B3977E852BF}"/>
              </a:ext>
            </a:extLst>
          </p:cNvPr>
          <p:cNvSpPr txBox="1"/>
          <p:nvPr/>
        </p:nvSpPr>
        <p:spPr>
          <a:xfrm>
            <a:off x="4930314" y="3582489"/>
            <a:ext cx="1002579" cy="215444"/>
          </a:xfrm>
          <a:prstGeom prst="rect">
            <a:avLst/>
          </a:prstGeom>
          <a:noFill/>
        </p:spPr>
        <p:txBody>
          <a:bodyPr wrap="square" lIns="0" tIns="0" rIns="0" bIns="0" rtlCol="0">
            <a:spAutoFit/>
          </a:bodyPr>
          <a:lstStyle/>
          <a:p>
            <a:pPr>
              <a:buSzPct val="100000"/>
            </a:pPr>
            <a:r>
              <a:rPr lang="en-US" sz="700">
                <a:solidFill>
                  <a:srgbClr val="313131"/>
                </a:solidFill>
              </a:rPr>
              <a:t>4/17- Integration patterns –</a:t>
            </a:r>
            <a:r>
              <a:rPr lang="en-US" sz="700" err="1">
                <a:solidFill>
                  <a:srgbClr val="313131"/>
                </a:solidFill>
              </a:rPr>
              <a:t>DrAft</a:t>
            </a:r>
            <a:r>
              <a:rPr lang="en-US" sz="700">
                <a:solidFill>
                  <a:srgbClr val="313131"/>
                </a:solidFill>
              </a:rPr>
              <a:t> Complete</a:t>
            </a:r>
          </a:p>
        </p:txBody>
      </p:sp>
      <p:sp>
        <p:nvSpPr>
          <p:cNvPr id="30" name="TextBox 29">
            <a:extLst>
              <a:ext uri="{FF2B5EF4-FFF2-40B4-BE49-F238E27FC236}">
                <a16:creationId xmlns:a16="http://schemas.microsoft.com/office/drawing/2014/main" id="{6B871BAD-4272-7E13-AA97-655EF371601C}"/>
              </a:ext>
            </a:extLst>
          </p:cNvPr>
          <p:cNvSpPr txBox="1"/>
          <p:nvPr/>
        </p:nvSpPr>
        <p:spPr>
          <a:xfrm>
            <a:off x="6983122" y="3642675"/>
            <a:ext cx="1002579" cy="215444"/>
          </a:xfrm>
          <a:prstGeom prst="rect">
            <a:avLst/>
          </a:prstGeom>
          <a:noFill/>
        </p:spPr>
        <p:txBody>
          <a:bodyPr wrap="square" lIns="0" tIns="0" rIns="0" bIns="0" rtlCol="0">
            <a:spAutoFit/>
          </a:bodyPr>
          <a:lstStyle/>
          <a:p>
            <a:pPr>
              <a:buSzPct val="100000"/>
            </a:pPr>
            <a:r>
              <a:rPr lang="en-US" sz="700">
                <a:solidFill>
                  <a:srgbClr val="313131"/>
                </a:solidFill>
              </a:rPr>
              <a:t>5/1- Integration patterns  Approvals</a:t>
            </a:r>
          </a:p>
        </p:txBody>
      </p:sp>
      <p:pic>
        <p:nvPicPr>
          <p:cNvPr id="31" name="Picture 5" descr="Dollar Tree logo in transparent PNG and vectorized SVG formats">
            <a:extLst>
              <a:ext uri="{FF2B5EF4-FFF2-40B4-BE49-F238E27FC236}">
                <a16:creationId xmlns:a16="http://schemas.microsoft.com/office/drawing/2014/main" id="{5FED6C95-7C41-1F73-ED1E-5A8D522DCB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6424" y="3401864"/>
            <a:ext cx="216384" cy="21351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5" descr="Dollar Tree logo in transparent PNG and vectorized SVG formats">
            <a:extLst>
              <a:ext uri="{FF2B5EF4-FFF2-40B4-BE49-F238E27FC236}">
                <a16:creationId xmlns:a16="http://schemas.microsoft.com/office/drawing/2014/main" id="{0B7225CD-68B1-423B-9892-0E857D9EE3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6194" y="3986672"/>
            <a:ext cx="216384" cy="213512"/>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9AA768A1-CEFF-4695-8A47-C3C10F9B64D1}"/>
              </a:ext>
            </a:extLst>
          </p:cNvPr>
          <p:cNvSpPr txBox="1"/>
          <p:nvPr/>
        </p:nvSpPr>
        <p:spPr>
          <a:xfrm>
            <a:off x="6166608" y="4094573"/>
            <a:ext cx="788155" cy="323165"/>
          </a:xfrm>
          <a:prstGeom prst="rect">
            <a:avLst/>
          </a:prstGeom>
          <a:noFill/>
        </p:spPr>
        <p:txBody>
          <a:bodyPr wrap="square" lIns="0" tIns="0" rIns="0" bIns="0" rtlCol="0">
            <a:spAutoFit/>
          </a:bodyPr>
          <a:lstStyle/>
          <a:p>
            <a:pPr>
              <a:buSzPct val="100000"/>
            </a:pPr>
            <a:r>
              <a:rPr lang="en-US" sz="700">
                <a:solidFill>
                  <a:srgbClr val="313131"/>
                </a:solidFill>
              </a:rPr>
              <a:t>4/20</a:t>
            </a:r>
          </a:p>
          <a:p>
            <a:pPr>
              <a:buSzPct val="100000"/>
            </a:pPr>
            <a:r>
              <a:rPr lang="en-US" sz="700">
                <a:solidFill>
                  <a:srgbClr val="313131"/>
                </a:solidFill>
              </a:rPr>
              <a:t>LZ build support network &amp; IAM</a:t>
            </a:r>
          </a:p>
        </p:txBody>
      </p:sp>
      <p:sp>
        <p:nvSpPr>
          <p:cNvPr id="37" name="object 144">
            <a:extLst>
              <a:ext uri="{FF2B5EF4-FFF2-40B4-BE49-F238E27FC236}">
                <a16:creationId xmlns:a16="http://schemas.microsoft.com/office/drawing/2014/main" id="{7D9CA38A-2090-218F-D2E8-99CFC2D7222D}"/>
              </a:ext>
            </a:extLst>
          </p:cNvPr>
          <p:cNvSpPr/>
          <p:nvPr/>
        </p:nvSpPr>
        <p:spPr>
          <a:xfrm>
            <a:off x="6154068" y="318233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 name="TextBox 37">
            <a:extLst>
              <a:ext uri="{FF2B5EF4-FFF2-40B4-BE49-F238E27FC236}">
                <a16:creationId xmlns:a16="http://schemas.microsoft.com/office/drawing/2014/main" id="{996AD452-1EFC-E373-866D-1FA33CD32DFF}"/>
              </a:ext>
            </a:extLst>
          </p:cNvPr>
          <p:cNvSpPr txBox="1"/>
          <p:nvPr/>
        </p:nvSpPr>
        <p:spPr>
          <a:xfrm>
            <a:off x="6374702" y="3182334"/>
            <a:ext cx="1841192" cy="307777"/>
          </a:xfrm>
          <a:prstGeom prst="rect">
            <a:avLst/>
          </a:prstGeom>
          <a:noFill/>
        </p:spPr>
        <p:txBody>
          <a:bodyPr wrap="square" lIns="0" tIns="0" rIns="0" bIns="0" rtlCol="0">
            <a:spAutoFit/>
          </a:bodyPr>
          <a:lstStyle/>
          <a:p>
            <a:pPr>
              <a:buSzPct val="100000"/>
            </a:pPr>
            <a:r>
              <a:rPr lang="en-US" sz="1000">
                <a:solidFill>
                  <a:srgbClr val="313131"/>
                </a:solidFill>
              </a:rPr>
              <a:t>4/24– MVP impacted Application integration strategy  - DRAFT</a:t>
            </a:r>
          </a:p>
        </p:txBody>
      </p:sp>
      <p:sp>
        <p:nvSpPr>
          <p:cNvPr id="39" name="object 144">
            <a:extLst>
              <a:ext uri="{FF2B5EF4-FFF2-40B4-BE49-F238E27FC236}">
                <a16:creationId xmlns:a16="http://schemas.microsoft.com/office/drawing/2014/main" id="{30BDC850-B501-4757-B984-5C7F6D7412ED}"/>
              </a:ext>
            </a:extLst>
          </p:cNvPr>
          <p:cNvSpPr/>
          <p:nvPr/>
        </p:nvSpPr>
        <p:spPr>
          <a:xfrm>
            <a:off x="8229928" y="423649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40" name="TextBox 39">
            <a:extLst>
              <a:ext uri="{FF2B5EF4-FFF2-40B4-BE49-F238E27FC236}">
                <a16:creationId xmlns:a16="http://schemas.microsoft.com/office/drawing/2014/main" id="{0E385A11-D179-47D6-BA3D-248D31D14966}"/>
              </a:ext>
            </a:extLst>
          </p:cNvPr>
          <p:cNvSpPr txBox="1"/>
          <p:nvPr/>
        </p:nvSpPr>
        <p:spPr>
          <a:xfrm>
            <a:off x="8242966" y="4441846"/>
            <a:ext cx="906005" cy="215444"/>
          </a:xfrm>
          <a:prstGeom prst="rect">
            <a:avLst/>
          </a:prstGeom>
          <a:noFill/>
        </p:spPr>
        <p:txBody>
          <a:bodyPr wrap="square" lIns="0" tIns="0" rIns="0" bIns="0" rtlCol="0">
            <a:spAutoFit/>
          </a:bodyPr>
          <a:lstStyle/>
          <a:p>
            <a:pPr>
              <a:buSzPct val="100000"/>
            </a:pPr>
            <a:r>
              <a:rPr lang="en-US" sz="700" dirty="0">
                <a:solidFill>
                  <a:srgbClr val="313131"/>
                </a:solidFill>
              </a:rPr>
              <a:t>5/5</a:t>
            </a:r>
          </a:p>
          <a:p>
            <a:pPr>
              <a:buSzPct val="100000"/>
            </a:pPr>
            <a:r>
              <a:rPr lang="en-US" sz="700" dirty="0">
                <a:solidFill>
                  <a:srgbClr val="313131"/>
                </a:solidFill>
              </a:rPr>
              <a:t>1. </a:t>
            </a:r>
          </a:p>
        </p:txBody>
      </p:sp>
      <p:sp>
        <p:nvSpPr>
          <p:cNvPr id="42" name="TextBox 41">
            <a:extLst>
              <a:ext uri="{FF2B5EF4-FFF2-40B4-BE49-F238E27FC236}">
                <a16:creationId xmlns:a16="http://schemas.microsoft.com/office/drawing/2014/main" id="{AE419DAB-5D1F-6E6C-0550-AC4A60254AB2}"/>
              </a:ext>
            </a:extLst>
          </p:cNvPr>
          <p:cNvSpPr txBox="1"/>
          <p:nvPr/>
        </p:nvSpPr>
        <p:spPr>
          <a:xfrm>
            <a:off x="9555412" y="3399609"/>
            <a:ext cx="1365501" cy="323165"/>
          </a:xfrm>
          <a:prstGeom prst="rect">
            <a:avLst/>
          </a:prstGeom>
          <a:noFill/>
        </p:spPr>
        <p:txBody>
          <a:bodyPr wrap="square" lIns="0" tIns="0" rIns="0" bIns="0" rtlCol="0">
            <a:spAutoFit/>
          </a:bodyPr>
          <a:lstStyle/>
          <a:p>
            <a:pPr>
              <a:buSzPct val="100000"/>
            </a:pPr>
            <a:r>
              <a:rPr lang="en-US" sz="700">
                <a:solidFill>
                  <a:srgbClr val="313131"/>
                </a:solidFill>
              </a:rPr>
              <a:t>5/15</a:t>
            </a:r>
          </a:p>
          <a:p>
            <a:pPr>
              <a:buSzPct val="100000"/>
            </a:pPr>
            <a:r>
              <a:rPr lang="en-US" sz="700" err="1">
                <a:solidFill>
                  <a:srgbClr val="313131"/>
                </a:solidFill>
              </a:rPr>
              <a:t>Netgen</a:t>
            </a:r>
            <a:r>
              <a:rPr lang="en-US" sz="700">
                <a:solidFill>
                  <a:srgbClr val="313131"/>
                </a:solidFill>
              </a:rPr>
              <a:t> initiative – Consolidated milestone view</a:t>
            </a:r>
          </a:p>
        </p:txBody>
      </p:sp>
      <p:pic>
        <p:nvPicPr>
          <p:cNvPr id="43" name="Picture 5" descr="Dollar Tree logo in transparent PNG and vectorized SVG formats">
            <a:extLst>
              <a:ext uri="{FF2B5EF4-FFF2-40B4-BE49-F238E27FC236}">
                <a16:creationId xmlns:a16="http://schemas.microsoft.com/office/drawing/2014/main" id="{3CA825E9-B61F-E960-099E-F96CDEEC26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9199" y="3106601"/>
            <a:ext cx="216384" cy="213512"/>
          </a:xfrm>
          <a:prstGeom prst="rect">
            <a:avLst/>
          </a:prstGeom>
          <a:noFill/>
          <a:extLst>
            <a:ext uri="{909E8E84-426E-40DD-AFC4-6F175D3DCCD1}">
              <a14:hiddenFill xmlns:a14="http://schemas.microsoft.com/office/drawing/2010/main">
                <a:solidFill>
                  <a:srgbClr val="FFFFFF"/>
                </a:solidFill>
              </a14:hiddenFill>
            </a:ext>
          </a:extLst>
        </p:spPr>
      </p:pic>
      <p:sp>
        <p:nvSpPr>
          <p:cNvPr id="46" name="object 144">
            <a:extLst>
              <a:ext uri="{FF2B5EF4-FFF2-40B4-BE49-F238E27FC236}">
                <a16:creationId xmlns:a16="http://schemas.microsoft.com/office/drawing/2014/main" id="{B831224C-46B5-00E1-9177-80E82314DD9A}"/>
              </a:ext>
            </a:extLst>
          </p:cNvPr>
          <p:cNvSpPr/>
          <p:nvPr/>
        </p:nvSpPr>
        <p:spPr>
          <a:xfrm>
            <a:off x="4084322" y="486300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47" name="TextBox 46">
            <a:extLst>
              <a:ext uri="{FF2B5EF4-FFF2-40B4-BE49-F238E27FC236}">
                <a16:creationId xmlns:a16="http://schemas.microsoft.com/office/drawing/2014/main" id="{F3A51079-DB7D-2C50-DF74-A575A843B23D}"/>
              </a:ext>
            </a:extLst>
          </p:cNvPr>
          <p:cNvSpPr txBox="1"/>
          <p:nvPr/>
        </p:nvSpPr>
        <p:spPr>
          <a:xfrm>
            <a:off x="4105254" y="5054235"/>
            <a:ext cx="906005" cy="215444"/>
          </a:xfrm>
          <a:prstGeom prst="rect">
            <a:avLst/>
          </a:prstGeom>
          <a:noFill/>
        </p:spPr>
        <p:txBody>
          <a:bodyPr wrap="square" lIns="0" tIns="0" rIns="0" bIns="0" rtlCol="0">
            <a:spAutoFit/>
          </a:bodyPr>
          <a:lstStyle/>
          <a:p>
            <a:pPr>
              <a:buSzPct val="100000"/>
            </a:pPr>
            <a:r>
              <a:rPr lang="en-US" sz="700">
                <a:solidFill>
                  <a:srgbClr val="313131"/>
                </a:solidFill>
              </a:rPr>
              <a:t>4/10</a:t>
            </a:r>
          </a:p>
          <a:p>
            <a:pPr>
              <a:buSzPct val="100000"/>
            </a:pPr>
            <a:r>
              <a:rPr lang="en-US" sz="700">
                <a:solidFill>
                  <a:srgbClr val="313131"/>
                </a:solidFill>
              </a:rPr>
              <a:t>1.OIC coding starts</a:t>
            </a:r>
          </a:p>
        </p:txBody>
      </p:sp>
      <p:sp>
        <p:nvSpPr>
          <p:cNvPr id="48" name="object 144">
            <a:extLst>
              <a:ext uri="{FF2B5EF4-FFF2-40B4-BE49-F238E27FC236}">
                <a16:creationId xmlns:a16="http://schemas.microsoft.com/office/drawing/2014/main" id="{8AB16174-224A-4B61-B42E-B77EEB260DD4}"/>
              </a:ext>
            </a:extLst>
          </p:cNvPr>
          <p:cNvSpPr/>
          <p:nvPr/>
        </p:nvSpPr>
        <p:spPr>
          <a:xfrm>
            <a:off x="4925543" y="400233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0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50" name="TextBox 49">
            <a:extLst>
              <a:ext uri="{FF2B5EF4-FFF2-40B4-BE49-F238E27FC236}">
                <a16:creationId xmlns:a16="http://schemas.microsoft.com/office/drawing/2014/main" id="{52610013-B8E6-4B88-9C12-3764D361150D}"/>
              </a:ext>
            </a:extLst>
          </p:cNvPr>
          <p:cNvSpPr txBox="1"/>
          <p:nvPr/>
        </p:nvSpPr>
        <p:spPr>
          <a:xfrm>
            <a:off x="4425233" y="3992734"/>
            <a:ext cx="503988" cy="215444"/>
          </a:xfrm>
          <a:prstGeom prst="rect">
            <a:avLst/>
          </a:prstGeom>
          <a:noFill/>
        </p:spPr>
        <p:txBody>
          <a:bodyPr wrap="square" lIns="0" tIns="0" rIns="0" bIns="0" rtlCol="0">
            <a:spAutoFit/>
          </a:bodyPr>
          <a:lstStyle/>
          <a:p>
            <a:pPr algn="r">
              <a:buSzPct val="100000"/>
            </a:pPr>
            <a:r>
              <a:rPr lang="en-US" sz="700">
                <a:solidFill>
                  <a:srgbClr val="313131"/>
                </a:solidFill>
              </a:rPr>
              <a:t>4/14 DevOps</a:t>
            </a:r>
          </a:p>
          <a:p>
            <a:pPr algn="r">
              <a:buSzPct val="100000"/>
            </a:pPr>
            <a:r>
              <a:rPr lang="en-US" sz="700">
                <a:solidFill>
                  <a:srgbClr val="313131"/>
                </a:solidFill>
              </a:rPr>
              <a:t>Tool</a:t>
            </a:r>
          </a:p>
        </p:txBody>
      </p:sp>
      <p:sp>
        <p:nvSpPr>
          <p:cNvPr id="52" name="TextBox 51">
            <a:extLst>
              <a:ext uri="{FF2B5EF4-FFF2-40B4-BE49-F238E27FC236}">
                <a16:creationId xmlns:a16="http://schemas.microsoft.com/office/drawing/2014/main" id="{F3B77582-EFAF-383C-DDA3-E82AFC408E48}"/>
              </a:ext>
            </a:extLst>
          </p:cNvPr>
          <p:cNvSpPr txBox="1"/>
          <p:nvPr/>
        </p:nvSpPr>
        <p:spPr>
          <a:xfrm>
            <a:off x="8561155" y="3334246"/>
            <a:ext cx="1841192" cy="307777"/>
          </a:xfrm>
          <a:prstGeom prst="rect">
            <a:avLst/>
          </a:prstGeom>
          <a:noFill/>
        </p:spPr>
        <p:txBody>
          <a:bodyPr wrap="square" lIns="0" tIns="0" rIns="0" bIns="0" rtlCol="0">
            <a:spAutoFit/>
          </a:bodyPr>
          <a:lstStyle/>
          <a:p>
            <a:pPr>
              <a:buSzPct val="100000"/>
            </a:pPr>
            <a:r>
              <a:rPr lang="en-US" sz="1000" dirty="0">
                <a:solidFill>
                  <a:srgbClr val="313131"/>
                </a:solidFill>
              </a:rPr>
              <a:t>5/8– Integration </a:t>
            </a:r>
          </a:p>
          <a:p>
            <a:pPr>
              <a:buSzPct val="100000"/>
            </a:pPr>
            <a:r>
              <a:rPr lang="en-US" sz="1000" dirty="0">
                <a:solidFill>
                  <a:srgbClr val="313131"/>
                </a:solidFill>
              </a:rPr>
              <a:t>strategy Approval</a:t>
            </a:r>
          </a:p>
        </p:txBody>
      </p:sp>
      <p:pic>
        <p:nvPicPr>
          <p:cNvPr id="53" name="Picture 5" descr="Dollar Tree logo in transparent PNG and vectorized SVG formats">
            <a:extLst>
              <a:ext uri="{FF2B5EF4-FFF2-40B4-BE49-F238E27FC236}">
                <a16:creationId xmlns:a16="http://schemas.microsoft.com/office/drawing/2014/main" id="{8814BEE4-20D2-2714-5D1D-C7A89E2B64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9369" y="3151702"/>
            <a:ext cx="216384" cy="213512"/>
          </a:xfrm>
          <a:prstGeom prst="rect">
            <a:avLst/>
          </a:prstGeom>
          <a:noFill/>
          <a:extLst>
            <a:ext uri="{909E8E84-426E-40DD-AFC4-6F175D3DCCD1}">
              <a14:hiddenFill xmlns:a14="http://schemas.microsoft.com/office/drawing/2010/main">
                <a:solidFill>
                  <a:srgbClr val="FFFFFF"/>
                </a:solidFill>
              </a14:hiddenFill>
            </a:ext>
          </a:extLst>
        </p:spPr>
      </p:pic>
      <p:sp>
        <p:nvSpPr>
          <p:cNvPr id="54" name="object 144">
            <a:extLst>
              <a:ext uri="{FF2B5EF4-FFF2-40B4-BE49-F238E27FC236}">
                <a16:creationId xmlns:a16="http://schemas.microsoft.com/office/drawing/2014/main" id="{21038966-C026-F64D-E2E1-16C4B46721BF}"/>
              </a:ext>
            </a:extLst>
          </p:cNvPr>
          <p:cNvSpPr/>
          <p:nvPr/>
        </p:nvSpPr>
        <p:spPr>
          <a:xfrm>
            <a:off x="9462002" y="2391436"/>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55" name="TextBox 54">
            <a:extLst>
              <a:ext uri="{FF2B5EF4-FFF2-40B4-BE49-F238E27FC236}">
                <a16:creationId xmlns:a16="http://schemas.microsoft.com/office/drawing/2014/main" id="{875DB65B-C3EE-4D0D-82EA-2B9E62C60D69}"/>
              </a:ext>
            </a:extLst>
          </p:cNvPr>
          <p:cNvSpPr txBox="1"/>
          <p:nvPr/>
        </p:nvSpPr>
        <p:spPr>
          <a:xfrm>
            <a:off x="9273917" y="2597617"/>
            <a:ext cx="1109318" cy="215444"/>
          </a:xfrm>
          <a:prstGeom prst="rect">
            <a:avLst/>
          </a:prstGeom>
          <a:noFill/>
        </p:spPr>
        <p:txBody>
          <a:bodyPr wrap="square" lIns="0" tIns="0" rIns="0" bIns="0" rtlCol="0">
            <a:spAutoFit/>
          </a:bodyPr>
          <a:lstStyle/>
          <a:p>
            <a:pPr>
              <a:buSzPct val="100000"/>
            </a:pPr>
            <a:r>
              <a:rPr lang="en-US" sz="700">
                <a:solidFill>
                  <a:srgbClr val="313131"/>
                </a:solidFill>
              </a:rPr>
              <a:t>5/15 -</a:t>
            </a:r>
          </a:p>
          <a:p>
            <a:pPr>
              <a:buSzPct val="100000"/>
            </a:pPr>
            <a:r>
              <a:rPr lang="en-US" sz="700">
                <a:solidFill>
                  <a:srgbClr val="313131"/>
                </a:solidFill>
              </a:rPr>
              <a:t>Functional specs – Drop 2</a:t>
            </a:r>
          </a:p>
        </p:txBody>
      </p:sp>
      <p:sp>
        <p:nvSpPr>
          <p:cNvPr id="56" name="object 144">
            <a:extLst>
              <a:ext uri="{FF2B5EF4-FFF2-40B4-BE49-F238E27FC236}">
                <a16:creationId xmlns:a16="http://schemas.microsoft.com/office/drawing/2014/main" id="{10CBEC8D-A156-CE57-DAF3-6082F628F80E}"/>
              </a:ext>
            </a:extLst>
          </p:cNvPr>
          <p:cNvSpPr/>
          <p:nvPr/>
        </p:nvSpPr>
        <p:spPr>
          <a:xfrm>
            <a:off x="7213304" y="4988077"/>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57" name="TextBox 56">
            <a:extLst>
              <a:ext uri="{FF2B5EF4-FFF2-40B4-BE49-F238E27FC236}">
                <a16:creationId xmlns:a16="http://schemas.microsoft.com/office/drawing/2014/main" id="{A9FD4662-0E26-0933-665C-4078CB6953C9}"/>
              </a:ext>
            </a:extLst>
          </p:cNvPr>
          <p:cNvSpPr txBox="1"/>
          <p:nvPr/>
        </p:nvSpPr>
        <p:spPr>
          <a:xfrm>
            <a:off x="7025219" y="5188690"/>
            <a:ext cx="850315" cy="215444"/>
          </a:xfrm>
          <a:prstGeom prst="rect">
            <a:avLst/>
          </a:prstGeom>
          <a:noFill/>
        </p:spPr>
        <p:txBody>
          <a:bodyPr wrap="square" lIns="0" tIns="0" rIns="0" bIns="0" rtlCol="0">
            <a:spAutoFit/>
          </a:bodyPr>
          <a:lstStyle/>
          <a:p>
            <a:pPr>
              <a:buSzPct val="100000"/>
            </a:pPr>
            <a:r>
              <a:rPr lang="en-US" sz="700">
                <a:solidFill>
                  <a:srgbClr val="313131"/>
                </a:solidFill>
              </a:rPr>
              <a:t>5/1</a:t>
            </a:r>
          </a:p>
          <a:p>
            <a:pPr>
              <a:buSzPct val="100000"/>
            </a:pPr>
            <a:r>
              <a:rPr lang="en-US" sz="700">
                <a:solidFill>
                  <a:srgbClr val="313131"/>
                </a:solidFill>
              </a:rPr>
              <a:t>Data mapping Start</a:t>
            </a:r>
          </a:p>
        </p:txBody>
      </p:sp>
      <p:sp>
        <p:nvSpPr>
          <p:cNvPr id="58" name="object 144">
            <a:extLst>
              <a:ext uri="{FF2B5EF4-FFF2-40B4-BE49-F238E27FC236}">
                <a16:creationId xmlns:a16="http://schemas.microsoft.com/office/drawing/2014/main" id="{C11C7E9D-5551-D4E8-4A82-7BC181F76D83}"/>
              </a:ext>
            </a:extLst>
          </p:cNvPr>
          <p:cNvSpPr/>
          <p:nvPr/>
        </p:nvSpPr>
        <p:spPr>
          <a:xfrm>
            <a:off x="6065076" y="5009283"/>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59" name="TextBox 58">
            <a:extLst>
              <a:ext uri="{FF2B5EF4-FFF2-40B4-BE49-F238E27FC236}">
                <a16:creationId xmlns:a16="http://schemas.microsoft.com/office/drawing/2014/main" id="{457819D7-02A3-BCEA-C98D-A05C3BC67AD3}"/>
              </a:ext>
            </a:extLst>
          </p:cNvPr>
          <p:cNvSpPr txBox="1"/>
          <p:nvPr/>
        </p:nvSpPr>
        <p:spPr>
          <a:xfrm>
            <a:off x="5876991" y="5209896"/>
            <a:ext cx="850315" cy="323165"/>
          </a:xfrm>
          <a:prstGeom prst="rect">
            <a:avLst/>
          </a:prstGeom>
          <a:noFill/>
        </p:spPr>
        <p:txBody>
          <a:bodyPr wrap="square" lIns="0" tIns="0" rIns="0" bIns="0" rtlCol="0">
            <a:spAutoFit/>
          </a:bodyPr>
          <a:lstStyle/>
          <a:p>
            <a:pPr>
              <a:buSzPct val="100000"/>
            </a:pPr>
            <a:r>
              <a:rPr lang="en-US" sz="700">
                <a:solidFill>
                  <a:srgbClr val="313131"/>
                </a:solidFill>
              </a:rPr>
              <a:t>4/24</a:t>
            </a:r>
          </a:p>
          <a:p>
            <a:pPr>
              <a:buSzPct val="100000"/>
            </a:pPr>
            <a:r>
              <a:rPr lang="en-US" sz="700">
                <a:solidFill>
                  <a:srgbClr val="313131"/>
                </a:solidFill>
              </a:rPr>
              <a:t>Code review checklist- Complete</a:t>
            </a:r>
          </a:p>
        </p:txBody>
      </p:sp>
    </p:spTree>
    <p:extLst>
      <p:ext uri="{BB962C8B-B14F-4D97-AF65-F5344CB8AC3E}">
        <p14:creationId xmlns:p14="http://schemas.microsoft.com/office/powerpoint/2010/main" val="3773872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141C4C-FE32-4006-BADA-24CFFA578C2C}"/>
              </a:ext>
            </a:extLst>
          </p:cNvPr>
          <p:cNvSpPr>
            <a:spLocks noGrp="1"/>
          </p:cNvSpPr>
          <p:nvPr>
            <p:ph type="body" sz="quarter" idx="10"/>
          </p:nvPr>
        </p:nvSpPr>
        <p:spPr>
          <a:xfrm>
            <a:off x="126998" y="168634"/>
            <a:ext cx="9966960" cy="424732"/>
          </a:xfrm>
        </p:spPr>
        <p:txBody>
          <a:bodyPr vert="horz" lIns="91440" tIns="45720" rIns="91440" bIns="45720" rtlCol="0" anchor="ctr">
            <a:normAutofit fontScale="85000" lnSpcReduction="20000"/>
          </a:bodyPr>
          <a:lstStyle/>
          <a:p>
            <a:pPr>
              <a:spcBef>
                <a:spcPts val="0"/>
              </a:spcBef>
            </a:pPr>
            <a:r>
              <a:rPr lang="en-US" sz="3200" kern="1200">
                <a:solidFill>
                  <a:schemeClr val="tx1"/>
                </a:solidFill>
                <a:latin typeface="+mj-lt"/>
                <a:ea typeface="+mj-ea"/>
                <a:cs typeface="+mj-cs"/>
              </a:rPr>
              <a:t>Initial 4 week Discovery Plan - IPG</a:t>
            </a:r>
          </a:p>
        </p:txBody>
      </p:sp>
      <p:sp>
        <p:nvSpPr>
          <p:cNvPr id="8" name="Rectangle 7">
            <a:extLst>
              <a:ext uri="{FF2B5EF4-FFF2-40B4-BE49-F238E27FC236}">
                <a16:creationId xmlns:a16="http://schemas.microsoft.com/office/drawing/2014/main" id="{8331DF97-CC7B-3074-B987-4736F1027550}"/>
              </a:ext>
            </a:extLst>
          </p:cNvPr>
          <p:cNvSpPr/>
          <p:nvPr/>
        </p:nvSpPr>
        <p:spPr>
          <a:xfrm>
            <a:off x="390332" y="1307110"/>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41" name="Tagline">
            <a:extLst>
              <a:ext uri="{FF2B5EF4-FFF2-40B4-BE49-F238E27FC236}">
                <a16:creationId xmlns:a16="http://schemas.microsoft.com/office/drawing/2014/main" id="{4D54039E-4D35-903A-BB96-EA81836D52E4}"/>
              </a:ext>
            </a:extLst>
          </p:cNvPr>
          <p:cNvSpPr txBox="1"/>
          <p:nvPr/>
        </p:nvSpPr>
        <p:spPr>
          <a:xfrm>
            <a:off x="251684" y="655873"/>
            <a:ext cx="11578751" cy="369332"/>
          </a:xfrm>
          <a:prstGeom prst="rect">
            <a:avLst/>
          </a:prstGeom>
          <a:noFill/>
        </p:spPr>
        <p:txBody>
          <a:bodyPr vert="horz" wrap="square" lIns="0" tIns="0" rIns="0" bIns="0" rtlCol="0" anchor="t">
            <a:spAutoFit/>
          </a:bodyPr>
          <a:lstStyle/>
          <a:p>
            <a:pPr>
              <a:defRPr/>
            </a:pPr>
            <a:r>
              <a:rPr kumimoji="0" lang="en-US" sz="1200" b="0" i="0" u="none" strike="noStrike" kern="1200" cap="none" spc="0" normalizeH="0" baseline="0" noProof="0">
                <a:ln>
                  <a:noFill/>
                </a:ln>
                <a:solidFill>
                  <a:srgbClr val="000000"/>
                </a:solidFill>
                <a:effectLst/>
                <a:uLnTx/>
                <a:uFillTx/>
                <a:latin typeface="Futura"/>
                <a:ea typeface="+mn-ea"/>
                <a:cs typeface="Futura" panose="020B0602020204020303"/>
              </a:rPr>
              <a:t>Empower teams to integrate effectively with current applications spread across Dollar Tree and Family Dollar, coordinating program timelines and balancing EA’s vision for DT’s future landscape</a:t>
            </a:r>
            <a:endParaRPr kumimoji="0" lang="en-US" sz="1200" b="1" i="0" u="none" strike="noStrike" kern="1200" cap="none" spc="0" normalizeH="0" baseline="0" noProof="0">
              <a:ln>
                <a:noFill/>
              </a:ln>
              <a:solidFill>
                <a:srgbClr val="000000"/>
              </a:solidFill>
              <a:effectLst/>
              <a:uLnTx/>
              <a:uFillTx/>
              <a:latin typeface="Futura" panose="020B0602020204020303"/>
              <a:ea typeface="+mn-ea"/>
              <a:cs typeface="+mn-cs"/>
            </a:endParaRPr>
          </a:p>
        </p:txBody>
      </p:sp>
      <p:sp>
        <p:nvSpPr>
          <p:cNvPr id="30" name="TextBox 29">
            <a:extLst>
              <a:ext uri="{FF2B5EF4-FFF2-40B4-BE49-F238E27FC236}">
                <a16:creationId xmlns:a16="http://schemas.microsoft.com/office/drawing/2014/main" id="{6E7BE10B-B4D7-46E5-AACB-6C6F99B7ED25}"/>
              </a:ext>
            </a:extLst>
          </p:cNvPr>
          <p:cNvSpPr txBox="1"/>
          <p:nvPr/>
        </p:nvSpPr>
        <p:spPr>
          <a:xfrm>
            <a:off x="390331" y="2177403"/>
            <a:ext cx="5032379" cy="2077492"/>
          </a:xfrm>
          <a:prstGeom prst="rect">
            <a:avLst/>
          </a:prstGeom>
          <a:noFill/>
          <a:ln>
            <a:noFill/>
          </a:ln>
        </p:spPr>
        <p:txBody>
          <a:bodyPr wrap="square" lIns="91440" tIns="45720" rIns="91440" bIns="45720" anchor="t">
            <a:spAutoFit/>
          </a:bodyPr>
          <a:lstStyle/>
          <a:p>
            <a:pPr marL="171450" lvl="0" indent="-171450">
              <a:spcAft>
                <a:spcPts val="600"/>
              </a:spcAft>
              <a:buFont typeface="Arial" panose="020B0604020202020204" pitchFamily="34" charset="0"/>
              <a:buChar char="•"/>
              <a:defRPr/>
            </a:pPr>
            <a:r>
              <a:rPr kumimoji="0" lang="en-US" sz="1100" b="0" i="0" u="none" strike="noStrike" kern="0" cap="none" spc="0" normalizeH="0" baseline="0" noProof="0">
                <a:ln>
                  <a:noFill/>
                </a:ln>
                <a:solidFill>
                  <a:srgbClr val="000000"/>
                </a:solidFill>
                <a:effectLst/>
                <a:uLnTx/>
                <a:uFillTx/>
                <a:latin typeface="Open Sans"/>
                <a:ea typeface="+mn-ea"/>
                <a:cs typeface="+mn-cs"/>
              </a:rPr>
              <a:t>Understand timelines of ongoing </a:t>
            </a:r>
            <a:r>
              <a:rPr lang="en-US" sz="1100" kern="0">
                <a:solidFill>
                  <a:srgbClr val="000000"/>
                </a:solidFill>
                <a:latin typeface="Open Sans"/>
              </a:rPr>
              <a:t>NextGen initiatives</a:t>
            </a:r>
            <a:endParaRPr kumimoji="0" lang="en-US" sz="11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Open Sans"/>
                <a:ea typeface="+mn-ea"/>
                <a:cs typeface="+mn-cs"/>
              </a:rPr>
              <a:t>Review existing landscape &amp; u</a:t>
            </a:r>
            <a:r>
              <a:rPr lang="en-US" sz="1100" kern="0" err="1">
                <a:solidFill>
                  <a:srgbClr val="000000"/>
                </a:solidFill>
                <a:latin typeface="Open Sans"/>
              </a:rPr>
              <a:t>nderstand</a:t>
            </a:r>
            <a:r>
              <a:rPr lang="en-US" sz="1100" kern="0">
                <a:solidFill>
                  <a:srgbClr val="000000"/>
                </a:solidFill>
                <a:latin typeface="Open Sans"/>
              </a:rPr>
              <a:t> Enterprise Architecture vision for the future landscape</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Open Sans"/>
                <a:ea typeface="+mn-ea"/>
                <a:cs typeface="+mn-cs"/>
              </a:rPr>
              <a:t>Consult with DT and Oracle teams on MVP Scope and data flows</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Open Sans"/>
                <a:ea typeface="+mn-ea"/>
                <a:cs typeface="+mn-cs"/>
              </a:rPr>
              <a:t>Consult with enterprise architecture teams and align on current application retirement timelines </a:t>
            </a:r>
          </a:p>
          <a:p>
            <a:pPr marL="171450" indent="-171450">
              <a:spcAft>
                <a:spcPts val="600"/>
              </a:spcAft>
              <a:buFont typeface="Arial" panose="020B0604020202020204" pitchFamily="34" charset="0"/>
              <a:buChar char="•"/>
              <a:defRPr/>
            </a:pPr>
            <a:r>
              <a:rPr lang="en-US" sz="1100" kern="0">
                <a:solidFill>
                  <a:srgbClr val="000000"/>
                </a:solidFill>
                <a:latin typeface="Open Sans"/>
              </a:rPr>
              <a:t>Preliminary Integration Sprint Plan for IPOD teams</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100" b="0" i="0" u="none" strike="noStrike" kern="0" cap="none" spc="0" normalizeH="0" baseline="0" noProof="0">
              <a:ln>
                <a:noFill/>
              </a:ln>
              <a:solidFill>
                <a:srgbClr val="000000"/>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Futura"/>
              <a:ea typeface="+mn-ea"/>
              <a:cs typeface="Futura" panose="020B0602020204020303"/>
            </a:endParaRPr>
          </a:p>
        </p:txBody>
      </p:sp>
      <p:sp>
        <p:nvSpPr>
          <p:cNvPr id="6" name="Rectangle 5">
            <a:extLst>
              <a:ext uri="{FF2B5EF4-FFF2-40B4-BE49-F238E27FC236}">
                <a16:creationId xmlns:a16="http://schemas.microsoft.com/office/drawing/2014/main" id="{44F3DE9C-F9D8-A3F6-2A98-5F7BEEA0FFFB}"/>
              </a:ext>
            </a:extLst>
          </p:cNvPr>
          <p:cNvSpPr/>
          <p:nvPr/>
        </p:nvSpPr>
        <p:spPr>
          <a:xfrm>
            <a:off x="390331" y="1270808"/>
            <a:ext cx="5191602" cy="576826"/>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Key Discovery Activities</a:t>
            </a:r>
          </a:p>
        </p:txBody>
      </p:sp>
      <p:sp>
        <p:nvSpPr>
          <p:cNvPr id="16" name="Rectangle 15">
            <a:extLst>
              <a:ext uri="{FF2B5EF4-FFF2-40B4-BE49-F238E27FC236}">
                <a16:creationId xmlns:a16="http://schemas.microsoft.com/office/drawing/2014/main" id="{15726005-58BF-C0CF-2EB1-9ED9BC7BAB9A}"/>
              </a:ext>
            </a:extLst>
          </p:cNvPr>
          <p:cNvSpPr/>
          <p:nvPr/>
        </p:nvSpPr>
        <p:spPr>
          <a:xfrm>
            <a:off x="390332" y="4009282"/>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17" name="TextBox 16">
            <a:extLst>
              <a:ext uri="{FF2B5EF4-FFF2-40B4-BE49-F238E27FC236}">
                <a16:creationId xmlns:a16="http://schemas.microsoft.com/office/drawing/2014/main" id="{D77EF13F-BE23-5EF1-E0A4-3F76B708FDBE}"/>
              </a:ext>
            </a:extLst>
          </p:cNvPr>
          <p:cNvSpPr txBox="1"/>
          <p:nvPr/>
        </p:nvSpPr>
        <p:spPr>
          <a:xfrm>
            <a:off x="390331" y="4879575"/>
            <a:ext cx="4991436" cy="1000274"/>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Open Sans"/>
                <a:ea typeface="+mn-ea"/>
                <a:cs typeface="+mn-cs"/>
              </a:rPr>
              <a:t>Agreement of Business Process Taxonomy </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Open Sans"/>
                <a:ea typeface="+mn-ea"/>
                <a:cs typeface="+mn-cs"/>
              </a:rPr>
              <a:t>Scope of MVP business Processes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a:solidFill>
                  <a:srgbClr val="000000"/>
                </a:solidFill>
                <a:latin typeface="Open Sans"/>
              </a:rPr>
              <a:t>Data Scope / Segmentation for MVP agreed by all Partners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a:solidFill>
                  <a:srgbClr val="000000"/>
                </a:solidFill>
                <a:latin typeface="Open Sans"/>
              </a:rPr>
              <a:t>Partner Timelines and Resource Plans  </a:t>
            </a:r>
          </a:p>
        </p:txBody>
      </p:sp>
      <p:sp>
        <p:nvSpPr>
          <p:cNvPr id="18" name="Rectangle 17">
            <a:extLst>
              <a:ext uri="{FF2B5EF4-FFF2-40B4-BE49-F238E27FC236}">
                <a16:creationId xmlns:a16="http://schemas.microsoft.com/office/drawing/2014/main" id="{D849BD82-EE22-721A-4A76-12A49805249F}"/>
              </a:ext>
            </a:extLst>
          </p:cNvPr>
          <p:cNvSpPr/>
          <p:nvPr/>
        </p:nvSpPr>
        <p:spPr>
          <a:xfrm>
            <a:off x="390332" y="4009282"/>
            <a:ext cx="5191602" cy="576826"/>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Dependencies</a:t>
            </a:r>
          </a:p>
        </p:txBody>
      </p:sp>
      <p:sp>
        <p:nvSpPr>
          <p:cNvPr id="21" name="Rectangle 20">
            <a:extLst>
              <a:ext uri="{FF2B5EF4-FFF2-40B4-BE49-F238E27FC236}">
                <a16:creationId xmlns:a16="http://schemas.microsoft.com/office/drawing/2014/main" id="{4756F0A7-4E9C-8972-B65D-5B265A8AC486}"/>
              </a:ext>
            </a:extLst>
          </p:cNvPr>
          <p:cNvSpPr/>
          <p:nvPr/>
        </p:nvSpPr>
        <p:spPr>
          <a:xfrm>
            <a:off x="6277067" y="1315198"/>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22" name="TextBox 21">
            <a:extLst>
              <a:ext uri="{FF2B5EF4-FFF2-40B4-BE49-F238E27FC236}">
                <a16:creationId xmlns:a16="http://schemas.microsoft.com/office/drawing/2014/main" id="{BD29AC27-D375-35A8-483C-8AB2C71F0A76}"/>
              </a:ext>
            </a:extLst>
          </p:cNvPr>
          <p:cNvSpPr txBox="1"/>
          <p:nvPr/>
        </p:nvSpPr>
        <p:spPr>
          <a:xfrm>
            <a:off x="6277066" y="2185491"/>
            <a:ext cx="5032379" cy="1246495"/>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Open Sans"/>
                <a:ea typeface="+mn-ea"/>
                <a:cs typeface="+mn-cs"/>
              </a:rPr>
              <a:t>NextGen initiatives with milestones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a:solidFill>
                  <a:srgbClr val="000000"/>
                </a:solidFill>
                <a:latin typeface="Open Sans"/>
              </a:rPr>
              <a:t>Application Inventory with dispositioning (Current &amp; NextGen)</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a:solidFill>
                  <a:srgbClr val="000000"/>
                </a:solidFill>
                <a:latin typeface="Open Sans"/>
              </a:rPr>
              <a:t>Draft Canonical Models for MVP Scope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a:solidFill>
                  <a:srgbClr val="000000"/>
                </a:solidFill>
                <a:latin typeface="Open Sans"/>
              </a:rPr>
              <a:t>Draft Data Flows for MVP scope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a:solidFill>
                  <a:srgbClr val="000000"/>
                </a:solidFill>
                <a:latin typeface="Open Sans"/>
              </a:rPr>
              <a:t>ATS Timeline and environment needs </a:t>
            </a:r>
          </a:p>
        </p:txBody>
      </p:sp>
      <p:sp>
        <p:nvSpPr>
          <p:cNvPr id="23" name="Rectangle 22">
            <a:extLst>
              <a:ext uri="{FF2B5EF4-FFF2-40B4-BE49-F238E27FC236}">
                <a16:creationId xmlns:a16="http://schemas.microsoft.com/office/drawing/2014/main" id="{1510808A-1294-E5BC-B402-5FF362522744}"/>
              </a:ext>
            </a:extLst>
          </p:cNvPr>
          <p:cNvSpPr/>
          <p:nvPr/>
        </p:nvSpPr>
        <p:spPr>
          <a:xfrm>
            <a:off x="6277066" y="1277554"/>
            <a:ext cx="5191602" cy="576826"/>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Deliverables and Decisions </a:t>
            </a:r>
          </a:p>
        </p:txBody>
      </p:sp>
      <p:sp>
        <p:nvSpPr>
          <p:cNvPr id="24" name="Rectangle 23">
            <a:extLst>
              <a:ext uri="{FF2B5EF4-FFF2-40B4-BE49-F238E27FC236}">
                <a16:creationId xmlns:a16="http://schemas.microsoft.com/office/drawing/2014/main" id="{7AB70C1C-FE58-A127-26A7-105A1B2639E0}"/>
              </a:ext>
            </a:extLst>
          </p:cNvPr>
          <p:cNvSpPr/>
          <p:nvPr/>
        </p:nvSpPr>
        <p:spPr>
          <a:xfrm>
            <a:off x="6277067" y="4017370"/>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25" name="TextBox 24">
            <a:extLst>
              <a:ext uri="{FF2B5EF4-FFF2-40B4-BE49-F238E27FC236}">
                <a16:creationId xmlns:a16="http://schemas.microsoft.com/office/drawing/2014/main" id="{98DB011C-F65F-1494-93F4-4128A8F3B971}"/>
              </a:ext>
            </a:extLst>
          </p:cNvPr>
          <p:cNvSpPr txBox="1"/>
          <p:nvPr/>
        </p:nvSpPr>
        <p:spPr>
          <a:xfrm>
            <a:off x="6277066" y="4887663"/>
            <a:ext cx="4991436" cy="923330"/>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a:solidFill>
                  <a:srgbClr val="000000"/>
                </a:solidFill>
                <a:latin typeface="Open Sans"/>
              </a:rPr>
              <a:t>MVP DSD Scope will be aligned to an agreed subset of products / stores / vendors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a:solidFill>
                  <a:srgbClr val="000000"/>
                </a:solidFill>
                <a:latin typeface="Open Sans"/>
              </a:rPr>
              <a:t>Store Systems are not in scope for the MVP</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100" kern="0">
              <a:solidFill>
                <a:srgbClr val="000000"/>
              </a:solidFill>
              <a:latin typeface="Open Sans"/>
            </a:endParaRPr>
          </a:p>
        </p:txBody>
      </p:sp>
      <p:sp>
        <p:nvSpPr>
          <p:cNvPr id="26" name="Rectangle 25">
            <a:extLst>
              <a:ext uri="{FF2B5EF4-FFF2-40B4-BE49-F238E27FC236}">
                <a16:creationId xmlns:a16="http://schemas.microsoft.com/office/drawing/2014/main" id="{24B83414-F830-EC34-10AC-A95DCE5D30C1}"/>
              </a:ext>
            </a:extLst>
          </p:cNvPr>
          <p:cNvSpPr/>
          <p:nvPr/>
        </p:nvSpPr>
        <p:spPr>
          <a:xfrm>
            <a:off x="6277066" y="4009282"/>
            <a:ext cx="5191602" cy="576826"/>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Assumptions</a:t>
            </a:r>
          </a:p>
        </p:txBody>
      </p:sp>
    </p:spTree>
    <p:extLst>
      <p:ext uri="{BB962C8B-B14F-4D97-AF65-F5344CB8AC3E}">
        <p14:creationId xmlns:p14="http://schemas.microsoft.com/office/powerpoint/2010/main" val="798488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A19B7FC1-A5AD-458B-BD17-F958BF0C2A6F}"/>
              </a:ext>
            </a:extLst>
          </p:cNvPr>
          <p:cNvGraphicFramePr>
            <a:graphicFrameLocks noGrp="1"/>
          </p:cNvGraphicFramePr>
          <p:nvPr>
            <p:extLst>
              <p:ext uri="{D42A27DB-BD31-4B8C-83A1-F6EECF244321}">
                <p14:modId xmlns:p14="http://schemas.microsoft.com/office/powerpoint/2010/main" val="1517027274"/>
              </p:ext>
            </p:extLst>
          </p:nvPr>
        </p:nvGraphicFramePr>
        <p:xfrm>
          <a:off x="540288" y="1168805"/>
          <a:ext cx="10682722" cy="3875534"/>
        </p:xfrm>
        <a:graphic>
          <a:graphicData uri="http://schemas.openxmlformats.org/drawingml/2006/table">
            <a:tbl>
              <a:tblPr firstRow="1" bandRow="1">
                <a:tableStyleId>{93296810-A885-4BE3-A3E7-6D5BEEA58F35}</a:tableStyleId>
              </a:tblPr>
              <a:tblGrid>
                <a:gridCol w="1264924">
                  <a:extLst>
                    <a:ext uri="{9D8B030D-6E8A-4147-A177-3AD203B41FA5}">
                      <a16:colId xmlns:a16="http://schemas.microsoft.com/office/drawing/2014/main" val="2027741553"/>
                    </a:ext>
                  </a:extLst>
                </a:gridCol>
                <a:gridCol w="4667333">
                  <a:extLst>
                    <a:ext uri="{9D8B030D-6E8A-4147-A177-3AD203B41FA5}">
                      <a16:colId xmlns:a16="http://schemas.microsoft.com/office/drawing/2014/main" val="2212234916"/>
                    </a:ext>
                  </a:extLst>
                </a:gridCol>
                <a:gridCol w="1333537">
                  <a:extLst>
                    <a:ext uri="{9D8B030D-6E8A-4147-A177-3AD203B41FA5}">
                      <a16:colId xmlns:a16="http://schemas.microsoft.com/office/drawing/2014/main" val="3128840304"/>
                    </a:ext>
                  </a:extLst>
                </a:gridCol>
                <a:gridCol w="1275636">
                  <a:extLst>
                    <a:ext uri="{9D8B030D-6E8A-4147-A177-3AD203B41FA5}">
                      <a16:colId xmlns:a16="http://schemas.microsoft.com/office/drawing/2014/main" val="4057921746"/>
                    </a:ext>
                  </a:extLst>
                </a:gridCol>
                <a:gridCol w="2141292">
                  <a:extLst>
                    <a:ext uri="{9D8B030D-6E8A-4147-A177-3AD203B41FA5}">
                      <a16:colId xmlns:a16="http://schemas.microsoft.com/office/drawing/2014/main" val="3642394042"/>
                    </a:ext>
                  </a:extLst>
                </a:gridCol>
              </a:tblGrid>
              <a:tr h="925830">
                <a:tc>
                  <a:txBody>
                    <a:bodyPr/>
                    <a:lstStyle/>
                    <a:p>
                      <a:r>
                        <a:rPr lang="en-US" sz="1100"/>
                        <a:t>Phase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Activities </a:t>
                      </a:r>
                    </a:p>
                    <a:p>
                      <a:endParaRPr lang="en-US" sz="1100"/>
                    </a:p>
                  </a:txBody>
                  <a:tcPr/>
                </a:tc>
                <a:tc>
                  <a:txBody>
                    <a:bodyPr/>
                    <a:lstStyle/>
                    <a:p>
                      <a:r>
                        <a:rPr lang="en-US" sz="1100"/>
                        <a:t>Owner</a:t>
                      </a:r>
                    </a:p>
                  </a:txBody>
                  <a:tcPr/>
                </a:tc>
                <a:tc>
                  <a:txBody>
                    <a:bodyPr/>
                    <a:lstStyle/>
                    <a:p>
                      <a:pPr algn="ctr"/>
                      <a:r>
                        <a:rPr lang="en-US" sz="1100"/>
                        <a:t>Target Week</a:t>
                      </a:r>
                    </a:p>
                  </a:txBody>
                  <a:tcPr/>
                </a:tc>
                <a:tc>
                  <a:txBody>
                    <a:bodyPr/>
                    <a:lstStyle/>
                    <a:p>
                      <a:r>
                        <a:rPr lang="en-US" sz="1100"/>
                        <a:t>Expected Outcome/</a:t>
                      </a:r>
                    </a:p>
                    <a:p>
                      <a:r>
                        <a:rPr lang="en-US" sz="1100"/>
                        <a:t>Deliverables</a:t>
                      </a:r>
                    </a:p>
                  </a:txBody>
                  <a:tcPr/>
                </a:tc>
                <a:extLst>
                  <a:ext uri="{0D108BD9-81ED-4DB2-BD59-A6C34878D82A}">
                    <a16:rowId xmlns:a16="http://schemas.microsoft.com/office/drawing/2014/main" val="1764356976"/>
                  </a:ext>
                </a:extLst>
              </a:tr>
              <a:tr h="375476">
                <a:tc rowSpan="7">
                  <a:txBody>
                    <a:bodyPr/>
                    <a:lstStyle/>
                    <a:p>
                      <a:pPr algn="ctr"/>
                      <a:r>
                        <a:rPr lang="en-US" sz="1100"/>
                        <a:t>Discovery</a:t>
                      </a:r>
                    </a:p>
                  </a:txBody>
                  <a:tcPr/>
                </a:tc>
                <a:tc>
                  <a:txBody>
                    <a:bodyPr/>
                    <a:lstStyle/>
                    <a:p>
                      <a:r>
                        <a:rPr lang="en-US" sz="1100"/>
                        <a:t>Hold soft kick off for IPG</a:t>
                      </a:r>
                    </a:p>
                  </a:txBody>
                  <a:tcPr/>
                </a:tc>
                <a:tc>
                  <a:txBody>
                    <a:bodyPr/>
                    <a:lstStyle/>
                    <a:p>
                      <a:r>
                        <a:rPr lang="en-US" sz="1100"/>
                        <a:t>Geoff/</a:t>
                      </a:r>
                    </a:p>
                    <a:p>
                      <a:r>
                        <a:rPr lang="en-US" sz="1100"/>
                        <a:t>Shankar</a:t>
                      </a:r>
                    </a:p>
                  </a:txBody>
                  <a:tcPr/>
                </a:tc>
                <a:tc>
                  <a:txBody>
                    <a:bodyPr/>
                    <a:lstStyle/>
                    <a:p>
                      <a:pPr algn="ctr"/>
                      <a:r>
                        <a:rPr lang="en-US" sz="1100"/>
                        <a:t>W1</a:t>
                      </a:r>
                    </a:p>
                  </a:txBody>
                  <a:tcPr/>
                </a:tc>
                <a:tc>
                  <a:txBody>
                    <a:bodyPr/>
                    <a:lstStyle/>
                    <a:p>
                      <a:r>
                        <a:rPr lang="en-US" sz="1100"/>
                        <a:t>Identify key stakeholders, current system </a:t>
                      </a:r>
                    </a:p>
                  </a:txBody>
                  <a:tcPr/>
                </a:tc>
                <a:extLst>
                  <a:ext uri="{0D108BD9-81ED-4DB2-BD59-A6C34878D82A}">
                    <a16:rowId xmlns:a16="http://schemas.microsoft.com/office/drawing/2014/main" val="3030336129"/>
                  </a:ext>
                </a:extLst>
              </a:tr>
              <a:tr h="375476">
                <a:tc vMerge="1">
                  <a:txBody>
                    <a:bodyPr/>
                    <a:lstStyle/>
                    <a:p>
                      <a:endParaRPr lang="en-US" sz="1100"/>
                    </a:p>
                  </a:txBody>
                  <a:tcPr/>
                </a:tc>
                <a:tc>
                  <a:txBody>
                    <a:bodyPr/>
                    <a:lstStyle/>
                    <a:p>
                      <a:r>
                        <a:rPr lang="en-US" sz="1100"/>
                        <a:t>Understand the current landscape, vision for future state, key stakeholders of current and NextGen Apps</a:t>
                      </a:r>
                    </a:p>
                  </a:txBody>
                  <a:tcPr/>
                </a:tc>
                <a:tc>
                  <a:txBody>
                    <a:bodyPr/>
                    <a:lstStyle/>
                    <a:p>
                      <a:r>
                        <a:rPr lang="en-US" sz="1100"/>
                        <a:t>Geoff/</a:t>
                      </a:r>
                    </a:p>
                    <a:p>
                      <a:r>
                        <a:rPr lang="en-US" sz="1100"/>
                        <a:t>Shankar</a:t>
                      </a:r>
                    </a:p>
                  </a:txBody>
                  <a:tcPr/>
                </a:tc>
                <a:tc>
                  <a:txBody>
                    <a:bodyPr/>
                    <a:lstStyle/>
                    <a:p>
                      <a:pPr algn="ctr"/>
                      <a:r>
                        <a:rPr lang="en-US" sz="1100"/>
                        <a:t>W2</a:t>
                      </a:r>
                    </a:p>
                  </a:txBody>
                  <a:tcPr/>
                </a:tc>
                <a:tc>
                  <a:txBody>
                    <a:bodyPr/>
                    <a:lstStyle/>
                    <a:p>
                      <a:r>
                        <a:rPr lang="en-US" sz="1100"/>
                        <a:t>Identify the current system landscape and to be system landscape</a:t>
                      </a:r>
                    </a:p>
                  </a:txBody>
                  <a:tcPr/>
                </a:tc>
                <a:extLst>
                  <a:ext uri="{0D108BD9-81ED-4DB2-BD59-A6C34878D82A}">
                    <a16:rowId xmlns:a16="http://schemas.microsoft.com/office/drawing/2014/main" val="187872957"/>
                  </a:ext>
                </a:extLst>
              </a:tr>
              <a:tr h="375476">
                <a:tc vMerge="1">
                  <a:txBody>
                    <a:bodyPr/>
                    <a:lstStyle/>
                    <a:p>
                      <a:endParaRPr lang="en-US" sz="1100"/>
                    </a:p>
                  </a:txBody>
                  <a:tcPr/>
                </a:tc>
                <a:tc>
                  <a:txBody>
                    <a:bodyPr/>
                    <a:lstStyle/>
                    <a:p>
                      <a:r>
                        <a:rPr lang="en-US" sz="1100"/>
                        <a:t>Understand the NextGen apps and milestones and retirement plan for existing systems</a:t>
                      </a:r>
                    </a:p>
                  </a:txBody>
                  <a:tcPr/>
                </a:tc>
                <a:tc>
                  <a:txBody>
                    <a:bodyPr/>
                    <a:lstStyle/>
                    <a:p>
                      <a:r>
                        <a:rPr lang="en-US" sz="1100"/>
                        <a:t>Geoff</a:t>
                      </a:r>
                    </a:p>
                  </a:txBody>
                  <a:tcPr/>
                </a:tc>
                <a:tc>
                  <a:txBody>
                    <a:bodyPr/>
                    <a:lstStyle/>
                    <a:p>
                      <a:pPr algn="ctr"/>
                      <a:r>
                        <a:rPr lang="en-US" sz="1100"/>
                        <a:t>W2</a:t>
                      </a:r>
                    </a:p>
                  </a:txBody>
                  <a:tcPr/>
                </a:tc>
                <a:tc>
                  <a:txBody>
                    <a:bodyPr/>
                    <a:lstStyle/>
                    <a:p>
                      <a:r>
                        <a:rPr lang="en-US" sz="1100"/>
                        <a:t>Understand the dependencies across various connect</a:t>
                      </a:r>
                    </a:p>
                  </a:txBody>
                  <a:tcPr/>
                </a:tc>
                <a:extLst>
                  <a:ext uri="{0D108BD9-81ED-4DB2-BD59-A6C34878D82A}">
                    <a16:rowId xmlns:a16="http://schemas.microsoft.com/office/drawing/2014/main" val="192904392"/>
                  </a:ext>
                </a:extLst>
              </a:tr>
              <a:tr h="375476">
                <a:tc vMerge="1">
                  <a:txBody>
                    <a:bodyPr/>
                    <a:lstStyle/>
                    <a:p>
                      <a:endParaRPr lang="en-US" sz="1100"/>
                    </a:p>
                  </a:txBody>
                  <a:tcPr/>
                </a:tc>
                <a:tc>
                  <a:txBody>
                    <a:bodyPr/>
                    <a:lstStyle/>
                    <a:p>
                      <a:r>
                        <a:rPr lang="en-US" sz="1100"/>
                        <a:t>Identify the dependences across NextGen apps</a:t>
                      </a:r>
                    </a:p>
                  </a:txBody>
                  <a:tcPr/>
                </a:tc>
                <a:tc>
                  <a:txBody>
                    <a:bodyPr/>
                    <a:lstStyle/>
                    <a:p>
                      <a:r>
                        <a:rPr lang="en-US" sz="1100"/>
                        <a:t>Geoff</a:t>
                      </a:r>
                    </a:p>
                  </a:txBody>
                  <a:tcPr/>
                </a:tc>
                <a:tc>
                  <a:txBody>
                    <a:bodyPr/>
                    <a:lstStyle/>
                    <a:p>
                      <a:pPr algn="ctr"/>
                      <a:r>
                        <a:rPr lang="en-US" sz="1100"/>
                        <a:t>03/30/2023</a:t>
                      </a:r>
                    </a:p>
                  </a:txBody>
                  <a:tcPr/>
                </a:tc>
                <a:tc>
                  <a:txBody>
                    <a:bodyPr/>
                    <a:lstStyle/>
                    <a:p>
                      <a:endParaRPr lang="en-US" sz="1100"/>
                    </a:p>
                  </a:txBody>
                  <a:tcPr/>
                </a:tc>
                <a:extLst>
                  <a:ext uri="{0D108BD9-81ED-4DB2-BD59-A6C34878D82A}">
                    <a16:rowId xmlns:a16="http://schemas.microsoft.com/office/drawing/2014/main" val="2415364628"/>
                  </a:ext>
                </a:extLst>
              </a:tr>
              <a:tr h="375476">
                <a:tc vMerge="1">
                  <a:txBody>
                    <a:bodyPr/>
                    <a:lstStyle/>
                    <a:p>
                      <a:endParaRPr lang="en-US" sz="1100"/>
                    </a:p>
                  </a:txBody>
                  <a:tcPr/>
                </a:tc>
                <a:tc>
                  <a:txBody>
                    <a:bodyPr/>
                    <a:lstStyle/>
                    <a:p>
                      <a:r>
                        <a:rPr lang="en-US" sz="1100"/>
                        <a:t>Hold Kick off for IPG</a:t>
                      </a:r>
                    </a:p>
                  </a:txBody>
                  <a:tcPr/>
                </a:tc>
                <a:tc>
                  <a:txBody>
                    <a:bodyPr/>
                    <a:lstStyle/>
                    <a:p>
                      <a:r>
                        <a:rPr lang="en-US" sz="1100"/>
                        <a:t>Geoff/Shankar</a:t>
                      </a:r>
                    </a:p>
                  </a:txBody>
                  <a:tcPr/>
                </a:tc>
                <a:tc>
                  <a:txBody>
                    <a:bodyPr/>
                    <a:lstStyle/>
                    <a:p>
                      <a:pPr algn="ctr"/>
                      <a:r>
                        <a:rPr lang="en-US" sz="1100"/>
                        <a:t>04/08/2023</a:t>
                      </a:r>
                    </a:p>
                  </a:txBody>
                  <a:tcPr/>
                </a:tc>
                <a:tc>
                  <a:txBody>
                    <a:bodyPr/>
                    <a:lstStyle/>
                    <a:p>
                      <a:endParaRPr lang="en-US" sz="1100"/>
                    </a:p>
                  </a:txBody>
                  <a:tcPr/>
                </a:tc>
                <a:extLst>
                  <a:ext uri="{0D108BD9-81ED-4DB2-BD59-A6C34878D82A}">
                    <a16:rowId xmlns:a16="http://schemas.microsoft.com/office/drawing/2014/main" val="676785884"/>
                  </a:ext>
                </a:extLst>
              </a:tr>
              <a:tr h="375476">
                <a:tc vMerge="1">
                  <a:txBody>
                    <a:bodyPr/>
                    <a:lstStyle/>
                    <a:p>
                      <a:endParaRPr lang="en-US"/>
                    </a:p>
                  </a:txBody>
                  <a:tcPr/>
                </a:tc>
                <a:tc>
                  <a:txBody>
                    <a:bodyPr/>
                    <a:lstStyle/>
                    <a:p>
                      <a:r>
                        <a:rPr lang="en-US" sz="1100"/>
                        <a:t>Prepare dependency plan for NextGen initiatives</a:t>
                      </a:r>
                    </a:p>
                  </a:txBody>
                  <a:tcPr/>
                </a:tc>
                <a:tc>
                  <a:txBody>
                    <a:bodyPr/>
                    <a:lstStyle/>
                    <a:p>
                      <a:r>
                        <a:rPr lang="en-US" sz="1100"/>
                        <a:t> Geoff</a:t>
                      </a:r>
                    </a:p>
                  </a:txBody>
                  <a:tcPr/>
                </a:tc>
                <a:tc>
                  <a:txBody>
                    <a:bodyPr/>
                    <a:lstStyle/>
                    <a:p>
                      <a:pPr algn="ctr"/>
                      <a:r>
                        <a:rPr lang="en-US" sz="1100"/>
                        <a:t>W4</a:t>
                      </a:r>
                    </a:p>
                  </a:txBody>
                  <a:tcPr/>
                </a:tc>
                <a:tc>
                  <a:txBody>
                    <a:bodyPr/>
                    <a:lstStyle/>
                    <a:p>
                      <a:r>
                        <a:rPr lang="en-US" sz="1100"/>
                        <a:t>Dependency/Milestone plan</a:t>
                      </a:r>
                    </a:p>
                  </a:txBody>
                  <a:tcPr/>
                </a:tc>
                <a:extLst>
                  <a:ext uri="{0D108BD9-81ED-4DB2-BD59-A6C34878D82A}">
                    <a16:rowId xmlns:a16="http://schemas.microsoft.com/office/drawing/2014/main" val="459934666"/>
                  </a:ext>
                </a:extLst>
              </a:tr>
              <a:tr h="375476">
                <a:tc vMerge="1">
                  <a:txBody>
                    <a:bodyPr/>
                    <a:lstStyle/>
                    <a:p>
                      <a:endParaRPr lang="en-US" sz="1100"/>
                    </a:p>
                  </a:txBody>
                  <a:tcPr/>
                </a:tc>
                <a:tc>
                  <a:txBody>
                    <a:bodyPr/>
                    <a:lstStyle/>
                    <a:p>
                      <a:r>
                        <a:rPr lang="en-US" sz="1100"/>
                        <a:t>Conduct sessions to finalize the tool set (CICD /QA/Program management) </a:t>
                      </a:r>
                    </a:p>
                  </a:txBody>
                  <a:tcPr/>
                </a:tc>
                <a:tc>
                  <a:txBody>
                    <a:bodyPr/>
                    <a:lstStyle/>
                    <a:p>
                      <a:r>
                        <a:rPr lang="en-US" sz="1100"/>
                        <a:t>Geoff</a:t>
                      </a:r>
                    </a:p>
                  </a:txBody>
                  <a:tcPr/>
                </a:tc>
                <a:tc>
                  <a:txBody>
                    <a:bodyPr/>
                    <a:lstStyle/>
                    <a:p>
                      <a:pPr algn="ctr"/>
                      <a:r>
                        <a:rPr lang="en-US" sz="1100"/>
                        <a:t>03/27/2023</a:t>
                      </a:r>
                    </a:p>
                  </a:txBody>
                  <a:tcPr/>
                </a:tc>
                <a:tc>
                  <a:txBody>
                    <a:bodyPr/>
                    <a:lstStyle/>
                    <a:p>
                      <a:pPr marL="171450" indent="-171450">
                        <a:buFont typeface="Arial" panose="020B0604020202020204" pitchFamily="34" charset="0"/>
                        <a:buChar char="•"/>
                      </a:pPr>
                      <a:endParaRPr lang="en-US" sz="1100"/>
                    </a:p>
                  </a:txBody>
                  <a:tcPr/>
                </a:tc>
                <a:extLst>
                  <a:ext uri="{0D108BD9-81ED-4DB2-BD59-A6C34878D82A}">
                    <a16:rowId xmlns:a16="http://schemas.microsoft.com/office/drawing/2014/main" val="197221515"/>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11011293" cy="1325563"/>
          </a:xfrm>
        </p:spPr>
        <p:txBody>
          <a:bodyPr>
            <a:normAutofit/>
          </a:bodyPr>
          <a:lstStyle/>
          <a:p>
            <a:pPr>
              <a:spcBef>
                <a:spcPts val="0"/>
              </a:spcBef>
            </a:pPr>
            <a:r>
              <a:rPr lang="en-US" sz="3200"/>
              <a:t>IPG Discovery Schedule</a:t>
            </a:r>
          </a:p>
        </p:txBody>
      </p:sp>
    </p:spTree>
    <p:extLst>
      <p:ext uri="{BB962C8B-B14F-4D97-AF65-F5344CB8AC3E}">
        <p14:creationId xmlns:p14="http://schemas.microsoft.com/office/powerpoint/2010/main" val="2844777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EF053F0D-C564-41C1-8793-AE331A4D022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2" name="Object 11" hidden="1">
                        <a:extLst>
                          <a:ext uri="{FF2B5EF4-FFF2-40B4-BE49-F238E27FC236}">
                            <a16:creationId xmlns:a16="http://schemas.microsoft.com/office/drawing/2014/main" id="{EF053F0D-C564-41C1-8793-AE331A4D022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8" name="Table 8">
            <a:extLst>
              <a:ext uri="{FF2B5EF4-FFF2-40B4-BE49-F238E27FC236}">
                <a16:creationId xmlns:a16="http://schemas.microsoft.com/office/drawing/2014/main" id="{98376A59-1245-4633-9080-708E0F006624}"/>
              </a:ext>
            </a:extLst>
          </p:cNvPr>
          <p:cNvGraphicFramePr>
            <a:graphicFrameLocks noGrp="1"/>
          </p:cNvGraphicFramePr>
          <p:nvPr>
            <p:ph idx="1"/>
          </p:nvPr>
        </p:nvGraphicFramePr>
        <p:xfrm>
          <a:off x="1118159" y="1007800"/>
          <a:ext cx="10691219" cy="5462016"/>
        </p:xfrm>
        <a:graphic>
          <a:graphicData uri="http://schemas.openxmlformats.org/drawingml/2006/table">
            <a:tbl>
              <a:tblPr firstRow="1" bandRow="1">
                <a:tableStyleId>{5C22544A-7EE6-4342-B048-85BDC9FD1C3A}</a:tableStyleId>
              </a:tblPr>
              <a:tblGrid>
                <a:gridCol w="525816">
                  <a:extLst>
                    <a:ext uri="{9D8B030D-6E8A-4147-A177-3AD203B41FA5}">
                      <a16:colId xmlns:a16="http://schemas.microsoft.com/office/drawing/2014/main" val="1804304856"/>
                    </a:ext>
                  </a:extLst>
                </a:gridCol>
                <a:gridCol w="1745401">
                  <a:extLst>
                    <a:ext uri="{9D8B030D-6E8A-4147-A177-3AD203B41FA5}">
                      <a16:colId xmlns:a16="http://schemas.microsoft.com/office/drawing/2014/main" val="3487582892"/>
                    </a:ext>
                  </a:extLst>
                </a:gridCol>
                <a:gridCol w="3828288">
                  <a:extLst>
                    <a:ext uri="{9D8B030D-6E8A-4147-A177-3AD203B41FA5}">
                      <a16:colId xmlns:a16="http://schemas.microsoft.com/office/drawing/2014/main" val="4022828597"/>
                    </a:ext>
                  </a:extLst>
                </a:gridCol>
                <a:gridCol w="3132016">
                  <a:extLst>
                    <a:ext uri="{9D8B030D-6E8A-4147-A177-3AD203B41FA5}">
                      <a16:colId xmlns:a16="http://schemas.microsoft.com/office/drawing/2014/main" val="3430374848"/>
                    </a:ext>
                  </a:extLst>
                </a:gridCol>
                <a:gridCol w="1459698">
                  <a:extLst>
                    <a:ext uri="{9D8B030D-6E8A-4147-A177-3AD203B41FA5}">
                      <a16:colId xmlns:a16="http://schemas.microsoft.com/office/drawing/2014/main" val="3926366452"/>
                    </a:ext>
                  </a:extLst>
                </a:gridCol>
              </a:tblGrid>
              <a:tr h="0">
                <a:tc>
                  <a:txBody>
                    <a:bodyPr/>
                    <a:lstStyle/>
                    <a:p>
                      <a:pPr algn="ctr"/>
                      <a:r>
                        <a:rPr lang="en-US" sz="1400" i="0"/>
                        <a:t>WK</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0"/>
                        <a:t>Focus Area</a:t>
                      </a:r>
                    </a:p>
                  </a:txBody>
                  <a:tcPr anchor="ctr"/>
                </a:tc>
                <a:tc>
                  <a:txBody>
                    <a:bodyPr/>
                    <a:lstStyle/>
                    <a:p>
                      <a:pPr algn="ctr"/>
                      <a:r>
                        <a:rPr lang="en-US" sz="1400" i="0"/>
                        <a:t>Expected Outcomes</a:t>
                      </a:r>
                    </a:p>
                  </a:txBody>
                  <a:tcPr anchor="ctr"/>
                </a:tc>
                <a:tc>
                  <a:txBody>
                    <a:bodyPr/>
                    <a:lstStyle/>
                    <a:p>
                      <a:pPr algn="ctr"/>
                      <a:r>
                        <a:rPr lang="en-US" sz="1400" i="0"/>
                        <a:t>Attendees</a:t>
                      </a:r>
                    </a:p>
                  </a:txBody>
                  <a:tcPr anchor="ctr"/>
                </a:tc>
                <a:tc>
                  <a:txBody>
                    <a:bodyPr/>
                    <a:lstStyle/>
                    <a:p>
                      <a:pPr algn="ctr"/>
                      <a:r>
                        <a:rPr lang="en-US" sz="1400" i="0"/>
                        <a:t>Est. Duration</a:t>
                      </a:r>
                    </a:p>
                  </a:txBody>
                  <a:tcPr anchor="ctr"/>
                </a:tc>
                <a:extLst>
                  <a:ext uri="{0D108BD9-81ED-4DB2-BD59-A6C34878D82A}">
                    <a16:rowId xmlns:a16="http://schemas.microsoft.com/office/drawing/2014/main" val="3608970412"/>
                  </a:ext>
                </a:extLst>
              </a:tr>
              <a:tr h="358193">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Familiarization Session: </a:t>
                      </a:r>
                      <a:r>
                        <a:rPr lang="en-US" sz="1200" i="0"/>
                        <a:t>Foundations Organizational Hierarchy</a:t>
                      </a:r>
                    </a:p>
                  </a:txBody>
                  <a:tcPr marL="45720" marR="45720" marT="27432" marB="27432" anchor="ctr">
                    <a:solidFill>
                      <a:schemeClr val="bg1">
                        <a:lumMod val="95000"/>
                      </a:schemeClr>
                    </a:solidFill>
                  </a:tcPr>
                </a:tc>
                <a:tc rowSpan="3">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Confirm and validate functional scope of the Merchandising Cloud Service (MCS) 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Validate decisions for key solution choices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Identify and assess high-level business impacts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Enable 60% completion of system configuration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Build a greater understanding of how business users will interact with the system</a:t>
                      </a:r>
                      <a:endParaRPr lang="en-US" sz="1200" i="0"/>
                    </a:p>
                  </a:txBody>
                  <a:tcPr marL="45720" marR="45720" marT="27432" marB="27432" anchor="ctr">
                    <a:solidFill>
                      <a:schemeClr val="bg1">
                        <a:lumMod val="95000"/>
                      </a:schemeClr>
                    </a:solidFill>
                  </a:tcPr>
                </a:tc>
                <a:tc rowSpan="3">
                  <a:txBody>
                    <a:bodyPr/>
                    <a:lstStyle/>
                    <a:p>
                      <a:pPr marL="171450" indent="-171450">
                        <a:buFont typeface="Arial" panose="020B0604020202020204" pitchFamily="34" charset="0"/>
                        <a:buChar char="•"/>
                      </a:pPr>
                      <a:r>
                        <a:rPr lang="en-US" sz="1200" i="0"/>
                        <a:t>DT &amp; FD Core Business and Project Team: IT, Data Governance, Merchandising/Purchasing, E-Comm, Finance, AP, Store and DC Operations</a:t>
                      </a:r>
                      <a:endParaRPr lang="en-US" sz="1200"/>
                    </a:p>
                  </a:txBody>
                  <a:tcPr marL="45720" marR="45720" marT="27432" marB="27432" anchor="ctr">
                    <a:solidFill>
                      <a:schemeClr val="bg1">
                        <a:lumMod val="95000"/>
                      </a:schemeClr>
                    </a:solidFill>
                  </a:tcPr>
                </a:tc>
                <a:tc rowSpan="2">
                  <a:txBody>
                    <a:bodyPr/>
                    <a:lstStyle/>
                    <a:p>
                      <a:pPr algn="ctr"/>
                      <a:r>
                        <a:rPr lang="en-US" sz="1200" b="1" i="0"/>
                        <a:t>4 hours</a:t>
                      </a:r>
                    </a:p>
                  </a:txBody>
                  <a:tcPr marL="45720" marR="45720" marT="27432" marB="27432" anchor="ctr">
                    <a:solidFill>
                      <a:schemeClr val="bg1">
                        <a:lumMod val="95000"/>
                      </a:schemeClr>
                    </a:solidFill>
                  </a:tcPr>
                </a:tc>
                <a:extLst>
                  <a:ext uri="{0D108BD9-81ED-4DB2-BD59-A6C34878D82A}">
                    <a16:rowId xmlns:a16="http://schemas.microsoft.com/office/drawing/2014/main" val="2843730546"/>
                  </a:ext>
                </a:extLst>
              </a:tr>
              <a:tr h="0">
                <a:tc rowSpan="2">
                  <a:txBody>
                    <a:bodyPr/>
                    <a:lstStyle/>
                    <a:p>
                      <a:pPr algn="ctr"/>
                      <a:r>
                        <a:rPr lang="en-US" sz="1200" b="1" i="0"/>
                        <a:t>2</a:t>
                      </a:r>
                    </a:p>
                  </a:txBody>
                  <a:tcPr marL="45720" marR="45720" marT="27432" marB="27432" anchor="ctr">
                    <a:solidFill>
                      <a:schemeClr val="bg1">
                        <a:lumMod val="95000"/>
                      </a:schemeClr>
                    </a:solidFill>
                  </a:tcPr>
                </a:tc>
                <a:tc rowSpan="2">
                  <a:txBody>
                    <a:bodyPr/>
                    <a:lstStyle/>
                    <a:p>
                      <a:pPr algn="ctr"/>
                      <a:r>
                        <a:rPr lang="en-US" sz="1200" b="1" i="0"/>
                        <a:t>Familiarization Session: </a:t>
                      </a:r>
                      <a:r>
                        <a:rPr lang="en-US" sz="1200" i="0"/>
                        <a:t>Vendor/Supplier</a:t>
                      </a:r>
                    </a:p>
                  </a:txBody>
                  <a:tcPr marL="45720" marR="45720" marT="27432" marB="27432" anchor="ctr">
                    <a:solidFill>
                      <a:schemeClr val="bg1">
                        <a:lumMod val="95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i="0"/>
                    </a:p>
                  </a:txBody>
                  <a:tcPr marL="45720" marR="45720" marT="27432" marB="27432" anchor="ctr">
                    <a:solidFill>
                      <a:schemeClr val="bg1">
                        <a:lumMod val="95000"/>
                      </a:schemeClr>
                    </a:solidFill>
                  </a:tcPr>
                </a:tc>
                <a:tc vMerge="1">
                  <a:txBody>
                    <a:bodyPr/>
                    <a:lstStyle/>
                    <a:p>
                      <a:pPr marL="171450" indent="-171450">
                        <a:buFont typeface="Arial"/>
                        <a:buChar char="•"/>
                      </a:pPr>
                      <a:r>
                        <a:rPr lang="en-US" sz="1200" i="0"/>
                        <a:t>DT &amp; FD Core Business and Project Team: IT, Data Governance, Merchandising/Purchasing, E-Comm, Finance, AP</a:t>
                      </a:r>
                    </a:p>
                  </a:txBody>
                  <a:tcPr marL="45720" marR="45720" marT="27432" marB="27432" anchor="ctr">
                    <a:solidFill>
                      <a:schemeClr val="bg1">
                        <a:lumMod val="95000"/>
                      </a:schemeClr>
                    </a:solidFill>
                  </a:tcPr>
                </a:tc>
                <a:tc vMerge="1">
                  <a:txBody>
                    <a:bodyPr/>
                    <a:lstStyle/>
                    <a:p>
                      <a:pPr algn="ctr"/>
                      <a:r>
                        <a:rPr lang="en-US" sz="1200" b="1" i="0"/>
                        <a:t>4 hour</a:t>
                      </a:r>
                    </a:p>
                  </a:txBody>
                  <a:tcPr marL="45720" marR="45720" marT="27432" marB="27432" anchor="ctr">
                    <a:solidFill>
                      <a:schemeClr val="bg1">
                        <a:lumMod val="95000"/>
                      </a:schemeClr>
                    </a:solidFill>
                  </a:tcPr>
                </a:tc>
                <a:extLst>
                  <a:ext uri="{0D108BD9-81ED-4DB2-BD59-A6C34878D82A}">
                    <a16:rowId xmlns:a16="http://schemas.microsoft.com/office/drawing/2014/main" val="1516700124"/>
                  </a:ext>
                </a:extLst>
              </a:tr>
              <a:tr h="66751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6 hours</a:t>
                      </a:r>
                    </a:p>
                  </a:txBody>
                  <a:tcPr marL="45720" marR="45720" marT="27432" marB="27432" anchor="ctr">
                    <a:solidFill>
                      <a:schemeClr val="bg1">
                        <a:lumMod val="95000"/>
                      </a:schemeClr>
                    </a:solidFill>
                  </a:tcPr>
                </a:tc>
                <a:extLst>
                  <a:ext uri="{0D108BD9-81ED-4DB2-BD59-A6C34878D82A}">
                    <a16:rowId xmlns:a16="http://schemas.microsoft.com/office/drawing/2014/main" val="3188176464"/>
                  </a:ext>
                </a:extLst>
              </a:tr>
              <a:tr h="705949">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Familiarization Session: </a:t>
                      </a:r>
                    </a:p>
                    <a:p>
                      <a:pPr algn="ctr"/>
                      <a:r>
                        <a:rPr lang="en-US" sz="1200" b="0" i="0"/>
                        <a:t>Technical Overview and Technical Integration</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err="1"/>
                        <a:t>High-Level</a:t>
                      </a:r>
                      <a:r>
                        <a:rPr lang="pt-PT" sz="1200"/>
                        <a:t> </a:t>
                      </a:r>
                      <a:r>
                        <a:rPr lang="pt-PT" sz="1200" err="1"/>
                        <a:t>technical</a:t>
                      </a:r>
                      <a:r>
                        <a:rPr lang="pt-PT" sz="1200"/>
                        <a:t> </a:t>
                      </a:r>
                      <a:r>
                        <a:rPr lang="pt-PT" sz="1200" err="1"/>
                        <a:t>understanding</a:t>
                      </a:r>
                      <a:r>
                        <a:rPr lang="pt-PT" sz="1200"/>
                        <a:t> </a:t>
                      </a:r>
                      <a:r>
                        <a:rPr lang="pt-PT" sz="1200" err="1"/>
                        <a:t>of</a:t>
                      </a:r>
                      <a:r>
                        <a:rPr lang="pt-PT" sz="1200"/>
                        <a:t> MFCS: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a:t>Data </a:t>
                      </a:r>
                      <a:r>
                        <a:rPr lang="pt-PT" sz="1200" err="1"/>
                        <a:t>Migration</a:t>
                      </a:r>
                      <a:r>
                        <a:rPr lang="pt-PT" sz="1200"/>
                        <a:t> – </a:t>
                      </a:r>
                      <a:r>
                        <a:rPr lang="pt-PT" sz="1200" err="1"/>
                        <a:t>Requirements</a:t>
                      </a:r>
                      <a:r>
                        <a:rPr lang="pt-PT" sz="1200"/>
                        <a:t> </a:t>
                      </a:r>
                      <a:r>
                        <a:rPr lang="pt-PT" sz="1200" err="1"/>
                        <a:t>and</a:t>
                      </a:r>
                      <a:r>
                        <a:rPr lang="pt-PT" sz="1200"/>
                        <a:t> </a:t>
                      </a:r>
                      <a:r>
                        <a:rPr lang="pt-PT" sz="1200" err="1"/>
                        <a:t>Tools</a:t>
                      </a:r>
                      <a:endParaRPr lang="pt-PT" sz="120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Integration – Patterns and Default Interfaces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err="1"/>
                        <a:t>Security</a:t>
                      </a:r>
                      <a:r>
                        <a:rPr lang="pt-PT" sz="1200"/>
                        <a:t> – </a:t>
                      </a:r>
                      <a:r>
                        <a:rPr lang="pt-PT" sz="1200" err="1"/>
                        <a:t>Applications</a:t>
                      </a:r>
                      <a:r>
                        <a:rPr lang="pt-PT" sz="1200"/>
                        <a:t> </a:t>
                      </a:r>
                      <a:r>
                        <a:rPr lang="pt-PT" sz="1200" err="1"/>
                        <a:t>and</a:t>
                      </a:r>
                      <a:r>
                        <a:rPr lang="pt-PT" sz="1200"/>
                        <a:t> </a:t>
                      </a:r>
                      <a:r>
                        <a:rPr lang="pt-PT" sz="1200" err="1"/>
                        <a:t>Infrastructure</a:t>
                      </a:r>
                      <a:endParaRPr lang="pt-PT" sz="1200">
                        <a:solidFill>
                          <a:schemeClr val="dk1"/>
                        </a:solidFil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kern="1200" err="1">
                          <a:solidFill>
                            <a:schemeClr val="dk1"/>
                          </a:solidFill>
                          <a:latin typeface="+mn-lt"/>
                          <a:ea typeface="+mn-ea"/>
                          <a:cs typeface="+mn-cs"/>
                        </a:rPr>
                        <a:t>Batch</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and</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Integration</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with</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other</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systems</a:t>
                      </a:r>
                      <a:endParaRPr lang="en-US" sz="1200" kern="1200">
                        <a:solidFill>
                          <a:schemeClr val="dk1"/>
                        </a:solidFill>
                        <a:latin typeface="+mn-lt"/>
                        <a:ea typeface="+mn-ea"/>
                        <a:cs typeface="+mn-cs"/>
                      </a:endParaRP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i="0"/>
                        <a:t>DT &amp; FD Project Team:  IT</a:t>
                      </a:r>
                    </a:p>
                  </a:txBody>
                  <a:tcPr marL="45720" marR="45720" marT="27432" marB="27432" anchor="ctr">
                    <a:solidFill>
                      <a:schemeClr val="bg1">
                        <a:lumMod val="95000"/>
                      </a:schemeClr>
                    </a:solidFill>
                  </a:tcPr>
                </a:tc>
                <a:tc>
                  <a:txBody>
                    <a:bodyPr/>
                    <a:lstStyle/>
                    <a:p>
                      <a:pPr algn="ctr"/>
                      <a:r>
                        <a:rPr lang="en-US" sz="1200" b="1" i="0"/>
                        <a:t>4 hours</a:t>
                      </a:r>
                    </a:p>
                  </a:txBody>
                  <a:tcPr marL="45720" marR="45720" marT="27432" marB="27432" anchor="ctr">
                    <a:solidFill>
                      <a:schemeClr val="bg1">
                        <a:lumMod val="95000"/>
                      </a:schemeClr>
                    </a:solidFill>
                  </a:tcPr>
                </a:tc>
                <a:extLst>
                  <a:ext uri="{0D108BD9-81ED-4DB2-BD59-A6C34878D82A}">
                    <a16:rowId xmlns:a16="http://schemas.microsoft.com/office/drawing/2014/main" val="2075312267"/>
                  </a:ext>
                </a:extLst>
              </a:tr>
              <a:tr h="792366">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Familiarization Session: </a:t>
                      </a:r>
                    </a:p>
                    <a:p>
                      <a:pPr algn="ctr"/>
                      <a:r>
                        <a:rPr lang="en-US" sz="1200" b="0" i="0"/>
                        <a:t>Environment Strategy and Security</a:t>
                      </a:r>
                    </a:p>
                    <a:p>
                      <a:pPr algn="ctr"/>
                      <a:endParaRPr lang="en-US" sz="1200" b="0" i="0"/>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dk1"/>
                          </a:solidFill>
                          <a:latin typeface="+mn-lt"/>
                          <a:ea typeface="+mn-ea"/>
                          <a:cs typeface="+mn-cs"/>
                        </a:rPr>
                        <a:t>Understanding of:</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Oracle Retail Security Architecture &amp; Access Control</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MFCS Environment Provisioning and Upgrade and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Initial Write-up of MOM Environment Plan for MVP and ED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a:solidFill>
                          <a:schemeClr val="dk1"/>
                        </a:solidFill>
                        <a:latin typeface="+mn-lt"/>
                        <a:ea typeface="+mn-ea"/>
                        <a:cs typeface="+mn-cs"/>
                      </a:endParaRP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i="0"/>
                        <a:t>DT &amp; FD Project Team:  IT</a:t>
                      </a:r>
                    </a:p>
                  </a:txBody>
                  <a:tcPr marL="45720" marR="45720" marT="27432" marB="27432" anchor="ctr">
                    <a:solidFill>
                      <a:schemeClr val="bg1">
                        <a:lumMod val="95000"/>
                      </a:schemeClr>
                    </a:solidFill>
                  </a:tcPr>
                </a:tc>
                <a:tc>
                  <a:txBody>
                    <a:bodyPr/>
                    <a:lstStyle/>
                    <a:p>
                      <a:pPr algn="ctr"/>
                      <a:r>
                        <a:rPr lang="en-US" sz="1200" b="1" i="0"/>
                        <a:t>6 hours</a:t>
                      </a:r>
                    </a:p>
                  </a:txBody>
                  <a:tcPr marL="45720" marR="45720" marT="27432" marB="27432" anchor="ctr">
                    <a:solidFill>
                      <a:schemeClr val="bg1">
                        <a:lumMod val="95000"/>
                      </a:schemeClr>
                    </a:solidFill>
                  </a:tcPr>
                </a:tc>
                <a:extLst>
                  <a:ext uri="{0D108BD9-81ED-4DB2-BD59-A6C34878D82A}">
                    <a16:rowId xmlns:a16="http://schemas.microsoft.com/office/drawing/2014/main" val="1046502614"/>
                  </a:ext>
                </a:extLst>
              </a:tr>
              <a:tr h="900909">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Preparation Session: </a:t>
                      </a:r>
                    </a:p>
                    <a:p>
                      <a:pPr algn="ctr"/>
                      <a:r>
                        <a:rPr lang="en-US" sz="1200" b="0" i="0"/>
                        <a:t>Data Conversion</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Understanding of data conversion activities such as (but not limited to)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Source and Target Systems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a:solidFill>
                            <a:schemeClr val="tx1"/>
                          </a:solidFill>
                          <a:latin typeface="+mn-lt"/>
                          <a:cs typeface="Arial"/>
                        </a:rPr>
                        <a:t>Analyse Merch Legacy Application Data Model</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Data Cleansing requirements before migration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Data Volume considerations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Etc.</a:t>
                      </a:r>
                    </a:p>
                    <a:p>
                      <a:pPr marL="285750" indent="-285750">
                        <a:buFont typeface="Arial" panose="020B0604020202020204" pitchFamily="34" charset="0"/>
                        <a:buChar char="•"/>
                      </a:pPr>
                      <a:endParaRPr lang="en-US" sz="1200"/>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Project Team:  IT</a:t>
                      </a:r>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836545424"/>
                  </a:ext>
                </a:extLst>
              </a:tr>
            </a:tbl>
          </a:graphicData>
        </a:graphic>
      </p:graphicFrame>
      <p:sp>
        <p:nvSpPr>
          <p:cNvPr id="15" name="Title 1">
            <a:extLst>
              <a:ext uri="{FF2B5EF4-FFF2-40B4-BE49-F238E27FC236}">
                <a16:creationId xmlns:a16="http://schemas.microsoft.com/office/drawing/2014/main" id="{B5B76825-3536-4664-B4D3-189EA219EA1B}"/>
              </a:ext>
            </a:extLst>
          </p:cNvPr>
          <p:cNvSpPr txBox="1">
            <a:spLocks/>
          </p:cNvSpPr>
          <p:nvPr/>
        </p:nvSpPr>
        <p:spPr>
          <a:xfrm>
            <a:off x="1118158" y="353568"/>
            <a:ext cx="10634753" cy="4876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Sessions Agenda: Week 2</a:t>
            </a:r>
          </a:p>
        </p:txBody>
      </p:sp>
      <p:sp>
        <p:nvSpPr>
          <p:cNvPr id="2" name="TextBox 1">
            <a:extLst>
              <a:ext uri="{FF2B5EF4-FFF2-40B4-BE49-F238E27FC236}">
                <a16:creationId xmlns:a16="http://schemas.microsoft.com/office/drawing/2014/main" id="{106A5170-7691-4E0D-A013-2A88181EBB51}"/>
              </a:ext>
            </a:extLst>
          </p:cNvPr>
          <p:cNvSpPr txBox="1"/>
          <p:nvPr/>
        </p:nvSpPr>
        <p:spPr>
          <a:xfrm>
            <a:off x="4750904" y="2445026"/>
            <a:ext cx="2902226" cy="369332"/>
          </a:xfrm>
          <a:prstGeom prst="rect">
            <a:avLst/>
          </a:prstGeom>
          <a:solidFill>
            <a:srgbClr val="FFFF00"/>
          </a:solidFill>
        </p:spPr>
        <p:txBody>
          <a:bodyPr wrap="square" rtlCol="0">
            <a:spAutoFit/>
          </a:bodyPr>
          <a:lstStyle/>
          <a:p>
            <a:r>
              <a:rPr lang="en-US"/>
              <a:t>To be updated</a:t>
            </a:r>
          </a:p>
        </p:txBody>
      </p:sp>
    </p:spTree>
    <p:extLst>
      <p:ext uri="{BB962C8B-B14F-4D97-AF65-F5344CB8AC3E}">
        <p14:creationId xmlns:p14="http://schemas.microsoft.com/office/powerpoint/2010/main" val="880966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EB86723-1879-4937-BD18-B2CAFDA2E52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ct 3" hidden="1">
                        <a:extLst>
                          <a:ext uri="{FF2B5EF4-FFF2-40B4-BE49-F238E27FC236}">
                            <a16:creationId xmlns:a16="http://schemas.microsoft.com/office/drawing/2014/main" id="{2EB86723-1879-4937-BD18-B2CAFDA2E52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4" name="Table 103">
            <a:extLst>
              <a:ext uri="{FF2B5EF4-FFF2-40B4-BE49-F238E27FC236}">
                <a16:creationId xmlns:a16="http://schemas.microsoft.com/office/drawing/2014/main" id="{E85E580B-860B-4213-8264-FFBCE2D9F53F}"/>
              </a:ext>
            </a:extLst>
          </p:cNvPr>
          <p:cNvGraphicFramePr>
            <a:graphicFrameLocks noGrp="1"/>
          </p:cNvGraphicFramePr>
          <p:nvPr/>
        </p:nvGraphicFramePr>
        <p:xfrm>
          <a:off x="378367" y="682721"/>
          <a:ext cx="11469081" cy="6126860"/>
        </p:xfrm>
        <a:graphic>
          <a:graphicData uri="http://schemas.openxmlformats.org/drawingml/2006/table">
            <a:tbl>
              <a:tblPr firstRow="1" bandRow="1"/>
              <a:tblGrid>
                <a:gridCol w="1924666">
                  <a:extLst>
                    <a:ext uri="{9D8B030D-6E8A-4147-A177-3AD203B41FA5}">
                      <a16:colId xmlns:a16="http://schemas.microsoft.com/office/drawing/2014/main" val="702128557"/>
                    </a:ext>
                  </a:extLst>
                </a:gridCol>
                <a:gridCol w="915375">
                  <a:extLst>
                    <a:ext uri="{9D8B030D-6E8A-4147-A177-3AD203B41FA5}">
                      <a16:colId xmlns:a16="http://schemas.microsoft.com/office/drawing/2014/main" val="3453241497"/>
                    </a:ext>
                  </a:extLst>
                </a:gridCol>
                <a:gridCol w="971185">
                  <a:extLst>
                    <a:ext uri="{9D8B030D-6E8A-4147-A177-3AD203B41FA5}">
                      <a16:colId xmlns:a16="http://schemas.microsoft.com/office/drawing/2014/main" val="3830077496"/>
                    </a:ext>
                  </a:extLst>
                </a:gridCol>
                <a:gridCol w="1015838">
                  <a:extLst>
                    <a:ext uri="{9D8B030D-6E8A-4147-A177-3AD203B41FA5}">
                      <a16:colId xmlns:a16="http://schemas.microsoft.com/office/drawing/2014/main" val="1116999727"/>
                    </a:ext>
                  </a:extLst>
                </a:gridCol>
                <a:gridCol w="937967">
                  <a:extLst>
                    <a:ext uri="{9D8B030D-6E8A-4147-A177-3AD203B41FA5}">
                      <a16:colId xmlns:a16="http://schemas.microsoft.com/office/drawing/2014/main" val="1823675650"/>
                    </a:ext>
                  </a:extLst>
                </a:gridCol>
                <a:gridCol w="1140810">
                  <a:extLst>
                    <a:ext uri="{9D8B030D-6E8A-4147-A177-3AD203B41FA5}">
                      <a16:colId xmlns:a16="http://schemas.microsoft.com/office/drawing/2014/main" val="1850247057"/>
                    </a:ext>
                  </a:extLst>
                </a:gridCol>
                <a:gridCol w="1140810">
                  <a:extLst>
                    <a:ext uri="{9D8B030D-6E8A-4147-A177-3AD203B41FA5}">
                      <a16:colId xmlns:a16="http://schemas.microsoft.com/office/drawing/2014/main" val="1842095370"/>
                    </a:ext>
                  </a:extLst>
                </a:gridCol>
                <a:gridCol w="1140810">
                  <a:extLst>
                    <a:ext uri="{9D8B030D-6E8A-4147-A177-3AD203B41FA5}">
                      <a16:colId xmlns:a16="http://schemas.microsoft.com/office/drawing/2014/main" val="1630108107"/>
                    </a:ext>
                  </a:extLst>
                </a:gridCol>
                <a:gridCol w="1140810">
                  <a:extLst>
                    <a:ext uri="{9D8B030D-6E8A-4147-A177-3AD203B41FA5}">
                      <a16:colId xmlns:a16="http://schemas.microsoft.com/office/drawing/2014/main" val="3634664759"/>
                    </a:ext>
                  </a:extLst>
                </a:gridCol>
                <a:gridCol w="1140810">
                  <a:extLst>
                    <a:ext uri="{9D8B030D-6E8A-4147-A177-3AD203B41FA5}">
                      <a16:colId xmlns:a16="http://schemas.microsoft.com/office/drawing/2014/main" val="4259240834"/>
                    </a:ext>
                  </a:extLst>
                </a:gridCol>
              </a:tblGrid>
              <a:tr h="3763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313131"/>
                          </a:solidFill>
                          <a:effectLst/>
                          <a:uLnTx/>
                          <a:uFillTx/>
                          <a:ea typeface="+mn-ea"/>
                          <a:cs typeface="+mn-cs"/>
                        </a:rPr>
                        <a:t>Proposed Development Start: </a:t>
                      </a:r>
                      <a:r>
                        <a:rPr kumimoji="0" lang="en-US" sz="900" b="1" i="1" u="none" strike="noStrike" kern="1200" cap="none" spc="0" normalizeH="0" baseline="0" noProof="0">
                          <a:ln>
                            <a:noFill/>
                          </a:ln>
                          <a:solidFill>
                            <a:srgbClr val="313131"/>
                          </a:solidFill>
                          <a:effectLst/>
                          <a:uLnTx/>
                          <a:uFillTx/>
                          <a:ea typeface="+mn-ea"/>
                          <a:cs typeface="+mn-cs"/>
                        </a:rPr>
                        <a:t>March 27 2023</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March</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April</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May</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Jun</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Jul</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Aug</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Sep</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Oct</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1">
                          <a:solidFill>
                            <a:schemeClr val="accent6"/>
                          </a:solidFill>
                          <a:latin typeface="+mn-lt"/>
                          <a:ea typeface="Open Sans" panose="020B0606030504020204" pitchFamily="34" charset="0"/>
                          <a:cs typeface="Open Sans" panose="020B0606030504020204" pitchFamily="34" charset="0"/>
                        </a:rPr>
                        <a:t>Nov</a:t>
                      </a:r>
                    </a:p>
                  </a:txBody>
                  <a:tcPr marL="89089" marR="89089" marT="44544" marB="4454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881870"/>
                  </a:ext>
                </a:extLst>
              </a:tr>
              <a:tr h="1184902">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Timeline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7471917"/>
                  </a:ext>
                </a:extLst>
              </a:tr>
              <a:tr h="805180">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IPG – Integration Portfolio Governance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9376789"/>
                  </a:ext>
                </a:extLst>
              </a:tr>
              <a:tr h="759661">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ATS - Arch Tools and Security</a:t>
                      </a:r>
                      <a:endParaRPr lang="en-US" sz="1000" b="1" kern="1200">
                        <a:solidFill>
                          <a:schemeClr val="tx1"/>
                        </a:solidFill>
                        <a:latin typeface="+mn-lt"/>
                        <a:ea typeface="Open Sans" panose="020B0606030504020204" pitchFamily="34" charset="0"/>
                        <a:cs typeface="Open Sans" panose="020B0606030504020204" pitchFamily="34" charset="0"/>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0331777"/>
                  </a:ext>
                </a:extLst>
              </a:tr>
              <a:tr h="701749">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IPODS – Integration Pod</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388896"/>
                  </a:ext>
                </a:extLst>
              </a:tr>
              <a:tr h="829340">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RIT – Retail system Integration and QA Testing</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3747723"/>
                  </a:ext>
                </a:extLst>
              </a:tr>
              <a:tr h="734852">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Oracle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4858681"/>
                  </a:ext>
                </a:extLst>
              </a:tr>
              <a:tr h="734852">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Dollar Tree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8950004"/>
                  </a:ext>
                </a:extLst>
              </a:tr>
            </a:tbl>
          </a:graphicData>
        </a:graphic>
      </p:graphicFrame>
      <p:sp>
        <p:nvSpPr>
          <p:cNvPr id="2" name="Text Placeholder 1">
            <a:extLst>
              <a:ext uri="{FF2B5EF4-FFF2-40B4-BE49-F238E27FC236}">
                <a16:creationId xmlns:a16="http://schemas.microsoft.com/office/drawing/2014/main" id="{804613F0-E2D1-48C2-8FAE-9879DCAEADCB}"/>
              </a:ext>
            </a:extLst>
          </p:cNvPr>
          <p:cNvSpPr>
            <a:spLocks noGrp="1"/>
          </p:cNvSpPr>
          <p:nvPr>
            <p:ph type="body" sz="quarter" idx="22"/>
          </p:nvPr>
        </p:nvSpPr>
        <p:spPr>
          <a:xfrm>
            <a:off x="463295" y="413155"/>
            <a:ext cx="11277600" cy="430887"/>
          </a:xfrm>
        </p:spPr>
        <p:txBody>
          <a:bodyPr/>
          <a:lstStyle/>
          <a:p>
            <a:r>
              <a:rPr lang="en-US"/>
              <a:t>Overall Timeline is of 8 Months considering a start on 3/27</a:t>
            </a:r>
          </a:p>
          <a:p>
            <a:endParaRPr lang="en-US"/>
          </a:p>
        </p:txBody>
      </p:sp>
      <p:sp>
        <p:nvSpPr>
          <p:cNvPr id="120" name="Title 2">
            <a:extLst>
              <a:ext uri="{FF2B5EF4-FFF2-40B4-BE49-F238E27FC236}">
                <a16:creationId xmlns:a16="http://schemas.microsoft.com/office/drawing/2014/main" id="{FBFCA566-FB8C-4211-9886-DEFA9B8B4542}"/>
              </a:ext>
            </a:extLst>
          </p:cNvPr>
          <p:cNvSpPr>
            <a:spLocks noGrp="1"/>
          </p:cNvSpPr>
          <p:nvPr>
            <p:ph type="title"/>
          </p:nvPr>
        </p:nvSpPr>
        <p:spPr>
          <a:xfrm>
            <a:off x="463295" y="-19043"/>
            <a:ext cx="11277600" cy="400110"/>
          </a:xfrm>
        </p:spPr>
        <p:txBody>
          <a:bodyPr/>
          <a:lstStyle/>
          <a:p>
            <a:r>
              <a:rPr lang="en-US"/>
              <a:t>Timeline</a:t>
            </a:r>
          </a:p>
        </p:txBody>
      </p:sp>
      <p:cxnSp>
        <p:nvCxnSpPr>
          <p:cNvPr id="134" name="Straight Connector 133">
            <a:extLst>
              <a:ext uri="{FF2B5EF4-FFF2-40B4-BE49-F238E27FC236}">
                <a16:creationId xmlns:a16="http://schemas.microsoft.com/office/drawing/2014/main" id="{64616F85-6CFA-45A6-AC06-9187807B8ECD}"/>
              </a:ext>
            </a:extLst>
          </p:cNvPr>
          <p:cNvCxnSpPr>
            <a:cxnSpLocks/>
          </p:cNvCxnSpPr>
          <p:nvPr/>
        </p:nvCxnSpPr>
        <p:spPr>
          <a:xfrm>
            <a:off x="2598516" y="1149483"/>
            <a:ext cx="1395662" cy="0"/>
          </a:xfrm>
          <a:prstGeom prst="line">
            <a:avLst/>
          </a:prstGeom>
          <a:noFill/>
          <a:ln w="57150" cap="flat" cmpd="sng" algn="ctr">
            <a:solidFill>
              <a:srgbClr val="6FC2B4"/>
            </a:solidFill>
            <a:prstDash val="solid"/>
          </a:ln>
          <a:effectLst/>
        </p:spPr>
      </p:cxnSp>
      <p:cxnSp>
        <p:nvCxnSpPr>
          <p:cNvPr id="135" name="Straight Connector 134">
            <a:extLst>
              <a:ext uri="{FF2B5EF4-FFF2-40B4-BE49-F238E27FC236}">
                <a16:creationId xmlns:a16="http://schemas.microsoft.com/office/drawing/2014/main" id="{AB839E15-AF79-4901-8FC9-186012F5BB37}"/>
              </a:ext>
            </a:extLst>
          </p:cNvPr>
          <p:cNvCxnSpPr>
            <a:cxnSpLocks/>
          </p:cNvCxnSpPr>
          <p:nvPr/>
        </p:nvCxnSpPr>
        <p:spPr>
          <a:xfrm flipV="1">
            <a:off x="3407358" y="1324108"/>
            <a:ext cx="2703713" cy="5347"/>
          </a:xfrm>
          <a:prstGeom prst="line">
            <a:avLst/>
          </a:prstGeom>
          <a:noFill/>
          <a:ln w="57150" cap="flat" cmpd="sng" algn="ctr">
            <a:solidFill>
              <a:srgbClr val="6FC2B4"/>
            </a:solidFill>
            <a:prstDash val="solid"/>
          </a:ln>
          <a:effectLst/>
        </p:spPr>
      </p:cxnSp>
      <p:cxnSp>
        <p:nvCxnSpPr>
          <p:cNvPr id="157" name="Straight Connector 156">
            <a:extLst>
              <a:ext uri="{FF2B5EF4-FFF2-40B4-BE49-F238E27FC236}">
                <a16:creationId xmlns:a16="http://schemas.microsoft.com/office/drawing/2014/main" id="{92C456D4-2F42-4A8E-9F77-6E3C5D048431}"/>
              </a:ext>
            </a:extLst>
          </p:cNvPr>
          <p:cNvCxnSpPr>
            <a:cxnSpLocks/>
          </p:cNvCxnSpPr>
          <p:nvPr/>
        </p:nvCxnSpPr>
        <p:spPr>
          <a:xfrm flipV="1">
            <a:off x="4372288" y="1524780"/>
            <a:ext cx="2902159" cy="11436"/>
          </a:xfrm>
          <a:prstGeom prst="line">
            <a:avLst/>
          </a:prstGeom>
          <a:noFill/>
          <a:ln w="57150" cap="flat" cmpd="sng" algn="ctr">
            <a:solidFill>
              <a:srgbClr val="595959"/>
            </a:solidFill>
            <a:prstDash val="solid"/>
          </a:ln>
          <a:effectLst/>
        </p:spPr>
      </p:cxnSp>
      <p:sp>
        <p:nvSpPr>
          <p:cNvPr id="177" name="TextBox 176">
            <a:extLst>
              <a:ext uri="{FF2B5EF4-FFF2-40B4-BE49-F238E27FC236}">
                <a16:creationId xmlns:a16="http://schemas.microsoft.com/office/drawing/2014/main" id="{A726E6E6-27C8-43B2-8D45-DD4F3FE6706D}"/>
              </a:ext>
            </a:extLst>
          </p:cNvPr>
          <p:cNvSpPr txBox="1"/>
          <p:nvPr/>
        </p:nvSpPr>
        <p:spPr>
          <a:xfrm>
            <a:off x="4057624" y="1088690"/>
            <a:ext cx="1101793"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Solution Overview</a:t>
            </a:r>
          </a:p>
        </p:txBody>
      </p:sp>
      <p:sp>
        <p:nvSpPr>
          <p:cNvPr id="188" name="TextBox 187">
            <a:extLst>
              <a:ext uri="{FF2B5EF4-FFF2-40B4-BE49-F238E27FC236}">
                <a16:creationId xmlns:a16="http://schemas.microsoft.com/office/drawing/2014/main" id="{65927EB2-E753-4EDE-970F-4EE91CD07D53}"/>
              </a:ext>
            </a:extLst>
          </p:cNvPr>
          <p:cNvSpPr txBox="1"/>
          <p:nvPr/>
        </p:nvSpPr>
        <p:spPr>
          <a:xfrm>
            <a:off x="8445628" y="1580570"/>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SIT </a:t>
            </a:r>
          </a:p>
        </p:txBody>
      </p:sp>
      <p:sp>
        <p:nvSpPr>
          <p:cNvPr id="189" name="TextBox 188">
            <a:extLst>
              <a:ext uri="{FF2B5EF4-FFF2-40B4-BE49-F238E27FC236}">
                <a16:creationId xmlns:a16="http://schemas.microsoft.com/office/drawing/2014/main" id="{2E09EC51-ACA8-4AE8-ACAF-946BFF787B1C}"/>
              </a:ext>
            </a:extLst>
          </p:cNvPr>
          <p:cNvSpPr txBox="1"/>
          <p:nvPr/>
        </p:nvSpPr>
        <p:spPr>
          <a:xfrm>
            <a:off x="7193800" y="1430663"/>
            <a:ext cx="1557296" cy="200055"/>
          </a:xfrm>
          <a:prstGeom prst="rect">
            <a:avLst/>
          </a:prstGeom>
          <a:noFill/>
        </p:spPr>
        <p:txBody>
          <a:bodyPr wrap="square">
            <a:spAutoFit/>
          </a:bodyPr>
          <a:lstStyle/>
          <a:p>
            <a:pPr marL="8659" marR="0" lvl="0" indent="0" algn="l" defTabSz="831227" rtl="0" eaLnBrk="1" fontAlgn="b"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Configure &amp; Build</a:t>
            </a:r>
          </a:p>
        </p:txBody>
      </p:sp>
      <p:sp>
        <p:nvSpPr>
          <p:cNvPr id="190" name="TextBox 189">
            <a:extLst>
              <a:ext uri="{FF2B5EF4-FFF2-40B4-BE49-F238E27FC236}">
                <a16:creationId xmlns:a16="http://schemas.microsoft.com/office/drawing/2014/main" id="{2389D4E1-0A9F-4DE2-8081-5CB6595453D0}"/>
              </a:ext>
            </a:extLst>
          </p:cNvPr>
          <p:cNvSpPr txBox="1"/>
          <p:nvPr/>
        </p:nvSpPr>
        <p:spPr>
          <a:xfrm>
            <a:off x="6108806" y="1213045"/>
            <a:ext cx="1371291" cy="200055"/>
          </a:xfrm>
          <a:prstGeom prst="rect">
            <a:avLst/>
          </a:prstGeom>
          <a:noFill/>
        </p:spPr>
        <p:txBody>
          <a:bodyPr wrap="square">
            <a:spAutoFit/>
          </a:bodyPr>
          <a:lstStyle/>
          <a:p>
            <a:pPr marL="8659" marR="0" lvl="0" indent="0" algn="l" defTabSz="831227" rtl="0" eaLnBrk="1" fontAlgn="b"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Design Sprints</a:t>
            </a:r>
          </a:p>
        </p:txBody>
      </p:sp>
      <p:grpSp>
        <p:nvGrpSpPr>
          <p:cNvPr id="191" name="Group 190">
            <a:extLst>
              <a:ext uri="{FF2B5EF4-FFF2-40B4-BE49-F238E27FC236}">
                <a16:creationId xmlns:a16="http://schemas.microsoft.com/office/drawing/2014/main" id="{AEF17404-1301-4081-A450-4F62B8F97E68}"/>
              </a:ext>
            </a:extLst>
          </p:cNvPr>
          <p:cNvGrpSpPr/>
          <p:nvPr/>
        </p:nvGrpSpPr>
        <p:grpSpPr>
          <a:xfrm>
            <a:off x="10583842" y="1927914"/>
            <a:ext cx="257544" cy="249382"/>
            <a:chOff x="5859236" y="3546542"/>
            <a:chExt cx="257544" cy="249382"/>
          </a:xfrm>
        </p:grpSpPr>
        <p:sp>
          <p:nvSpPr>
            <p:cNvPr id="192" name="Oval 191">
              <a:extLst>
                <a:ext uri="{FF2B5EF4-FFF2-40B4-BE49-F238E27FC236}">
                  <a16:creationId xmlns:a16="http://schemas.microsoft.com/office/drawing/2014/main" id="{5A9D24E7-DAA0-4B36-8192-7978035FC1BB}"/>
                </a:ext>
              </a:extLst>
            </p:cNvPr>
            <p:cNvSpPr>
              <a:spLocks noChangeArrowheads="1"/>
            </p:cNvSpPr>
            <p:nvPr/>
          </p:nvSpPr>
          <p:spPr bwMode="auto">
            <a:xfrm>
              <a:off x="5859236" y="3546542"/>
              <a:ext cx="257544" cy="249382"/>
            </a:xfrm>
            <a:prstGeom prst="ellipse">
              <a:avLst/>
            </a:prstGeom>
            <a:solidFill>
              <a:srgbClr val="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193" name="Graphic 4">
              <a:extLst>
                <a:ext uri="{FF2B5EF4-FFF2-40B4-BE49-F238E27FC236}">
                  <a16:creationId xmlns:a16="http://schemas.microsoft.com/office/drawing/2014/main" id="{A384BCDC-3485-4F68-8707-FF7E0ED53905}"/>
                </a:ext>
              </a:extLst>
            </p:cNvPr>
            <p:cNvGrpSpPr/>
            <p:nvPr/>
          </p:nvGrpSpPr>
          <p:grpSpPr>
            <a:xfrm>
              <a:off x="5859236" y="3546542"/>
              <a:ext cx="257544" cy="249382"/>
              <a:chOff x="467743" y="2371173"/>
              <a:chExt cx="361670" cy="362610"/>
            </a:xfrm>
            <a:solidFill>
              <a:sysClr val="windowText" lastClr="000000"/>
            </a:solidFill>
          </p:grpSpPr>
          <p:sp>
            <p:nvSpPr>
              <p:cNvPr id="194" name="Graphic 4">
                <a:extLst>
                  <a:ext uri="{FF2B5EF4-FFF2-40B4-BE49-F238E27FC236}">
                    <a16:creationId xmlns:a16="http://schemas.microsoft.com/office/drawing/2014/main" id="{264AE205-9980-4A67-829F-BA1CD1E7142D}"/>
                  </a:ext>
                </a:extLst>
              </p:cNvPr>
              <p:cNvSpPr/>
              <p:nvPr/>
            </p:nvSpPr>
            <p:spPr>
              <a:xfrm>
                <a:off x="467743" y="2371173"/>
                <a:ext cx="361670" cy="362610"/>
              </a:xfrm>
              <a:custGeom>
                <a:avLst/>
                <a:gdLst>
                  <a:gd name="connsiteX0" fmla="*/ 180835 w 361670"/>
                  <a:gd name="connsiteY0" fmla="*/ 349204 h 362610"/>
                  <a:gd name="connsiteX1" fmla="*/ 12780 w 361670"/>
                  <a:gd name="connsiteY1" fmla="*/ 180667 h 362610"/>
                  <a:gd name="connsiteX2" fmla="*/ 180835 w 361670"/>
                  <a:gd name="connsiteY2" fmla="*/ 12130 h 362610"/>
                  <a:gd name="connsiteX3" fmla="*/ 348891 w 361670"/>
                  <a:gd name="connsiteY3" fmla="*/ 180667 h 362610"/>
                  <a:gd name="connsiteX4" fmla="*/ 180835 w 361670"/>
                  <a:gd name="connsiteY4" fmla="*/ 349204 h 362610"/>
                  <a:gd name="connsiteX5" fmla="*/ 180835 w 361670"/>
                  <a:gd name="connsiteY5" fmla="*/ 0 h 362610"/>
                  <a:gd name="connsiteX6" fmla="*/ 0 w 361670"/>
                  <a:gd name="connsiteY6" fmla="*/ 181305 h 362610"/>
                  <a:gd name="connsiteX7" fmla="*/ 180835 w 361670"/>
                  <a:gd name="connsiteY7" fmla="*/ 362610 h 362610"/>
                  <a:gd name="connsiteX8" fmla="*/ 361670 w 361670"/>
                  <a:gd name="connsiteY8" fmla="*/ 181305 h 362610"/>
                  <a:gd name="connsiteX9" fmla="*/ 361670 w 361670"/>
                  <a:gd name="connsiteY9" fmla="*/ 181305 h 362610"/>
                  <a:gd name="connsiteX10" fmla="*/ 180835 w 361670"/>
                  <a:gd name="connsiteY10" fmla="*/ 0 h 362610"/>
                  <a:gd name="connsiteX11" fmla="*/ 180835 w 361670"/>
                  <a:gd name="connsiteY11" fmla="*/ 0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670" h="362610">
                    <a:moveTo>
                      <a:pt x="180835" y="349204"/>
                    </a:moveTo>
                    <a:cubicBezTo>
                      <a:pt x="87542" y="349204"/>
                      <a:pt x="12780" y="273873"/>
                      <a:pt x="12780" y="180667"/>
                    </a:cubicBezTo>
                    <a:cubicBezTo>
                      <a:pt x="12780" y="87461"/>
                      <a:pt x="88181" y="12130"/>
                      <a:pt x="180835" y="12130"/>
                    </a:cubicBezTo>
                    <a:cubicBezTo>
                      <a:pt x="273489" y="12130"/>
                      <a:pt x="348891" y="87461"/>
                      <a:pt x="348891" y="180667"/>
                    </a:cubicBezTo>
                    <a:cubicBezTo>
                      <a:pt x="348891" y="273873"/>
                      <a:pt x="273489" y="349204"/>
                      <a:pt x="180835" y="349204"/>
                    </a:cubicBezTo>
                    <a:moveTo>
                      <a:pt x="180835" y="0"/>
                    </a:moveTo>
                    <a:cubicBezTo>
                      <a:pt x="80513" y="0"/>
                      <a:pt x="0" y="81077"/>
                      <a:pt x="0" y="181305"/>
                    </a:cubicBezTo>
                    <a:cubicBezTo>
                      <a:pt x="0" y="281534"/>
                      <a:pt x="81152" y="362610"/>
                      <a:pt x="180835" y="362610"/>
                    </a:cubicBezTo>
                    <a:cubicBezTo>
                      <a:pt x="280518" y="362610"/>
                      <a:pt x="361670" y="281534"/>
                      <a:pt x="361670" y="181305"/>
                    </a:cubicBezTo>
                    <a:cubicBezTo>
                      <a:pt x="361670" y="181305"/>
                      <a:pt x="361670" y="181305"/>
                      <a:pt x="361670" y="181305"/>
                    </a:cubicBezTo>
                    <a:cubicBezTo>
                      <a:pt x="361670" y="81077"/>
                      <a:pt x="281157" y="0"/>
                      <a:pt x="180835" y="0"/>
                    </a:cubicBezTo>
                    <a:cubicBezTo>
                      <a:pt x="180835" y="0"/>
                      <a:pt x="180835" y="0"/>
                      <a:pt x="180835" y="0"/>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195" name="Graphic 4">
                <a:extLst>
                  <a:ext uri="{FF2B5EF4-FFF2-40B4-BE49-F238E27FC236}">
                    <a16:creationId xmlns:a16="http://schemas.microsoft.com/office/drawing/2014/main" id="{D51D000C-30EB-4CC7-82F2-5FD3D7686138}"/>
                  </a:ext>
                </a:extLst>
              </p:cNvPr>
              <p:cNvSpPr/>
              <p:nvPr/>
            </p:nvSpPr>
            <p:spPr>
              <a:xfrm>
                <a:off x="544800" y="2440759"/>
                <a:ext cx="206277" cy="222800"/>
              </a:xfrm>
              <a:custGeom>
                <a:avLst/>
                <a:gdLst>
                  <a:gd name="connsiteX0" fmla="*/ 170872 w 206277"/>
                  <a:gd name="connsiteY0" fmla="*/ 112996 h 222800"/>
                  <a:gd name="connsiteX1" fmla="*/ 147869 w 206277"/>
                  <a:gd name="connsiteY1" fmla="*/ 129595 h 222800"/>
                  <a:gd name="connsiteX2" fmla="*/ 161926 w 206277"/>
                  <a:gd name="connsiteY2" fmla="*/ 52987 h 222800"/>
                  <a:gd name="connsiteX3" fmla="*/ 190681 w 206277"/>
                  <a:gd name="connsiteY3" fmla="*/ 56179 h 222800"/>
                  <a:gd name="connsiteX4" fmla="*/ 170872 w 206277"/>
                  <a:gd name="connsiteY4" fmla="*/ 112996 h 222800"/>
                  <a:gd name="connsiteX5" fmla="*/ 103778 w 206277"/>
                  <a:gd name="connsiteY5" fmla="*/ 158323 h 222800"/>
                  <a:gd name="connsiteX6" fmla="*/ 85886 w 206277"/>
                  <a:gd name="connsiteY6" fmla="*/ 150024 h 222800"/>
                  <a:gd name="connsiteX7" fmla="*/ 57770 w 206277"/>
                  <a:gd name="connsiteY7" fmla="*/ 13406 h 222800"/>
                  <a:gd name="connsiteX8" fmla="*/ 149786 w 206277"/>
                  <a:gd name="connsiteY8" fmla="*/ 13406 h 222800"/>
                  <a:gd name="connsiteX9" fmla="*/ 121670 w 206277"/>
                  <a:gd name="connsiteY9" fmla="*/ 150024 h 222800"/>
                  <a:gd name="connsiteX10" fmla="*/ 103778 w 206277"/>
                  <a:gd name="connsiteY10" fmla="*/ 158323 h 222800"/>
                  <a:gd name="connsiteX11" fmla="*/ 90998 w 206277"/>
                  <a:gd name="connsiteY11" fmla="*/ 210033 h 222800"/>
                  <a:gd name="connsiteX12" fmla="*/ 103778 w 206277"/>
                  <a:gd name="connsiteY12" fmla="*/ 180667 h 222800"/>
                  <a:gd name="connsiteX13" fmla="*/ 116558 w 206277"/>
                  <a:gd name="connsiteY13" fmla="*/ 210033 h 222800"/>
                  <a:gd name="connsiteX14" fmla="*/ 90998 w 206277"/>
                  <a:gd name="connsiteY14" fmla="*/ 210033 h 222800"/>
                  <a:gd name="connsiteX15" fmla="*/ 36684 w 206277"/>
                  <a:gd name="connsiteY15" fmla="*/ 112996 h 222800"/>
                  <a:gd name="connsiteX16" fmla="*/ 17514 w 206277"/>
                  <a:gd name="connsiteY16" fmla="*/ 55541 h 222800"/>
                  <a:gd name="connsiteX17" fmla="*/ 46269 w 206277"/>
                  <a:gd name="connsiteY17" fmla="*/ 52349 h 222800"/>
                  <a:gd name="connsiteX18" fmla="*/ 60326 w 206277"/>
                  <a:gd name="connsiteY18" fmla="*/ 129595 h 222800"/>
                  <a:gd name="connsiteX19" fmla="*/ 36684 w 206277"/>
                  <a:gd name="connsiteY19" fmla="*/ 112996 h 222800"/>
                  <a:gd name="connsiteX20" fmla="*/ 162565 w 206277"/>
                  <a:gd name="connsiteY20" fmla="*/ 39581 h 222800"/>
                  <a:gd name="connsiteX21" fmla="*/ 162565 w 206277"/>
                  <a:gd name="connsiteY21" fmla="*/ 6384 h 222800"/>
                  <a:gd name="connsiteX22" fmla="*/ 156175 w 206277"/>
                  <a:gd name="connsiteY22" fmla="*/ 0 h 222800"/>
                  <a:gd name="connsiteX23" fmla="*/ 51381 w 206277"/>
                  <a:gd name="connsiteY23" fmla="*/ 0 h 222800"/>
                  <a:gd name="connsiteX24" fmla="*/ 44991 w 206277"/>
                  <a:gd name="connsiteY24" fmla="*/ 6384 h 222800"/>
                  <a:gd name="connsiteX25" fmla="*/ 44991 w 206277"/>
                  <a:gd name="connsiteY25" fmla="*/ 39581 h 222800"/>
                  <a:gd name="connsiteX26" fmla="*/ 7929 w 206277"/>
                  <a:gd name="connsiteY26" fmla="*/ 47241 h 222800"/>
                  <a:gd name="connsiteX27" fmla="*/ 27738 w 206277"/>
                  <a:gd name="connsiteY27" fmla="*/ 122572 h 222800"/>
                  <a:gd name="connsiteX28" fmla="*/ 67994 w 206277"/>
                  <a:gd name="connsiteY28" fmla="*/ 147470 h 222800"/>
                  <a:gd name="connsiteX29" fmla="*/ 76301 w 206277"/>
                  <a:gd name="connsiteY29" fmla="*/ 158323 h 222800"/>
                  <a:gd name="connsiteX30" fmla="*/ 94193 w 206277"/>
                  <a:gd name="connsiteY30" fmla="*/ 169176 h 222800"/>
                  <a:gd name="connsiteX31" fmla="*/ 75023 w 206277"/>
                  <a:gd name="connsiteY31" fmla="*/ 213863 h 222800"/>
                  <a:gd name="connsiteX32" fmla="*/ 78218 w 206277"/>
                  <a:gd name="connsiteY32" fmla="*/ 222163 h 222800"/>
                  <a:gd name="connsiteX33" fmla="*/ 80774 w 206277"/>
                  <a:gd name="connsiteY33" fmla="*/ 222801 h 222800"/>
                  <a:gd name="connsiteX34" fmla="*/ 125504 w 206277"/>
                  <a:gd name="connsiteY34" fmla="*/ 222801 h 222800"/>
                  <a:gd name="connsiteX35" fmla="*/ 130616 w 206277"/>
                  <a:gd name="connsiteY35" fmla="*/ 219609 h 222800"/>
                  <a:gd name="connsiteX36" fmla="*/ 131255 w 206277"/>
                  <a:gd name="connsiteY36" fmla="*/ 213225 h 222800"/>
                  <a:gd name="connsiteX37" fmla="*/ 112085 w 206277"/>
                  <a:gd name="connsiteY37" fmla="*/ 168537 h 222800"/>
                  <a:gd name="connsiteX38" fmla="*/ 129977 w 206277"/>
                  <a:gd name="connsiteY38" fmla="*/ 157684 h 222800"/>
                  <a:gd name="connsiteX39" fmla="*/ 138284 w 206277"/>
                  <a:gd name="connsiteY39" fmla="*/ 146193 h 222800"/>
                  <a:gd name="connsiteX40" fmla="*/ 178540 w 206277"/>
                  <a:gd name="connsiteY40" fmla="*/ 121934 h 222800"/>
                  <a:gd name="connsiteX41" fmla="*/ 198349 w 206277"/>
                  <a:gd name="connsiteY41" fmla="*/ 46603 h 222800"/>
                  <a:gd name="connsiteX42" fmla="*/ 162565 w 206277"/>
                  <a:gd name="connsiteY42" fmla="*/ 39581 h 22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6277" h="222800">
                    <a:moveTo>
                      <a:pt x="170872" y="112996"/>
                    </a:moveTo>
                    <a:cubicBezTo>
                      <a:pt x="163843" y="119380"/>
                      <a:pt x="156175" y="125126"/>
                      <a:pt x="147869" y="129595"/>
                    </a:cubicBezTo>
                    <a:cubicBezTo>
                      <a:pt x="156175" y="104697"/>
                      <a:pt x="160648" y="79161"/>
                      <a:pt x="161926" y="52987"/>
                    </a:cubicBezTo>
                    <a:cubicBezTo>
                      <a:pt x="174706" y="49157"/>
                      <a:pt x="184930" y="49795"/>
                      <a:pt x="190681" y="56179"/>
                    </a:cubicBezTo>
                    <a:cubicBezTo>
                      <a:pt x="200905" y="67032"/>
                      <a:pt x="191959" y="93206"/>
                      <a:pt x="170872" y="112996"/>
                    </a:cubicBezTo>
                    <a:moveTo>
                      <a:pt x="103778" y="158323"/>
                    </a:moveTo>
                    <a:cubicBezTo>
                      <a:pt x="96749" y="158323"/>
                      <a:pt x="90359" y="155131"/>
                      <a:pt x="85886" y="150024"/>
                    </a:cubicBezTo>
                    <a:cubicBezTo>
                      <a:pt x="59048" y="121934"/>
                      <a:pt x="57770" y="37027"/>
                      <a:pt x="57770" y="13406"/>
                    </a:cubicBezTo>
                    <a:lnTo>
                      <a:pt x="149786" y="13406"/>
                    </a:lnTo>
                    <a:cubicBezTo>
                      <a:pt x="149786" y="37027"/>
                      <a:pt x="148508" y="121934"/>
                      <a:pt x="121670" y="150024"/>
                    </a:cubicBezTo>
                    <a:cubicBezTo>
                      <a:pt x="117836" y="155131"/>
                      <a:pt x="110807" y="157684"/>
                      <a:pt x="103778" y="158323"/>
                    </a:cubicBezTo>
                    <a:moveTo>
                      <a:pt x="90998" y="210033"/>
                    </a:moveTo>
                    <a:lnTo>
                      <a:pt x="103778" y="180667"/>
                    </a:lnTo>
                    <a:lnTo>
                      <a:pt x="116558" y="210033"/>
                    </a:lnTo>
                    <a:lnTo>
                      <a:pt x="90998" y="210033"/>
                    </a:lnTo>
                    <a:close/>
                    <a:moveTo>
                      <a:pt x="36684" y="112996"/>
                    </a:moveTo>
                    <a:cubicBezTo>
                      <a:pt x="15597" y="93206"/>
                      <a:pt x="6651" y="67032"/>
                      <a:pt x="17514" y="55541"/>
                    </a:cubicBezTo>
                    <a:cubicBezTo>
                      <a:pt x="23265" y="49795"/>
                      <a:pt x="33489" y="48518"/>
                      <a:pt x="46269" y="52349"/>
                    </a:cubicBezTo>
                    <a:cubicBezTo>
                      <a:pt x="47547" y="78523"/>
                      <a:pt x="52020" y="104697"/>
                      <a:pt x="60326" y="129595"/>
                    </a:cubicBezTo>
                    <a:cubicBezTo>
                      <a:pt x="52020" y="125126"/>
                      <a:pt x="43713" y="119380"/>
                      <a:pt x="36684" y="112996"/>
                    </a:cubicBezTo>
                    <a:moveTo>
                      <a:pt x="162565" y="39581"/>
                    </a:moveTo>
                    <a:cubicBezTo>
                      <a:pt x="163204" y="21067"/>
                      <a:pt x="162565" y="8299"/>
                      <a:pt x="162565" y="6384"/>
                    </a:cubicBezTo>
                    <a:cubicBezTo>
                      <a:pt x="162565" y="2554"/>
                      <a:pt x="160009" y="0"/>
                      <a:pt x="156175" y="0"/>
                    </a:cubicBezTo>
                    <a:lnTo>
                      <a:pt x="51381" y="0"/>
                    </a:lnTo>
                    <a:cubicBezTo>
                      <a:pt x="47547" y="0"/>
                      <a:pt x="44991" y="2554"/>
                      <a:pt x="44991" y="6384"/>
                    </a:cubicBezTo>
                    <a:cubicBezTo>
                      <a:pt x="44991" y="7661"/>
                      <a:pt x="44352" y="21067"/>
                      <a:pt x="44991" y="39581"/>
                    </a:cubicBezTo>
                    <a:cubicBezTo>
                      <a:pt x="29655" y="35750"/>
                      <a:pt x="16236" y="38304"/>
                      <a:pt x="7929" y="47241"/>
                    </a:cubicBezTo>
                    <a:cubicBezTo>
                      <a:pt x="-8046" y="64478"/>
                      <a:pt x="900" y="97675"/>
                      <a:pt x="27738" y="122572"/>
                    </a:cubicBezTo>
                    <a:cubicBezTo>
                      <a:pt x="39240" y="133425"/>
                      <a:pt x="53297" y="142363"/>
                      <a:pt x="67994" y="147470"/>
                    </a:cubicBezTo>
                    <a:cubicBezTo>
                      <a:pt x="70550" y="151300"/>
                      <a:pt x="73106" y="155131"/>
                      <a:pt x="76301" y="158323"/>
                    </a:cubicBezTo>
                    <a:cubicBezTo>
                      <a:pt x="81413" y="163430"/>
                      <a:pt x="87803" y="167260"/>
                      <a:pt x="94193" y="169176"/>
                    </a:cubicBezTo>
                    <a:lnTo>
                      <a:pt x="75023" y="213863"/>
                    </a:lnTo>
                    <a:cubicBezTo>
                      <a:pt x="73745" y="217055"/>
                      <a:pt x="75023" y="220886"/>
                      <a:pt x="78218" y="222163"/>
                    </a:cubicBezTo>
                    <a:cubicBezTo>
                      <a:pt x="78857" y="222801"/>
                      <a:pt x="80135" y="222801"/>
                      <a:pt x="80774" y="222801"/>
                    </a:cubicBezTo>
                    <a:lnTo>
                      <a:pt x="125504" y="222801"/>
                    </a:lnTo>
                    <a:cubicBezTo>
                      <a:pt x="127421" y="222801"/>
                      <a:pt x="129977" y="221524"/>
                      <a:pt x="130616" y="219609"/>
                    </a:cubicBezTo>
                    <a:cubicBezTo>
                      <a:pt x="131894" y="217694"/>
                      <a:pt x="131894" y="215140"/>
                      <a:pt x="131255" y="213225"/>
                    </a:cubicBezTo>
                    <a:lnTo>
                      <a:pt x="112085" y="168537"/>
                    </a:lnTo>
                    <a:cubicBezTo>
                      <a:pt x="119114" y="166622"/>
                      <a:pt x="125504" y="162792"/>
                      <a:pt x="129977" y="157684"/>
                    </a:cubicBezTo>
                    <a:cubicBezTo>
                      <a:pt x="133172" y="154492"/>
                      <a:pt x="136367" y="150662"/>
                      <a:pt x="138284" y="146193"/>
                    </a:cubicBezTo>
                    <a:cubicBezTo>
                      <a:pt x="152980" y="140448"/>
                      <a:pt x="167038" y="132148"/>
                      <a:pt x="178540" y="121934"/>
                    </a:cubicBezTo>
                    <a:cubicBezTo>
                      <a:pt x="205378" y="96398"/>
                      <a:pt x="214324" y="63201"/>
                      <a:pt x="198349" y="46603"/>
                    </a:cubicBezTo>
                    <a:cubicBezTo>
                      <a:pt x="190681" y="37665"/>
                      <a:pt x="177262" y="35112"/>
                      <a:pt x="162565" y="39581"/>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196" name="Group 195">
            <a:extLst>
              <a:ext uri="{FF2B5EF4-FFF2-40B4-BE49-F238E27FC236}">
                <a16:creationId xmlns:a16="http://schemas.microsoft.com/office/drawing/2014/main" id="{7166623D-1CC9-4496-B3A5-23E60D0E78C1}"/>
              </a:ext>
            </a:extLst>
          </p:cNvPr>
          <p:cNvGrpSpPr/>
          <p:nvPr/>
        </p:nvGrpSpPr>
        <p:grpSpPr>
          <a:xfrm>
            <a:off x="5410905" y="1438486"/>
            <a:ext cx="257544" cy="249382"/>
            <a:chOff x="3496837" y="2461236"/>
            <a:chExt cx="257544" cy="249382"/>
          </a:xfrm>
        </p:grpSpPr>
        <p:sp>
          <p:nvSpPr>
            <p:cNvPr id="197" name="Oval 196">
              <a:extLst>
                <a:ext uri="{FF2B5EF4-FFF2-40B4-BE49-F238E27FC236}">
                  <a16:creationId xmlns:a16="http://schemas.microsoft.com/office/drawing/2014/main" id="{40529C9D-9F16-4486-A527-A47361E02E1A}"/>
                </a:ext>
              </a:extLst>
            </p:cNvPr>
            <p:cNvSpPr>
              <a:spLocks noChangeArrowheads="1"/>
            </p:cNvSpPr>
            <p:nvPr/>
          </p:nvSpPr>
          <p:spPr bwMode="auto">
            <a:xfrm>
              <a:off x="3496837"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198" name="Graphic 4">
              <a:extLst>
                <a:ext uri="{FF2B5EF4-FFF2-40B4-BE49-F238E27FC236}">
                  <a16:creationId xmlns:a16="http://schemas.microsoft.com/office/drawing/2014/main" id="{B68829A4-7584-4318-82A5-B976BD4F9C9C}"/>
                </a:ext>
              </a:extLst>
            </p:cNvPr>
            <p:cNvGrpSpPr/>
            <p:nvPr/>
          </p:nvGrpSpPr>
          <p:grpSpPr>
            <a:xfrm>
              <a:off x="3496837" y="2461236"/>
              <a:ext cx="257544" cy="249382"/>
              <a:chOff x="3607758" y="1402723"/>
              <a:chExt cx="362309" cy="361971"/>
            </a:xfrm>
            <a:solidFill>
              <a:sysClr val="windowText" lastClr="000000"/>
            </a:solidFill>
          </p:grpSpPr>
          <p:sp>
            <p:nvSpPr>
              <p:cNvPr id="199" name="Graphic 4">
                <a:extLst>
                  <a:ext uri="{FF2B5EF4-FFF2-40B4-BE49-F238E27FC236}">
                    <a16:creationId xmlns:a16="http://schemas.microsoft.com/office/drawing/2014/main" id="{0BCAE6BD-C4EF-4E32-AC43-D1B39219E99D}"/>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0" name="Graphic 4">
                <a:extLst>
                  <a:ext uri="{FF2B5EF4-FFF2-40B4-BE49-F238E27FC236}">
                    <a16:creationId xmlns:a16="http://schemas.microsoft.com/office/drawing/2014/main" id="{1986E84A-54D6-4479-BFB0-9DED142DE812}"/>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1" name="Graphic 4">
                <a:extLst>
                  <a:ext uri="{FF2B5EF4-FFF2-40B4-BE49-F238E27FC236}">
                    <a16:creationId xmlns:a16="http://schemas.microsoft.com/office/drawing/2014/main" id="{85EE9A7C-D5A5-44D9-AA21-CDF410AAC57E}"/>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8" name="Graphic 4">
                <a:extLst>
                  <a:ext uri="{FF2B5EF4-FFF2-40B4-BE49-F238E27FC236}">
                    <a16:creationId xmlns:a16="http://schemas.microsoft.com/office/drawing/2014/main" id="{FD172C39-C556-455A-A6CF-749B156FFBCD}"/>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9" name="Graphic 4">
                <a:extLst>
                  <a:ext uri="{FF2B5EF4-FFF2-40B4-BE49-F238E27FC236}">
                    <a16:creationId xmlns:a16="http://schemas.microsoft.com/office/drawing/2014/main" id="{550CCB5C-D1EF-4601-82A8-3E0D6FB43BBB}"/>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0" name="Graphic 4">
                <a:extLst>
                  <a:ext uri="{FF2B5EF4-FFF2-40B4-BE49-F238E27FC236}">
                    <a16:creationId xmlns:a16="http://schemas.microsoft.com/office/drawing/2014/main" id="{637DE873-FD44-4580-A4E4-DE599170C5B6}"/>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1" name="Graphic 4">
                <a:extLst>
                  <a:ext uri="{FF2B5EF4-FFF2-40B4-BE49-F238E27FC236}">
                    <a16:creationId xmlns:a16="http://schemas.microsoft.com/office/drawing/2014/main" id="{5E444436-C539-44B3-B28B-22B0A8F83670}"/>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2" name="Graphic 4">
                <a:extLst>
                  <a:ext uri="{FF2B5EF4-FFF2-40B4-BE49-F238E27FC236}">
                    <a16:creationId xmlns:a16="http://schemas.microsoft.com/office/drawing/2014/main" id="{B951FC30-4AC8-40BD-A27F-7DACC5BEBFE3}"/>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14" name="Group 213">
            <a:extLst>
              <a:ext uri="{FF2B5EF4-FFF2-40B4-BE49-F238E27FC236}">
                <a16:creationId xmlns:a16="http://schemas.microsoft.com/office/drawing/2014/main" id="{F086D0CA-2357-4695-90F8-687DA77D9B23}"/>
              </a:ext>
            </a:extLst>
          </p:cNvPr>
          <p:cNvGrpSpPr/>
          <p:nvPr/>
        </p:nvGrpSpPr>
        <p:grpSpPr>
          <a:xfrm>
            <a:off x="4517074" y="1427835"/>
            <a:ext cx="257544" cy="249382"/>
            <a:chOff x="2951069" y="2461236"/>
            <a:chExt cx="257544" cy="249382"/>
          </a:xfrm>
        </p:grpSpPr>
        <p:sp>
          <p:nvSpPr>
            <p:cNvPr id="215" name="Oval 214">
              <a:extLst>
                <a:ext uri="{FF2B5EF4-FFF2-40B4-BE49-F238E27FC236}">
                  <a16:creationId xmlns:a16="http://schemas.microsoft.com/office/drawing/2014/main" id="{ACFB3260-E468-457C-B499-44060E14FD25}"/>
                </a:ext>
              </a:extLst>
            </p:cNvPr>
            <p:cNvSpPr>
              <a:spLocks noChangeArrowheads="1"/>
            </p:cNvSpPr>
            <p:nvPr/>
          </p:nvSpPr>
          <p:spPr bwMode="auto">
            <a:xfrm>
              <a:off x="2951069"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16" name="Graphic 4">
              <a:extLst>
                <a:ext uri="{FF2B5EF4-FFF2-40B4-BE49-F238E27FC236}">
                  <a16:creationId xmlns:a16="http://schemas.microsoft.com/office/drawing/2014/main" id="{6C89CE72-C481-4B3E-8980-A07EB20F96C3}"/>
                </a:ext>
              </a:extLst>
            </p:cNvPr>
            <p:cNvGrpSpPr/>
            <p:nvPr/>
          </p:nvGrpSpPr>
          <p:grpSpPr>
            <a:xfrm>
              <a:off x="2951069" y="2461236"/>
              <a:ext cx="257544" cy="249382"/>
              <a:chOff x="3607758" y="1402723"/>
              <a:chExt cx="362309" cy="361971"/>
            </a:xfrm>
            <a:solidFill>
              <a:sysClr val="windowText" lastClr="000000"/>
            </a:solidFill>
          </p:grpSpPr>
          <p:sp>
            <p:nvSpPr>
              <p:cNvPr id="217" name="Graphic 4">
                <a:extLst>
                  <a:ext uri="{FF2B5EF4-FFF2-40B4-BE49-F238E27FC236}">
                    <a16:creationId xmlns:a16="http://schemas.microsoft.com/office/drawing/2014/main" id="{D7FF9DD4-E08C-4E75-BED2-8174D9C7FEF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8" name="Graphic 4">
                <a:extLst>
                  <a:ext uri="{FF2B5EF4-FFF2-40B4-BE49-F238E27FC236}">
                    <a16:creationId xmlns:a16="http://schemas.microsoft.com/office/drawing/2014/main" id="{CAB287D4-6DD2-4D5A-859A-0280C04E3997}"/>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9" name="Graphic 4">
                <a:extLst>
                  <a:ext uri="{FF2B5EF4-FFF2-40B4-BE49-F238E27FC236}">
                    <a16:creationId xmlns:a16="http://schemas.microsoft.com/office/drawing/2014/main" id="{B54FC09C-313E-427C-BA8B-2306C6543F3A}"/>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0" name="Graphic 4">
                <a:extLst>
                  <a:ext uri="{FF2B5EF4-FFF2-40B4-BE49-F238E27FC236}">
                    <a16:creationId xmlns:a16="http://schemas.microsoft.com/office/drawing/2014/main" id="{239A8C2E-59F4-45F9-ADE1-C72B31580963}"/>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1" name="Graphic 4">
                <a:extLst>
                  <a:ext uri="{FF2B5EF4-FFF2-40B4-BE49-F238E27FC236}">
                    <a16:creationId xmlns:a16="http://schemas.microsoft.com/office/drawing/2014/main" id="{57C0E76F-442D-4995-9052-0D9248347365}"/>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2" name="Graphic 4">
                <a:extLst>
                  <a:ext uri="{FF2B5EF4-FFF2-40B4-BE49-F238E27FC236}">
                    <a16:creationId xmlns:a16="http://schemas.microsoft.com/office/drawing/2014/main" id="{FF9BC537-9D6F-48B4-A645-81CEFCE0D373}"/>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3" name="Graphic 4">
                <a:extLst>
                  <a:ext uri="{FF2B5EF4-FFF2-40B4-BE49-F238E27FC236}">
                    <a16:creationId xmlns:a16="http://schemas.microsoft.com/office/drawing/2014/main" id="{53C6E7D5-C333-49A3-BE7E-304375905E63}"/>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4" name="Graphic 4">
                <a:extLst>
                  <a:ext uri="{FF2B5EF4-FFF2-40B4-BE49-F238E27FC236}">
                    <a16:creationId xmlns:a16="http://schemas.microsoft.com/office/drawing/2014/main" id="{14ED724E-BF0B-4387-B4EE-6BFB5B5AC229}"/>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25" name="Group 224">
            <a:extLst>
              <a:ext uri="{FF2B5EF4-FFF2-40B4-BE49-F238E27FC236}">
                <a16:creationId xmlns:a16="http://schemas.microsoft.com/office/drawing/2014/main" id="{41AD7D47-9971-4DD9-A51B-D0805C31A0DD}"/>
              </a:ext>
            </a:extLst>
          </p:cNvPr>
          <p:cNvGrpSpPr/>
          <p:nvPr/>
        </p:nvGrpSpPr>
        <p:grpSpPr>
          <a:xfrm>
            <a:off x="6319202" y="1398389"/>
            <a:ext cx="257544" cy="249382"/>
            <a:chOff x="4042606" y="2461236"/>
            <a:chExt cx="257544" cy="249382"/>
          </a:xfrm>
        </p:grpSpPr>
        <p:sp>
          <p:nvSpPr>
            <p:cNvPr id="226" name="Oval 225">
              <a:extLst>
                <a:ext uri="{FF2B5EF4-FFF2-40B4-BE49-F238E27FC236}">
                  <a16:creationId xmlns:a16="http://schemas.microsoft.com/office/drawing/2014/main" id="{C7FAE797-46CA-42C9-967E-CFDBB2305B73}"/>
                </a:ext>
              </a:extLst>
            </p:cNvPr>
            <p:cNvSpPr>
              <a:spLocks noChangeArrowheads="1"/>
            </p:cNvSpPr>
            <p:nvPr/>
          </p:nvSpPr>
          <p:spPr bwMode="auto">
            <a:xfrm>
              <a:off x="4042606"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27" name="Graphic 4">
              <a:extLst>
                <a:ext uri="{FF2B5EF4-FFF2-40B4-BE49-F238E27FC236}">
                  <a16:creationId xmlns:a16="http://schemas.microsoft.com/office/drawing/2014/main" id="{4CFE5A31-4F23-421C-B2DD-931359503B19}"/>
                </a:ext>
              </a:extLst>
            </p:cNvPr>
            <p:cNvGrpSpPr/>
            <p:nvPr/>
          </p:nvGrpSpPr>
          <p:grpSpPr>
            <a:xfrm>
              <a:off x="4042606" y="2461236"/>
              <a:ext cx="257544" cy="249382"/>
              <a:chOff x="3607758" y="1402723"/>
              <a:chExt cx="362309" cy="361971"/>
            </a:xfrm>
            <a:solidFill>
              <a:sysClr val="windowText" lastClr="000000"/>
            </a:solidFill>
          </p:grpSpPr>
          <p:sp>
            <p:nvSpPr>
              <p:cNvPr id="228" name="Graphic 4">
                <a:extLst>
                  <a:ext uri="{FF2B5EF4-FFF2-40B4-BE49-F238E27FC236}">
                    <a16:creationId xmlns:a16="http://schemas.microsoft.com/office/drawing/2014/main" id="{134BEB87-63AE-4DAA-BD00-BA983D0ACCAE}"/>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9" name="Graphic 4">
                <a:extLst>
                  <a:ext uri="{FF2B5EF4-FFF2-40B4-BE49-F238E27FC236}">
                    <a16:creationId xmlns:a16="http://schemas.microsoft.com/office/drawing/2014/main" id="{2AF2F530-6D9E-4807-9B5C-ADA07851392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0" name="Graphic 4">
                <a:extLst>
                  <a:ext uri="{FF2B5EF4-FFF2-40B4-BE49-F238E27FC236}">
                    <a16:creationId xmlns:a16="http://schemas.microsoft.com/office/drawing/2014/main" id="{EB21BBD9-558B-4B37-B76D-6BDB8242CF25}"/>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1" name="Graphic 4">
                <a:extLst>
                  <a:ext uri="{FF2B5EF4-FFF2-40B4-BE49-F238E27FC236}">
                    <a16:creationId xmlns:a16="http://schemas.microsoft.com/office/drawing/2014/main" id="{BC65111F-4D2C-4350-A4D6-7AA3A1B3F956}"/>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2" name="Graphic 4">
                <a:extLst>
                  <a:ext uri="{FF2B5EF4-FFF2-40B4-BE49-F238E27FC236}">
                    <a16:creationId xmlns:a16="http://schemas.microsoft.com/office/drawing/2014/main" id="{7BC26E06-94BE-4C8D-B8E2-8E437707D324}"/>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3" name="Graphic 4">
                <a:extLst>
                  <a:ext uri="{FF2B5EF4-FFF2-40B4-BE49-F238E27FC236}">
                    <a16:creationId xmlns:a16="http://schemas.microsoft.com/office/drawing/2014/main" id="{B8B2EC7B-4CAD-4F44-982C-852D3C4748A7}"/>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4" name="Graphic 4">
                <a:extLst>
                  <a:ext uri="{FF2B5EF4-FFF2-40B4-BE49-F238E27FC236}">
                    <a16:creationId xmlns:a16="http://schemas.microsoft.com/office/drawing/2014/main" id="{7E4304AB-0E5A-41A7-8641-2E651ACCCD45}"/>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5" name="Graphic 4">
                <a:extLst>
                  <a:ext uri="{FF2B5EF4-FFF2-40B4-BE49-F238E27FC236}">
                    <a16:creationId xmlns:a16="http://schemas.microsoft.com/office/drawing/2014/main" id="{4282B1F3-232A-41D0-9709-FF6A42040530}"/>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cxnSp>
        <p:nvCxnSpPr>
          <p:cNvPr id="237" name="Straight Connector 236">
            <a:extLst>
              <a:ext uri="{FF2B5EF4-FFF2-40B4-BE49-F238E27FC236}">
                <a16:creationId xmlns:a16="http://schemas.microsoft.com/office/drawing/2014/main" id="{B399F22F-FE88-4504-A4FD-E1CD9AFF3E5C}"/>
              </a:ext>
            </a:extLst>
          </p:cNvPr>
          <p:cNvCxnSpPr>
            <a:cxnSpLocks/>
          </p:cNvCxnSpPr>
          <p:nvPr/>
        </p:nvCxnSpPr>
        <p:spPr>
          <a:xfrm>
            <a:off x="7288588" y="1647807"/>
            <a:ext cx="1128846" cy="0"/>
          </a:xfrm>
          <a:prstGeom prst="line">
            <a:avLst/>
          </a:prstGeom>
          <a:noFill/>
          <a:ln w="57150" cap="flat" cmpd="sng" algn="ctr">
            <a:solidFill>
              <a:schemeClr val="tx1">
                <a:lumMod val="65000"/>
                <a:lumOff val="35000"/>
              </a:schemeClr>
            </a:solidFill>
            <a:prstDash val="solid"/>
          </a:ln>
          <a:effectLst/>
        </p:spPr>
      </p:cxnSp>
      <p:cxnSp>
        <p:nvCxnSpPr>
          <p:cNvPr id="238" name="Straight Connector 237">
            <a:extLst>
              <a:ext uri="{FF2B5EF4-FFF2-40B4-BE49-F238E27FC236}">
                <a16:creationId xmlns:a16="http://schemas.microsoft.com/office/drawing/2014/main" id="{53D7D0C7-FCD0-4C62-9E71-7E59D01B8444}"/>
              </a:ext>
            </a:extLst>
          </p:cNvPr>
          <p:cNvCxnSpPr>
            <a:cxnSpLocks/>
          </p:cNvCxnSpPr>
          <p:nvPr/>
        </p:nvCxnSpPr>
        <p:spPr>
          <a:xfrm>
            <a:off x="8619716" y="1958913"/>
            <a:ext cx="947691" cy="0"/>
          </a:xfrm>
          <a:prstGeom prst="line">
            <a:avLst/>
          </a:prstGeom>
          <a:noFill/>
          <a:ln w="57150" cap="flat" cmpd="sng" algn="ctr">
            <a:solidFill>
              <a:schemeClr val="tx1">
                <a:lumMod val="65000"/>
                <a:lumOff val="35000"/>
              </a:schemeClr>
            </a:solidFill>
            <a:prstDash val="solid"/>
          </a:ln>
          <a:effectLst/>
        </p:spPr>
      </p:cxnSp>
      <p:sp>
        <p:nvSpPr>
          <p:cNvPr id="239" name="TextBox 238">
            <a:extLst>
              <a:ext uri="{FF2B5EF4-FFF2-40B4-BE49-F238E27FC236}">
                <a16:creationId xmlns:a16="http://schemas.microsoft.com/office/drawing/2014/main" id="{5AAAAEEE-A02C-4192-848D-4EF0567E5105}"/>
              </a:ext>
            </a:extLst>
          </p:cNvPr>
          <p:cNvSpPr txBox="1"/>
          <p:nvPr/>
        </p:nvSpPr>
        <p:spPr>
          <a:xfrm>
            <a:off x="4864800" y="1669691"/>
            <a:ext cx="1557296"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Sprints (4 -5 weeks each)</a:t>
            </a:r>
          </a:p>
        </p:txBody>
      </p:sp>
      <p:cxnSp>
        <p:nvCxnSpPr>
          <p:cNvPr id="240" name="Straight Connector 239">
            <a:extLst>
              <a:ext uri="{FF2B5EF4-FFF2-40B4-BE49-F238E27FC236}">
                <a16:creationId xmlns:a16="http://schemas.microsoft.com/office/drawing/2014/main" id="{32B284CB-1CB7-47A4-BC5E-776E8915DED2}"/>
              </a:ext>
            </a:extLst>
          </p:cNvPr>
          <p:cNvCxnSpPr>
            <a:cxnSpLocks/>
          </p:cNvCxnSpPr>
          <p:nvPr/>
        </p:nvCxnSpPr>
        <p:spPr>
          <a:xfrm>
            <a:off x="6825756" y="2041270"/>
            <a:ext cx="418539" cy="0"/>
          </a:xfrm>
          <a:prstGeom prst="line">
            <a:avLst/>
          </a:prstGeom>
          <a:noFill/>
          <a:ln w="57150" cap="flat" cmpd="sng" algn="ctr">
            <a:solidFill>
              <a:schemeClr val="tx1">
                <a:lumMod val="65000"/>
                <a:lumOff val="35000"/>
              </a:schemeClr>
            </a:solidFill>
            <a:prstDash val="solid"/>
          </a:ln>
          <a:effectLst/>
        </p:spPr>
      </p:cxnSp>
      <p:cxnSp>
        <p:nvCxnSpPr>
          <p:cNvPr id="241" name="Straight Connector 240">
            <a:extLst>
              <a:ext uri="{FF2B5EF4-FFF2-40B4-BE49-F238E27FC236}">
                <a16:creationId xmlns:a16="http://schemas.microsoft.com/office/drawing/2014/main" id="{71BE5725-4416-4890-A8A4-B0B15DADA3DE}"/>
              </a:ext>
            </a:extLst>
          </p:cNvPr>
          <p:cNvCxnSpPr>
            <a:cxnSpLocks/>
          </p:cNvCxnSpPr>
          <p:nvPr/>
        </p:nvCxnSpPr>
        <p:spPr>
          <a:xfrm>
            <a:off x="5915169" y="2040254"/>
            <a:ext cx="418539" cy="0"/>
          </a:xfrm>
          <a:prstGeom prst="line">
            <a:avLst/>
          </a:prstGeom>
          <a:noFill/>
          <a:ln w="57150" cap="flat" cmpd="sng" algn="ctr">
            <a:solidFill>
              <a:schemeClr val="tx1">
                <a:lumMod val="65000"/>
                <a:lumOff val="35000"/>
              </a:schemeClr>
            </a:solidFill>
            <a:prstDash val="solid"/>
          </a:ln>
          <a:effectLst/>
        </p:spPr>
      </p:cxnSp>
      <p:cxnSp>
        <p:nvCxnSpPr>
          <p:cNvPr id="242" name="Straight Connector 241">
            <a:extLst>
              <a:ext uri="{FF2B5EF4-FFF2-40B4-BE49-F238E27FC236}">
                <a16:creationId xmlns:a16="http://schemas.microsoft.com/office/drawing/2014/main" id="{8545BBE6-E8A7-404F-B57F-DD754BF95D0E}"/>
              </a:ext>
            </a:extLst>
          </p:cNvPr>
          <p:cNvCxnSpPr>
            <a:cxnSpLocks/>
          </p:cNvCxnSpPr>
          <p:nvPr/>
        </p:nvCxnSpPr>
        <p:spPr>
          <a:xfrm>
            <a:off x="4992366" y="2045059"/>
            <a:ext cx="418539" cy="0"/>
          </a:xfrm>
          <a:prstGeom prst="line">
            <a:avLst/>
          </a:prstGeom>
          <a:noFill/>
          <a:ln w="57150" cap="flat" cmpd="sng" algn="ctr">
            <a:solidFill>
              <a:schemeClr val="tx1">
                <a:lumMod val="65000"/>
                <a:lumOff val="35000"/>
              </a:schemeClr>
            </a:solidFill>
            <a:prstDash val="solid"/>
          </a:ln>
          <a:effectLst/>
        </p:spPr>
      </p:cxnSp>
      <p:cxnSp>
        <p:nvCxnSpPr>
          <p:cNvPr id="243" name="Straight Connector 242">
            <a:extLst>
              <a:ext uri="{FF2B5EF4-FFF2-40B4-BE49-F238E27FC236}">
                <a16:creationId xmlns:a16="http://schemas.microsoft.com/office/drawing/2014/main" id="{97ED6F0A-9D7F-4348-ACDD-3B525BE80766}"/>
              </a:ext>
            </a:extLst>
          </p:cNvPr>
          <p:cNvCxnSpPr>
            <a:cxnSpLocks/>
          </p:cNvCxnSpPr>
          <p:nvPr/>
        </p:nvCxnSpPr>
        <p:spPr>
          <a:xfrm>
            <a:off x="8171200" y="2039673"/>
            <a:ext cx="418539" cy="0"/>
          </a:xfrm>
          <a:prstGeom prst="line">
            <a:avLst/>
          </a:prstGeom>
          <a:noFill/>
          <a:ln w="57150" cap="flat" cmpd="sng" algn="ctr">
            <a:solidFill>
              <a:schemeClr val="tx1">
                <a:lumMod val="65000"/>
                <a:lumOff val="35000"/>
              </a:schemeClr>
            </a:solidFill>
            <a:prstDash val="solid"/>
          </a:ln>
          <a:effectLst/>
        </p:spPr>
      </p:cxnSp>
      <p:sp>
        <p:nvSpPr>
          <p:cNvPr id="244" name="TextBox 243">
            <a:extLst>
              <a:ext uri="{FF2B5EF4-FFF2-40B4-BE49-F238E27FC236}">
                <a16:creationId xmlns:a16="http://schemas.microsoft.com/office/drawing/2014/main" id="{9823386C-71A8-408D-B27B-C9307B524AE0}"/>
              </a:ext>
            </a:extLst>
          </p:cNvPr>
          <p:cNvSpPr txBox="1"/>
          <p:nvPr/>
        </p:nvSpPr>
        <p:spPr>
          <a:xfrm>
            <a:off x="4893432" y="2072644"/>
            <a:ext cx="627032"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0</a:t>
            </a:r>
          </a:p>
        </p:txBody>
      </p:sp>
      <p:sp>
        <p:nvSpPr>
          <p:cNvPr id="245" name="TextBox 244">
            <a:extLst>
              <a:ext uri="{FF2B5EF4-FFF2-40B4-BE49-F238E27FC236}">
                <a16:creationId xmlns:a16="http://schemas.microsoft.com/office/drawing/2014/main" id="{0B253449-B63B-46D0-8824-AAD7360BE7FE}"/>
              </a:ext>
            </a:extLst>
          </p:cNvPr>
          <p:cNvSpPr txBox="1"/>
          <p:nvPr/>
        </p:nvSpPr>
        <p:spPr>
          <a:xfrm>
            <a:off x="5858376" y="2071862"/>
            <a:ext cx="627032"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1</a:t>
            </a:r>
          </a:p>
        </p:txBody>
      </p:sp>
      <p:grpSp>
        <p:nvGrpSpPr>
          <p:cNvPr id="249" name="Group 248">
            <a:extLst>
              <a:ext uri="{FF2B5EF4-FFF2-40B4-BE49-F238E27FC236}">
                <a16:creationId xmlns:a16="http://schemas.microsoft.com/office/drawing/2014/main" id="{3D251FFA-8E71-4F5B-82D5-41DE0A684330}"/>
              </a:ext>
            </a:extLst>
          </p:cNvPr>
          <p:cNvGrpSpPr/>
          <p:nvPr/>
        </p:nvGrpSpPr>
        <p:grpSpPr>
          <a:xfrm>
            <a:off x="5273552" y="1195126"/>
            <a:ext cx="257544" cy="249382"/>
            <a:chOff x="2924893" y="2103407"/>
            <a:chExt cx="257544" cy="249382"/>
          </a:xfrm>
        </p:grpSpPr>
        <p:sp>
          <p:nvSpPr>
            <p:cNvPr id="250" name="Oval 249">
              <a:extLst>
                <a:ext uri="{FF2B5EF4-FFF2-40B4-BE49-F238E27FC236}">
                  <a16:creationId xmlns:a16="http://schemas.microsoft.com/office/drawing/2014/main" id="{88164C49-F757-4070-B660-48DC5BC11540}"/>
                </a:ext>
              </a:extLst>
            </p:cNvPr>
            <p:cNvSpPr>
              <a:spLocks noChangeArrowheads="1"/>
            </p:cNvSpPr>
            <p:nvPr/>
          </p:nvSpPr>
          <p:spPr bwMode="auto">
            <a:xfrm>
              <a:off x="2924893"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51" name="Graphic 4">
              <a:extLst>
                <a:ext uri="{FF2B5EF4-FFF2-40B4-BE49-F238E27FC236}">
                  <a16:creationId xmlns:a16="http://schemas.microsoft.com/office/drawing/2014/main" id="{81233C59-795C-4726-BB09-E26E36217928}"/>
                </a:ext>
              </a:extLst>
            </p:cNvPr>
            <p:cNvGrpSpPr/>
            <p:nvPr/>
          </p:nvGrpSpPr>
          <p:grpSpPr>
            <a:xfrm>
              <a:off x="2924893" y="2103407"/>
              <a:ext cx="257544" cy="249382"/>
              <a:chOff x="3607758" y="1402723"/>
              <a:chExt cx="362309" cy="361971"/>
            </a:xfrm>
            <a:solidFill>
              <a:sysClr val="windowText" lastClr="000000"/>
            </a:solidFill>
          </p:grpSpPr>
          <p:sp>
            <p:nvSpPr>
              <p:cNvPr id="252" name="Graphic 4">
                <a:extLst>
                  <a:ext uri="{FF2B5EF4-FFF2-40B4-BE49-F238E27FC236}">
                    <a16:creationId xmlns:a16="http://schemas.microsoft.com/office/drawing/2014/main" id="{ABDD3747-7786-4204-97E2-BEF5F0D3540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3" name="Graphic 4">
                <a:extLst>
                  <a:ext uri="{FF2B5EF4-FFF2-40B4-BE49-F238E27FC236}">
                    <a16:creationId xmlns:a16="http://schemas.microsoft.com/office/drawing/2014/main" id="{4E1A988B-BD1F-4EB8-9CD8-8ABAE5D9C63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4" name="Graphic 4">
                <a:extLst>
                  <a:ext uri="{FF2B5EF4-FFF2-40B4-BE49-F238E27FC236}">
                    <a16:creationId xmlns:a16="http://schemas.microsoft.com/office/drawing/2014/main" id="{1CBFD0A1-3354-4495-A3F1-482547CEFCB4}"/>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5" name="Graphic 4">
                <a:extLst>
                  <a:ext uri="{FF2B5EF4-FFF2-40B4-BE49-F238E27FC236}">
                    <a16:creationId xmlns:a16="http://schemas.microsoft.com/office/drawing/2014/main" id="{5497B95A-562C-4859-AF60-E8E580722535}"/>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6" name="Graphic 4">
                <a:extLst>
                  <a:ext uri="{FF2B5EF4-FFF2-40B4-BE49-F238E27FC236}">
                    <a16:creationId xmlns:a16="http://schemas.microsoft.com/office/drawing/2014/main" id="{7D8F7D9E-1C7B-4CFC-A03B-F2F0CD423851}"/>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7" name="Graphic 4">
                <a:extLst>
                  <a:ext uri="{FF2B5EF4-FFF2-40B4-BE49-F238E27FC236}">
                    <a16:creationId xmlns:a16="http://schemas.microsoft.com/office/drawing/2014/main" id="{BE25D016-78F0-4E6A-9EBC-F6EE099659D9}"/>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8" name="Graphic 4">
                <a:extLst>
                  <a:ext uri="{FF2B5EF4-FFF2-40B4-BE49-F238E27FC236}">
                    <a16:creationId xmlns:a16="http://schemas.microsoft.com/office/drawing/2014/main" id="{A06211A0-D423-4C71-BEA6-676E8866EC7F}"/>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9" name="Graphic 4">
                <a:extLst>
                  <a:ext uri="{FF2B5EF4-FFF2-40B4-BE49-F238E27FC236}">
                    <a16:creationId xmlns:a16="http://schemas.microsoft.com/office/drawing/2014/main" id="{ED4AE579-168B-41CE-9618-D2DACCFF0BE7}"/>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60" name="Group 259">
            <a:extLst>
              <a:ext uri="{FF2B5EF4-FFF2-40B4-BE49-F238E27FC236}">
                <a16:creationId xmlns:a16="http://schemas.microsoft.com/office/drawing/2014/main" id="{4D8CA785-6047-475E-A10F-6B5BF4BCD280}"/>
              </a:ext>
            </a:extLst>
          </p:cNvPr>
          <p:cNvGrpSpPr/>
          <p:nvPr/>
        </p:nvGrpSpPr>
        <p:grpSpPr>
          <a:xfrm>
            <a:off x="4280211" y="1195126"/>
            <a:ext cx="257544" cy="249382"/>
            <a:chOff x="2427175" y="2103407"/>
            <a:chExt cx="257544" cy="249382"/>
          </a:xfrm>
        </p:grpSpPr>
        <p:sp>
          <p:nvSpPr>
            <p:cNvPr id="261" name="Oval 260">
              <a:extLst>
                <a:ext uri="{FF2B5EF4-FFF2-40B4-BE49-F238E27FC236}">
                  <a16:creationId xmlns:a16="http://schemas.microsoft.com/office/drawing/2014/main" id="{2B3B73FB-9F89-4FB0-8A67-FF463803C332}"/>
                </a:ext>
              </a:extLst>
            </p:cNvPr>
            <p:cNvSpPr>
              <a:spLocks noChangeArrowheads="1"/>
            </p:cNvSpPr>
            <p:nvPr/>
          </p:nvSpPr>
          <p:spPr bwMode="auto">
            <a:xfrm>
              <a:off x="2427175"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62" name="Graphic 4">
              <a:extLst>
                <a:ext uri="{FF2B5EF4-FFF2-40B4-BE49-F238E27FC236}">
                  <a16:creationId xmlns:a16="http://schemas.microsoft.com/office/drawing/2014/main" id="{E7E2A2F3-217D-4EC9-B2F4-E3F55F721CAA}"/>
                </a:ext>
              </a:extLst>
            </p:cNvPr>
            <p:cNvGrpSpPr/>
            <p:nvPr/>
          </p:nvGrpSpPr>
          <p:grpSpPr>
            <a:xfrm>
              <a:off x="2427175" y="2103407"/>
              <a:ext cx="257544" cy="249382"/>
              <a:chOff x="3607758" y="1402723"/>
              <a:chExt cx="362309" cy="361971"/>
            </a:xfrm>
            <a:solidFill>
              <a:sysClr val="windowText" lastClr="000000"/>
            </a:solidFill>
          </p:grpSpPr>
          <p:sp>
            <p:nvSpPr>
              <p:cNvPr id="263" name="Graphic 4">
                <a:extLst>
                  <a:ext uri="{FF2B5EF4-FFF2-40B4-BE49-F238E27FC236}">
                    <a16:creationId xmlns:a16="http://schemas.microsoft.com/office/drawing/2014/main" id="{041E6012-91A5-45A2-97FA-7E2693AA816A}"/>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4" name="Graphic 4">
                <a:extLst>
                  <a:ext uri="{FF2B5EF4-FFF2-40B4-BE49-F238E27FC236}">
                    <a16:creationId xmlns:a16="http://schemas.microsoft.com/office/drawing/2014/main" id="{56B3BCEC-3635-4B6D-818F-528A93E071F1}"/>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5" name="Graphic 4">
                <a:extLst>
                  <a:ext uri="{FF2B5EF4-FFF2-40B4-BE49-F238E27FC236}">
                    <a16:creationId xmlns:a16="http://schemas.microsoft.com/office/drawing/2014/main" id="{B88C6CBE-3E8F-4FFF-8B47-01E2F44BAD5B}"/>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6" name="Graphic 4">
                <a:extLst>
                  <a:ext uri="{FF2B5EF4-FFF2-40B4-BE49-F238E27FC236}">
                    <a16:creationId xmlns:a16="http://schemas.microsoft.com/office/drawing/2014/main" id="{85CAF14B-A29D-43B6-A8DF-594DFFF48377}"/>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7" name="Graphic 4">
                <a:extLst>
                  <a:ext uri="{FF2B5EF4-FFF2-40B4-BE49-F238E27FC236}">
                    <a16:creationId xmlns:a16="http://schemas.microsoft.com/office/drawing/2014/main" id="{65198C28-004A-4F2F-B670-2AF117CC7805}"/>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8" name="Graphic 4">
                <a:extLst>
                  <a:ext uri="{FF2B5EF4-FFF2-40B4-BE49-F238E27FC236}">
                    <a16:creationId xmlns:a16="http://schemas.microsoft.com/office/drawing/2014/main" id="{28ED8BDF-0A35-4B8D-8E79-1566F81E8D28}"/>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9" name="Graphic 4">
                <a:extLst>
                  <a:ext uri="{FF2B5EF4-FFF2-40B4-BE49-F238E27FC236}">
                    <a16:creationId xmlns:a16="http://schemas.microsoft.com/office/drawing/2014/main" id="{2FF99046-6A19-46A8-B2A5-78717ACA9DF9}"/>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0" name="Graphic 4">
                <a:extLst>
                  <a:ext uri="{FF2B5EF4-FFF2-40B4-BE49-F238E27FC236}">
                    <a16:creationId xmlns:a16="http://schemas.microsoft.com/office/drawing/2014/main" id="{F0B6BBFF-401E-4B8F-96C3-7C63AB980DED}"/>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71" name="Group 270">
            <a:extLst>
              <a:ext uri="{FF2B5EF4-FFF2-40B4-BE49-F238E27FC236}">
                <a16:creationId xmlns:a16="http://schemas.microsoft.com/office/drawing/2014/main" id="{FDBB402E-BEF6-4769-8BE5-60EE6EE70128}"/>
              </a:ext>
            </a:extLst>
          </p:cNvPr>
          <p:cNvGrpSpPr/>
          <p:nvPr/>
        </p:nvGrpSpPr>
        <p:grpSpPr>
          <a:xfrm>
            <a:off x="3510838" y="1195126"/>
            <a:ext cx="257544" cy="249382"/>
            <a:chOff x="1929456" y="2103407"/>
            <a:chExt cx="257544" cy="249382"/>
          </a:xfrm>
        </p:grpSpPr>
        <p:sp>
          <p:nvSpPr>
            <p:cNvPr id="272" name="Oval 271">
              <a:extLst>
                <a:ext uri="{FF2B5EF4-FFF2-40B4-BE49-F238E27FC236}">
                  <a16:creationId xmlns:a16="http://schemas.microsoft.com/office/drawing/2014/main" id="{2F9F7283-FD8A-48D3-9BBD-C4461F7585FD}"/>
                </a:ext>
              </a:extLst>
            </p:cNvPr>
            <p:cNvSpPr>
              <a:spLocks noChangeArrowheads="1"/>
            </p:cNvSpPr>
            <p:nvPr/>
          </p:nvSpPr>
          <p:spPr bwMode="auto">
            <a:xfrm>
              <a:off x="1929456"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73" name="Graphic 4">
              <a:extLst>
                <a:ext uri="{FF2B5EF4-FFF2-40B4-BE49-F238E27FC236}">
                  <a16:creationId xmlns:a16="http://schemas.microsoft.com/office/drawing/2014/main" id="{2F4140E3-7D5C-4EC5-9152-7C9F68DD8DFB}"/>
                </a:ext>
              </a:extLst>
            </p:cNvPr>
            <p:cNvGrpSpPr/>
            <p:nvPr/>
          </p:nvGrpSpPr>
          <p:grpSpPr>
            <a:xfrm>
              <a:off x="1929456" y="2103407"/>
              <a:ext cx="257544" cy="249382"/>
              <a:chOff x="3607758" y="1402723"/>
              <a:chExt cx="362309" cy="361971"/>
            </a:xfrm>
            <a:solidFill>
              <a:sysClr val="windowText" lastClr="000000"/>
            </a:solidFill>
          </p:grpSpPr>
          <p:sp>
            <p:nvSpPr>
              <p:cNvPr id="274" name="Graphic 4">
                <a:extLst>
                  <a:ext uri="{FF2B5EF4-FFF2-40B4-BE49-F238E27FC236}">
                    <a16:creationId xmlns:a16="http://schemas.microsoft.com/office/drawing/2014/main" id="{836E64AA-9304-446E-9A6A-23825B7CFC0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5" name="Graphic 4">
                <a:extLst>
                  <a:ext uri="{FF2B5EF4-FFF2-40B4-BE49-F238E27FC236}">
                    <a16:creationId xmlns:a16="http://schemas.microsoft.com/office/drawing/2014/main" id="{1D4D3D17-A7E0-4116-BE3D-98C60ACF09C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6" name="Graphic 4">
                <a:extLst>
                  <a:ext uri="{FF2B5EF4-FFF2-40B4-BE49-F238E27FC236}">
                    <a16:creationId xmlns:a16="http://schemas.microsoft.com/office/drawing/2014/main" id="{F765CA33-7B9F-415D-A16E-9B82DBAAFFED}"/>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7" name="Graphic 4">
                <a:extLst>
                  <a:ext uri="{FF2B5EF4-FFF2-40B4-BE49-F238E27FC236}">
                    <a16:creationId xmlns:a16="http://schemas.microsoft.com/office/drawing/2014/main" id="{8A1BDE4A-2672-42A3-BDB0-87B60739393B}"/>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8" name="Graphic 4">
                <a:extLst>
                  <a:ext uri="{FF2B5EF4-FFF2-40B4-BE49-F238E27FC236}">
                    <a16:creationId xmlns:a16="http://schemas.microsoft.com/office/drawing/2014/main" id="{4583596E-E858-485A-8289-6E2E6F2F9388}"/>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9" name="Graphic 4">
                <a:extLst>
                  <a:ext uri="{FF2B5EF4-FFF2-40B4-BE49-F238E27FC236}">
                    <a16:creationId xmlns:a16="http://schemas.microsoft.com/office/drawing/2014/main" id="{0BD1A25B-76A0-46A8-9AB2-8E0CBC6CF541}"/>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80" name="Graphic 4">
                <a:extLst>
                  <a:ext uri="{FF2B5EF4-FFF2-40B4-BE49-F238E27FC236}">
                    <a16:creationId xmlns:a16="http://schemas.microsoft.com/office/drawing/2014/main" id="{743AE297-64AD-4F87-B0CF-91DE5E55F4B2}"/>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81" name="Graphic 4">
                <a:extLst>
                  <a:ext uri="{FF2B5EF4-FFF2-40B4-BE49-F238E27FC236}">
                    <a16:creationId xmlns:a16="http://schemas.microsoft.com/office/drawing/2014/main" id="{AA25D741-BD13-41E0-B178-4C0DA1A8C303}"/>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sp>
        <p:nvSpPr>
          <p:cNvPr id="283" name="TextBox 282">
            <a:extLst>
              <a:ext uri="{FF2B5EF4-FFF2-40B4-BE49-F238E27FC236}">
                <a16:creationId xmlns:a16="http://schemas.microsoft.com/office/drawing/2014/main" id="{E4C758B7-2FD0-410A-9668-18B00B403CBB}"/>
              </a:ext>
            </a:extLst>
          </p:cNvPr>
          <p:cNvSpPr txBox="1"/>
          <p:nvPr/>
        </p:nvSpPr>
        <p:spPr>
          <a:xfrm>
            <a:off x="10858178" y="1993443"/>
            <a:ext cx="873843"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MVP1 Go-Live </a:t>
            </a:r>
          </a:p>
        </p:txBody>
      </p:sp>
      <p:sp>
        <p:nvSpPr>
          <p:cNvPr id="284" name="TextBox 283">
            <a:extLst>
              <a:ext uri="{FF2B5EF4-FFF2-40B4-BE49-F238E27FC236}">
                <a16:creationId xmlns:a16="http://schemas.microsoft.com/office/drawing/2014/main" id="{644E71CA-74C7-47BE-9795-F86A306EB953}"/>
              </a:ext>
            </a:extLst>
          </p:cNvPr>
          <p:cNvSpPr txBox="1"/>
          <p:nvPr/>
        </p:nvSpPr>
        <p:spPr>
          <a:xfrm>
            <a:off x="9913028" y="2068224"/>
            <a:ext cx="679092" cy="200055"/>
          </a:xfrm>
          <a:prstGeom prst="rect">
            <a:avLst/>
          </a:prstGeom>
          <a:noFill/>
        </p:spPr>
        <p:txBody>
          <a:bodyPr wrap="square">
            <a:spAutoFit/>
          </a:bodyPr>
          <a:lstStyle/>
          <a:p>
            <a:pPr marL="0" marR="0" lvl="0" indent="0" algn="ctr" defTabSz="914400" rtl="0" eaLnBrk="1" fontAlgn="auto" latinLnBrk="0" hangingPunct="1">
              <a:lnSpc>
                <a:spcPct val="100000"/>
              </a:lnSpc>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Cutover</a:t>
            </a:r>
          </a:p>
        </p:txBody>
      </p:sp>
      <p:cxnSp>
        <p:nvCxnSpPr>
          <p:cNvPr id="286" name="Straight Connector 285">
            <a:extLst>
              <a:ext uri="{FF2B5EF4-FFF2-40B4-BE49-F238E27FC236}">
                <a16:creationId xmlns:a16="http://schemas.microsoft.com/office/drawing/2014/main" id="{51118A5B-6882-47A8-AB98-BB7FDD0976AF}"/>
              </a:ext>
            </a:extLst>
          </p:cNvPr>
          <p:cNvCxnSpPr>
            <a:cxnSpLocks/>
          </p:cNvCxnSpPr>
          <p:nvPr/>
        </p:nvCxnSpPr>
        <p:spPr>
          <a:xfrm>
            <a:off x="9980258" y="2039615"/>
            <a:ext cx="566762" cy="0"/>
          </a:xfrm>
          <a:prstGeom prst="line">
            <a:avLst/>
          </a:prstGeom>
          <a:noFill/>
          <a:ln w="57150" cap="flat" cmpd="sng" algn="ctr">
            <a:solidFill>
              <a:schemeClr val="tx1">
                <a:lumMod val="65000"/>
                <a:lumOff val="35000"/>
              </a:schemeClr>
            </a:solidFill>
            <a:prstDash val="solid"/>
          </a:ln>
          <a:effectLst/>
        </p:spPr>
      </p:cxnSp>
      <p:cxnSp>
        <p:nvCxnSpPr>
          <p:cNvPr id="290" name="Straight Connector 289">
            <a:extLst>
              <a:ext uri="{FF2B5EF4-FFF2-40B4-BE49-F238E27FC236}">
                <a16:creationId xmlns:a16="http://schemas.microsoft.com/office/drawing/2014/main" id="{EDEF4A9D-F9A3-4448-AFDF-DDEF8BBED75E}"/>
              </a:ext>
            </a:extLst>
          </p:cNvPr>
          <p:cNvCxnSpPr>
            <a:cxnSpLocks/>
          </p:cNvCxnSpPr>
          <p:nvPr/>
        </p:nvCxnSpPr>
        <p:spPr>
          <a:xfrm>
            <a:off x="2832322" y="2377695"/>
            <a:ext cx="8659405" cy="5990"/>
          </a:xfrm>
          <a:prstGeom prst="line">
            <a:avLst/>
          </a:prstGeom>
          <a:ln w="28575">
            <a:solidFill>
              <a:schemeClr val="bg1">
                <a:lumMod val="50000"/>
              </a:schemeClr>
            </a:solidFill>
            <a:prstDash val="solid"/>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3" name="Diamond 292">
            <a:extLst>
              <a:ext uri="{FF2B5EF4-FFF2-40B4-BE49-F238E27FC236}">
                <a16:creationId xmlns:a16="http://schemas.microsoft.com/office/drawing/2014/main" id="{624412BF-17C1-4E9E-B2A7-ACC838DD302F}"/>
              </a:ext>
            </a:extLst>
          </p:cNvPr>
          <p:cNvSpPr/>
          <p:nvPr/>
        </p:nvSpPr>
        <p:spPr bwMode="gray">
          <a:xfrm>
            <a:off x="10113608" y="2292911"/>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98" name="Diamond 297">
            <a:extLst>
              <a:ext uri="{FF2B5EF4-FFF2-40B4-BE49-F238E27FC236}">
                <a16:creationId xmlns:a16="http://schemas.microsoft.com/office/drawing/2014/main" id="{935EA0B6-E300-4014-BDA2-63B9A95721E4}"/>
              </a:ext>
            </a:extLst>
          </p:cNvPr>
          <p:cNvSpPr/>
          <p:nvPr/>
        </p:nvSpPr>
        <p:spPr bwMode="gray">
          <a:xfrm>
            <a:off x="9898264" y="2292911"/>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99" name="Diamond 298">
            <a:extLst>
              <a:ext uri="{FF2B5EF4-FFF2-40B4-BE49-F238E27FC236}">
                <a16:creationId xmlns:a16="http://schemas.microsoft.com/office/drawing/2014/main" id="{889235A3-ACF7-4D45-9F96-A45C6A533C20}"/>
              </a:ext>
            </a:extLst>
          </p:cNvPr>
          <p:cNvSpPr/>
          <p:nvPr/>
        </p:nvSpPr>
        <p:spPr bwMode="gray">
          <a:xfrm>
            <a:off x="10966809" y="228541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0" name="Diamond 299">
            <a:extLst>
              <a:ext uri="{FF2B5EF4-FFF2-40B4-BE49-F238E27FC236}">
                <a16:creationId xmlns:a16="http://schemas.microsoft.com/office/drawing/2014/main" id="{2D316F46-A33C-4C10-896D-750A07FE5C73}"/>
              </a:ext>
            </a:extLst>
          </p:cNvPr>
          <p:cNvSpPr/>
          <p:nvPr/>
        </p:nvSpPr>
        <p:spPr bwMode="gray">
          <a:xfrm>
            <a:off x="3695627" y="2292245"/>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1" name="Diamond 300">
            <a:extLst>
              <a:ext uri="{FF2B5EF4-FFF2-40B4-BE49-F238E27FC236}">
                <a16:creationId xmlns:a16="http://schemas.microsoft.com/office/drawing/2014/main" id="{920B5C27-8EFC-401D-9E57-6E1761BBF20A}"/>
              </a:ext>
            </a:extLst>
          </p:cNvPr>
          <p:cNvSpPr/>
          <p:nvPr/>
        </p:nvSpPr>
        <p:spPr bwMode="gray">
          <a:xfrm>
            <a:off x="6474999"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2" name="Diamond 301">
            <a:extLst>
              <a:ext uri="{FF2B5EF4-FFF2-40B4-BE49-F238E27FC236}">
                <a16:creationId xmlns:a16="http://schemas.microsoft.com/office/drawing/2014/main" id="{BA7A1016-928C-454B-9C1F-37E006551EAE}"/>
              </a:ext>
            </a:extLst>
          </p:cNvPr>
          <p:cNvSpPr/>
          <p:nvPr/>
        </p:nvSpPr>
        <p:spPr bwMode="gray">
          <a:xfrm>
            <a:off x="5521566"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3" name="Diamond 302">
            <a:extLst>
              <a:ext uri="{FF2B5EF4-FFF2-40B4-BE49-F238E27FC236}">
                <a16:creationId xmlns:a16="http://schemas.microsoft.com/office/drawing/2014/main" id="{36B1834F-845C-4F36-8D09-B5DF3A9769C3}"/>
              </a:ext>
            </a:extLst>
          </p:cNvPr>
          <p:cNvSpPr/>
          <p:nvPr/>
        </p:nvSpPr>
        <p:spPr bwMode="gray">
          <a:xfrm>
            <a:off x="4530645"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4" name="Diamond 303">
            <a:extLst>
              <a:ext uri="{FF2B5EF4-FFF2-40B4-BE49-F238E27FC236}">
                <a16:creationId xmlns:a16="http://schemas.microsoft.com/office/drawing/2014/main" id="{5B80F288-7022-4802-9EB7-5F5E3CCADF2C}"/>
              </a:ext>
            </a:extLst>
          </p:cNvPr>
          <p:cNvSpPr/>
          <p:nvPr/>
        </p:nvSpPr>
        <p:spPr bwMode="gray">
          <a:xfrm>
            <a:off x="3483128"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6" name="Diamond 305">
            <a:extLst>
              <a:ext uri="{FF2B5EF4-FFF2-40B4-BE49-F238E27FC236}">
                <a16:creationId xmlns:a16="http://schemas.microsoft.com/office/drawing/2014/main" id="{A675C9EE-EDFA-468A-AB1A-73B3DBAC74DE}"/>
              </a:ext>
            </a:extLst>
          </p:cNvPr>
          <p:cNvSpPr/>
          <p:nvPr/>
        </p:nvSpPr>
        <p:spPr bwMode="gray">
          <a:xfrm>
            <a:off x="4741829" y="2292245"/>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8" name="Diamond 307">
            <a:extLst>
              <a:ext uri="{FF2B5EF4-FFF2-40B4-BE49-F238E27FC236}">
                <a16:creationId xmlns:a16="http://schemas.microsoft.com/office/drawing/2014/main" id="{590BB5C5-B83A-43AA-A62E-3AD090F5E089}"/>
              </a:ext>
            </a:extLst>
          </p:cNvPr>
          <p:cNvSpPr/>
          <p:nvPr/>
        </p:nvSpPr>
        <p:spPr bwMode="gray">
          <a:xfrm>
            <a:off x="7846957" y="2293989"/>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9" name="Diamond 308">
            <a:extLst>
              <a:ext uri="{FF2B5EF4-FFF2-40B4-BE49-F238E27FC236}">
                <a16:creationId xmlns:a16="http://schemas.microsoft.com/office/drawing/2014/main" id="{ABE6A197-63EC-4D58-BDCD-9D00B8A26166}"/>
              </a:ext>
            </a:extLst>
          </p:cNvPr>
          <p:cNvSpPr/>
          <p:nvPr/>
        </p:nvSpPr>
        <p:spPr bwMode="gray">
          <a:xfrm>
            <a:off x="7653364"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11" name="Diamond 310">
            <a:extLst>
              <a:ext uri="{FF2B5EF4-FFF2-40B4-BE49-F238E27FC236}">
                <a16:creationId xmlns:a16="http://schemas.microsoft.com/office/drawing/2014/main" id="{2E13FBA6-5C25-45A7-8065-0AFBA7D8AC4B}"/>
              </a:ext>
            </a:extLst>
          </p:cNvPr>
          <p:cNvSpPr/>
          <p:nvPr/>
        </p:nvSpPr>
        <p:spPr bwMode="gray">
          <a:xfrm>
            <a:off x="8806654"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13" name="Star: 5 Points 312">
            <a:extLst>
              <a:ext uri="{FF2B5EF4-FFF2-40B4-BE49-F238E27FC236}">
                <a16:creationId xmlns:a16="http://schemas.microsoft.com/office/drawing/2014/main" id="{8CBF61AF-8CA1-4DFD-9598-2DED1C78378C}"/>
              </a:ext>
            </a:extLst>
          </p:cNvPr>
          <p:cNvSpPr/>
          <p:nvPr/>
        </p:nvSpPr>
        <p:spPr bwMode="gray">
          <a:xfrm>
            <a:off x="11120097" y="2284749"/>
            <a:ext cx="182880" cy="182880"/>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16" name="Star: 5 Points 315">
            <a:extLst>
              <a:ext uri="{FF2B5EF4-FFF2-40B4-BE49-F238E27FC236}">
                <a16:creationId xmlns:a16="http://schemas.microsoft.com/office/drawing/2014/main" id="{24B76479-0904-41F5-8802-423CA69E3D45}"/>
              </a:ext>
            </a:extLst>
          </p:cNvPr>
          <p:cNvSpPr/>
          <p:nvPr/>
        </p:nvSpPr>
        <p:spPr bwMode="gray">
          <a:xfrm>
            <a:off x="8989534" y="2282637"/>
            <a:ext cx="182880" cy="182880"/>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19" name="Diamond 318">
            <a:extLst>
              <a:ext uri="{FF2B5EF4-FFF2-40B4-BE49-F238E27FC236}">
                <a16:creationId xmlns:a16="http://schemas.microsoft.com/office/drawing/2014/main" id="{65939578-C85E-4E6E-8126-AFE5CC2B8B9A}"/>
              </a:ext>
            </a:extLst>
          </p:cNvPr>
          <p:cNvSpPr/>
          <p:nvPr/>
        </p:nvSpPr>
        <p:spPr bwMode="gray">
          <a:xfrm>
            <a:off x="8323259" y="105101"/>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20" name="Rectangle 319">
            <a:extLst>
              <a:ext uri="{FF2B5EF4-FFF2-40B4-BE49-F238E27FC236}">
                <a16:creationId xmlns:a16="http://schemas.microsoft.com/office/drawing/2014/main" id="{13AF7DFD-DA37-4161-8FF8-44A4D6167C3B}"/>
              </a:ext>
            </a:extLst>
          </p:cNvPr>
          <p:cNvSpPr/>
          <p:nvPr/>
        </p:nvSpPr>
        <p:spPr>
          <a:xfrm>
            <a:off x="8466292" y="104208"/>
            <a:ext cx="1271261"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Steering Co Meetings </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21" name="Diamond 320">
            <a:extLst>
              <a:ext uri="{FF2B5EF4-FFF2-40B4-BE49-F238E27FC236}">
                <a16:creationId xmlns:a16="http://schemas.microsoft.com/office/drawing/2014/main" id="{B3EAB08A-F644-49B6-A447-4E4FC3435D85}"/>
              </a:ext>
            </a:extLst>
          </p:cNvPr>
          <p:cNvSpPr/>
          <p:nvPr/>
        </p:nvSpPr>
        <p:spPr bwMode="gray">
          <a:xfrm>
            <a:off x="7157167" y="105101"/>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22" name="Rectangle 321">
            <a:extLst>
              <a:ext uri="{FF2B5EF4-FFF2-40B4-BE49-F238E27FC236}">
                <a16:creationId xmlns:a16="http://schemas.microsoft.com/office/drawing/2014/main" id="{E007CE27-FF2D-4A86-84CF-DAC9007ED704}"/>
              </a:ext>
            </a:extLst>
          </p:cNvPr>
          <p:cNvSpPr/>
          <p:nvPr/>
        </p:nvSpPr>
        <p:spPr>
          <a:xfrm>
            <a:off x="7320319" y="104208"/>
            <a:ext cx="1351575"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Cross-Team Meeting</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23" name="Star: 5 Points 322">
            <a:extLst>
              <a:ext uri="{FF2B5EF4-FFF2-40B4-BE49-F238E27FC236}">
                <a16:creationId xmlns:a16="http://schemas.microsoft.com/office/drawing/2014/main" id="{2F7E0DD1-B7FC-43DB-9C30-F9B20705E1E4}"/>
              </a:ext>
            </a:extLst>
          </p:cNvPr>
          <p:cNvSpPr/>
          <p:nvPr/>
        </p:nvSpPr>
        <p:spPr bwMode="gray">
          <a:xfrm>
            <a:off x="10230836" y="105101"/>
            <a:ext cx="182880" cy="182880"/>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24" name="Rectangle 323">
            <a:extLst>
              <a:ext uri="{FF2B5EF4-FFF2-40B4-BE49-F238E27FC236}">
                <a16:creationId xmlns:a16="http://schemas.microsoft.com/office/drawing/2014/main" id="{68814926-CCAD-4768-BF44-6EDFADDF8AD1}"/>
              </a:ext>
            </a:extLst>
          </p:cNvPr>
          <p:cNvSpPr/>
          <p:nvPr/>
        </p:nvSpPr>
        <p:spPr>
          <a:xfrm>
            <a:off x="10413716" y="104208"/>
            <a:ext cx="1728042"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Critical Check points Steering Co</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grpSp>
        <p:nvGrpSpPr>
          <p:cNvPr id="325" name="Group 324">
            <a:extLst>
              <a:ext uri="{FF2B5EF4-FFF2-40B4-BE49-F238E27FC236}">
                <a16:creationId xmlns:a16="http://schemas.microsoft.com/office/drawing/2014/main" id="{51B04ECB-18DA-462C-B993-1A80B4406179}"/>
              </a:ext>
            </a:extLst>
          </p:cNvPr>
          <p:cNvGrpSpPr/>
          <p:nvPr/>
        </p:nvGrpSpPr>
        <p:grpSpPr>
          <a:xfrm>
            <a:off x="9565589" y="48419"/>
            <a:ext cx="257544" cy="249382"/>
            <a:chOff x="2951069" y="2461236"/>
            <a:chExt cx="257544" cy="249382"/>
          </a:xfrm>
        </p:grpSpPr>
        <p:sp>
          <p:nvSpPr>
            <p:cNvPr id="326" name="Oval 325">
              <a:extLst>
                <a:ext uri="{FF2B5EF4-FFF2-40B4-BE49-F238E27FC236}">
                  <a16:creationId xmlns:a16="http://schemas.microsoft.com/office/drawing/2014/main" id="{6A878726-14FA-47A5-BA60-E95E4E763276}"/>
                </a:ext>
              </a:extLst>
            </p:cNvPr>
            <p:cNvSpPr>
              <a:spLocks noChangeArrowheads="1"/>
            </p:cNvSpPr>
            <p:nvPr/>
          </p:nvSpPr>
          <p:spPr bwMode="auto">
            <a:xfrm>
              <a:off x="2951069"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327" name="Graphic 4">
              <a:extLst>
                <a:ext uri="{FF2B5EF4-FFF2-40B4-BE49-F238E27FC236}">
                  <a16:creationId xmlns:a16="http://schemas.microsoft.com/office/drawing/2014/main" id="{78D2AA41-F29E-4DFE-A218-CB8E2ED0A293}"/>
                </a:ext>
              </a:extLst>
            </p:cNvPr>
            <p:cNvGrpSpPr/>
            <p:nvPr/>
          </p:nvGrpSpPr>
          <p:grpSpPr>
            <a:xfrm>
              <a:off x="2951069" y="2461236"/>
              <a:ext cx="257544" cy="249382"/>
              <a:chOff x="3607758" y="1402723"/>
              <a:chExt cx="362309" cy="361971"/>
            </a:xfrm>
            <a:solidFill>
              <a:sysClr val="windowText" lastClr="000000"/>
            </a:solidFill>
          </p:grpSpPr>
          <p:sp>
            <p:nvSpPr>
              <p:cNvPr id="328" name="Graphic 4">
                <a:extLst>
                  <a:ext uri="{FF2B5EF4-FFF2-40B4-BE49-F238E27FC236}">
                    <a16:creationId xmlns:a16="http://schemas.microsoft.com/office/drawing/2014/main" id="{5CBF5391-45B5-4CD7-997E-97695161689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29" name="Graphic 4">
                <a:extLst>
                  <a:ext uri="{FF2B5EF4-FFF2-40B4-BE49-F238E27FC236}">
                    <a16:creationId xmlns:a16="http://schemas.microsoft.com/office/drawing/2014/main" id="{FEA4CC58-899A-49A6-887F-65FC8147572A}"/>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0" name="Graphic 4">
                <a:extLst>
                  <a:ext uri="{FF2B5EF4-FFF2-40B4-BE49-F238E27FC236}">
                    <a16:creationId xmlns:a16="http://schemas.microsoft.com/office/drawing/2014/main" id="{3E582D03-71EE-4C51-96FE-BCD3BC2D9563}"/>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1" name="Graphic 4">
                <a:extLst>
                  <a:ext uri="{FF2B5EF4-FFF2-40B4-BE49-F238E27FC236}">
                    <a16:creationId xmlns:a16="http://schemas.microsoft.com/office/drawing/2014/main" id="{CDEF0AE3-CA02-47D3-90C3-72E34DC31D4C}"/>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2" name="Graphic 4">
                <a:extLst>
                  <a:ext uri="{FF2B5EF4-FFF2-40B4-BE49-F238E27FC236}">
                    <a16:creationId xmlns:a16="http://schemas.microsoft.com/office/drawing/2014/main" id="{608983A1-B30C-437A-AEC6-5C605631724A}"/>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3" name="Graphic 4">
                <a:extLst>
                  <a:ext uri="{FF2B5EF4-FFF2-40B4-BE49-F238E27FC236}">
                    <a16:creationId xmlns:a16="http://schemas.microsoft.com/office/drawing/2014/main" id="{CBBE0F0B-2419-4E36-89D0-F64DF7194171}"/>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4" name="Graphic 4">
                <a:extLst>
                  <a:ext uri="{FF2B5EF4-FFF2-40B4-BE49-F238E27FC236}">
                    <a16:creationId xmlns:a16="http://schemas.microsoft.com/office/drawing/2014/main" id="{0A2A0EFC-4F91-4001-8E8C-4183AAFFBB6F}"/>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5" name="Graphic 4">
                <a:extLst>
                  <a:ext uri="{FF2B5EF4-FFF2-40B4-BE49-F238E27FC236}">
                    <a16:creationId xmlns:a16="http://schemas.microsoft.com/office/drawing/2014/main" id="{FCD9573A-7F85-4DDE-A45F-D199D168C84E}"/>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sp>
        <p:nvSpPr>
          <p:cNvPr id="336" name="Rectangle 335">
            <a:extLst>
              <a:ext uri="{FF2B5EF4-FFF2-40B4-BE49-F238E27FC236}">
                <a16:creationId xmlns:a16="http://schemas.microsoft.com/office/drawing/2014/main" id="{2800A69B-4052-4C30-AAE4-845BD905081C}"/>
              </a:ext>
            </a:extLst>
          </p:cNvPr>
          <p:cNvSpPr/>
          <p:nvPr/>
        </p:nvSpPr>
        <p:spPr>
          <a:xfrm>
            <a:off x="9761007" y="104208"/>
            <a:ext cx="511515"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Sprints</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cxnSp>
        <p:nvCxnSpPr>
          <p:cNvPr id="337" name="Straight Connector 336">
            <a:extLst>
              <a:ext uri="{FF2B5EF4-FFF2-40B4-BE49-F238E27FC236}">
                <a16:creationId xmlns:a16="http://schemas.microsoft.com/office/drawing/2014/main" id="{AC17B14B-F402-4852-9AE0-C53490F8241C}"/>
              </a:ext>
            </a:extLst>
          </p:cNvPr>
          <p:cNvCxnSpPr>
            <a:cxnSpLocks/>
          </p:cNvCxnSpPr>
          <p:nvPr/>
        </p:nvCxnSpPr>
        <p:spPr>
          <a:xfrm>
            <a:off x="4775303" y="196637"/>
            <a:ext cx="457200"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38" name="Rectangle 337">
            <a:extLst>
              <a:ext uri="{FF2B5EF4-FFF2-40B4-BE49-F238E27FC236}">
                <a16:creationId xmlns:a16="http://schemas.microsoft.com/office/drawing/2014/main" id="{440F3160-4CC8-451C-89BD-E1BBC56FE9B4}"/>
              </a:ext>
            </a:extLst>
          </p:cNvPr>
          <p:cNvSpPr/>
          <p:nvPr/>
        </p:nvSpPr>
        <p:spPr>
          <a:xfrm>
            <a:off x="5278768" y="104303"/>
            <a:ext cx="878767"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Key Activities</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39" name="object 144">
            <a:extLst>
              <a:ext uri="{FF2B5EF4-FFF2-40B4-BE49-F238E27FC236}">
                <a16:creationId xmlns:a16="http://schemas.microsoft.com/office/drawing/2014/main" id="{1B82ECAA-51E4-4293-9D71-CE883DBFCA21}"/>
              </a:ext>
            </a:extLst>
          </p:cNvPr>
          <p:cNvSpPr/>
          <p:nvPr/>
        </p:nvSpPr>
        <p:spPr>
          <a:xfrm>
            <a:off x="6222959" y="105197"/>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40" name="Rectangle 339">
            <a:extLst>
              <a:ext uri="{FF2B5EF4-FFF2-40B4-BE49-F238E27FC236}">
                <a16:creationId xmlns:a16="http://schemas.microsoft.com/office/drawing/2014/main" id="{4871C67F-2460-4E71-9D82-DC82CB06287A}"/>
              </a:ext>
            </a:extLst>
          </p:cNvPr>
          <p:cNvSpPr/>
          <p:nvPr/>
        </p:nvSpPr>
        <p:spPr>
          <a:xfrm>
            <a:off x="6366525" y="104304"/>
            <a:ext cx="717149"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Deliverables</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43" name="TextBox 342">
            <a:extLst>
              <a:ext uri="{FF2B5EF4-FFF2-40B4-BE49-F238E27FC236}">
                <a16:creationId xmlns:a16="http://schemas.microsoft.com/office/drawing/2014/main" id="{ADA3EC9E-4AC1-45FD-9E8F-924F1AC1928B}"/>
              </a:ext>
            </a:extLst>
          </p:cNvPr>
          <p:cNvSpPr txBox="1"/>
          <p:nvPr/>
        </p:nvSpPr>
        <p:spPr>
          <a:xfrm>
            <a:off x="3671758" y="2682894"/>
            <a:ext cx="103575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Strategies &amp; Standards</a:t>
            </a:r>
          </a:p>
        </p:txBody>
      </p:sp>
      <p:sp>
        <p:nvSpPr>
          <p:cNvPr id="347" name="TextBox 346">
            <a:extLst>
              <a:ext uri="{FF2B5EF4-FFF2-40B4-BE49-F238E27FC236}">
                <a16:creationId xmlns:a16="http://schemas.microsoft.com/office/drawing/2014/main" id="{BF567ADD-35B9-4823-95DF-3B2F7373AD25}"/>
              </a:ext>
            </a:extLst>
          </p:cNvPr>
          <p:cNvSpPr txBox="1"/>
          <p:nvPr/>
        </p:nvSpPr>
        <p:spPr>
          <a:xfrm>
            <a:off x="4679978" y="2686754"/>
            <a:ext cx="109920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CICD Setup and Code Review Checklist</a:t>
            </a:r>
          </a:p>
        </p:txBody>
      </p:sp>
      <p:sp>
        <p:nvSpPr>
          <p:cNvPr id="350" name="TextBox 349">
            <a:extLst>
              <a:ext uri="{FF2B5EF4-FFF2-40B4-BE49-F238E27FC236}">
                <a16:creationId xmlns:a16="http://schemas.microsoft.com/office/drawing/2014/main" id="{0BF8D9FA-0F22-4BE7-963B-B6016AD55F36}"/>
              </a:ext>
            </a:extLst>
          </p:cNvPr>
          <p:cNvSpPr txBox="1"/>
          <p:nvPr/>
        </p:nvSpPr>
        <p:spPr>
          <a:xfrm>
            <a:off x="5641890" y="2685785"/>
            <a:ext cx="103575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Testing Approach &amp; Boundary Readiness</a:t>
            </a:r>
          </a:p>
        </p:txBody>
      </p:sp>
      <p:cxnSp>
        <p:nvCxnSpPr>
          <p:cNvPr id="354" name="Straight Connector 353">
            <a:extLst>
              <a:ext uri="{FF2B5EF4-FFF2-40B4-BE49-F238E27FC236}">
                <a16:creationId xmlns:a16="http://schemas.microsoft.com/office/drawing/2014/main" id="{A4B0BF31-40D4-4850-AA47-269ABF706573}"/>
              </a:ext>
            </a:extLst>
          </p:cNvPr>
          <p:cNvCxnSpPr>
            <a:cxnSpLocks/>
          </p:cNvCxnSpPr>
          <p:nvPr/>
        </p:nvCxnSpPr>
        <p:spPr>
          <a:xfrm flipV="1">
            <a:off x="3216105" y="2569267"/>
            <a:ext cx="8631343" cy="2734"/>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55" name="object 144">
            <a:extLst>
              <a:ext uri="{FF2B5EF4-FFF2-40B4-BE49-F238E27FC236}">
                <a16:creationId xmlns:a16="http://schemas.microsoft.com/office/drawing/2014/main" id="{9E0DAA2A-C0A1-4BC9-8BFE-004237ACDB10}"/>
              </a:ext>
            </a:extLst>
          </p:cNvPr>
          <p:cNvSpPr/>
          <p:nvPr/>
        </p:nvSpPr>
        <p:spPr>
          <a:xfrm>
            <a:off x="8320070" y="247585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56" name="TextBox 355">
            <a:extLst>
              <a:ext uri="{FF2B5EF4-FFF2-40B4-BE49-F238E27FC236}">
                <a16:creationId xmlns:a16="http://schemas.microsoft.com/office/drawing/2014/main" id="{DE9FF93C-1FA7-420C-B363-B4CB3B373DEB}"/>
              </a:ext>
            </a:extLst>
          </p:cNvPr>
          <p:cNvSpPr txBox="1"/>
          <p:nvPr/>
        </p:nvSpPr>
        <p:spPr>
          <a:xfrm>
            <a:off x="7781162" y="2673770"/>
            <a:ext cx="1049355"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SIT  &amp; Performance  Sign Off</a:t>
            </a:r>
          </a:p>
        </p:txBody>
      </p:sp>
      <p:sp>
        <p:nvSpPr>
          <p:cNvPr id="358" name="object 144">
            <a:extLst>
              <a:ext uri="{FF2B5EF4-FFF2-40B4-BE49-F238E27FC236}">
                <a16:creationId xmlns:a16="http://schemas.microsoft.com/office/drawing/2014/main" id="{5016565D-FA4C-4DC3-845F-1C017B04DD14}"/>
              </a:ext>
            </a:extLst>
          </p:cNvPr>
          <p:cNvSpPr/>
          <p:nvPr/>
        </p:nvSpPr>
        <p:spPr>
          <a:xfrm>
            <a:off x="9591803" y="2470239"/>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59" name="TextBox 358">
            <a:extLst>
              <a:ext uri="{FF2B5EF4-FFF2-40B4-BE49-F238E27FC236}">
                <a16:creationId xmlns:a16="http://schemas.microsoft.com/office/drawing/2014/main" id="{C44BAFCD-EBA6-4743-B12A-B86869329AB3}"/>
              </a:ext>
            </a:extLst>
          </p:cNvPr>
          <p:cNvSpPr txBox="1"/>
          <p:nvPr/>
        </p:nvSpPr>
        <p:spPr>
          <a:xfrm>
            <a:off x="9302446" y="2783503"/>
            <a:ext cx="735841"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UAT Sign Off</a:t>
            </a:r>
          </a:p>
        </p:txBody>
      </p:sp>
      <p:sp>
        <p:nvSpPr>
          <p:cNvPr id="360" name="object 144">
            <a:extLst>
              <a:ext uri="{FF2B5EF4-FFF2-40B4-BE49-F238E27FC236}">
                <a16:creationId xmlns:a16="http://schemas.microsoft.com/office/drawing/2014/main" id="{A398D354-9DA3-4A42-821A-473208211F89}"/>
              </a:ext>
            </a:extLst>
          </p:cNvPr>
          <p:cNvSpPr/>
          <p:nvPr/>
        </p:nvSpPr>
        <p:spPr>
          <a:xfrm>
            <a:off x="9896294" y="246666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61" name="TextBox 360">
            <a:extLst>
              <a:ext uri="{FF2B5EF4-FFF2-40B4-BE49-F238E27FC236}">
                <a16:creationId xmlns:a16="http://schemas.microsoft.com/office/drawing/2014/main" id="{903C6860-666F-4954-B094-7D88A742BCF7}"/>
              </a:ext>
            </a:extLst>
          </p:cNvPr>
          <p:cNvSpPr txBox="1"/>
          <p:nvPr/>
        </p:nvSpPr>
        <p:spPr>
          <a:xfrm>
            <a:off x="9691374" y="2652099"/>
            <a:ext cx="941582"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Cutover Go Ahead</a:t>
            </a:r>
          </a:p>
        </p:txBody>
      </p:sp>
      <p:cxnSp>
        <p:nvCxnSpPr>
          <p:cNvPr id="362" name="Straight Connector 361">
            <a:extLst>
              <a:ext uri="{FF2B5EF4-FFF2-40B4-BE49-F238E27FC236}">
                <a16:creationId xmlns:a16="http://schemas.microsoft.com/office/drawing/2014/main" id="{48B4D18E-DA9A-49F4-9B6B-30003B8AE7F5}"/>
              </a:ext>
            </a:extLst>
          </p:cNvPr>
          <p:cNvCxnSpPr>
            <a:cxnSpLocks/>
          </p:cNvCxnSpPr>
          <p:nvPr/>
        </p:nvCxnSpPr>
        <p:spPr>
          <a:xfrm>
            <a:off x="4722441" y="4824850"/>
            <a:ext cx="255879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63" name="TextBox 362">
            <a:extLst>
              <a:ext uri="{FF2B5EF4-FFF2-40B4-BE49-F238E27FC236}">
                <a16:creationId xmlns:a16="http://schemas.microsoft.com/office/drawing/2014/main" id="{268C75F9-3866-4293-9A09-2ECCF8754294}"/>
              </a:ext>
            </a:extLst>
          </p:cNvPr>
          <p:cNvSpPr txBox="1"/>
          <p:nvPr/>
        </p:nvSpPr>
        <p:spPr>
          <a:xfrm>
            <a:off x="5572381" y="4635957"/>
            <a:ext cx="1215317"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Functional Testing</a:t>
            </a:r>
          </a:p>
        </p:txBody>
      </p:sp>
      <p:cxnSp>
        <p:nvCxnSpPr>
          <p:cNvPr id="364" name="Straight Connector 363">
            <a:extLst>
              <a:ext uri="{FF2B5EF4-FFF2-40B4-BE49-F238E27FC236}">
                <a16:creationId xmlns:a16="http://schemas.microsoft.com/office/drawing/2014/main" id="{00CD6A9A-2CEA-47E5-AC19-DE703CADF90A}"/>
              </a:ext>
            </a:extLst>
          </p:cNvPr>
          <p:cNvCxnSpPr>
            <a:cxnSpLocks/>
          </p:cNvCxnSpPr>
          <p:nvPr/>
        </p:nvCxnSpPr>
        <p:spPr>
          <a:xfrm>
            <a:off x="5204151" y="4942843"/>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65" name="TextBox 364">
            <a:extLst>
              <a:ext uri="{FF2B5EF4-FFF2-40B4-BE49-F238E27FC236}">
                <a16:creationId xmlns:a16="http://schemas.microsoft.com/office/drawing/2014/main" id="{EE986AF2-A3A8-4EB2-A89E-16E4F0CBC91B}"/>
              </a:ext>
            </a:extLst>
          </p:cNvPr>
          <p:cNvSpPr txBox="1"/>
          <p:nvPr/>
        </p:nvSpPr>
        <p:spPr>
          <a:xfrm>
            <a:off x="5388974" y="4967136"/>
            <a:ext cx="128906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Test scripts Preparation</a:t>
            </a:r>
          </a:p>
        </p:txBody>
      </p:sp>
      <p:cxnSp>
        <p:nvCxnSpPr>
          <p:cNvPr id="366" name="Straight Connector 365">
            <a:extLst>
              <a:ext uri="{FF2B5EF4-FFF2-40B4-BE49-F238E27FC236}">
                <a16:creationId xmlns:a16="http://schemas.microsoft.com/office/drawing/2014/main" id="{92F119F8-0A65-4A20-8625-25B87B1B80B0}"/>
              </a:ext>
            </a:extLst>
          </p:cNvPr>
          <p:cNvCxnSpPr>
            <a:cxnSpLocks/>
          </p:cNvCxnSpPr>
          <p:nvPr/>
        </p:nvCxnSpPr>
        <p:spPr>
          <a:xfrm>
            <a:off x="7281240" y="5074205"/>
            <a:ext cx="113062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a16="http://schemas.microsoft.com/office/drawing/2014/main" id="{7993A9EB-4BCB-49D6-8F8B-6FC4B3F64388}"/>
              </a:ext>
            </a:extLst>
          </p:cNvPr>
          <p:cNvCxnSpPr>
            <a:cxnSpLocks/>
          </p:cNvCxnSpPr>
          <p:nvPr/>
        </p:nvCxnSpPr>
        <p:spPr>
          <a:xfrm>
            <a:off x="8739713" y="4960843"/>
            <a:ext cx="80987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69" name="TextBox 368">
            <a:extLst>
              <a:ext uri="{FF2B5EF4-FFF2-40B4-BE49-F238E27FC236}">
                <a16:creationId xmlns:a16="http://schemas.microsoft.com/office/drawing/2014/main" id="{548E5D14-0118-49EA-B9F5-B5208CC69D36}"/>
              </a:ext>
            </a:extLst>
          </p:cNvPr>
          <p:cNvSpPr txBox="1"/>
          <p:nvPr/>
        </p:nvSpPr>
        <p:spPr>
          <a:xfrm>
            <a:off x="8548319" y="4723679"/>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UAT Exec &amp; Cutover Prep</a:t>
            </a:r>
          </a:p>
        </p:txBody>
      </p:sp>
      <p:cxnSp>
        <p:nvCxnSpPr>
          <p:cNvPr id="370" name="Straight Connector 369">
            <a:extLst>
              <a:ext uri="{FF2B5EF4-FFF2-40B4-BE49-F238E27FC236}">
                <a16:creationId xmlns:a16="http://schemas.microsoft.com/office/drawing/2014/main" id="{C5C872C6-D80F-43DB-860E-9FEF6E2EA7A5}"/>
              </a:ext>
            </a:extLst>
          </p:cNvPr>
          <p:cNvCxnSpPr>
            <a:cxnSpLocks/>
          </p:cNvCxnSpPr>
          <p:nvPr/>
        </p:nvCxnSpPr>
        <p:spPr>
          <a:xfrm>
            <a:off x="9836524" y="5050861"/>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72" name="Straight Connector 371">
            <a:extLst>
              <a:ext uri="{FF2B5EF4-FFF2-40B4-BE49-F238E27FC236}">
                <a16:creationId xmlns:a16="http://schemas.microsoft.com/office/drawing/2014/main" id="{45FD6751-8836-48BF-B85D-40EC657DA12F}"/>
              </a:ext>
            </a:extLst>
          </p:cNvPr>
          <p:cNvCxnSpPr>
            <a:cxnSpLocks/>
          </p:cNvCxnSpPr>
          <p:nvPr/>
        </p:nvCxnSpPr>
        <p:spPr>
          <a:xfrm>
            <a:off x="7956894" y="1754559"/>
            <a:ext cx="460233" cy="0"/>
          </a:xfrm>
          <a:prstGeom prst="line">
            <a:avLst/>
          </a:prstGeom>
          <a:noFill/>
          <a:ln w="57150" cap="flat" cmpd="sng" algn="ctr">
            <a:solidFill>
              <a:schemeClr val="tx1">
                <a:lumMod val="65000"/>
                <a:lumOff val="35000"/>
              </a:schemeClr>
            </a:solidFill>
            <a:prstDash val="solid"/>
          </a:ln>
          <a:effectLst/>
        </p:spPr>
      </p:cxnSp>
      <p:sp>
        <p:nvSpPr>
          <p:cNvPr id="373" name="TextBox 372">
            <a:extLst>
              <a:ext uri="{FF2B5EF4-FFF2-40B4-BE49-F238E27FC236}">
                <a16:creationId xmlns:a16="http://schemas.microsoft.com/office/drawing/2014/main" id="{94975910-7636-4177-B8B0-AB78D835220B}"/>
              </a:ext>
            </a:extLst>
          </p:cNvPr>
          <p:cNvSpPr txBox="1"/>
          <p:nvPr/>
        </p:nvSpPr>
        <p:spPr>
          <a:xfrm>
            <a:off x="8437907" y="1703226"/>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Performance Testing</a:t>
            </a:r>
          </a:p>
        </p:txBody>
      </p:sp>
      <p:cxnSp>
        <p:nvCxnSpPr>
          <p:cNvPr id="374" name="Straight Connector 373">
            <a:extLst>
              <a:ext uri="{FF2B5EF4-FFF2-40B4-BE49-F238E27FC236}">
                <a16:creationId xmlns:a16="http://schemas.microsoft.com/office/drawing/2014/main" id="{3994F9A7-028F-4A31-AA5C-3E138917D269}"/>
              </a:ext>
            </a:extLst>
          </p:cNvPr>
          <p:cNvCxnSpPr>
            <a:cxnSpLocks/>
          </p:cNvCxnSpPr>
          <p:nvPr/>
        </p:nvCxnSpPr>
        <p:spPr>
          <a:xfrm>
            <a:off x="7965146" y="1855303"/>
            <a:ext cx="460233" cy="0"/>
          </a:xfrm>
          <a:prstGeom prst="line">
            <a:avLst/>
          </a:prstGeom>
          <a:noFill/>
          <a:ln w="57150" cap="flat" cmpd="sng" algn="ctr">
            <a:solidFill>
              <a:schemeClr val="tx1">
                <a:lumMod val="65000"/>
                <a:lumOff val="35000"/>
              </a:schemeClr>
            </a:solidFill>
            <a:prstDash val="solid"/>
          </a:ln>
          <a:effectLst/>
        </p:spPr>
      </p:cxnSp>
      <p:sp>
        <p:nvSpPr>
          <p:cNvPr id="375" name="TextBox 374">
            <a:extLst>
              <a:ext uri="{FF2B5EF4-FFF2-40B4-BE49-F238E27FC236}">
                <a16:creationId xmlns:a16="http://schemas.microsoft.com/office/drawing/2014/main" id="{2C8F9C3E-8AFE-494A-B418-1AD44546DC71}"/>
              </a:ext>
            </a:extLst>
          </p:cNvPr>
          <p:cNvSpPr txBox="1"/>
          <p:nvPr/>
        </p:nvSpPr>
        <p:spPr>
          <a:xfrm>
            <a:off x="8446159" y="1803970"/>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Train The Trainer</a:t>
            </a:r>
          </a:p>
        </p:txBody>
      </p:sp>
      <p:sp>
        <p:nvSpPr>
          <p:cNvPr id="376" name="TextBox 375">
            <a:extLst>
              <a:ext uri="{FF2B5EF4-FFF2-40B4-BE49-F238E27FC236}">
                <a16:creationId xmlns:a16="http://schemas.microsoft.com/office/drawing/2014/main" id="{AF014CFA-D90F-4000-90B6-03DF02625C1F}"/>
              </a:ext>
            </a:extLst>
          </p:cNvPr>
          <p:cNvSpPr txBox="1"/>
          <p:nvPr/>
        </p:nvSpPr>
        <p:spPr>
          <a:xfrm>
            <a:off x="9601789" y="1910839"/>
            <a:ext cx="182880"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UAT</a:t>
            </a:r>
          </a:p>
        </p:txBody>
      </p:sp>
      <p:sp>
        <p:nvSpPr>
          <p:cNvPr id="377" name="TextBox 376">
            <a:extLst>
              <a:ext uri="{FF2B5EF4-FFF2-40B4-BE49-F238E27FC236}">
                <a16:creationId xmlns:a16="http://schemas.microsoft.com/office/drawing/2014/main" id="{F800C7D1-CE8A-48CB-A567-FE16D52C292D}"/>
              </a:ext>
            </a:extLst>
          </p:cNvPr>
          <p:cNvSpPr txBox="1"/>
          <p:nvPr/>
        </p:nvSpPr>
        <p:spPr>
          <a:xfrm>
            <a:off x="6707297" y="2069090"/>
            <a:ext cx="614984"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2</a:t>
            </a:r>
          </a:p>
        </p:txBody>
      </p:sp>
      <p:sp>
        <p:nvSpPr>
          <p:cNvPr id="378" name="TextBox 377">
            <a:extLst>
              <a:ext uri="{FF2B5EF4-FFF2-40B4-BE49-F238E27FC236}">
                <a16:creationId xmlns:a16="http://schemas.microsoft.com/office/drawing/2014/main" id="{151C9C4C-88E6-4D23-8554-863BA0A10996}"/>
              </a:ext>
            </a:extLst>
          </p:cNvPr>
          <p:cNvSpPr txBox="1"/>
          <p:nvPr/>
        </p:nvSpPr>
        <p:spPr>
          <a:xfrm>
            <a:off x="8022609" y="2048109"/>
            <a:ext cx="811940"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UAT</a:t>
            </a:r>
          </a:p>
        </p:txBody>
      </p:sp>
      <p:sp>
        <p:nvSpPr>
          <p:cNvPr id="381" name="object 144">
            <a:extLst>
              <a:ext uri="{FF2B5EF4-FFF2-40B4-BE49-F238E27FC236}">
                <a16:creationId xmlns:a16="http://schemas.microsoft.com/office/drawing/2014/main" id="{133682A4-DD8D-4EF7-9471-7195923D85F8}"/>
              </a:ext>
            </a:extLst>
          </p:cNvPr>
          <p:cNvSpPr/>
          <p:nvPr/>
        </p:nvSpPr>
        <p:spPr>
          <a:xfrm>
            <a:off x="6047021" y="247428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2" name="object 144">
            <a:extLst>
              <a:ext uri="{FF2B5EF4-FFF2-40B4-BE49-F238E27FC236}">
                <a16:creationId xmlns:a16="http://schemas.microsoft.com/office/drawing/2014/main" id="{B8879C51-C319-400D-AF46-5C29EB8BDBA7}"/>
              </a:ext>
            </a:extLst>
          </p:cNvPr>
          <p:cNvSpPr/>
          <p:nvPr/>
        </p:nvSpPr>
        <p:spPr>
          <a:xfrm>
            <a:off x="5107232" y="2484561"/>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3" name="object 144">
            <a:extLst>
              <a:ext uri="{FF2B5EF4-FFF2-40B4-BE49-F238E27FC236}">
                <a16:creationId xmlns:a16="http://schemas.microsoft.com/office/drawing/2014/main" id="{BC8FD696-478D-4A82-BD25-0D01D26AFAEE}"/>
              </a:ext>
            </a:extLst>
          </p:cNvPr>
          <p:cNvSpPr/>
          <p:nvPr/>
        </p:nvSpPr>
        <p:spPr>
          <a:xfrm>
            <a:off x="4096740" y="247585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6" name="object 144">
            <a:extLst>
              <a:ext uri="{FF2B5EF4-FFF2-40B4-BE49-F238E27FC236}">
                <a16:creationId xmlns:a16="http://schemas.microsoft.com/office/drawing/2014/main" id="{771E552E-25B5-40D5-A7E0-0447B675B6C3}"/>
              </a:ext>
            </a:extLst>
          </p:cNvPr>
          <p:cNvSpPr/>
          <p:nvPr/>
        </p:nvSpPr>
        <p:spPr>
          <a:xfrm>
            <a:off x="8973094" y="2469861"/>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7" name="TextBox 386">
            <a:extLst>
              <a:ext uri="{FF2B5EF4-FFF2-40B4-BE49-F238E27FC236}">
                <a16:creationId xmlns:a16="http://schemas.microsoft.com/office/drawing/2014/main" id="{B862D2C0-EEAB-4C69-B478-11222E3C3C79}"/>
              </a:ext>
            </a:extLst>
          </p:cNvPr>
          <p:cNvSpPr txBox="1"/>
          <p:nvPr/>
        </p:nvSpPr>
        <p:spPr>
          <a:xfrm>
            <a:off x="8640717" y="2671064"/>
            <a:ext cx="88088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Cutover Plan &amp; KT Plan</a:t>
            </a:r>
          </a:p>
        </p:txBody>
      </p:sp>
      <p:sp>
        <p:nvSpPr>
          <p:cNvPr id="202" name="Star: 5 Points 201">
            <a:extLst>
              <a:ext uri="{FF2B5EF4-FFF2-40B4-BE49-F238E27FC236}">
                <a16:creationId xmlns:a16="http://schemas.microsoft.com/office/drawing/2014/main" id="{74E96554-5AE7-41D5-A019-17745A1A49AE}"/>
              </a:ext>
            </a:extLst>
          </p:cNvPr>
          <p:cNvSpPr/>
          <p:nvPr/>
        </p:nvSpPr>
        <p:spPr bwMode="gray">
          <a:xfrm>
            <a:off x="5700929" y="2268279"/>
            <a:ext cx="182880" cy="182880"/>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03" name="Diamond 202">
            <a:extLst>
              <a:ext uri="{FF2B5EF4-FFF2-40B4-BE49-F238E27FC236}">
                <a16:creationId xmlns:a16="http://schemas.microsoft.com/office/drawing/2014/main" id="{7F82CFD7-0D76-4602-9A53-8BF9B0E9F3B1}"/>
              </a:ext>
            </a:extLst>
          </p:cNvPr>
          <p:cNvSpPr/>
          <p:nvPr/>
        </p:nvSpPr>
        <p:spPr bwMode="gray">
          <a:xfrm>
            <a:off x="6671781" y="2293441"/>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05" name="TextBox 204">
            <a:extLst>
              <a:ext uri="{FF2B5EF4-FFF2-40B4-BE49-F238E27FC236}">
                <a16:creationId xmlns:a16="http://schemas.microsoft.com/office/drawing/2014/main" id="{7137B93E-CCE5-454F-9E52-3AE4BDA3046B}"/>
              </a:ext>
            </a:extLst>
          </p:cNvPr>
          <p:cNvSpPr txBox="1"/>
          <p:nvPr/>
        </p:nvSpPr>
        <p:spPr>
          <a:xfrm>
            <a:off x="11526530" y="2292245"/>
            <a:ext cx="399526"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PMO</a:t>
            </a:r>
          </a:p>
        </p:txBody>
      </p:sp>
      <p:sp>
        <p:nvSpPr>
          <p:cNvPr id="206" name="object 144">
            <a:extLst>
              <a:ext uri="{FF2B5EF4-FFF2-40B4-BE49-F238E27FC236}">
                <a16:creationId xmlns:a16="http://schemas.microsoft.com/office/drawing/2014/main" id="{A765A284-6470-4496-82AF-D16DF30F0C24}"/>
              </a:ext>
            </a:extLst>
          </p:cNvPr>
          <p:cNvSpPr/>
          <p:nvPr/>
        </p:nvSpPr>
        <p:spPr>
          <a:xfrm>
            <a:off x="10851358" y="245786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207" name="TextBox 206">
            <a:extLst>
              <a:ext uri="{FF2B5EF4-FFF2-40B4-BE49-F238E27FC236}">
                <a16:creationId xmlns:a16="http://schemas.microsoft.com/office/drawing/2014/main" id="{455AFD8A-97E7-4ED4-BEE6-A5D7B1F4C95E}"/>
              </a:ext>
            </a:extLst>
          </p:cNvPr>
          <p:cNvSpPr txBox="1"/>
          <p:nvPr/>
        </p:nvSpPr>
        <p:spPr>
          <a:xfrm>
            <a:off x="10500332" y="2676278"/>
            <a:ext cx="941582"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Initiate KT</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sp>
        <p:nvSpPr>
          <p:cNvPr id="289" name="TextBox 288">
            <a:extLst>
              <a:ext uri="{FF2B5EF4-FFF2-40B4-BE49-F238E27FC236}">
                <a16:creationId xmlns:a16="http://schemas.microsoft.com/office/drawing/2014/main" id="{BF45E320-F25B-4019-AACF-5D1612C43055}"/>
              </a:ext>
            </a:extLst>
          </p:cNvPr>
          <p:cNvSpPr txBox="1"/>
          <p:nvPr/>
        </p:nvSpPr>
        <p:spPr>
          <a:xfrm>
            <a:off x="9657509" y="4857519"/>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Assist</a:t>
            </a: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 Cutover, Smoke test</a:t>
            </a:r>
          </a:p>
        </p:txBody>
      </p:sp>
      <p:cxnSp>
        <p:nvCxnSpPr>
          <p:cNvPr id="295" name="Straight Connector 294">
            <a:extLst>
              <a:ext uri="{FF2B5EF4-FFF2-40B4-BE49-F238E27FC236}">
                <a16:creationId xmlns:a16="http://schemas.microsoft.com/office/drawing/2014/main" id="{A7E0D3BF-C038-404E-AFB2-E3D9DB8D0F6B}"/>
              </a:ext>
            </a:extLst>
          </p:cNvPr>
          <p:cNvCxnSpPr>
            <a:cxnSpLocks/>
          </p:cNvCxnSpPr>
          <p:nvPr/>
        </p:nvCxnSpPr>
        <p:spPr>
          <a:xfrm>
            <a:off x="2989031" y="4712472"/>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6" name="TextBox 295">
            <a:extLst>
              <a:ext uri="{FF2B5EF4-FFF2-40B4-BE49-F238E27FC236}">
                <a16:creationId xmlns:a16="http://schemas.microsoft.com/office/drawing/2014/main" id="{E3AC4557-BA85-44E4-BB7D-0BE137945247}"/>
              </a:ext>
            </a:extLst>
          </p:cNvPr>
          <p:cNvSpPr txBox="1"/>
          <p:nvPr/>
        </p:nvSpPr>
        <p:spPr>
          <a:xfrm>
            <a:off x="3027327" y="4500375"/>
            <a:ext cx="1534855"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Review Solution and test plan </a:t>
            </a:r>
          </a:p>
        </p:txBody>
      </p:sp>
      <p:cxnSp>
        <p:nvCxnSpPr>
          <p:cNvPr id="305" name="Straight Connector 304">
            <a:extLst>
              <a:ext uri="{FF2B5EF4-FFF2-40B4-BE49-F238E27FC236}">
                <a16:creationId xmlns:a16="http://schemas.microsoft.com/office/drawing/2014/main" id="{F115D368-1728-4939-8234-9CD4D927E8D4}"/>
              </a:ext>
            </a:extLst>
          </p:cNvPr>
          <p:cNvCxnSpPr>
            <a:cxnSpLocks/>
          </p:cNvCxnSpPr>
          <p:nvPr/>
        </p:nvCxnSpPr>
        <p:spPr>
          <a:xfrm flipV="1">
            <a:off x="4545704" y="4123834"/>
            <a:ext cx="2733352" cy="2807"/>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E276F02D-0DE2-43C1-8E66-D78342AEDDB9}"/>
              </a:ext>
            </a:extLst>
          </p:cNvPr>
          <p:cNvCxnSpPr>
            <a:cxnSpLocks/>
          </p:cNvCxnSpPr>
          <p:nvPr/>
        </p:nvCxnSpPr>
        <p:spPr>
          <a:xfrm>
            <a:off x="7279056" y="4286592"/>
            <a:ext cx="2297515"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42" name="Straight Connector 341">
            <a:extLst>
              <a:ext uri="{FF2B5EF4-FFF2-40B4-BE49-F238E27FC236}">
                <a16:creationId xmlns:a16="http://schemas.microsoft.com/office/drawing/2014/main" id="{B82A52E5-C0A7-424E-B72F-729F108CE4E3}"/>
              </a:ext>
            </a:extLst>
          </p:cNvPr>
          <p:cNvCxnSpPr>
            <a:cxnSpLocks/>
          </p:cNvCxnSpPr>
          <p:nvPr/>
        </p:nvCxnSpPr>
        <p:spPr>
          <a:xfrm>
            <a:off x="9818810" y="4131929"/>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4" name="TextBox 343">
            <a:extLst>
              <a:ext uri="{FF2B5EF4-FFF2-40B4-BE49-F238E27FC236}">
                <a16:creationId xmlns:a16="http://schemas.microsoft.com/office/drawing/2014/main" id="{F10A2570-CF6E-4792-B154-7967509587C7}"/>
              </a:ext>
            </a:extLst>
          </p:cNvPr>
          <p:cNvSpPr txBox="1"/>
          <p:nvPr/>
        </p:nvSpPr>
        <p:spPr>
          <a:xfrm>
            <a:off x="9836524" y="3938263"/>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Cutover Support</a:t>
            </a:r>
          </a:p>
        </p:txBody>
      </p:sp>
      <p:cxnSp>
        <p:nvCxnSpPr>
          <p:cNvPr id="345" name="Straight Connector 344">
            <a:extLst>
              <a:ext uri="{FF2B5EF4-FFF2-40B4-BE49-F238E27FC236}">
                <a16:creationId xmlns:a16="http://schemas.microsoft.com/office/drawing/2014/main" id="{F12B9078-747D-40C1-8F91-F8A545DCC09B}"/>
              </a:ext>
            </a:extLst>
          </p:cNvPr>
          <p:cNvCxnSpPr>
            <a:cxnSpLocks/>
          </p:cNvCxnSpPr>
          <p:nvPr/>
        </p:nvCxnSpPr>
        <p:spPr>
          <a:xfrm>
            <a:off x="2971317" y="4014263"/>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6" name="TextBox 345">
            <a:extLst>
              <a:ext uri="{FF2B5EF4-FFF2-40B4-BE49-F238E27FC236}">
                <a16:creationId xmlns:a16="http://schemas.microsoft.com/office/drawing/2014/main" id="{21B669E9-EE94-41D9-966D-B264AE4966B9}"/>
              </a:ext>
            </a:extLst>
          </p:cNvPr>
          <p:cNvSpPr txBox="1"/>
          <p:nvPr/>
        </p:nvSpPr>
        <p:spPr>
          <a:xfrm>
            <a:off x="2871901" y="3805826"/>
            <a:ext cx="1763003"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Review strategy and integration arch</a:t>
            </a:r>
          </a:p>
        </p:txBody>
      </p:sp>
      <p:cxnSp>
        <p:nvCxnSpPr>
          <p:cNvPr id="348" name="Straight Connector 347">
            <a:extLst>
              <a:ext uri="{FF2B5EF4-FFF2-40B4-BE49-F238E27FC236}">
                <a16:creationId xmlns:a16="http://schemas.microsoft.com/office/drawing/2014/main" id="{1C0CE833-EC36-48A2-BC08-1D9259F81871}"/>
              </a:ext>
            </a:extLst>
          </p:cNvPr>
          <p:cNvCxnSpPr>
            <a:cxnSpLocks/>
          </p:cNvCxnSpPr>
          <p:nvPr/>
        </p:nvCxnSpPr>
        <p:spPr>
          <a:xfrm>
            <a:off x="10699366" y="4288680"/>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9" name="TextBox 348">
            <a:extLst>
              <a:ext uri="{FF2B5EF4-FFF2-40B4-BE49-F238E27FC236}">
                <a16:creationId xmlns:a16="http://schemas.microsoft.com/office/drawing/2014/main" id="{DF06D4E9-8ABD-4FE7-BF06-36B984F77FA4}"/>
              </a:ext>
            </a:extLst>
          </p:cNvPr>
          <p:cNvSpPr txBox="1"/>
          <p:nvPr/>
        </p:nvSpPr>
        <p:spPr>
          <a:xfrm>
            <a:off x="10848437" y="4113472"/>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Hypercare</a:t>
            </a:r>
          </a:p>
        </p:txBody>
      </p:sp>
      <p:sp>
        <p:nvSpPr>
          <p:cNvPr id="186" name="TextBox 185">
            <a:extLst>
              <a:ext uri="{FF2B5EF4-FFF2-40B4-BE49-F238E27FC236}">
                <a16:creationId xmlns:a16="http://schemas.microsoft.com/office/drawing/2014/main" id="{B6E1A788-3214-4D32-9DA2-3C3900B2DACB}"/>
              </a:ext>
            </a:extLst>
          </p:cNvPr>
          <p:cNvSpPr txBox="1"/>
          <p:nvPr/>
        </p:nvSpPr>
        <p:spPr>
          <a:xfrm>
            <a:off x="4781123" y="3923779"/>
            <a:ext cx="176300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Code Build and Unit Testing</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sp>
        <p:nvSpPr>
          <p:cNvPr id="187" name="TextBox 186">
            <a:extLst>
              <a:ext uri="{FF2B5EF4-FFF2-40B4-BE49-F238E27FC236}">
                <a16:creationId xmlns:a16="http://schemas.microsoft.com/office/drawing/2014/main" id="{62D7EA56-FEEF-4292-A985-E4D954D7FD2E}"/>
              </a:ext>
            </a:extLst>
          </p:cNvPr>
          <p:cNvSpPr txBox="1"/>
          <p:nvPr/>
        </p:nvSpPr>
        <p:spPr>
          <a:xfrm>
            <a:off x="7520349" y="4092050"/>
            <a:ext cx="176300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Test Cycle Support</a:t>
            </a:r>
          </a:p>
        </p:txBody>
      </p:sp>
      <p:sp>
        <p:nvSpPr>
          <p:cNvPr id="204" name="TextBox 203">
            <a:extLst>
              <a:ext uri="{FF2B5EF4-FFF2-40B4-BE49-F238E27FC236}">
                <a16:creationId xmlns:a16="http://schemas.microsoft.com/office/drawing/2014/main" id="{845552B6-9990-4D2D-AB47-D8CE9F6FC583}"/>
              </a:ext>
            </a:extLst>
          </p:cNvPr>
          <p:cNvSpPr txBox="1"/>
          <p:nvPr/>
        </p:nvSpPr>
        <p:spPr>
          <a:xfrm>
            <a:off x="7221776" y="4837925"/>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INT Prep &amp; Exec; UAT Prep</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213" name="Straight Connector 212">
            <a:extLst>
              <a:ext uri="{FF2B5EF4-FFF2-40B4-BE49-F238E27FC236}">
                <a16:creationId xmlns:a16="http://schemas.microsoft.com/office/drawing/2014/main" id="{A86BC0AA-6FA6-40F7-BA71-1090A3F48EC9}"/>
              </a:ext>
            </a:extLst>
          </p:cNvPr>
          <p:cNvCxnSpPr>
            <a:cxnSpLocks/>
          </p:cNvCxnSpPr>
          <p:nvPr/>
        </p:nvCxnSpPr>
        <p:spPr>
          <a:xfrm>
            <a:off x="2953593" y="5591421"/>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36" name="TextBox 235">
            <a:extLst>
              <a:ext uri="{FF2B5EF4-FFF2-40B4-BE49-F238E27FC236}">
                <a16:creationId xmlns:a16="http://schemas.microsoft.com/office/drawing/2014/main" id="{969ADE92-7C7D-4AC5-B5E1-30A46F5F93B5}"/>
              </a:ext>
            </a:extLst>
          </p:cNvPr>
          <p:cNvSpPr txBox="1"/>
          <p:nvPr/>
        </p:nvSpPr>
        <p:spPr>
          <a:xfrm>
            <a:off x="2953592" y="5374684"/>
            <a:ext cx="1453231"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Identify Integrations</a:t>
            </a:r>
          </a:p>
        </p:txBody>
      </p:sp>
      <p:cxnSp>
        <p:nvCxnSpPr>
          <p:cNvPr id="246" name="Straight Connector 245">
            <a:extLst>
              <a:ext uri="{FF2B5EF4-FFF2-40B4-BE49-F238E27FC236}">
                <a16:creationId xmlns:a16="http://schemas.microsoft.com/office/drawing/2014/main" id="{37319686-1962-487B-AB1A-500E03145038}"/>
              </a:ext>
            </a:extLst>
          </p:cNvPr>
          <p:cNvCxnSpPr>
            <a:cxnSpLocks/>
          </p:cNvCxnSpPr>
          <p:nvPr/>
        </p:nvCxnSpPr>
        <p:spPr>
          <a:xfrm>
            <a:off x="3878507" y="5828349"/>
            <a:ext cx="2344452"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47" name="TextBox 246">
            <a:extLst>
              <a:ext uri="{FF2B5EF4-FFF2-40B4-BE49-F238E27FC236}">
                <a16:creationId xmlns:a16="http://schemas.microsoft.com/office/drawing/2014/main" id="{EB5F4762-9EBB-43A1-857F-EAD406123DD3}"/>
              </a:ext>
            </a:extLst>
          </p:cNvPr>
          <p:cNvSpPr txBox="1"/>
          <p:nvPr/>
        </p:nvSpPr>
        <p:spPr>
          <a:xfrm>
            <a:off x="3878507" y="5628294"/>
            <a:ext cx="235533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Design Functional Spec &amp; Inputs to Data Mapping</a:t>
            </a:r>
          </a:p>
        </p:txBody>
      </p:sp>
      <p:cxnSp>
        <p:nvCxnSpPr>
          <p:cNvPr id="288" name="Straight Connector 287">
            <a:extLst>
              <a:ext uri="{FF2B5EF4-FFF2-40B4-BE49-F238E27FC236}">
                <a16:creationId xmlns:a16="http://schemas.microsoft.com/office/drawing/2014/main" id="{69CA6DB2-77F4-47FB-9957-B0477ADDB3AB}"/>
              </a:ext>
            </a:extLst>
          </p:cNvPr>
          <p:cNvCxnSpPr>
            <a:cxnSpLocks/>
          </p:cNvCxnSpPr>
          <p:nvPr/>
        </p:nvCxnSpPr>
        <p:spPr>
          <a:xfrm>
            <a:off x="7293232" y="5794647"/>
            <a:ext cx="2297515"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1" name="TextBox 290">
            <a:extLst>
              <a:ext uri="{FF2B5EF4-FFF2-40B4-BE49-F238E27FC236}">
                <a16:creationId xmlns:a16="http://schemas.microsoft.com/office/drawing/2014/main" id="{501119CA-9A51-422F-B199-F0008ABA3137}"/>
              </a:ext>
            </a:extLst>
          </p:cNvPr>
          <p:cNvSpPr txBox="1"/>
          <p:nvPr/>
        </p:nvSpPr>
        <p:spPr>
          <a:xfrm>
            <a:off x="7534525" y="5467198"/>
            <a:ext cx="1763003"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Execute Process Testing Cycle and Support Integration testing</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292" name="Straight Connector 291">
            <a:extLst>
              <a:ext uri="{FF2B5EF4-FFF2-40B4-BE49-F238E27FC236}">
                <a16:creationId xmlns:a16="http://schemas.microsoft.com/office/drawing/2014/main" id="{F4E9E0ED-A508-4873-83E9-11EBB70667C7}"/>
              </a:ext>
            </a:extLst>
          </p:cNvPr>
          <p:cNvCxnSpPr>
            <a:cxnSpLocks/>
          </p:cNvCxnSpPr>
          <p:nvPr/>
        </p:nvCxnSpPr>
        <p:spPr>
          <a:xfrm>
            <a:off x="9838002" y="5772101"/>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4" name="TextBox 293">
            <a:extLst>
              <a:ext uri="{FF2B5EF4-FFF2-40B4-BE49-F238E27FC236}">
                <a16:creationId xmlns:a16="http://schemas.microsoft.com/office/drawing/2014/main" id="{CF860F12-820A-41DD-8ED2-3CCC2E1C7860}"/>
              </a:ext>
            </a:extLst>
          </p:cNvPr>
          <p:cNvSpPr txBox="1"/>
          <p:nvPr/>
        </p:nvSpPr>
        <p:spPr>
          <a:xfrm>
            <a:off x="9671687" y="5553359"/>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Assist</a:t>
            </a: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 Cutover</a:t>
            </a:r>
          </a:p>
        </p:txBody>
      </p:sp>
      <p:cxnSp>
        <p:nvCxnSpPr>
          <p:cNvPr id="297" name="Straight Connector 296">
            <a:extLst>
              <a:ext uri="{FF2B5EF4-FFF2-40B4-BE49-F238E27FC236}">
                <a16:creationId xmlns:a16="http://schemas.microsoft.com/office/drawing/2014/main" id="{C013F605-9F37-42B0-9A39-9D4DC5786834}"/>
              </a:ext>
            </a:extLst>
          </p:cNvPr>
          <p:cNvCxnSpPr>
            <a:cxnSpLocks/>
          </p:cNvCxnSpPr>
          <p:nvPr/>
        </p:nvCxnSpPr>
        <p:spPr>
          <a:xfrm>
            <a:off x="3876735" y="6514840"/>
            <a:ext cx="2344452"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10" name="TextBox 309">
            <a:extLst>
              <a:ext uri="{FF2B5EF4-FFF2-40B4-BE49-F238E27FC236}">
                <a16:creationId xmlns:a16="http://schemas.microsoft.com/office/drawing/2014/main" id="{04C470F8-5EAB-464D-945C-D3E0B7EEC745}"/>
              </a:ext>
            </a:extLst>
          </p:cNvPr>
          <p:cNvSpPr txBox="1"/>
          <p:nvPr/>
        </p:nvSpPr>
        <p:spPr>
          <a:xfrm>
            <a:off x="3885201" y="6327485"/>
            <a:ext cx="235533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Inputs to Data Mapping</a:t>
            </a:r>
          </a:p>
        </p:txBody>
      </p:sp>
      <p:cxnSp>
        <p:nvCxnSpPr>
          <p:cNvPr id="318" name="Straight Connector 317">
            <a:extLst>
              <a:ext uri="{FF2B5EF4-FFF2-40B4-BE49-F238E27FC236}">
                <a16:creationId xmlns:a16="http://schemas.microsoft.com/office/drawing/2014/main" id="{840DBD84-9EF4-4222-806C-98FBC4C454AD}"/>
              </a:ext>
            </a:extLst>
          </p:cNvPr>
          <p:cNvCxnSpPr>
            <a:cxnSpLocks/>
          </p:cNvCxnSpPr>
          <p:nvPr/>
        </p:nvCxnSpPr>
        <p:spPr>
          <a:xfrm>
            <a:off x="2949654" y="6311877"/>
            <a:ext cx="2384145"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1" name="TextBox 340">
            <a:extLst>
              <a:ext uri="{FF2B5EF4-FFF2-40B4-BE49-F238E27FC236}">
                <a16:creationId xmlns:a16="http://schemas.microsoft.com/office/drawing/2014/main" id="{8B83E09E-5E48-4CF3-A45B-2D0072507B87}"/>
              </a:ext>
            </a:extLst>
          </p:cNvPr>
          <p:cNvSpPr txBox="1"/>
          <p:nvPr/>
        </p:nvSpPr>
        <p:spPr>
          <a:xfrm>
            <a:off x="2949653" y="6095140"/>
            <a:ext cx="239096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Existing Process Walkthrough</a:t>
            </a:r>
          </a:p>
        </p:txBody>
      </p:sp>
      <p:cxnSp>
        <p:nvCxnSpPr>
          <p:cNvPr id="351" name="Straight Connector 350">
            <a:extLst>
              <a:ext uri="{FF2B5EF4-FFF2-40B4-BE49-F238E27FC236}">
                <a16:creationId xmlns:a16="http://schemas.microsoft.com/office/drawing/2014/main" id="{B7903855-E9B2-4437-9C59-B259F2DAB97F}"/>
              </a:ext>
            </a:extLst>
          </p:cNvPr>
          <p:cNvCxnSpPr>
            <a:cxnSpLocks/>
          </p:cNvCxnSpPr>
          <p:nvPr/>
        </p:nvCxnSpPr>
        <p:spPr>
          <a:xfrm>
            <a:off x="4153211" y="6737773"/>
            <a:ext cx="3108283"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52" name="TextBox 351">
            <a:extLst>
              <a:ext uri="{FF2B5EF4-FFF2-40B4-BE49-F238E27FC236}">
                <a16:creationId xmlns:a16="http://schemas.microsoft.com/office/drawing/2014/main" id="{FEC49A29-F574-493E-8901-A895E2096C13}"/>
              </a:ext>
            </a:extLst>
          </p:cNvPr>
          <p:cNvSpPr txBox="1"/>
          <p:nvPr/>
        </p:nvSpPr>
        <p:spPr>
          <a:xfrm>
            <a:off x="4280211" y="6565216"/>
            <a:ext cx="314288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Retrofit existing programs (If required)</a:t>
            </a:r>
          </a:p>
        </p:txBody>
      </p:sp>
      <p:sp>
        <p:nvSpPr>
          <p:cNvPr id="371" name="TextBox 370">
            <a:extLst>
              <a:ext uri="{FF2B5EF4-FFF2-40B4-BE49-F238E27FC236}">
                <a16:creationId xmlns:a16="http://schemas.microsoft.com/office/drawing/2014/main" id="{105C9131-C773-4BCF-9B1E-4ACA5C55F375}"/>
              </a:ext>
            </a:extLst>
          </p:cNvPr>
          <p:cNvSpPr txBox="1"/>
          <p:nvPr/>
        </p:nvSpPr>
        <p:spPr>
          <a:xfrm>
            <a:off x="8509924" y="6303002"/>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UAT Execution</a:t>
            </a:r>
          </a:p>
        </p:txBody>
      </p:sp>
      <p:sp>
        <p:nvSpPr>
          <p:cNvPr id="379" name="TextBox 378">
            <a:extLst>
              <a:ext uri="{FF2B5EF4-FFF2-40B4-BE49-F238E27FC236}">
                <a16:creationId xmlns:a16="http://schemas.microsoft.com/office/drawing/2014/main" id="{592C1BCF-9B56-4277-A1A4-73726902A6B8}"/>
              </a:ext>
            </a:extLst>
          </p:cNvPr>
          <p:cNvSpPr txBox="1"/>
          <p:nvPr/>
        </p:nvSpPr>
        <p:spPr>
          <a:xfrm>
            <a:off x="7183381" y="6283898"/>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SIT Support</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380" name="Straight Connector 379">
            <a:extLst>
              <a:ext uri="{FF2B5EF4-FFF2-40B4-BE49-F238E27FC236}">
                <a16:creationId xmlns:a16="http://schemas.microsoft.com/office/drawing/2014/main" id="{7BD05B08-4901-4981-8175-78408140C275}"/>
              </a:ext>
            </a:extLst>
          </p:cNvPr>
          <p:cNvCxnSpPr>
            <a:cxnSpLocks/>
          </p:cNvCxnSpPr>
          <p:nvPr/>
        </p:nvCxnSpPr>
        <p:spPr>
          <a:xfrm>
            <a:off x="7300290" y="6502955"/>
            <a:ext cx="113062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88" name="Straight Connector 387">
            <a:extLst>
              <a:ext uri="{FF2B5EF4-FFF2-40B4-BE49-F238E27FC236}">
                <a16:creationId xmlns:a16="http://schemas.microsoft.com/office/drawing/2014/main" id="{4E719F72-3B64-4B7A-8524-B20F2B430649}"/>
              </a:ext>
            </a:extLst>
          </p:cNvPr>
          <p:cNvCxnSpPr>
            <a:cxnSpLocks/>
          </p:cNvCxnSpPr>
          <p:nvPr/>
        </p:nvCxnSpPr>
        <p:spPr>
          <a:xfrm>
            <a:off x="8758763" y="6516593"/>
            <a:ext cx="80987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84757130-C960-41DD-881F-348E488DE1EC}"/>
              </a:ext>
            </a:extLst>
          </p:cNvPr>
          <p:cNvCxnSpPr>
            <a:cxnSpLocks/>
          </p:cNvCxnSpPr>
          <p:nvPr/>
        </p:nvCxnSpPr>
        <p:spPr>
          <a:xfrm>
            <a:off x="9901502" y="6521401"/>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90" name="TextBox 389">
            <a:extLst>
              <a:ext uri="{FF2B5EF4-FFF2-40B4-BE49-F238E27FC236}">
                <a16:creationId xmlns:a16="http://schemas.microsoft.com/office/drawing/2014/main" id="{67FB7E4D-D7C4-4C52-A85E-8D6750B43A01}"/>
              </a:ext>
            </a:extLst>
          </p:cNvPr>
          <p:cNvSpPr txBox="1"/>
          <p:nvPr/>
        </p:nvSpPr>
        <p:spPr>
          <a:xfrm>
            <a:off x="9722487" y="6328059"/>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Assist</a:t>
            </a: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 Cutover</a:t>
            </a:r>
          </a:p>
        </p:txBody>
      </p:sp>
      <p:cxnSp>
        <p:nvCxnSpPr>
          <p:cNvPr id="391" name="Straight Connector 390">
            <a:extLst>
              <a:ext uri="{FF2B5EF4-FFF2-40B4-BE49-F238E27FC236}">
                <a16:creationId xmlns:a16="http://schemas.microsoft.com/office/drawing/2014/main" id="{44F01750-7EB1-45B1-9EBC-1EF6C7D7F4F0}"/>
              </a:ext>
            </a:extLst>
          </p:cNvPr>
          <p:cNvCxnSpPr>
            <a:cxnSpLocks/>
          </p:cNvCxnSpPr>
          <p:nvPr/>
        </p:nvCxnSpPr>
        <p:spPr>
          <a:xfrm>
            <a:off x="10782058" y="5772101"/>
            <a:ext cx="810564" cy="2479"/>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92" name="TextBox 391">
            <a:extLst>
              <a:ext uri="{FF2B5EF4-FFF2-40B4-BE49-F238E27FC236}">
                <a16:creationId xmlns:a16="http://schemas.microsoft.com/office/drawing/2014/main" id="{68D46F9B-5695-4556-8FAE-D7586713ED04}"/>
              </a:ext>
            </a:extLst>
          </p:cNvPr>
          <p:cNvSpPr txBox="1"/>
          <p:nvPr/>
        </p:nvSpPr>
        <p:spPr>
          <a:xfrm>
            <a:off x="10719626" y="5542770"/>
            <a:ext cx="986311"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Support Hypercare</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248" name="Straight Connector 247">
            <a:extLst>
              <a:ext uri="{FF2B5EF4-FFF2-40B4-BE49-F238E27FC236}">
                <a16:creationId xmlns:a16="http://schemas.microsoft.com/office/drawing/2014/main" id="{4768C692-C9F5-4ED7-A87A-D7BEF458AA92}"/>
              </a:ext>
            </a:extLst>
          </p:cNvPr>
          <p:cNvCxnSpPr>
            <a:cxnSpLocks/>
          </p:cNvCxnSpPr>
          <p:nvPr/>
        </p:nvCxnSpPr>
        <p:spPr>
          <a:xfrm>
            <a:off x="2958899" y="3394854"/>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82" name="TextBox 281">
            <a:extLst>
              <a:ext uri="{FF2B5EF4-FFF2-40B4-BE49-F238E27FC236}">
                <a16:creationId xmlns:a16="http://schemas.microsoft.com/office/drawing/2014/main" id="{BBAE3032-F0AC-400C-B1E4-4EEFE753A841}"/>
              </a:ext>
            </a:extLst>
          </p:cNvPr>
          <p:cNvSpPr txBox="1"/>
          <p:nvPr/>
        </p:nvSpPr>
        <p:spPr>
          <a:xfrm>
            <a:off x="2859483" y="3186417"/>
            <a:ext cx="1763003"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OCI Landing Zone Design</a:t>
            </a:r>
          </a:p>
        </p:txBody>
      </p:sp>
      <p:sp>
        <p:nvSpPr>
          <p:cNvPr id="285" name="Diamond 284">
            <a:extLst>
              <a:ext uri="{FF2B5EF4-FFF2-40B4-BE49-F238E27FC236}">
                <a16:creationId xmlns:a16="http://schemas.microsoft.com/office/drawing/2014/main" id="{76BBAF63-25E6-4CF8-AC3C-C659D54169D3}"/>
              </a:ext>
            </a:extLst>
          </p:cNvPr>
          <p:cNvSpPr/>
          <p:nvPr/>
        </p:nvSpPr>
        <p:spPr bwMode="gray">
          <a:xfrm>
            <a:off x="7159866" y="36257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87" name="Diamond 286">
            <a:extLst>
              <a:ext uri="{FF2B5EF4-FFF2-40B4-BE49-F238E27FC236}">
                <a16:creationId xmlns:a16="http://schemas.microsoft.com/office/drawing/2014/main" id="{C141D4BB-F63A-408E-AD85-FE09758BD296}"/>
              </a:ext>
            </a:extLst>
          </p:cNvPr>
          <p:cNvSpPr/>
          <p:nvPr/>
        </p:nvSpPr>
        <p:spPr bwMode="gray">
          <a:xfrm>
            <a:off x="4378566" y="361812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 name="TextBox 2">
            <a:extLst>
              <a:ext uri="{FF2B5EF4-FFF2-40B4-BE49-F238E27FC236}">
                <a16:creationId xmlns:a16="http://schemas.microsoft.com/office/drawing/2014/main" id="{9BD3694F-4D6F-46A9-B0D6-06ADE61DB138}"/>
              </a:ext>
            </a:extLst>
          </p:cNvPr>
          <p:cNvSpPr txBox="1"/>
          <p:nvPr/>
        </p:nvSpPr>
        <p:spPr>
          <a:xfrm>
            <a:off x="4416345" y="3527352"/>
            <a:ext cx="1630676" cy="292388"/>
          </a:xfrm>
          <a:prstGeom prst="rect">
            <a:avLst/>
          </a:prstGeom>
          <a:noFill/>
        </p:spPr>
        <p:txBody>
          <a:bodyPr wrap="square" lIns="0" tIns="0" rIns="0" bIns="0" rtlCol="0">
            <a:spAutoFit/>
          </a:bodyPr>
          <a:lstStyle/>
          <a:p>
            <a:pPr marL="203200" indent="-203200">
              <a:spcBef>
                <a:spcPts val="600"/>
              </a:spcBef>
              <a:buSzPct val="100000"/>
              <a:buFont typeface="Arial"/>
              <a:buChar char="•"/>
            </a:pPr>
            <a:r>
              <a:rPr lang="en-US" sz="700">
                <a:solidFill>
                  <a:srgbClr val="313131"/>
                </a:solidFill>
              </a:rPr>
              <a:t>Dev environment ready</a:t>
            </a:r>
          </a:p>
          <a:p>
            <a:pPr marL="203200" indent="-203200">
              <a:spcBef>
                <a:spcPts val="600"/>
              </a:spcBef>
              <a:buSzPct val="100000"/>
              <a:buFont typeface="Arial"/>
              <a:buChar char="•"/>
            </a:pPr>
            <a:r>
              <a:rPr lang="en-US" sz="700" err="1">
                <a:solidFill>
                  <a:srgbClr val="313131"/>
                </a:solidFill>
              </a:rPr>
              <a:t>Devops</a:t>
            </a:r>
            <a:r>
              <a:rPr lang="en-US" sz="700">
                <a:solidFill>
                  <a:srgbClr val="313131"/>
                </a:solidFill>
              </a:rPr>
              <a:t>/CICD tool setup</a:t>
            </a:r>
          </a:p>
        </p:txBody>
      </p:sp>
      <p:sp>
        <p:nvSpPr>
          <p:cNvPr id="312" name="TextBox 311">
            <a:extLst>
              <a:ext uri="{FF2B5EF4-FFF2-40B4-BE49-F238E27FC236}">
                <a16:creationId xmlns:a16="http://schemas.microsoft.com/office/drawing/2014/main" id="{B06DC0D8-58BB-43EA-88F2-15FEEE0BFAB0}"/>
              </a:ext>
            </a:extLst>
          </p:cNvPr>
          <p:cNvSpPr txBox="1"/>
          <p:nvPr/>
        </p:nvSpPr>
        <p:spPr>
          <a:xfrm>
            <a:off x="7174785" y="3657041"/>
            <a:ext cx="993862" cy="107722"/>
          </a:xfrm>
          <a:prstGeom prst="rect">
            <a:avLst/>
          </a:prstGeom>
          <a:noFill/>
        </p:spPr>
        <p:txBody>
          <a:bodyPr wrap="none" lIns="0" tIns="0" rIns="0" bIns="0" rtlCol="0">
            <a:spAutoFit/>
          </a:bodyPr>
          <a:lstStyle/>
          <a:p>
            <a:pPr marL="203200" indent="-203200">
              <a:spcBef>
                <a:spcPts val="600"/>
              </a:spcBef>
              <a:buSzPct val="100000"/>
              <a:buFont typeface="Arial"/>
              <a:buChar char="•"/>
            </a:pPr>
            <a:r>
              <a:rPr lang="en-US" sz="700">
                <a:solidFill>
                  <a:srgbClr val="313131"/>
                </a:solidFill>
              </a:rPr>
              <a:t>Test environment</a:t>
            </a:r>
          </a:p>
        </p:txBody>
      </p:sp>
      <p:sp>
        <p:nvSpPr>
          <p:cNvPr id="314" name="TextBox 313">
            <a:extLst>
              <a:ext uri="{FF2B5EF4-FFF2-40B4-BE49-F238E27FC236}">
                <a16:creationId xmlns:a16="http://schemas.microsoft.com/office/drawing/2014/main" id="{8C655207-87E6-4910-9A25-9B0C0F78B993}"/>
              </a:ext>
            </a:extLst>
          </p:cNvPr>
          <p:cNvSpPr txBox="1"/>
          <p:nvPr/>
        </p:nvSpPr>
        <p:spPr>
          <a:xfrm>
            <a:off x="3296205" y="2910281"/>
            <a:ext cx="1918795" cy="107722"/>
          </a:xfrm>
          <a:prstGeom prst="rect">
            <a:avLst/>
          </a:prstGeom>
          <a:noFill/>
        </p:spPr>
        <p:txBody>
          <a:bodyPr wrap="none" lIns="0" tIns="0" rIns="0" bIns="0" rtlCol="0">
            <a:spAutoFit/>
          </a:bodyPr>
          <a:lstStyle/>
          <a:p>
            <a:pPr marL="203200" indent="-203200">
              <a:spcBef>
                <a:spcPts val="600"/>
              </a:spcBef>
              <a:buSzPct val="100000"/>
              <a:buFont typeface="Arial"/>
              <a:buChar char="•"/>
            </a:pPr>
            <a:r>
              <a:rPr lang="en-US" sz="700">
                <a:solidFill>
                  <a:srgbClr val="313131"/>
                </a:solidFill>
              </a:rPr>
              <a:t>CICD requirements/standards, tooling</a:t>
            </a:r>
          </a:p>
        </p:txBody>
      </p:sp>
      <p:sp>
        <p:nvSpPr>
          <p:cNvPr id="317" name="Diamond 316">
            <a:extLst>
              <a:ext uri="{FF2B5EF4-FFF2-40B4-BE49-F238E27FC236}">
                <a16:creationId xmlns:a16="http://schemas.microsoft.com/office/drawing/2014/main" id="{471ABB15-28D0-481C-AC10-57F8B00289D8}"/>
              </a:ext>
            </a:extLst>
          </p:cNvPr>
          <p:cNvSpPr/>
          <p:nvPr/>
        </p:nvSpPr>
        <p:spPr bwMode="gray">
          <a:xfrm>
            <a:off x="3304146" y="287136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5" name="TextBox 4">
            <a:extLst>
              <a:ext uri="{FF2B5EF4-FFF2-40B4-BE49-F238E27FC236}">
                <a16:creationId xmlns:a16="http://schemas.microsoft.com/office/drawing/2014/main" id="{E0E95D2D-3E9F-47D7-BE80-4A65411636BB}"/>
              </a:ext>
            </a:extLst>
          </p:cNvPr>
          <p:cNvSpPr txBox="1"/>
          <p:nvPr/>
        </p:nvSpPr>
        <p:spPr>
          <a:xfrm>
            <a:off x="10270592" y="400706"/>
            <a:ext cx="1753965" cy="369332"/>
          </a:xfrm>
          <a:prstGeom prst="rect">
            <a:avLst/>
          </a:prstGeom>
          <a:solidFill>
            <a:srgbClr val="FFFF00"/>
          </a:solidFill>
        </p:spPr>
        <p:txBody>
          <a:bodyPr wrap="square" rtlCol="0">
            <a:spAutoFit/>
          </a:bodyPr>
          <a:lstStyle/>
          <a:p>
            <a:r>
              <a:rPr lang="en-US"/>
              <a:t>Rita  - ATS</a:t>
            </a:r>
          </a:p>
        </p:txBody>
      </p:sp>
    </p:spTree>
    <p:extLst>
      <p:ext uri="{BB962C8B-B14F-4D97-AF65-F5344CB8AC3E}">
        <p14:creationId xmlns:p14="http://schemas.microsoft.com/office/powerpoint/2010/main" val="363657752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F5F04AD-6F82-42E4-B623-32B813813D2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Object 4" hidden="1">
                        <a:extLst>
                          <a:ext uri="{FF2B5EF4-FFF2-40B4-BE49-F238E27FC236}">
                            <a16:creationId xmlns:a16="http://schemas.microsoft.com/office/drawing/2014/main" id="{EF5F04AD-6F82-42E4-B623-32B813813D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383EF02-89AB-40AC-8873-F23B261E333C}"/>
              </a:ext>
            </a:extLst>
          </p:cNvPr>
          <p:cNvSpPr>
            <a:spLocks noGrp="1"/>
          </p:cNvSpPr>
          <p:nvPr>
            <p:ph type="title"/>
          </p:nvPr>
        </p:nvSpPr>
        <p:spPr>
          <a:xfrm>
            <a:off x="418989" y="126207"/>
            <a:ext cx="10515600" cy="1325563"/>
          </a:xfrm>
        </p:spPr>
        <p:txBody>
          <a:bodyPr>
            <a:normAutofit/>
          </a:bodyPr>
          <a:lstStyle/>
          <a:p>
            <a:r>
              <a:rPr lang="en-US" sz="3200"/>
              <a:t>Timelines, Activities &amp; Deliverables –Integration POD to support Oracle Retail MVP</a:t>
            </a:r>
          </a:p>
        </p:txBody>
      </p:sp>
      <p:cxnSp>
        <p:nvCxnSpPr>
          <p:cNvPr id="37" name="Straight Connector 36">
            <a:extLst>
              <a:ext uri="{FF2B5EF4-FFF2-40B4-BE49-F238E27FC236}">
                <a16:creationId xmlns:a16="http://schemas.microsoft.com/office/drawing/2014/main" id="{2F6E545F-E1ED-4339-92FF-2F4BF8915C3A}"/>
              </a:ext>
            </a:extLst>
          </p:cNvPr>
          <p:cNvCxnSpPr>
            <a:cxnSpLocks/>
          </p:cNvCxnSpPr>
          <p:nvPr/>
        </p:nvCxnSpPr>
        <p:spPr>
          <a:xfrm flipH="1">
            <a:off x="1012785" y="5618511"/>
            <a:ext cx="10769674" cy="0"/>
          </a:xfrm>
          <a:prstGeom prst="line">
            <a:avLst/>
          </a:prstGeom>
          <a:noFill/>
          <a:ln w="9525" cap="flat" cmpd="sng" algn="ctr">
            <a:solidFill>
              <a:srgbClr val="000000">
                <a:lumMod val="75000"/>
              </a:srgbClr>
            </a:solidFill>
            <a:prstDash val="dot"/>
            <a:miter lim="800000"/>
          </a:ln>
          <a:effectLst/>
        </p:spPr>
      </p:cxnSp>
      <p:sp>
        <p:nvSpPr>
          <p:cNvPr id="36" name="Rectangle 35">
            <a:extLst>
              <a:ext uri="{FF2B5EF4-FFF2-40B4-BE49-F238E27FC236}">
                <a16:creationId xmlns:a16="http://schemas.microsoft.com/office/drawing/2014/main" id="{25579246-1E29-4712-8342-562A07B84110}"/>
              </a:ext>
            </a:extLst>
          </p:cNvPr>
          <p:cNvSpPr/>
          <p:nvPr/>
        </p:nvSpPr>
        <p:spPr>
          <a:xfrm>
            <a:off x="2134284" y="3338175"/>
            <a:ext cx="2368296" cy="2219665"/>
          </a:xfrm>
          <a:prstGeom prst="rect">
            <a:avLst/>
          </a:prstGeom>
          <a:solidFill>
            <a:schemeClr val="bg1">
              <a:lumMod val="8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Capture technical requirements &amp; data mapping with current and Retail applications stakeholders</a:t>
            </a:r>
          </a:p>
          <a:p>
            <a:pPr marL="171450" indent="-171450">
              <a:spcAft>
                <a:spcPts val="600"/>
              </a:spcAft>
              <a:buFont typeface="Arial" panose="020B0604020202020204" pitchFamily="34" charset="0"/>
              <a:buChar char="•"/>
              <a:defRPr/>
            </a:pPr>
            <a:r>
              <a:rPr kumimoji="0" lang="en-US" sz="1000" b="0" i="0" u="none" strike="noStrike" kern="0" cap="none" spc="0" normalizeH="0" baseline="0" noProof="0">
                <a:ln>
                  <a:noFill/>
                </a:ln>
                <a:solidFill>
                  <a:srgbClr val="000000"/>
                </a:solidFill>
                <a:effectLst/>
                <a:uLnTx/>
                <a:uFillTx/>
                <a:latin typeface="Open Sans"/>
                <a:ea typeface="+mn-ea"/>
                <a:cs typeface="+mn-cs"/>
              </a:rPr>
              <a:t>Write lean design specifications</a:t>
            </a:r>
          </a:p>
          <a:p>
            <a:pPr marL="171450" indent="-171450">
              <a:spcAft>
                <a:spcPts val="600"/>
              </a:spcAft>
              <a:buFont typeface="Arial" panose="020B0604020202020204" pitchFamily="34" charset="0"/>
              <a:buChar char="•"/>
              <a:defRPr/>
            </a:pPr>
            <a:r>
              <a:rPr lang="en-US" sz="1000" kern="0">
                <a:solidFill>
                  <a:srgbClr val="000000"/>
                </a:solidFill>
                <a:latin typeface="Open Sans"/>
              </a:rPr>
              <a:t>Perform Initial POC’s for connectivity testing </a:t>
            </a:r>
          </a:p>
          <a:p>
            <a:pPr marL="171450" indent="-171450">
              <a:spcAft>
                <a:spcPts val="600"/>
              </a:spcAft>
              <a:buFont typeface="Arial" panose="020B0604020202020204" pitchFamily="34" charset="0"/>
              <a:buChar char="•"/>
              <a:defRPr/>
            </a:pPr>
            <a:r>
              <a:rPr kumimoji="0" lang="en-US" sz="1000" b="0" i="0" u="none" strike="noStrike" kern="0" cap="none" spc="0" normalizeH="0" baseline="0" noProof="0">
                <a:ln>
                  <a:noFill/>
                </a:ln>
                <a:solidFill>
                  <a:srgbClr val="000000"/>
                </a:solidFill>
                <a:effectLst/>
                <a:uLnTx/>
                <a:uFillTx/>
                <a:latin typeface="Open Sans"/>
                <a:ea typeface="+mn-ea"/>
                <a:cs typeface="+mn-cs"/>
              </a:rPr>
              <a:t>E</a:t>
            </a:r>
            <a:r>
              <a:rPr lang="en-US" sz="1000" kern="0">
                <a:solidFill>
                  <a:srgbClr val="000000"/>
                </a:solidFill>
                <a:latin typeface="Open Sans"/>
              </a:rPr>
              <a:t>stablish CICD pipeline for Code promotions</a:t>
            </a:r>
          </a:p>
          <a:p>
            <a:pPr marL="171450" indent="-171450">
              <a:spcAft>
                <a:spcPts val="600"/>
              </a:spcAft>
              <a:buFont typeface="Arial" panose="020B0604020202020204" pitchFamily="34" charset="0"/>
              <a:buChar char="•"/>
              <a:defRPr/>
            </a:pPr>
            <a:r>
              <a:rPr kumimoji="0" lang="en-US" sz="1000" b="0" i="0" u="none" strike="noStrike" kern="0" cap="none" spc="0" normalizeH="0" baseline="0" noProof="0">
                <a:ln>
                  <a:noFill/>
                </a:ln>
                <a:solidFill>
                  <a:srgbClr val="000000"/>
                </a:solidFill>
                <a:effectLst/>
                <a:uLnTx/>
                <a:uFillTx/>
                <a:latin typeface="Open Sans"/>
                <a:ea typeface="+mn-ea"/>
                <a:cs typeface="+mn-cs"/>
              </a:rPr>
              <a:t>Validate </a:t>
            </a:r>
            <a:r>
              <a:rPr lang="en-US" sz="1000" kern="0">
                <a:solidFill>
                  <a:srgbClr val="000000"/>
                </a:solidFill>
                <a:latin typeface="Open Sans"/>
              </a:rPr>
              <a:t>integrations in RICE list</a:t>
            </a: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indent="-171450">
              <a:spcAft>
                <a:spcPts val="600"/>
              </a:spcAft>
              <a:buFont typeface="Arial" panose="020B0604020202020204" pitchFamily="34" charset="0"/>
              <a:buChar char="•"/>
              <a:defRPr/>
            </a:pPr>
            <a:r>
              <a:rPr lang="en-US" sz="1000">
                <a:solidFill>
                  <a:srgbClr val="313131"/>
                </a:solidFill>
                <a:latin typeface="Open Sans" panose="020B0606030504020204" pitchFamily="34" charset="0"/>
                <a:ea typeface="Open Sans" panose="020B0606030504020204" pitchFamily="34" charset="0"/>
                <a:cs typeface="Open Sans" panose="020B0606030504020204" pitchFamily="34" charset="0"/>
              </a:rPr>
              <a:t>Design &amp; curate initial canonical models for Retail MVP</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38" name="Pentagon 195">
            <a:extLst>
              <a:ext uri="{FF2B5EF4-FFF2-40B4-BE49-F238E27FC236}">
                <a16:creationId xmlns:a16="http://schemas.microsoft.com/office/drawing/2014/main" id="{2F3E9867-1A6D-4A2F-99F0-489AA809EEF5}"/>
              </a:ext>
            </a:extLst>
          </p:cNvPr>
          <p:cNvSpPr>
            <a:spLocks/>
          </p:cNvSpPr>
          <p:nvPr/>
        </p:nvSpPr>
        <p:spPr>
          <a:xfrm>
            <a:off x="1025414" y="3366455"/>
            <a:ext cx="1088136" cy="2216067"/>
          </a:xfrm>
          <a:prstGeom prst="rect">
            <a:avLst/>
          </a:prstGeom>
          <a:solidFill>
            <a:schemeClr val="bg1">
              <a:lumMod val="95000"/>
            </a:schemeClr>
          </a:solidFill>
          <a:ln w="19050" cap="flat" cmpd="sng" algn="ctr">
            <a:solidFill>
              <a:srgbClr val="FFFFFF">
                <a:lumMod val="95000"/>
              </a:srgbClr>
            </a:solidFill>
            <a:prstDash val="solid"/>
            <a:miter lim="800000"/>
          </a:ln>
          <a:effectLst/>
        </p:spPr>
        <p:txBody>
          <a:bodyPr lIns="45720" tIns="45720" rIns="45720" bIns="45720" rtlCol="0" anchor="t"/>
          <a:lstStyle/>
          <a:p>
            <a:pPr marL="171450" indent="-171450">
              <a:spcAft>
                <a:spcPts val="600"/>
              </a:spcAft>
              <a:buFont typeface="Arial" panose="020B0604020202020204" pitchFamily="34" charset="0"/>
              <a:buChar char="•"/>
              <a:defRPr/>
            </a:pPr>
            <a:r>
              <a:rPr lang="en-US" sz="1000" kern="0">
                <a:solidFill>
                  <a:srgbClr val="000000"/>
                </a:solidFill>
                <a:latin typeface="Open Sans"/>
              </a:rPr>
              <a:t>Participate in scope review sessions &amp; </a:t>
            </a:r>
            <a:r>
              <a:rPr kumimoji="0" lang="en-US" sz="1000" b="0" i="0" u="none" strike="noStrike" kern="0" cap="none" spc="0" normalizeH="0" baseline="0" noProof="0">
                <a:ln>
                  <a:noFill/>
                </a:ln>
                <a:solidFill>
                  <a:srgbClr val="000000"/>
                </a:solidFill>
                <a:effectLst/>
                <a:uLnTx/>
                <a:uFillTx/>
                <a:latin typeface="Open Sans"/>
                <a:ea typeface="+mn-ea"/>
                <a:cs typeface="+mn-cs"/>
              </a:rPr>
              <a:t>Finalize scope for POD</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Review Coding Standards</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Review Existing Landscape</a:t>
            </a:r>
          </a:p>
        </p:txBody>
      </p:sp>
      <p:sp>
        <p:nvSpPr>
          <p:cNvPr id="53" name="Pentagon 194">
            <a:extLst>
              <a:ext uri="{FF2B5EF4-FFF2-40B4-BE49-F238E27FC236}">
                <a16:creationId xmlns:a16="http://schemas.microsoft.com/office/drawing/2014/main" id="{09FEA067-B57F-4EF9-BBCE-C9668F31751F}"/>
              </a:ext>
            </a:extLst>
          </p:cNvPr>
          <p:cNvSpPr>
            <a:spLocks/>
          </p:cNvSpPr>
          <p:nvPr/>
        </p:nvSpPr>
        <p:spPr>
          <a:xfrm>
            <a:off x="1025414" y="3034196"/>
            <a:ext cx="1084730" cy="282130"/>
          </a:xfrm>
          <a:prstGeom prst="rect">
            <a:avLst/>
          </a:prstGeom>
          <a:solidFill>
            <a:srgbClr val="046A38"/>
          </a:solidFill>
          <a:ln w="19050" cap="flat" cmpd="sng" algn="ctr">
            <a:noFill/>
            <a:prstDash val="solid"/>
            <a:miter lim="800000"/>
          </a:ln>
          <a:effectLst/>
        </p:spPr>
        <p:txBody>
          <a:bodyPr lIns="91440" tIns="91440" rIns="9144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56" name="Pentagon 194">
            <a:extLst>
              <a:ext uri="{FF2B5EF4-FFF2-40B4-BE49-F238E27FC236}">
                <a16:creationId xmlns:a16="http://schemas.microsoft.com/office/drawing/2014/main" id="{44A91F7A-B97D-418C-AF93-34F809E650A0}"/>
              </a:ext>
            </a:extLst>
          </p:cNvPr>
          <p:cNvSpPr>
            <a:spLocks/>
          </p:cNvSpPr>
          <p:nvPr/>
        </p:nvSpPr>
        <p:spPr>
          <a:xfrm>
            <a:off x="2134284" y="3034196"/>
            <a:ext cx="2365049" cy="282130"/>
          </a:xfrm>
          <a:prstGeom prst="rect">
            <a:avLst/>
          </a:prstGeom>
          <a:solidFill>
            <a:srgbClr val="43B02A"/>
          </a:solidFill>
          <a:ln w="19050" cap="flat" cmpd="sng" algn="ctr">
            <a:noFill/>
            <a:prstDash val="solid"/>
            <a:miter lim="800000"/>
          </a:ln>
          <a:effectLst/>
        </p:spPr>
        <p:txBody>
          <a:bodyPr lIns="91440" tIns="91440" rIns="9144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Design</a:t>
            </a:r>
          </a:p>
        </p:txBody>
      </p:sp>
      <p:sp>
        <p:nvSpPr>
          <p:cNvPr id="78" name="Pentagon 194">
            <a:extLst>
              <a:ext uri="{FF2B5EF4-FFF2-40B4-BE49-F238E27FC236}">
                <a16:creationId xmlns:a16="http://schemas.microsoft.com/office/drawing/2014/main" id="{0CE2639C-AB3A-4C89-B02D-9CDE45D072D0}"/>
              </a:ext>
            </a:extLst>
          </p:cNvPr>
          <p:cNvSpPr>
            <a:spLocks/>
          </p:cNvSpPr>
          <p:nvPr/>
        </p:nvSpPr>
        <p:spPr>
          <a:xfrm>
            <a:off x="4528331" y="3034196"/>
            <a:ext cx="2365048" cy="282130"/>
          </a:xfrm>
          <a:prstGeom prst="rect">
            <a:avLst/>
          </a:prstGeom>
          <a:solidFill>
            <a:srgbClr val="0076A8"/>
          </a:solidFill>
          <a:ln w="19050" cap="flat" cmpd="sng" algn="ctr">
            <a:noFill/>
            <a:prstDash val="solid"/>
            <a:miter lim="800000"/>
          </a:ln>
          <a:effectLst/>
        </p:spPr>
        <p:txBody>
          <a:bodyPr lIns="91440" tIns="91440" rIns="9144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Build</a:t>
            </a:r>
          </a:p>
        </p:txBody>
      </p:sp>
      <p:sp>
        <p:nvSpPr>
          <p:cNvPr id="86" name="Rectangle 85">
            <a:extLst>
              <a:ext uri="{FF2B5EF4-FFF2-40B4-BE49-F238E27FC236}">
                <a16:creationId xmlns:a16="http://schemas.microsoft.com/office/drawing/2014/main" id="{004068FA-9C1E-4AC0-8D25-E775B3D8DD6E}"/>
              </a:ext>
            </a:extLst>
          </p:cNvPr>
          <p:cNvSpPr/>
          <p:nvPr/>
        </p:nvSpPr>
        <p:spPr>
          <a:xfrm>
            <a:off x="1025414" y="5663625"/>
            <a:ext cx="1088136" cy="748825"/>
          </a:xfrm>
          <a:prstGeom prst="rect">
            <a:avLst/>
          </a:prstGeom>
          <a:solidFill>
            <a:schemeClr val="bg1">
              <a:lumMod val="95000"/>
            </a:schemeClr>
          </a:solidFill>
          <a:ln w="19050">
            <a:solidFill>
              <a:srgbClr val="FFFFFF">
                <a:lumMod val="95000"/>
              </a:srgbClr>
            </a:solid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Approved integration scope</a:t>
            </a: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p:txBody>
      </p:sp>
      <p:sp>
        <p:nvSpPr>
          <p:cNvPr id="87" name="Rectangle 86">
            <a:extLst>
              <a:ext uri="{FF2B5EF4-FFF2-40B4-BE49-F238E27FC236}">
                <a16:creationId xmlns:a16="http://schemas.microsoft.com/office/drawing/2014/main" id="{A030629A-4F2E-40EA-8E1D-F671F7949604}"/>
              </a:ext>
            </a:extLst>
          </p:cNvPr>
          <p:cNvSpPr/>
          <p:nvPr/>
        </p:nvSpPr>
        <p:spPr>
          <a:xfrm>
            <a:off x="2134284" y="5678988"/>
            <a:ext cx="2368296" cy="710748"/>
          </a:xfrm>
          <a:prstGeom prst="rect">
            <a:avLst/>
          </a:prstGeom>
          <a:solidFill>
            <a:schemeClr val="bg1">
              <a:lumMod val="85000"/>
            </a:schemeClr>
          </a:solidFill>
          <a:ln w="19050">
            <a:noFill/>
          </a:ln>
        </p:spPr>
        <p:txBody>
          <a:bodyPr wrap="square" lIns="45720" tIns="45720" rIns="45720" bIns="45720">
            <a:noAutofit/>
          </a:bodyPr>
          <a:lstStyle/>
          <a:p>
            <a:pPr marL="171450" indent="-171450">
              <a:spcAft>
                <a:spcPts val="600"/>
              </a:spcAft>
              <a:buFont typeface="Arial" panose="020B0604020202020204" pitchFamily="34" charset="0"/>
              <a:buChar char="•"/>
              <a:defRPr/>
            </a:pPr>
            <a:r>
              <a:rPr lang="en-US" sz="1000" kern="0">
                <a:solidFill>
                  <a:srgbClr val="000000"/>
                </a:solidFill>
                <a:latin typeface="Open Sans"/>
              </a:rPr>
              <a:t>Data mapping and Technical Specification</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0" name="Rectangle 89">
            <a:extLst>
              <a:ext uri="{FF2B5EF4-FFF2-40B4-BE49-F238E27FC236}">
                <a16:creationId xmlns:a16="http://schemas.microsoft.com/office/drawing/2014/main" id="{61EB1541-0A95-44BE-98DB-5101A1A5AE63}"/>
              </a:ext>
            </a:extLst>
          </p:cNvPr>
          <p:cNvSpPr/>
          <p:nvPr/>
        </p:nvSpPr>
        <p:spPr>
          <a:xfrm>
            <a:off x="4528331" y="3366456"/>
            <a:ext cx="2368296" cy="2219665"/>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Develop code build</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Document test plan</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Execute test scripts and conduct unit testing</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Review results against agreed test cases</a:t>
            </a:r>
          </a:p>
          <a:p>
            <a:pPr marL="171450" indent="-171450">
              <a:spcAft>
                <a:spcPts val="600"/>
              </a:spcAft>
              <a:buFont typeface="Arial" panose="020B0604020202020204" pitchFamily="34" charset="0"/>
              <a:buChar char="•"/>
              <a:defRPr/>
            </a:pPr>
            <a:r>
              <a:rPr lang="en-US" sz="1000" kern="0">
                <a:solidFill>
                  <a:srgbClr val="000000"/>
                </a:solidFill>
                <a:latin typeface="Open Sans"/>
              </a:rPr>
              <a:t>Batch schedule preparation</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1" name="Pentagon 194">
            <a:extLst>
              <a:ext uri="{FF2B5EF4-FFF2-40B4-BE49-F238E27FC236}">
                <a16:creationId xmlns:a16="http://schemas.microsoft.com/office/drawing/2014/main" id="{6BFF3D5F-72EE-474D-A716-925497E6324B}"/>
              </a:ext>
            </a:extLst>
          </p:cNvPr>
          <p:cNvSpPr>
            <a:spLocks/>
          </p:cNvSpPr>
          <p:nvPr/>
        </p:nvSpPr>
        <p:spPr>
          <a:xfrm>
            <a:off x="6919948" y="3034196"/>
            <a:ext cx="3686519" cy="282130"/>
          </a:xfrm>
          <a:prstGeom prst="rect">
            <a:avLst/>
          </a:prstGeom>
          <a:solidFill>
            <a:srgbClr val="FFCD00"/>
          </a:solidFill>
          <a:ln w="19050" cap="flat" cmpd="sng" algn="ctr">
            <a:noFill/>
            <a:prstDash val="solid"/>
            <a:miter lim="800000"/>
          </a:ln>
          <a:effectLst/>
        </p:spPr>
        <p:txBody>
          <a:bodyPr lIns="91440" tIns="91440" rIns="9144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kern="0">
                <a:latin typeface="Open Sans"/>
                <a:cs typeface="Open Sans"/>
              </a:rPr>
              <a:t>Testing/Go-live preparation</a:t>
            </a:r>
            <a:endParaRPr kumimoji="0" lang="en-US" sz="1000" b="1" i="0" u="none" strike="noStrike" kern="0" cap="none" spc="0" normalizeH="0" baseline="0" noProof="0">
              <a:ln>
                <a:noFill/>
              </a:ln>
              <a:effectLst/>
              <a:uLnTx/>
              <a:uFillTx/>
              <a:latin typeface="Open Sans"/>
              <a:ea typeface="+mn-ea"/>
              <a:cs typeface="Open Sans"/>
            </a:endParaRPr>
          </a:p>
        </p:txBody>
      </p:sp>
      <p:sp>
        <p:nvSpPr>
          <p:cNvPr id="92" name="Rectangle 91">
            <a:extLst>
              <a:ext uri="{FF2B5EF4-FFF2-40B4-BE49-F238E27FC236}">
                <a16:creationId xmlns:a16="http://schemas.microsoft.com/office/drawing/2014/main" id="{B09980EA-4DC1-48A2-BA4F-785FFBABDAC6}"/>
              </a:ext>
            </a:extLst>
          </p:cNvPr>
          <p:cNvSpPr/>
          <p:nvPr/>
        </p:nvSpPr>
        <p:spPr>
          <a:xfrm>
            <a:off x="6919948" y="3366456"/>
            <a:ext cx="3687679" cy="2219665"/>
          </a:xfrm>
          <a:prstGeom prst="rect">
            <a:avLst/>
          </a:prstGeom>
          <a:solidFill>
            <a:schemeClr val="bg1">
              <a:lumMod val="8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System integration test cycles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End to End test cycles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UAT test cycle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Performance testing</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Participate in defect triaging and perform defect fixes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Provide inputs for cutover plan</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Perform Smoke testing</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Finalize hyper care approach</a:t>
            </a: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5" name="Pentagon 194">
            <a:extLst>
              <a:ext uri="{FF2B5EF4-FFF2-40B4-BE49-F238E27FC236}">
                <a16:creationId xmlns:a16="http://schemas.microsoft.com/office/drawing/2014/main" id="{AB775A0D-B37B-4634-BB1F-E56615617F64}"/>
              </a:ext>
            </a:extLst>
          </p:cNvPr>
          <p:cNvSpPr>
            <a:spLocks/>
          </p:cNvSpPr>
          <p:nvPr/>
        </p:nvSpPr>
        <p:spPr>
          <a:xfrm>
            <a:off x="10633035" y="3034196"/>
            <a:ext cx="1103693" cy="282130"/>
          </a:xfrm>
          <a:prstGeom prst="rect">
            <a:avLst/>
          </a:prstGeom>
          <a:solidFill>
            <a:srgbClr val="7F7F7F"/>
          </a:solidFill>
          <a:ln w="19050" cap="flat" cmpd="sng" algn="ctr">
            <a:noFill/>
            <a:prstDash val="solid"/>
            <a:miter lim="800000"/>
          </a:ln>
          <a:effectLst/>
        </p:spPr>
        <p:txBody>
          <a:bodyPr lIns="91440" tIns="91440" rIns="9144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kern="0">
                <a:solidFill>
                  <a:schemeClr val="bg1"/>
                </a:solidFill>
                <a:latin typeface="Open Sans"/>
                <a:cs typeface="Open Sans"/>
              </a:rPr>
              <a:t>Post Go-live</a:t>
            </a:r>
            <a:endParaRPr kumimoji="0" lang="en-US" sz="1000" b="1" i="0" u="none" strike="noStrike" kern="0" cap="none" spc="0" normalizeH="0" baseline="0" noProof="0">
              <a:ln>
                <a:noFill/>
              </a:ln>
              <a:solidFill>
                <a:schemeClr val="bg1"/>
              </a:solidFill>
              <a:effectLst/>
              <a:uLnTx/>
              <a:uFillTx/>
              <a:latin typeface="Open Sans"/>
              <a:ea typeface="+mn-ea"/>
              <a:cs typeface="Open Sans"/>
            </a:endParaRPr>
          </a:p>
        </p:txBody>
      </p:sp>
      <p:sp>
        <p:nvSpPr>
          <p:cNvPr id="96" name="Rectangle 95">
            <a:extLst>
              <a:ext uri="{FF2B5EF4-FFF2-40B4-BE49-F238E27FC236}">
                <a16:creationId xmlns:a16="http://schemas.microsoft.com/office/drawing/2014/main" id="{87026ABF-3179-41C6-BCAA-0A0F8A2C56BC}"/>
              </a:ext>
            </a:extLst>
          </p:cNvPr>
          <p:cNvSpPr/>
          <p:nvPr/>
        </p:nvSpPr>
        <p:spPr>
          <a:xfrm>
            <a:off x="10633035" y="3366456"/>
            <a:ext cx="1106424" cy="2219665"/>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Application Go Live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Post-production defect fixes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Conduct knowledge transfer sessions</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7" name="Rectangle 96">
            <a:extLst>
              <a:ext uri="{FF2B5EF4-FFF2-40B4-BE49-F238E27FC236}">
                <a16:creationId xmlns:a16="http://schemas.microsoft.com/office/drawing/2014/main" id="{316BE937-ECBE-4025-A9A0-007F52C4A629}"/>
              </a:ext>
            </a:extLst>
          </p:cNvPr>
          <p:cNvSpPr/>
          <p:nvPr/>
        </p:nvSpPr>
        <p:spPr>
          <a:xfrm>
            <a:off x="4528331" y="5678989"/>
            <a:ext cx="2368296" cy="710748"/>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Code Bundle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Unit Test Plan &amp; Results</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8" name="Rectangle 97">
            <a:extLst>
              <a:ext uri="{FF2B5EF4-FFF2-40B4-BE49-F238E27FC236}">
                <a16:creationId xmlns:a16="http://schemas.microsoft.com/office/drawing/2014/main" id="{4D7D4064-7C37-4245-88E8-791FFC6037D4}"/>
              </a:ext>
            </a:extLst>
          </p:cNvPr>
          <p:cNvSpPr/>
          <p:nvPr/>
        </p:nvSpPr>
        <p:spPr>
          <a:xfrm>
            <a:off x="6919948" y="5679181"/>
            <a:ext cx="3670751" cy="710748"/>
          </a:xfrm>
          <a:prstGeom prst="rect">
            <a:avLst/>
          </a:prstGeom>
          <a:solidFill>
            <a:schemeClr val="bg1">
              <a:lumMod val="8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Cut over plan – Integration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Defect fix</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Hypercare approach</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101" name="Rectangle 100">
            <a:extLst>
              <a:ext uri="{FF2B5EF4-FFF2-40B4-BE49-F238E27FC236}">
                <a16:creationId xmlns:a16="http://schemas.microsoft.com/office/drawing/2014/main" id="{F9EEC192-03A0-4776-B5B3-15DB3811A32A}"/>
              </a:ext>
            </a:extLst>
          </p:cNvPr>
          <p:cNvSpPr/>
          <p:nvPr/>
        </p:nvSpPr>
        <p:spPr>
          <a:xfrm>
            <a:off x="10633035" y="5660130"/>
            <a:ext cx="1106424" cy="710748"/>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Go-live report</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Knowledge Transfer Documents</a:t>
            </a: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grpSp>
        <p:nvGrpSpPr>
          <p:cNvPr id="44" name="Group 43">
            <a:extLst>
              <a:ext uri="{FF2B5EF4-FFF2-40B4-BE49-F238E27FC236}">
                <a16:creationId xmlns:a16="http://schemas.microsoft.com/office/drawing/2014/main" id="{4A125DE7-8C4C-411D-BCA9-5AAF3D62E100}"/>
              </a:ext>
            </a:extLst>
          </p:cNvPr>
          <p:cNvGrpSpPr/>
          <p:nvPr/>
        </p:nvGrpSpPr>
        <p:grpSpPr>
          <a:xfrm>
            <a:off x="469456" y="1433258"/>
            <a:ext cx="399163" cy="5005644"/>
            <a:chOff x="469456" y="1470430"/>
            <a:chExt cx="399163" cy="4968469"/>
          </a:xfrm>
        </p:grpSpPr>
        <p:sp>
          <p:nvSpPr>
            <p:cNvPr id="45" name="Pentagon 194">
              <a:extLst>
                <a:ext uri="{FF2B5EF4-FFF2-40B4-BE49-F238E27FC236}">
                  <a16:creationId xmlns:a16="http://schemas.microsoft.com/office/drawing/2014/main" id="{32F4485F-028D-4E62-91F8-31F3C9A7CD31}"/>
                </a:ext>
              </a:extLst>
            </p:cNvPr>
            <p:cNvSpPr>
              <a:spLocks/>
            </p:cNvSpPr>
            <p:nvPr/>
          </p:nvSpPr>
          <p:spPr>
            <a:xfrm rot="16200000">
              <a:off x="-150113" y="2089999"/>
              <a:ext cx="1638300" cy="399162"/>
            </a:xfrm>
            <a:prstGeom prst="chevron">
              <a:avLst/>
            </a:prstGeom>
            <a:solidFill>
              <a:schemeClr val="bg1">
                <a:lumMod val="9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kern="0">
                  <a:solidFill>
                    <a:srgbClr val="000000"/>
                  </a:solidFill>
                  <a:latin typeface="Open Sans"/>
                  <a:cs typeface="Open Sans"/>
                </a:rPr>
                <a:t>Timeline</a:t>
              </a:r>
            </a:p>
          </p:txBody>
        </p:sp>
        <p:sp>
          <p:nvSpPr>
            <p:cNvPr id="46" name="Pentagon 194">
              <a:extLst>
                <a:ext uri="{FF2B5EF4-FFF2-40B4-BE49-F238E27FC236}">
                  <a16:creationId xmlns:a16="http://schemas.microsoft.com/office/drawing/2014/main" id="{98BEB57D-5A06-49B6-9C68-C6B26F16020C}"/>
                </a:ext>
              </a:extLst>
            </p:cNvPr>
            <p:cNvSpPr>
              <a:spLocks/>
            </p:cNvSpPr>
            <p:nvPr/>
          </p:nvSpPr>
          <p:spPr>
            <a:xfrm rot="16200000">
              <a:off x="-587935" y="4054501"/>
              <a:ext cx="2513945" cy="399162"/>
            </a:xfrm>
            <a:prstGeom prst="chevron">
              <a:avLst/>
            </a:prstGeom>
            <a:solidFill>
              <a:schemeClr val="bg1">
                <a:lumMod val="8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Activities</a:t>
              </a:r>
            </a:p>
          </p:txBody>
        </p:sp>
        <p:sp>
          <p:nvSpPr>
            <p:cNvPr id="47" name="Pentagon 194">
              <a:extLst>
                <a:ext uri="{FF2B5EF4-FFF2-40B4-BE49-F238E27FC236}">
                  <a16:creationId xmlns:a16="http://schemas.microsoft.com/office/drawing/2014/main" id="{83236C30-13A7-4993-8FCC-E1E824DDA16A}"/>
                </a:ext>
              </a:extLst>
            </p:cNvPr>
            <p:cNvSpPr>
              <a:spLocks/>
            </p:cNvSpPr>
            <p:nvPr/>
          </p:nvSpPr>
          <p:spPr>
            <a:xfrm rot="16200000">
              <a:off x="164873" y="5735154"/>
              <a:ext cx="1008328" cy="399162"/>
            </a:xfrm>
            <a:prstGeom prst="homePlate">
              <a:avLst/>
            </a:prstGeom>
            <a:solidFill>
              <a:schemeClr val="bg1">
                <a:lumMod val="7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Deliverables</a:t>
              </a:r>
            </a:p>
          </p:txBody>
        </p:sp>
      </p:grpSp>
      <p:grpSp>
        <p:nvGrpSpPr>
          <p:cNvPr id="48" name="Group 47">
            <a:extLst>
              <a:ext uri="{FF2B5EF4-FFF2-40B4-BE49-F238E27FC236}">
                <a16:creationId xmlns:a16="http://schemas.microsoft.com/office/drawing/2014/main" id="{8EB0251F-4D6A-4AA1-9671-A6C19B8438F4}"/>
              </a:ext>
            </a:extLst>
          </p:cNvPr>
          <p:cNvGrpSpPr/>
          <p:nvPr/>
        </p:nvGrpSpPr>
        <p:grpSpPr>
          <a:xfrm>
            <a:off x="983092" y="1545352"/>
            <a:ext cx="10753637" cy="425486"/>
            <a:chOff x="983092" y="989268"/>
            <a:chExt cx="10753637" cy="425486"/>
          </a:xfrm>
        </p:grpSpPr>
        <p:cxnSp>
          <p:nvCxnSpPr>
            <p:cNvPr id="49" name="Straight Connector 48">
              <a:extLst>
                <a:ext uri="{FF2B5EF4-FFF2-40B4-BE49-F238E27FC236}">
                  <a16:creationId xmlns:a16="http://schemas.microsoft.com/office/drawing/2014/main" id="{A661C5A9-84D8-47AD-93A5-446212012AE5}"/>
                </a:ext>
              </a:extLst>
            </p:cNvPr>
            <p:cNvCxnSpPr>
              <a:cxnSpLocks/>
            </p:cNvCxnSpPr>
            <p:nvPr/>
          </p:nvCxnSpPr>
          <p:spPr>
            <a:xfrm>
              <a:off x="983848" y="1309622"/>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2D0E79D-DCC3-4671-AC78-8488F6A5E28D}"/>
                </a:ext>
              </a:extLst>
            </p:cNvPr>
            <p:cNvCxnSpPr>
              <a:cxnSpLocks/>
            </p:cNvCxnSpPr>
            <p:nvPr/>
          </p:nvCxnSpPr>
          <p:spPr>
            <a:xfrm>
              <a:off x="983848" y="1081601"/>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1" name="object 26">
              <a:extLst>
                <a:ext uri="{FF2B5EF4-FFF2-40B4-BE49-F238E27FC236}">
                  <a16:creationId xmlns:a16="http://schemas.microsoft.com/office/drawing/2014/main" id="{0C560531-2B55-4034-9F6A-43073764C55B}"/>
                </a:ext>
              </a:extLst>
            </p:cNvPr>
            <p:cNvSpPr txBox="1"/>
            <p:nvPr/>
          </p:nvSpPr>
          <p:spPr>
            <a:xfrm>
              <a:off x="5968510" y="989268"/>
              <a:ext cx="783556" cy="184666"/>
            </a:xfrm>
            <a:prstGeom prst="rect">
              <a:avLst/>
            </a:prstGeom>
            <a:solidFill>
              <a:schemeClr val="bg1"/>
            </a:solidFill>
            <a:ln w="76200" cmpd="sng">
              <a:noFill/>
            </a:ln>
          </p:spPr>
          <p:txBody>
            <a:bodyPr vert="horz" wrap="square" lIns="45720" tIns="0" rIns="45720" bIns="0" rtlCol="0">
              <a:spAutoFit/>
            </a:bodyPr>
            <a:lstStyle/>
            <a:p>
              <a:pPr marL="12700" marR="0" lvl="0" indent="0" algn="ctr" defTabSz="914400" eaLnBrk="1" fontAlgn="auto" latinLnBrk="0" hangingPunct="1">
                <a:lnSpc>
                  <a:spcPct val="100000"/>
                </a:lnSpc>
                <a:spcBef>
                  <a:spcPts val="0"/>
                </a:spcBef>
                <a:spcAft>
                  <a:spcPts val="0"/>
                </a:spcAft>
                <a:buClrTx/>
                <a:buSzTx/>
                <a:buFontTx/>
                <a:buNone/>
                <a:tabLst/>
                <a:defRPr/>
              </a:pPr>
              <a:r>
                <a:rPr lang="en-US" sz="1200" b="1" kern="0">
                  <a:solidFill>
                    <a:srgbClr val="000000"/>
                  </a:solidFill>
                  <a:latin typeface="Open Sans"/>
                  <a:ea typeface="+mn-ea"/>
                  <a:cs typeface="Open Sans"/>
                </a:rPr>
                <a:t>Months</a:t>
              </a:r>
              <a:endParaRPr kumimoji="0" lang="en-US" sz="1200" b="1" i="0" u="none" strike="noStrike" kern="0" cap="none" spc="0" normalizeH="0" baseline="0" noProof="0">
                <a:ln>
                  <a:noFill/>
                </a:ln>
                <a:solidFill>
                  <a:srgbClr val="000000"/>
                </a:solidFill>
                <a:effectLst/>
                <a:uLnTx/>
                <a:uFillTx/>
                <a:latin typeface="Open Sans"/>
                <a:ea typeface="+mn-ea"/>
                <a:cs typeface="Open Sans"/>
              </a:endParaRPr>
            </a:p>
          </p:txBody>
        </p:sp>
        <p:sp>
          <p:nvSpPr>
            <p:cNvPr id="52" name="Oval 51">
              <a:extLst>
                <a:ext uri="{FF2B5EF4-FFF2-40B4-BE49-F238E27FC236}">
                  <a16:creationId xmlns:a16="http://schemas.microsoft.com/office/drawing/2014/main" id="{D68C6740-CA13-4D87-A8E2-829B338F087F}"/>
                </a:ext>
              </a:extLst>
            </p:cNvPr>
            <p:cNvSpPr/>
            <p:nvPr/>
          </p:nvSpPr>
          <p:spPr bwMode="gray">
            <a:xfrm>
              <a:off x="983092"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0</a:t>
              </a:r>
            </a:p>
          </p:txBody>
        </p:sp>
        <p:sp>
          <p:nvSpPr>
            <p:cNvPr id="54" name="Oval 53">
              <a:extLst>
                <a:ext uri="{FF2B5EF4-FFF2-40B4-BE49-F238E27FC236}">
                  <a16:creationId xmlns:a16="http://schemas.microsoft.com/office/drawing/2014/main" id="{664F9F04-C7FD-4A03-9AC2-F7E450FF7223}"/>
                </a:ext>
              </a:extLst>
            </p:cNvPr>
            <p:cNvSpPr/>
            <p:nvPr/>
          </p:nvSpPr>
          <p:spPr bwMode="gray">
            <a:xfrm>
              <a:off x="2219381"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1</a:t>
              </a:r>
            </a:p>
          </p:txBody>
        </p:sp>
        <p:sp>
          <p:nvSpPr>
            <p:cNvPr id="55" name="Oval 54">
              <a:extLst>
                <a:ext uri="{FF2B5EF4-FFF2-40B4-BE49-F238E27FC236}">
                  <a16:creationId xmlns:a16="http://schemas.microsoft.com/office/drawing/2014/main" id="{2B1EB940-7AC7-4F68-AB2E-3B6E9A769F8D}"/>
                </a:ext>
              </a:extLst>
            </p:cNvPr>
            <p:cNvSpPr/>
            <p:nvPr/>
          </p:nvSpPr>
          <p:spPr bwMode="gray">
            <a:xfrm>
              <a:off x="357478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2</a:t>
              </a:r>
            </a:p>
          </p:txBody>
        </p:sp>
        <p:sp>
          <p:nvSpPr>
            <p:cNvPr id="59" name="Oval 58">
              <a:extLst>
                <a:ext uri="{FF2B5EF4-FFF2-40B4-BE49-F238E27FC236}">
                  <a16:creationId xmlns:a16="http://schemas.microsoft.com/office/drawing/2014/main" id="{71166208-9060-4C83-A314-C2CFF0FDBD23}"/>
                </a:ext>
              </a:extLst>
            </p:cNvPr>
            <p:cNvSpPr/>
            <p:nvPr/>
          </p:nvSpPr>
          <p:spPr bwMode="gray">
            <a:xfrm>
              <a:off x="4839727"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3</a:t>
              </a:r>
            </a:p>
          </p:txBody>
        </p:sp>
        <p:sp>
          <p:nvSpPr>
            <p:cNvPr id="60" name="Oval 59">
              <a:extLst>
                <a:ext uri="{FF2B5EF4-FFF2-40B4-BE49-F238E27FC236}">
                  <a16:creationId xmlns:a16="http://schemas.microsoft.com/office/drawing/2014/main" id="{A2A74C78-FA9F-40D6-8352-E68C8349F603}"/>
                </a:ext>
              </a:extLst>
            </p:cNvPr>
            <p:cNvSpPr/>
            <p:nvPr/>
          </p:nvSpPr>
          <p:spPr bwMode="gray">
            <a:xfrm>
              <a:off x="618858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4</a:t>
              </a:r>
            </a:p>
          </p:txBody>
        </p:sp>
        <p:sp>
          <p:nvSpPr>
            <p:cNvPr id="61" name="Oval 60">
              <a:extLst>
                <a:ext uri="{FF2B5EF4-FFF2-40B4-BE49-F238E27FC236}">
                  <a16:creationId xmlns:a16="http://schemas.microsoft.com/office/drawing/2014/main" id="{9ED629FF-3FDA-48F5-9F39-DF2E1D52CA17}"/>
                </a:ext>
              </a:extLst>
            </p:cNvPr>
            <p:cNvSpPr/>
            <p:nvPr/>
          </p:nvSpPr>
          <p:spPr bwMode="gray">
            <a:xfrm>
              <a:off x="749727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5</a:t>
              </a:r>
            </a:p>
          </p:txBody>
        </p:sp>
        <p:sp>
          <p:nvSpPr>
            <p:cNvPr id="62" name="Oval 61">
              <a:extLst>
                <a:ext uri="{FF2B5EF4-FFF2-40B4-BE49-F238E27FC236}">
                  <a16:creationId xmlns:a16="http://schemas.microsoft.com/office/drawing/2014/main" id="{9E8C984F-AE52-4154-BDA5-669B96C10F37}"/>
                </a:ext>
              </a:extLst>
            </p:cNvPr>
            <p:cNvSpPr/>
            <p:nvPr/>
          </p:nvSpPr>
          <p:spPr bwMode="gray">
            <a:xfrm>
              <a:off x="8881538"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6</a:t>
              </a:r>
            </a:p>
          </p:txBody>
        </p:sp>
        <p:sp>
          <p:nvSpPr>
            <p:cNvPr id="63" name="Oval 62">
              <a:extLst>
                <a:ext uri="{FF2B5EF4-FFF2-40B4-BE49-F238E27FC236}">
                  <a16:creationId xmlns:a16="http://schemas.microsoft.com/office/drawing/2014/main" id="{365B4B5D-55F9-426D-8455-8285DDEB52A2}"/>
                </a:ext>
              </a:extLst>
            </p:cNvPr>
            <p:cNvSpPr/>
            <p:nvPr/>
          </p:nvSpPr>
          <p:spPr bwMode="gray">
            <a:xfrm>
              <a:off x="1005516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7</a:t>
              </a:r>
            </a:p>
          </p:txBody>
        </p:sp>
        <p:sp>
          <p:nvSpPr>
            <p:cNvPr id="64" name="Oval 63">
              <a:extLst>
                <a:ext uri="{FF2B5EF4-FFF2-40B4-BE49-F238E27FC236}">
                  <a16:creationId xmlns:a16="http://schemas.microsoft.com/office/drawing/2014/main" id="{D1B79676-81C4-469D-AE8B-30D37A76207F}"/>
                </a:ext>
              </a:extLst>
            </p:cNvPr>
            <p:cNvSpPr/>
            <p:nvPr/>
          </p:nvSpPr>
          <p:spPr bwMode="gray">
            <a:xfrm>
              <a:off x="1133832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8</a:t>
              </a:r>
            </a:p>
          </p:txBody>
        </p:sp>
        <p:sp>
          <p:nvSpPr>
            <p:cNvPr id="65" name="Oval 64">
              <a:extLst>
                <a:ext uri="{FF2B5EF4-FFF2-40B4-BE49-F238E27FC236}">
                  <a16:creationId xmlns:a16="http://schemas.microsoft.com/office/drawing/2014/main" id="{1F2CACA4-4CA7-4551-84CA-4C5890FAC177}"/>
                </a:ext>
              </a:extLst>
            </p:cNvPr>
            <p:cNvSpPr/>
            <p:nvPr/>
          </p:nvSpPr>
          <p:spPr bwMode="gray">
            <a:xfrm>
              <a:off x="166204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66" name="Oval 65">
              <a:extLst>
                <a:ext uri="{FF2B5EF4-FFF2-40B4-BE49-F238E27FC236}">
                  <a16:creationId xmlns:a16="http://schemas.microsoft.com/office/drawing/2014/main" id="{649F0D0F-FDD8-4FC5-ABD4-A337B7DAA1AC}"/>
                </a:ext>
              </a:extLst>
            </p:cNvPr>
            <p:cNvSpPr/>
            <p:nvPr/>
          </p:nvSpPr>
          <p:spPr bwMode="gray">
            <a:xfrm>
              <a:off x="2972318"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68" name="Oval 67">
              <a:extLst>
                <a:ext uri="{FF2B5EF4-FFF2-40B4-BE49-F238E27FC236}">
                  <a16:creationId xmlns:a16="http://schemas.microsoft.com/office/drawing/2014/main" id="{C469EA5E-AE5D-44F5-8799-5D7C8F49E410}"/>
                </a:ext>
              </a:extLst>
            </p:cNvPr>
            <p:cNvSpPr/>
            <p:nvPr/>
          </p:nvSpPr>
          <p:spPr bwMode="gray">
            <a:xfrm>
              <a:off x="4297036"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69" name="Oval 68">
              <a:extLst>
                <a:ext uri="{FF2B5EF4-FFF2-40B4-BE49-F238E27FC236}">
                  <a16:creationId xmlns:a16="http://schemas.microsoft.com/office/drawing/2014/main" id="{5AA72551-4AB5-4276-B53D-69456B2F0A8D}"/>
                </a:ext>
              </a:extLst>
            </p:cNvPr>
            <p:cNvSpPr/>
            <p:nvPr/>
          </p:nvSpPr>
          <p:spPr bwMode="gray">
            <a:xfrm>
              <a:off x="5588133"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0" name="Oval 69">
              <a:extLst>
                <a:ext uri="{FF2B5EF4-FFF2-40B4-BE49-F238E27FC236}">
                  <a16:creationId xmlns:a16="http://schemas.microsoft.com/office/drawing/2014/main" id="{1D5454FB-D53C-4868-9B1A-7156B4375779}"/>
                </a:ext>
              </a:extLst>
            </p:cNvPr>
            <p:cNvSpPr/>
            <p:nvPr/>
          </p:nvSpPr>
          <p:spPr bwMode="gray">
            <a:xfrm>
              <a:off x="6899677"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1" name="Oval 70">
              <a:extLst>
                <a:ext uri="{FF2B5EF4-FFF2-40B4-BE49-F238E27FC236}">
                  <a16:creationId xmlns:a16="http://schemas.microsoft.com/office/drawing/2014/main" id="{2AD82C6F-9897-4A9B-88AF-13BBDDCDA1C1}"/>
                </a:ext>
              </a:extLst>
            </p:cNvPr>
            <p:cNvSpPr/>
            <p:nvPr/>
          </p:nvSpPr>
          <p:spPr bwMode="gray">
            <a:xfrm>
              <a:off x="8284612"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4" name="Oval 73">
              <a:extLst>
                <a:ext uri="{FF2B5EF4-FFF2-40B4-BE49-F238E27FC236}">
                  <a16:creationId xmlns:a16="http://schemas.microsoft.com/office/drawing/2014/main" id="{03101979-0254-44B3-ACC0-708E545028AF}"/>
                </a:ext>
              </a:extLst>
            </p:cNvPr>
            <p:cNvSpPr/>
            <p:nvPr/>
          </p:nvSpPr>
          <p:spPr bwMode="gray">
            <a:xfrm>
              <a:off x="9511415"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1" name="Oval 80">
              <a:extLst>
                <a:ext uri="{FF2B5EF4-FFF2-40B4-BE49-F238E27FC236}">
                  <a16:creationId xmlns:a16="http://schemas.microsoft.com/office/drawing/2014/main" id="{A4AFA6CC-D06C-47A9-9452-CC018EF9BA3C}"/>
                </a:ext>
              </a:extLst>
            </p:cNvPr>
            <p:cNvSpPr/>
            <p:nvPr/>
          </p:nvSpPr>
          <p:spPr bwMode="gray">
            <a:xfrm>
              <a:off x="1077951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grpSp>
      <p:sp>
        <p:nvSpPr>
          <p:cNvPr id="57" name="Pentagon 194">
            <a:extLst>
              <a:ext uri="{FF2B5EF4-FFF2-40B4-BE49-F238E27FC236}">
                <a16:creationId xmlns:a16="http://schemas.microsoft.com/office/drawing/2014/main" id="{3B3C5A9A-D386-4D99-97A6-7BBB99976555}"/>
              </a:ext>
            </a:extLst>
          </p:cNvPr>
          <p:cNvSpPr>
            <a:spLocks/>
          </p:cNvSpPr>
          <p:nvPr/>
        </p:nvSpPr>
        <p:spPr>
          <a:xfrm>
            <a:off x="1032842" y="2005648"/>
            <a:ext cx="1308146" cy="233805"/>
          </a:xfrm>
          <a:prstGeom prst="homePlate">
            <a:avLst/>
          </a:prstGeom>
          <a:solidFill>
            <a:srgbClr val="046A3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58" name="Pentagon 194">
            <a:extLst>
              <a:ext uri="{FF2B5EF4-FFF2-40B4-BE49-F238E27FC236}">
                <a16:creationId xmlns:a16="http://schemas.microsoft.com/office/drawing/2014/main" id="{46312B82-788E-4D64-A245-C62B3D97965E}"/>
              </a:ext>
            </a:extLst>
          </p:cNvPr>
          <p:cNvSpPr>
            <a:spLocks/>
          </p:cNvSpPr>
          <p:nvPr/>
        </p:nvSpPr>
        <p:spPr>
          <a:xfrm>
            <a:off x="2203253" y="2248813"/>
            <a:ext cx="4195590" cy="233805"/>
          </a:xfrm>
          <a:prstGeom prst="homePlate">
            <a:avLst/>
          </a:prstGeom>
          <a:solidFill>
            <a:srgbClr val="43B02A"/>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Iterative Design</a:t>
            </a:r>
          </a:p>
        </p:txBody>
      </p:sp>
      <p:sp>
        <p:nvSpPr>
          <p:cNvPr id="67" name="Pentagon 194">
            <a:extLst>
              <a:ext uri="{FF2B5EF4-FFF2-40B4-BE49-F238E27FC236}">
                <a16:creationId xmlns:a16="http://schemas.microsoft.com/office/drawing/2014/main" id="{70312241-0E1B-421D-BC27-B2A56C60E8FB}"/>
              </a:ext>
            </a:extLst>
          </p:cNvPr>
          <p:cNvSpPr>
            <a:spLocks/>
          </p:cNvSpPr>
          <p:nvPr/>
        </p:nvSpPr>
        <p:spPr>
          <a:xfrm>
            <a:off x="3060974" y="2494143"/>
            <a:ext cx="4646559" cy="271855"/>
          </a:xfrm>
          <a:prstGeom prst="homePlate">
            <a:avLst/>
          </a:prstGeom>
          <a:solidFill>
            <a:srgbClr val="0076A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Iterative Build</a:t>
            </a:r>
          </a:p>
        </p:txBody>
      </p:sp>
      <p:sp>
        <p:nvSpPr>
          <p:cNvPr id="72" name="Pentagon 194">
            <a:extLst>
              <a:ext uri="{FF2B5EF4-FFF2-40B4-BE49-F238E27FC236}">
                <a16:creationId xmlns:a16="http://schemas.microsoft.com/office/drawing/2014/main" id="{F0267B5A-8E1A-4228-A8A1-FF13B63E982C}"/>
              </a:ext>
            </a:extLst>
          </p:cNvPr>
          <p:cNvSpPr>
            <a:spLocks/>
          </p:cNvSpPr>
          <p:nvPr/>
        </p:nvSpPr>
        <p:spPr>
          <a:xfrm>
            <a:off x="7707534" y="2494143"/>
            <a:ext cx="2925502" cy="271855"/>
          </a:xfrm>
          <a:prstGeom prst="homePlate">
            <a:avLst/>
          </a:prstGeom>
          <a:solidFill>
            <a:srgbClr val="FFCD00"/>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effectLst/>
                <a:uLnTx/>
                <a:uFillTx/>
                <a:latin typeface="Open Sans"/>
                <a:ea typeface="+mn-ea"/>
                <a:cs typeface="Open Sans"/>
              </a:rPr>
              <a:t>Test</a:t>
            </a:r>
          </a:p>
        </p:txBody>
      </p:sp>
      <p:sp>
        <p:nvSpPr>
          <p:cNvPr id="73" name="Pentagon 194">
            <a:extLst>
              <a:ext uri="{FF2B5EF4-FFF2-40B4-BE49-F238E27FC236}">
                <a16:creationId xmlns:a16="http://schemas.microsoft.com/office/drawing/2014/main" id="{76BD7C2F-0238-4681-8BF5-0096DFDF10E3}"/>
              </a:ext>
            </a:extLst>
          </p:cNvPr>
          <p:cNvSpPr>
            <a:spLocks/>
          </p:cNvSpPr>
          <p:nvPr/>
        </p:nvSpPr>
        <p:spPr>
          <a:xfrm>
            <a:off x="10633035" y="2511987"/>
            <a:ext cx="1149424" cy="233805"/>
          </a:xfrm>
          <a:prstGeom prst="homePlate">
            <a:avLst/>
          </a:prstGeom>
          <a:solidFill>
            <a:srgbClr val="7F7F7F"/>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Run</a:t>
            </a:r>
          </a:p>
        </p:txBody>
      </p:sp>
      <p:cxnSp>
        <p:nvCxnSpPr>
          <p:cNvPr id="75" name="Straight Connector 74">
            <a:extLst>
              <a:ext uri="{FF2B5EF4-FFF2-40B4-BE49-F238E27FC236}">
                <a16:creationId xmlns:a16="http://schemas.microsoft.com/office/drawing/2014/main" id="{F8108FD3-EA58-4EF2-9FA2-C4A2E791CACE}"/>
              </a:ext>
            </a:extLst>
          </p:cNvPr>
          <p:cNvCxnSpPr>
            <a:cxnSpLocks/>
          </p:cNvCxnSpPr>
          <p:nvPr/>
        </p:nvCxnSpPr>
        <p:spPr>
          <a:xfrm flipH="1">
            <a:off x="1012785" y="2867061"/>
            <a:ext cx="10769674" cy="0"/>
          </a:xfrm>
          <a:prstGeom prst="line">
            <a:avLst/>
          </a:prstGeom>
          <a:noFill/>
          <a:ln w="9525" cap="flat" cmpd="sng" algn="ctr">
            <a:solidFill>
              <a:srgbClr val="000000">
                <a:lumMod val="75000"/>
              </a:srgbClr>
            </a:solidFill>
            <a:prstDash val="dot"/>
            <a:miter lim="800000"/>
          </a:ln>
          <a:effectLst/>
        </p:spPr>
      </p:cxnSp>
      <p:cxnSp>
        <p:nvCxnSpPr>
          <p:cNvPr id="76" name="Straight Connector 75">
            <a:extLst>
              <a:ext uri="{FF2B5EF4-FFF2-40B4-BE49-F238E27FC236}">
                <a16:creationId xmlns:a16="http://schemas.microsoft.com/office/drawing/2014/main" id="{D65D0AB0-E474-4AD3-92C7-0A059C896CCD}"/>
              </a:ext>
            </a:extLst>
          </p:cNvPr>
          <p:cNvCxnSpPr>
            <a:cxnSpLocks/>
          </p:cNvCxnSpPr>
          <p:nvPr/>
        </p:nvCxnSpPr>
        <p:spPr>
          <a:xfrm>
            <a:off x="3467908" y="2370361"/>
            <a:ext cx="1511096"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9" name="Group 78">
            <a:extLst>
              <a:ext uri="{FF2B5EF4-FFF2-40B4-BE49-F238E27FC236}">
                <a16:creationId xmlns:a16="http://schemas.microsoft.com/office/drawing/2014/main" id="{8665F878-1CB6-4433-A75C-1A1E5DB01C50}"/>
              </a:ext>
            </a:extLst>
          </p:cNvPr>
          <p:cNvGrpSpPr>
            <a:grpSpLocks noChangeAspect="1"/>
          </p:cNvGrpSpPr>
          <p:nvPr/>
        </p:nvGrpSpPr>
        <p:grpSpPr>
          <a:xfrm>
            <a:off x="4388457" y="2263665"/>
            <a:ext cx="215452" cy="197711"/>
            <a:chOff x="6883093" y="4009408"/>
            <a:chExt cx="411480" cy="411480"/>
          </a:xfrm>
        </p:grpSpPr>
        <p:sp>
          <p:nvSpPr>
            <p:cNvPr id="80" name="Oval 39">
              <a:extLst>
                <a:ext uri="{FF2B5EF4-FFF2-40B4-BE49-F238E27FC236}">
                  <a16:creationId xmlns:a16="http://schemas.microsoft.com/office/drawing/2014/main" id="{8E3D7A97-AAAE-47F6-BE64-705FB715FA81}"/>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82" name="Group 81">
              <a:extLst>
                <a:ext uri="{FF2B5EF4-FFF2-40B4-BE49-F238E27FC236}">
                  <a16:creationId xmlns:a16="http://schemas.microsoft.com/office/drawing/2014/main" id="{8C055DAF-1518-4946-A0FA-280B91445AAD}"/>
                </a:ext>
              </a:extLst>
            </p:cNvPr>
            <p:cNvGrpSpPr/>
            <p:nvPr/>
          </p:nvGrpSpPr>
          <p:grpSpPr>
            <a:xfrm>
              <a:off x="6974768" y="4120386"/>
              <a:ext cx="223070" cy="202036"/>
              <a:chOff x="7707288" y="985839"/>
              <a:chExt cx="269912" cy="244473"/>
            </a:xfrm>
          </p:grpSpPr>
          <p:sp>
            <p:nvSpPr>
              <p:cNvPr id="83" name="Freeform 192">
                <a:extLst>
                  <a:ext uri="{FF2B5EF4-FFF2-40B4-BE49-F238E27FC236}">
                    <a16:creationId xmlns:a16="http://schemas.microsoft.com/office/drawing/2014/main" id="{1197622A-D33F-435C-9458-9CACBF7682C4}"/>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4" name="Freeform 208">
                <a:extLst>
                  <a:ext uri="{FF2B5EF4-FFF2-40B4-BE49-F238E27FC236}">
                    <a16:creationId xmlns:a16="http://schemas.microsoft.com/office/drawing/2014/main" id="{B4358DC0-E0A3-45FC-8F86-8405898315B1}"/>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5" name="Freeform 213">
                <a:extLst>
                  <a:ext uri="{FF2B5EF4-FFF2-40B4-BE49-F238E27FC236}">
                    <a16:creationId xmlns:a16="http://schemas.microsoft.com/office/drawing/2014/main" id="{F202DAA5-E9C6-46FE-A090-F765D6F74699}"/>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8" name="Freeform 214">
                <a:extLst>
                  <a:ext uri="{FF2B5EF4-FFF2-40B4-BE49-F238E27FC236}">
                    <a16:creationId xmlns:a16="http://schemas.microsoft.com/office/drawing/2014/main" id="{BA922F92-A4AF-44E0-910A-50FBB5663391}"/>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9" name="Freeform 215">
                <a:extLst>
                  <a:ext uri="{FF2B5EF4-FFF2-40B4-BE49-F238E27FC236}">
                    <a16:creationId xmlns:a16="http://schemas.microsoft.com/office/drawing/2014/main" id="{404A49CC-45C4-4C63-891C-9B8AEAA0E071}"/>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grpSp>
        <p:nvGrpSpPr>
          <p:cNvPr id="93" name="Group 92">
            <a:extLst>
              <a:ext uri="{FF2B5EF4-FFF2-40B4-BE49-F238E27FC236}">
                <a16:creationId xmlns:a16="http://schemas.microsoft.com/office/drawing/2014/main" id="{99CB5A06-4AEE-4890-A062-CDE731580033}"/>
              </a:ext>
            </a:extLst>
          </p:cNvPr>
          <p:cNvGrpSpPr>
            <a:grpSpLocks noChangeAspect="1"/>
          </p:cNvGrpSpPr>
          <p:nvPr/>
        </p:nvGrpSpPr>
        <p:grpSpPr>
          <a:xfrm>
            <a:off x="3856075" y="2263665"/>
            <a:ext cx="215452" cy="197711"/>
            <a:chOff x="6883093" y="4009408"/>
            <a:chExt cx="411480" cy="411480"/>
          </a:xfrm>
        </p:grpSpPr>
        <p:sp>
          <p:nvSpPr>
            <p:cNvPr id="94" name="Oval 39">
              <a:extLst>
                <a:ext uri="{FF2B5EF4-FFF2-40B4-BE49-F238E27FC236}">
                  <a16:creationId xmlns:a16="http://schemas.microsoft.com/office/drawing/2014/main" id="{99B7C844-376D-4706-BFC0-B5881A1B0140}"/>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99" name="Group 98">
              <a:extLst>
                <a:ext uri="{FF2B5EF4-FFF2-40B4-BE49-F238E27FC236}">
                  <a16:creationId xmlns:a16="http://schemas.microsoft.com/office/drawing/2014/main" id="{E89764DC-7370-4369-9AD9-F543F24683EB}"/>
                </a:ext>
              </a:extLst>
            </p:cNvPr>
            <p:cNvGrpSpPr/>
            <p:nvPr/>
          </p:nvGrpSpPr>
          <p:grpSpPr>
            <a:xfrm>
              <a:off x="6974768" y="4120386"/>
              <a:ext cx="223070" cy="202036"/>
              <a:chOff x="7707288" y="985839"/>
              <a:chExt cx="269912" cy="244473"/>
            </a:xfrm>
          </p:grpSpPr>
          <p:sp>
            <p:nvSpPr>
              <p:cNvPr id="100" name="Freeform 192">
                <a:extLst>
                  <a:ext uri="{FF2B5EF4-FFF2-40B4-BE49-F238E27FC236}">
                    <a16:creationId xmlns:a16="http://schemas.microsoft.com/office/drawing/2014/main" id="{83417680-C9E2-4FEC-A44E-7EACE9390797}"/>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02" name="Freeform 208">
                <a:extLst>
                  <a:ext uri="{FF2B5EF4-FFF2-40B4-BE49-F238E27FC236}">
                    <a16:creationId xmlns:a16="http://schemas.microsoft.com/office/drawing/2014/main" id="{2CA8577A-C7BE-4E75-BA1A-16C31B896DA8}"/>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03" name="Freeform 213">
                <a:extLst>
                  <a:ext uri="{FF2B5EF4-FFF2-40B4-BE49-F238E27FC236}">
                    <a16:creationId xmlns:a16="http://schemas.microsoft.com/office/drawing/2014/main" id="{4796A083-0299-489F-9994-A211D15C8B02}"/>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04" name="Freeform 214">
                <a:extLst>
                  <a:ext uri="{FF2B5EF4-FFF2-40B4-BE49-F238E27FC236}">
                    <a16:creationId xmlns:a16="http://schemas.microsoft.com/office/drawing/2014/main" id="{FED89F62-AA79-427F-9D75-E5019173F422}"/>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05" name="Freeform 215">
                <a:extLst>
                  <a:ext uri="{FF2B5EF4-FFF2-40B4-BE49-F238E27FC236}">
                    <a16:creationId xmlns:a16="http://schemas.microsoft.com/office/drawing/2014/main" id="{7D406DA8-8FDA-46E7-831E-82858FE89766}"/>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cxnSp>
        <p:nvCxnSpPr>
          <p:cNvPr id="106" name="Straight Connector 105">
            <a:extLst>
              <a:ext uri="{FF2B5EF4-FFF2-40B4-BE49-F238E27FC236}">
                <a16:creationId xmlns:a16="http://schemas.microsoft.com/office/drawing/2014/main" id="{1B545DF4-3061-4D08-8763-5CD9096F0C47}"/>
              </a:ext>
            </a:extLst>
          </p:cNvPr>
          <p:cNvCxnSpPr>
            <a:cxnSpLocks/>
          </p:cNvCxnSpPr>
          <p:nvPr/>
        </p:nvCxnSpPr>
        <p:spPr>
          <a:xfrm>
            <a:off x="4183343" y="2628543"/>
            <a:ext cx="1511096"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07" name="Group 106">
            <a:extLst>
              <a:ext uri="{FF2B5EF4-FFF2-40B4-BE49-F238E27FC236}">
                <a16:creationId xmlns:a16="http://schemas.microsoft.com/office/drawing/2014/main" id="{723834A3-929B-4AE0-BD64-B5B9F285517E}"/>
              </a:ext>
            </a:extLst>
          </p:cNvPr>
          <p:cNvGrpSpPr>
            <a:grpSpLocks noChangeAspect="1"/>
          </p:cNvGrpSpPr>
          <p:nvPr/>
        </p:nvGrpSpPr>
        <p:grpSpPr>
          <a:xfrm>
            <a:off x="5103892" y="2521847"/>
            <a:ext cx="215452" cy="197711"/>
            <a:chOff x="6883093" y="4009408"/>
            <a:chExt cx="411480" cy="411480"/>
          </a:xfrm>
        </p:grpSpPr>
        <p:sp>
          <p:nvSpPr>
            <p:cNvPr id="108" name="Oval 39">
              <a:extLst>
                <a:ext uri="{FF2B5EF4-FFF2-40B4-BE49-F238E27FC236}">
                  <a16:creationId xmlns:a16="http://schemas.microsoft.com/office/drawing/2014/main" id="{3B02C721-F55F-40EC-865E-F7D9C745B4A8}"/>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109" name="Group 108">
              <a:extLst>
                <a:ext uri="{FF2B5EF4-FFF2-40B4-BE49-F238E27FC236}">
                  <a16:creationId xmlns:a16="http://schemas.microsoft.com/office/drawing/2014/main" id="{E99BC282-E898-4D98-853D-B26D97AF9CE2}"/>
                </a:ext>
              </a:extLst>
            </p:cNvPr>
            <p:cNvGrpSpPr/>
            <p:nvPr/>
          </p:nvGrpSpPr>
          <p:grpSpPr>
            <a:xfrm>
              <a:off x="6974768" y="4120386"/>
              <a:ext cx="223070" cy="202036"/>
              <a:chOff x="7707288" y="985839"/>
              <a:chExt cx="269912" cy="244473"/>
            </a:xfrm>
          </p:grpSpPr>
          <p:sp>
            <p:nvSpPr>
              <p:cNvPr id="110" name="Freeform 192">
                <a:extLst>
                  <a:ext uri="{FF2B5EF4-FFF2-40B4-BE49-F238E27FC236}">
                    <a16:creationId xmlns:a16="http://schemas.microsoft.com/office/drawing/2014/main" id="{040BCF43-A0AD-46F8-9522-A05FCC1FB3E9}"/>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1" name="Freeform 208">
                <a:extLst>
                  <a:ext uri="{FF2B5EF4-FFF2-40B4-BE49-F238E27FC236}">
                    <a16:creationId xmlns:a16="http://schemas.microsoft.com/office/drawing/2014/main" id="{D8195C32-E62A-4171-9185-024D70A65502}"/>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2" name="Freeform 213">
                <a:extLst>
                  <a:ext uri="{FF2B5EF4-FFF2-40B4-BE49-F238E27FC236}">
                    <a16:creationId xmlns:a16="http://schemas.microsoft.com/office/drawing/2014/main" id="{54848E6B-C220-4846-BBD9-86823F263335}"/>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3" name="Freeform 214">
                <a:extLst>
                  <a:ext uri="{FF2B5EF4-FFF2-40B4-BE49-F238E27FC236}">
                    <a16:creationId xmlns:a16="http://schemas.microsoft.com/office/drawing/2014/main" id="{B1A1F52E-DCAA-4007-950B-84D9787885CB}"/>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4" name="Freeform 215">
                <a:extLst>
                  <a:ext uri="{FF2B5EF4-FFF2-40B4-BE49-F238E27FC236}">
                    <a16:creationId xmlns:a16="http://schemas.microsoft.com/office/drawing/2014/main" id="{065EDA72-8B4B-44AE-8133-1D8915CDDCA2}"/>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grpSp>
        <p:nvGrpSpPr>
          <p:cNvPr id="115" name="Group 114">
            <a:extLst>
              <a:ext uri="{FF2B5EF4-FFF2-40B4-BE49-F238E27FC236}">
                <a16:creationId xmlns:a16="http://schemas.microsoft.com/office/drawing/2014/main" id="{9584C7CD-C78E-46F0-8E3F-A547338972E0}"/>
              </a:ext>
            </a:extLst>
          </p:cNvPr>
          <p:cNvGrpSpPr>
            <a:grpSpLocks noChangeAspect="1"/>
          </p:cNvGrpSpPr>
          <p:nvPr/>
        </p:nvGrpSpPr>
        <p:grpSpPr>
          <a:xfrm>
            <a:off x="4571510" y="2521847"/>
            <a:ext cx="215452" cy="197711"/>
            <a:chOff x="6883093" y="4009408"/>
            <a:chExt cx="411480" cy="411480"/>
          </a:xfrm>
        </p:grpSpPr>
        <p:sp>
          <p:nvSpPr>
            <p:cNvPr id="116" name="Oval 39">
              <a:extLst>
                <a:ext uri="{FF2B5EF4-FFF2-40B4-BE49-F238E27FC236}">
                  <a16:creationId xmlns:a16="http://schemas.microsoft.com/office/drawing/2014/main" id="{23B9092D-444F-4B93-94C7-FFAB19DE47E3}"/>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117" name="Group 116">
              <a:extLst>
                <a:ext uri="{FF2B5EF4-FFF2-40B4-BE49-F238E27FC236}">
                  <a16:creationId xmlns:a16="http://schemas.microsoft.com/office/drawing/2014/main" id="{2E1FEC31-4FCF-490B-AD1C-58C06C477968}"/>
                </a:ext>
              </a:extLst>
            </p:cNvPr>
            <p:cNvGrpSpPr/>
            <p:nvPr/>
          </p:nvGrpSpPr>
          <p:grpSpPr>
            <a:xfrm>
              <a:off x="6974768" y="4120386"/>
              <a:ext cx="223070" cy="202036"/>
              <a:chOff x="7707288" y="985839"/>
              <a:chExt cx="269912" cy="244473"/>
            </a:xfrm>
          </p:grpSpPr>
          <p:sp>
            <p:nvSpPr>
              <p:cNvPr id="118" name="Freeform 192">
                <a:extLst>
                  <a:ext uri="{FF2B5EF4-FFF2-40B4-BE49-F238E27FC236}">
                    <a16:creationId xmlns:a16="http://schemas.microsoft.com/office/drawing/2014/main" id="{031FB6F7-C1AF-4C08-97F1-4B44CA68BB67}"/>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9" name="Freeform 208">
                <a:extLst>
                  <a:ext uri="{FF2B5EF4-FFF2-40B4-BE49-F238E27FC236}">
                    <a16:creationId xmlns:a16="http://schemas.microsoft.com/office/drawing/2014/main" id="{1B07B9BC-A18F-4D0B-B95F-06BCAAB4D94D}"/>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20" name="Freeform 213">
                <a:extLst>
                  <a:ext uri="{FF2B5EF4-FFF2-40B4-BE49-F238E27FC236}">
                    <a16:creationId xmlns:a16="http://schemas.microsoft.com/office/drawing/2014/main" id="{E28B0374-7273-4B5E-B8DA-3763FBDBEFB7}"/>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21" name="Freeform 214">
                <a:extLst>
                  <a:ext uri="{FF2B5EF4-FFF2-40B4-BE49-F238E27FC236}">
                    <a16:creationId xmlns:a16="http://schemas.microsoft.com/office/drawing/2014/main" id="{673FDB39-FD94-4CCB-91F5-73336A188FA6}"/>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22" name="Freeform 215">
                <a:extLst>
                  <a:ext uri="{FF2B5EF4-FFF2-40B4-BE49-F238E27FC236}">
                    <a16:creationId xmlns:a16="http://schemas.microsoft.com/office/drawing/2014/main" id="{8706C66F-8058-43CE-BFED-B48FA334CAF5}"/>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spTree>
    <p:extLst>
      <p:ext uri="{BB962C8B-B14F-4D97-AF65-F5344CB8AC3E}">
        <p14:creationId xmlns:p14="http://schemas.microsoft.com/office/powerpoint/2010/main" val="23233238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F5F04AD-6F82-42E4-B623-32B813813D2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Object 4" hidden="1">
                        <a:extLst>
                          <a:ext uri="{FF2B5EF4-FFF2-40B4-BE49-F238E27FC236}">
                            <a16:creationId xmlns:a16="http://schemas.microsoft.com/office/drawing/2014/main" id="{EF5F04AD-6F82-42E4-B623-32B813813D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383EF02-89AB-40AC-8873-F23B261E333C}"/>
              </a:ext>
            </a:extLst>
          </p:cNvPr>
          <p:cNvSpPr>
            <a:spLocks noGrp="1"/>
          </p:cNvSpPr>
          <p:nvPr>
            <p:ph type="title"/>
          </p:nvPr>
        </p:nvSpPr>
        <p:spPr>
          <a:xfrm>
            <a:off x="418989" y="5733"/>
            <a:ext cx="10515600" cy="1325563"/>
          </a:xfrm>
        </p:spPr>
        <p:txBody>
          <a:bodyPr>
            <a:normAutofit/>
          </a:bodyPr>
          <a:lstStyle/>
          <a:p>
            <a:pPr>
              <a:spcBef>
                <a:spcPts val="0"/>
              </a:spcBef>
            </a:pPr>
            <a:r>
              <a:rPr lang="en-US" sz="3200"/>
              <a:t>Timelines, Activities &amp; Deliverables – Oracle Retail MVP QA</a:t>
            </a:r>
          </a:p>
        </p:txBody>
      </p:sp>
      <p:cxnSp>
        <p:nvCxnSpPr>
          <p:cNvPr id="37" name="Straight Connector 36">
            <a:extLst>
              <a:ext uri="{FF2B5EF4-FFF2-40B4-BE49-F238E27FC236}">
                <a16:creationId xmlns:a16="http://schemas.microsoft.com/office/drawing/2014/main" id="{2F6E545F-E1ED-4339-92FF-2F4BF8915C3A}"/>
              </a:ext>
            </a:extLst>
          </p:cNvPr>
          <p:cNvCxnSpPr>
            <a:cxnSpLocks/>
          </p:cNvCxnSpPr>
          <p:nvPr/>
        </p:nvCxnSpPr>
        <p:spPr>
          <a:xfrm flipH="1">
            <a:off x="977968" y="5522309"/>
            <a:ext cx="10774412" cy="60308"/>
          </a:xfrm>
          <a:prstGeom prst="line">
            <a:avLst/>
          </a:prstGeom>
          <a:noFill/>
          <a:ln w="9525" cap="flat" cmpd="sng" algn="ctr">
            <a:solidFill>
              <a:srgbClr val="000000">
                <a:lumMod val="75000"/>
              </a:srgbClr>
            </a:solidFill>
            <a:prstDash val="dot"/>
            <a:miter lim="800000"/>
          </a:ln>
          <a:effectLst/>
        </p:spPr>
      </p:cxnSp>
      <p:sp>
        <p:nvSpPr>
          <p:cNvPr id="36" name="Rectangle 35">
            <a:extLst>
              <a:ext uri="{FF2B5EF4-FFF2-40B4-BE49-F238E27FC236}">
                <a16:creationId xmlns:a16="http://schemas.microsoft.com/office/drawing/2014/main" id="{25579246-1E29-4712-8342-562A07B84110}"/>
              </a:ext>
            </a:extLst>
          </p:cNvPr>
          <p:cNvSpPr/>
          <p:nvPr/>
        </p:nvSpPr>
        <p:spPr>
          <a:xfrm>
            <a:off x="2201945" y="2953931"/>
            <a:ext cx="4854382" cy="2560320"/>
          </a:xfrm>
          <a:prstGeom prst="rect">
            <a:avLst/>
          </a:prstGeom>
          <a:solidFill>
            <a:schemeClr val="tx2">
              <a:lumMod val="20000"/>
              <a:lumOff val="80000"/>
            </a:schemeClr>
          </a:solidFill>
          <a:ln w="19050">
            <a:noFill/>
          </a:ln>
        </p:spPr>
        <p:txBody>
          <a:bodyPr wrap="square" lIns="45720" tIns="45720" rIns="45720" bIns="45720">
            <a:noAutofit/>
          </a:bodyPr>
          <a:lstStyle/>
          <a:p>
            <a:pPr marL="171450" indent="-171450">
              <a:spcAft>
                <a:spcPts val="600"/>
              </a:spcAft>
              <a:buFont typeface="Arial" panose="020B0604020202020204" pitchFamily="34" charset="0"/>
              <a:buChar char="•"/>
              <a:defRPr/>
            </a:pPr>
            <a:r>
              <a:rPr kumimoji="0" lang="en-US" sz="1000" b="0" i="0" u="none" strike="noStrike" kern="0" cap="none" spc="0" normalizeH="0" baseline="0" noProof="0">
                <a:ln>
                  <a:noFill/>
                </a:ln>
                <a:solidFill>
                  <a:srgbClr val="000000"/>
                </a:solidFill>
                <a:effectLst/>
                <a:uLnTx/>
                <a:uFillTx/>
                <a:latin typeface="Open Sans"/>
                <a:ea typeface="+mn-ea"/>
                <a:cs typeface="+mn-cs"/>
              </a:rPr>
              <a:t>Participate in design review sessions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Prepare Test strategy</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Document system integration test scripts based on MVP process scenarios/user stories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Document End to End test scripts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Identify critical components for performance testing</a:t>
            </a:r>
          </a:p>
          <a:p>
            <a:pPr marL="171450" indent="-171450">
              <a:spcAft>
                <a:spcPts val="600"/>
              </a:spcAft>
              <a:buFont typeface="Arial" panose="020B0604020202020204" pitchFamily="34" charset="0"/>
              <a:buChar char="•"/>
              <a:defRPr/>
            </a:pPr>
            <a:r>
              <a:rPr lang="en-US" sz="1000" kern="0">
                <a:solidFill>
                  <a:srgbClr val="000000"/>
                </a:solidFill>
                <a:latin typeface="Open Sans"/>
              </a:rPr>
              <a:t>Review existing and Identify test scenarios for automation</a:t>
            </a:r>
          </a:p>
          <a:p>
            <a:pPr marL="171450" indent="-171450">
              <a:spcAft>
                <a:spcPts val="600"/>
              </a:spcAft>
              <a:buFont typeface="Arial" panose="020B0604020202020204" pitchFamily="34" charset="0"/>
              <a:buChar char="•"/>
              <a:defRPr/>
            </a:pPr>
            <a:r>
              <a:rPr lang="en-US" sz="1000" kern="0">
                <a:solidFill>
                  <a:srgbClr val="000000"/>
                </a:solidFill>
                <a:latin typeface="Open Sans"/>
              </a:rPr>
              <a:t>Automate scenarios identified for regression</a:t>
            </a:r>
          </a:p>
          <a:p>
            <a:pPr marL="171450" indent="-171450">
              <a:spcAft>
                <a:spcPts val="600"/>
              </a:spcAft>
              <a:buFont typeface="Arial" panose="020B0604020202020204" pitchFamily="34" charset="0"/>
              <a:buChar char="•"/>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indent="-171450">
              <a:spcAft>
                <a:spcPts val="600"/>
              </a:spcAft>
              <a:buFont typeface="Arial" panose="020B0604020202020204" pitchFamily="34" charset="0"/>
              <a:buChar char="•"/>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38" name="Pentagon 195">
            <a:extLst>
              <a:ext uri="{FF2B5EF4-FFF2-40B4-BE49-F238E27FC236}">
                <a16:creationId xmlns:a16="http://schemas.microsoft.com/office/drawing/2014/main" id="{2F3E9867-1A6D-4A2F-99F0-489AA809EEF5}"/>
              </a:ext>
            </a:extLst>
          </p:cNvPr>
          <p:cNvSpPr>
            <a:spLocks/>
          </p:cNvSpPr>
          <p:nvPr/>
        </p:nvSpPr>
        <p:spPr>
          <a:xfrm>
            <a:off x="1011992" y="2953931"/>
            <a:ext cx="1133939" cy="2560320"/>
          </a:xfrm>
          <a:prstGeom prst="rect">
            <a:avLst/>
          </a:prstGeom>
          <a:solidFill>
            <a:srgbClr val="F2F2F2"/>
          </a:solidFill>
          <a:ln w="19050" cap="flat" cmpd="sng" algn="ctr">
            <a:noFill/>
            <a:prstDash val="solid"/>
            <a:miter lim="800000"/>
          </a:ln>
          <a:effectLst/>
        </p:spPr>
        <p:txBody>
          <a:bodyPr lIns="45720" tIns="45720" rIns="45720" bIns="45720" rtlCol="0" anchor="t">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Participate in process &amp; MVP Scope sessions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Define QA framework &amp; metrics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Define automation framework</a:t>
            </a:r>
          </a:p>
        </p:txBody>
      </p:sp>
      <p:sp>
        <p:nvSpPr>
          <p:cNvPr id="86" name="Rectangle 85">
            <a:extLst>
              <a:ext uri="{FF2B5EF4-FFF2-40B4-BE49-F238E27FC236}">
                <a16:creationId xmlns:a16="http://schemas.microsoft.com/office/drawing/2014/main" id="{004068FA-9C1E-4AC0-8D25-E775B3D8DD6E}"/>
              </a:ext>
            </a:extLst>
          </p:cNvPr>
          <p:cNvSpPr/>
          <p:nvPr/>
        </p:nvSpPr>
        <p:spPr>
          <a:xfrm>
            <a:off x="1006886" y="5607844"/>
            <a:ext cx="1133939" cy="1007353"/>
          </a:xfrm>
          <a:prstGeom prst="rect">
            <a:avLst/>
          </a:prstGeom>
          <a:solidFill>
            <a:srgbClr val="F2F2F2"/>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Test Strategy</a:t>
            </a:r>
          </a:p>
        </p:txBody>
      </p:sp>
      <p:sp>
        <p:nvSpPr>
          <p:cNvPr id="87" name="Rectangle 86">
            <a:extLst>
              <a:ext uri="{FF2B5EF4-FFF2-40B4-BE49-F238E27FC236}">
                <a16:creationId xmlns:a16="http://schemas.microsoft.com/office/drawing/2014/main" id="{A030629A-4F2E-40EA-8E1D-F671F7949604}"/>
              </a:ext>
            </a:extLst>
          </p:cNvPr>
          <p:cNvSpPr/>
          <p:nvPr/>
        </p:nvSpPr>
        <p:spPr>
          <a:xfrm>
            <a:off x="2201945" y="5607845"/>
            <a:ext cx="4854382" cy="1007354"/>
          </a:xfrm>
          <a:prstGeom prst="rect">
            <a:avLst/>
          </a:prstGeom>
          <a:solidFill>
            <a:schemeClr val="tx2">
              <a:lumMod val="20000"/>
              <a:lumOff val="80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System Integration Test plan/scenarios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End to End test plan/scenarios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Performance test plan/scenarios</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1" name="Pentagon 194">
            <a:extLst>
              <a:ext uri="{FF2B5EF4-FFF2-40B4-BE49-F238E27FC236}">
                <a16:creationId xmlns:a16="http://schemas.microsoft.com/office/drawing/2014/main" id="{6BFF3D5F-72EE-474D-A716-925497E6324B}"/>
              </a:ext>
            </a:extLst>
          </p:cNvPr>
          <p:cNvSpPr>
            <a:spLocks/>
          </p:cNvSpPr>
          <p:nvPr/>
        </p:nvSpPr>
        <p:spPr>
          <a:xfrm>
            <a:off x="7119084" y="2527281"/>
            <a:ext cx="2427191" cy="382323"/>
          </a:xfrm>
          <a:prstGeom prst="rect">
            <a:avLst/>
          </a:prstGeom>
          <a:solidFill>
            <a:srgbClr val="FFCD00"/>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kern="0">
                <a:latin typeface="Open Sans"/>
                <a:cs typeface="Open Sans"/>
              </a:rPr>
              <a:t>Testing/Go-live Preparation</a:t>
            </a:r>
            <a:endParaRPr kumimoji="0" lang="en-US" sz="1000" b="1" i="0" u="none" strike="noStrike" kern="0" cap="none" spc="0" normalizeH="0" baseline="0" noProof="0">
              <a:ln>
                <a:noFill/>
              </a:ln>
              <a:effectLst/>
              <a:uLnTx/>
              <a:uFillTx/>
              <a:latin typeface="Open Sans"/>
              <a:ea typeface="+mn-ea"/>
              <a:cs typeface="Open Sans"/>
            </a:endParaRPr>
          </a:p>
        </p:txBody>
      </p:sp>
      <p:sp>
        <p:nvSpPr>
          <p:cNvPr id="92" name="Rectangle 91">
            <a:extLst>
              <a:ext uri="{FF2B5EF4-FFF2-40B4-BE49-F238E27FC236}">
                <a16:creationId xmlns:a16="http://schemas.microsoft.com/office/drawing/2014/main" id="{B09980EA-4DC1-48A2-BA4F-785FFBABDAC6}"/>
              </a:ext>
            </a:extLst>
          </p:cNvPr>
          <p:cNvSpPr/>
          <p:nvPr/>
        </p:nvSpPr>
        <p:spPr>
          <a:xfrm>
            <a:off x="7119084" y="2953931"/>
            <a:ext cx="2427191" cy="2560320"/>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Conduct System integration test cycles and report test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Conduct End to End test cycles and report test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UAT testing</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Perform Performance testing and report test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Review results against agreed Entry exit criteria</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Defect Triaging, QA  program and metrics reporting</a:t>
            </a:r>
          </a:p>
          <a:p>
            <a:pPr marL="171450" indent="-171450">
              <a:spcAft>
                <a:spcPts val="600"/>
              </a:spcAft>
              <a:buFont typeface="Arial" panose="020B0604020202020204" pitchFamily="34" charset="0"/>
              <a:buChar char="•"/>
              <a:defRPr/>
            </a:pPr>
            <a:r>
              <a:rPr lang="en-US" sz="1000" kern="0">
                <a:solidFill>
                  <a:srgbClr val="000000"/>
                </a:solidFill>
                <a:latin typeface="Open Sans"/>
              </a:rPr>
              <a:t>Continue to automate scenarios identified for regression</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3" name="Pentagon 194">
            <a:extLst>
              <a:ext uri="{FF2B5EF4-FFF2-40B4-BE49-F238E27FC236}">
                <a16:creationId xmlns:a16="http://schemas.microsoft.com/office/drawing/2014/main" id="{C7D94815-C35F-4B4E-BCBC-523350756404}"/>
              </a:ext>
            </a:extLst>
          </p:cNvPr>
          <p:cNvSpPr>
            <a:spLocks/>
          </p:cNvSpPr>
          <p:nvPr/>
        </p:nvSpPr>
        <p:spPr>
          <a:xfrm>
            <a:off x="9609101" y="2527281"/>
            <a:ext cx="2143859" cy="382323"/>
          </a:xfrm>
          <a:prstGeom prst="rect">
            <a:avLst/>
          </a:prstGeom>
          <a:solidFill>
            <a:srgbClr val="7F7F7F"/>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Post Go-live</a:t>
            </a:r>
          </a:p>
        </p:txBody>
      </p:sp>
      <p:sp>
        <p:nvSpPr>
          <p:cNvPr id="94" name="Rectangle 93">
            <a:extLst>
              <a:ext uri="{FF2B5EF4-FFF2-40B4-BE49-F238E27FC236}">
                <a16:creationId xmlns:a16="http://schemas.microsoft.com/office/drawing/2014/main" id="{DAC2DC67-213F-430F-838D-2F02C8C27C76}"/>
              </a:ext>
            </a:extLst>
          </p:cNvPr>
          <p:cNvSpPr/>
          <p:nvPr/>
        </p:nvSpPr>
        <p:spPr>
          <a:xfrm>
            <a:off x="9609101" y="2953931"/>
            <a:ext cx="2146049" cy="2560320"/>
          </a:xfrm>
          <a:prstGeom prst="rect">
            <a:avLst/>
          </a:prstGeom>
          <a:solidFill>
            <a:schemeClr val="bg1">
              <a:lumMod val="8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Go-live</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Perform Smoke testing</a:t>
            </a:r>
          </a:p>
          <a:p>
            <a:pPr marL="171450" indent="-171450">
              <a:spcAft>
                <a:spcPts val="600"/>
              </a:spcAft>
              <a:buFont typeface="Arial" panose="020B0604020202020204" pitchFamily="34" charset="0"/>
              <a:buChar char="•"/>
              <a:defRPr/>
            </a:pPr>
            <a:r>
              <a:rPr lang="en-US" sz="1000" kern="0">
                <a:solidFill>
                  <a:srgbClr val="000000"/>
                </a:solidFill>
                <a:latin typeface="Open Sans"/>
              </a:rPr>
              <a:t>Review production defect fix/testing</a:t>
            </a:r>
          </a:p>
          <a:p>
            <a:pPr marL="171450" indent="-171450">
              <a:spcAft>
                <a:spcPts val="600"/>
              </a:spcAft>
              <a:buFont typeface="Arial" panose="020B0604020202020204" pitchFamily="34" charset="0"/>
              <a:buChar char="•"/>
              <a:defRPr/>
            </a:pPr>
            <a:r>
              <a:rPr lang="en-US" sz="1000" kern="0">
                <a:solidFill>
                  <a:srgbClr val="000000"/>
                </a:solidFill>
                <a:latin typeface="Open Sans"/>
              </a:rPr>
              <a:t>Continue to automate scenarios identified for regression</a:t>
            </a:r>
          </a:p>
          <a:p>
            <a:pPr marL="171450" indent="-171450">
              <a:spcAft>
                <a:spcPts val="600"/>
              </a:spcAft>
              <a:buFont typeface="Arial" panose="020B0604020202020204" pitchFamily="34" charset="0"/>
              <a:buChar char="•"/>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8" name="Rectangle 97">
            <a:extLst>
              <a:ext uri="{FF2B5EF4-FFF2-40B4-BE49-F238E27FC236}">
                <a16:creationId xmlns:a16="http://schemas.microsoft.com/office/drawing/2014/main" id="{4D7D4064-7C37-4245-88E8-791FFC6037D4}"/>
              </a:ext>
            </a:extLst>
          </p:cNvPr>
          <p:cNvSpPr/>
          <p:nvPr/>
        </p:nvSpPr>
        <p:spPr>
          <a:xfrm>
            <a:off x="7119084" y="5607845"/>
            <a:ext cx="2427191" cy="1007354"/>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System integration test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End to End test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Performance testing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Daily QA dashboard </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100" name="Rectangle 99">
            <a:extLst>
              <a:ext uri="{FF2B5EF4-FFF2-40B4-BE49-F238E27FC236}">
                <a16:creationId xmlns:a16="http://schemas.microsoft.com/office/drawing/2014/main" id="{43ADBBF2-E307-4E4F-834A-C75C7D4EABAC}"/>
              </a:ext>
            </a:extLst>
          </p:cNvPr>
          <p:cNvSpPr/>
          <p:nvPr/>
        </p:nvSpPr>
        <p:spPr>
          <a:xfrm>
            <a:off x="9607425" y="5607845"/>
            <a:ext cx="2146049" cy="1007354"/>
          </a:xfrm>
          <a:prstGeom prst="rect">
            <a:avLst/>
          </a:prstGeom>
          <a:solidFill>
            <a:schemeClr val="bg1">
              <a:lumMod val="85000"/>
            </a:schemeClr>
          </a:solidFill>
          <a:ln w="19050">
            <a:noFill/>
          </a:ln>
        </p:spPr>
        <p:txBody>
          <a:bodyPr wrap="square" lIns="45720" tIns="45720" rIns="45720" bIns="45720">
            <a:noAutofit/>
          </a:bodyPr>
          <a:lstStyle/>
          <a:p>
            <a:pPr marL="171450" indent="-171450">
              <a:spcAft>
                <a:spcPts val="600"/>
              </a:spcAft>
              <a:buFont typeface="Arial" panose="020B0604020202020204" pitchFamily="34" charset="0"/>
              <a:buChar char="•"/>
              <a:defRPr/>
            </a:pPr>
            <a:r>
              <a:rPr lang="en-US" sz="1000" kern="0">
                <a:solidFill>
                  <a:srgbClr val="000000"/>
                </a:solidFill>
                <a:latin typeface="Open Sans"/>
              </a:rPr>
              <a:t>Post-production QA metrics reporting</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41" name="Pentagon 194">
            <a:extLst>
              <a:ext uri="{FF2B5EF4-FFF2-40B4-BE49-F238E27FC236}">
                <a16:creationId xmlns:a16="http://schemas.microsoft.com/office/drawing/2014/main" id="{C7D43053-2281-4E56-8984-7A10B52C7F74}"/>
              </a:ext>
            </a:extLst>
          </p:cNvPr>
          <p:cNvSpPr>
            <a:spLocks/>
          </p:cNvSpPr>
          <p:nvPr/>
        </p:nvSpPr>
        <p:spPr>
          <a:xfrm>
            <a:off x="1011992" y="2527281"/>
            <a:ext cx="1133939" cy="382323"/>
          </a:xfrm>
          <a:prstGeom prst="rect">
            <a:avLst/>
          </a:prstGeom>
          <a:solidFill>
            <a:srgbClr val="046A38"/>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42" name="Pentagon 194">
            <a:extLst>
              <a:ext uri="{FF2B5EF4-FFF2-40B4-BE49-F238E27FC236}">
                <a16:creationId xmlns:a16="http://schemas.microsoft.com/office/drawing/2014/main" id="{02C5142B-4CA0-4FA2-B733-4AD676E0B3C5}"/>
              </a:ext>
            </a:extLst>
          </p:cNvPr>
          <p:cNvSpPr>
            <a:spLocks/>
          </p:cNvSpPr>
          <p:nvPr/>
        </p:nvSpPr>
        <p:spPr>
          <a:xfrm>
            <a:off x="2201945" y="2527281"/>
            <a:ext cx="4853505" cy="382323"/>
          </a:xfrm>
          <a:prstGeom prst="rect">
            <a:avLst/>
          </a:prstGeom>
          <a:solidFill>
            <a:srgbClr val="43B02A"/>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Design/Build</a:t>
            </a:r>
          </a:p>
        </p:txBody>
      </p:sp>
      <p:grpSp>
        <p:nvGrpSpPr>
          <p:cNvPr id="65" name="Group 64">
            <a:extLst>
              <a:ext uri="{FF2B5EF4-FFF2-40B4-BE49-F238E27FC236}">
                <a16:creationId xmlns:a16="http://schemas.microsoft.com/office/drawing/2014/main" id="{6CB92B64-0306-42DB-9DA4-AEDEB2AF07DA}"/>
              </a:ext>
            </a:extLst>
          </p:cNvPr>
          <p:cNvGrpSpPr/>
          <p:nvPr/>
        </p:nvGrpSpPr>
        <p:grpSpPr>
          <a:xfrm>
            <a:off x="492689" y="1331296"/>
            <a:ext cx="399162" cy="5212407"/>
            <a:chOff x="469456" y="1254763"/>
            <a:chExt cx="399162" cy="5173698"/>
          </a:xfrm>
        </p:grpSpPr>
        <p:sp>
          <p:nvSpPr>
            <p:cNvPr id="66" name="Pentagon 194">
              <a:extLst>
                <a:ext uri="{FF2B5EF4-FFF2-40B4-BE49-F238E27FC236}">
                  <a16:creationId xmlns:a16="http://schemas.microsoft.com/office/drawing/2014/main" id="{9A0D2248-B61C-41C1-833F-607CB5D3DBCA}"/>
                </a:ext>
              </a:extLst>
            </p:cNvPr>
            <p:cNvSpPr>
              <a:spLocks/>
            </p:cNvSpPr>
            <p:nvPr/>
          </p:nvSpPr>
          <p:spPr>
            <a:xfrm rot="16200000">
              <a:off x="22004" y="1702215"/>
              <a:ext cx="1294066" cy="399162"/>
            </a:xfrm>
            <a:prstGeom prst="chevron">
              <a:avLst/>
            </a:prstGeom>
            <a:solidFill>
              <a:schemeClr val="bg1">
                <a:lumMod val="9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kern="0">
                  <a:solidFill>
                    <a:srgbClr val="000000"/>
                  </a:solidFill>
                  <a:latin typeface="Open Sans"/>
                  <a:cs typeface="Open Sans"/>
                </a:rPr>
                <a:t>Timeline</a:t>
              </a:r>
            </a:p>
          </p:txBody>
        </p:sp>
        <p:sp>
          <p:nvSpPr>
            <p:cNvPr id="68" name="Pentagon 194">
              <a:extLst>
                <a:ext uri="{FF2B5EF4-FFF2-40B4-BE49-F238E27FC236}">
                  <a16:creationId xmlns:a16="http://schemas.microsoft.com/office/drawing/2014/main" id="{CE6A1CBE-ED4C-409C-9810-C8622BACA7FF}"/>
                </a:ext>
              </a:extLst>
            </p:cNvPr>
            <p:cNvSpPr>
              <a:spLocks/>
            </p:cNvSpPr>
            <p:nvPr/>
          </p:nvSpPr>
          <p:spPr>
            <a:xfrm rot="16200000">
              <a:off x="-859807" y="3771130"/>
              <a:ext cx="3057688" cy="399162"/>
            </a:xfrm>
            <a:prstGeom prst="chevron">
              <a:avLst/>
            </a:prstGeom>
            <a:solidFill>
              <a:schemeClr val="bg1">
                <a:lumMod val="8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Activities</a:t>
              </a:r>
            </a:p>
          </p:txBody>
        </p:sp>
        <p:sp>
          <p:nvSpPr>
            <p:cNvPr id="69" name="Pentagon 194">
              <a:extLst>
                <a:ext uri="{FF2B5EF4-FFF2-40B4-BE49-F238E27FC236}">
                  <a16:creationId xmlns:a16="http://schemas.microsoft.com/office/drawing/2014/main" id="{2C2CCB35-2789-49F4-9309-BE1D614C0AFE}"/>
                </a:ext>
              </a:extLst>
            </p:cNvPr>
            <p:cNvSpPr>
              <a:spLocks/>
            </p:cNvSpPr>
            <p:nvPr/>
          </p:nvSpPr>
          <p:spPr>
            <a:xfrm rot="16200000">
              <a:off x="157626" y="5717470"/>
              <a:ext cx="1022821" cy="399162"/>
            </a:xfrm>
            <a:prstGeom prst="homePlate">
              <a:avLst/>
            </a:prstGeom>
            <a:solidFill>
              <a:schemeClr val="bg1">
                <a:lumMod val="7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Deliverables</a:t>
              </a:r>
            </a:p>
          </p:txBody>
        </p:sp>
      </p:grpSp>
      <p:grpSp>
        <p:nvGrpSpPr>
          <p:cNvPr id="70" name="Group 69">
            <a:extLst>
              <a:ext uri="{FF2B5EF4-FFF2-40B4-BE49-F238E27FC236}">
                <a16:creationId xmlns:a16="http://schemas.microsoft.com/office/drawing/2014/main" id="{BC8075ED-49C2-4CC5-8D11-CD81FEE8E0E5}"/>
              </a:ext>
            </a:extLst>
          </p:cNvPr>
          <p:cNvGrpSpPr/>
          <p:nvPr/>
        </p:nvGrpSpPr>
        <p:grpSpPr>
          <a:xfrm>
            <a:off x="983092" y="1279880"/>
            <a:ext cx="10753637" cy="425486"/>
            <a:chOff x="983092" y="989268"/>
            <a:chExt cx="10753637" cy="425486"/>
          </a:xfrm>
        </p:grpSpPr>
        <p:cxnSp>
          <p:nvCxnSpPr>
            <p:cNvPr id="71" name="Straight Connector 70">
              <a:extLst>
                <a:ext uri="{FF2B5EF4-FFF2-40B4-BE49-F238E27FC236}">
                  <a16:creationId xmlns:a16="http://schemas.microsoft.com/office/drawing/2014/main" id="{8031C484-F9A0-4F30-888C-87B001D0C4AF}"/>
                </a:ext>
              </a:extLst>
            </p:cNvPr>
            <p:cNvCxnSpPr>
              <a:cxnSpLocks/>
            </p:cNvCxnSpPr>
            <p:nvPr/>
          </p:nvCxnSpPr>
          <p:spPr>
            <a:xfrm>
              <a:off x="983848" y="1309622"/>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84E6C5F-A88C-4A53-B9AA-EA0875149282}"/>
                </a:ext>
              </a:extLst>
            </p:cNvPr>
            <p:cNvCxnSpPr>
              <a:cxnSpLocks/>
            </p:cNvCxnSpPr>
            <p:nvPr/>
          </p:nvCxnSpPr>
          <p:spPr>
            <a:xfrm>
              <a:off x="983848" y="1081601"/>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8" name="object 26">
              <a:extLst>
                <a:ext uri="{FF2B5EF4-FFF2-40B4-BE49-F238E27FC236}">
                  <a16:creationId xmlns:a16="http://schemas.microsoft.com/office/drawing/2014/main" id="{C564400D-D5C9-4A9B-88A4-782D09F84066}"/>
                </a:ext>
              </a:extLst>
            </p:cNvPr>
            <p:cNvSpPr txBox="1"/>
            <p:nvPr/>
          </p:nvSpPr>
          <p:spPr>
            <a:xfrm>
              <a:off x="5968510" y="989268"/>
              <a:ext cx="783556" cy="184666"/>
            </a:xfrm>
            <a:prstGeom prst="rect">
              <a:avLst/>
            </a:prstGeom>
            <a:solidFill>
              <a:schemeClr val="bg1"/>
            </a:solidFill>
            <a:ln w="76200" cmpd="sng">
              <a:noFill/>
            </a:ln>
          </p:spPr>
          <p:txBody>
            <a:bodyPr vert="horz" wrap="square" lIns="45720" tIns="0" rIns="45720" bIns="0" rtlCol="0">
              <a:spAutoFit/>
            </a:bodyPr>
            <a:lstStyle/>
            <a:p>
              <a:pPr marL="12700" marR="0" lvl="0" indent="0" algn="ctr" defTabSz="914400" eaLnBrk="1" fontAlgn="auto" latinLnBrk="0" hangingPunct="1">
                <a:lnSpc>
                  <a:spcPct val="100000"/>
                </a:lnSpc>
                <a:spcBef>
                  <a:spcPts val="0"/>
                </a:spcBef>
                <a:spcAft>
                  <a:spcPts val="0"/>
                </a:spcAft>
                <a:buClrTx/>
                <a:buSzTx/>
                <a:buFontTx/>
                <a:buNone/>
                <a:tabLst/>
                <a:defRPr/>
              </a:pPr>
              <a:r>
                <a:rPr lang="en-US" sz="1200" b="1" kern="0">
                  <a:solidFill>
                    <a:srgbClr val="000000"/>
                  </a:solidFill>
                  <a:latin typeface="Open Sans"/>
                  <a:ea typeface="+mn-ea"/>
                  <a:cs typeface="Open Sans"/>
                </a:rPr>
                <a:t>Months</a:t>
              </a:r>
              <a:endParaRPr kumimoji="0" lang="en-US" sz="1200" b="1" i="0" u="none" strike="noStrike" kern="0" cap="none" spc="0" normalizeH="0" baseline="0" noProof="0">
                <a:ln>
                  <a:noFill/>
                </a:ln>
                <a:solidFill>
                  <a:srgbClr val="000000"/>
                </a:solidFill>
                <a:effectLst/>
                <a:uLnTx/>
                <a:uFillTx/>
                <a:latin typeface="Open Sans"/>
                <a:ea typeface="+mn-ea"/>
                <a:cs typeface="Open Sans"/>
              </a:endParaRPr>
            </a:p>
          </p:txBody>
        </p:sp>
        <p:sp>
          <p:nvSpPr>
            <p:cNvPr id="81" name="Oval 80">
              <a:extLst>
                <a:ext uri="{FF2B5EF4-FFF2-40B4-BE49-F238E27FC236}">
                  <a16:creationId xmlns:a16="http://schemas.microsoft.com/office/drawing/2014/main" id="{15760B36-FC23-46D4-976B-812F8274125C}"/>
                </a:ext>
              </a:extLst>
            </p:cNvPr>
            <p:cNvSpPr/>
            <p:nvPr/>
          </p:nvSpPr>
          <p:spPr bwMode="gray">
            <a:xfrm>
              <a:off x="983092"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0</a:t>
              </a:r>
            </a:p>
          </p:txBody>
        </p:sp>
        <p:sp>
          <p:nvSpPr>
            <p:cNvPr id="90" name="Oval 89">
              <a:extLst>
                <a:ext uri="{FF2B5EF4-FFF2-40B4-BE49-F238E27FC236}">
                  <a16:creationId xmlns:a16="http://schemas.microsoft.com/office/drawing/2014/main" id="{150F9913-DB42-444A-A588-AF030C9E8463}"/>
                </a:ext>
              </a:extLst>
            </p:cNvPr>
            <p:cNvSpPr/>
            <p:nvPr/>
          </p:nvSpPr>
          <p:spPr bwMode="gray">
            <a:xfrm>
              <a:off x="2219381"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1</a:t>
              </a:r>
            </a:p>
          </p:txBody>
        </p:sp>
        <p:sp>
          <p:nvSpPr>
            <p:cNvPr id="95" name="Oval 94">
              <a:extLst>
                <a:ext uri="{FF2B5EF4-FFF2-40B4-BE49-F238E27FC236}">
                  <a16:creationId xmlns:a16="http://schemas.microsoft.com/office/drawing/2014/main" id="{34662E52-6537-47EF-9C0D-0B469208B8A5}"/>
                </a:ext>
              </a:extLst>
            </p:cNvPr>
            <p:cNvSpPr/>
            <p:nvPr/>
          </p:nvSpPr>
          <p:spPr bwMode="gray">
            <a:xfrm>
              <a:off x="357478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2</a:t>
              </a:r>
            </a:p>
          </p:txBody>
        </p:sp>
        <p:sp>
          <p:nvSpPr>
            <p:cNvPr id="96" name="Oval 95">
              <a:extLst>
                <a:ext uri="{FF2B5EF4-FFF2-40B4-BE49-F238E27FC236}">
                  <a16:creationId xmlns:a16="http://schemas.microsoft.com/office/drawing/2014/main" id="{43EE56CB-0302-4978-B87A-C32A5899755E}"/>
                </a:ext>
              </a:extLst>
            </p:cNvPr>
            <p:cNvSpPr/>
            <p:nvPr/>
          </p:nvSpPr>
          <p:spPr bwMode="gray">
            <a:xfrm>
              <a:off x="4839727"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3</a:t>
              </a:r>
            </a:p>
          </p:txBody>
        </p:sp>
        <p:sp>
          <p:nvSpPr>
            <p:cNvPr id="97" name="Oval 96">
              <a:extLst>
                <a:ext uri="{FF2B5EF4-FFF2-40B4-BE49-F238E27FC236}">
                  <a16:creationId xmlns:a16="http://schemas.microsoft.com/office/drawing/2014/main" id="{DABD143A-CEF9-41D3-A385-9CFC2DD4F152}"/>
                </a:ext>
              </a:extLst>
            </p:cNvPr>
            <p:cNvSpPr/>
            <p:nvPr/>
          </p:nvSpPr>
          <p:spPr bwMode="gray">
            <a:xfrm>
              <a:off x="618858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4</a:t>
              </a:r>
            </a:p>
          </p:txBody>
        </p:sp>
        <p:sp>
          <p:nvSpPr>
            <p:cNvPr id="99" name="Oval 98">
              <a:extLst>
                <a:ext uri="{FF2B5EF4-FFF2-40B4-BE49-F238E27FC236}">
                  <a16:creationId xmlns:a16="http://schemas.microsoft.com/office/drawing/2014/main" id="{4FDB943C-360E-452C-8A93-72ECC11849F0}"/>
                </a:ext>
              </a:extLst>
            </p:cNvPr>
            <p:cNvSpPr/>
            <p:nvPr/>
          </p:nvSpPr>
          <p:spPr bwMode="gray">
            <a:xfrm>
              <a:off x="749727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5</a:t>
              </a:r>
            </a:p>
          </p:txBody>
        </p:sp>
        <p:sp>
          <p:nvSpPr>
            <p:cNvPr id="101" name="Oval 100">
              <a:extLst>
                <a:ext uri="{FF2B5EF4-FFF2-40B4-BE49-F238E27FC236}">
                  <a16:creationId xmlns:a16="http://schemas.microsoft.com/office/drawing/2014/main" id="{FAD46434-EF57-44B6-BAB7-3B51DFF264F9}"/>
                </a:ext>
              </a:extLst>
            </p:cNvPr>
            <p:cNvSpPr/>
            <p:nvPr/>
          </p:nvSpPr>
          <p:spPr bwMode="gray">
            <a:xfrm>
              <a:off x="8881538"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6</a:t>
              </a:r>
            </a:p>
          </p:txBody>
        </p:sp>
        <p:sp>
          <p:nvSpPr>
            <p:cNvPr id="102" name="Oval 101">
              <a:extLst>
                <a:ext uri="{FF2B5EF4-FFF2-40B4-BE49-F238E27FC236}">
                  <a16:creationId xmlns:a16="http://schemas.microsoft.com/office/drawing/2014/main" id="{F7ABA77F-7AC9-4EEB-B925-E709A048FE9D}"/>
                </a:ext>
              </a:extLst>
            </p:cNvPr>
            <p:cNvSpPr/>
            <p:nvPr/>
          </p:nvSpPr>
          <p:spPr bwMode="gray">
            <a:xfrm>
              <a:off x="1005516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7</a:t>
              </a:r>
            </a:p>
          </p:txBody>
        </p:sp>
        <p:sp>
          <p:nvSpPr>
            <p:cNvPr id="103" name="Oval 102">
              <a:extLst>
                <a:ext uri="{FF2B5EF4-FFF2-40B4-BE49-F238E27FC236}">
                  <a16:creationId xmlns:a16="http://schemas.microsoft.com/office/drawing/2014/main" id="{7E70DA54-956D-4024-B038-D7650A4DA234}"/>
                </a:ext>
              </a:extLst>
            </p:cNvPr>
            <p:cNvSpPr/>
            <p:nvPr/>
          </p:nvSpPr>
          <p:spPr bwMode="gray">
            <a:xfrm>
              <a:off x="1133832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8</a:t>
              </a:r>
            </a:p>
          </p:txBody>
        </p:sp>
        <p:sp>
          <p:nvSpPr>
            <p:cNvPr id="104" name="Oval 103">
              <a:extLst>
                <a:ext uri="{FF2B5EF4-FFF2-40B4-BE49-F238E27FC236}">
                  <a16:creationId xmlns:a16="http://schemas.microsoft.com/office/drawing/2014/main" id="{FAB571A3-7331-43AC-AA0E-8E7E3AD3FFE0}"/>
                </a:ext>
              </a:extLst>
            </p:cNvPr>
            <p:cNvSpPr/>
            <p:nvPr/>
          </p:nvSpPr>
          <p:spPr bwMode="gray">
            <a:xfrm>
              <a:off x="166204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05" name="Oval 104">
              <a:extLst>
                <a:ext uri="{FF2B5EF4-FFF2-40B4-BE49-F238E27FC236}">
                  <a16:creationId xmlns:a16="http://schemas.microsoft.com/office/drawing/2014/main" id="{83ED2EFB-0E2E-4B9F-9E32-362BF248DBED}"/>
                </a:ext>
              </a:extLst>
            </p:cNvPr>
            <p:cNvSpPr/>
            <p:nvPr/>
          </p:nvSpPr>
          <p:spPr bwMode="gray">
            <a:xfrm>
              <a:off x="2972318"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06" name="Oval 105">
              <a:extLst>
                <a:ext uri="{FF2B5EF4-FFF2-40B4-BE49-F238E27FC236}">
                  <a16:creationId xmlns:a16="http://schemas.microsoft.com/office/drawing/2014/main" id="{F8FA3D7C-104C-4EF1-98D6-36849F1B4DEA}"/>
                </a:ext>
              </a:extLst>
            </p:cNvPr>
            <p:cNvSpPr/>
            <p:nvPr/>
          </p:nvSpPr>
          <p:spPr bwMode="gray">
            <a:xfrm>
              <a:off x="4297036"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07" name="Oval 106">
              <a:extLst>
                <a:ext uri="{FF2B5EF4-FFF2-40B4-BE49-F238E27FC236}">
                  <a16:creationId xmlns:a16="http://schemas.microsoft.com/office/drawing/2014/main" id="{1EB29444-AEE8-4DEF-AB6A-3F9D425AE6BB}"/>
                </a:ext>
              </a:extLst>
            </p:cNvPr>
            <p:cNvSpPr/>
            <p:nvPr/>
          </p:nvSpPr>
          <p:spPr bwMode="gray">
            <a:xfrm>
              <a:off x="5588133"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08" name="Oval 107">
              <a:extLst>
                <a:ext uri="{FF2B5EF4-FFF2-40B4-BE49-F238E27FC236}">
                  <a16:creationId xmlns:a16="http://schemas.microsoft.com/office/drawing/2014/main" id="{40CD8A87-B164-455E-B5D7-D1247C5D05F6}"/>
                </a:ext>
              </a:extLst>
            </p:cNvPr>
            <p:cNvSpPr/>
            <p:nvPr/>
          </p:nvSpPr>
          <p:spPr bwMode="gray">
            <a:xfrm>
              <a:off x="6899677"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09" name="Oval 108">
              <a:extLst>
                <a:ext uri="{FF2B5EF4-FFF2-40B4-BE49-F238E27FC236}">
                  <a16:creationId xmlns:a16="http://schemas.microsoft.com/office/drawing/2014/main" id="{ACEE8D4F-3CE3-483D-81E1-649385284848}"/>
                </a:ext>
              </a:extLst>
            </p:cNvPr>
            <p:cNvSpPr/>
            <p:nvPr/>
          </p:nvSpPr>
          <p:spPr bwMode="gray">
            <a:xfrm>
              <a:off x="8284612"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10" name="Oval 109">
              <a:extLst>
                <a:ext uri="{FF2B5EF4-FFF2-40B4-BE49-F238E27FC236}">
                  <a16:creationId xmlns:a16="http://schemas.microsoft.com/office/drawing/2014/main" id="{EC93D322-95E2-4FC7-9A72-43C2F5EC3991}"/>
                </a:ext>
              </a:extLst>
            </p:cNvPr>
            <p:cNvSpPr/>
            <p:nvPr/>
          </p:nvSpPr>
          <p:spPr bwMode="gray">
            <a:xfrm>
              <a:off x="9511415"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11" name="Oval 110">
              <a:extLst>
                <a:ext uri="{FF2B5EF4-FFF2-40B4-BE49-F238E27FC236}">
                  <a16:creationId xmlns:a16="http://schemas.microsoft.com/office/drawing/2014/main" id="{44CA4D0D-75CC-458B-A4CB-94973A9B2D19}"/>
                </a:ext>
              </a:extLst>
            </p:cNvPr>
            <p:cNvSpPr/>
            <p:nvPr/>
          </p:nvSpPr>
          <p:spPr bwMode="gray">
            <a:xfrm>
              <a:off x="1077951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grpSp>
      <p:sp>
        <p:nvSpPr>
          <p:cNvPr id="43" name="Pentagon 194">
            <a:extLst>
              <a:ext uri="{FF2B5EF4-FFF2-40B4-BE49-F238E27FC236}">
                <a16:creationId xmlns:a16="http://schemas.microsoft.com/office/drawing/2014/main" id="{A3EF4467-1E13-4740-A2F3-369C7F9E03FB}"/>
              </a:ext>
            </a:extLst>
          </p:cNvPr>
          <p:cNvSpPr>
            <a:spLocks/>
          </p:cNvSpPr>
          <p:nvPr/>
        </p:nvSpPr>
        <p:spPr>
          <a:xfrm>
            <a:off x="1032842" y="1712205"/>
            <a:ext cx="1308146" cy="233805"/>
          </a:xfrm>
          <a:prstGeom prst="homePlate">
            <a:avLst/>
          </a:prstGeom>
          <a:solidFill>
            <a:srgbClr val="046A3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44" name="Pentagon 194">
            <a:extLst>
              <a:ext uri="{FF2B5EF4-FFF2-40B4-BE49-F238E27FC236}">
                <a16:creationId xmlns:a16="http://schemas.microsoft.com/office/drawing/2014/main" id="{38BC9403-799A-4CF1-9DFB-E5E8960C90E6}"/>
              </a:ext>
            </a:extLst>
          </p:cNvPr>
          <p:cNvSpPr>
            <a:spLocks/>
          </p:cNvSpPr>
          <p:nvPr/>
        </p:nvSpPr>
        <p:spPr>
          <a:xfrm>
            <a:off x="2203253" y="1955370"/>
            <a:ext cx="4195590" cy="233805"/>
          </a:xfrm>
          <a:prstGeom prst="homePlate">
            <a:avLst/>
          </a:prstGeom>
          <a:solidFill>
            <a:srgbClr val="43B02A"/>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Iterative Design</a:t>
            </a:r>
          </a:p>
        </p:txBody>
      </p:sp>
      <p:sp>
        <p:nvSpPr>
          <p:cNvPr id="45" name="Pentagon 194">
            <a:extLst>
              <a:ext uri="{FF2B5EF4-FFF2-40B4-BE49-F238E27FC236}">
                <a16:creationId xmlns:a16="http://schemas.microsoft.com/office/drawing/2014/main" id="{A1F2E8B4-EE3D-46A0-A676-94C3C3071247}"/>
              </a:ext>
            </a:extLst>
          </p:cNvPr>
          <p:cNvSpPr>
            <a:spLocks/>
          </p:cNvSpPr>
          <p:nvPr/>
        </p:nvSpPr>
        <p:spPr>
          <a:xfrm>
            <a:off x="3060974" y="2200700"/>
            <a:ext cx="4646559" cy="271855"/>
          </a:xfrm>
          <a:prstGeom prst="homePlate">
            <a:avLst/>
          </a:prstGeom>
          <a:solidFill>
            <a:srgbClr val="0076A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Iterative Build</a:t>
            </a:r>
          </a:p>
        </p:txBody>
      </p:sp>
      <p:sp>
        <p:nvSpPr>
          <p:cNvPr id="46" name="Pentagon 194">
            <a:extLst>
              <a:ext uri="{FF2B5EF4-FFF2-40B4-BE49-F238E27FC236}">
                <a16:creationId xmlns:a16="http://schemas.microsoft.com/office/drawing/2014/main" id="{06D3F6D1-1791-4770-95DF-16447EB06764}"/>
              </a:ext>
            </a:extLst>
          </p:cNvPr>
          <p:cNvSpPr>
            <a:spLocks/>
          </p:cNvSpPr>
          <p:nvPr/>
        </p:nvSpPr>
        <p:spPr>
          <a:xfrm>
            <a:off x="7707534" y="2200700"/>
            <a:ext cx="2925502" cy="271855"/>
          </a:xfrm>
          <a:prstGeom prst="homePlate">
            <a:avLst/>
          </a:prstGeom>
          <a:solidFill>
            <a:srgbClr val="FFCD00"/>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effectLst/>
                <a:uLnTx/>
                <a:uFillTx/>
                <a:latin typeface="Open Sans"/>
                <a:ea typeface="+mn-ea"/>
                <a:cs typeface="Open Sans"/>
              </a:rPr>
              <a:t>Test</a:t>
            </a:r>
          </a:p>
        </p:txBody>
      </p:sp>
      <p:sp>
        <p:nvSpPr>
          <p:cNvPr id="47" name="Pentagon 194">
            <a:extLst>
              <a:ext uri="{FF2B5EF4-FFF2-40B4-BE49-F238E27FC236}">
                <a16:creationId xmlns:a16="http://schemas.microsoft.com/office/drawing/2014/main" id="{F4EAC06D-EE92-448D-82D3-C16F2E09CF72}"/>
              </a:ext>
            </a:extLst>
          </p:cNvPr>
          <p:cNvSpPr>
            <a:spLocks/>
          </p:cNvSpPr>
          <p:nvPr/>
        </p:nvSpPr>
        <p:spPr>
          <a:xfrm>
            <a:off x="10633035" y="2218544"/>
            <a:ext cx="1149424" cy="233805"/>
          </a:xfrm>
          <a:prstGeom prst="homePlate">
            <a:avLst/>
          </a:prstGeom>
          <a:solidFill>
            <a:srgbClr val="7F7F7F"/>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Run</a:t>
            </a:r>
          </a:p>
        </p:txBody>
      </p:sp>
      <p:cxnSp>
        <p:nvCxnSpPr>
          <p:cNvPr id="48" name="Straight Connector 47">
            <a:extLst>
              <a:ext uri="{FF2B5EF4-FFF2-40B4-BE49-F238E27FC236}">
                <a16:creationId xmlns:a16="http://schemas.microsoft.com/office/drawing/2014/main" id="{545AF2D5-4B51-4AE2-9F19-257814250D5C}"/>
              </a:ext>
            </a:extLst>
          </p:cNvPr>
          <p:cNvCxnSpPr>
            <a:cxnSpLocks/>
          </p:cNvCxnSpPr>
          <p:nvPr/>
        </p:nvCxnSpPr>
        <p:spPr>
          <a:xfrm flipH="1">
            <a:off x="1012785" y="2497139"/>
            <a:ext cx="10769674" cy="0"/>
          </a:xfrm>
          <a:prstGeom prst="line">
            <a:avLst/>
          </a:prstGeom>
          <a:noFill/>
          <a:ln w="9525" cap="flat" cmpd="sng" algn="ctr">
            <a:solidFill>
              <a:srgbClr val="000000">
                <a:lumMod val="75000"/>
              </a:srgbClr>
            </a:solidFill>
            <a:prstDash val="dot"/>
            <a:miter lim="800000"/>
          </a:ln>
          <a:effectLst/>
        </p:spPr>
      </p:cxnSp>
      <p:cxnSp>
        <p:nvCxnSpPr>
          <p:cNvPr id="49" name="Straight Connector 48">
            <a:extLst>
              <a:ext uri="{FF2B5EF4-FFF2-40B4-BE49-F238E27FC236}">
                <a16:creationId xmlns:a16="http://schemas.microsoft.com/office/drawing/2014/main" id="{8D711DB6-4513-4EB7-966F-61343AAB5AE9}"/>
              </a:ext>
            </a:extLst>
          </p:cNvPr>
          <p:cNvCxnSpPr>
            <a:cxnSpLocks/>
          </p:cNvCxnSpPr>
          <p:nvPr/>
        </p:nvCxnSpPr>
        <p:spPr>
          <a:xfrm>
            <a:off x="3467908" y="2076918"/>
            <a:ext cx="1511096"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F0DDC107-74F1-4344-8187-015690458680}"/>
              </a:ext>
            </a:extLst>
          </p:cNvPr>
          <p:cNvGrpSpPr>
            <a:grpSpLocks noChangeAspect="1"/>
          </p:cNvGrpSpPr>
          <p:nvPr/>
        </p:nvGrpSpPr>
        <p:grpSpPr>
          <a:xfrm>
            <a:off x="4388457" y="1970222"/>
            <a:ext cx="215452" cy="197711"/>
            <a:chOff x="6883093" y="4009408"/>
            <a:chExt cx="411480" cy="411480"/>
          </a:xfrm>
        </p:grpSpPr>
        <p:sp>
          <p:nvSpPr>
            <p:cNvPr id="51" name="Oval 39">
              <a:extLst>
                <a:ext uri="{FF2B5EF4-FFF2-40B4-BE49-F238E27FC236}">
                  <a16:creationId xmlns:a16="http://schemas.microsoft.com/office/drawing/2014/main" id="{8B40A3EF-F028-4636-BC98-1A6FE1ED384F}"/>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52" name="Group 51">
              <a:extLst>
                <a:ext uri="{FF2B5EF4-FFF2-40B4-BE49-F238E27FC236}">
                  <a16:creationId xmlns:a16="http://schemas.microsoft.com/office/drawing/2014/main" id="{7C96EA0A-2CB1-40D2-B64B-B60D52178738}"/>
                </a:ext>
              </a:extLst>
            </p:cNvPr>
            <p:cNvGrpSpPr/>
            <p:nvPr/>
          </p:nvGrpSpPr>
          <p:grpSpPr>
            <a:xfrm>
              <a:off x="6974764" y="4120386"/>
              <a:ext cx="223070" cy="202036"/>
              <a:chOff x="7707288" y="985839"/>
              <a:chExt cx="269912" cy="244473"/>
            </a:xfrm>
          </p:grpSpPr>
          <p:sp>
            <p:nvSpPr>
              <p:cNvPr id="53" name="Freeform 192">
                <a:extLst>
                  <a:ext uri="{FF2B5EF4-FFF2-40B4-BE49-F238E27FC236}">
                    <a16:creationId xmlns:a16="http://schemas.microsoft.com/office/drawing/2014/main" id="{DB0CEBC2-59AE-4528-9FCC-B0BBAF3DA9AE}"/>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54" name="Freeform 208">
                <a:extLst>
                  <a:ext uri="{FF2B5EF4-FFF2-40B4-BE49-F238E27FC236}">
                    <a16:creationId xmlns:a16="http://schemas.microsoft.com/office/drawing/2014/main" id="{B8430E4C-EEAC-436A-8EF2-677E2D9B7F81}"/>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55" name="Freeform 213">
                <a:extLst>
                  <a:ext uri="{FF2B5EF4-FFF2-40B4-BE49-F238E27FC236}">
                    <a16:creationId xmlns:a16="http://schemas.microsoft.com/office/drawing/2014/main" id="{BD352009-C124-43FA-A971-67831EF43598}"/>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56" name="Freeform 214">
                <a:extLst>
                  <a:ext uri="{FF2B5EF4-FFF2-40B4-BE49-F238E27FC236}">
                    <a16:creationId xmlns:a16="http://schemas.microsoft.com/office/drawing/2014/main" id="{FD56A518-395D-4427-BC61-69079FD8B0AE}"/>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57" name="Freeform 215">
                <a:extLst>
                  <a:ext uri="{FF2B5EF4-FFF2-40B4-BE49-F238E27FC236}">
                    <a16:creationId xmlns:a16="http://schemas.microsoft.com/office/drawing/2014/main" id="{F83777EF-C9F2-4293-8026-7E5C17688DAA}"/>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grpSp>
        <p:nvGrpSpPr>
          <p:cNvPr id="58" name="Group 57">
            <a:extLst>
              <a:ext uri="{FF2B5EF4-FFF2-40B4-BE49-F238E27FC236}">
                <a16:creationId xmlns:a16="http://schemas.microsoft.com/office/drawing/2014/main" id="{CCA235F0-56D7-43CE-9912-4F2EA95E9321}"/>
              </a:ext>
            </a:extLst>
          </p:cNvPr>
          <p:cNvGrpSpPr>
            <a:grpSpLocks noChangeAspect="1"/>
          </p:cNvGrpSpPr>
          <p:nvPr/>
        </p:nvGrpSpPr>
        <p:grpSpPr>
          <a:xfrm>
            <a:off x="3856075" y="1970222"/>
            <a:ext cx="215452" cy="197711"/>
            <a:chOff x="6883093" y="4009408"/>
            <a:chExt cx="411480" cy="411480"/>
          </a:xfrm>
        </p:grpSpPr>
        <p:sp>
          <p:nvSpPr>
            <p:cNvPr id="59" name="Oval 39">
              <a:extLst>
                <a:ext uri="{FF2B5EF4-FFF2-40B4-BE49-F238E27FC236}">
                  <a16:creationId xmlns:a16="http://schemas.microsoft.com/office/drawing/2014/main" id="{A15D3C41-39D8-44B9-BE1E-424334E96FBC}"/>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60" name="Group 59">
              <a:extLst>
                <a:ext uri="{FF2B5EF4-FFF2-40B4-BE49-F238E27FC236}">
                  <a16:creationId xmlns:a16="http://schemas.microsoft.com/office/drawing/2014/main" id="{5AE1914E-7350-460B-ADA5-D09196FC7C1A}"/>
                </a:ext>
              </a:extLst>
            </p:cNvPr>
            <p:cNvGrpSpPr/>
            <p:nvPr/>
          </p:nvGrpSpPr>
          <p:grpSpPr>
            <a:xfrm>
              <a:off x="6974764" y="4120386"/>
              <a:ext cx="223070" cy="202036"/>
              <a:chOff x="7707288" y="985839"/>
              <a:chExt cx="269912" cy="244473"/>
            </a:xfrm>
          </p:grpSpPr>
          <p:sp>
            <p:nvSpPr>
              <p:cNvPr id="61" name="Freeform 192">
                <a:extLst>
                  <a:ext uri="{FF2B5EF4-FFF2-40B4-BE49-F238E27FC236}">
                    <a16:creationId xmlns:a16="http://schemas.microsoft.com/office/drawing/2014/main" id="{0910273A-688A-472B-B64E-ABD174074B43}"/>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62" name="Freeform 208">
                <a:extLst>
                  <a:ext uri="{FF2B5EF4-FFF2-40B4-BE49-F238E27FC236}">
                    <a16:creationId xmlns:a16="http://schemas.microsoft.com/office/drawing/2014/main" id="{1195F4C5-76C8-4C97-A29A-B9D0B64FC0C4}"/>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63" name="Freeform 213">
                <a:extLst>
                  <a:ext uri="{FF2B5EF4-FFF2-40B4-BE49-F238E27FC236}">
                    <a16:creationId xmlns:a16="http://schemas.microsoft.com/office/drawing/2014/main" id="{F77C07D0-6921-4F08-BB22-3BB1846223B2}"/>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64" name="Freeform 214">
                <a:extLst>
                  <a:ext uri="{FF2B5EF4-FFF2-40B4-BE49-F238E27FC236}">
                    <a16:creationId xmlns:a16="http://schemas.microsoft.com/office/drawing/2014/main" id="{1B18E131-29EC-4E4D-AEC8-3CB2E7DD19C8}"/>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67" name="Freeform 215">
                <a:extLst>
                  <a:ext uri="{FF2B5EF4-FFF2-40B4-BE49-F238E27FC236}">
                    <a16:creationId xmlns:a16="http://schemas.microsoft.com/office/drawing/2014/main" id="{D03090DA-CA6D-495A-ABC9-49CE7A84F3FB}"/>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cxnSp>
        <p:nvCxnSpPr>
          <p:cNvPr id="72" name="Straight Connector 71">
            <a:extLst>
              <a:ext uri="{FF2B5EF4-FFF2-40B4-BE49-F238E27FC236}">
                <a16:creationId xmlns:a16="http://schemas.microsoft.com/office/drawing/2014/main" id="{0D5642A0-A16F-405C-9693-9F277CE1E46B}"/>
              </a:ext>
            </a:extLst>
          </p:cNvPr>
          <p:cNvCxnSpPr>
            <a:cxnSpLocks/>
          </p:cNvCxnSpPr>
          <p:nvPr/>
        </p:nvCxnSpPr>
        <p:spPr>
          <a:xfrm>
            <a:off x="4183343" y="2335100"/>
            <a:ext cx="1511096"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FDFD9400-2D33-4B03-BB4C-B28DF4E775D0}"/>
              </a:ext>
            </a:extLst>
          </p:cNvPr>
          <p:cNvGrpSpPr>
            <a:grpSpLocks noChangeAspect="1"/>
          </p:cNvGrpSpPr>
          <p:nvPr/>
        </p:nvGrpSpPr>
        <p:grpSpPr>
          <a:xfrm>
            <a:off x="5103892" y="2228404"/>
            <a:ext cx="215452" cy="197711"/>
            <a:chOff x="6883093" y="4009408"/>
            <a:chExt cx="411480" cy="411480"/>
          </a:xfrm>
        </p:grpSpPr>
        <p:sp>
          <p:nvSpPr>
            <p:cNvPr id="75" name="Oval 39">
              <a:extLst>
                <a:ext uri="{FF2B5EF4-FFF2-40B4-BE49-F238E27FC236}">
                  <a16:creationId xmlns:a16="http://schemas.microsoft.com/office/drawing/2014/main" id="{BE306B52-09EE-4A78-AD90-4C74AD2A056C}"/>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76" name="Group 75">
              <a:extLst>
                <a:ext uri="{FF2B5EF4-FFF2-40B4-BE49-F238E27FC236}">
                  <a16:creationId xmlns:a16="http://schemas.microsoft.com/office/drawing/2014/main" id="{FEE15F66-A033-46C3-B00B-302DAC056D79}"/>
                </a:ext>
              </a:extLst>
            </p:cNvPr>
            <p:cNvGrpSpPr/>
            <p:nvPr/>
          </p:nvGrpSpPr>
          <p:grpSpPr>
            <a:xfrm>
              <a:off x="6974764" y="4120386"/>
              <a:ext cx="223070" cy="202036"/>
              <a:chOff x="7707288" y="985839"/>
              <a:chExt cx="269912" cy="244473"/>
            </a:xfrm>
          </p:grpSpPr>
          <p:sp>
            <p:nvSpPr>
              <p:cNvPr id="77" name="Freeform 192">
                <a:extLst>
                  <a:ext uri="{FF2B5EF4-FFF2-40B4-BE49-F238E27FC236}">
                    <a16:creationId xmlns:a16="http://schemas.microsoft.com/office/drawing/2014/main" id="{2CDEC6A8-12A6-4836-A40B-88854CC64623}"/>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79" name="Freeform 208">
                <a:extLst>
                  <a:ext uri="{FF2B5EF4-FFF2-40B4-BE49-F238E27FC236}">
                    <a16:creationId xmlns:a16="http://schemas.microsoft.com/office/drawing/2014/main" id="{DC3C5FAD-F555-4E16-97B4-A590DDE95200}"/>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0" name="Freeform 213">
                <a:extLst>
                  <a:ext uri="{FF2B5EF4-FFF2-40B4-BE49-F238E27FC236}">
                    <a16:creationId xmlns:a16="http://schemas.microsoft.com/office/drawing/2014/main" id="{1104B414-49A3-44FE-90FD-541997DB13FA}"/>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2" name="Freeform 214">
                <a:extLst>
                  <a:ext uri="{FF2B5EF4-FFF2-40B4-BE49-F238E27FC236}">
                    <a16:creationId xmlns:a16="http://schemas.microsoft.com/office/drawing/2014/main" id="{028E49F4-0656-47F3-B22A-2119285AA438}"/>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3" name="Freeform 215">
                <a:extLst>
                  <a:ext uri="{FF2B5EF4-FFF2-40B4-BE49-F238E27FC236}">
                    <a16:creationId xmlns:a16="http://schemas.microsoft.com/office/drawing/2014/main" id="{9CE07328-4C4A-4278-8E68-B856B03763AC}"/>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grpSp>
        <p:nvGrpSpPr>
          <p:cNvPr id="84" name="Group 83">
            <a:extLst>
              <a:ext uri="{FF2B5EF4-FFF2-40B4-BE49-F238E27FC236}">
                <a16:creationId xmlns:a16="http://schemas.microsoft.com/office/drawing/2014/main" id="{A8D4A09E-EF38-4667-96B2-DE705901A786}"/>
              </a:ext>
            </a:extLst>
          </p:cNvPr>
          <p:cNvGrpSpPr>
            <a:grpSpLocks noChangeAspect="1"/>
          </p:cNvGrpSpPr>
          <p:nvPr/>
        </p:nvGrpSpPr>
        <p:grpSpPr>
          <a:xfrm>
            <a:off x="4571510" y="2228404"/>
            <a:ext cx="215452" cy="197711"/>
            <a:chOff x="6883093" y="4009408"/>
            <a:chExt cx="411480" cy="411480"/>
          </a:xfrm>
        </p:grpSpPr>
        <p:sp>
          <p:nvSpPr>
            <p:cNvPr id="85" name="Oval 39">
              <a:extLst>
                <a:ext uri="{FF2B5EF4-FFF2-40B4-BE49-F238E27FC236}">
                  <a16:creationId xmlns:a16="http://schemas.microsoft.com/office/drawing/2014/main" id="{E98D387C-1F79-45E5-ADE3-0F67BDBC6C32}"/>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88" name="Group 87">
              <a:extLst>
                <a:ext uri="{FF2B5EF4-FFF2-40B4-BE49-F238E27FC236}">
                  <a16:creationId xmlns:a16="http://schemas.microsoft.com/office/drawing/2014/main" id="{0D99CC0D-F5B8-4408-BB55-D51CA93DFE85}"/>
                </a:ext>
              </a:extLst>
            </p:cNvPr>
            <p:cNvGrpSpPr/>
            <p:nvPr/>
          </p:nvGrpSpPr>
          <p:grpSpPr>
            <a:xfrm>
              <a:off x="6974764" y="4120386"/>
              <a:ext cx="223070" cy="202036"/>
              <a:chOff x="7707288" y="985839"/>
              <a:chExt cx="269912" cy="244473"/>
            </a:xfrm>
          </p:grpSpPr>
          <p:sp>
            <p:nvSpPr>
              <p:cNvPr id="89" name="Freeform 192">
                <a:extLst>
                  <a:ext uri="{FF2B5EF4-FFF2-40B4-BE49-F238E27FC236}">
                    <a16:creationId xmlns:a16="http://schemas.microsoft.com/office/drawing/2014/main" id="{29381BA7-CF9F-42D8-9FB8-A46CB1EA7F95}"/>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2" name="Freeform 208">
                <a:extLst>
                  <a:ext uri="{FF2B5EF4-FFF2-40B4-BE49-F238E27FC236}">
                    <a16:creationId xmlns:a16="http://schemas.microsoft.com/office/drawing/2014/main" id="{7EDF4AA3-88C1-4345-A9E7-3BFA6E9B938D}"/>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3" name="Freeform 213">
                <a:extLst>
                  <a:ext uri="{FF2B5EF4-FFF2-40B4-BE49-F238E27FC236}">
                    <a16:creationId xmlns:a16="http://schemas.microsoft.com/office/drawing/2014/main" id="{4BA04B54-9C50-4F68-8301-452F477A49F6}"/>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4" name="Freeform 214">
                <a:extLst>
                  <a:ext uri="{FF2B5EF4-FFF2-40B4-BE49-F238E27FC236}">
                    <a16:creationId xmlns:a16="http://schemas.microsoft.com/office/drawing/2014/main" id="{E7611263-FF6E-4AC2-BF97-E2DE1124C36E}"/>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5" name="Freeform 215">
                <a:extLst>
                  <a:ext uri="{FF2B5EF4-FFF2-40B4-BE49-F238E27FC236}">
                    <a16:creationId xmlns:a16="http://schemas.microsoft.com/office/drawing/2014/main" id="{C13332AC-5524-433E-9AF0-43586E43DCB1}"/>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spTree>
    <p:extLst>
      <p:ext uri="{BB962C8B-B14F-4D97-AF65-F5344CB8AC3E}">
        <p14:creationId xmlns:p14="http://schemas.microsoft.com/office/powerpoint/2010/main" val="7573248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A19B7FC1-A5AD-458B-BD17-F958BF0C2A6F}"/>
              </a:ext>
            </a:extLst>
          </p:cNvPr>
          <p:cNvGraphicFramePr>
            <a:graphicFrameLocks noGrp="1"/>
          </p:cNvGraphicFramePr>
          <p:nvPr>
            <p:extLst>
              <p:ext uri="{D42A27DB-BD31-4B8C-83A1-F6EECF244321}">
                <p14:modId xmlns:p14="http://schemas.microsoft.com/office/powerpoint/2010/main" val="2650892482"/>
              </p:ext>
            </p:extLst>
          </p:nvPr>
        </p:nvGraphicFramePr>
        <p:xfrm>
          <a:off x="286327" y="563419"/>
          <a:ext cx="11473506" cy="3970020"/>
        </p:xfrm>
        <a:graphic>
          <a:graphicData uri="http://schemas.openxmlformats.org/drawingml/2006/table">
            <a:tbl>
              <a:tblPr firstRow="1" bandRow="1">
                <a:tableStyleId>{5C22544A-7EE6-4342-B048-85BDC9FD1C3A}</a:tableStyleId>
              </a:tblPr>
              <a:tblGrid>
                <a:gridCol w="1912251">
                  <a:extLst>
                    <a:ext uri="{9D8B030D-6E8A-4147-A177-3AD203B41FA5}">
                      <a16:colId xmlns:a16="http://schemas.microsoft.com/office/drawing/2014/main" val="2836749742"/>
                    </a:ext>
                  </a:extLst>
                </a:gridCol>
                <a:gridCol w="1912251">
                  <a:extLst>
                    <a:ext uri="{9D8B030D-6E8A-4147-A177-3AD203B41FA5}">
                      <a16:colId xmlns:a16="http://schemas.microsoft.com/office/drawing/2014/main" val="2027741553"/>
                    </a:ext>
                  </a:extLst>
                </a:gridCol>
                <a:gridCol w="1912251">
                  <a:extLst>
                    <a:ext uri="{9D8B030D-6E8A-4147-A177-3AD203B41FA5}">
                      <a16:colId xmlns:a16="http://schemas.microsoft.com/office/drawing/2014/main" val="3128840304"/>
                    </a:ext>
                  </a:extLst>
                </a:gridCol>
                <a:gridCol w="1912251">
                  <a:extLst>
                    <a:ext uri="{9D8B030D-6E8A-4147-A177-3AD203B41FA5}">
                      <a16:colId xmlns:a16="http://schemas.microsoft.com/office/drawing/2014/main" val="4057921746"/>
                    </a:ext>
                  </a:extLst>
                </a:gridCol>
                <a:gridCol w="1912251">
                  <a:extLst>
                    <a:ext uri="{9D8B030D-6E8A-4147-A177-3AD203B41FA5}">
                      <a16:colId xmlns:a16="http://schemas.microsoft.com/office/drawing/2014/main" val="4039690621"/>
                    </a:ext>
                  </a:extLst>
                </a:gridCol>
                <a:gridCol w="1912251">
                  <a:extLst>
                    <a:ext uri="{9D8B030D-6E8A-4147-A177-3AD203B41FA5}">
                      <a16:colId xmlns:a16="http://schemas.microsoft.com/office/drawing/2014/main" val="3642394042"/>
                    </a:ext>
                  </a:extLst>
                </a:gridCol>
              </a:tblGrid>
              <a:tr h="0">
                <a:tc>
                  <a:txBody>
                    <a:bodyPr/>
                    <a:lstStyle/>
                    <a:p>
                      <a:r>
                        <a:rPr lang="en-US" sz="1100"/>
                        <a:t>Phase</a:t>
                      </a:r>
                    </a:p>
                  </a:txBody>
                  <a:tcPr/>
                </a:tc>
                <a:tc>
                  <a:txBody>
                    <a:bodyPr/>
                    <a:lstStyle/>
                    <a:p>
                      <a:r>
                        <a:rPr lang="en-US" sz="1100"/>
                        <a:t>Activities </a:t>
                      </a:r>
                    </a:p>
                  </a:txBody>
                  <a:tcPr/>
                </a:tc>
                <a:tc>
                  <a:txBody>
                    <a:bodyPr/>
                    <a:lstStyle/>
                    <a:p>
                      <a:r>
                        <a:rPr lang="en-US" sz="1100"/>
                        <a:t>Owner</a:t>
                      </a:r>
                    </a:p>
                  </a:txBody>
                  <a:tcPr/>
                </a:tc>
                <a:tc>
                  <a:txBody>
                    <a:bodyPr/>
                    <a:lstStyle/>
                    <a:p>
                      <a:r>
                        <a:rPr lang="en-US" sz="1100"/>
                        <a:t>Start </a:t>
                      </a:r>
                    </a:p>
                  </a:txBody>
                  <a:tcPr/>
                </a:tc>
                <a:tc>
                  <a:txBody>
                    <a:bodyPr/>
                    <a:lstStyle/>
                    <a:p>
                      <a:r>
                        <a:rPr lang="en-US" sz="1100"/>
                        <a:t>End</a:t>
                      </a:r>
                    </a:p>
                  </a:txBody>
                  <a:tcPr/>
                </a:tc>
                <a:tc>
                  <a:txBody>
                    <a:bodyPr/>
                    <a:lstStyle/>
                    <a:p>
                      <a:r>
                        <a:rPr lang="en-US" sz="1100"/>
                        <a:t>Expected outcome/deliverables</a:t>
                      </a:r>
                    </a:p>
                  </a:txBody>
                  <a:tcPr/>
                </a:tc>
                <a:extLst>
                  <a:ext uri="{0D108BD9-81ED-4DB2-BD59-A6C34878D82A}">
                    <a16:rowId xmlns:a16="http://schemas.microsoft.com/office/drawing/2014/main" val="1764356976"/>
                  </a:ext>
                </a:extLst>
              </a:tr>
              <a:tr h="0">
                <a:tc>
                  <a:txBody>
                    <a:bodyPr/>
                    <a:lstStyle/>
                    <a:p>
                      <a:r>
                        <a:rPr lang="en-US" sz="1100"/>
                        <a:t>Discover</a:t>
                      </a:r>
                    </a:p>
                  </a:txBody>
                  <a:tcPr/>
                </a:tc>
                <a:tc>
                  <a:txBody>
                    <a:bodyPr/>
                    <a:lstStyle/>
                    <a:p>
                      <a:pPr marL="0" indent="0">
                        <a:spcAft>
                          <a:spcPts val="600"/>
                        </a:spcAft>
                        <a:buFont typeface="Arial" panose="020B0604020202020204" pitchFamily="34" charset="0"/>
                        <a:buNone/>
                        <a:defRPr/>
                      </a:pPr>
                      <a:r>
                        <a:rPr lang="en-US" sz="1050" b="0" i="0" kern="1200">
                          <a:solidFill>
                            <a:schemeClr val="dk1"/>
                          </a:solidFill>
                          <a:effectLst/>
                          <a:latin typeface="+mn-lt"/>
                          <a:ea typeface="+mn-ea"/>
                          <a:cs typeface="+mn-cs"/>
                        </a:rPr>
                        <a:t>Collaborate with stakeholders to understand their requirements and ensure they are included in the scope of work</a:t>
                      </a:r>
                      <a:endParaRPr kumimoji="0" lang="en-US" sz="700" b="0" i="0" u="none" strike="noStrike" kern="0" cap="none" spc="0" normalizeH="0" baseline="0" noProof="0">
                        <a:ln>
                          <a:noFill/>
                        </a:ln>
                        <a:solidFill>
                          <a:srgbClr val="000000"/>
                        </a:solidFill>
                        <a:effectLst/>
                        <a:uLnTx/>
                        <a:uFillTx/>
                        <a:latin typeface="Open Sans"/>
                        <a:ea typeface="+mn-ea"/>
                        <a:cs typeface="+mn-cs"/>
                      </a:endParaRPr>
                    </a:p>
                  </a:txBody>
                  <a:tcPr/>
                </a:tc>
                <a:tc>
                  <a:txBody>
                    <a:bodyPr/>
                    <a:lstStyle/>
                    <a:p>
                      <a:r>
                        <a:rPr lang="en-US" sz="1100"/>
                        <a:t>Functional Lead</a:t>
                      </a:r>
                    </a:p>
                  </a:txBody>
                  <a:tcPr/>
                </a:tc>
                <a:tc>
                  <a:txBody>
                    <a:bodyPr/>
                    <a:lstStyle/>
                    <a:p>
                      <a:endParaRPr lang="en-US" sz="1100"/>
                    </a:p>
                  </a:txBody>
                  <a:tcPr/>
                </a:tc>
                <a:tc>
                  <a:txBody>
                    <a:bodyPr/>
                    <a:lstStyle/>
                    <a:p>
                      <a:endParaRPr lang="en-US" sz="1100"/>
                    </a:p>
                  </a:txBody>
                  <a:tcPr/>
                </a:tc>
                <a:tc>
                  <a:txBody>
                    <a:bodyPr/>
                    <a:lstStyle/>
                    <a:p>
                      <a:r>
                        <a:rPr lang="en-US" sz="1050" b="0" i="0" kern="1200">
                          <a:solidFill>
                            <a:schemeClr val="dk1"/>
                          </a:solidFill>
                          <a:effectLst/>
                          <a:latin typeface="+mn-lt"/>
                          <a:ea typeface="+mn-ea"/>
                          <a:cs typeface="+mn-cs"/>
                        </a:rPr>
                        <a:t>A well-defined scope document that clearly outlines the goals, objectives, deliverables, and timelines for the project.</a:t>
                      </a:r>
                    </a:p>
                  </a:txBody>
                  <a:tcPr/>
                </a:tc>
                <a:extLst>
                  <a:ext uri="{0D108BD9-81ED-4DB2-BD59-A6C34878D82A}">
                    <a16:rowId xmlns:a16="http://schemas.microsoft.com/office/drawing/2014/main" val="3030336129"/>
                  </a:ext>
                </a:extLst>
              </a:tr>
              <a:tr h="0">
                <a:tc>
                  <a:txBody>
                    <a:bodyPr/>
                    <a:lstStyle/>
                    <a:p>
                      <a:endParaRPr lang="en-US" sz="1100"/>
                    </a:p>
                  </a:txBody>
                  <a:tcPr/>
                </a:tc>
                <a:tc>
                  <a:txBody>
                    <a:bodyPr/>
                    <a:lstStyle/>
                    <a:p>
                      <a:r>
                        <a:rPr lang="en-US" sz="1050" b="0" i="0" kern="1200">
                          <a:solidFill>
                            <a:schemeClr val="dk1"/>
                          </a:solidFill>
                          <a:effectLst/>
                          <a:latin typeface="+mn-lt"/>
                          <a:ea typeface="+mn-ea"/>
                          <a:cs typeface="+mn-cs"/>
                        </a:rPr>
                        <a:t>Ensure the scope is clearly defined and aligned with business goals.</a:t>
                      </a:r>
                      <a:endParaRPr lang="en-US" sz="1100"/>
                    </a:p>
                  </a:txBody>
                  <a:tcPr/>
                </a:tc>
                <a:tc>
                  <a:txBody>
                    <a:bodyPr/>
                    <a:lstStyle/>
                    <a:p>
                      <a:r>
                        <a:rPr lang="en-US" sz="1100"/>
                        <a:t>Functional Lead</a:t>
                      </a:r>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187872957"/>
                  </a:ext>
                </a:extLst>
              </a:tr>
              <a:tr h="0">
                <a:tc>
                  <a:txBody>
                    <a:bodyPr/>
                    <a:lstStyle/>
                    <a:p>
                      <a:endParaRPr lang="en-US" sz="1100"/>
                    </a:p>
                  </a:txBody>
                  <a:tcPr/>
                </a:tc>
                <a:tc>
                  <a:txBody>
                    <a:bodyPr/>
                    <a:lstStyle/>
                    <a:p>
                      <a:r>
                        <a:rPr lang="en-US" sz="1050" b="0" i="0" kern="1200">
                          <a:solidFill>
                            <a:schemeClr val="dk1"/>
                          </a:solidFill>
                          <a:effectLst/>
                          <a:latin typeface="+mn-lt"/>
                          <a:ea typeface="+mn-ea"/>
                          <a:cs typeface="+mn-cs"/>
                        </a:rPr>
                        <a:t>Review the scope document to ensure that it is technically feasible and achievable.</a:t>
                      </a:r>
                      <a:endParaRPr lang="en-US" sz="1100"/>
                    </a:p>
                  </a:txBody>
                  <a:tcPr/>
                </a:tc>
                <a:tc>
                  <a:txBody>
                    <a:bodyPr/>
                    <a:lstStyle/>
                    <a:p>
                      <a:r>
                        <a:rPr lang="en-US" sz="1100"/>
                        <a:t>Technical Lead</a:t>
                      </a:r>
                    </a:p>
                  </a:txBody>
                  <a:tcPr/>
                </a:tc>
                <a:tc>
                  <a:txBody>
                    <a:bodyPr/>
                    <a:lstStyle/>
                    <a:p>
                      <a:endParaRPr lang="en-US" sz="1100"/>
                    </a:p>
                  </a:txBody>
                  <a:tcPr/>
                </a:tc>
                <a:tc>
                  <a:txBody>
                    <a:bodyPr/>
                    <a:lstStyle/>
                    <a:p>
                      <a:endParaRPr lang="en-US" sz="1100"/>
                    </a:p>
                  </a:txBody>
                  <a:tcPr/>
                </a:tc>
                <a:tc>
                  <a:txBody>
                    <a:bodyPr/>
                    <a:lstStyle/>
                    <a:p>
                      <a:pPr marL="171450" indent="-171450">
                        <a:buFont typeface="Arial" panose="020B0604020202020204" pitchFamily="34" charset="0"/>
                        <a:buChar char="•"/>
                      </a:pPr>
                      <a:endParaRPr lang="en-US" sz="1100"/>
                    </a:p>
                  </a:txBody>
                  <a:tcPr/>
                </a:tc>
                <a:extLst>
                  <a:ext uri="{0D108BD9-81ED-4DB2-BD59-A6C34878D82A}">
                    <a16:rowId xmlns:a16="http://schemas.microsoft.com/office/drawing/2014/main" val="192904392"/>
                  </a:ext>
                </a:extLst>
              </a:tr>
              <a:tr h="0">
                <a:tc>
                  <a:txBody>
                    <a:bodyPr/>
                    <a:lstStyle/>
                    <a:p>
                      <a:endParaRPr lang="en-US" sz="1100"/>
                    </a:p>
                  </a:txBody>
                  <a:tcPr/>
                </a:tc>
                <a:tc>
                  <a:txBody>
                    <a:bodyPr/>
                    <a:lstStyle/>
                    <a:p>
                      <a:r>
                        <a:rPr lang="en-US" sz="1050" b="0" i="0" kern="1200">
                          <a:solidFill>
                            <a:schemeClr val="dk1"/>
                          </a:solidFill>
                          <a:effectLst/>
                          <a:latin typeface="+mn-lt"/>
                          <a:ea typeface="+mn-ea"/>
                          <a:cs typeface="+mn-cs"/>
                        </a:rPr>
                        <a:t>Collaborate with the functional lead to identify potential technical risks and provide input on solutions.</a:t>
                      </a:r>
                    </a:p>
                  </a:txBody>
                  <a:tcPr/>
                </a:tc>
                <a:tc>
                  <a:txBody>
                    <a:bodyPr/>
                    <a:lstStyle/>
                    <a:p>
                      <a:r>
                        <a:rPr lang="en-US" sz="1100"/>
                        <a:t>Technical Lead</a:t>
                      </a:r>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2415364628"/>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676785884"/>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197221515"/>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3943442717"/>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9875520" cy="914400"/>
          </a:xfrm>
        </p:spPr>
        <p:txBody>
          <a:bodyPr>
            <a:normAutofit/>
          </a:bodyPr>
          <a:lstStyle/>
          <a:p>
            <a:pPr>
              <a:spcBef>
                <a:spcPts val="0"/>
              </a:spcBef>
            </a:pPr>
            <a:r>
              <a:rPr lang="en-US" sz="3200"/>
              <a:t>4 Weeks schedule/activities</a:t>
            </a:r>
          </a:p>
        </p:txBody>
      </p:sp>
    </p:spTree>
    <p:extLst>
      <p:ext uri="{BB962C8B-B14F-4D97-AF65-F5344CB8AC3E}">
        <p14:creationId xmlns:p14="http://schemas.microsoft.com/office/powerpoint/2010/main" val="41848750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A19B7FC1-A5AD-458B-BD17-F958BF0C2A6F}"/>
              </a:ext>
            </a:extLst>
          </p:cNvPr>
          <p:cNvGraphicFramePr>
            <a:graphicFrameLocks noGrp="1"/>
          </p:cNvGraphicFramePr>
          <p:nvPr>
            <p:extLst>
              <p:ext uri="{D42A27DB-BD31-4B8C-83A1-F6EECF244321}">
                <p14:modId xmlns:p14="http://schemas.microsoft.com/office/powerpoint/2010/main" val="3626396013"/>
              </p:ext>
            </p:extLst>
          </p:nvPr>
        </p:nvGraphicFramePr>
        <p:xfrm>
          <a:off x="286327" y="563419"/>
          <a:ext cx="11473506" cy="7437120"/>
        </p:xfrm>
        <a:graphic>
          <a:graphicData uri="http://schemas.openxmlformats.org/drawingml/2006/table">
            <a:tbl>
              <a:tblPr firstRow="1" bandRow="1">
                <a:tableStyleId>{5C22544A-7EE6-4342-B048-85BDC9FD1C3A}</a:tableStyleId>
              </a:tblPr>
              <a:tblGrid>
                <a:gridCol w="1912251">
                  <a:extLst>
                    <a:ext uri="{9D8B030D-6E8A-4147-A177-3AD203B41FA5}">
                      <a16:colId xmlns:a16="http://schemas.microsoft.com/office/drawing/2014/main" val="2836749742"/>
                    </a:ext>
                  </a:extLst>
                </a:gridCol>
                <a:gridCol w="1912251">
                  <a:extLst>
                    <a:ext uri="{9D8B030D-6E8A-4147-A177-3AD203B41FA5}">
                      <a16:colId xmlns:a16="http://schemas.microsoft.com/office/drawing/2014/main" val="2027741553"/>
                    </a:ext>
                  </a:extLst>
                </a:gridCol>
                <a:gridCol w="1912251">
                  <a:extLst>
                    <a:ext uri="{9D8B030D-6E8A-4147-A177-3AD203B41FA5}">
                      <a16:colId xmlns:a16="http://schemas.microsoft.com/office/drawing/2014/main" val="3128840304"/>
                    </a:ext>
                  </a:extLst>
                </a:gridCol>
                <a:gridCol w="1912251">
                  <a:extLst>
                    <a:ext uri="{9D8B030D-6E8A-4147-A177-3AD203B41FA5}">
                      <a16:colId xmlns:a16="http://schemas.microsoft.com/office/drawing/2014/main" val="4057921746"/>
                    </a:ext>
                  </a:extLst>
                </a:gridCol>
                <a:gridCol w="1912251">
                  <a:extLst>
                    <a:ext uri="{9D8B030D-6E8A-4147-A177-3AD203B41FA5}">
                      <a16:colId xmlns:a16="http://schemas.microsoft.com/office/drawing/2014/main" val="4039690621"/>
                    </a:ext>
                  </a:extLst>
                </a:gridCol>
                <a:gridCol w="1912251">
                  <a:extLst>
                    <a:ext uri="{9D8B030D-6E8A-4147-A177-3AD203B41FA5}">
                      <a16:colId xmlns:a16="http://schemas.microsoft.com/office/drawing/2014/main" val="3642394042"/>
                    </a:ext>
                  </a:extLst>
                </a:gridCol>
              </a:tblGrid>
              <a:tr h="0">
                <a:tc>
                  <a:txBody>
                    <a:bodyPr/>
                    <a:lstStyle/>
                    <a:p>
                      <a:r>
                        <a:rPr lang="en-US" sz="1100"/>
                        <a:t>Phase</a:t>
                      </a:r>
                    </a:p>
                  </a:txBody>
                  <a:tcPr/>
                </a:tc>
                <a:tc>
                  <a:txBody>
                    <a:bodyPr/>
                    <a:lstStyle/>
                    <a:p>
                      <a:r>
                        <a:rPr lang="en-US" sz="1100"/>
                        <a:t>Activities </a:t>
                      </a:r>
                    </a:p>
                  </a:txBody>
                  <a:tcPr/>
                </a:tc>
                <a:tc>
                  <a:txBody>
                    <a:bodyPr/>
                    <a:lstStyle/>
                    <a:p>
                      <a:r>
                        <a:rPr lang="en-US" sz="1100"/>
                        <a:t>Owner</a:t>
                      </a:r>
                    </a:p>
                  </a:txBody>
                  <a:tcPr/>
                </a:tc>
                <a:tc>
                  <a:txBody>
                    <a:bodyPr/>
                    <a:lstStyle/>
                    <a:p>
                      <a:r>
                        <a:rPr lang="en-US" sz="1100"/>
                        <a:t>Start </a:t>
                      </a:r>
                    </a:p>
                  </a:txBody>
                  <a:tcPr/>
                </a:tc>
                <a:tc>
                  <a:txBody>
                    <a:bodyPr/>
                    <a:lstStyle/>
                    <a:p>
                      <a:r>
                        <a:rPr lang="en-US" sz="1100"/>
                        <a:t>End</a:t>
                      </a:r>
                    </a:p>
                  </a:txBody>
                  <a:tcPr/>
                </a:tc>
                <a:tc>
                  <a:txBody>
                    <a:bodyPr/>
                    <a:lstStyle/>
                    <a:p>
                      <a:r>
                        <a:rPr lang="en-US" sz="1100"/>
                        <a:t>Expected outcome/deliverables</a:t>
                      </a:r>
                    </a:p>
                  </a:txBody>
                  <a:tcPr/>
                </a:tc>
                <a:extLst>
                  <a:ext uri="{0D108BD9-81ED-4DB2-BD59-A6C34878D82A}">
                    <a16:rowId xmlns:a16="http://schemas.microsoft.com/office/drawing/2014/main" val="1764356976"/>
                  </a:ext>
                </a:extLst>
              </a:tr>
              <a:tr h="0">
                <a:tc>
                  <a:txBody>
                    <a:bodyPr/>
                    <a:lstStyle/>
                    <a:p>
                      <a:r>
                        <a:rPr lang="en-US" sz="1100"/>
                        <a:t>Discover</a:t>
                      </a:r>
                    </a:p>
                  </a:txBody>
                  <a:tcPr/>
                </a:tc>
                <a:tc>
                  <a:txBody>
                    <a:bodyPr/>
                    <a:lstStyle/>
                    <a:p>
                      <a:r>
                        <a:rPr lang="en-US" sz="1100"/>
                        <a:t>Finalize the Intergation Touch Points between Oracle and Legacy Applications</a:t>
                      </a:r>
                    </a:p>
                  </a:txBody>
                  <a:tcPr/>
                </a:tc>
                <a:tc>
                  <a:txBody>
                    <a:bodyPr/>
                    <a:lstStyle/>
                    <a:p>
                      <a:r>
                        <a:rPr lang="en-US" sz="1100"/>
                        <a:t>QA Lead (TBD)</a:t>
                      </a:r>
                    </a:p>
                  </a:txBody>
                  <a:tcPr/>
                </a:tc>
                <a:tc>
                  <a:txBody>
                    <a:bodyPr/>
                    <a:lstStyle/>
                    <a:p>
                      <a:endParaRPr lang="en-US" sz="1100"/>
                    </a:p>
                  </a:txBody>
                  <a:tcPr/>
                </a:tc>
                <a:tc>
                  <a:txBody>
                    <a:bodyPr/>
                    <a:lstStyle/>
                    <a:p>
                      <a:endParaRPr lang="en-US" sz="1100"/>
                    </a:p>
                  </a:txBody>
                  <a:tcPr/>
                </a:tc>
                <a:tc>
                  <a:txBody>
                    <a:bodyPr/>
                    <a:lstStyle/>
                    <a:p>
                      <a:r>
                        <a:rPr lang="en-US" sz="1100"/>
                        <a:t>Testing strategy document outlining the approach, scope, risks, timelines, and tools.</a:t>
                      </a:r>
                    </a:p>
                  </a:txBody>
                  <a:tcPr/>
                </a:tc>
                <a:extLst>
                  <a:ext uri="{0D108BD9-81ED-4DB2-BD59-A6C34878D82A}">
                    <a16:rowId xmlns:a16="http://schemas.microsoft.com/office/drawing/2014/main" val="3030336129"/>
                  </a:ext>
                </a:extLst>
              </a:tr>
              <a:tr h="0">
                <a:tc>
                  <a:txBody>
                    <a:bodyPr/>
                    <a:lstStyle/>
                    <a:p>
                      <a:endParaRPr lang="en-US" sz="1100"/>
                    </a:p>
                  </a:txBody>
                  <a:tcPr/>
                </a:tc>
                <a:tc>
                  <a:txBody>
                    <a:bodyPr/>
                    <a:lstStyle/>
                    <a:p>
                      <a:r>
                        <a:rPr lang="en-US" sz="1100"/>
                        <a:t>Tools and Resources that will be used for testing and reporting</a:t>
                      </a:r>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r>
                        <a:rPr lang="en-US" sz="1100"/>
                        <a:t>Test plan document outlining the testing cycles, entry and exit criteria, and roles and responsibilities.</a:t>
                      </a:r>
                    </a:p>
                  </a:txBody>
                  <a:tcPr/>
                </a:tc>
                <a:extLst>
                  <a:ext uri="{0D108BD9-81ED-4DB2-BD59-A6C34878D82A}">
                    <a16:rowId xmlns:a16="http://schemas.microsoft.com/office/drawing/2014/main" val="187872957"/>
                  </a:ext>
                </a:extLst>
              </a:tr>
              <a:tr h="0">
                <a:tc>
                  <a:txBody>
                    <a:bodyPr/>
                    <a:lstStyle/>
                    <a:p>
                      <a:endParaRPr lang="en-US" sz="1100"/>
                    </a:p>
                  </a:txBody>
                  <a:tcPr/>
                </a:tc>
                <a:tc>
                  <a:txBody>
                    <a:bodyPr/>
                    <a:lstStyle/>
                    <a:p>
                      <a:r>
                        <a:rPr lang="en-US" sz="1100"/>
                        <a:t>Identify the test data and team to support with data points</a:t>
                      </a:r>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pPr marL="171450" indent="-171450">
                        <a:buFont typeface="Arial" panose="020B0604020202020204" pitchFamily="34" charset="0"/>
                        <a:buChar char="•"/>
                      </a:pPr>
                      <a:r>
                        <a:rPr lang="en-US" sz="1100"/>
                        <a:t>Test case documents outlining the scenarios, test steps, and expected results.</a:t>
                      </a:r>
                    </a:p>
                    <a:p>
                      <a:pPr marL="171450" indent="-171450">
                        <a:buFont typeface="Arial" panose="020B0604020202020204" pitchFamily="34" charset="0"/>
                        <a:buChar char="•"/>
                      </a:pPr>
                      <a:r>
                        <a:rPr lang="en-US" sz="1100"/>
                        <a:t>Test execution reports detailing the status of each test cycle, including the number of test cases executed, passed, and failed.</a:t>
                      </a:r>
                    </a:p>
                    <a:p>
                      <a:pPr marL="171450" indent="-171450">
                        <a:buFont typeface="Arial" panose="020B0604020202020204" pitchFamily="34" charset="0"/>
                        <a:buChar char="•"/>
                      </a:pPr>
                      <a:r>
                        <a:rPr lang="en-US" sz="1100"/>
                        <a:t>Defect reports detailing the defects identified during testing, including severity, priority, and status.</a:t>
                      </a:r>
                    </a:p>
                    <a:p>
                      <a:pPr marL="171450" indent="-171450">
                        <a:buFont typeface="Arial" panose="020B0604020202020204" pitchFamily="34" charset="0"/>
                        <a:buChar char="•"/>
                      </a:pPr>
                      <a:r>
                        <a:rPr lang="en-US" sz="1100"/>
                        <a:t>Analytical reports detailing the test execution, test coverage, and defect trends.</a:t>
                      </a:r>
                    </a:p>
                    <a:p>
                      <a:pPr marL="171450" indent="-171450">
                        <a:buFont typeface="Arial" panose="020B0604020202020204" pitchFamily="34" charset="0"/>
                        <a:buChar char="•"/>
                      </a:pPr>
                      <a:r>
                        <a:rPr lang="en-US" sz="1100"/>
                        <a:t>Daily QA dashboard providing a summary of the testing progress and status to stakeholders.</a:t>
                      </a:r>
                    </a:p>
                    <a:p>
                      <a:pPr marL="171450" indent="-171450">
                        <a:buFont typeface="Arial" panose="020B0604020202020204" pitchFamily="34" charset="0"/>
                        <a:buChar char="•"/>
                      </a:pPr>
                      <a:r>
                        <a:rPr lang="en-US" sz="1100"/>
                        <a:t>Communication plan outlining the stakeholders, channels, and frequency of communication for Testing</a:t>
                      </a:r>
                    </a:p>
                  </a:txBody>
                  <a:tcPr/>
                </a:tc>
                <a:extLst>
                  <a:ext uri="{0D108BD9-81ED-4DB2-BD59-A6C34878D82A}">
                    <a16:rowId xmlns:a16="http://schemas.microsoft.com/office/drawing/2014/main" val="192904392"/>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2415364628"/>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676785884"/>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197221515"/>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3943442717"/>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9875520" cy="914400"/>
          </a:xfrm>
        </p:spPr>
        <p:txBody>
          <a:bodyPr>
            <a:normAutofit/>
          </a:bodyPr>
          <a:lstStyle/>
          <a:p>
            <a:pPr>
              <a:spcBef>
                <a:spcPts val="0"/>
              </a:spcBef>
            </a:pPr>
            <a:r>
              <a:rPr lang="en-US" sz="3200"/>
              <a:t>4 Weeks schedule/activities</a:t>
            </a:r>
          </a:p>
        </p:txBody>
      </p:sp>
    </p:spTree>
    <p:extLst>
      <p:ext uri="{BB962C8B-B14F-4D97-AF65-F5344CB8AC3E}">
        <p14:creationId xmlns:p14="http://schemas.microsoft.com/office/powerpoint/2010/main" val="11738032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8">
            <a:extLst>
              <a:ext uri="{FF2B5EF4-FFF2-40B4-BE49-F238E27FC236}">
                <a16:creationId xmlns:a16="http://schemas.microsoft.com/office/drawing/2014/main" id="{42F1674A-2959-4D20-A400-B3002ECE89BD}"/>
              </a:ext>
            </a:extLst>
          </p:cNvPr>
          <p:cNvGraphicFramePr>
            <a:graphicFrameLocks/>
          </p:cNvGraphicFramePr>
          <p:nvPr/>
        </p:nvGraphicFramePr>
        <p:xfrm>
          <a:off x="1118159" y="1007800"/>
          <a:ext cx="10691219" cy="5307622"/>
        </p:xfrm>
        <a:graphic>
          <a:graphicData uri="http://schemas.openxmlformats.org/drawingml/2006/table">
            <a:tbl>
              <a:tblPr firstRow="1" bandRow="1">
                <a:tableStyleId>{5C22544A-7EE6-4342-B048-85BDC9FD1C3A}</a:tableStyleId>
              </a:tblPr>
              <a:tblGrid>
                <a:gridCol w="525816">
                  <a:extLst>
                    <a:ext uri="{9D8B030D-6E8A-4147-A177-3AD203B41FA5}">
                      <a16:colId xmlns:a16="http://schemas.microsoft.com/office/drawing/2014/main" val="1804304856"/>
                    </a:ext>
                  </a:extLst>
                </a:gridCol>
                <a:gridCol w="1745401">
                  <a:extLst>
                    <a:ext uri="{9D8B030D-6E8A-4147-A177-3AD203B41FA5}">
                      <a16:colId xmlns:a16="http://schemas.microsoft.com/office/drawing/2014/main" val="3487582892"/>
                    </a:ext>
                  </a:extLst>
                </a:gridCol>
                <a:gridCol w="3560064">
                  <a:extLst>
                    <a:ext uri="{9D8B030D-6E8A-4147-A177-3AD203B41FA5}">
                      <a16:colId xmlns:a16="http://schemas.microsoft.com/office/drawing/2014/main" val="4022828597"/>
                    </a:ext>
                  </a:extLst>
                </a:gridCol>
                <a:gridCol w="3400240">
                  <a:extLst>
                    <a:ext uri="{9D8B030D-6E8A-4147-A177-3AD203B41FA5}">
                      <a16:colId xmlns:a16="http://schemas.microsoft.com/office/drawing/2014/main" val="3430374848"/>
                    </a:ext>
                  </a:extLst>
                </a:gridCol>
                <a:gridCol w="1459698">
                  <a:extLst>
                    <a:ext uri="{9D8B030D-6E8A-4147-A177-3AD203B41FA5}">
                      <a16:colId xmlns:a16="http://schemas.microsoft.com/office/drawing/2014/main" val="3926366452"/>
                    </a:ext>
                  </a:extLst>
                </a:gridCol>
              </a:tblGrid>
              <a:tr h="126056">
                <a:tc>
                  <a:txBody>
                    <a:bodyPr/>
                    <a:lstStyle/>
                    <a:p>
                      <a:pPr algn="ctr"/>
                      <a:r>
                        <a:rPr lang="en-US" sz="1400" i="0"/>
                        <a:t>WK</a:t>
                      </a:r>
                    </a:p>
                  </a:txBody>
                  <a:tcPr anchor="ctr"/>
                </a:tc>
                <a:tc>
                  <a:txBody>
                    <a:bodyPr/>
                    <a:lstStyle/>
                    <a:p>
                      <a:pPr algn="ctr"/>
                      <a:r>
                        <a:rPr lang="en-US" sz="1400" i="0"/>
                        <a:t>Focus Area</a:t>
                      </a:r>
                    </a:p>
                  </a:txBody>
                  <a:tcPr anchor="ctr"/>
                </a:tc>
                <a:tc>
                  <a:txBody>
                    <a:bodyPr/>
                    <a:lstStyle/>
                    <a:p>
                      <a:pPr algn="ctr"/>
                      <a:r>
                        <a:rPr lang="en-US" sz="1400" i="0"/>
                        <a:t>Expected Outcomes</a:t>
                      </a:r>
                    </a:p>
                  </a:txBody>
                  <a:tcPr anchor="ctr"/>
                </a:tc>
                <a:tc>
                  <a:txBody>
                    <a:bodyPr/>
                    <a:lstStyle/>
                    <a:p>
                      <a:pPr algn="ctr"/>
                      <a:r>
                        <a:rPr lang="en-US" sz="1400" i="0"/>
                        <a:t>Attendees</a:t>
                      </a:r>
                    </a:p>
                  </a:txBody>
                  <a:tcPr anchor="ctr"/>
                </a:tc>
                <a:tc>
                  <a:txBody>
                    <a:bodyPr/>
                    <a:lstStyle/>
                    <a:p>
                      <a:pPr algn="ctr"/>
                      <a:r>
                        <a:rPr lang="en-US" sz="1400" i="0"/>
                        <a:t>Est. Duration</a:t>
                      </a:r>
                    </a:p>
                  </a:txBody>
                  <a:tcPr anchor="ctr"/>
                </a:tc>
                <a:extLst>
                  <a:ext uri="{0D108BD9-81ED-4DB2-BD59-A6C34878D82A}">
                    <a16:rowId xmlns:a16="http://schemas.microsoft.com/office/drawing/2014/main" val="3608970412"/>
                  </a:ext>
                </a:extLst>
              </a:tr>
              <a:tr h="594711">
                <a:tc>
                  <a:txBody>
                    <a:bodyPr/>
                    <a:lstStyle/>
                    <a:p>
                      <a:pPr algn="ctr"/>
                      <a:r>
                        <a:rPr lang="en-US" sz="1200" b="1" i="0"/>
                        <a:t>1</a:t>
                      </a:r>
                    </a:p>
                  </a:txBody>
                  <a:tcPr marL="45720" marR="45720" marT="27432" marB="27432" anchor="ctr">
                    <a:solidFill>
                      <a:schemeClr val="bg1">
                        <a:lumMod val="95000"/>
                      </a:schemeClr>
                    </a:solidFill>
                  </a:tcPr>
                </a:tc>
                <a:tc>
                  <a:txBody>
                    <a:bodyPr/>
                    <a:lstStyle/>
                    <a:p>
                      <a:pPr algn="ctr"/>
                      <a:r>
                        <a:rPr lang="en-US" sz="1200" b="1" i="0"/>
                        <a:t>Alignment Session</a:t>
                      </a:r>
                      <a:r>
                        <a:rPr lang="en-US" sz="1200" i="0"/>
                        <a:t>: Kickoff</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The purpose of the kick-off meeting is to formally notify all project team members that the project has begun and make sure everyone has a common understanding of the project and their roles.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Explain project objectives, scope, approach, governance, project team and timeline</a:t>
                      </a:r>
                      <a:endParaRPr lang="en-US" sz="1200" kern="1200">
                        <a:solidFill>
                          <a:schemeClr val="dk1"/>
                        </a:solidFill>
                        <a:latin typeface="+mn-lt"/>
                        <a:ea typeface="+mn-ea"/>
                        <a:cs typeface="+mn-cs"/>
                      </a:endParaRP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Business Sponsors</a:t>
                      </a:r>
                    </a:p>
                    <a:p>
                      <a:pPr marL="171450" indent="-171450">
                        <a:buFont typeface="Arial" panose="020B0604020202020204" pitchFamily="34" charset="0"/>
                        <a:buChar char="•"/>
                      </a:pPr>
                      <a:r>
                        <a:rPr lang="en-US" sz="1200" i="0"/>
                        <a:t>DT &amp; FD Core Business and Project Team: IT, Data Governance, Merchandising/Purchasing, E-Comm, Finance, AP, Stores and DC Operations</a:t>
                      </a:r>
                    </a:p>
                    <a:p>
                      <a:pPr marL="171450" indent="-171450">
                        <a:buFont typeface="Arial" panose="020B0604020202020204" pitchFamily="34" charset="0"/>
                        <a:buChar char="•"/>
                      </a:pPr>
                      <a:endParaRPr lang="en-US" sz="1200" i="0"/>
                    </a:p>
                  </a:txBody>
                  <a:tcPr marL="45720" marR="45720" marT="27432" marB="27432" anchor="ctr">
                    <a:solidFill>
                      <a:schemeClr val="bg1">
                        <a:lumMod val="95000"/>
                      </a:schemeClr>
                    </a:solidFill>
                  </a:tcPr>
                </a:tc>
                <a:tc>
                  <a:txBody>
                    <a:bodyPr/>
                    <a:lstStyle/>
                    <a:p>
                      <a:pPr algn="ct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843730546"/>
                  </a:ext>
                </a:extLst>
              </a:tr>
              <a:tr h="594711">
                <a:tc>
                  <a:txBody>
                    <a:bodyPr/>
                    <a:lstStyle/>
                    <a:p>
                      <a:pPr algn="ctr"/>
                      <a:r>
                        <a:rPr lang="en-US" sz="1200" b="1" i="0"/>
                        <a:t>1</a:t>
                      </a:r>
                    </a:p>
                  </a:txBody>
                  <a:tcPr marL="45720" marR="45720" marT="27432" marB="27432" anchor="ctr">
                    <a:solidFill>
                      <a:schemeClr val="bg1">
                        <a:lumMod val="95000"/>
                      </a:schemeClr>
                    </a:solidFill>
                  </a:tcPr>
                </a:tc>
                <a:tc>
                  <a:txBody>
                    <a:bodyPr/>
                    <a:lstStyle/>
                    <a:p>
                      <a:pPr algn="ctr"/>
                      <a:r>
                        <a:rPr lang="en-US" sz="1200" b="1" i="0"/>
                        <a:t>Familiarization Session: </a:t>
                      </a:r>
                      <a:r>
                        <a:rPr lang="en-US" sz="1200" i="0"/>
                        <a:t>Foundations Accounting</a:t>
                      </a:r>
                    </a:p>
                  </a:txBody>
                  <a:tcPr marL="45720" marR="45720" marT="27432" marB="27432" anchor="ctr">
                    <a:solidFill>
                      <a:schemeClr val="bg1">
                        <a:lumMod val="95000"/>
                      </a:schemeClr>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Confirm and validate functional scope of the Merchandising Cloud Service (MCS) 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Validate decisions for key solution choices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Identify and assess high-level business impacts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Enable 60% completion of system configuration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Build a greater understanding of how business users will interact with the system</a:t>
                      </a:r>
                      <a:endParaRPr lang="en-US" sz="1200" i="0"/>
                    </a:p>
                  </a:txBody>
                  <a:tcPr marL="45720" marR="45720" marT="27432" marB="27432" anchor="ctr">
                    <a:solidFill>
                      <a:schemeClr val="bg1">
                        <a:lumMod val="95000"/>
                      </a:schemeClr>
                    </a:solidFill>
                  </a:tcPr>
                </a:tc>
                <a:tc rowSpan="2">
                  <a:txBody>
                    <a:bodyPr/>
                    <a:lstStyle/>
                    <a:p>
                      <a:pPr marL="171450" indent="-171450">
                        <a:buFont typeface="Arial"/>
                        <a:buChar char="•"/>
                      </a:pPr>
                      <a:r>
                        <a:rPr lang="en-US" sz="1200" i="0"/>
                        <a:t>DT &amp; FD Core Business and Project Team: IT, Data Governance, Merchandising/Purchasing, E-Comm, Finance, AP</a:t>
                      </a:r>
                    </a:p>
                  </a:txBody>
                  <a:tcPr marL="45720" marR="45720" marT="27432" marB="27432" anchor="ctr">
                    <a:solidFill>
                      <a:schemeClr val="bg1">
                        <a:lumMod val="95000"/>
                      </a:schemeClr>
                    </a:solidFill>
                  </a:tcPr>
                </a:tc>
                <a:tc>
                  <a:txBody>
                    <a:bodyPr/>
                    <a:lstStyle/>
                    <a:p>
                      <a:pPr algn="ctr"/>
                      <a:r>
                        <a:rPr lang="en-US" sz="1200" b="1" i="0"/>
                        <a:t>4 hours</a:t>
                      </a:r>
                    </a:p>
                  </a:txBody>
                  <a:tcPr marL="45720" marR="45720" marT="27432" marB="27432" anchor="ctr">
                    <a:solidFill>
                      <a:schemeClr val="bg1">
                        <a:lumMod val="95000"/>
                      </a:schemeClr>
                    </a:solidFill>
                  </a:tcPr>
                </a:tc>
                <a:extLst>
                  <a:ext uri="{0D108BD9-81ED-4DB2-BD59-A6C34878D82A}">
                    <a16:rowId xmlns:a16="http://schemas.microsoft.com/office/drawing/2014/main" val="1516700124"/>
                  </a:ext>
                </a:extLst>
              </a:tr>
              <a:tr h="1189423">
                <a:tc>
                  <a:txBody>
                    <a:bodyPr/>
                    <a:lstStyle/>
                    <a:p>
                      <a:pPr algn="ctr"/>
                      <a:r>
                        <a:rPr lang="en-US" sz="1200" b="1" i="0"/>
                        <a:t>1</a:t>
                      </a:r>
                    </a:p>
                  </a:txBody>
                  <a:tcPr marL="45720" marR="45720" marT="27432" marB="27432" anchor="ctr">
                    <a:solidFill>
                      <a:schemeClr val="bg1">
                        <a:lumMod val="95000"/>
                      </a:schemeClr>
                    </a:solidFill>
                  </a:tcPr>
                </a:tc>
                <a:tc>
                  <a:txBody>
                    <a:bodyPr/>
                    <a:lstStyle/>
                    <a:p>
                      <a:pPr algn="ctr"/>
                      <a:r>
                        <a:rPr lang="en-US" sz="1200" b="1" i="0"/>
                        <a:t>Familiarization Session: </a:t>
                      </a:r>
                      <a:r>
                        <a:rPr lang="en-US" sz="1200" i="0"/>
                        <a:t>Foundations Organizational Hierarchy</a:t>
                      </a:r>
                    </a:p>
                  </a:txBody>
                  <a:tcPr marL="45720" marR="45720" marT="27432" marB="27432" anchor="ctr">
                    <a:solidFill>
                      <a:schemeClr val="bg1">
                        <a:lumMod val="95000"/>
                      </a:schemeClr>
                    </a:solidFill>
                  </a:tcPr>
                </a:tc>
                <a:tc vMerge="1">
                  <a:txBody>
                    <a:bodyPr/>
                    <a:lstStyle/>
                    <a:p>
                      <a:pPr marL="171450" indent="-171450">
                        <a:buFont typeface="Arial" panose="020B0604020202020204" pitchFamily="34" charset="0"/>
                        <a:buChar char="•"/>
                      </a:pPr>
                      <a:endParaRPr lang="en-US" sz="1200" i="0"/>
                    </a:p>
                  </a:txBody>
                  <a:tcPr marL="45720" marR="45720" marT="27432" marB="27432" anchor="ctr">
                    <a:solidFill>
                      <a:schemeClr val="bg1">
                        <a:lumMod val="95000"/>
                      </a:schemeClr>
                    </a:solidFill>
                  </a:tcPr>
                </a:tc>
                <a:tc vMerge="1">
                  <a:txBody>
                    <a:bodyPr/>
                    <a:lstStyle/>
                    <a:p>
                      <a:pPr marL="171450" indent="-171450">
                        <a:buFont typeface="Arial"/>
                        <a:buChar char="•"/>
                      </a:pPr>
                      <a:endParaRPr lang="en-US" sz="1200" i="0"/>
                    </a:p>
                  </a:txBody>
                  <a:tcPr marL="45720" marR="45720" marT="27432" marB="27432" anchor="ctr">
                    <a:solidFill>
                      <a:schemeClr val="bg1">
                        <a:lumMod val="95000"/>
                      </a:schemeClr>
                    </a:solidFill>
                  </a:tcPr>
                </a:tc>
                <a:tc>
                  <a:txBody>
                    <a:bodyPr/>
                    <a:lstStyle/>
                    <a:p>
                      <a:pPr algn="ct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075312267"/>
                  </a:ext>
                </a:extLst>
              </a:tr>
              <a:tr h="764629">
                <a:tc>
                  <a:txBody>
                    <a:bodyPr/>
                    <a:lstStyle/>
                    <a:p>
                      <a:pPr algn="ctr"/>
                      <a:r>
                        <a:rPr lang="en-US" sz="1200" b="1" i="0"/>
                        <a:t>1</a:t>
                      </a:r>
                    </a:p>
                  </a:txBody>
                  <a:tcPr marL="45720" marR="45720" marT="27432" marB="27432" anchor="ctr">
                    <a:solidFill>
                      <a:schemeClr val="bg1">
                        <a:lumMod val="95000"/>
                      </a:schemeClr>
                    </a:solidFill>
                  </a:tcPr>
                </a:tc>
                <a:tc>
                  <a:txBody>
                    <a:bodyPr/>
                    <a:lstStyle/>
                    <a:p>
                      <a:pPr algn="ctr"/>
                      <a:r>
                        <a:rPr lang="en-US" sz="1200" b="1" i="0"/>
                        <a:t>Preparation Session: </a:t>
                      </a:r>
                      <a:r>
                        <a:rPr lang="en-US" sz="1200" i="0"/>
                        <a:t>Technical Integration Prep Session</a:t>
                      </a: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a:t>Provide an overview of MFCS integration architecture and the out-of-the-box integration catalogue</a:t>
                      </a:r>
                    </a:p>
                    <a:p>
                      <a:pPr marL="171450" indent="-171450">
                        <a:buFont typeface="Arial" panose="020B0604020202020204" pitchFamily="34" charset="0"/>
                        <a:buChar char="•"/>
                      </a:pPr>
                      <a:r>
                        <a:rPr lang="en-US" sz="1200"/>
                        <a:t>Create an understanding of each integration method and how it is used to integrate within Oracle Retail and external systems</a:t>
                      </a:r>
                    </a:p>
                    <a:p>
                      <a:pPr marL="171450" indent="-171450">
                        <a:buFont typeface="Arial" panose="020B0604020202020204" pitchFamily="34" charset="0"/>
                        <a:buChar char="•"/>
                      </a:pPr>
                      <a:r>
                        <a:rPr lang="en-US" sz="1200"/>
                        <a:t>Facilitate discussion about DT/FD high level integration requirements</a:t>
                      </a:r>
                    </a:p>
                    <a:p>
                      <a:pPr marL="171450" indent="-171450">
                        <a:buFont typeface="Arial" panose="020B0604020202020204" pitchFamily="34" charset="0"/>
                        <a:buChar char="•"/>
                      </a:pPr>
                      <a:r>
                        <a:rPr lang="en-US" sz="1200"/>
                        <a:t>Identify potential integration constraints</a:t>
                      </a:r>
                    </a:p>
                    <a:p>
                      <a:pPr marL="285750" indent="-285750">
                        <a:buFont typeface="Arial" panose="020B0604020202020204" pitchFamily="34" charset="0"/>
                        <a:buChar char="•"/>
                      </a:pPr>
                      <a:endParaRPr lang="en-US" sz="1200"/>
                    </a:p>
                    <a:p>
                      <a:pPr marL="285750" indent="-285750">
                        <a:buFont typeface="Arial" panose="020B0604020202020204" pitchFamily="34" charset="0"/>
                        <a:buChar char="•"/>
                      </a:pPr>
                      <a:endParaRPr lang="en-US" sz="1200"/>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Project Team:  IT</a:t>
                      </a:r>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836545424"/>
                  </a:ext>
                </a:extLst>
              </a:tr>
            </a:tbl>
          </a:graphicData>
        </a:graphic>
      </p:graphicFrame>
      <p:sp>
        <p:nvSpPr>
          <p:cNvPr id="4" name="Title 1">
            <a:extLst>
              <a:ext uri="{FF2B5EF4-FFF2-40B4-BE49-F238E27FC236}">
                <a16:creationId xmlns:a16="http://schemas.microsoft.com/office/drawing/2014/main" id="{ADDA8B19-ECCE-4671-9664-F071F2CE9334}"/>
              </a:ext>
            </a:extLst>
          </p:cNvPr>
          <p:cNvSpPr txBox="1">
            <a:spLocks/>
          </p:cNvSpPr>
          <p:nvPr/>
        </p:nvSpPr>
        <p:spPr>
          <a:xfrm>
            <a:off x="1118158" y="353568"/>
            <a:ext cx="10634753" cy="4876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Sessions Planned</a:t>
            </a:r>
          </a:p>
        </p:txBody>
      </p:sp>
    </p:spTree>
    <p:extLst>
      <p:ext uri="{BB962C8B-B14F-4D97-AF65-F5344CB8AC3E}">
        <p14:creationId xmlns:p14="http://schemas.microsoft.com/office/powerpoint/2010/main" val="209652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9D8B513C-F2C5-4E6C-AEE2-3211FC52E52A}"/>
              </a:ext>
            </a:extLst>
          </p:cNvPr>
          <p:cNvCxnSpPr>
            <a:cxnSpLocks/>
          </p:cNvCxnSpPr>
          <p:nvPr/>
        </p:nvCxnSpPr>
        <p:spPr>
          <a:xfrm>
            <a:off x="983848" y="1309622"/>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5" name="Object 4" hidden="1">
            <a:extLst>
              <a:ext uri="{FF2B5EF4-FFF2-40B4-BE49-F238E27FC236}">
                <a16:creationId xmlns:a16="http://schemas.microsoft.com/office/drawing/2014/main" id="{EF5F04AD-6F82-42E4-B623-32B813813D2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Object 4" hidden="1">
                        <a:extLst>
                          <a:ext uri="{FF2B5EF4-FFF2-40B4-BE49-F238E27FC236}">
                            <a16:creationId xmlns:a16="http://schemas.microsoft.com/office/drawing/2014/main" id="{EF5F04AD-6F82-42E4-B623-32B813813D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383EF02-89AB-40AC-8873-F23B261E333C}"/>
              </a:ext>
            </a:extLst>
          </p:cNvPr>
          <p:cNvSpPr>
            <a:spLocks noGrp="1"/>
          </p:cNvSpPr>
          <p:nvPr>
            <p:ph type="title"/>
          </p:nvPr>
        </p:nvSpPr>
        <p:spPr>
          <a:xfrm>
            <a:off x="432167" y="-78139"/>
            <a:ext cx="11011293" cy="1325563"/>
          </a:xfrm>
        </p:spPr>
        <p:txBody>
          <a:bodyPr>
            <a:normAutofit/>
          </a:bodyPr>
          <a:lstStyle/>
          <a:p>
            <a:pPr>
              <a:spcBef>
                <a:spcPts val="0"/>
              </a:spcBef>
            </a:pPr>
            <a:r>
              <a:rPr lang="en-US" sz="3200"/>
              <a:t>Timelines, Activities and Deliverables – ESL IPG</a:t>
            </a:r>
          </a:p>
        </p:txBody>
      </p:sp>
      <p:grpSp>
        <p:nvGrpSpPr>
          <p:cNvPr id="9" name="Group 8">
            <a:extLst>
              <a:ext uri="{FF2B5EF4-FFF2-40B4-BE49-F238E27FC236}">
                <a16:creationId xmlns:a16="http://schemas.microsoft.com/office/drawing/2014/main" id="{ACD35936-3F5F-4D5A-A3B3-997891628E17}"/>
              </a:ext>
            </a:extLst>
          </p:cNvPr>
          <p:cNvGrpSpPr/>
          <p:nvPr/>
        </p:nvGrpSpPr>
        <p:grpSpPr>
          <a:xfrm>
            <a:off x="469456" y="879677"/>
            <a:ext cx="399163" cy="5559225"/>
            <a:chOff x="469456" y="1254763"/>
            <a:chExt cx="399163" cy="5184137"/>
          </a:xfrm>
        </p:grpSpPr>
        <p:sp>
          <p:nvSpPr>
            <p:cNvPr id="61" name="Pentagon 194">
              <a:extLst>
                <a:ext uri="{FF2B5EF4-FFF2-40B4-BE49-F238E27FC236}">
                  <a16:creationId xmlns:a16="http://schemas.microsoft.com/office/drawing/2014/main" id="{06EC075B-645E-4F18-B4DC-846588CD1B67}"/>
                </a:ext>
              </a:extLst>
            </p:cNvPr>
            <p:cNvSpPr>
              <a:spLocks/>
            </p:cNvSpPr>
            <p:nvPr/>
          </p:nvSpPr>
          <p:spPr>
            <a:xfrm rot="16200000">
              <a:off x="-150113" y="1874332"/>
              <a:ext cx="1638300" cy="399162"/>
            </a:xfrm>
            <a:prstGeom prst="chevron">
              <a:avLst/>
            </a:prstGeom>
            <a:solidFill>
              <a:schemeClr val="bg1">
                <a:lumMod val="9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kern="0">
                  <a:solidFill>
                    <a:srgbClr val="000000"/>
                  </a:solidFill>
                  <a:latin typeface="Open Sans"/>
                  <a:cs typeface="Open Sans"/>
                </a:rPr>
                <a:t>Timeline &amp; Phases</a:t>
              </a:r>
              <a:endParaRPr kumimoji="0" lang="en-US" sz="1000" b="1" i="0" u="none" strike="noStrike" kern="0" cap="none" spc="0" normalizeH="0" baseline="0" noProof="0">
                <a:ln>
                  <a:noFill/>
                </a:ln>
                <a:solidFill>
                  <a:srgbClr val="000000"/>
                </a:solidFill>
                <a:effectLst/>
                <a:uLnTx/>
                <a:uFillTx/>
                <a:latin typeface="Open Sans"/>
                <a:ea typeface="+mn-ea"/>
                <a:cs typeface="Open Sans"/>
              </a:endParaRPr>
            </a:p>
          </p:txBody>
        </p:sp>
        <p:sp>
          <p:nvSpPr>
            <p:cNvPr id="62" name="Pentagon 194">
              <a:extLst>
                <a:ext uri="{FF2B5EF4-FFF2-40B4-BE49-F238E27FC236}">
                  <a16:creationId xmlns:a16="http://schemas.microsoft.com/office/drawing/2014/main" id="{483F9A32-5ECF-4627-B2C7-D18A27C2ACDC}"/>
                </a:ext>
              </a:extLst>
            </p:cNvPr>
            <p:cNvSpPr>
              <a:spLocks/>
            </p:cNvSpPr>
            <p:nvPr/>
          </p:nvSpPr>
          <p:spPr>
            <a:xfrm rot="16200000">
              <a:off x="-587935" y="3856801"/>
              <a:ext cx="2513945" cy="399162"/>
            </a:xfrm>
            <a:prstGeom prst="chevron">
              <a:avLst/>
            </a:prstGeom>
            <a:solidFill>
              <a:schemeClr val="bg1">
                <a:lumMod val="8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Activities</a:t>
              </a:r>
            </a:p>
          </p:txBody>
        </p:sp>
        <p:sp>
          <p:nvSpPr>
            <p:cNvPr id="63" name="Pentagon 194">
              <a:extLst>
                <a:ext uri="{FF2B5EF4-FFF2-40B4-BE49-F238E27FC236}">
                  <a16:creationId xmlns:a16="http://schemas.microsoft.com/office/drawing/2014/main" id="{25891947-3DC2-446E-94C1-5382E9252198}"/>
                </a:ext>
              </a:extLst>
            </p:cNvPr>
            <p:cNvSpPr>
              <a:spLocks/>
            </p:cNvSpPr>
            <p:nvPr/>
          </p:nvSpPr>
          <p:spPr>
            <a:xfrm rot="16200000">
              <a:off x="59437" y="5629719"/>
              <a:ext cx="1219200" cy="399162"/>
            </a:xfrm>
            <a:prstGeom prst="homePlate">
              <a:avLst/>
            </a:prstGeom>
            <a:solidFill>
              <a:schemeClr val="bg1">
                <a:lumMod val="7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Deliverables</a:t>
              </a:r>
            </a:p>
          </p:txBody>
        </p:sp>
      </p:grpSp>
      <p:sp>
        <p:nvSpPr>
          <p:cNvPr id="39" name="Rectangle 38">
            <a:extLst>
              <a:ext uri="{FF2B5EF4-FFF2-40B4-BE49-F238E27FC236}">
                <a16:creationId xmlns:a16="http://schemas.microsoft.com/office/drawing/2014/main" id="{55A27C3C-79E3-466E-A4CC-4AA678014409}"/>
              </a:ext>
            </a:extLst>
          </p:cNvPr>
          <p:cNvSpPr/>
          <p:nvPr/>
        </p:nvSpPr>
        <p:spPr>
          <a:xfrm>
            <a:off x="983093" y="1603605"/>
            <a:ext cx="10759624" cy="903839"/>
          </a:xfrm>
          <a:prstGeom prst="rect">
            <a:avLst/>
          </a:prstGeom>
          <a:solidFill>
            <a:srgbClr val="F2F2F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a:ea typeface="+mn-ea"/>
              <a:cs typeface="+mn-cs"/>
            </a:endParaRPr>
          </a:p>
        </p:txBody>
      </p:sp>
      <p:sp>
        <p:nvSpPr>
          <p:cNvPr id="40" name="Rectangle 39">
            <a:extLst>
              <a:ext uri="{FF2B5EF4-FFF2-40B4-BE49-F238E27FC236}">
                <a16:creationId xmlns:a16="http://schemas.microsoft.com/office/drawing/2014/main" id="{71CEDC49-E09B-4EF1-BE35-931ECA9F5FCF}"/>
              </a:ext>
            </a:extLst>
          </p:cNvPr>
          <p:cNvSpPr/>
          <p:nvPr/>
        </p:nvSpPr>
        <p:spPr>
          <a:xfrm>
            <a:off x="3475398" y="2738769"/>
            <a:ext cx="3759245" cy="2347696"/>
          </a:xfrm>
          <a:prstGeom prst="rect">
            <a:avLst/>
          </a:prstGeom>
          <a:solidFill>
            <a:schemeClr val="bg1">
              <a:lumMod val="95000"/>
            </a:schemeClr>
          </a:solidFill>
          <a:ln w="19050">
            <a:noFill/>
          </a:ln>
        </p:spPr>
        <p:txBody>
          <a:bodyPr wrap="square" lIns="91440" tIns="45720" rIns="9144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Laydown integration strategy inline with EA’s vision for the future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Define integration patterns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Define ESL responsibilities to service integration requests for NextGen initiatives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Establish cross initiative communication cadence to understand dependencies and flag risks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Define and catalog canonical models to service short term and long-term initiatives</a:t>
            </a:r>
          </a:p>
          <a:p>
            <a:pPr marL="171450" indent="-171450">
              <a:spcAft>
                <a:spcPts val="600"/>
              </a:spcAft>
              <a:buFont typeface="Arial" panose="020B0604020202020204" pitchFamily="34" charset="0"/>
              <a:buChar char="•"/>
              <a:defRPr/>
            </a:pPr>
            <a:r>
              <a:rPr lang="en-US" sz="1000" kern="0">
                <a:solidFill>
                  <a:srgbClr val="000000"/>
                </a:solidFill>
                <a:latin typeface="Open Sans"/>
              </a:rPr>
              <a:t>Define strategy for handling PCI or other sensitive</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42" name="Pentagon 195">
            <a:extLst>
              <a:ext uri="{FF2B5EF4-FFF2-40B4-BE49-F238E27FC236}">
                <a16:creationId xmlns:a16="http://schemas.microsoft.com/office/drawing/2014/main" id="{E1B2AC90-D6EE-44D5-9215-865A2F14C0F8}"/>
              </a:ext>
            </a:extLst>
          </p:cNvPr>
          <p:cNvSpPr>
            <a:spLocks/>
          </p:cNvSpPr>
          <p:nvPr/>
        </p:nvSpPr>
        <p:spPr>
          <a:xfrm>
            <a:off x="1003888" y="2738769"/>
            <a:ext cx="2384528" cy="2340642"/>
          </a:xfrm>
          <a:prstGeom prst="rect">
            <a:avLst/>
          </a:prstGeom>
          <a:solidFill>
            <a:schemeClr val="bg1">
              <a:lumMod val="95000"/>
            </a:schemeClr>
          </a:solidFill>
          <a:ln w="19050" cap="flat" cmpd="sng" algn="ctr">
            <a:noFill/>
            <a:prstDash val="solid"/>
            <a:miter lim="800000"/>
          </a:ln>
          <a:effectLst/>
        </p:spPr>
        <p:txBody>
          <a:bodyPr lIns="91440" tIns="45720" rIns="91440" bIns="45720" rtlCol="0" anchor="t">
            <a:noAutofit/>
          </a:bodyPr>
          <a:lstStyle/>
          <a:p>
            <a:pPr marL="171450" lvl="0" indent="-171450">
              <a:spcAft>
                <a:spcPts val="600"/>
              </a:spcAft>
              <a:buFont typeface="Arial" panose="020B0604020202020204" pitchFamily="34" charset="0"/>
              <a:buChar char="•"/>
              <a:defRPr/>
            </a:pPr>
            <a:r>
              <a:rPr kumimoji="0" lang="en-US" sz="1000" b="0" i="0" u="none" strike="noStrike" kern="0" cap="none" spc="0" normalizeH="0" baseline="0" noProof="0">
                <a:ln>
                  <a:noFill/>
                </a:ln>
                <a:solidFill>
                  <a:srgbClr val="000000"/>
                </a:solidFill>
                <a:effectLst/>
                <a:uLnTx/>
                <a:uFillTx/>
                <a:latin typeface="Open Sans"/>
                <a:ea typeface="+mn-ea"/>
                <a:cs typeface="+mn-cs"/>
              </a:rPr>
              <a:t>Understand timelines of ongoing </a:t>
            </a:r>
            <a:r>
              <a:rPr lang="en-US" sz="1000" kern="0">
                <a:solidFill>
                  <a:srgbClr val="000000"/>
                </a:solidFill>
                <a:latin typeface="Open Sans"/>
              </a:rPr>
              <a:t>NextGen initiatives</a:t>
            </a: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Review existing landscape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Understand Enterprise architectures vision for the future landscape</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Consult with enterprise architecture teams and align on current application retirement timelines </a:t>
            </a:r>
          </a:p>
        </p:txBody>
      </p:sp>
      <p:sp>
        <p:nvSpPr>
          <p:cNvPr id="43" name="Pentagon 194">
            <a:extLst>
              <a:ext uri="{FF2B5EF4-FFF2-40B4-BE49-F238E27FC236}">
                <a16:creationId xmlns:a16="http://schemas.microsoft.com/office/drawing/2014/main" id="{A12E0750-3927-481F-9DE9-3ECA041B61B2}"/>
              </a:ext>
            </a:extLst>
          </p:cNvPr>
          <p:cNvSpPr>
            <a:spLocks/>
          </p:cNvSpPr>
          <p:nvPr/>
        </p:nvSpPr>
        <p:spPr>
          <a:xfrm>
            <a:off x="986615" y="1623827"/>
            <a:ext cx="2587142" cy="233805"/>
          </a:xfrm>
          <a:prstGeom prst="homePlate">
            <a:avLst/>
          </a:prstGeom>
          <a:solidFill>
            <a:schemeClr val="accent3"/>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44" name="Pentagon 194">
            <a:extLst>
              <a:ext uri="{FF2B5EF4-FFF2-40B4-BE49-F238E27FC236}">
                <a16:creationId xmlns:a16="http://schemas.microsoft.com/office/drawing/2014/main" id="{B4C93E88-DD68-4E5E-A7FD-CB9630F1B439}"/>
              </a:ext>
            </a:extLst>
          </p:cNvPr>
          <p:cNvSpPr>
            <a:spLocks/>
          </p:cNvSpPr>
          <p:nvPr/>
        </p:nvSpPr>
        <p:spPr>
          <a:xfrm>
            <a:off x="2088057" y="1874401"/>
            <a:ext cx="2604048" cy="226278"/>
          </a:xfrm>
          <a:prstGeom prst="homePlate">
            <a:avLst/>
          </a:prstGeom>
          <a:solidFill>
            <a:schemeClr val="accent2"/>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Define</a:t>
            </a:r>
          </a:p>
        </p:txBody>
      </p:sp>
      <p:sp>
        <p:nvSpPr>
          <p:cNvPr id="54" name="Pentagon 194">
            <a:extLst>
              <a:ext uri="{FF2B5EF4-FFF2-40B4-BE49-F238E27FC236}">
                <a16:creationId xmlns:a16="http://schemas.microsoft.com/office/drawing/2014/main" id="{D76F60A2-BEF5-47A9-BB8B-E55BFA7958BD}"/>
              </a:ext>
            </a:extLst>
          </p:cNvPr>
          <p:cNvSpPr>
            <a:spLocks/>
          </p:cNvSpPr>
          <p:nvPr/>
        </p:nvSpPr>
        <p:spPr>
          <a:xfrm>
            <a:off x="3616448" y="2117447"/>
            <a:ext cx="8118352" cy="284851"/>
          </a:xfrm>
          <a:prstGeom prst="homePlate">
            <a:avLst/>
          </a:prstGeom>
          <a:solidFill>
            <a:srgbClr val="005F91"/>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Empower</a:t>
            </a:r>
          </a:p>
        </p:txBody>
      </p:sp>
      <p:sp>
        <p:nvSpPr>
          <p:cNvPr id="64" name="Rectangle 63">
            <a:extLst>
              <a:ext uri="{FF2B5EF4-FFF2-40B4-BE49-F238E27FC236}">
                <a16:creationId xmlns:a16="http://schemas.microsoft.com/office/drawing/2014/main" id="{0CFC8EB1-74E2-4FEA-8318-282CF1E8DC7E}"/>
              </a:ext>
            </a:extLst>
          </p:cNvPr>
          <p:cNvSpPr/>
          <p:nvPr/>
        </p:nvSpPr>
        <p:spPr>
          <a:xfrm>
            <a:off x="1003888" y="5204456"/>
            <a:ext cx="2386584" cy="1169551"/>
          </a:xfrm>
          <a:prstGeom prst="rect">
            <a:avLst/>
          </a:prstGeom>
          <a:solidFill>
            <a:schemeClr val="bg1">
              <a:lumMod val="95000"/>
            </a:schemeClr>
          </a:solidFill>
          <a:ln w="19050">
            <a:noFill/>
          </a:ln>
        </p:spPr>
        <p:txBody>
          <a:bodyPr wrap="square" lIns="91440" tIns="45720" rIns="9144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NextGen initiatives with milestones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Application Inventory with dispositioning (Current &amp; NextGen)</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i="0" u="none" strike="noStrike" kern="0" cap="none" spc="0" normalizeH="0" baseline="0" noProof="0">
              <a:ln>
                <a:noFill/>
              </a:ln>
              <a:solidFill>
                <a:srgbClr val="000000"/>
              </a:solidFill>
              <a:effectLst/>
              <a:uLnTx/>
              <a:uFillTx/>
              <a:latin typeface="Open Sans"/>
              <a:ea typeface="+mn-ea"/>
              <a:cs typeface="+mn-cs"/>
            </a:endParaRPr>
          </a:p>
        </p:txBody>
      </p:sp>
      <p:sp>
        <p:nvSpPr>
          <p:cNvPr id="69" name="Rectangle 68">
            <a:extLst>
              <a:ext uri="{FF2B5EF4-FFF2-40B4-BE49-F238E27FC236}">
                <a16:creationId xmlns:a16="http://schemas.microsoft.com/office/drawing/2014/main" id="{D5C1BD3C-AB69-436C-9B44-9F520DFD3DEF}"/>
              </a:ext>
            </a:extLst>
          </p:cNvPr>
          <p:cNvSpPr/>
          <p:nvPr/>
        </p:nvSpPr>
        <p:spPr>
          <a:xfrm>
            <a:off x="7327392" y="2742935"/>
            <a:ext cx="4406041" cy="2340643"/>
          </a:xfrm>
          <a:prstGeom prst="rect">
            <a:avLst/>
          </a:prstGeom>
          <a:solidFill>
            <a:schemeClr val="bg1">
              <a:lumMod val="95000"/>
            </a:schemeClr>
          </a:solidFill>
          <a:ln w="19050">
            <a:noFill/>
          </a:ln>
        </p:spPr>
        <p:txBody>
          <a:bodyPr wrap="square" lIns="91440" tIns="45720" rIns="91440" bIns="45720" anchor="t">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Empower integration pods to design and develop according to standards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Empower ATS team to monitor security and architectural standards</a:t>
            </a:r>
            <a:endParaRPr lang="en-US" sz="1000" kern="0">
              <a:solidFill>
                <a:srgbClr val="000000"/>
              </a:solidFill>
              <a:latin typeface="Open Sans"/>
              <a:ea typeface="Open Sans"/>
              <a:cs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Educate project teams on integration patterns and leverage canonical models to expedite value delivery</a:t>
            </a:r>
            <a:endParaRPr lang="en-US" sz="1000" kern="0">
              <a:solidFill>
                <a:srgbClr val="000000"/>
              </a:solidFill>
              <a:latin typeface="Open Sans"/>
              <a:ea typeface="Open Sans"/>
              <a:cs typeface="Open Sans"/>
            </a:endParaRPr>
          </a:p>
          <a:p>
            <a:pPr marL="171450" indent="-171450">
              <a:spcAft>
                <a:spcPts val="600"/>
              </a:spcAft>
              <a:buFont typeface="Arial" panose="020B0604020202020204" pitchFamily="34" charset="0"/>
              <a:buChar char="•"/>
              <a:defRPr/>
            </a:pPr>
            <a:r>
              <a:rPr lang="en-US" sz="1000" kern="0">
                <a:solidFill>
                  <a:srgbClr val="000000"/>
                </a:solidFill>
                <a:latin typeface="Open Sans"/>
              </a:rPr>
              <a:t>Monitor capacity across integration pods and highlight risks  to NextGen program timelines </a:t>
            </a:r>
            <a:endParaRPr lang="en-US" sz="1000" kern="0">
              <a:solidFill>
                <a:srgbClr val="000000"/>
              </a:solidFill>
              <a:latin typeface="Open Sans"/>
              <a:ea typeface="Open Sans"/>
              <a:cs typeface="Open Sans"/>
            </a:endParaRPr>
          </a:p>
          <a:p>
            <a:pPr marL="171450" indent="-171450">
              <a:spcAft>
                <a:spcPts val="600"/>
              </a:spcAft>
              <a:buFont typeface="Arial" panose="020B0604020202020204" pitchFamily="34" charset="0"/>
              <a:buChar char="•"/>
              <a:defRPr/>
            </a:pPr>
            <a:r>
              <a:rPr lang="en-US" sz="1000" b="1" kern="0">
                <a:solidFill>
                  <a:srgbClr val="000000"/>
                </a:solidFill>
                <a:latin typeface="Open Sans"/>
              </a:rPr>
              <a:t>Review and Update Application Integration Strategy</a:t>
            </a:r>
          </a:p>
          <a:p>
            <a:pPr marL="171450" indent="-171450">
              <a:spcAft>
                <a:spcPts val="600"/>
              </a:spcAft>
              <a:buFont typeface="Arial" panose="020B0604020202020204" pitchFamily="34" charset="0"/>
              <a:buChar char="•"/>
              <a:defRPr/>
            </a:pPr>
            <a:r>
              <a:rPr lang="en-US" sz="1000" b="1" kern="0">
                <a:solidFill>
                  <a:srgbClr val="000000"/>
                </a:solidFill>
                <a:latin typeface="Open Sans"/>
              </a:rPr>
              <a:t>Review and Update Data Integration Strategy</a:t>
            </a:r>
          </a:p>
          <a:p>
            <a:pPr marL="171450" indent="-171450">
              <a:spcAft>
                <a:spcPts val="600"/>
              </a:spcAft>
              <a:buFont typeface="Arial" panose="020B0604020202020204" pitchFamily="34" charset="0"/>
              <a:buChar char="•"/>
              <a:defRPr/>
            </a:pPr>
            <a:r>
              <a:rPr lang="en-US" sz="1000" b="1">
                <a:latin typeface="Open Sans"/>
                <a:ea typeface="Open Sans"/>
                <a:cs typeface="Open Sans"/>
              </a:rPr>
              <a:t>Review and Update Cross Technology Project Release Plan</a:t>
            </a:r>
          </a:p>
          <a:p>
            <a:pPr marL="171450" indent="-171450">
              <a:spcAft>
                <a:spcPts val="600"/>
              </a:spcAft>
              <a:buFont typeface="Arial" panose="020B0604020202020204" pitchFamily="34" charset="0"/>
              <a:buChar char="•"/>
              <a:defRPr/>
            </a:pPr>
            <a:r>
              <a:rPr lang="en-US" sz="1000" b="1" kern="0">
                <a:solidFill>
                  <a:srgbClr val="000000"/>
                </a:solidFill>
                <a:latin typeface="Open Sans"/>
              </a:rPr>
              <a:t>Update Application Inventory</a:t>
            </a:r>
            <a:endParaRPr lang="en-US" sz="1000" b="1" i="0" u="none" strike="noStrike" kern="0" cap="none" spc="0" normalizeH="0" baseline="0" noProof="0">
              <a:ln>
                <a:noFill/>
              </a:ln>
              <a:solidFill>
                <a:srgbClr val="000000"/>
              </a:solidFill>
              <a:effectLst/>
              <a:uLnTx/>
              <a:uFillTx/>
              <a:latin typeface="Open Sans"/>
              <a:ea typeface="Open Sans"/>
              <a:cs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71" name="Rectangle 70">
            <a:extLst>
              <a:ext uri="{FF2B5EF4-FFF2-40B4-BE49-F238E27FC236}">
                <a16:creationId xmlns:a16="http://schemas.microsoft.com/office/drawing/2014/main" id="{831C6C4F-F5AE-451A-B48B-105AF0616CA7}"/>
              </a:ext>
            </a:extLst>
          </p:cNvPr>
          <p:cNvSpPr/>
          <p:nvPr/>
        </p:nvSpPr>
        <p:spPr>
          <a:xfrm>
            <a:off x="3475398" y="5204456"/>
            <a:ext cx="3758184" cy="1176671"/>
          </a:xfrm>
          <a:prstGeom prst="rect">
            <a:avLst/>
          </a:prstGeom>
          <a:solidFill>
            <a:schemeClr val="bg1">
              <a:lumMod val="95000"/>
            </a:schemeClr>
          </a:solidFill>
          <a:ln w="19050">
            <a:noFill/>
          </a:ln>
        </p:spPr>
        <p:txBody>
          <a:bodyPr wrap="square" lIns="91440" tIns="45720" rIns="9144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Application Integration strategy</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Data integration strategy (including initial canonical models)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a:latin typeface="Open Sans" panose="020B0606030504020204" pitchFamily="34" charset="0"/>
                <a:ea typeface="Open Sans" panose="020B0606030504020204" pitchFamily="34" charset="0"/>
                <a:cs typeface="Open Sans" panose="020B0606030504020204" pitchFamily="34" charset="0"/>
              </a:rPr>
              <a:t>Cross Technology Project Release Plan</a:t>
            </a:r>
          </a:p>
        </p:txBody>
      </p:sp>
      <p:sp>
        <p:nvSpPr>
          <p:cNvPr id="74" name="Rectangle 73">
            <a:extLst>
              <a:ext uri="{FF2B5EF4-FFF2-40B4-BE49-F238E27FC236}">
                <a16:creationId xmlns:a16="http://schemas.microsoft.com/office/drawing/2014/main" id="{3BE0E449-58F0-4FFD-BCB7-0AAD1710EC04}"/>
              </a:ext>
            </a:extLst>
          </p:cNvPr>
          <p:cNvSpPr/>
          <p:nvPr/>
        </p:nvSpPr>
        <p:spPr>
          <a:xfrm>
            <a:off x="7326025" y="5204456"/>
            <a:ext cx="4407408" cy="1176671"/>
          </a:xfrm>
          <a:prstGeom prst="rect">
            <a:avLst/>
          </a:prstGeom>
          <a:solidFill>
            <a:schemeClr val="bg1">
              <a:lumMod val="95000"/>
            </a:schemeClr>
          </a:solidFill>
          <a:ln w="19050">
            <a:noFill/>
          </a:ln>
        </p:spPr>
        <p:txBody>
          <a:bodyPr wrap="square" lIns="91440" tIns="45720" rIns="91440" bIns="45720">
            <a:noAutofit/>
          </a:bodyPr>
          <a:lstStyle/>
          <a:p>
            <a:pPr marL="171450" indent="-171450">
              <a:spcAft>
                <a:spcPts val="600"/>
              </a:spcAft>
              <a:buFont typeface="Arial" panose="020B0604020202020204" pitchFamily="34" charset="0"/>
              <a:buChar char="•"/>
              <a:defRPr/>
            </a:pPr>
            <a:r>
              <a:rPr lang="en-US" sz="1000" kern="0">
                <a:solidFill>
                  <a:srgbClr val="000000"/>
                </a:solidFill>
                <a:latin typeface="Open Sans"/>
              </a:rPr>
              <a:t>Weekly IPG Status Report</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Architecture Review Board (ARB) Playbook and Guidelines</a:t>
            </a:r>
          </a:p>
        </p:txBody>
      </p:sp>
      <p:sp>
        <p:nvSpPr>
          <p:cNvPr id="4" name="Pentagon 194">
            <a:extLst>
              <a:ext uri="{FF2B5EF4-FFF2-40B4-BE49-F238E27FC236}">
                <a16:creationId xmlns:a16="http://schemas.microsoft.com/office/drawing/2014/main" id="{4454E732-413F-6CA6-4539-73DA8C9127BF}"/>
              </a:ext>
            </a:extLst>
          </p:cNvPr>
          <p:cNvSpPr>
            <a:spLocks/>
          </p:cNvSpPr>
          <p:nvPr/>
        </p:nvSpPr>
        <p:spPr>
          <a:xfrm>
            <a:off x="1003888" y="2520896"/>
            <a:ext cx="2383533" cy="196112"/>
          </a:xfrm>
          <a:prstGeom prst="rect">
            <a:avLst/>
          </a:prstGeom>
          <a:solidFill>
            <a:schemeClr val="accent3"/>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6" name="Pentagon 194">
            <a:extLst>
              <a:ext uri="{FF2B5EF4-FFF2-40B4-BE49-F238E27FC236}">
                <a16:creationId xmlns:a16="http://schemas.microsoft.com/office/drawing/2014/main" id="{5E95083C-3DCA-0ED7-8F73-F3CCA9534F1D}"/>
              </a:ext>
            </a:extLst>
          </p:cNvPr>
          <p:cNvSpPr>
            <a:spLocks/>
          </p:cNvSpPr>
          <p:nvPr/>
        </p:nvSpPr>
        <p:spPr>
          <a:xfrm>
            <a:off x="3475398" y="2520896"/>
            <a:ext cx="3759245" cy="196112"/>
          </a:xfrm>
          <a:prstGeom prst="rect">
            <a:avLst/>
          </a:prstGeom>
          <a:solidFill>
            <a:schemeClr val="accent2"/>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Define</a:t>
            </a:r>
          </a:p>
        </p:txBody>
      </p:sp>
      <p:sp>
        <p:nvSpPr>
          <p:cNvPr id="7" name="Pentagon 194">
            <a:extLst>
              <a:ext uri="{FF2B5EF4-FFF2-40B4-BE49-F238E27FC236}">
                <a16:creationId xmlns:a16="http://schemas.microsoft.com/office/drawing/2014/main" id="{7EDC680F-47A7-502E-54FA-A4A364238A41}"/>
              </a:ext>
            </a:extLst>
          </p:cNvPr>
          <p:cNvSpPr>
            <a:spLocks/>
          </p:cNvSpPr>
          <p:nvPr/>
        </p:nvSpPr>
        <p:spPr>
          <a:xfrm>
            <a:off x="7327392" y="2520896"/>
            <a:ext cx="4406041" cy="196112"/>
          </a:xfrm>
          <a:prstGeom prst="rect">
            <a:avLst/>
          </a:prstGeom>
          <a:solidFill>
            <a:srgbClr val="005F91"/>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Empower</a:t>
            </a:r>
          </a:p>
        </p:txBody>
      </p:sp>
      <p:cxnSp>
        <p:nvCxnSpPr>
          <p:cNvPr id="41" name="Straight Connector 40">
            <a:extLst>
              <a:ext uri="{FF2B5EF4-FFF2-40B4-BE49-F238E27FC236}">
                <a16:creationId xmlns:a16="http://schemas.microsoft.com/office/drawing/2014/main" id="{F26076ED-3816-4674-A681-11FD8A7D5574}"/>
              </a:ext>
            </a:extLst>
          </p:cNvPr>
          <p:cNvCxnSpPr>
            <a:cxnSpLocks/>
          </p:cNvCxnSpPr>
          <p:nvPr/>
        </p:nvCxnSpPr>
        <p:spPr>
          <a:xfrm flipH="1">
            <a:off x="992637" y="5147655"/>
            <a:ext cx="10711683" cy="0"/>
          </a:xfrm>
          <a:prstGeom prst="line">
            <a:avLst/>
          </a:prstGeom>
          <a:noFill/>
          <a:ln w="12700" cap="flat" cmpd="sng" algn="ctr">
            <a:solidFill>
              <a:schemeClr val="tx1"/>
            </a:solidFill>
            <a:prstDash val="dot"/>
            <a:miter lim="800000"/>
          </a:ln>
          <a:effectLst/>
        </p:spPr>
      </p:cxnSp>
      <p:cxnSp>
        <p:nvCxnSpPr>
          <p:cNvPr id="12" name="Straight Connector 11">
            <a:extLst>
              <a:ext uri="{FF2B5EF4-FFF2-40B4-BE49-F238E27FC236}">
                <a16:creationId xmlns:a16="http://schemas.microsoft.com/office/drawing/2014/main" id="{34B43633-7F6C-49E5-9B8C-1A4CDC9D7203}"/>
              </a:ext>
            </a:extLst>
          </p:cNvPr>
          <p:cNvCxnSpPr>
            <a:cxnSpLocks/>
          </p:cNvCxnSpPr>
          <p:nvPr/>
        </p:nvCxnSpPr>
        <p:spPr>
          <a:xfrm>
            <a:off x="983848" y="1081601"/>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8" name="object 26">
            <a:extLst>
              <a:ext uri="{FF2B5EF4-FFF2-40B4-BE49-F238E27FC236}">
                <a16:creationId xmlns:a16="http://schemas.microsoft.com/office/drawing/2014/main" id="{16D0E6E8-C2FE-4AC6-AF37-6C7E3999BC5C}"/>
              </a:ext>
            </a:extLst>
          </p:cNvPr>
          <p:cNvSpPr txBox="1"/>
          <p:nvPr/>
        </p:nvSpPr>
        <p:spPr>
          <a:xfrm>
            <a:off x="5968510" y="989268"/>
            <a:ext cx="783556" cy="184666"/>
          </a:xfrm>
          <a:prstGeom prst="rect">
            <a:avLst/>
          </a:prstGeom>
          <a:solidFill>
            <a:schemeClr val="bg1"/>
          </a:solidFill>
          <a:ln w="76200" cmpd="sng">
            <a:noFill/>
          </a:ln>
        </p:spPr>
        <p:txBody>
          <a:bodyPr vert="horz" wrap="square" lIns="45720" tIns="0" rIns="45720" bIns="0" rtlCol="0">
            <a:spAutoFit/>
          </a:bodyPr>
          <a:lstStyle/>
          <a:p>
            <a:pPr marL="12700" marR="0" lvl="0" indent="0" algn="ctr" defTabSz="914400" eaLnBrk="1" fontAlgn="auto" latinLnBrk="0" hangingPunct="1">
              <a:lnSpc>
                <a:spcPct val="100000"/>
              </a:lnSpc>
              <a:spcBef>
                <a:spcPts val="0"/>
              </a:spcBef>
              <a:spcAft>
                <a:spcPts val="0"/>
              </a:spcAft>
              <a:buClrTx/>
              <a:buSzTx/>
              <a:buFontTx/>
              <a:buNone/>
              <a:tabLst/>
              <a:defRPr/>
            </a:pPr>
            <a:r>
              <a:rPr lang="en-US" sz="1200" b="1" kern="0">
                <a:solidFill>
                  <a:srgbClr val="000000"/>
                </a:solidFill>
                <a:latin typeface="Open Sans"/>
                <a:ea typeface="+mn-ea"/>
                <a:cs typeface="Open Sans"/>
              </a:rPr>
              <a:t>Months</a:t>
            </a:r>
            <a:endParaRPr kumimoji="0" lang="en-US" sz="1200" b="1" i="0" u="none" strike="noStrike" kern="0" cap="none" spc="0" normalizeH="0" baseline="0" noProof="0">
              <a:ln>
                <a:noFill/>
              </a:ln>
              <a:solidFill>
                <a:srgbClr val="000000"/>
              </a:solidFill>
              <a:effectLst/>
              <a:uLnTx/>
              <a:uFillTx/>
              <a:latin typeface="Open Sans"/>
              <a:ea typeface="+mn-ea"/>
              <a:cs typeface="Open Sans"/>
            </a:endParaRPr>
          </a:p>
        </p:txBody>
      </p:sp>
      <p:sp>
        <p:nvSpPr>
          <p:cNvPr id="13" name="Oval 12">
            <a:extLst>
              <a:ext uri="{FF2B5EF4-FFF2-40B4-BE49-F238E27FC236}">
                <a16:creationId xmlns:a16="http://schemas.microsoft.com/office/drawing/2014/main" id="{1024FAB5-AAB6-4848-8F8C-E9ADB0FB9EBE}"/>
              </a:ext>
            </a:extLst>
          </p:cNvPr>
          <p:cNvSpPr/>
          <p:nvPr/>
        </p:nvSpPr>
        <p:spPr bwMode="gray">
          <a:xfrm>
            <a:off x="983092"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0</a:t>
            </a:r>
          </a:p>
        </p:txBody>
      </p:sp>
      <p:sp>
        <p:nvSpPr>
          <p:cNvPr id="53" name="Oval 52">
            <a:extLst>
              <a:ext uri="{FF2B5EF4-FFF2-40B4-BE49-F238E27FC236}">
                <a16:creationId xmlns:a16="http://schemas.microsoft.com/office/drawing/2014/main" id="{953E9E5E-B634-4BBA-B19E-16E42589969C}"/>
              </a:ext>
            </a:extLst>
          </p:cNvPr>
          <p:cNvSpPr/>
          <p:nvPr/>
        </p:nvSpPr>
        <p:spPr bwMode="gray">
          <a:xfrm>
            <a:off x="2219381"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1</a:t>
            </a:r>
          </a:p>
        </p:txBody>
      </p:sp>
      <p:sp>
        <p:nvSpPr>
          <p:cNvPr id="56" name="Oval 55">
            <a:extLst>
              <a:ext uri="{FF2B5EF4-FFF2-40B4-BE49-F238E27FC236}">
                <a16:creationId xmlns:a16="http://schemas.microsoft.com/office/drawing/2014/main" id="{96808809-3294-4F16-A619-5D5C1072CA98}"/>
              </a:ext>
            </a:extLst>
          </p:cNvPr>
          <p:cNvSpPr/>
          <p:nvPr/>
        </p:nvSpPr>
        <p:spPr bwMode="gray">
          <a:xfrm>
            <a:off x="357478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2</a:t>
            </a:r>
          </a:p>
        </p:txBody>
      </p:sp>
      <p:sp>
        <p:nvSpPr>
          <p:cNvPr id="57" name="Oval 56">
            <a:extLst>
              <a:ext uri="{FF2B5EF4-FFF2-40B4-BE49-F238E27FC236}">
                <a16:creationId xmlns:a16="http://schemas.microsoft.com/office/drawing/2014/main" id="{A5FE6FFD-9384-40E1-A19B-CA00AB659F61}"/>
              </a:ext>
            </a:extLst>
          </p:cNvPr>
          <p:cNvSpPr/>
          <p:nvPr/>
        </p:nvSpPr>
        <p:spPr bwMode="gray">
          <a:xfrm>
            <a:off x="4839727"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3</a:t>
            </a:r>
          </a:p>
        </p:txBody>
      </p:sp>
      <p:sp>
        <p:nvSpPr>
          <p:cNvPr id="58" name="Oval 57">
            <a:extLst>
              <a:ext uri="{FF2B5EF4-FFF2-40B4-BE49-F238E27FC236}">
                <a16:creationId xmlns:a16="http://schemas.microsoft.com/office/drawing/2014/main" id="{7E634CE1-9960-46C1-9781-0905AD27F78F}"/>
              </a:ext>
            </a:extLst>
          </p:cNvPr>
          <p:cNvSpPr/>
          <p:nvPr/>
        </p:nvSpPr>
        <p:spPr bwMode="gray">
          <a:xfrm>
            <a:off x="618858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4</a:t>
            </a:r>
          </a:p>
        </p:txBody>
      </p:sp>
      <p:sp>
        <p:nvSpPr>
          <p:cNvPr id="65" name="Oval 64">
            <a:extLst>
              <a:ext uri="{FF2B5EF4-FFF2-40B4-BE49-F238E27FC236}">
                <a16:creationId xmlns:a16="http://schemas.microsoft.com/office/drawing/2014/main" id="{7F7F3A09-CF03-4AF2-BA47-E00BDEEAC7AF}"/>
              </a:ext>
            </a:extLst>
          </p:cNvPr>
          <p:cNvSpPr/>
          <p:nvPr/>
        </p:nvSpPr>
        <p:spPr bwMode="gray">
          <a:xfrm>
            <a:off x="749727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5</a:t>
            </a:r>
          </a:p>
        </p:txBody>
      </p:sp>
      <p:sp>
        <p:nvSpPr>
          <p:cNvPr id="67" name="Oval 66">
            <a:extLst>
              <a:ext uri="{FF2B5EF4-FFF2-40B4-BE49-F238E27FC236}">
                <a16:creationId xmlns:a16="http://schemas.microsoft.com/office/drawing/2014/main" id="{87983A7A-BB8E-4577-ACEE-3AA62DC1E243}"/>
              </a:ext>
            </a:extLst>
          </p:cNvPr>
          <p:cNvSpPr/>
          <p:nvPr/>
        </p:nvSpPr>
        <p:spPr bwMode="gray">
          <a:xfrm>
            <a:off x="8881538"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6</a:t>
            </a:r>
          </a:p>
        </p:txBody>
      </p:sp>
      <p:sp>
        <p:nvSpPr>
          <p:cNvPr id="70" name="Oval 69">
            <a:extLst>
              <a:ext uri="{FF2B5EF4-FFF2-40B4-BE49-F238E27FC236}">
                <a16:creationId xmlns:a16="http://schemas.microsoft.com/office/drawing/2014/main" id="{698D76A9-7FDD-47DC-8708-C18BFDF84F97}"/>
              </a:ext>
            </a:extLst>
          </p:cNvPr>
          <p:cNvSpPr/>
          <p:nvPr/>
        </p:nvSpPr>
        <p:spPr bwMode="gray">
          <a:xfrm>
            <a:off x="1005516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7</a:t>
            </a:r>
          </a:p>
        </p:txBody>
      </p:sp>
      <p:sp>
        <p:nvSpPr>
          <p:cNvPr id="72" name="Oval 71">
            <a:extLst>
              <a:ext uri="{FF2B5EF4-FFF2-40B4-BE49-F238E27FC236}">
                <a16:creationId xmlns:a16="http://schemas.microsoft.com/office/drawing/2014/main" id="{98747D4B-2E9E-475C-BC45-8B265F15EE1B}"/>
              </a:ext>
            </a:extLst>
          </p:cNvPr>
          <p:cNvSpPr/>
          <p:nvPr/>
        </p:nvSpPr>
        <p:spPr bwMode="gray">
          <a:xfrm>
            <a:off x="1133832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8</a:t>
            </a:r>
          </a:p>
        </p:txBody>
      </p:sp>
      <p:sp>
        <p:nvSpPr>
          <p:cNvPr id="75" name="Oval 74">
            <a:extLst>
              <a:ext uri="{FF2B5EF4-FFF2-40B4-BE49-F238E27FC236}">
                <a16:creationId xmlns:a16="http://schemas.microsoft.com/office/drawing/2014/main" id="{1A8EE777-2E53-44C2-8055-44CF01B029B6}"/>
              </a:ext>
            </a:extLst>
          </p:cNvPr>
          <p:cNvSpPr/>
          <p:nvPr/>
        </p:nvSpPr>
        <p:spPr bwMode="gray">
          <a:xfrm>
            <a:off x="1662040"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6" name="Oval 75">
            <a:extLst>
              <a:ext uri="{FF2B5EF4-FFF2-40B4-BE49-F238E27FC236}">
                <a16:creationId xmlns:a16="http://schemas.microsoft.com/office/drawing/2014/main" id="{784C620B-BC0A-4A5A-BC31-9A642A66B757}"/>
              </a:ext>
            </a:extLst>
          </p:cNvPr>
          <p:cNvSpPr/>
          <p:nvPr/>
        </p:nvSpPr>
        <p:spPr bwMode="gray">
          <a:xfrm>
            <a:off x="2972318"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7" name="Oval 76">
            <a:extLst>
              <a:ext uri="{FF2B5EF4-FFF2-40B4-BE49-F238E27FC236}">
                <a16:creationId xmlns:a16="http://schemas.microsoft.com/office/drawing/2014/main" id="{86C78941-E257-4180-B911-F3ADAEAF237D}"/>
              </a:ext>
            </a:extLst>
          </p:cNvPr>
          <p:cNvSpPr/>
          <p:nvPr/>
        </p:nvSpPr>
        <p:spPr bwMode="gray">
          <a:xfrm>
            <a:off x="4297036"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8" name="Oval 77">
            <a:extLst>
              <a:ext uri="{FF2B5EF4-FFF2-40B4-BE49-F238E27FC236}">
                <a16:creationId xmlns:a16="http://schemas.microsoft.com/office/drawing/2014/main" id="{21619F76-9B24-4A39-A40B-FDF15D5B8491}"/>
              </a:ext>
            </a:extLst>
          </p:cNvPr>
          <p:cNvSpPr/>
          <p:nvPr/>
        </p:nvSpPr>
        <p:spPr bwMode="gray">
          <a:xfrm>
            <a:off x="5588133"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9" name="Oval 78">
            <a:extLst>
              <a:ext uri="{FF2B5EF4-FFF2-40B4-BE49-F238E27FC236}">
                <a16:creationId xmlns:a16="http://schemas.microsoft.com/office/drawing/2014/main" id="{C1A0D740-F3B2-4F0C-8D22-38278413748D}"/>
              </a:ext>
            </a:extLst>
          </p:cNvPr>
          <p:cNvSpPr/>
          <p:nvPr/>
        </p:nvSpPr>
        <p:spPr bwMode="gray">
          <a:xfrm>
            <a:off x="6899677"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0" name="Oval 79">
            <a:extLst>
              <a:ext uri="{FF2B5EF4-FFF2-40B4-BE49-F238E27FC236}">
                <a16:creationId xmlns:a16="http://schemas.microsoft.com/office/drawing/2014/main" id="{F8CFA576-8995-4915-A6DA-D6D803D53A56}"/>
              </a:ext>
            </a:extLst>
          </p:cNvPr>
          <p:cNvSpPr/>
          <p:nvPr/>
        </p:nvSpPr>
        <p:spPr bwMode="gray">
          <a:xfrm>
            <a:off x="8284612"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1" name="Oval 80">
            <a:extLst>
              <a:ext uri="{FF2B5EF4-FFF2-40B4-BE49-F238E27FC236}">
                <a16:creationId xmlns:a16="http://schemas.microsoft.com/office/drawing/2014/main" id="{1CBBC163-7CCF-4F01-A4C6-9E44B1539CC0}"/>
              </a:ext>
            </a:extLst>
          </p:cNvPr>
          <p:cNvSpPr/>
          <p:nvPr/>
        </p:nvSpPr>
        <p:spPr bwMode="gray">
          <a:xfrm>
            <a:off x="9511415"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2" name="Oval 81">
            <a:extLst>
              <a:ext uri="{FF2B5EF4-FFF2-40B4-BE49-F238E27FC236}">
                <a16:creationId xmlns:a16="http://schemas.microsoft.com/office/drawing/2014/main" id="{4EA986EF-8517-4924-B553-79CBE391CDD4}"/>
              </a:ext>
            </a:extLst>
          </p:cNvPr>
          <p:cNvSpPr/>
          <p:nvPr/>
        </p:nvSpPr>
        <p:spPr bwMode="gray">
          <a:xfrm>
            <a:off x="10779510"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Tree>
    <p:extLst>
      <p:ext uri="{BB962C8B-B14F-4D97-AF65-F5344CB8AC3E}">
        <p14:creationId xmlns:p14="http://schemas.microsoft.com/office/powerpoint/2010/main" val="40139397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A19B7FC1-A5AD-458B-BD17-F958BF0C2A6F}"/>
              </a:ext>
            </a:extLst>
          </p:cNvPr>
          <p:cNvGraphicFramePr>
            <a:graphicFrameLocks noGrp="1"/>
          </p:cNvGraphicFramePr>
          <p:nvPr>
            <p:extLst>
              <p:ext uri="{D42A27DB-BD31-4B8C-83A1-F6EECF244321}">
                <p14:modId xmlns:p14="http://schemas.microsoft.com/office/powerpoint/2010/main" val="2128506446"/>
              </p:ext>
            </p:extLst>
          </p:nvPr>
        </p:nvGraphicFramePr>
        <p:xfrm>
          <a:off x="531189" y="1027779"/>
          <a:ext cx="10412399" cy="5449446"/>
        </p:xfrm>
        <a:graphic>
          <a:graphicData uri="http://schemas.openxmlformats.org/drawingml/2006/table">
            <a:tbl>
              <a:tblPr firstRow="1" bandRow="1">
                <a:tableStyleId>{5C22544A-7EE6-4342-B048-85BDC9FD1C3A}</a:tableStyleId>
              </a:tblPr>
              <a:tblGrid>
                <a:gridCol w="1027049">
                  <a:extLst>
                    <a:ext uri="{9D8B030D-6E8A-4147-A177-3AD203B41FA5}">
                      <a16:colId xmlns:a16="http://schemas.microsoft.com/office/drawing/2014/main" val="2027741553"/>
                    </a:ext>
                  </a:extLst>
                </a:gridCol>
                <a:gridCol w="3789620">
                  <a:extLst>
                    <a:ext uri="{9D8B030D-6E8A-4147-A177-3AD203B41FA5}">
                      <a16:colId xmlns:a16="http://schemas.microsoft.com/office/drawing/2014/main" val="2212234916"/>
                    </a:ext>
                  </a:extLst>
                </a:gridCol>
                <a:gridCol w="1082759">
                  <a:extLst>
                    <a:ext uri="{9D8B030D-6E8A-4147-A177-3AD203B41FA5}">
                      <a16:colId xmlns:a16="http://schemas.microsoft.com/office/drawing/2014/main" val="3128840304"/>
                    </a:ext>
                  </a:extLst>
                </a:gridCol>
                <a:gridCol w="1035747">
                  <a:extLst>
                    <a:ext uri="{9D8B030D-6E8A-4147-A177-3AD203B41FA5}">
                      <a16:colId xmlns:a16="http://schemas.microsoft.com/office/drawing/2014/main" val="4057921746"/>
                    </a:ext>
                  </a:extLst>
                </a:gridCol>
                <a:gridCol w="1738612">
                  <a:extLst>
                    <a:ext uri="{9D8B030D-6E8A-4147-A177-3AD203B41FA5}">
                      <a16:colId xmlns:a16="http://schemas.microsoft.com/office/drawing/2014/main" val="4039690621"/>
                    </a:ext>
                  </a:extLst>
                </a:gridCol>
                <a:gridCol w="1738612">
                  <a:extLst>
                    <a:ext uri="{9D8B030D-6E8A-4147-A177-3AD203B41FA5}">
                      <a16:colId xmlns:a16="http://schemas.microsoft.com/office/drawing/2014/main" val="3642394042"/>
                    </a:ext>
                  </a:extLst>
                </a:gridCol>
              </a:tblGrid>
              <a:tr h="925830">
                <a:tc>
                  <a:txBody>
                    <a:bodyPr/>
                    <a:lstStyle/>
                    <a:p>
                      <a:r>
                        <a:rPr lang="en-US" sz="1100"/>
                        <a:t>Phase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Activities </a:t>
                      </a:r>
                    </a:p>
                    <a:p>
                      <a:endParaRPr lang="en-US" sz="1100"/>
                    </a:p>
                  </a:txBody>
                  <a:tcPr/>
                </a:tc>
                <a:tc>
                  <a:txBody>
                    <a:bodyPr/>
                    <a:lstStyle/>
                    <a:p>
                      <a:r>
                        <a:rPr lang="en-US" sz="1100"/>
                        <a:t>Owner</a:t>
                      </a:r>
                    </a:p>
                  </a:txBody>
                  <a:tcPr/>
                </a:tc>
                <a:tc>
                  <a:txBody>
                    <a:bodyPr/>
                    <a:lstStyle/>
                    <a:p>
                      <a:r>
                        <a:rPr lang="en-US" sz="1100"/>
                        <a:t>Start </a:t>
                      </a:r>
                    </a:p>
                  </a:txBody>
                  <a:tcPr/>
                </a:tc>
                <a:tc>
                  <a:txBody>
                    <a:bodyPr/>
                    <a:lstStyle/>
                    <a:p>
                      <a:r>
                        <a:rPr lang="en-US" sz="1100"/>
                        <a:t>End</a:t>
                      </a:r>
                    </a:p>
                  </a:txBody>
                  <a:tcPr/>
                </a:tc>
                <a:tc>
                  <a:txBody>
                    <a:bodyPr/>
                    <a:lstStyle/>
                    <a:p>
                      <a:r>
                        <a:rPr lang="en-US" sz="1100"/>
                        <a:t>Expected Outcome/</a:t>
                      </a:r>
                    </a:p>
                    <a:p>
                      <a:r>
                        <a:rPr lang="en-US" sz="1100"/>
                        <a:t>Deliverables</a:t>
                      </a:r>
                    </a:p>
                  </a:txBody>
                  <a:tcPr/>
                </a:tc>
                <a:extLst>
                  <a:ext uri="{0D108BD9-81ED-4DB2-BD59-A6C34878D82A}">
                    <a16:rowId xmlns:a16="http://schemas.microsoft.com/office/drawing/2014/main" val="1764356976"/>
                  </a:ext>
                </a:extLst>
              </a:tr>
              <a:tr h="375476">
                <a:tc>
                  <a:txBody>
                    <a:bodyPr/>
                    <a:lstStyle/>
                    <a:p>
                      <a:r>
                        <a:rPr lang="en-US" sz="1100"/>
                        <a:t>Discover</a:t>
                      </a:r>
                    </a:p>
                  </a:txBody>
                  <a:tcPr/>
                </a:tc>
                <a:tc>
                  <a:txBody>
                    <a:bodyPr/>
                    <a:lstStyle/>
                    <a:p>
                      <a:r>
                        <a:rPr lang="en-US" sz="1100"/>
                        <a:t>Specific Data related problems or challenges</a:t>
                      </a:r>
                    </a:p>
                    <a:p>
                      <a:r>
                        <a:rPr lang="en-US" sz="1100"/>
                        <a:t>Data security and privacy requirements for the project </a:t>
                      </a:r>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pPr marL="171450" indent="-171450">
                        <a:buFont typeface="Arial" panose="020B0604020202020204" pitchFamily="34" charset="0"/>
                        <a:buChar char="•"/>
                      </a:pPr>
                      <a:r>
                        <a:rPr lang="en-US" sz="1100"/>
                        <a:t>Analyze existing data sources and assess their quality and relevance.</a:t>
                      </a:r>
                    </a:p>
                    <a:p>
                      <a:pPr marL="171450" indent="-171450">
                        <a:buFont typeface="Arial" panose="020B0604020202020204" pitchFamily="34" charset="0"/>
                        <a:buChar char="•"/>
                      </a:pPr>
                      <a:r>
                        <a:rPr lang="en-US" sz="1100"/>
                        <a:t>Begin developing a data strategy for handling sensitive data.</a:t>
                      </a:r>
                    </a:p>
                    <a:p>
                      <a:pPr marL="171450" indent="-171450">
                        <a:buFont typeface="Arial" panose="020B0604020202020204" pitchFamily="34" charset="0"/>
                        <a:buChar char="•"/>
                      </a:pPr>
                      <a:r>
                        <a:rPr lang="en-US" sz="1100"/>
                        <a:t>Finalize the design and catalog of canonical data models.</a:t>
                      </a:r>
                    </a:p>
                    <a:p>
                      <a:pPr marL="171450" indent="-171450">
                        <a:buFont typeface="Arial" panose="020B0604020202020204" pitchFamily="34" charset="0"/>
                        <a:buChar char="•"/>
                      </a:pPr>
                      <a:r>
                        <a:rPr lang="en-US" sz="1100"/>
                        <a:t>Establish governance policies for the usage of the canonical data models.</a:t>
                      </a:r>
                    </a:p>
                  </a:txBody>
                  <a:tcPr/>
                </a:tc>
                <a:extLst>
                  <a:ext uri="{0D108BD9-81ED-4DB2-BD59-A6C34878D82A}">
                    <a16:rowId xmlns:a16="http://schemas.microsoft.com/office/drawing/2014/main" val="3030336129"/>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187872957"/>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192904392"/>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2415364628"/>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676785884"/>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pPr marL="171450" indent="-171450">
                        <a:buFont typeface="Arial" panose="020B0604020202020204" pitchFamily="34" charset="0"/>
                        <a:buChar char="•"/>
                      </a:pPr>
                      <a:endParaRPr lang="en-US" sz="1100"/>
                    </a:p>
                  </a:txBody>
                  <a:tcPr/>
                </a:tc>
                <a:extLst>
                  <a:ext uri="{0D108BD9-81ED-4DB2-BD59-A6C34878D82A}">
                    <a16:rowId xmlns:a16="http://schemas.microsoft.com/office/drawing/2014/main" val="197221515"/>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3943442717"/>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11011293" cy="1325563"/>
          </a:xfrm>
        </p:spPr>
        <p:txBody>
          <a:bodyPr>
            <a:normAutofit/>
          </a:bodyPr>
          <a:lstStyle/>
          <a:p>
            <a:pPr>
              <a:spcBef>
                <a:spcPts val="0"/>
              </a:spcBef>
            </a:pPr>
            <a:r>
              <a:rPr lang="en-US" sz="3200"/>
              <a:t>4 Weeks schedule/activities (</a:t>
            </a:r>
            <a:r>
              <a:rPr lang="en-US" sz="3200" err="1"/>
              <a:t>contd</a:t>
            </a:r>
            <a:r>
              <a:rPr lang="en-US" sz="3200"/>
              <a:t>)</a:t>
            </a:r>
          </a:p>
        </p:txBody>
      </p:sp>
    </p:spTree>
    <p:extLst>
      <p:ext uri="{BB962C8B-B14F-4D97-AF65-F5344CB8AC3E}">
        <p14:creationId xmlns:p14="http://schemas.microsoft.com/office/powerpoint/2010/main" val="15725253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8">
            <a:extLst>
              <a:ext uri="{FF2B5EF4-FFF2-40B4-BE49-F238E27FC236}">
                <a16:creationId xmlns:a16="http://schemas.microsoft.com/office/drawing/2014/main" id="{42F1674A-2959-4D20-A400-B3002ECE89BD}"/>
              </a:ext>
            </a:extLst>
          </p:cNvPr>
          <p:cNvGraphicFramePr>
            <a:graphicFrameLocks/>
          </p:cNvGraphicFramePr>
          <p:nvPr>
            <p:extLst>
              <p:ext uri="{D42A27DB-BD31-4B8C-83A1-F6EECF244321}">
                <p14:modId xmlns:p14="http://schemas.microsoft.com/office/powerpoint/2010/main" val="3504251692"/>
              </p:ext>
            </p:extLst>
          </p:nvPr>
        </p:nvGraphicFramePr>
        <p:xfrm>
          <a:off x="1118159" y="1007800"/>
          <a:ext cx="10691219" cy="5787665"/>
        </p:xfrm>
        <a:graphic>
          <a:graphicData uri="http://schemas.openxmlformats.org/drawingml/2006/table">
            <a:tbl>
              <a:tblPr firstRow="1" bandRow="1">
                <a:tableStyleId>{5C22544A-7EE6-4342-B048-85BDC9FD1C3A}</a:tableStyleId>
              </a:tblPr>
              <a:tblGrid>
                <a:gridCol w="1038632">
                  <a:extLst>
                    <a:ext uri="{9D8B030D-6E8A-4147-A177-3AD203B41FA5}">
                      <a16:colId xmlns:a16="http://schemas.microsoft.com/office/drawing/2014/main" val="1804304856"/>
                    </a:ext>
                  </a:extLst>
                </a:gridCol>
                <a:gridCol w="1232585">
                  <a:extLst>
                    <a:ext uri="{9D8B030D-6E8A-4147-A177-3AD203B41FA5}">
                      <a16:colId xmlns:a16="http://schemas.microsoft.com/office/drawing/2014/main" val="3487582892"/>
                    </a:ext>
                  </a:extLst>
                </a:gridCol>
                <a:gridCol w="3560064">
                  <a:extLst>
                    <a:ext uri="{9D8B030D-6E8A-4147-A177-3AD203B41FA5}">
                      <a16:colId xmlns:a16="http://schemas.microsoft.com/office/drawing/2014/main" val="4022828597"/>
                    </a:ext>
                  </a:extLst>
                </a:gridCol>
                <a:gridCol w="3400240">
                  <a:extLst>
                    <a:ext uri="{9D8B030D-6E8A-4147-A177-3AD203B41FA5}">
                      <a16:colId xmlns:a16="http://schemas.microsoft.com/office/drawing/2014/main" val="3430374848"/>
                    </a:ext>
                  </a:extLst>
                </a:gridCol>
                <a:gridCol w="1459698">
                  <a:extLst>
                    <a:ext uri="{9D8B030D-6E8A-4147-A177-3AD203B41FA5}">
                      <a16:colId xmlns:a16="http://schemas.microsoft.com/office/drawing/2014/main" val="3926366452"/>
                    </a:ext>
                  </a:extLst>
                </a:gridCol>
              </a:tblGrid>
              <a:tr h="126056">
                <a:tc>
                  <a:txBody>
                    <a:bodyPr/>
                    <a:lstStyle/>
                    <a:p>
                      <a:pPr algn="ctr"/>
                      <a:r>
                        <a:rPr lang="en-US" sz="1400" i="0"/>
                        <a:t>Week Starting</a:t>
                      </a:r>
                    </a:p>
                  </a:txBody>
                  <a:tcPr anchor="ctr"/>
                </a:tc>
                <a:tc>
                  <a:txBody>
                    <a:bodyPr/>
                    <a:lstStyle/>
                    <a:p>
                      <a:pPr algn="ctr"/>
                      <a:r>
                        <a:rPr lang="en-US" sz="1400" i="0"/>
                        <a:t>Focus Area</a:t>
                      </a:r>
                    </a:p>
                  </a:txBody>
                  <a:tcPr anchor="ctr"/>
                </a:tc>
                <a:tc>
                  <a:txBody>
                    <a:bodyPr/>
                    <a:lstStyle/>
                    <a:p>
                      <a:pPr algn="ctr"/>
                      <a:r>
                        <a:rPr lang="en-US" sz="1400" i="0"/>
                        <a:t>Expected Outcomes</a:t>
                      </a:r>
                    </a:p>
                  </a:txBody>
                  <a:tcPr anchor="ctr"/>
                </a:tc>
                <a:tc>
                  <a:txBody>
                    <a:bodyPr/>
                    <a:lstStyle/>
                    <a:p>
                      <a:pPr algn="ctr"/>
                      <a:r>
                        <a:rPr lang="en-US" sz="1400" i="0"/>
                        <a:t>Attendees</a:t>
                      </a:r>
                    </a:p>
                  </a:txBody>
                  <a:tcPr anchor="ctr"/>
                </a:tc>
                <a:tc>
                  <a:txBody>
                    <a:bodyPr/>
                    <a:lstStyle/>
                    <a:p>
                      <a:pPr algn="ctr"/>
                      <a:r>
                        <a:rPr lang="en-US" sz="1400" i="0"/>
                        <a:t>Est. Duration</a:t>
                      </a:r>
                    </a:p>
                  </a:txBody>
                  <a:tcPr anchor="ctr"/>
                </a:tc>
                <a:extLst>
                  <a:ext uri="{0D108BD9-81ED-4DB2-BD59-A6C34878D82A}">
                    <a16:rowId xmlns:a16="http://schemas.microsoft.com/office/drawing/2014/main" val="3608970412"/>
                  </a:ext>
                </a:extLst>
              </a:tr>
              <a:tr h="594711">
                <a:tc>
                  <a:txBody>
                    <a:bodyPr/>
                    <a:lstStyle/>
                    <a:p>
                      <a:pPr algn="ctr"/>
                      <a:r>
                        <a:rPr lang="en-US" sz="1200" b="1" i="0"/>
                        <a:t>27</a:t>
                      </a:r>
                      <a:r>
                        <a:rPr lang="en-US" sz="1200" b="1" i="0" baseline="30000"/>
                        <a:t>th</a:t>
                      </a:r>
                      <a:r>
                        <a:rPr lang="en-US" sz="1200" b="1" i="0"/>
                        <a:t> March</a:t>
                      </a:r>
                    </a:p>
                  </a:txBody>
                  <a:tcPr marL="45720" marR="45720" marT="27432" marB="27432" anchor="ctr">
                    <a:solidFill>
                      <a:schemeClr val="bg1">
                        <a:lumMod val="95000"/>
                      </a:schemeClr>
                    </a:solidFill>
                  </a:tcPr>
                </a:tc>
                <a:tc>
                  <a:txBody>
                    <a:bodyPr/>
                    <a:lstStyle/>
                    <a:p>
                      <a:pPr algn="ctr"/>
                      <a:r>
                        <a:rPr lang="en-US" sz="1200" i="0"/>
                        <a:t>Soft Kickoff</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Review Short term/long term goals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Scope, timeline, Roles, responsibilities alignment across teams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Align on Agenda for kick-off and participants, schedule kick off</a:t>
                      </a: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Business &amp; IT sponsors</a:t>
                      </a:r>
                    </a:p>
                    <a:p>
                      <a:pPr marL="171450" indent="-171450">
                        <a:buFont typeface="Arial" panose="020B0604020202020204" pitchFamily="34" charset="0"/>
                        <a:buChar char="•"/>
                      </a:pPr>
                      <a:r>
                        <a:rPr lang="en-US" sz="1200" i="0"/>
                        <a:t>Enterprise Architect(s)</a:t>
                      </a:r>
                    </a:p>
                  </a:txBody>
                  <a:tcPr marL="45720" marR="45720" marT="27432" marB="27432" anchor="ctr">
                    <a:solidFill>
                      <a:schemeClr val="bg1">
                        <a:lumMod val="95000"/>
                      </a:schemeClr>
                    </a:solidFill>
                  </a:tcPr>
                </a:tc>
                <a:tc>
                  <a:txBody>
                    <a:bodyPr/>
                    <a:lstStyle/>
                    <a:p>
                      <a:pPr algn="ct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843730546"/>
                  </a:ext>
                </a:extLst>
              </a:tr>
              <a:tr h="594711">
                <a:tc>
                  <a:txBody>
                    <a:bodyPr/>
                    <a:lstStyle/>
                    <a:p>
                      <a:pPr algn="ctr"/>
                      <a:endParaRPr lang="en-US" sz="1200" b="1" i="0"/>
                    </a:p>
                  </a:txBody>
                  <a:tcPr marL="45720" marR="45720" marT="27432" marB="27432" anchor="ctr">
                    <a:solidFill>
                      <a:schemeClr val="bg1">
                        <a:lumMod val="95000"/>
                      </a:schemeClr>
                    </a:solidFill>
                  </a:tcPr>
                </a:tc>
                <a:tc>
                  <a:txBody>
                    <a:bodyPr/>
                    <a:lstStyle/>
                    <a:p>
                      <a:pPr algn="ctr"/>
                      <a:r>
                        <a:rPr lang="en-US" sz="1200" i="0"/>
                        <a:t>Familiarization sessions 1</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t>Understand Current landscape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t>Identify NextGen initiatives and key milestones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i="0"/>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i="0"/>
                        <a:t>Enterprise Architect(s)</a:t>
                      </a:r>
                    </a:p>
                    <a:p>
                      <a:pPr marL="171450" indent="-171450">
                        <a:buFont typeface="Arial"/>
                        <a:buChar char="•"/>
                      </a:pPr>
                      <a:endParaRPr lang="en-US" sz="1200" i="0"/>
                    </a:p>
                  </a:txBody>
                  <a:tcPr marL="45720" marR="45720" marT="27432" marB="27432" anchor="ctr">
                    <a:solidFill>
                      <a:schemeClr val="bg1">
                        <a:lumMod val="95000"/>
                      </a:schemeClr>
                    </a:solidFill>
                  </a:tcPr>
                </a:tc>
                <a:tc>
                  <a:txBody>
                    <a:bodyPr/>
                    <a:lstStyle/>
                    <a:p>
                      <a:pPr algn="ctr"/>
                      <a:r>
                        <a:rPr lang="en-US" sz="1200" b="1" i="0"/>
                        <a:t>4 hours</a:t>
                      </a:r>
                    </a:p>
                  </a:txBody>
                  <a:tcPr marL="45720" marR="45720" marT="27432" marB="27432" anchor="ctr">
                    <a:solidFill>
                      <a:schemeClr val="bg1">
                        <a:lumMod val="95000"/>
                      </a:schemeClr>
                    </a:solidFill>
                  </a:tcPr>
                </a:tc>
                <a:extLst>
                  <a:ext uri="{0D108BD9-81ED-4DB2-BD59-A6C34878D82A}">
                    <a16:rowId xmlns:a16="http://schemas.microsoft.com/office/drawing/2014/main" val="1516700124"/>
                  </a:ext>
                </a:extLst>
              </a:tr>
              <a:tr h="594711">
                <a:tc>
                  <a:txBody>
                    <a:bodyPr/>
                    <a:lstStyle/>
                    <a:p>
                      <a:pPr algn="ctr"/>
                      <a:endParaRPr lang="en-US" sz="1200" b="1" i="0"/>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i="0"/>
                        <a:t>Familiarization sessions 2</a:t>
                      </a:r>
                    </a:p>
                    <a:p>
                      <a:pPr algn="ctr"/>
                      <a:endParaRPr lang="en-US" sz="1200" i="0"/>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t>Finalize the focus areas/priority list for initial weeks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i="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i="0"/>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i="0"/>
                        <a:t>Enterprise Architect(s)</a:t>
                      </a:r>
                    </a:p>
                    <a:p>
                      <a:pPr marL="171450" indent="-171450">
                        <a:buFont typeface="Arial"/>
                        <a:buChar char="•"/>
                      </a:pPr>
                      <a:endParaRPr lang="en-US" sz="1200" i="0"/>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p>
                      <a:pPr algn="ctr"/>
                      <a:endParaRPr lang="en-US" sz="1200" b="1" i="0"/>
                    </a:p>
                  </a:txBody>
                  <a:tcPr marL="45720" marR="45720" marT="27432" marB="27432" anchor="ctr">
                    <a:solidFill>
                      <a:schemeClr val="bg1">
                        <a:lumMod val="95000"/>
                      </a:schemeClr>
                    </a:solidFill>
                  </a:tcPr>
                </a:tc>
                <a:extLst>
                  <a:ext uri="{0D108BD9-81ED-4DB2-BD59-A6C34878D82A}">
                    <a16:rowId xmlns:a16="http://schemas.microsoft.com/office/drawing/2014/main" val="411454459"/>
                  </a:ext>
                </a:extLst>
              </a:tr>
              <a:tr h="594711">
                <a:tc>
                  <a:txBody>
                    <a:bodyPr/>
                    <a:lstStyle/>
                    <a:p>
                      <a:pPr algn="ctr"/>
                      <a:endParaRPr lang="en-US" sz="1200" b="1" i="0"/>
                    </a:p>
                  </a:txBody>
                  <a:tcPr marL="45720" marR="45720" marT="27432" marB="27432" anchor="ctr">
                    <a:solidFill>
                      <a:schemeClr val="bg1">
                        <a:lumMod val="95000"/>
                      </a:schemeClr>
                    </a:solidFill>
                  </a:tcPr>
                </a:tc>
                <a:tc>
                  <a:txBody>
                    <a:bodyPr/>
                    <a:lstStyle/>
                    <a:p>
                      <a:pPr algn="ctr"/>
                      <a:r>
                        <a:rPr lang="en-US" sz="1200" i="0"/>
                        <a:t>Kick off Prep</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t>Review the kick-off and alignment with core team before the actual kick-off</a:t>
                      </a: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Business &amp; IT sponsors</a:t>
                      </a:r>
                    </a:p>
                    <a:p>
                      <a:pPr marL="171450" indent="-171450">
                        <a:buFont typeface="Arial" panose="020B0604020202020204" pitchFamily="34" charset="0"/>
                        <a:buChar char="•"/>
                      </a:pPr>
                      <a:r>
                        <a:rPr lang="en-US" sz="1200" i="0"/>
                        <a:t>Enterprise Architect(s)</a:t>
                      </a:r>
                    </a:p>
                  </a:txBody>
                  <a:tcPr marL="45720" marR="45720" marT="27432" marB="27432" anchor="ctr">
                    <a:solidFill>
                      <a:schemeClr val="bg1">
                        <a:lumMod val="95000"/>
                      </a:schemeClr>
                    </a:solidFill>
                  </a:tcPr>
                </a:tc>
                <a:tc>
                  <a:txBody>
                    <a:bodyPr/>
                    <a:lstStyle/>
                    <a:p>
                      <a:pPr algn="ct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3404572099"/>
                  </a:ext>
                </a:extLst>
              </a:tr>
              <a:tr h="764629">
                <a:tc>
                  <a:txBody>
                    <a:bodyPr/>
                    <a:lstStyle/>
                    <a:p>
                      <a:pPr algn="ctr"/>
                      <a:r>
                        <a:rPr lang="en-US" sz="1200" b="1" i="0"/>
                        <a:t>3</a:t>
                      </a:r>
                      <a:r>
                        <a:rPr lang="en-US" sz="1200" b="1" i="0" baseline="30000"/>
                        <a:t>rd</a:t>
                      </a:r>
                      <a:r>
                        <a:rPr lang="en-US" sz="1200" b="1" i="0"/>
                        <a:t> April</a:t>
                      </a:r>
                    </a:p>
                  </a:txBody>
                  <a:tcPr marL="45720" marR="45720" marT="27432" marB="27432" anchor="ctr">
                    <a:solidFill>
                      <a:schemeClr val="bg1">
                        <a:lumMod val="95000"/>
                      </a:schemeClr>
                    </a:solidFill>
                  </a:tcPr>
                </a:tc>
                <a:tc>
                  <a:txBody>
                    <a:bodyPr/>
                    <a:lstStyle/>
                    <a:p>
                      <a:pPr algn="ctr"/>
                      <a:r>
                        <a:rPr lang="en-US" sz="1200" i="0"/>
                        <a:t>Kick Off</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Review Short term/long term goals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Scope, timeline, Roles, responsibilities alignment across teams </a:t>
                      </a:r>
                    </a:p>
                    <a:p>
                      <a:pPr marL="285750" indent="-285750">
                        <a:buFont typeface="Arial" panose="020B0604020202020204" pitchFamily="34" charset="0"/>
                        <a:buChar char="•"/>
                      </a:pPr>
                      <a:endParaRPr lang="en-US" sz="1200"/>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Business Sponsors</a:t>
                      </a:r>
                    </a:p>
                    <a:p>
                      <a:pPr marL="171450" indent="-171450">
                        <a:buFont typeface="Arial" panose="020B0604020202020204" pitchFamily="34" charset="0"/>
                        <a:buChar char="•"/>
                      </a:pPr>
                      <a:r>
                        <a:rPr lang="en-US" sz="1200" i="0"/>
                        <a:t>DT &amp; FD Core Business and Project Team: IT, Data Governance, Enterprise Architects, Solution Architects</a:t>
                      </a:r>
                    </a:p>
                    <a:p>
                      <a:pPr marL="171450" indent="-171450">
                        <a:buFont typeface="Arial" panose="020B0604020202020204" pitchFamily="34" charset="0"/>
                        <a:buChar char="•"/>
                      </a:pPr>
                      <a:endParaRPr lang="en-US" sz="1200" i="0"/>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836545424"/>
                  </a:ext>
                </a:extLst>
              </a:tr>
              <a:tr h="764629">
                <a:tc>
                  <a:txBody>
                    <a:bodyPr/>
                    <a:lstStyle/>
                    <a:p>
                      <a:pPr algn="ctr"/>
                      <a:endParaRPr lang="en-US" sz="1200" b="1" i="0"/>
                    </a:p>
                  </a:txBody>
                  <a:tcPr marL="45720" marR="45720" marT="27432" marB="27432" anchor="ctr">
                    <a:solidFill>
                      <a:schemeClr val="bg1">
                        <a:lumMod val="95000"/>
                      </a:schemeClr>
                    </a:solidFill>
                  </a:tcPr>
                </a:tc>
                <a:tc>
                  <a:txBody>
                    <a:bodyPr/>
                    <a:lstStyle/>
                    <a:p>
                      <a:pPr algn="ctr"/>
                      <a:r>
                        <a:rPr lang="en-US" sz="1200" i="0"/>
                        <a:t>Finalize Tools</a:t>
                      </a:r>
                    </a:p>
                    <a:p>
                      <a:pPr algn="ctr"/>
                      <a:r>
                        <a:rPr lang="en-US" sz="1200" i="0"/>
                        <a:t>Session 1</a:t>
                      </a:r>
                    </a:p>
                  </a:txBody>
                  <a:tcPr marL="45720" marR="45720" marT="27432" marB="27432" anchor="ctr">
                    <a:solidFill>
                      <a:schemeClr val="bg1">
                        <a:lumMod val="95000"/>
                      </a:schemeClr>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t>Discuss CICD tooling options  and finalize</a:t>
                      </a:r>
                    </a:p>
                    <a:p>
                      <a:pPr marL="285750" indent="-285750">
                        <a:buFont typeface="Arial" panose="020B0604020202020204" pitchFamily="34" charset="0"/>
                        <a:buChar char="•"/>
                      </a:pPr>
                      <a:endParaRPr lang="en-US" sz="1200"/>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Enterprise Architects, Solution Architects</a:t>
                      </a:r>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1366457297"/>
                  </a:ext>
                </a:extLst>
              </a:tr>
              <a:tr h="764629">
                <a:tc>
                  <a:txBody>
                    <a:bodyPr/>
                    <a:lstStyle/>
                    <a:p>
                      <a:pPr algn="ctr"/>
                      <a:endParaRPr lang="en-US" sz="1200" b="1" i="0"/>
                    </a:p>
                  </a:txBody>
                  <a:tcPr marL="45720" marR="45720" marT="27432" marB="27432" anchor="ctr">
                    <a:solidFill>
                      <a:schemeClr val="bg1">
                        <a:lumMod val="95000"/>
                      </a:schemeClr>
                    </a:solidFill>
                  </a:tcPr>
                </a:tc>
                <a:tc>
                  <a:txBody>
                    <a:bodyPr/>
                    <a:lstStyle/>
                    <a:p>
                      <a:pPr algn="ctr"/>
                      <a:r>
                        <a:rPr lang="en-US" sz="1200" i="0"/>
                        <a:t>Finalize Tools</a:t>
                      </a:r>
                    </a:p>
                    <a:p>
                      <a:pPr algn="ctr"/>
                      <a:r>
                        <a:rPr lang="en-US" sz="1200" i="0"/>
                        <a:t>Session 2</a:t>
                      </a:r>
                    </a:p>
                  </a:txBody>
                  <a:tcPr marL="45720" marR="45720" marT="27432" marB="27432" anchor="ctr">
                    <a:solidFill>
                      <a:schemeClr val="bg1">
                        <a:lumMod val="95000"/>
                      </a:schemeClr>
                    </a:solidFill>
                  </a:tcPr>
                </a:tc>
                <a:tc>
                  <a:txBody>
                    <a:bodyPr/>
                    <a:lstStyle/>
                    <a:p>
                      <a:pPr marL="285750" indent="-285750">
                        <a:buFont typeface="Arial" panose="020B0604020202020204" pitchFamily="34" charset="0"/>
                        <a:buChar char="•"/>
                      </a:pPr>
                      <a:r>
                        <a:rPr lang="en-US" sz="1200"/>
                        <a:t>Finalize QA tracking and automation tools</a:t>
                      </a: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QA team</a:t>
                      </a:r>
                    </a:p>
                    <a:p>
                      <a:pPr marL="171450" indent="-171450">
                        <a:buFont typeface="Arial" panose="020B0604020202020204" pitchFamily="34" charset="0"/>
                        <a:buChar char="•"/>
                      </a:pPr>
                      <a:r>
                        <a:rPr lang="en-US" sz="1200" i="0"/>
                        <a:t>DT &amp; FD NextGen POC</a:t>
                      </a:r>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3447065138"/>
                  </a:ext>
                </a:extLst>
              </a:tr>
            </a:tbl>
          </a:graphicData>
        </a:graphic>
      </p:graphicFrame>
      <p:sp>
        <p:nvSpPr>
          <p:cNvPr id="4" name="Title 1">
            <a:extLst>
              <a:ext uri="{FF2B5EF4-FFF2-40B4-BE49-F238E27FC236}">
                <a16:creationId xmlns:a16="http://schemas.microsoft.com/office/drawing/2014/main" id="{ADDA8B19-ECCE-4671-9664-F071F2CE9334}"/>
              </a:ext>
            </a:extLst>
          </p:cNvPr>
          <p:cNvSpPr txBox="1">
            <a:spLocks/>
          </p:cNvSpPr>
          <p:nvPr/>
        </p:nvSpPr>
        <p:spPr>
          <a:xfrm>
            <a:off x="1118158" y="353568"/>
            <a:ext cx="10634753" cy="4876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Sessions Planned</a:t>
            </a:r>
          </a:p>
        </p:txBody>
      </p:sp>
    </p:spTree>
    <p:extLst>
      <p:ext uri="{BB962C8B-B14F-4D97-AF65-F5344CB8AC3E}">
        <p14:creationId xmlns:p14="http://schemas.microsoft.com/office/powerpoint/2010/main" val="34699775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7C5A4-F4CB-44A0-8975-9D6EC7C2A23F}"/>
              </a:ext>
            </a:extLst>
          </p:cNvPr>
          <p:cNvSpPr>
            <a:spLocks noGrp="1"/>
          </p:cNvSpPr>
          <p:nvPr>
            <p:ph type="title"/>
          </p:nvPr>
        </p:nvSpPr>
        <p:spPr>
          <a:xfrm>
            <a:off x="368744" y="-83604"/>
            <a:ext cx="11353800" cy="1325563"/>
          </a:xfrm>
        </p:spPr>
        <p:txBody>
          <a:bodyPr>
            <a:normAutofit/>
          </a:bodyPr>
          <a:lstStyle/>
          <a:p>
            <a:pPr>
              <a:spcBef>
                <a:spcPts val="0"/>
              </a:spcBef>
            </a:pPr>
            <a:r>
              <a:rPr lang="en-US" sz="3200"/>
              <a:t>Detailed Timelines, Activities and Milestones : ESL-ATS</a:t>
            </a:r>
          </a:p>
        </p:txBody>
      </p:sp>
      <p:grpSp>
        <p:nvGrpSpPr>
          <p:cNvPr id="3" name="Group 2">
            <a:extLst>
              <a:ext uri="{FF2B5EF4-FFF2-40B4-BE49-F238E27FC236}">
                <a16:creationId xmlns:a16="http://schemas.microsoft.com/office/drawing/2014/main" id="{194C09EE-B3E5-47D4-BC7E-1DD5B699F1AE}"/>
              </a:ext>
            </a:extLst>
          </p:cNvPr>
          <p:cNvGrpSpPr/>
          <p:nvPr/>
        </p:nvGrpSpPr>
        <p:grpSpPr>
          <a:xfrm>
            <a:off x="1032641" y="2154527"/>
            <a:ext cx="10601072" cy="4284367"/>
            <a:chOff x="8255265" y="2707961"/>
            <a:chExt cx="9928390" cy="4722410"/>
          </a:xfrm>
        </p:grpSpPr>
        <p:sp>
          <p:nvSpPr>
            <p:cNvPr id="73" name="Rectangle 72">
              <a:extLst>
                <a:ext uri="{FF2B5EF4-FFF2-40B4-BE49-F238E27FC236}">
                  <a16:creationId xmlns:a16="http://schemas.microsoft.com/office/drawing/2014/main" id="{B3D53195-F5F4-E012-A5BB-4A7443262E7E}"/>
                </a:ext>
              </a:extLst>
            </p:cNvPr>
            <p:cNvSpPr/>
            <p:nvPr/>
          </p:nvSpPr>
          <p:spPr>
            <a:xfrm>
              <a:off x="9758116" y="3301524"/>
              <a:ext cx="1523189" cy="3017607"/>
            </a:xfrm>
            <a:prstGeom prst="rect">
              <a:avLst/>
            </a:prstGeom>
            <a:solidFill>
              <a:schemeClr val="bg1">
                <a:lumMod val="95000"/>
              </a:schemeClr>
            </a:solidFill>
            <a:ln w="19050">
              <a:solidFill>
                <a:srgbClr val="FFFFFF">
                  <a:lumMod val="95000"/>
                </a:srgbClr>
              </a:solidFill>
            </a:ln>
          </p:spPr>
          <p:txBody>
            <a:bodyPr wrap="square" lIns="45720" tIns="45720" rIns="45720" bIns="45720">
              <a:noAutofit/>
            </a:bodyPr>
            <a:lstStyle/>
            <a:p>
              <a:pPr marL="171450" indent="-171450">
                <a:spcAft>
                  <a:spcPts val="300"/>
                </a:spcAft>
                <a:buFont typeface="Arial" panose="020B0604020202020204" pitchFamily="34" charset="0"/>
                <a:buChar char="•"/>
                <a:defRPr/>
              </a:pPr>
              <a:r>
                <a:rPr lang="en-US" sz="1000" kern="0">
                  <a:solidFill>
                    <a:srgbClr val="000000"/>
                  </a:solidFill>
                  <a:latin typeface="Open Sans"/>
                </a:rPr>
                <a:t>Review Architecture with Key Stakeholders</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Finalize Development &amp; Test Architecture Design</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Configure OCI Tenancy</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Implement Identity and Access Management</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Configure Network Connectivity</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Validate OCI Tenancy </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Infrastructure and PaaS Security Controls </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Deliverables signoff </a:t>
              </a:r>
            </a:p>
          </p:txBody>
        </p:sp>
        <p:sp>
          <p:nvSpPr>
            <p:cNvPr id="78" name="Pentagon 195">
              <a:extLst>
                <a:ext uri="{FF2B5EF4-FFF2-40B4-BE49-F238E27FC236}">
                  <a16:creationId xmlns:a16="http://schemas.microsoft.com/office/drawing/2014/main" id="{DD39690C-101C-1635-33AE-E681BB4CE1B4}"/>
                </a:ext>
              </a:extLst>
            </p:cNvPr>
            <p:cNvSpPr>
              <a:spLocks/>
            </p:cNvSpPr>
            <p:nvPr/>
          </p:nvSpPr>
          <p:spPr>
            <a:xfrm>
              <a:off x="8288400" y="3308725"/>
              <a:ext cx="1436582" cy="2999222"/>
            </a:xfrm>
            <a:prstGeom prst="rect">
              <a:avLst/>
            </a:prstGeom>
            <a:solidFill>
              <a:schemeClr val="bg1">
                <a:lumMod val="95000"/>
              </a:schemeClr>
            </a:solidFill>
            <a:ln w="19050" cap="flat" cmpd="sng" algn="ctr">
              <a:solidFill>
                <a:srgbClr val="FFFFFF">
                  <a:lumMod val="95000"/>
                </a:srgbClr>
              </a:solidFill>
              <a:prstDash val="solid"/>
              <a:miter lim="800000"/>
            </a:ln>
            <a:effectLst/>
          </p:spPr>
          <p:txBody>
            <a:bodyPr lIns="45720" tIns="45720" rIns="45720" bIns="45720" rtlCol="0" anchor="t"/>
            <a:lstStyle/>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Analyze Future State Architecture</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Network Design</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Draft Proposed Architecture </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Backup &amp; Recovery/DR Strategy</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Requirements for Identity and Access Management </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Review monitoring and audit requirements</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Cyber security gaps and requirements</a:t>
              </a:r>
            </a:p>
            <a:p>
              <a:pPr marL="171450" marR="0" indent="-171450" fontAlgn="auto">
                <a:spcAft>
                  <a:spcPts val="300"/>
                </a:spcAft>
                <a:buClrTx/>
                <a:buSzTx/>
                <a:buFont typeface="Arial" panose="020B0604020202020204" pitchFamily="34" charset="0"/>
                <a:buChar char="•"/>
                <a:tabLst/>
                <a:defRPr/>
              </a:pPr>
              <a:endParaRPr lang="en-US" sz="1000" kern="0">
                <a:solidFill>
                  <a:srgbClr val="000000"/>
                </a:solidFill>
                <a:latin typeface="Open Sans"/>
              </a:endParaRPr>
            </a:p>
          </p:txBody>
        </p:sp>
        <p:sp>
          <p:nvSpPr>
            <p:cNvPr id="81" name="Pentagon 194">
              <a:extLst>
                <a:ext uri="{FF2B5EF4-FFF2-40B4-BE49-F238E27FC236}">
                  <a16:creationId xmlns:a16="http://schemas.microsoft.com/office/drawing/2014/main" id="{28851616-35EF-AB08-6023-16345BAD0480}"/>
                </a:ext>
              </a:extLst>
            </p:cNvPr>
            <p:cNvSpPr>
              <a:spLocks/>
            </p:cNvSpPr>
            <p:nvPr/>
          </p:nvSpPr>
          <p:spPr>
            <a:xfrm>
              <a:off x="8255266" y="3115765"/>
              <a:ext cx="1469715" cy="214376"/>
            </a:xfrm>
            <a:prstGeom prst="homePlate">
              <a:avLst/>
            </a:prstGeom>
            <a:solidFill>
              <a:srgbClr val="046A3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latin typeface="Open Sans"/>
                  <a:ea typeface="+mn-ea"/>
                  <a:cs typeface="Open Sans"/>
                </a:rPr>
                <a:t>Discover and Analyze</a:t>
              </a:r>
            </a:p>
          </p:txBody>
        </p:sp>
        <p:sp>
          <p:nvSpPr>
            <p:cNvPr id="82" name="Pentagon 194">
              <a:extLst>
                <a:ext uri="{FF2B5EF4-FFF2-40B4-BE49-F238E27FC236}">
                  <a16:creationId xmlns:a16="http://schemas.microsoft.com/office/drawing/2014/main" id="{BC35E0E3-16FA-687F-9348-7EA71724ABDF}"/>
                </a:ext>
              </a:extLst>
            </p:cNvPr>
            <p:cNvSpPr>
              <a:spLocks/>
            </p:cNvSpPr>
            <p:nvPr/>
          </p:nvSpPr>
          <p:spPr>
            <a:xfrm>
              <a:off x="9758116" y="3125467"/>
              <a:ext cx="1523189" cy="190206"/>
            </a:xfrm>
            <a:prstGeom prst="homePlate">
              <a:avLst/>
            </a:prstGeom>
            <a:solidFill>
              <a:srgbClr val="43B02A"/>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latin typeface="Open Sans"/>
                  <a:ea typeface="+mn-ea"/>
                  <a:cs typeface="Open Sans"/>
                </a:rPr>
                <a:t>Design</a:t>
              </a:r>
            </a:p>
          </p:txBody>
        </p:sp>
        <p:sp>
          <p:nvSpPr>
            <p:cNvPr id="117" name="Rectangle 116">
              <a:extLst>
                <a:ext uri="{FF2B5EF4-FFF2-40B4-BE49-F238E27FC236}">
                  <a16:creationId xmlns:a16="http://schemas.microsoft.com/office/drawing/2014/main" id="{E1814EC1-BC88-A235-29CC-4066DF385744}"/>
                </a:ext>
              </a:extLst>
            </p:cNvPr>
            <p:cNvSpPr/>
            <p:nvPr/>
          </p:nvSpPr>
          <p:spPr>
            <a:xfrm>
              <a:off x="14424884" y="6382578"/>
              <a:ext cx="2477311" cy="1045810"/>
            </a:xfrm>
            <a:prstGeom prst="rect">
              <a:avLst/>
            </a:prstGeom>
            <a:solidFill>
              <a:schemeClr val="bg1">
                <a:lumMod val="95000"/>
              </a:schemeClr>
            </a:solidFill>
            <a:ln w="19050">
              <a:solidFill>
                <a:srgbClr val="FFFFFF">
                  <a:lumMod val="95000"/>
                </a:srgbClr>
              </a:solidFill>
            </a:ln>
          </p:spPr>
          <p:txBody>
            <a:bodyPr wrap="square" tIns="45720" rIns="91440" bIns="45720">
              <a:noAutofit/>
            </a:bodyPr>
            <a:lstStyle/>
            <a:p>
              <a:pPr>
                <a:spcAft>
                  <a:spcPts val="300"/>
                </a:spcAft>
              </a:pPr>
              <a:r>
                <a:rPr lang="en-US" sz="900" b="1" kern="0">
                  <a:solidFill>
                    <a:srgbClr val="000000"/>
                  </a:solidFill>
                  <a:latin typeface="Open Sans"/>
                </a:rPr>
                <a:t>Build Production</a:t>
              </a:r>
            </a:p>
            <a:p>
              <a:pPr marL="171450" indent="-171450">
                <a:spcAft>
                  <a:spcPts val="300"/>
                </a:spcAft>
                <a:buFont typeface="Arial" panose="020B0604020202020204" pitchFamily="34" charset="0"/>
                <a:buChar char="•"/>
              </a:pPr>
              <a:r>
                <a:rPr lang="en-US" sz="900" kern="0">
                  <a:solidFill>
                    <a:srgbClr val="000000"/>
                  </a:solidFill>
                  <a:latin typeface="Open Sans"/>
                </a:rPr>
                <a:t>Deploy Platform Services (PaaS)</a:t>
              </a:r>
            </a:p>
            <a:p>
              <a:pPr marL="171450" indent="-171450">
                <a:spcAft>
                  <a:spcPts val="300"/>
                </a:spcAft>
                <a:buFont typeface="Arial" panose="020B0604020202020204" pitchFamily="34" charset="0"/>
                <a:buChar char="•"/>
              </a:pPr>
              <a:r>
                <a:rPr lang="en-US" sz="900" kern="0">
                  <a:solidFill>
                    <a:srgbClr val="000000"/>
                  </a:solidFill>
                  <a:latin typeface="Open Sans"/>
                </a:rPr>
                <a:t>Secure Infrastructure &amp; PaaS services</a:t>
              </a:r>
            </a:p>
            <a:p>
              <a:pPr marL="171450" indent="-171450">
                <a:spcAft>
                  <a:spcPts val="300"/>
                </a:spcAft>
                <a:buFont typeface="Arial" panose="020B0604020202020204" pitchFamily="34" charset="0"/>
                <a:buChar char="•"/>
              </a:pPr>
              <a:r>
                <a:rPr lang="en-US" sz="900" kern="0">
                  <a:solidFill>
                    <a:srgbClr val="000000"/>
                  </a:solidFill>
                  <a:latin typeface="Open Sans"/>
                </a:rPr>
                <a:t>Environment Validation</a:t>
              </a:r>
            </a:p>
            <a:p>
              <a:pPr marL="171450" indent="-171450">
                <a:spcAft>
                  <a:spcPts val="300"/>
                </a:spcAft>
                <a:buFont typeface="Arial" panose="020B0604020202020204" pitchFamily="34" charset="0"/>
                <a:buChar char="•"/>
              </a:pPr>
              <a:r>
                <a:rPr lang="en-US" sz="900" kern="0">
                  <a:solidFill>
                    <a:srgbClr val="000000"/>
                  </a:solidFill>
                  <a:latin typeface="Open Sans"/>
                </a:rPr>
                <a:t>Setup Backups, Monitoring &amp; Auditing</a:t>
              </a:r>
            </a:p>
          </p:txBody>
        </p:sp>
        <p:sp>
          <p:nvSpPr>
            <p:cNvPr id="119" name="Rectangle 118">
              <a:extLst>
                <a:ext uri="{FF2B5EF4-FFF2-40B4-BE49-F238E27FC236}">
                  <a16:creationId xmlns:a16="http://schemas.microsoft.com/office/drawing/2014/main" id="{4DDB2A28-EBA0-559D-EB96-89844332E5F2}"/>
                </a:ext>
              </a:extLst>
            </p:cNvPr>
            <p:cNvSpPr/>
            <p:nvPr/>
          </p:nvSpPr>
          <p:spPr>
            <a:xfrm>
              <a:off x="14424886" y="3299966"/>
              <a:ext cx="1593240" cy="3019165"/>
            </a:xfrm>
            <a:prstGeom prst="rect">
              <a:avLst/>
            </a:prstGeom>
            <a:solidFill>
              <a:schemeClr val="bg1">
                <a:lumMod val="95000"/>
              </a:schemeClr>
            </a:solidFill>
            <a:ln w="19050">
              <a:solidFill>
                <a:srgbClr val="FFFFFF">
                  <a:lumMod val="95000"/>
                </a:srgbClr>
              </a:solidFill>
            </a:ln>
          </p:spPr>
          <p:txBody>
            <a:bodyPr wrap="square" lIns="45720" tIns="45720" rIns="45720" bIns="45720">
              <a:noAutofit/>
            </a:bodyPr>
            <a:lstStyle/>
            <a:p>
              <a:pPr marL="171450" marR="0" indent="-171450" fontAlgn="auto">
                <a:spcAft>
                  <a:spcPts val="300"/>
                </a:spcAft>
                <a:buClrTx/>
                <a:buSzTx/>
                <a:buFont typeface="Arial" panose="020B0604020202020204" pitchFamily="34" charset="0"/>
                <a:buChar char="•"/>
                <a:tabLst/>
                <a:defRPr/>
              </a:pPr>
              <a:r>
                <a:rPr lang="en-US" sz="1000" b="1" kern="0">
                  <a:solidFill>
                    <a:srgbClr val="000000"/>
                  </a:solidFill>
                  <a:latin typeface="Open Sans"/>
                </a:rPr>
                <a:t>Capture Sizing inputs</a:t>
              </a:r>
            </a:p>
            <a:p>
              <a:pPr marL="171450" marR="0" indent="-171450" fontAlgn="auto">
                <a:spcAft>
                  <a:spcPts val="300"/>
                </a:spcAft>
                <a:buClrTx/>
                <a:buSzTx/>
                <a:buFont typeface="Arial" panose="020B0604020202020204" pitchFamily="34" charset="0"/>
                <a:buChar char="•"/>
                <a:tabLst/>
                <a:defRPr/>
              </a:pPr>
              <a:r>
                <a:rPr lang="en-US" sz="1000" b="1" kern="0">
                  <a:solidFill>
                    <a:srgbClr val="000000"/>
                  </a:solidFill>
                  <a:latin typeface="Open Sans"/>
                </a:rPr>
                <a:t>Finalize Production Configuration</a:t>
              </a:r>
            </a:p>
            <a:p>
              <a:pPr marL="171450" indent="-171450" fontAlgn="auto">
                <a:spcAft>
                  <a:spcPts val="300"/>
                </a:spcAft>
                <a:buFont typeface="Arial" panose="020B0604020202020204" pitchFamily="34" charset="0"/>
                <a:buChar char="•"/>
                <a:defRPr/>
              </a:pPr>
              <a:r>
                <a:rPr lang="en-US" sz="1000" b="1" kern="0">
                  <a:solidFill>
                    <a:srgbClr val="000000"/>
                  </a:solidFill>
                  <a:latin typeface="Open Sans"/>
                </a:rPr>
                <a:t>Size Production</a:t>
              </a:r>
            </a:p>
            <a:p>
              <a:pPr marL="171450" marR="0" indent="-171450" fontAlgn="auto">
                <a:spcAft>
                  <a:spcPts val="300"/>
                </a:spcAft>
                <a:buClrTx/>
                <a:buSzTx/>
                <a:buFont typeface="Arial" panose="020B0604020202020204" pitchFamily="34" charset="0"/>
                <a:buChar char="•"/>
                <a:tabLst/>
                <a:defRPr/>
              </a:pPr>
              <a:r>
                <a:rPr lang="en-US" sz="1000" b="1" kern="0">
                  <a:solidFill>
                    <a:srgbClr val="000000"/>
                  </a:solidFill>
                  <a:latin typeface="Open Sans"/>
                </a:rPr>
                <a:t>Finalize Production Architecture Design</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Review Infrastructure &amp; PaaS Security </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Deliverables signoff </a:t>
              </a:r>
            </a:p>
          </p:txBody>
        </p:sp>
        <p:sp>
          <p:nvSpPr>
            <p:cNvPr id="120" name="Pentagon 194">
              <a:extLst>
                <a:ext uri="{FF2B5EF4-FFF2-40B4-BE49-F238E27FC236}">
                  <a16:creationId xmlns:a16="http://schemas.microsoft.com/office/drawing/2014/main" id="{2BA13824-9B6E-072E-2977-AAA21F04AFC0}"/>
                </a:ext>
              </a:extLst>
            </p:cNvPr>
            <p:cNvSpPr>
              <a:spLocks/>
            </p:cNvSpPr>
            <p:nvPr/>
          </p:nvSpPr>
          <p:spPr>
            <a:xfrm>
              <a:off x="14424886" y="3113275"/>
              <a:ext cx="1593240" cy="202366"/>
            </a:xfrm>
            <a:prstGeom prst="homePlate">
              <a:avLst/>
            </a:prstGeom>
            <a:solidFill>
              <a:srgbClr val="43B02A"/>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latin typeface="Open Sans"/>
                  <a:ea typeface="+mn-ea"/>
                  <a:cs typeface="Open Sans"/>
                </a:rPr>
                <a:t>Analyze &amp; Design</a:t>
              </a:r>
            </a:p>
          </p:txBody>
        </p:sp>
        <p:sp>
          <p:nvSpPr>
            <p:cNvPr id="134" name="Pentagon 194">
              <a:extLst>
                <a:ext uri="{FF2B5EF4-FFF2-40B4-BE49-F238E27FC236}">
                  <a16:creationId xmlns:a16="http://schemas.microsoft.com/office/drawing/2014/main" id="{4075FD52-2F2D-366F-3F9F-F2A920FC609B}"/>
                </a:ext>
              </a:extLst>
            </p:cNvPr>
            <p:cNvSpPr>
              <a:spLocks/>
            </p:cNvSpPr>
            <p:nvPr/>
          </p:nvSpPr>
          <p:spPr>
            <a:xfrm>
              <a:off x="8255265" y="2707961"/>
              <a:ext cx="3026038" cy="352762"/>
            </a:xfrm>
            <a:prstGeom prst="homePlate">
              <a:avLst/>
            </a:prstGeom>
            <a:solidFill>
              <a:schemeClr val="bg1">
                <a:lumMod val="75000"/>
              </a:schemeClr>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Stage 1 Development &amp; </a:t>
              </a:r>
              <a:r>
                <a:rPr kumimoji="0" lang="en-US" sz="1000" b="1" i="0" u="none" strike="noStrike" kern="0" cap="none" spc="0" normalizeH="0" baseline="0" noProof="0" err="1">
                  <a:ln>
                    <a:noFill/>
                  </a:ln>
                  <a:solidFill>
                    <a:srgbClr val="000000"/>
                  </a:solidFill>
                  <a:effectLst/>
                  <a:uLnTx/>
                  <a:uFillTx/>
                  <a:latin typeface="Open Sans"/>
                  <a:ea typeface="+mn-ea"/>
                  <a:cs typeface="Open Sans"/>
                </a:rPr>
                <a:t>Tes</a:t>
              </a:r>
              <a:r>
                <a:rPr lang="en-US" sz="1000" b="1" kern="0">
                  <a:solidFill>
                    <a:srgbClr val="000000"/>
                  </a:solidFill>
                  <a:latin typeface="Open Sans"/>
                  <a:cs typeface="Open Sans"/>
                </a:rPr>
                <a:t>t</a:t>
              </a:r>
              <a:endParaRPr kumimoji="0" lang="en-US" sz="1000" b="1" i="0" u="none" strike="noStrike" kern="0" cap="none" spc="0" normalizeH="0" baseline="0" noProof="0">
                <a:ln>
                  <a:noFill/>
                </a:ln>
                <a:solidFill>
                  <a:srgbClr val="000000"/>
                </a:solidFill>
                <a:effectLst/>
                <a:uLnTx/>
                <a:uFillTx/>
                <a:latin typeface="Open Sans"/>
                <a:ea typeface="+mn-ea"/>
                <a:cs typeface="Open Sans"/>
              </a:endParaRPr>
            </a:p>
          </p:txBody>
        </p:sp>
        <p:sp>
          <p:nvSpPr>
            <p:cNvPr id="135" name="Pentagon 194">
              <a:extLst>
                <a:ext uri="{FF2B5EF4-FFF2-40B4-BE49-F238E27FC236}">
                  <a16:creationId xmlns:a16="http://schemas.microsoft.com/office/drawing/2014/main" id="{998DD630-6D0A-7A0E-6264-C3685303A6A2}"/>
                </a:ext>
              </a:extLst>
            </p:cNvPr>
            <p:cNvSpPr>
              <a:spLocks/>
            </p:cNvSpPr>
            <p:nvPr/>
          </p:nvSpPr>
          <p:spPr>
            <a:xfrm>
              <a:off x="14424885" y="2707961"/>
              <a:ext cx="1593241" cy="352301"/>
            </a:xfrm>
            <a:prstGeom prst="homePlate">
              <a:avLst/>
            </a:prstGeom>
            <a:solidFill>
              <a:schemeClr val="bg1">
                <a:lumMod val="75000"/>
              </a:schemeClr>
            </a:solidFill>
            <a:ln w="19050" cap="flat" cmpd="sng" algn="ctr">
              <a:solidFill>
                <a:srgbClr val="FFFFFF">
                  <a:lumMod val="95000"/>
                </a:srgbClr>
              </a:solidFill>
              <a:prstDash val="solid"/>
              <a:miter lim="800000"/>
            </a:ln>
            <a:effectLst/>
          </p:spPr>
          <p:txBody>
            <a:bodyPr tIns="0" rIns="0" bIns="0" rtlCol="0" anchor="ctr"/>
            <a:lstStyle/>
            <a:p>
              <a:pPr fontAlgn="auto">
                <a:spcBef>
                  <a:spcPts val="0"/>
                </a:spcBef>
                <a:spcAft>
                  <a:spcPts val="0"/>
                </a:spcAft>
              </a:pPr>
              <a:r>
                <a:rPr lang="en-US" sz="900" b="1" kern="0">
                  <a:solidFill>
                    <a:srgbClr val="000000"/>
                  </a:solidFill>
                  <a:latin typeface="Open Sans"/>
                  <a:ea typeface="+mn-ea"/>
                  <a:cs typeface="Open Sans"/>
                </a:rPr>
                <a:t>Stage 2 (Production)</a:t>
              </a:r>
            </a:p>
            <a:p>
              <a:pPr fontAlgn="auto">
                <a:spcBef>
                  <a:spcPts val="0"/>
                </a:spcBef>
                <a:spcAft>
                  <a:spcPts val="0"/>
                </a:spcAft>
              </a:pPr>
              <a:r>
                <a:rPr lang="en-US" sz="900" b="1" kern="0">
                  <a:solidFill>
                    <a:srgbClr val="000000"/>
                  </a:solidFill>
                  <a:latin typeface="Open Sans"/>
                  <a:cs typeface="Open Sans"/>
                </a:rPr>
                <a:t>Compartment</a:t>
              </a:r>
              <a:endParaRPr lang="en-US" sz="900" b="1" kern="0">
                <a:solidFill>
                  <a:srgbClr val="000000"/>
                </a:solidFill>
                <a:latin typeface="Open Sans"/>
                <a:ea typeface="+mn-ea"/>
                <a:cs typeface="Open Sans"/>
              </a:endParaRPr>
            </a:p>
          </p:txBody>
        </p:sp>
        <p:sp>
          <p:nvSpPr>
            <p:cNvPr id="20" name="Pentagon 195">
              <a:extLst>
                <a:ext uri="{FF2B5EF4-FFF2-40B4-BE49-F238E27FC236}">
                  <a16:creationId xmlns:a16="http://schemas.microsoft.com/office/drawing/2014/main" id="{0DDF3E50-C175-02E7-BFC8-CA3271813320}"/>
                </a:ext>
              </a:extLst>
            </p:cNvPr>
            <p:cNvSpPr>
              <a:spLocks/>
            </p:cNvSpPr>
            <p:nvPr/>
          </p:nvSpPr>
          <p:spPr>
            <a:xfrm>
              <a:off x="8288400" y="6382577"/>
              <a:ext cx="1436581" cy="1047794"/>
            </a:xfrm>
            <a:prstGeom prst="rect">
              <a:avLst/>
            </a:prstGeom>
            <a:solidFill>
              <a:schemeClr val="bg1">
                <a:lumMod val="95000"/>
              </a:schemeClr>
            </a:solidFill>
            <a:ln w="19050" cap="flat" cmpd="sng" algn="ctr">
              <a:solidFill>
                <a:srgbClr val="FFFFFF">
                  <a:lumMod val="95000"/>
                </a:srgbClr>
              </a:solidFill>
              <a:prstDash val="solid"/>
              <a:miter lim="800000"/>
            </a:ln>
            <a:effectLst/>
          </p:spPr>
          <p:txBody>
            <a:bodyPr tIns="45720" rIns="91440" bIns="45720" rtlCol="0" anchor="t"/>
            <a:lstStyle/>
            <a:p>
              <a:pPr marL="171450" marR="0" lvl="0" indent="-171450"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Open Sans"/>
                </a:rPr>
                <a:t>OCI Tenancy Architecture Design MVP </a:t>
              </a:r>
            </a:p>
            <a:p>
              <a:pPr marL="171450" marR="0" lvl="0" indent="-171450"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kern="0">
                  <a:solidFill>
                    <a:srgbClr val="000000"/>
                  </a:solidFill>
                  <a:latin typeface="Open Sans"/>
                </a:rPr>
                <a:t>Network Design MVP</a:t>
              </a:r>
              <a:endParaRPr kumimoji="0" lang="en-US" sz="900" b="0" i="0" u="none" strike="noStrike" kern="0" cap="none" spc="0" normalizeH="0" baseline="0" noProof="0">
                <a:ln>
                  <a:noFill/>
                </a:ln>
                <a:solidFill>
                  <a:srgbClr val="000000"/>
                </a:solidFill>
                <a:effectLst/>
                <a:uLnTx/>
                <a:uFillTx/>
                <a:latin typeface="Open Sans"/>
              </a:endParaRPr>
            </a:p>
            <a:p>
              <a:pPr marL="171450" marR="0" lvl="0" indent="-171450"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kern="0">
                  <a:solidFill>
                    <a:srgbClr val="000000"/>
                  </a:solidFill>
                  <a:latin typeface="Open Sans"/>
                  <a:ea typeface="+mn-ea"/>
                  <a:cs typeface="+mn-cs"/>
                </a:rPr>
                <a:t>OCI &amp; PaaS Se</a:t>
              </a:r>
              <a:r>
                <a:rPr lang="en-US" sz="900" kern="0">
                  <a:solidFill>
                    <a:srgbClr val="000000"/>
                  </a:solidFill>
                  <a:latin typeface="Open Sans"/>
                </a:rPr>
                <a:t>curity Design MVP</a:t>
              </a:r>
            </a:p>
          </p:txBody>
        </p:sp>
        <p:sp>
          <p:nvSpPr>
            <p:cNvPr id="21" name="Pentagon 195">
              <a:extLst>
                <a:ext uri="{FF2B5EF4-FFF2-40B4-BE49-F238E27FC236}">
                  <a16:creationId xmlns:a16="http://schemas.microsoft.com/office/drawing/2014/main" id="{A39B8ED4-767B-B4EC-A7CC-91FE2529CD60}"/>
                </a:ext>
              </a:extLst>
            </p:cNvPr>
            <p:cNvSpPr>
              <a:spLocks/>
            </p:cNvSpPr>
            <p:nvPr/>
          </p:nvSpPr>
          <p:spPr>
            <a:xfrm>
              <a:off x="9758116" y="6384553"/>
              <a:ext cx="2462506" cy="1045814"/>
            </a:xfrm>
            <a:prstGeom prst="rect">
              <a:avLst/>
            </a:prstGeom>
            <a:solidFill>
              <a:schemeClr val="bg1">
                <a:lumMod val="95000"/>
              </a:schemeClr>
            </a:solidFill>
            <a:ln w="19050">
              <a:solidFill>
                <a:srgbClr val="FFFFFF">
                  <a:lumMod val="95000"/>
                </a:srgbClr>
              </a:solidFill>
            </a:ln>
          </p:spPr>
          <p:txBody>
            <a:bodyPr wrap="square" tIns="45720" rIns="91440" bIns="45720">
              <a:noAutofit/>
            </a:bodyPr>
            <a:lstStyle/>
            <a:p>
              <a:pPr>
                <a:spcAft>
                  <a:spcPts val="300"/>
                </a:spcAft>
              </a:pPr>
              <a:r>
                <a:rPr lang="en-US" sz="900" b="1" kern="0">
                  <a:solidFill>
                    <a:srgbClr val="000000"/>
                  </a:solidFill>
                  <a:latin typeface="Open Sans"/>
                </a:rPr>
                <a:t>Build Development/Test</a:t>
              </a:r>
            </a:p>
            <a:p>
              <a:pPr marL="171450" indent="-171450">
                <a:spcAft>
                  <a:spcPts val="300"/>
                </a:spcAft>
                <a:buFont typeface="Arial" panose="020B0604020202020204" pitchFamily="34" charset="0"/>
                <a:buChar char="•"/>
              </a:pPr>
              <a:r>
                <a:rPr lang="en-US" sz="900" kern="0">
                  <a:solidFill>
                    <a:srgbClr val="000000"/>
                  </a:solidFill>
                  <a:latin typeface="Open Sans"/>
                </a:rPr>
                <a:t>Deploy Platform Services (PaaS)</a:t>
              </a:r>
            </a:p>
            <a:p>
              <a:pPr marL="171450" indent="-171450">
                <a:spcAft>
                  <a:spcPts val="300"/>
                </a:spcAft>
                <a:buFont typeface="Arial" panose="020B0604020202020204" pitchFamily="34" charset="0"/>
                <a:buChar char="•"/>
              </a:pPr>
              <a:r>
                <a:rPr lang="en-US" sz="900" kern="0">
                  <a:solidFill>
                    <a:srgbClr val="000000"/>
                  </a:solidFill>
                  <a:latin typeface="Open Sans"/>
                </a:rPr>
                <a:t>Secure Infrastructure &amp; PaaS services</a:t>
              </a:r>
            </a:p>
            <a:p>
              <a:pPr marL="171450" indent="-171450">
                <a:spcAft>
                  <a:spcPts val="300"/>
                </a:spcAft>
                <a:buFont typeface="Arial" panose="020B0604020202020204" pitchFamily="34" charset="0"/>
                <a:buChar char="•"/>
              </a:pPr>
              <a:r>
                <a:rPr lang="en-US" sz="900" kern="0">
                  <a:solidFill>
                    <a:srgbClr val="000000"/>
                  </a:solidFill>
                  <a:latin typeface="Open Sans"/>
                </a:rPr>
                <a:t>Environment Validation</a:t>
              </a:r>
            </a:p>
            <a:p>
              <a:pPr marL="171450" indent="-171450">
                <a:spcAft>
                  <a:spcPts val="300"/>
                </a:spcAft>
                <a:buFont typeface="Arial" panose="020B0604020202020204" pitchFamily="34" charset="0"/>
                <a:buChar char="•"/>
              </a:pPr>
              <a:r>
                <a:rPr lang="en-US" sz="900" kern="0">
                  <a:solidFill>
                    <a:srgbClr val="000000"/>
                  </a:solidFill>
                  <a:latin typeface="Open Sans"/>
                </a:rPr>
                <a:t>Setup Backups, Monitoring &amp; Auditing</a:t>
              </a:r>
            </a:p>
          </p:txBody>
        </p:sp>
        <p:sp>
          <p:nvSpPr>
            <p:cNvPr id="26" name="Rectangle 25">
              <a:extLst>
                <a:ext uri="{FF2B5EF4-FFF2-40B4-BE49-F238E27FC236}">
                  <a16:creationId xmlns:a16="http://schemas.microsoft.com/office/drawing/2014/main" id="{CEC44F08-4545-2ECA-92C4-FE3042483368}"/>
                </a:ext>
              </a:extLst>
            </p:cNvPr>
            <p:cNvSpPr/>
            <p:nvPr/>
          </p:nvSpPr>
          <p:spPr>
            <a:xfrm>
              <a:off x="11328851" y="3295907"/>
              <a:ext cx="3048490" cy="3023225"/>
            </a:xfrm>
            <a:prstGeom prst="rect">
              <a:avLst/>
            </a:prstGeom>
            <a:solidFill>
              <a:schemeClr val="bg1">
                <a:lumMod val="95000"/>
              </a:schemeClr>
            </a:solidFill>
            <a:ln w="19050">
              <a:solidFill>
                <a:srgbClr val="FFFFFF">
                  <a:lumMod val="95000"/>
                </a:srgbClr>
              </a:solidFill>
            </a:ln>
          </p:spPr>
          <p:txBody>
            <a:bodyPr wrap="square" lIns="45720" tIns="45720" rIns="45720" bIns="45720">
              <a:noAutofit/>
            </a:bodyPr>
            <a:lstStyle/>
            <a:p>
              <a:pPr marL="171450" indent="-171450">
                <a:spcAft>
                  <a:spcPts val="300"/>
                </a:spcAft>
                <a:buFont typeface="Arial" panose="020B0604020202020204" pitchFamily="34" charset="0"/>
                <a:buChar char="•"/>
                <a:defRPr/>
              </a:pPr>
              <a:r>
                <a:rPr lang="en-US" sz="1000" kern="0">
                  <a:solidFill>
                    <a:srgbClr val="000000"/>
                  </a:solidFill>
                  <a:latin typeface="Open Sans"/>
                </a:rPr>
                <a:t>Day-to-day monitoring and management</a:t>
              </a:r>
            </a:p>
            <a:p>
              <a:pPr marL="171450" indent="-171450">
                <a:spcAft>
                  <a:spcPts val="300"/>
                </a:spcAft>
                <a:buFont typeface="Arial" panose="020B0604020202020204" pitchFamily="34" charset="0"/>
                <a:buChar char="•"/>
                <a:defRPr/>
              </a:pPr>
              <a:r>
                <a:rPr lang="en-US" sz="1000" kern="0">
                  <a:solidFill>
                    <a:srgbClr val="000000"/>
                  </a:solidFill>
                  <a:latin typeface="Open Sans"/>
                </a:rPr>
                <a:t>Environments management</a:t>
              </a:r>
            </a:p>
            <a:p>
              <a:pPr marL="171450" indent="-171450">
                <a:spcAft>
                  <a:spcPts val="300"/>
                </a:spcAft>
                <a:buFont typeface="Arial" panose="020B0604020202020204" pitchFamily="34" charset="0"/>
                <a:buChar char="•"/>
                <a:defRPr/>
              </a:pPr>
              <a:r>
                <a:rPr lang="en-US" sz="1000" kern="0">
                  <a:solidFill>
                    <a:srgbClr val="000000"/>
                  </a:solidFill>
                  <a:latin typeface="Open Sans"/>
                </a:rPr>
                <a:t>Configuration &amp; change management support</a:t>
              </a:r>
            </a:p>
            <a:p>
              <a:pPr marL="171450" indent="-171450">
                <a:spcAft>
                  <a:spcPts val="300"/>
                </a:spcAft>
                <a:buFont typeface="Arial" panose="020B0604020202020204" pitchFamily="34" charset="0"/>
                <a:buChar char="•"/>
                <a:defRPr/>
              </a:pPr>
              <a:r>
                <a:rPr lang="en-US" sz="1000" kern="0">
                  <a:solidFill>
                    <a:srgbClr val="000000"/>
                  </a:solidFill>
                  <a:latin typeface="Open Sans"/>
                </a:rPr>
                <a:t>Performance &amp; troubleshooting support</a:t>
              </a:r>
            </a:p>
            <a:p>
              <a:pPr marL="171450" indent="-171450">
                <a:spcAft>
                  <a:spcPts val="300"/>
                </a:spcAft>
                <a:buFont typeface="Arial" panose="020B0604020202020204" pitchFamily="34" charset="0"/>
                <a:buChar char="•"/>
                <a:defRPr/>
              </a:pPr>
              <a:r>
                <a:rPr lang="en-US" sz="1000" kern="0">
                  <a:solidFill>
                    <a:srgbClr val="000000"/>
                  </a:solidFill>
                  <a:latin typeface="Open Sans"/>
                </a:rPr>
                <a:t>Cost optimization</a:t>
              </a:r>
            </a:p>
            <a:p>
              <a:pPr marL="171450" indent="-171450">
                <a:spcAft>
                  <a:spcPts val="300"/>
                </a:spcAft>
                <a:buFont typeface="Arial" panose="020B0604020202020204" pitchFamily="34" charset="0"/>
                <a:buChar char="•"/>
                <a:defRPr/>
              </a:pPr>
              <a:r>
                <a:rPr lang="en-US" sz="1000" kern="0">
                  <a:solidFill>
                    <a:srgbClr val="000000"/>
                  </a:solidFill>
                  <a:latin typeface="Open Sans"/>
                </a:rPr>
                <a:t>Capacity management</a:t>
              </a:r>
            </a:p>
            <a:p>
              <a:pPr marL="171450" indent="-171450">
                <a:spcAft>
                  <a:spcPts val="300"/>
                </a:spcAft>
                <a:buFont typeface="Arial" panose="020B0604020202020204" pitchFamily="34" charset="0"/>
                <a:buChar char="•"/>
                <a:defRPr/>
              </a:pPr>
              <a:r>
                <a:rPr lang="en-US" sz="1000" kern="0">
                  <a:solidFill>
                    <a:srgbClr val="000000"/>
                  </a:solidFill>
                  <a:latin typeface="Open Sans"/>
                </a:rPr>
                <a:t>DevOps, CI/CD</a:t>
              </a:r>
            </a:p>
            <a:p>
              <a:pPr marL="171450" indent="-171450">
                <a:spcAft>
                  <a:spcPts val="300"/>
                </a:spcAft>
                <a:buFont typeface="Arial" panose="020B0604020202020204" pitchFamily="34" charset="0"/>
                <a:buChar char="•"/>
                <a:defRPr/>
              </a:pPr>
              <a:r>
                <a:rPr lang="en-US" sz="1000" kern="0">
                  <a:solidFill>
                    <a:srgbClr val="000000"/>
                  </a:solidFill>
                  <a:latin typeface="Open Sans"/>
                </a:rPr>
                <a:t>Backups</a:t>
              </a:r>
            </a:p>
            <a:p>
              <a:pPr marL="171450" indent="-171450">
                <a:spcAft>
                  <a:spcPts val="300"/>
                </a:spcAft>
                <a:buFont typeface="Arial" panose="020B0604020202020204" pitchFamily="34" charset="0"/>
                <a:buChar char="•"/>
                <a:defRPr/>
              </a:pPr>
              <a:r>
                <a:rPr lang="en-US" sz="1000" kern="0">
                  <a:solidFill>
                    <a:srgbClr val="000000"/>
                  </a:solidFill>
                  <a:latin typeface="Open Sans"/>
                </a:rPr>
                <a:t>Access support</a:t>
              </a:r>
            </a:p>
            <a:p>
              <a:pPr marL="171450" indent="-171450">
                <a:spcAft>
                  <a:spcPts val="300"/>
                </a:spcAft>
                <a:buFont typeface="Arial" panose="020B0604020202020204" pitchFamily="34" charset="0"/>
                <a:buChar char="•"/>
                <a:defRPr/>
              </a:pPr>
              <a:r>
                <a:rPr lang="en-US" sz="1000" kern="0">
                  <a:solidFill>
                    <a:srgbClr val="000000"/>
                  </a:solidFill>
                  <a:latin typeface="Open Sans"/>
                </a:rPr>
                <a:t>Documentation</a:t>
              </a:r>
            </a:p>
          </p:txBody>
        </p:sp>
        <p:sp>
          <p:nvSpPr>
            <p:cNvPr id="27" name="Pentagon 194">
              <a:extLst>
                <a:ext uri="{FF2B5EF4-FFF2-40B4-BE49-F238E27FC236}">
                  <a16:creationId xmlns:a16="http://schemas.microsoft.com/office/drawing/2014/main" id="{07A9F864-E65F-2F66-D32D-0FD06A435108}"/>
                </a:ext>
              </a:extLst>
            </p:cNvPr>
            <p:cNvSpPr>
              <a:spLocks/>
            </p:cNvSpPr>
            <p:nvPr/>
          </p:nvSpPr>
          <p:spPr>
            <a:xfrm>
              <a:off x="11328850" y="3130691"/>
              <a:ext cx="3096033" cy="184982"/>
            </a:xfrm>
            <a:prstGeom prst="homePlate">
              <a:avLst/>
            </a:prstGeom>
            <a:solidFill>
              <a:srgbClr val="0076A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Run &amp; Maintain</a:t>
              </a:r>
            </a:p>
          </p:txBody>
        </p:sp>
        <p:sp>
          <p:nvSpPr>
            <p:cNvPr id="28" name="Rectangle 27">
              <a:extLst>
                <a:ext uri="{FF2B5EF4-FFF2-40B4-BE49-F238E27FC236}">
                  <a16:creationId xmlns:a16="http://schemas.microsoft.com/office/drawing/2014/main" id="{DC09DE75-6712-6C12-416E-31389457FF34}"/>
                </a:ext>
              </a:extLst>
            </p:cNvPr>
            <p:cNvSpPr/>
            <p:nvPr/>
          </p:nvSpPr>
          <p:spPr>
            <a:xfrm>
              <a:off x="16065672" y="3295907"/>
              <a:ext cx="2085460" cy="3028587"/>
            </a:xfrm>
            <a:prstGeom prst="rect">
              <a:avLst/>
            </a:prstGeom>
            <a:solidFill>
              <a:schemeClr val="bg1">
                <a:lumMod val="95000"/>
              </a:schemeClr>
            </a:solidFill>
            <a:ln w="19050">
              <a:solidFill>
                <a:srgbClr val="FFFFFF">
                  <a:lumMod val="95000"/>
                </a:srgbClr>
              </a:solidFill>
            </a:ln>
          </p:spPr>
          <p:txBody>
            <a:bodyPr wrap="square" lIns="45720" tIns="45720" rIns="45720" bIns="45720">
              <a:noAutofit/>
            </a:bodyPr>
            <a:lstStyle/>
            <a:p>
              <a:pPr marL="171450" indent="-171450">
                <a:spcAft>
                  <a:spcPts val="300"/>
                </a:spcAft>
                <a:buFont typeface="Arial" panose="020B0604020202020204" pitchFamily="34" charset="0"/>
                <a:buChar char="•"/>
                <a:defRPr/>
              </a:pPr>
              <a:r>
                <a:rPr lang="en-US" sz="1000" kern="0">
                  <a:solidFill>
                    <a:srgbClr val="000000"/>
                  </a:solidFill>
                  <a:latin typeface="Open Sans"/>
                </a:rPr>
                <a:t>Day-to-day monitoring and management </a:t>
              </a:r>
            </a:p>
            <a:p>
              <a:pPr marL="171450" indent="-171450">
                <a:spcAft>
                  <a:spcPts val="300"/>
                </a:spcAft>
                <a:buFont typeface="Arial" panose="020B0604020202020204" pitchFamily="34" charset="0"/>
                <a:buChar char="•"/>
                <a:defRPr/>
              </a:pPr>
              <a:r>
                <a:rPr lang="en-US" sz="1000" kern="0">
                  <a:solidFill>
                    <a:srgbClr val="000000"/>
                  </a:solidFill>
                  <a:latin typeface="Open Sans"/>
                </a:rPr>
                <a:t>Environments management</a:t>
              </a:r>
            </a:p>
            <a:p>
              <a:pPr marL="171450" indent="-171450">
                <a:spcAft>
                  <a:spcPts val="300"/>
                </a:spcAft>
                <a:buFont typeface="Arial" panose="020B0604020202020204" pitchFamily="34" charset="0"/>
                <a:buChar char="•"/>
                <a:defRPr/>
              </a:pPr>
              <a:r>
                <a:rPr lang="en-US" sz="1000" kern="0">
                  <a:solidFill>
                    <a:srgbClr val="000000"/>
                  </a:solidFill>
                  <a:latin typeface="Open Sans"/>
                </a:rPr>
                <a:t>Configuration &amp; change management support </a:t>
              </a:r>
            </a:p>
            <a:p>
              <a:pPr marL="171450" indent="-171450">
                <a:spcAft>
                  <a:spcPts val="300"/>
                </a:spcAft>
                <a:buFont typeface="Arial" panose="020B0604020202020204" pitchFamily="34" charset="0"/>
                <a:buChar char="•"/>
                <a:defRPr/>
              </a:pPr>
              <a:r>
                <a:rPr lang="en-US" sz="1000" kern="0">
                  <a:solidFill>
                    <a:srgbClr val="000000"/>
                  </a:solidFill>
                  <a:latin typeface="Open Sans"/>
                </a:rPr>
                <a:t>Performance &amp; troubleshooting support</a:t>
              </a:r>
            </a:p>
            <a:p>
              <a:pPr marL="171450" indent="-171450">
                <a:spcAft>
                  <a:spcPts val="300"/>
                </a:spcAft>
                <a:buFont typeface="Arial" panose="020B0604020202020204" pitchFamily="34" charset="0"/>
                <a:buChar char="•"/>
                <a:defRPr/>
              </a:pPr>
              <a:r>
                <a:rPr lang="en-US" sz="1000" kern="0">
                  <a:solidFill>
                    <a:srgbClr val="000000"/>
                  </a:solidFill>
                  <a:latin typeface="Open Sans"/>
                </a:rPr>
                <a:t>Cost optimization</a:t>
              </a:r>
            </a:p>
            <a:p>
              <a:pPr marL="171450" indent="-171450">
                <a:spcAft>
                  <a:spcPts val="300"/>
                </a:spcAft>
                <a:buFont typeface="Arial" panose="020B0604020202020204" pitchFamily="34" charset="0"/>
                <a:buChar char="•"/>
                <a:defRPr/>
              </a:pPr>
              <a:r>
                <a:rPr lang="en-US" sz="1000" kern="0">
                  <a:solidFill>
                    <a:srgbClr val="000000"/>
                  </a:solidFill>
                  <a:latin typeface="Open Sans"/>
                </a:rPr>
                <a:t>Capacity management</a:t>
              </a:r>
            </a:p>
            <a:p>
              <a:pPr marL="171450" indent="-171450">
                <a:spcAft>
                  <a:spcPts val="300"/>
                </a:spcAft>
                <a:buFont typeface="Arial" panose="020B0604020202020204" pitchFamily="34" charset="0"/>
                <a:buChar char="•"/>
                <a:defRPr/>
              </a:pPr>
              <a:r>
                <a:rPr lang="en-US" sz="1000" kern="0">
                  <a:solidFill>
                    <a:srgbClr val="000000"/>
                  </a:solidFill>
                  <a:latin typeface="Open Sans"/>
                </a:rPr>
                <a:t>DevOps, CI/CD</a:t>
              </a:r>
            </a:p>
            <a:p>
              <a:pPr marL="171450" indent="-171450">
                <a:spcAft>
                  <a:spcPts val="300"/>
                </a:spcAft>
                <a:buFont typeface="Arial" panose="020B0604020202020204" pitchFamily="34" charset="0"/>
                <a:buChar char="•"/>
                <a:defRPr/>
              </a:pPr>
              <a:r>
                <a:rPr lang="en-US" sz="1000" kern="0">
                  <a:solidFill>
                    <a:srgbClr val="000000"/>
                  </a:solidFill>
                  <a:latin typeface="Open Sans"/>
                </a:rPr>
                <a:t>Backups</a:t>
              </a:r>
            </a:p>
            <a:p>
              <a:pPr marL="171450" indent="-171450">
                <a:spcAft>
                  <a:spcPts val="300"/>
                </a:spcAft>
                <a:buFont typeface="Arial" panose="020B0604020202020204" pitchFamily="34" charset="0"/>
                <a:buChar char="•"/>
                <a:defRPr/>
              </a:pPr>
              <a:r>
                <a:rPr lang="en-US" sz="1000" kern="0">
                  <a:solidFill>
                    <a:srgbClr val="000000"/>
                  </a:solidFill>
                  <a:latin typeface="Open Sans"/>
                </a:rPr>
                <a:t>Access support</a:t>
              </a:r>
            </a:p>
            <a:p>
              <a:pPr marL="171450" indent="-171450">
                <a:spcAft>
                  <a:spcPts val="300"/>
                </a:spcAft>
                <a:buFont typeface="Arial" panose="020B0604020202020204" pitchFamily="34" charset="0"/>
                <a:buChar char="•"/>
                <a:defRPr/>
              </a:pPr>
              <a:r>
                <a:rPr lang="en-US" sz="1000" kern="0">
                  <a:solidFill>
                    <a:srgbClr val="000000"/>
                  </a:solidFill>
                  <a:latin typeface="Open Sans"/>
                </a:rPr>
                <a:t>Documentation</a:t>
              </a:r>
            </a:p>
          </p:txBody>
        </p:sp>
        <p:sp>
          <p:nvSpPr>
            <p:cNvPr id="29" name="Pentagon 194">
              <a:extLst>
                <a:ext uri="{FF2B5EF4-FFF2-40B4-BE49-F238E27FC236}">
                  <a16:creationId xmlns:a16="http://schemas.microsoft.com/office/drawing/2014/main" id="{83BA127B-7478-8FC2-366E-CC854B3B974E}"/>
                </a:ext>
              </a:extLst>
            </p:cNvPr>
            <p:cNvSpPr>
              <a:spLocks/>
            </p:cNvSpPr>
            <p:nvPr/>
          </p:nvSpPr>
          <p:spPr>
            <a:xfrm>
              <a:off x="16065671" y="3134749"/>
              <a:ext cx="2117984" cy="180892"/>
            </a:xfrm>
            <a:prstGeom prst="homePlate">
              <a:avLst/>
            </a:prstGeom>
            <a:solidFill>
              <a:srgbClr val="0076A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Run &amp; Maintain</a:t>
              </a:r>
            </a:p>
          </p:txBody>
        </p:sp>
      </p:grpSp>
      <p:grpSp>
        <p:nvGrpSpPr>
          <p:cNvPr id="9" name="Group 8">
            <a:extLst>
              <a:ext uri="{FF2B5EF4-FFF2-40B4-BE49-F238E27FC236}">
                <a16:creationId xmlns:a16="http://schemas.microsoft.com/office/drawing/2014/main" id="{51462D8E-163C-423D-A8E6-48848937A253}"/>
              </a:ext>
            </a:extLst>
          </p:cNvPr>
          <p:cNvGrpSpPr/>
          <p:nvPr/>
        </p:nvGrpSpPr>
        <p:grpSpPr>
          <a:xfrm>
            <a:off x="992529" y="939705"/>
            <a:ext cx="2992906" cy="608462"/>
            <a:chOff x="13037716" y="1001698"/>
            <a:chExt cx="2992906" cy="608462"/>
          </a:xfrm>
        </p:grpSpPr>
        <p:sp>
          <p:nvSpPr>
            <p:cNvPr id="103" name="object 113">
              <a:extLst>
                <a:ext uri="{FF2B5EF4-FFF2-40B4-BE49-F238E27FC236}">
                  <a16:creationId xmlns:a16="http://schemas.microsoft.com/office/drawing/2014/main" id="{156F9A65-56D8-BD74-0655-52AD506CABFA}"/>
                </a:ext>
              </a:extLst>
            </p:cNvPr>
            <p:cNvSpPr txBox="1"/>
            <p:nvPr/>
          </p:nvSpPr>
          <p:spPr>
            <a:xfrm>
              <a:off x="13095592" y="1283303"/>
              <a:ext cx="1378706" cy="307777"/>
            </a:xfrm>
            <a:prstGeom prst="rect">
              <a:avLst/>
            </a:prstGeom>
            <a:ln>
              <a:noFill/>
            </a:ln>
          </p:spPr>
          <p:txBody>
            <a:bodyPr vert="horz" wrap="square" lIns="0" tIns="0" rIns="0" bIns="0" rtlCol="0">
              <a:spAutoFit/>
            </a:bodyPr>
            <a:lstStyle>
              <a:defPPr>
                <a:defRPr lang="en-US"/>
              </a:defPPr>
              <a:lvl1pPr marR="5080" indent="0">
                <a:lnSpc>
                  <a:spcPct val="90000"/>
                </a:lnSpc>
                <a:defRPr sz="1200" spc="85">
                  <a:solidFill>
                    <a:srgbClr val="FFFFFF"/>
                  </a:solidFill>
                  <a:cs typeface="Knockout-HTF29-JuniorLiteweight"/>
                </a:defRPr>
              </a:lvl1pPr>
            </a:lstStyle>
            <a:p>
              <a:pPr fontAlgn="auto">
                <a:lnSpc>
                  <a:spcPct val="100000"/>
                </a:lnSpc>
                <a:spcBef>
                  <a:spcPts val="0"/>
                </a:spcBef>
                <a:spcAft>
                  <a:spcPts val="0"/>
                </a:spcAft>
              </a:pPr>
              <a:r>
                <a:rPr lang="en-US" sz="1000" b="1" spc="0">
                  <a:solidFill>
                    <a:srgbClr val="000000"/>
                  </a:solidFill>
                  <a:latin typeface="Open Sans"/>
                  <a:ea typeface="+mn-ea"/>
                  <a:cs typeface="Open Sans"/>
                </a:rPr>
                <a:t>Phase 1:</a:t>
              </a:r>
            </a:p>
            <a:p>
              <a:pPr fontAlgn="auto">
                <a:lnSpc>
                  <a:spcPct val="100000"/>
                </a:lnSpc>
                <a:spcBef>
                  <a:spcPts val="0"/>
                </a:spcBef>
                <a:spcAft>
                  <a:spcPts val="0"/>
                </a:spcAft>
              </a:pPr>
              <a:r>
                <a:rPr lang="en-US" sz="1000" spc="0">
                  <a:solidFill>
                    <a:srgbClr val="000000"/>
                  </a:solidFill>
                  <a:latin typeface="Open Sans"/>
                  <a:ea typeface="+mn-ea"/>
                  <a:cs typeface="Open Sans"/>
                </a:rPr>
                <a:t>Discover &amp; Analyze</a:t>
              </a:r>
              <a:endParaRPr lang="en-US" sz="1000" b="1" spc="0">
                <a:solidFill>
                  <a:srgbClr val="000000"/>
                </a:solidFill>
                <a:latin typeface="Open Sans"/>
                <a:ea typeface="+mn-ea"/>
                <a:cs typeface="Open Sans"/>
              </a:endParaRPr>
            </a:p>
          </p:txBody>
        </p:sp>
        <p:sp>
          <p:nvSpPr>
            <p:cNvPr id="105" name="object 113">
              <a:extLst>
                <a:ext uri="{FF2B5EF4-FFF2-40B4-BE49-F238E27FC236}">
                  <a16:creationId xmlns:a16="http://schemas.microsoft.com/office/drawing/2014/main" id="{02D8BC92-B2DD-531C-C73C-BCDCC458AE62}"/>
                </a:ext>
              </a:extLst>
            </p:cNvPr>
            <p:cNvSpPr txBox="1"/>
            <p:nvPr/>
          </p:nvSpPr>
          <p:spPr>
            <a:xfrm>
              <a:off x="14443274" y="1296432"/>
              <a:ext cx="603696" cy="307777"/>
            </a:xfrm>
            <a:prstGeom prst="rect">
              <a:avLst/>
            </a:prstGeom>
            <a:ln>
              <a:noFill/>
            </a:ln>
          </p:spPr>
          <p:txBody>
            <a:bodyPr vert="horz" wrap="square" lIns="0" tIns="0" rIns="0" bIns="0" rtlCol="0">
              <a:spAutoFit/>
            </a:bodyPr>
            <a:lstStyle>
              <a:defPPr>
                <a:defRPr lang="en-US"/>
              </a:defPPr>
              <a:lvl1pPr marR="5080" indent="0">
                <a:lnSpc>
                  <a:spcPct val="90000"/>
                </a:lnSpc>
                <a:defRPr sz="1200" spc="85">
                  <a:solidFill>
                    <a:srgbClr val="FFFFFF"/>
                  </a:solidFill>
                  <a:cs typeface="Knockout-HTF29-JuniorLiteweight"/>
                </a:defRPr>
              </a:lvl1pPr>
            </a:lstStyle>
            <a:p>
              <a:pPr fontAlgn="auto">
                <a:lnSpc>
                  <a:spcPct val="100000"/>
                </a:lnSpc>
                <a:spcBef>
                  <a:spcPts val="0"/>
                </a:spcBef>
                <a:spcAft>
                  <a:spcPts val="0"/>
                </a:spcAft>
              </a:pPr>
              <a:r>
                <a:rPr lang="en-US" sz="1000" b="1" spc="0">
                  <a:solidFill>
                    <a:srgbClr val="000000"/>
                  </a:solidFill>
                  <a:latin typeface="Open Sans"/>
                  <a:ea typeface="+mn-ea"/>
                  <a:cs typeface="Open Sans"/>
                </a:rPr>
                <a:t>Phase 2:</a:t>
              </a:r>
            </a:p>
            <a:p>
              <a:pPr fontAlgn="auto">
                <a:lnSpc>
                  <a:spcPct val="100000"/>
                </a:lnSpc>
                <a:spcBef>
                  <a:spcPts val="0"/>
                </a:spcBef>
                <a:spcAft>
                  <a:spcPts val="0"/>
                </a:spcAft>
              </a:pPr>
              <a:r>
                <a:rPr lang="en-US" sz="1000" spc="0">
                  <a:solidFill>
                    <a:srgbClr val="000000"/>
                  </a:solidFill>
                  <a:latin typeface="Open Sans"/>
                  <a:ea typeface="+mn-ea"/>
                  <a:cs typeface="Open Sans"/>
                </a:rPr>
                <a:t>Design</a:t>
              </a:r>
            </a:p>
          </p:txBody>
        </p:sp>
        <p:sp>
          <p:nvSpPr>
            <p:cNvPr id="111" name="object 113">
              <a:extLst>
                <a:ext uri="{FF2B5EF4-FFF2-40B4-BE49-F238E27FC236}">
                  <a16:creationId xmlns:a16="http://schemas.microsoft.com/office/drawing/2014/main" id="{AA238760-EDAE-8B14-CDD2-CD1B980B857D}"/>
                </a:ext>
              </a:extLst>
            </p:cNvPr>
            <p:cNvSpPr txBox="1"/>
            <p:nvPr/>
          </p:nvSpPr>
          <p:spPr>
            <a:xfrm>
              <a:off x="15159732" y="1290997"/>
              <a:ext cx="855165" cy="292388"/>
            </a:xfrm>
            <a:prstGeom prst="rect">
              <a:avLst/>
            </a:prstGeom>
            <a:ln>
              <a:noFill/>
            </a:ln>
          </p:spPr>
          <p:txBody>
            <a:bodyPr vert="horz" wrap="square" lIns="0" tIns="0" rIns="0" bIns="0" rtlCol="0">
              <a:spAutoFit/>
            </a:bodyPr>
            <a:lstStyle>
              <a:defPPr>
                <a:defRPr lang="en-US"/>
              </a:defPPr>
              <a:lvl1pPr marR="5080" indent="0">
                <a:lnSpc>
                  <a:spcPct val="90000"/>
                </a:lnSpc>
                <a:defRPr sz="1200" spc="85">
                  <a:solidFill>
                    <a:srgbClr val="FFFFFF"/>
                  </a:solidFill>
                  <a:cs typeface="Knockout-HTF29-JuniorLiteweight"/>
                </a:defRPr>
              </a:lvl1pPr>
            </a:lstStyle>
            <a:p>
              <a:pPr fontAlgn="auto">
                <a:lnSpc>
                  <a:spcPct val="100000"/>
                </a:lnSpc>
                <a:spcBef>
                  <a:spcPts val="0"/>
                </a:spcBef>
                <a:spcAft>
                  <a:spcPts val="0"/>
                </a:spcAft>
              </a:pPr>
              <a:r>
                <a:rPr lang="en-US" sz="1000" b="1" spc="0">
                  <a:solidFill>
                    <a:srgbClr val="000000"/>
                  </a:solidFill>
                  <a:latin typeface="Open Sans"/>
                  <a:ea typeface="+mn-ea"/>
                  <a:cs typeface="Open Sans"/>
                </a:rPr>
                <a:t>Phase 3:</a:t>
              </a:r>
            </a:p>
            <a:p>
              <a:pPr fontAlgn="auto">
                <a:lnSpc>
                  <a:spcPct val="100000"/>
                </a:lnSpc>
                <a:spcBef>
                  <a:spcPts val="0"/>
                </a:spcBef>
                <a:spcAft>
                  <a:spcPts val="0"/>
                </a:spcAft>
              </a:pPr>
              <a:r>
                <a:rPr lang="en-US" sz="900" spc="0">
                  <a:solidFill>
                    <a:srgbClr val="000000"/>
                  </a:solidFill>
                  <a:latin typeface="Open Sans"/>
                  <a:ea typeface="+mn-ea"/>
                  <a:cs typeface="Open Sans"/>
                </a:rPr>
                <a:t>Build non-Prod</a:t>
              </a:r>
            </a:p>
          </p:txBody>
        </p:sp>
        <p:sp>
          <p:nvSpPr>
            <p:cNvPr id="30" name="Rectangle 29">
              <a:extLst>
                <a:ext uri="{FF2B5EF4-FFF2-40B4-BE49-F238E27FC236}">
                  <a16:creationId xmlns:a16="http://schemas.microsoft.com/office/drawing/2014/main" id="{BE0477AC-FE16-670E-1B86-8D6FF83469D1}"/>
                </a:ext>
              </a:extLst>
            </p:cNvPr>
            <p:cNvSpPr/>
            <p:nvPr/>
          </p:nvSpPr>
          <p:spPr>
            <a:xfrm>
              <a:off x="13037716" y="1136100"/>
              <a:ext cx="2992906" cy="474060"/>
            </a:xfrm>
            <a:prstGeom prst="rect">
              <a:avLst/>
            </a:prstGeom>
            <a:noFill/>
            <a:ln>
              <a:solidFill>
                <a:srgbClr val="43B0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EFFCDF3B-519D-2A4C-BFC4-349178796723}"/>
                </a:ext>
              </a:extLst>
            </p:cNvPr>
            <p:cNvSpPr txBox="1"/>
            <p:nvPr/>
          </p:nvSpPr>
          <p:spPr>
            <a:xfrm>
              <a:off x="13298846" y="1001698"/>
              <a:ext cx="928065" cy="246221"/>
            </a:xfrm>
            <a:prstGeom prst="rect">
              <a:avLst/>
            </a:prstGeom>
            <a:solidFill>
              <a:schemeClr val="bg1"/>
            </a:solidFill>
          </p:spPr>
          <p:txBody>
            <a:bodyPr wrap="square" rtlCol="0">
              <a:spAutoFit/>
            </a:bodyPr>
            <a:lstStyle/>
            <a:p>
              <a:pPr algn="ctr"/>
              <a:r>
                <a:rPr lang="en-US" sz="1000" b="1">
                  <a:latin typeface="Open Sans" panose="020B0606030504020204" pitchFamily="34" charset="0"/>
                  <a:ea typeface="Open Sans" panose="020B0606030504020204" pitchFamily="34" charset="0"/>
                  <a:cs typeface="Open Sans" panose="020B0606030504020204" pitchFamily="34" charset="0"/>
                </a:rPr>
                <a:t>Stage 1</a:t>
              </a:r>
            </a:p>
          </p:txBody>
        </p:sp>
      </p:grpSp>
      <p:grpSp>
        <p:nvGrpSpPr>
          <p:cNvPr id="10" name="Group 9">
            <a:extLst>
              <a:ext uri="{FF2B5EF4-FFF2-40B4-BE49-F238E27FC236}">
                <a16:creationId xmlns:a16="http://schemas.microsoft.com/office/drawing/2014/main" id="{775EE506-FC74-4E39-BCD3-DC07C78D7BE9}"/>
              </a:ext>
            </a:extLst>
          </p:cNvPr>
          <p:cNvGrpSpPr/>
          <p:nvPr/>
        </p:nvGrpSpPr>
        <p:grpSpPr>
          <a:xfrm>
            <a:off x="7483131" y="939705"/>
            <a:ext cx="1646313" cy="583150"/>
            <a:chOff x="10592666" y="932564"/>
            <a:chExt cx="1646313" cy="583150"/>
          </a:xfrm>
        </p:grpSpPr>
        <p:sp>
          <p:nvSpPr>
            <p:cNvPr id="129" name="object 113">
              <a:extLst>
                <a:ext uri="{FF2B5EF4-FFF2-40B4-BE49-F238E27FC236}">
                  <a16:creationId xmlns:a16="http://schemas.microsoft.com/office/drawing/2014/main" id="{F193CFFB-5DE5-10FD-5B81-FE50E4CEDDF5}"/>
                </a:ext>
              </a:extLst>
            </p:cNvPr>
            <p:cNvSpPr txBox="1"/>
            <p:nvPr/>
          </p:nvSpPr>
          <p:spPr>
            <a:xfrm>
              <a:off x="10635994" y="1197684"/>
              <a:ext cx="1135081" cy="292388"/>
            </a:xfrm>
            <a:prstGeom prst="rect">
              <a:avLst/>
            </a:prstGeom>
            <a:ln>
              <a:noFill/>
            </a:ln>
          </p:spPr>
          <p:txBody>
            <a:bodyPr vert="horz" wrap="square" lIns="0" tIns="0" rIns="0" bIns="0" rtlCol="0">
              <a:spAutoFit/>
            </a:bodyPr>
            <a:lstStyle>
              <a:defPPr>
                <a:defRPr lang="en-US"/>
              </a:defPPr>
              <a:lvl1pPr marR="5080" indent="0">
                <a:lnSpc>
                  <a:spcPct val="90000"/>
                </a:lnSpc>
                <a:defRPr sz="1200" spc="85">
                  <a:solidFill>
                    <a:srgbClr val="FFFFFF"/>
                  </a:solidFill>
                  <a:cs typeface="Knockout-HTF29-JuniorLiteweight"/>
                </a:defRPr>
              </a:lvl1pPr>
            </a:lstStyle>
            <a:p>
              <a:pPr fontAlgn="auto">
                <a:lnSpc>
                  <a:spcPct val="100000"/>
                </a:lnSpc>
                <a:spcBef>
                  <a:spcPts val="0"/>
                </a:spcBef>
                <a:spcAft>
                  <a:spcPts val="0"/>
                </a:spcAft>
              </a:pPr>
              <a:r>
                <a:rPr lang="en-US" sz="1000" b="1" spc="0">
                  <a:solidFill>
                    <a:srgbClr val="000000"/>
                  </a:solidFill>
                  <a:latin typeface="Open Sans"/>
                  <a:ea typeface="+mn-ea"/>
                  <a:cs typeface="Open Sans"/>
                </a:rPr>
                <a:t>Phase 1:</a:t>
              </a:r>
            </a:p>
            <a:p>
              <a:pPr fontAlgn="auto">
                <a:lnSpc>
                  <a:spcPct val="100000"/>
                </a:lnSpc>
                <a:spcBef>
                  <a:spcPts val="0"/>
                </a:spcBef>
                <a:spcAft>
                  <a:spcPts val="0"/>
                </a:spcAft>
              </a:pPr>
              <a:r>
                <a:rPr lang="en-US" sz="900" spc="0">
                  <a:solidFill>
                    <a:srgbClr val="000000"/>
                  </a:solidFill>
                  <a:latin typeface="Open Sans"/>
                  <a:ea typeface="+mn-ea"/>
                  <a:cs typeface="Open Sans"/>
                </a:rPr>
                <a:t>Analyze &amp;</a:t>
              </a:r>
              <a:r>
                <a:rPr lang="en-US" sz="900" spc="0">
                  <a:solidFill>
                    <a:srgbClr val="000000"/>
                  </a:solidFill>
                  <a:latin typeface="Open Sans"/>
                  <a:cs typeface="Open Sans"/>
                </a:rPr>
                <a:t> </a:t>
              </a:r>
              <a:r>
                <a:rPr lang="en-US" sz="900" spc="0">
                  <a:solidFill>
                    <a:srgbClr val="000000"/>
                  </a:solidFill>
                  <a:latin typeface="Open Sans"/>
                  <a:ea typeface="+mn-ea"/>
                  <a:cs typeface="Open Sans"/>
                </a:rPr>
                <a:t>Design</a:t>
              </a:r>
            </a:p>
          </p:txBody>
        </p:sp>
        <p:sp>
          <p:nvSpPr>
            <p:cNvPr id="131" name="object 113">
              <a:extLst>
                <a:ext uri="{FF2B5EF4-FFF2-40B4-BE49-F238E27FC236}">
                  <a16:creationId xmlns:a16="http://schemas.microsoft.com/office/drawing/2014/main" id="{DB499B41-EC18-9D3F-94D4-BB810261EE6B}"/>
                </a:ext>
              </a:extLst>
            </p:cNvPr>
            <p:cNvSpPr txBox="1"/>
            <p:nvPr/>
          </p:nvSpPr>
          <p:spPr>
            <a:xfrm>
              <a:off x="11635283" y="1203732"/>
              <a:ext cx="603696" cy="292388"/>
            </a:xfrm>
            <a:prstGeom prst="rect">
              <a:avLst/>
            </a:prstGeom>
            <a:ln>
              <a:noFill/>
            </a:ln>
          </p:spPr>
          <p:txBody>
            <a:bodyPr vert="horz" wrap="square" lIns="0" tIns="0" rIns="0" bIns="0" rtlCol="0">
              <a:spAutoFit/>
            </a:bodyPr>
            <a:lstStyle>
              <a:defPPr>
                <a:defRPr lang="en-US"/>
              </a:defPPr>
              <a:lvl1pPr marR="5080" indent="0">
                <a:lnSpc>
                  <a:spcPct val="90000"/>
                </a:lnSpc>
                <a:defRPr sz="1200" spc="85">
                  <a:solidFill>
                    <a:srgbClr val="FFFFFF"/>
                  </a:solidFill>
                  <a:cs typeface="Knockout-HTF29-JuniorLiteweight"/>
                </a:defRPr>
              </a:lvl1pPr>
            </a:lstStyle>
            <a:p>
              <a:pPr fontAlgn="auto">
                <a:lnSpc>
                  <a:spcPct val="100000"/>
                </a:lnSpc>
                <a:spcBef>
                  <a:spcPts val="0"/>
                </a:spcBef>
                <a:spcAft>
                  <a:spcPts val="0"/>
                </a:spcAft>
              </a:pPr>
              <a:r>
                <a:rPr lang="en-US" sz="1000" b="1" spc="0">
                  <a:solidFill>
                    <a:srgbClr val="000000"/>
                  </a:solidFill>
                  <a:latin typeface="Open Sans"/>
                  <a:ea typeface="+mn-ea"/>
                  <a:cs typeface="Open Sans"/>
                </a:rPr>
                <a:t>Phase 2:</a:t>
              </a:r>
              <a:endParaRPr lang="en-US" sz="900" b="1" spc="0">
                <a:solidFill>
                  <a:srgbClr val="000000"/>
                </a:solidFill>
                <a:latin typeface="Open Sans"/>
                <a:ea typeface="+mn-ea"/>
                <a:cs typeface="Open Sans"/>
              </a:endParaRPr>
            </a:p>
            <a:p>
              <a:pPr fontAlgn="auto">
                <a:lnSpc>
                  <a:spcPct val="100000"/>
                </a:lnSpc>
                <a:spcBef>
                  <a:spcPts val="0"/>
                </a:spcBef>
                <a:spcAft>
                  <a:spcPts val="0"/>
                </a:spcAft>
              </a:pPr>
              <a:r>
                <a:rPr lang="en-US" sz="900" spc="0">
                  <a:solidFill>
                    <a:srgbClr val="000000"/>
                  </a:solidFill>
                  <a:latin typeface="Open Sans"/>
                  <a:ea typeface="+mn-ea"/>
                  <a:cs typeface="Open Sans"/>
                </a:rPr>
                <a:t>Build Prod</a:t>
              </a:r>
            </a:p>
          </p:txBody>
        </p:sp>
        <p:sp>
          <p:nvSpPr>
            <p:cNvPr id="31" name="Rectangle 30">
              <a:extLst>
                <a:ext uri="{FF2B5EF4-FFF2-40B4-BE49-F238E27FC236}">
                  <a16:creationId xmlns:a16="http://schemas.microsoft.com/office/drawing/2014/main" id="{74F4D725-31AD-D317-A117-8BC1933FABCA}"/>
                </a:ext>
              </a:extLst>
            </p:cNvPr>
            <p:cNvSpPr/>
            <p:nvPr/>
          </p:nvSpPr>
          <p:spPr>
            <a:xfrm>
              <a:off x="10592666" y="1041654"/>
              <a:ext cx="1646313" cy="474060"/>
            </a:xfrm>
            <a:prstGeom prst="rect">
              <a:avLst/>
            </a:prstGeom>
            <a:noFill/>
            <a:ln>
              <a:solidFill>
                <a:srgbClr val="43B0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FF1D77B8-4B87-C98A-55C8-F2E8B440FC0F}"/>
                </a:ext>
              </a:extLst>
            </p:cNvPr>
            <p:cNvSpPr txBox="1"/>
            <p:nvPr/>
          </p:nvSpPr>
          <p:spPr>
            <a:xfrm>
              <a:off x="10779510" y="932564"/>
              <a:ext cx="928065" cy="246221"/>
            </a:xfrm>
            <a:prstGeom prst="rect">
              <a:avLst/>
            </a:prstGeom>
            <a:solidFill>
              <a:schemeClr val="bg1"/>
            </a:solidFill>
          </p:spPr>
          <p:txBody>
            <a:bodyPr wrap="square" rtlCol="0">
              <a:spAutoFit/>
            </a:bodyPr>
            <a:lstStyle/>
            <a:p>
              <a:pPr algn="ctr"/>
              <a:r>
                <a:rPr lang="en-US" sz="1000" b="1">
                  <a:latin typeface="Open Sans" panose="020B0606030504020204" pitchFamily="34" charset="0"/>
                  <a:ea typeface="Open Sans" panose="020B0606030504020204" pitchFamily="34" charset="0"/>
                  <a:cs typeface="Open Sans" panose="020B0606030504020204" pitchFamily="34" charset="0"/>
                </a:rPr>
                <a:t>Stage 2</a:t>
              </a:r>
            </a:p>
          </p:txBody>
        </p:sp>
      </p:grpSp>
      <p:grpSp>
        <p:nvGrpSpPr>
          <p:cNvPr id="47" name="Group 46">
            <a:extLst>
              <a:ext uri="{FF2B5EF4-FFF2-40B4-BE49-F238E27FC236}">
                <a16:creationId xmlns:a16="http://schemas.microsoft.com/office/drawing/2014/main" id="{8909B98C-2E68-4E0C-B914-D145B348A272}"/>
              </a:ext>
            </a:extLst>
          </p:cNvPr>
          <p:cNvGrpSpPr/>
          <p:nvPr/>
        </p:nvGrpSpPr>
        <p:grpSpPr>
          <a:xfrm>
            <a:off x="469456" y="879677"/>
            <a:ext cx="399163" cy="5559225"/>
            <a:chOff x="469456" y="1254763"/>
            <a:chExt cx="399163" cy="5184137"/>
          </a:xfrm>
        </p:grpSpPr>
        <p:sp>
          <p:nvSpPr>
            <p:cNvPr id="48" name="Pentagon 194">
              <a:extLst>
                <a:ext uri="{FF2B5EF4-FFF2-40B4-BE49-F238E27FC236}">
                  <a16:creationId xmlns:a16="http://schemas.microsoft.com/office/drawing/2014/main" id="{67FF85D4-B9C8-4CE1-BE05-B1A533764A4D}"/>
                </a:ext>
              </a:extLst>
            </p:cNvPr>
            <p:cNvSpPr>
              <a:spLocks/>
            </p:cNvSpPr>
            <p:nvPr/>
          </p:nvSpPr>
          <p:spPr>
            <a:xfrm rot="16200000">
              <a:off x="-150113" y="1874332"/>
              <a:ext cx="1638300" cy="399162"/>
            </a:xfrm>
            <a:prstGeom prst="chevron">
              <a:avLst/>
            </a:prstGeom>
            <a:solidFill>
              <a:schemeClr val="bg1">
                <a:lumMod val="9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kern="0">
                  <a:solidFill>
                    <a:srgbClr val="000000"/>
                  </a:solidFill>
                  <a:latin typeface="Open Sans"/>
                  <a:cs typeface="Open Sans"/>
                </a:rPr>
                <a:t>Timeline</a:t>
              </a:r>
            </a:p>
          </p:txBody>
        </p:sp>
        <p:sp>
          <p:nvSpPr>
            <p:cNvPr id="49" name="Pentagon 194">
              <a:extLst>
                <a:ext uri="{FF2B5EF4-FFF2-40B4-BE49-F238E27FC236}">
                  <a16:creationId xmlns:a16="http://schemas.microsoft.com/office/drawing/2014/main" id="{71B8450C-D1F1-488E-BEB8-7159CB9B14D0}"/>
                </a:ext>
              </a:extLst>
            </p:cNvPr>
            <p:cNvSpPr>
              <a:spLocks/>
            </p:cNvSpPr>
            <p:nvPr/>
          </p:nvSpPr>
          <p:spPr>
            <a:xfrm rot="16200000">
              <a:off x="-587935" y="3856801"/>
              <a:ext cx="2513945" cy="399162"/>
            </a:xfrm>
            <a:prstGeom prst="chevron">
              <a:avLst/>
            </a:prstGeom>
            <a:solidFill>
              <a:schemeClr val="bg1">
                <a:lumMod val="8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ATS Build-out</a:t>
              </a:r>
            </a:p>
          </p:txBody>
        </p:sp>
        <p:sp>
          <p:nvSpPr>
            <p:cNvPr id="50" name="Pentagon 194">
              <a:extLst>
                <a:ext uri="{FF2B5EF4-FFF2-40B4-BE49-F238E27FC236}">
                  <a16:creationId xmlns:a16="http://schemas.microsoft.com/office/drawing/2014/main" id="{E75B116E-E585-48F9-84DC-F54EFBD14A75}"/>
                </a:ext>
              </a:extLst>
            </p:cNvPr>
            <p:cNvSpPr>
              <a:spLocks/>
            </p:cNvSpPr>
            <p:nvPr/>
          </p:nvSpPr>
          <p:spPr>
            <a:xfrm rot="16200000">
              <a:off x="59437" y="5629719"/>
              <a:ext cx="1219200" cy="399162"/>
            </a:xfrm>
            <a:prstGeom prst="homePlate">
              <a:avLst/>
            </a:prstGeom>
            <a:solidFill>
              <a:schemeClr val="bg1">
                <a:lumMod val="7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Deliverables</a:t>
              </a:r>
            </a:p>
          </p:txBody>
        </p:sp>
      </p:grpSp>
      <p:grpSp>
        <p:nvGrpSpPr>
          <p:cNvPr id="4" name="Group 3">
            <a:extLst>
              <a:ext uri="{FF2B5EF4-FFF2-40B4-BE49-F238E27FC236}">
                <a16:creationId xmlns:a16="http://schemas.microsoft.com/office/drawing/2014/main" id="{C6A33289-D4F3-451B-A5F7-F1DC83CF5E27}"/>
              </a:ext>
            </a:extLst>
          </p:cNvPr>
          <p:cNvGrpSpPr/>
          <p:nvPr/>
        </p:nvGrpSpPr>
        <p:grpSpPr>
          <a:xfrm>
            <a:off x="983092" y="1545352"/>
            <a:ext cx="10753637" cy="425486"/>
            <a:chOff x="983092" y="989268"/>
            <a:chExt cx="10753637" cy="425486"/>
          </a:xfrm>
        </p:grpSpPr>
        <p:cxnSp>
          <p:nvCxnSpPr>
            <p:cNvPr id="46" name="Straight Connector 45">
              <a:extLst>
                <a:ext uri="{FF2B5EF4-FFF2-40B4-BE49-F238E27FC236}">
                  <a16:creationId xmlns:a16="http://schemas.microsoft.com/office/drawing/2014/main" id="{EFF1A305-E8DC-43D7-BA5B-5F2779C8562B}"/>
                </a:ext>
              </a:extLst>
            </p:cNvPr>
            <p:cNvCxnSpPr>
              <a:cxnSpLocks/>
            </p:cNvCxnSpPr>
            <p:nvPr/>
          </p:nvCxnSpPr>
          <p:spPr>
            <a:xfrm>
              <a:off x="983848" y="1309622"/>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5EE26D0-A4FD-493B-932F-69FEF9EF64AA}"/>
                </a:ext>
              </a:extLst>
            </p:cNvPr>
            <p:cNvCxnSpPr>
              <a:cxnSpLocks/>
            </p:cNvCxnSpPr>
            <p:nvPr/>
          </p:nvCxnSpPr>
          <p:spPr>
            <a:xfrm>
              <a:off x="983848" y="1081601"/>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6" name="object 26">
              <a:extLst>
                <a:ext uri="{FF2B5EF4-FFF2-40B4-BE49-F238E27FC236}">
                  <a16:creationId xmlns:a16="http://schemas.microsoft.com/office/drawing/2014/main" id="{47ED6E4E-5369-457F-85E6-4A86E8425C8F}"/>
                </a:ext>
              </a:extLst>
            </p:cNvPr>
            <p:cNvSpPr txBox="1"/>
            <p:nvPr/>
          </p:nvSpPr>
          <p:spPr>
            <a:xfrm>
              <a:off x="5968510" y="989268"/>
              <a:ext cx="783556" cy="184666"/>
            </a:xfrm>
            <a:prstGeom prst="rect">
              <a:avLst/>
            </a:prstGeom>
            <a:solidFill>
              <a:schemeClr val="bg1"/>
            </a:solidFill>
            <a:ln w="76200" cmpd="sng">
              <a:noFill/>
            </a:ln>
          </p:spPr>
          <p:txBody>
            <a:bodyPr vert="horz" wrap="square" lIns="45720" tIns="0" rIns="45720" bIns="0" rtlCol="0">
              <a:spAutoFit/>
            </a:bodyPr>
            <a:lstStyle/>
            <a:p>
              <a:pPr marL="12700" marR="0" lvl="0" indent="0" algn="ctr" defTabSz="914400" eaLnBrk="1" fontAlgn="auto" latinLnBrk="0" hangingPunct="1">
                <a:lnSpc>
                  <a:spcPct val="100000"/>
                </a:lnSpc>
                <a:spcBef>
                  <a:spcPts val="0"/>
                </a:spcBef>
                <a:spcAft>
                  <a:spcPts val="0"/>
                </a:spcAft>
                <a:buClrTx/>
                <a:buSzTx/>
                <a:buFontTx/>
                <a:buNone/>
                <a:tabLst/>
                <a:defRPr/>
              </a:pPr>
              <a:r>
                <a:rPr lang="en-US" sz="1200" b="1" kern="0">
                  <a:solidFill>
                    <a:srgbClr val="000000"/>
                  </a:solidFill>
                  <a:latin typeface="Open Sans"/>
                  <a:ea typeface="+mn-ea"/>
                  <a:cs typeface="Open Sans"/>
                </a:rPr>
                <a:t>Months</a:t>
              </a:r>
              <a:endParaRPr kumimoji="0" lang="en-US" sz="1200" b="1" i="0" u="none" strike="noStrike" kern="0" cap="none" spc="0" normalizeH="0" baseline="0" noProof="0">
                <a:ln>
                  <a:noFill/>
                </a:ln>
                <a:solidFill>
                  <a:srgbClr val="000000"/>
                </a:solidFill>
                <a:effectLst/>
                <a:uLnTx/>
                <a:uFillTx/>
                <a:latin typeface="Open Sans"/>
                <a:ea typeface="+mn-ea"/>
                <a:cs typeface="Open Sans"/>
              </a:endParaRPr>
            </a:p>
          </p:txBody>
        </p:sp>
        <p:sp>
          <p:nvSpPr>
            <p:cNvPr id="67" name="Oval 66">
              <a:extLst>
                <a:ext uri="{FF2B5EF4-FFF2-40B4-BE49-F238E27FC236}">
                  <a16:creationId xmlns:a16="http://schemas.microsoft.com/office/drawing/2014/main" id="{A9BED6CE-8BC7-47C7-98AE-17947857DF8C}"/>
                </a:ext>
              </a:extLst>
            </p:cNvPr>
            <p:cNvSpPr/>
            <p:nvPr/>
          </p:nvSpPr>
          <p:spPr bwMode="gray">
            <a:xfrm>
              <a:off x="983092"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0</a:t>
              </a:r>
            </a:p>
          </p:txBody>
        </p:sp>
        <p:sp>
          <p:nvSpPr>
            <p:cNvPr id="68" name="Oval 67">
              <a:extLst>
                <a:ext uri="{FF2B5EF4-FFF2-40B4-BE49-F238E27FC236}">
                  <a16:creationId xmlns:a16="http://schemas.microsoft.com/office/drawing/2014/main" id="{BD73F761-9ECF-43E7-8D50-376582F69E60}"/>
                </a:ext>
              </a:extLst>
            </p:cNvPr>
            <p:cNvSpPr/>
            <p:nvPr/>
          </p:nvSpPr>
          <p:spPr bwMode="gray">
            <a:xfrm>
              <a:off x="2219381"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1</a:t>
              </a:r>
            </a:p>
          </p:txBody>
        </p:sp>
        <p:sp>
          <p:nvSpPr>
            <p:cNvPr id="69" name="Oval 68">
              <a:extLst>
                <a:ext uri="{FF2B5EF4-FFF2-40B4-BE49-F238E27FC236}">
                  <a16:creationId xmlns:a16="http://schemas.microsoft.com/office/drawing/2014/main" id="{D1BD3B6F-25CC-4926-A112-1E2B975D1EDB}"/>
                </a:ext>
              </a:extLst>
            </p:cNvPr>
            <p:cNvSpPr/>
            <p:nvPr/>
          </p:nvSpPr>
          <p:spPr bwMode="gray">
            <a:xfrm>
              <a:off x="357478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2</a:t>
              </a:r>
            </a:p>
          </p:txBody>
        </p:sp>
        <p:sp>
          <p:nvSpPr>
            <p:cNvPr id="70" name="Oval 69">
              <a:extLst>
                <a:ext uri="{FF2B5EF4-FFF2-40B4-BE49-F238E27FC236}">
                  <a16:creationId xmlns:a16="http://schemas.microsoft.com/office/drawing/2014/main" id="{E63F87D5-C0C8-4988-8830-173A5C236E3E}"/>
                </a:ext>
              </a:extLst>
            </p:cNvPr>
            <p:cNvSpPr/>
            <p:nvPr/>
          </p:nvSpPr>
          <p:spPr bwMode="gray">
            <a:xfrm>
              <a:off x="4839727"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3</a:t>
              </a:r>
            </a:p>
          </p:txBody>
        </p:sp>
        <p:sp>
          <p:nvSpPr>
            <p:cNvPr id="71" name="Oval 70">
              <a:extLst>
                <a:ext uri="{FF2B5EF4-FFF2-40B4-BE49-F238E27FC236}">
                  <a16:creationId xmlns:a16="http://schemas.microsoft.com/office/drawing/2014/main" id="{77E2DAE2-4E22-4C2F-8DBD-634E336F7E5A}"/>
                </a:ext>
              </a:extLst>
            </p:cNvPr>
            <p:cNvSpPr/>
            <p:nvPr/>
          </p:nvSpPr>
          <p:spPr bwMode="gray">
            <a:xfrm>
              <a:off x="618858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4</a:t>
              </a:r>
            </a:p>
          </p:txBody>
        </p:sp>
        <p:sp>
          <p:nvSpPr>
            <p:cNvPr id="74" name="Oval 73">
              <a:extLst>
                <a:ext uri="{FF2B5EF4-FFF2-40B4-BE49-F238E27FC236}">
                  <a16:creationId xmlns:a16="http://schemas.microsoft.com/office/drawing/2014/main" id="{287789DC-5C9F-48A7-8CB4-73AFFE45FBB1}"/>
                </a:ext>
              </a:extLst>
            </p:cNvPr>
            <p:cNvSpPr/>
            <p:nvPr/>
          </p:nvSpPr>
          <p:spPr bwMode="gray">
            <a:xfrm>
              <a:off x="749727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5</a:t>
              </a:r>
            </a:p>
          </p:txBody>
        </p:sp>
        <p:sp>
          <p:nvSpPr>
            <p:cNvPr id="77" name="Oval 76">
              <a:extLst>
                <a:ext uri="{FF2B5EF4-FFF2-40B4-BE49-F238E27FC236}">
                  <a16:creationId xmlns:a16="http://schemas.microsoft.com/office/drawing/2014/main" id="{B402D31F-030A-4869-B368-9C939BC39B85}"/>
                </a:ext>
              </a:extLst>
            </p:cNvPr>
            <p:cNvSpPr/>
            <p:nvPr/>
          </p:nvSpPr>
          <p:spPr bwMode="gray">
            <a:xfrm>
              <a:off x="8881538"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6</a:t>
              </a:r>
            </a:p>
          </p:txBody>
        </p:sp>
        <p:sp>
          <p:nvSpPr>
            <p:cNvPr id="79" name="Oval 78">
              <a:extLst>
                <a:ext uri="{FF2B5EF4-FFF2-40B4-BE49-F238E27FC236}">
                  <a16:creationId xmlns:a16="http://schemas.microsoft.com/office/drawing/2014/main" id="{785C59E1-9C09-4569-9E2F-984F7FC16868}"/>
                </a:ext>
              </a:extLst>
            </p:cNvPr>
            <p:cNvSpPr/>
            <p:nvPr/>
          </p:nvSpPr>
          <p:spPr bwMode="gray">
            <a:xfrm>
              <a:off x="1005516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7</a:t>
              </a:r>
            </a:p>
          </p:txBody>
        </p:sp>
        <p:sp>
          <p:nvSpPr>
            <p:cNvPr id="80" name="Oval 79">
              <a:extLst>
                <a:ext uri="{FF2B5EF4-FFF2-40B4-BE49-F238E27FC236}">
                  <a16:creationId xmlns:a16="http://schemas.microsoft.com/office/drawing/2014/main" id="{3C794411-2F2B-4278-9C5A-F2C32871AAEA}"/>
                </a:ext>
              </a:extLst>
            </p:cNvPr>
            <p:cNvSpPr/>
            <p:nvPr/>
          </p:nvSpPr>
          <p:spPr bwMode="gray">
            <a:xfrm>
              <a:off x="1133832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8</a:t>
              </a:r>
            </a:p>
          </p:txBody>
        </p:sp>
        <p:sp>
          <p:nvSpPr>
            <p:cNvPr id="83" name="Oval 82">
              <a:extLst>
                <a:ext uri="{FF2B5EF4-FFF2-40B4-BE49-F238E27FC236}">
                  <a16:creationId xmlns:a16="http://schemas.microsoft.com/office/drawing/2014/main" id="{7EEDCD53-89F9-4E82-BCE8-83C6918A4710}"/>
                </a:ext>
              </a:extLst>
            </p:cNvPr>
            <p:cNvSpPr/>
            <p:nvPr/>
          </p:nvSpPr>
          <p:spPr bwMode="gray">
            <a:xfrm>
              <a:off x="166204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4" name="Oval 83">
              <a:extLst>
                <a:ext uri="{FF2B5EF4-FFF2-40B4-BE49-F238E27FC236}">
                  <a16:creationId xmlns:a16="http://schemas.microsoft.com/office/drawing/2014/main" id="{8C24C28C-E044-4AC5-8A39-F290AB944776}"/>
                </a:ext>
              </a:extLst>
            </p:cNvPr>
            <p:cNvSpPr/>
            <p:nvPr/>
          </p:nvSpPr>
          <p:spPr bwMode="gray">
            <a:xfrm>
              <a:off x="2972318"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5" name="Oval 84">
              <a:extLst>
                <a:ext uri="{FF2B5EF4-FFF2-40B4-BE49-F238E27FC236}">
                  <a16:creationId xmlns:a16="http://schemas.microsoft.com/office/drawing/2014/main" id="{F24A9B79-E099-43E5-ACDE-14BA110FBCE8}"/>
                </a:ext>
              </a:extLst>
            </p:cNvPr>
            <p:cNvSpPr/>
            <p:nvPr/>
          </p:nvSpPr>
          <p:spPr bwMode="gray">
            <a:xfrm>
              <a:off x="4297036"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6" name="Oval 85">
              <a:extLst>
                <a:ext uri="{FF2B5EF4-FFF2-40B4-BE49-F238E27FC236}">
                  <a16:creationId xmlns:a16="http://schemas.microsoft.com/office/drawing/2014/main" id="{2148392A-F03D-4EFC-9B4B-90033276EA46}"/>
                </a:ext>
              </a:extLst>
            </p:cNvPr>
            <p:cNvSpPr/>
            <p:nvPr/>
          </p:nvSpPr>
          <p:spPr bwMode="gray">
            <a:xfrm>
              <a:off x="5588133"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7" name="Oval 86">
              <a:extLst>
                <a:ext uri="{FF2B5EF4-FFF2-40B4-BE49-F238E27FC236}">
                  <a16:creationId xmlns:a16="http://schemas.microsoft.com/office/drawing/2014/main" id="{690B3F8D-8EDB-4E71-9000-B2248A57E16C}"/>
                </a:ext>
              </a:extLst>
            </p:cNvPr>
            <p:cNvSpPr/>
            <p:nvPr/>
          </p:nvSpPr>
          <p:spPr bwMode="gray">
            <a:xfrm>
              <a:off x="6899677"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8" name="Oval 87">
              <a:extLst>
                <a:ext uri="{FF2B5EF4-FFF2-40B4-BE49-F238E27FC236}">
                  <a16:creationId xmlns:a16="http://schemas.microsoft.com/office/drawing/2014/main" id="{E3059D30-EC84-467E-89E4-6C766ACC67BD}"/>
                </a:ext>
              </a:extLst>
            </p:cNvPr>
            <p:cNvSpPr/>
            <p:nvPr/>
          </p:nvSpPr>
          <p:spPr bwMode="gray">
            <a:xfrm>
              <a:off x="8284612"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9" name="Oval 88">
              <a:extLst>
                <a:ext uri="{FF2B5EF4-FFF2-40B4-BE49-F238E27FC236}">
                  <a16:creationId xmlns:a16="http://schemas.microsoft.com/office/drawing/2014/main" id="{736B85EF-11F0-4DE9-B3FE-1ACB61AE60EF}"/>
                </a:ext>
              </a:extLst>
            </p:cNvPr>
            <p:cNvSpPr/>
            <p:nvPr/>
          </p:nvSpPr>
          <p:spPr bwMode="gray">
            <a:xfrm>
              <a:off x="9511415"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90" name="Oval 89">
              <a:extLst>
                <a:ext uri="{FF2B5EF4-FFF2-40B4-BE49-F238E27FC236}">
                  <a16:creationId xmlns:a16="http://schemas.microsoft.com/office/drawing/2014/main" id="{84EC4F26-85C4-4F00-AA81-CA927695B70B}"/>
                </a:ext>
              </a:extLst>
            </p:cNvPr>
            <p:cNvSpPr/>
            <p:nvPr/>
          </p:nvSpPr>
          <p:spPr bwMode="gray">
            <a:xfrm>
              <a:off x="1077951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grpSp>
      <p:sp>
        <p:nvSpPr>
          <p:cNvPr id="5" name="Rectangle 4">
            <a:extLst>
              <a:ext uri="{FF2B5EF4-FFF2-40B4-BE49-F238E27FC236}">
                <a16:creationId xmlns:a16="http://schemas.microsoft.com/office/drawing/2014/main" id="{B216C3C1-8D63-699B-9CC9-992CC426A912}"/>
              </a:ext>
            </a:extLst>
          </p:cNvPr>
          <p:cNvSpPr/>
          <p:nvPr/>
        </p:nvSpPr>
        <p:spPr>
          <a:xfrm>
            <a:off x="983093" y="1970838"/>
            <a:ext cx="3313944" cy="4647132"/>
          </a:xfrm>
          <a:prstGeom prst="rect">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6197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89B22BE06811840A13B8778E93A5EB1" ma:contentTypeVersion="6" ma:contentTypeDescription="Create a new document." ma:contentTypeScope="" ma:versionID="e6bb28ec8651c068d8d863d80df6bcd3">
  <xsd:schema xmlns:xsd="http://www.w3.org/2001/XMLSchema" xmlns:xs="http://www.w3.org/2001/XMLSchema" xmlns:p="http://schemas.microsoft.com/office/2006/metadata/properties" xmlns:ns2="60abb974-290a-4d2d-a7d7-9131eff0095d" xmlns:ns3="5f71fc39-fc89-4395-9438-cea9f45828f0" targetNamespace="http://schemas.microsoft.com/office/2006/metadata/properties" ma:root="true" ma:fieldsID="8a2dda2680ab78bb2d82e23db40a902c" ns2:_="" ns3:_="">
    <xsd:import namespace="60abb974-290a-4d2d-a7d7-9131eff0095d"/>
    <xsd:import namespace="5f71fc39-fc89-4395-9438-cea9f45828f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abb974-290a-4d2d-a7d7-9131eff009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f71fc39-fc89-4395-9438-cea9f45828f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3C0B813-B48B-41B5-BE72-CC76D4D292FA}">
  <ds:schemaRefs>
    <ds:schemaRef ds:uri="5f71fc39-fc89-4395-9438-cea9f45828f0"/>
    <ds:schemaRef ds:uri="60abb974-290a-4d2d-a7d7-9131eff009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5586B7F-1F04-4CB1-ADB6-84562D97203E}">
  <ds:schemaRefs>
    <ds:schemaRef ds:uri="5f71fc39-fc89-4395-9438-cea9f45828f0"/>
    <ds:schemaRef ds:uri="60abb974-290a-4d2d-a7d7-9131eff0095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D397B7F-F298-466F-9FFE-9E81B6E444C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8526</TotalTime>
  <Words>4930</Words>
  <Application>Microsoft Office PowerPoint</Application>
  <PresentationFormat>Widescreen</PresentationFormat>
  <Paragraphs>1080</Paragraphs>
  <Slides>33</Slides>
  <Notes>17</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3" baseType="lpstr">
      <vt:lpstr>Arial</vt:lpstr>
      <vt:lpstr>Calibri</vt:lpstr>
      <vt:lpstr>Calibri Light</vt:lpstr>
      <vt:lpstr>Futura</vt:lpstr>
      <vt:lpstr>Open Sans</vt:lpstr>
      <vt:lpstr>Open Sans Extrabold</vt:lpstr>
      <vt:lpstr>Verdana</vt:lpstr>
      <vt:lpstr>Wingdings 2</vt:lpstr>
      <vt:lpstr>Office Theme</vt:lpstr>
      <vt:lpstr>think-cell Slide</vt:lpstr>
      <vt:lpstr>PowerPoint Presentation</vt:lpstr>
      <vt:lpstr>PowerPoint Presentation</vt:lpstr>
      <vt:lpstr>PowerPoint Presentation</vt:lpstr>
      <vt:lpstr>PowerPoint Presentation</vt:lpstr>
      <vt:lpstr>PowerPoint Presentation</vt:lpstr>
      <vt:lpstr>Oracle Retail MVP Timeline        (8 Months assuming March 27 Start Date)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IPG Discovery Schedule</vt:lpstr>
      <vt:lpstr>Timeline</vt:lpstr>
      <vt:lpstr>8 Week Deliverables/Milestones/Dependencies</vt:lpstr>
      <vt:lpstr>PowerPoint Presentation</vt:lpstr>
      <vt:lpstr>IPG Discovery Schedule</vt:lpstr>
      <vt:lpstr>PowerPoint Presentation</vt:lpstr>
      <vt:lpstr>Timeline</vt:lpstr>
      <vt:lpstr>Timelines, Activities &amp; Deliverables –Integration POD to support Oracle Retail MVP</vt:lpstr>
      <vt:lpstr>Timelines, Activities &amp; Deliverables – Oracle Retail MVP QA</vt:lpstr>
      <vt:lpstr>4 Weeks schedule/activities</vt:lpstr>
      <vt:lpstr>4 Weeks schedule/activities</vt:lpstr>
      <vt:lpstr>PowerPoint Presentation</vt:lpstr>
      <vt:lpstr>Timelines, Activities and Deliverables – ESL IPG</vt:lpstr>
      <vt:lpstr>4 Weeks schedule/activities (contd)</vt:lpstr>
      <vt:lpstr>PowerPoint Presentation</vt:lpstr>
      <vt:lpstr>Detailed Timelines, Activities and Milestones : ESL-ATS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Gopalan, Arun</dc:creator>
  <cp:lastModifiedBy>Geoff Lyle</cp:lastModifiedBy>
  <cp:revision>5</cp:revision>
  <dcterms:created xsi:type="dcterms:W3CDTF">2023-03-07T14:03:00Z</dcterms:created>
  <dcterms:modified xsi:type="dcterms:W3CDTF">2023-04-12T03:17:37Z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2023-03-07T14:03:00Z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9cac7322-65e2-45c4-b567-6e48e752951e</vt:lpwstr>
  </property>
  <property fmtid="{D5CDD505-2E9C-101B-9397-08002B2CF9AE}" pid="8" name="MSIP_Label_ea60d57e-af5b-4752-ac57-3e4f28ca11dc_ContentBits">
    <vt:lpwstr>0</vt:lpwstr>
  </property>
  <property fmtid="{D5CDD505-2E9C-101B-9397-08002B2CF9AE}" pid="9" name="ContentTypeId">
    <vt:lpwstr>0x010100789B22BE06811840A13B8778E93A5EB1</vt:lpwstr>
  </property>
</Properties>
</file>