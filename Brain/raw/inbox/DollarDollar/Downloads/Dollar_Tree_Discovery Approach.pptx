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147471519" r:id="rId5"/>
    <p:sldId id="2147471521" r:id="rId6"/>
    <p:sldId id="2147471269" r:id="rId7"/>
    <p:sldId id="2147471528" r:id="rId8"/>
    <p:sldId id="2147471831" r:id="rId9"/>
    <p:sldId id="2147471835" r:id="rId10"/>
    <p:sldId id="2147471534" r:id="rId11"/>
    <p:sldId id="2147471832" r:id="rId12"/>
    <p:sldId id="2147471532" r:id="rId13"/>
    <p:sldId id="2147471538" r:id="rId14"/>
    <p:sldId id="2147471833" r:id="rId15"/>
    <p:sldId id="2147471834" r:id="rId16"/>
    <p:sldId id="2147471514" r:id="rId17"/>
    <p:sldId id="2147471299" r:id="rId18"/>
    <p:sldId id="2147471291" r:id="rId19"/>
    <p:sldId id="2147471543" r:id="rId20"/>
    <p:sldId id="2147471540" r:id="rId21"/>
    <p:sldId id="2147471541" r:id="rId22"/>
    <p:sldId id="2147471530" r:id="rId23"/>
    <p:sldId id="2147471542" r:id="rId24"/>
    <p:sldId id="2147471533" r:id="rId25"/>
    <p:sldId id="214747129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00"/>
    <a:srgbClr val="7F7F7F"/>
    <a:srgbClr val="43B02A"/>
    <a:srgbClr val="046A38"/>
    <a:srgbClr val="0076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F8930-2F44-4673-A7BE-689BBB2C0B51}" v="2572" dt="2023-03-21T21:17:44.986"/>
    <p1510:client id="{70A98B43-B3EF-41EA-87E3-A56DCB69C3D9}" v="595" dt="2023-03-21T21:24:30.581"/>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60" y="1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D17F6-ECE8-4493-ABFB-C4D8ED953670}" type="datetimeFigureOut">
              <a:rPr lang="en-US" smtClean="0"/>
              <a:t>3/22/2023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05186-EE54-4CC4-BEBC-7E32B9314DBC}" type="slidenum">
              <a:rPr lang="en-US" smtClean="0"/>
              <a:t>‹#›</a:t>
            </a:fld>
            <a:endParaRPr lang="en-US"/>
          </a:p>
        </p:txBody>
      </p:sp>
    </p:spTree>
    <p:extLst>
      <p:ext uri="{BB962C8B-B14F-4D97-AF65-F5344CB8AC3E}">
        <p14:creationId xmlns:p14="http://schemas.microsoft.com/office/powerpoint/2010/main" val="377739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6EAC46D-CB23-468C-A4C4-6C6D96EAF761}" type="slidenum">
              <a:rPr kumimoji="0" lang="en-US" sz="1200" b="0" i="0" u="none" strike="noStrike" kern="1200" cap="none" spc="0" normalizeH="0" baseline="0" noProof="0" smtClean="0">
                <a:ln>
                  <a:noFill/>
                </a:ln>
                <a:solidFill>
                  <a:prstClr val="black"/>
                </a:solidFill>
                <a:effectLst/>
                <a:uLnTx/>
                <a:uFillTx/>
                <a:latin typeface="Open Sans" panose="020B0606030504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72877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77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586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3660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14</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1647ED-6139-4AD4-9755-EEB7F9EB06EB}" type="slidenum">
              <a:rPr lang="en-US" smtClean="0"/>
              <a:t>15</a:t>
            </a:fld>
            <a:endParaRPr lang="en-US"/>
          </a:p>
        </p:txBody>
      </p:sp>
    </p:spTree>
    <p:extLst>
      <p:ext uri="{BB962C8B-B14F-4D97-AF65-F5344CB8AC3E}">
        <p14:creationId xmlns:p14="http://schemas.microsoft.com/office/powerpoint/2010/main" val="1690834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how IPG will be working with QA </a:t>
            </a:r>
          </a:p>
        </p:txBody>
      </p:sp>
      <p:sp>
        <p:nvSpPr>
          <p:cNvPr id="4" name="Slide Number Placeholder 3"/>
          <p:cNvSpPr>
            <a:spLocks noGrp="1"/>
          </p:cNvSpPr>
          <p:nvPr>
            <p:ph type="sldNum" sz="quarter" idx="5"/>
          </p:nvPr>
        </p:nvSpPr>
        <p:spPr/>
        <p:txBody>
          <a:bodyPr/>
          <a:lstStyle/>
          <a:p>
            <a:fld id="{E71647ED-6139-4AD4-9755-EEB7F9EB06EB}" type="slidenum">
              <a:rPr lang="en-US" smtClean="0"/>
              <a:t>19</a:t>
            </a:fld>
            <a:endParaRPr lang="en-US"/>
          </a:p>
        </p:txBody>
      </p:sp>
    </p:spTree>
    <p:extLst>
      <p:ext uri="{BB962C8B-B14F-4D97-AF65-F5344CB8AC3E}">
        <p14:creationId xmlns:p14="http://schemas.microsoft.com/office/powerpoint/2010/main" val="2158140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this is a working model to support  Oracle Retail MVP.  Refine over the period of time for other nextgen apps implementation</a:t>
            </a:r>
          </a:p>
        </p:txBody>
      </p:sp>
      <p:sp>
        <p:nvSpPr>
          <p:cNvPr id="4" name="Slide Number Placeholder 3"/>
          <p:cNvSpPr>
            <a:spLocks noGrp="1"/>
          </p:cNvSpPr>
          <p:nvPr>
            <p:ph type="sldNum" sz="quarter" idx="5"/>
          </p:nvPr>
        </p:nvSpPr>
        <p:spPr/>
        <p:txBody>
          <a:bodyPr/>
          <a:lstStyle/>
          <a:p>
            <a:fld id="{E71647ED-6139-4AD4-9755-EEB7F9EB06EB}" type="slidenum">
              <a:rPr lang="en-US" smtClean="0"/>
              <a:t>22</a:t>
            </a:fld>
            <a:endParaRPr lang="en-US"/>
          </a:p>
        </p:txBody>
      </p:sp>
    </p:spTree>
    <p:extLst>
      <p:ext uri="{BB962C8B-B14F-4D97-AF65-F5344CB8AC3E}">
        <p14:creationId xmlns:p14="http://schemas.microsoft.com/office/powerpoint/2010/main" val="266173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ACA25-0E36-4900-A84F-24D14939DC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E4828B-C77A-4839-8958-D55552E53A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7865EA-37AB-46BE-8F3E-A4CA8BA69518}"/>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43B2EDFB-388F-4B50-95F5-4EDCC4F5B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FD7744-C64A-42F5-9E28-6DB5542FA42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20833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8F5E-9E4B-4C12-AAD5-87245380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2D447-D0F1-41D1-9C4E-F433564DA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4E46E-5D06-4275-BD5C-CD6578D9A8F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646F252E-F8D8-4026-B97D-0A820B36D7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6C006-1A65-4B05-A485-01C145DB8D86}"/>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88711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15C4-F6EC-4AD5-BA12-6478DC61CE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2A54-52E9-46DF-A0B8-5ADE0716E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E38C6-05B8-42FF-B59E-A4D016607522}"/>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BC6C3929-C20F-4B68-ACF8-C358FB370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76949-DF2A-4BFD-BD95-9B35E9FD2767}"/>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596389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1F6C-82FE-4270-91A8-B1F7A45EE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BC09D1-6000-41A4-B146-E8B0FAB09C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A3D11-87B2-412B-9D77-B1F94D3F0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ACAEEE-2CF9-4689-BE7A-A166F27E0F8A}"/>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CA20FD71-2655-4B2F-BC4E-29FADCF24E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05B7EB-9939-44A0-9B5D-8310CA4BD31E}"/>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057847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73C3C-BF77-4332-A7AB-64D313D23F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6682AA-11D7-4AF1-A300-95D513B539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897624-0139-47FA-8889-197546FB05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C8F22C-D0C4-4AC6-9DDE-759AEE59FE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56F6FA-4467-4016-A054-1CFB4045A9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93C9A-2AAB-4B21-9F6B-550C83F412F4}"/>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8" name="Footer Placeholder 7">
            <a:extLst>
              <a:ext uri="{FF2B5EF4-FFF2-40B4-BE49-F238E27FC236}">
                <a16:creationId xmlns:a16="http://schemas.microsoft.com/office/drawing/2014/main" id="{940CDFBB-E61E-4A98-A515-3E8355887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8A7AC-12A3-4941-BFE8-A7E016732DC0}"/>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315758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824C-AC1B-4EA4-8EF0-6821BD5246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6F6C41-97DB-4C43-B659-659C1D8B2354}"/>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4" name="Footer Placeholder 3">
            <a:extLst>
              <a:ext uri="{FF2B5EF4-FFF2-40B4-BE49-F238E27FC236}">
                <a16:creationId xmlns:a16="http://schemas.microsoft.com/office/drawing/2014/main" id="{CA4559E7-3A6E-4B91-954E-C12821A88C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BB992D-72BF-4572-BA64-BD5B72EBD78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23537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045F0B-91B1-4D5E-9210-6F953808A178}"/>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3" name="Footer Placeholder 2">
            <a:extLst>
              <a:ext uri="{FF2B5EF4-FFF2-40B4-BE49-F238E27FC236}">
                <a16:creationId xmlns:a16="http://schemas.microsoft.com/office/drawing/2014/main" id="{B52AA9EA-759A-4A49-800A-0FBAA21E3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6AE87-062D-443A-838F-C6A8EB3C75B5}"/>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654557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D714-30F7-4D1C-86B6-008B7AA88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5F727D-800A-4114-9013-596805FD7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C9204-DB20-44A6-8513-C1DE67893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E2724-99F9-45E0-98F1-1379CDA847E2}"/>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514C21BF-408E-4442-A264-032B081A9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7628B-B9E0-4B6C-939E-062F6DEDFFF1}"/>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723575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9F70-1CCB-4B48-99BB-3827A9C180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3A6982-54DD-4AD6-8174-0BF34D4A3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A1D05A-8245-4112-98D3-45A91E3E41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A0F16D-4C80-4D82-84D5-E8D2D49EEEDC}"/>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6" name="Footer Placeholder 5">
            <a:extLst>
              <a:ext uri="{FF2B5EF4-FFF2-40B4-BE49-F238E27FC236}">
                <a16:creationId xmlns:a16="http://schemas.microsoft.com/office/drawing/2014/main" id="{6FD8E81B-EE01-4EF7-8B5C-02D6469A06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D9CDD-B73E-4236-B008-0803B85B5BAA}"/>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410540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763D-1AD1-4169-9F56-D9457711F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6CC31-F312-4E35-A7C4-039FF64C2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7C22F-9ACF-4750-8762-5250ED74595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290BBFB0-C456-48E1-8CDF-DF43F0C78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6A636-98E7-4095-B088-0645A418150C}"/>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2207666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B88A1-631B-4AF2-94E0-9C58E7789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09E3C7-C1A9-4CDA-A5D9-65A441E5AD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A0DE3-E226-4A64-900B-FBFE471B8199}"/>
              </a:ext>
            </a:extLst>
          </p:cNvPr>
          <p:cNvSpPr>
            <a:spLocks noGrp="1"/>
          </p:cNvSpPr>
          <p:nvPr>
            <p:ph type="dt" sz="half" idx="10"/>
          </p:nvPr>
        </p:nvSpPr>
        <p:spPr/>
        <p:txBody>
          <a:body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BD22917A-6753-426C-A341-5BB1C692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66ADA-6ED2-4FD4-A456-F3BA46D6581F}"/>
              </a:ext>
            </a:extLst>
          </p:cNvPr>
          <p:cNvSpPr>
            <a:spLocks noGrp="1"/>
          </p:cNvSpPr>
          <p:nvPr>
            <p:ph type="sldNum" sz="quarter" idx="12"/>
          </p:nvPr>
        </p:nvSpPr>
        <p:spPr/>
        <p:txBody>
          <a:bodyPr/>
          <a:lstStyle/>
          <a:p>
            <a:fld id="{A803169B-71D3-417C-B033-13F48CE18F9C}" type="slidenum">
              <a:rPr lang="en-US" smtClean="0"/>
              <a:t>‹#›</a:t>
            </a:fld>
            <a:endParaRPr lang="en-US"/>
          </a:p>
        </p:txBody>
      </p:sp>
    </p:spTree>
    <p:extLst>
      <p:ext uri="{BB962C8B-B14F-4D97-AF65-F5344CB8AC3E}">
        <p14:creationId xmlns:p14="http://schemas.microsoft.com/office/powerpoint/2010/main" val="138106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070EDC-AD72-4D14-AA99-A68687567A84}"/>
              </a:ext>
            </a:extLst>
          </p:cNvPr>
          <p:cNvSpPr/>
          <p:nvPr userDrawn="1"/>
        </p:nvSpPr>
        <p:spPr bwMode="gray">
          <a:xfrm>
            <a:off x="0" y="0"/>
            <a:ext cx="12192000" cy="6858000"/>
          </a:xfrm>
          <a:prstGeom prst="rect">
            <a:avLst/>
          </a:prstGeom>
          <a:gradFill flip="none" rotWithShape="1">
            <a:gsLst>
              <a:gs pos="0">
                <a:schemeClr val="bg1"/>
              </a:gs>
              <a:gs pos="100000">
                <a:schemeClr val="bg1">
                  <a:lumMod val="85000"/>
                </a:schemeClr>
              </a:gs>
            </a:gsLst>
            <a:path path="circle">
              <a:fillToRect l="100000" t="100000"/>
            </a:path>
            <a:tileRect r="-100000" b="-10000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grpSp>
        <p:nvGrpSpPr>
          <p:cNvPr id="27" name="Group 26">
            <a:extLst>
              <a:ext uri="{FF2B5EF4-FFF2-40B4-BE49-F238E27FC236}">
                <a16:creationId xmlns:a16="http://schemas.microsoft.com/office/drawing/2014/main" id="{A01EE57E-4C1B-4ECF-94C5-14A453751EA1}"/>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28" name="Oval 5">
              <a:extLst>
                <a:ext uri="{FF2B5EF4-FFF2-40B4-BE49-F238E27FC236}">
                  <a16:creationId xmlns:a16="http://schemas.microsoft.com/office/drawing/2014/main" id="{848B10DB-7BA0-47A6-A2BF-E43FDE325327}"/>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6">
              <a:extLst>
                <a:ext uri="{FF2B5EF4-FFF2-40B4-BE49-F238E27FC236}">
                  <a16:creationId xmlns:a16="http://schemas.microsoft.com/office/drawing/2014/main" id="{B690FCB5-02B0-42C1-A71D-2F5ABCA25FF7}"/>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3" name="Rectangle 7">
              <a:extLst>
                <a:ext uri="{FF2B5EF4-FFF2-40B4-BE49-F238E27FC236}">
                  <a16:creationId xmlns:a16="http://schemas.microsoft.com/office/drawing/2014/main" id="{358223E3-2772-41EC-BDC5-F0327F14B28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8">
              <a:extLst>
                <a:ext uri="{FF2B5EF4-FFF2-40B4-BE49-F238E27FC236}">
                  <a16:creationId xmlns:a16="http://schemas.microsoft.com/office/drawing/2014/main" id="{60E75CE7-1268-47E9-A585-16E350CB097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9">
              <a:extLst>
                <a:ext uri="{FF2B5EF4-FFF2-40B4-BE49-F238E27FC236}">
                  <a16:creationId xmlns:a16="http://schemas.microsoft.com/office/drawing/2014/main" id="{BF8B8A80-FD9A-43B9-A936-A0BE1CAD803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Rectangle 10">
              <a:extLst>
                <a:ext uri="{FF2B5EF4-FFF2-40B4-BE49-F238E27FC236}">
                  <a16:creationId xmlns:a16="http://schemas.microsoft.com/office/drawing/2014/main" id="{5DA18E48-2689-422E-A84C-ECB5B61A0D2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Freeform 11">
              <a:extLst>
                <a:ext uri="{FF2B5EF4-FFF2-40B4-BE49-F238E27FC236}">
                  <a16:creationId xmlns:a16="http://schemas.microsoft.com/office/drawing/2014/main" id="{D9316E24-7A8A-4FCF-B2C4-4EE40E3BA99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Freeform 12">
              <a:extLst>
                <a:ext uri="{FF2B5EF4-FFF2-40B4-BE49-F238E27FC236}">
                  <a16:creationId xmlns:a16="http://schemas.microsoft.com/office/drawing/2014/main" id="{76354CE9-D577-46E8-886D-1BBB079BE4DC}"/>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3">
              <a:extLst>
                <a:ext uri="{FF2B5EF4-FFF2-40B4-BE49-F238E27FC236}">
                  <a16:creationId xmlns:a16="http://schemas.microsoft.com/office/drawing/2014/main" id="{2232419E-4011-4B15-A744-7F8FCDD1F55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2F957E66-C402-4A51-A806-6052AEAFC8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35332253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vider">
    <p:bg>
      <p:bgPr>
        <a:gradFill>
          <a:gsLst>
            <a:gs pos="0">
              <a:schemeClr val="bg1">
                <a:lumMod val="75000"/>
              </a:schemeClr>
            </a:gs>
            <a:gs pos="100000">
              <a:schemeClr val="bg1">
                <a:lumMod val="95000"/>
              </a:schemeClr>
            </a:gs>
          </a:gsLst>
          <a:lin ang="27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8982B5D-013A-4631-A340-92E6F504C430}"/>
              </a:ext>
            </a:extLst>
          </p:cNvPr>
          <p:cNvSpPr>
            <a:spLocks noGrp="1"/>
          </p:cNvSpPr>
          <p:nvPr>
            <p:ph type="body" sz="quarter" idx="10" hasCustomPrompt="1"/>
          </p:nvPr>
        </p:nvSpPr>
        <p:spPr>
          <a:xfrm>
            <a:off x="457200" y="1714500"/>
            <a:ext cx="6934200" cy="2786063"/>
          </a:xfrm>
          <a:prstGeom prst="rect">
            <a:avLst/>
          </a:prstGeom>
        </p:spPr>
        <p:txBody>
          <a:bodyPr/>
          <a:lstStyle>
            <a:lvl1pPr>
              <a:defRPr sz="4000">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Divider Heading</a:t>
            </a:r>
          </a:p>
        </p:txBody>
      </p:sp>
    </p:spTree>
    <p:extLst>
      <p:ext uri="{BB962C8B-B14F-4D97-AF65-F5344CB8AC3E}">
        <p14:creationId xmlns:p14="http://schemas.microsoft.com/office/powerpoint/2010/main" val="179750505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778190"/>
            <a:ext cx="11277600" cy="215444"/>
          </a:xfrm>
          <a:prstGeom prst="rect">
            <a:avLst/>
          </a:prstGeom>
        </p:spPr>
        <p:txBody>
          <a:bodyPr lIns="0" tIns="0" rIns="0" bIns="0">
            <a:spAutoFit/>
          </a:bodyPr>
          <a:lstStyle>
            <a:lvl1pPr marL="0" indent="0">
              <a:spcBef>
                <a:spcPts val="0"/>
              </a:spcBef>
              <a:spcAft>
                <a:spcPts val="0"/>
              </a:spcAft>
              <a:buNone/>
              <a:defRPr sz="1400" b="0">
                <a:solidFill>
                  <a:srgbClr val="53565A"/>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400110"/>
          </a:xfrm>
          <a:prstGeom prst="rect">
            <a:avLst/>
          </a:prstGeom>
        </p:spPr>
        <p:txBody>
          <a:bodyPr vert="horz" lIns="0" tIns="0" rIns="0" bIns="0" rtlCol="0" anchor="t" anchorCtr="0">
            <a:spAutoFit/>
          </a:bodyPr>
          <a:lstStyle>
            <a:lvl1pPr>
              <a:spcBef>
                <a:spcPts val="0"/>
              </a:spcBef>
              <a:spcAft>
                <a:spcPts val="0"/>
              </a:spcAft>
              <a:defRPr sz="2600">
                <a:latin typeface="+mj-lt"/>
              </a:defRPr>
            </a:lvl1pPr>
          </a:lstStyle>
          <a:p>
            <a:r>
              <a:rPr lang="en-US"/>
              <a:t>Click to add title</a:t>
            </a:r>
          </a:p>
        </p:txBody>
      </p:sp>
    </p:spTree>
    <p:extLst>
      <p:ext uri="{BB962C8B-B14F-4D97-AF65-F5344CB8AC3E}">
        <p14:creationId xmlns:p14="http://schemas.microsoft.com/office/powerpoint/2010/main" val="266942280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hank you ">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04583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ODY WITHOUT BREADCRUMB">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26112B3-744D-495C-BDC1-C08F4946CBA5}"/>
              </a:ext>
            </a:extLst>
          </p:cNvPr>
          <p:cNvGraphicFramePr>
            <a:graphicFrameLocks noChangeAspect="1"/>
          </p:cNvGraphicFramePr>
          <p:nvPr userDrawn="1">
            <p:custDataLst>
              <p:tags r:id="rId1"/>
            </p:custDataLst>
            <p:extLst>
              <p:ext uri="{D42A27DB-BD31-4B8C-83A1-F6EECF244321}">
                <p14:modId xmlns:p14="http://schemas.microsoft.com/office/powerpoint/2010/main" val="1416931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3" name="Object 2" hidden="1">
                        <a:extLst>
                          <a:ext uri="{FF2B5EF4-FFF2-40B4-BE49-F238E27FC236}">
                            <a16:creationId xmlns:a16="http://schemas.microsoft.com/office/drawing/2014/main" id="{A26112B3-744D-495C-BDC1-C08F4946CB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4B580A5E-854F-4C53-84FB-FCAB15D68BB7}"/>
              </a:ext>
            </a:extLst>
          </p:cNvPr>
          <p:cNvSpPr>
            <a:spLocks noGrp="1"/>
          </p:cNvSpPr>
          <p:nvPr>
            <p:ph type="body" sz="quarter" idx="10" hasCustomPrompt="1"/>
          </p:nvPr>
        </p:nvSpPr>
        <p:spPr>
          <a:xfrm>
            <a:off x="126998" y="150168"/>
            <a:ext cx="9966960" cy="461665"/>
          </a:xfrm>
          <a:prstGeom prst="rect">
            <a:avLst/>
          </a:prstGeom>
        </p:spPr>
        <p:txBody>
          <a:bodyPr wrap="square" anchor="ctr">
            <a:spAutoFit/>
          </a:bodyPr>
          <a:lstStyle>
            <a:lvl1pPr marL="0" indent="0">
              <a:buNone/>
              <a:defRPr kumimoji="0" lang="en-US" sz="2400" b="1" i="0" u="none" strike="noStrike" kern="0" cap="none" spc="0" normalizeH="0" baseline="0" smtClean="0">
                <a:ln>
                  <a:noFill/>
                </a:ln>
                <a:solidFill>
                  <a:srgbClr val="FFFFFF"/>
                </a:solidFill>
                <a:effectLst/>
                <a:uLnTx/>
                <a:uFillTx/>
                <a:latin typeface="Futura"/>
                <a:ea typeface="Open Sans ExtraBold" panose="020B0906030804020204" pitchFamily="34" charset="0"/>
                <a:cs typeface="Open Sans ExtraBold" panose="020B0906030804020204" pitchFamily="34" charset="0"/>
              </a:defRPr>
            </a:lvl1pPr>
            <a:lvl2pPr>
              <a:defRPr lang="en-US" sz="1800" smtClean="0"/>
            </a:lvl2pPr>
            <a:lvl3pPr>
              <a:defRPr lang="en-US" sz="1800" smtClean="0"/>
            </a:lvl3pPr>
            <a:lvl4pPr>
              <a:defRPr lang="en-US" smtClean="0"/>
            </a:lvl4pPr>
            <a:lvl5pPr>
              <a:defRPr lang="en-US"/>
            </a:lvl5pPr>
          </a:lstStyle>
          <a:p>
            <a:pPr marL="228600" marR="0" lvl="0" indent="-228600" fontAlgn="auto">
              <a:lnSpc>
                <a:spcPct val="100000"/>
              </a:lnSpc>
              <a:spcBef>
                <a:spcPts val="0"/>
              </a:spcBef>
              <a:spcAft>
                <a:spcPts val="0"/>
              </a:spcAft>
              <a:buClrTx/>
              <a:buSzTx/>
              <a:tabLst/>
            </a:pPr>
            <a:r>
              <a:rPr lang="en-US"/>
              <a:t>CLICK TO EDIT MASTER TEXT STYLES</a:t>
            </a:r>
          </a:p>
        </p:txBody>
      </p:sp>
    </p:spTree>
    <p:extLst>
      <p:ext uri="{BB962C8B-B14F-4D97-AF65-F5344CB8AC3E}">
        <p14:creationId xmlns:p14="http://schemas.microsoft.com/office/powerpoint/2010/main" val="2744612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6E8C76-D59B-4A4D-B875-69CC395939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140E68-46A6-4050-9435-1865FD923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E95B5-1303-4F48-BEE3-2F4666CB83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EED056-0C17-4F13-92C7-4B4EBBA459AF}" type="datetimeFigureOut">
              <a:rPr lang="en-US" smtClean="0"/>
              <a:t>3/22/2023</a:t>
            </a:fld>
            <a:endParaRPr lang="en-US"/>
          </a:p>
        </p:txBody>
      </p:sp>
      <p:sp>
        <p:nvSpPr>
          <p:cNvPr id="5" name="Footer Placeholder 4">
            <a:extLst>
              <a:ext uri="{FF2B5EF4-FFF2-40B4-BE49-F238E27FC236}">
                <a16:creationId xmlns:a16="http://schemas.microsoft.com/office/drawing/2014/main" id="{4C437B21-698B-416E-930C-F44484A35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F45F67-3427-4DBF-979A-4218C2677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3169B-71D3-417C-B033-13F48CE18F9C}" type="slidenum">
              <a:rPr lang="en-US" smtClean="0"/>
              <a:t>‹#›</a:t>
            </a:fld>
            <a:endParaRPr lang="en-US"/>
          </a:p>
        </p:txBody>
      </p:sp>
    </p:spTree>
    <p:extLst>
      <p:ext uri="{BB962C8B-B14F-4D97-AF65-F5344CB8AC3E}">
        <p14:creationId xmlns:p14="http://schemas.microsoft.com/office/powerpoint/2010/main" val="2998024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2.deloitte.com/us/en/legal/about-deloitte.html" TargetMode="External"/><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96ED46D4-BCBC-4B77-B588-6CC265BB5385}"/>
              </a:ext>
            </a:extLst>
          </p:cNvPr>
          <p:cNvSpPr txBox="1">
            <a:spLocks/>
          </p:cNvSpPr>
          <p:nvPr/>
        </p:nvSpPr>
        <p:spPr bwMode="gray">
          <a:xfrm>
            <a:off x="463297" y="2857501"/>
            <a:ext cx="5785104" cy="3183908"/>
          </a:xfrm>
          <a:prstGeom prst="rect">
            <a:avLst/>
          </a:prstGeom>
        </p:spPr>
        <p:txBody>
          <a:bodyPr lIns="0" tIns="0" rIns="0" bIns="0" anchor="ctr"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Dollar Tree</a:t>
            </a:r>
            <a:b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br>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Enterprise Service Layer:</a:t>
            </a:r>
          </a:p>
          <a:p>
            <a:endPar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endParaRPr>
          </a:p>
          <a:p>
            <a:r>
              <a:rPr lang="en-US" sz="3800" dirty="0">
                <a:ln w="25400">
                  <a:noFill/>
                </a:ln>
                <a:solidFill>
                  <a:srgbClr val="046A38"/>
                </a:solidFill>
                <a:latin typeface="Open Sans Extrabold" panose="020B0906030804020204" pitchFamily="34" charset="0"/>
                <a:ea typeface="Open Sans Extrabold" panose="020B0906030804020204" pitchFamily="34" charset="0"/>
                <a:cs typeface="Open Sans Extrabold" panose="020B0906030804020204" pitchFamily="34" charset="0"/>
              </a:rPr>
              <a:t>Initial Discovery Approach</a:t>
            </a:r>
          </a:p>
        </p:txBody>
      </p:sp>
      <p:pic>
        <p:nvPicPr>
          <p:cNvPr id="21" name="Graphic 20">
            <a:extLst>
              <a:ext uri="{FF2B5EF4-FFF2-40B4-BE49-F238E27FC236}">
                <a16:creationId xmlns:a16="http://schemas.microsoft.com/office/drawing/2014/main" id="{6A4A4C22-F29A-4CEA-846B-2A938EC79D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297" y="1714500"/>
            <a:ext cx="1930400" cy="649838"/>
          </a:xfrm>
          <a:prstGeom prst="rect">
            <a:avLst/>
          </a:prstGeom>
        </p:spPr>
      </p:pic>
      <p:pic>
        <p:nvPicPr>
          <p:cNvPr id="3" name="Picture 2">
            <a:extLst>
              <a:ext uri="{FF2B5EF4-FFF2-40B4-BE49-F238E27FC236}">
                <a16:creationId xmlns:a16="http://schemas.microsoft.com/office/drawing/2014/main" id="{4D00C7DC-4859-4235-BB85-465942174690}"/>
              </a:ext>
            </a:extLst>
          </p:cNvPr>
          <p:cNvPicPr>
            <a:picLocks noChangeAspect="1"/>
          </p:cNvPicPr>
          <p:nvPr/>
        </p:nvPicPr>
        <p:blipFill>
          <a:blip r:embed="rId4"/>
          <a:srcRect/>
          <a:stretch/>
        </p:blipFill>
        <p:spPr>
          <a:xfrm>
            <a:off x="5444958" y="685800"/>
            <a:ext cx="6686884" cy="6141840"/>
          </a:xfrm>
          <a:prstGeom prst="rect">
            <a:avLst/>
          </a:prstGeom>
        </p:spPr>
      </p:pic>
    </p:spTree>
    <p:extLst>
      <p:ext uri="{BB962C8B-B14F-4D97-AF65-F5344CB8AC3E}">
        <p14:creationId xmlns:p14="http://schemas.microsoft.com/office/powerpoint/2010/main" val="155023081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Overall Timeline</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7869331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EB86723-1879-4937-BD18-B2CAFDA2E5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a:extLst>
                          <a:ext uri="{FF2B5EF4-FFF2-40B4-BE49-F238E27FC236}">
                            <a16:creationId xmlns:a16="http://schemas.microsoft.com/office/drawing/2014/main" id="{2EB86723-1879-4937-BD18-B2CAFDA2E52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4" name="Table 103">
            <a:extLst>
              <a:ext uri="{FF2B5EF4-FFF2-40B4-BE49-F238E27FC236}">
                <a16:creationId xmlns:a16="http://schemas.microsoft.com/office/drawing/2014/main" id="{E85E580B-860B-4213-8264-FFBCE2D9F53F}"/>
              </a:ext>
            </a:extLst>
          </p:cNvPr>
          <p:cNvGraphicFramePr>
            <a:graphicFrameLocks noGrp="1"/>
          </p:cNvGraphicFramePr>
          <p:nvPr/>
        </p:nvGraphicFramePr>
        <p:xfrm>
          <a:off x="378367" y="682721"/>
          <a:ext cx="11469081" cy="6126860"/>
        </p:xfrm>
        <a:graphic>
          <a:graphicData uri="http://schemas.openxmlformats.org/drawingml/2006/table">
            <a:tbl>
              <a:tblPr firstRow="1" bandRow="1"/>
              <a:tblGrid>
                <a:gridCol w="1924666">
                  <a:extLst>
                    <a:ext uri="{9D8B030D-6E8A-4147-A177-3AD203B41FA5}">
                      <a16:colId xmlns:a16="http://schemas.microsoft.com/office/drawing/2014/main" val="702128557"/>
                    </a:ext>
                  </a:extLst>
                </a:gridCol>
                <a:gridCol w="915375">
                  <a:extLst>
                    <a:ext uri="{9D8B030D-6E8A-4147-A177-3AD203B41FA5}">
                      <a16:colId xmlns:a16="http://schemas.microsoft.com/office/drawing/2014/main" val="3453241497"/>
                    </a:ext>
                  </a:extLst>
                </a:gridCol>
                <a:gridCol w="971185">
                  <a:extLst>
                    <a:ext uri="{9D8B030D-6E8A-4147-A177-3AD203B41FA5}">
                      <a16:colId xmlns:a16="http://schemas.microsoft.com/office/drawing/2014/main" val="3830077496"/>
                    </a:ext>
                  </a:extLst>
                </a:gridCol>
                <a:gridCol w="1015838">
                  <a:extLst>
                    <a:ext uri="{9D8B030D-6E8A-4147-A177-3AD203B41FA5}">
                      <a16:colId xmlns:a16="http://schemas.microsoft.com/office/drawing/2014/main" val="1116999727"/>
                    </a:ext>
                  </a:extLst>
                </a:gridCol>
                <a:gridCol w="937967">
                  <a:extLst>
                    <a:ext uri="{9D8B030D-6E8A-4147-A177-3AD203B41FA5}">
                      <a16:colId xmlns:a16="http://schemas.microsoft.com/office/drawing/2014/main" val="1823675650"/>
                    </a:ext>
                  </a:extLst>
                </a:gridCol>
                <a:gridCol w="1140810">
                  <a:extLst>
                    <a:ext uri="{9D8B030D-6E8A-4147-A177-3AD203B41FA5}">
                      <a16:colId xmlns:a16="http://schemas.microsoft.com/office/drawing/2014/main" val="1850247057"/>
                    </a:ext>
                  </a:extLst>
                </a:gridCol>
                <a:gridCol w="1140810">
                  <a:extLst>
                    <a:ext uri="{9D8B030D-6E8A-4147-A177-3AD203B41FA5}">
                      <a16:colId xmlns:a16="http://schemas.microsoft.com/office/drawing/2014/main" val="1842095370"/>
                    </a:ext>
                  </a:extLst>
                </a:gridCol>
                <a:gridCol w="1140810">
                  <a:extLst>
                    <a:ext uri="{9D8B030D-6E8A-4147-A177-3AD203B41FA5}">
                      <a16:colId xmlns:a16="http://schemas.microsoft.com/office/drawing/2014/main" val="1630108107"/>
                    </a:ext>
                  </a:extLst>
                </a:gridCol>
                <a:gridCol w="1140810">
                  <a:extLst>
                    <a:ext uri="{9D8B030D-6E8A-4147-A177-3AD203B41FA5}">
                      <a16:colId xmlns:a16="http://schemas.microsoft.com/office/drawing/2014/main" val="3634664759"/>
                    </a:ext>
                  </a:extLst>
                </a:gridCol>
                <a:gridCol w="1140810">
                  <a:extLst>
                    <a:ext uri="{9D8B030D-6E8A-4147-A177-3AD203B41FA5}">
                      <a16:colId xmlns:a16="http://schemas.microsoft.com/office/drawing/2014/main" val="4259240834"/>
                    </a:ext>
                  </a:extLst>
                </a:gridCol>
              </a:tblGrid>
              <a:tr h="3763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313131"/>
                          </a:solidFill>
                          <a:effectLst/>
                          <a:uLnTx/>
                          <a:uFillTx/>
                          <a:ea typeface="+mn-ea"/>
                          <a:cs typeface="+mn-cs"/>
                        </a:rPr>
                        <a:t>Proposed Development Start: </a:t>
                      </a:r>
                      <a:r>
                        <a:rPr kumimoji="0" lang="en-US" sz="900" b="1" i="1" u="none" strike="noStrike" kern="1200" cap="none" spc="0" normalizeH="0" baseline="0" noProof="0">
                          <a:ln>
                            <a:noFill/>
                          </a:ln>
                          <a:solidFill>
                            <a:srgbClr val="313131"/>
                          </a:solidFill>
                          <a:effectLst/>
                          <a:uLnTx/>
                          <a:uFillTx/>
                          <a:ea typeface="+mn-ea"/>
                          <a:cs typeface="+mn-cs"/>
                        </a:rPr>
                        <a:t>March 27 2023</a:t>
                      </a:r>
                    </a:p>
                  </a:txBody>
                  <a:tcPr marL="89089" marR="89089" marT="44544" marB="4454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March</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April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May</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Jun</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Jul</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Aug</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Sep</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b="1" kern="1200">
                          <a:solidFill>
                            <a:schemeClr val="lt1"/>
                          </a:solidFill>
                          <a:latin typeface="Open Sans"/>
                        </a:defRPr>
                      </a:lvl1pPr>
                      <a:lvl2pPr marL="609585" algn="l" defTabSz="1219170" rtl="0" eaLnBrk="1" latinLnBrk="0" hangingPunct="1">
                        <a:defRPr sz="2400" b="1" kern="1200">
                          <a:solidFill>
                            <a:schemeClr val="lt1"/>
                          </a:solidFill>
                          <a:latin typeface="Open Sans"/>
                        </a:defRPr>
                      </a:lvl2pPr>
                      <a:lvl3pPr marL="1219170" algn="l" defTabSz="1219170" rtl="0" eaLnBrk="1" latinLnBrk="0" hangingPunct="1">
                        <a:defRPr sz="2400" b="1" kern="1200">
                          <a:solidFill>
                            <a:schemeClr val="lt1"/>
                          </a:solidFill>
                          <a:latin typeface="Open Sans"/>
                        </a:defRPr>
                      </a:lvl3pPr>
                      <a:lvl4pPr marL="1828754" algn="l" defTabSz="1219170" rtl="0" eaLnBrk="1" latinLnBrk="0" hangingPunct="1">
                        <a:defRPr sz="2400" b="1" kern="1200">
                          <a:solidFill>
                            <a:schemeClr val="lt1"/>
                          </a:solidFill>
                          <a:latin typeface="Open Sans"/>
                        </a:defRPr>
                      </a:lvl4pPr>
                      <a:lvl5pPr marL="2438339" algn="l" defTabSz="1219170" rtl="0" eaLnBrk="1" latinLnBrk="0" hangingPunct="1">
                        <a:defRPr sz="2400" b="1" kern="1200">
                          <a:solidFill>
                            <a:schemeClr val="lt1"/>
                          </a:solidFill>
                          <a:latin typeface="Open Sans"/>
                        </a:defRPr>
                      </a:lvl5pPr>
                      <a:lvl6pPr marL="3047924" algn="l" defTabSz="1219170" rtl="0" eaLnBrk="1" latinLnBrk="0" hangingPunct="1">
                        <a:defRPr sz="2400" b="1" kern="1200">
                          <a:solidFill>
                            <a:schemeClr val="lt1"/>
                          </a:solidFill>
                          <a:latin typeface="Open Sans"/>
                        </a:defRPr>
                      </a:lvl6pPr>
                      <a:lvl7pPr marL="3657509" algn="l" defTabSz="1219170" rtl="0" eaLnBrk="1" latinLnBrk="0" hangingPunct="1">
                        <a:defRPr sz="2400" b="1" kern="1200">
                          <a:solidFill>
                            <a:schemeClr val="lt1"/>
                          </a:solidFill>
                          <a:latin typeface="Open Sans"/>
                        </a:defRPr>
                      </a:lvl7pPr>
                      <a:lvl8pPr marL="4267093" algn="l" defTabSz="1219170" rtl="0" eaLnBrk="1" latinLnBrk="0" hangingPunct="1">
                        <a:defRPr sz="2400" b="1" kern="1200">
                          <a:solidFill>
                            <a:schemeClr val="lt1"/>
                          </a:solidFill>
                          <a:latin typeface="Open Sans"/>
                        </a:defRPr>
                      </a:lvl8pPr>
                      <a:lvl9pPr marL="4876678" algn="l" defTabSz="1219170" rtl="0" eaLnBrk="1" latinLnBrk="0" hangingPunct="1">
                        <a:defRPr sz="2400" b="1" kern="1200">
                          <a:solidFill>
                            <a:schemeClr val="lt1"/>
                          </a:solidFill>
                          <a:latin typeface="Open Sans"/>
                        </a:defRPr>
                      </a:lvl9pPr>
                    </a:lstStyle>
                    <a:p>
                      <a:pPr algn="ctr"/>
                      <a:r>
                        <a:rPr lang="en-US" sz="900">
                          <a:solidFill>
                            <a:schemeClr val="accent6"/>
                          </a:solidFill>
                          <a:latin typeface="+mn-lt"/>
                          <a:ea typeface="Open Sans" panose="020B0606030504020204" pitchFamily="34" charset="0"/>
                          <a:cs typeface="Open Sans" panose="020B0606030504020204" pitchFamily="34" charset="0"/>
                        </a:rPr>
                        <a:t>Oct</a:t>
                      </a:r>
                    </a:p>
                  </a:txBody>
                  <a:tcPr marL="89089" marR="89089" marT="44544" marB="44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accent6"/>
                          </a:solidFill>
                          <a:latin typeface="+mn-lt"/>
                          <a:ea typeface="Open Sans" panose="020B0606030504020204" pitchFamily="34" charset="0"/>
                          <a:cs typeface="Open Sans" panose="020B0606030504020204" pitchFamily="34" charset="0"/>
                        </a:rPr>
                        <a:t>Nov</a:t>
                      </a:r>
                    </a:p>
                  </a:txBody>
                  <a:tcPr marL="89089" marR="89089" marT="44544" marB="4454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881870"/>
                  </a:ext>
                </a:extLst>
              </a:tr>
              <a:tr h="1184902">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Timeline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7471917"/>
                  </a:ext>
                </a:extLst>
              </a:tr>
              <a:tr h="805180">
                <a:tc>
                  <a:txBody>
                    <a:bodyPr/>
                    <a:lstStyle/>
                    <a:p>
                      <a:pPr marL="228600" marR="0" lvl="0" indent="-22860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IPG – Integration Portfolio Governance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376789"/>
                  </a:ext>
                </a:extLst>
              </a:tr>
              <a:tr h="759661">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ATS - Arch Tools and Security</a:t>
                      </a:r>
                      <a:endParaRPr lang="en-US" sz="1000" b="1" kern="1200">
                        <a:solidFill>
                          <a:schemeClr val="tx1"/>
                        </a:solidFill>
                        <a:latin typeface="+mn-lt"/>
                        <a:ea typeface="Open Sans" panose="020B0606030504020204" pitchFamily="34" charset="0"/>
                        <a:cs typeface="Open Sans" panose="020B0606030504020204" pitchFamily="34" charset="0"/>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0331777"/>
                  </a:ext>
                </a:extLst>
              </a:tr>
              <a:tr h="70174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IPODS – Integration Pod</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88896"/>
                  </a:ext>
                </a:extLst>
              </a:tr>
              <a:tr h="82934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RIT – Retail system Integration and QA Testing</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3747723"/>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Oracle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858681"/>
                  </a:ext>
                </a:extLst>
              </a:tr>
              <a:tr h="734852">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chemeClr val="tx1"/>
                          </a:solidFill>
                          <a:latin typeface="+mn-lt"/>
                          <a:ea typeface="Open Sans" panose="020B0606030504020204" pitchFamily="34" charset="0"/>
                          <a:cs typeface="Open Sans" panose="020B0606030504020204" pitchFamily="34" charset="0"/>
                        </a:rPr>
                        <a:t>Dollar Tree</a:t>
                      </a: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800">
                        <a:solidFill>
                          <a:schemeClr val="tx1"/>
                        </a:solidFill>
                        <a:latin typeface="+mn-lt"/>
                      </a:endParaRPr>
                    </a:p>
                  </a:txBody>
                  <a:tcPr marL="89089" marR="89089" marT="44544" marB="445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950004"/>
                  </a:ext>
                </a:extLst>
              </a:tr>
            </a:tbl>
          </a:graphicData>
        </a:graphic>
      </p:graphicFrame>
      <p:sp>
        <p:nvSpPr>
          <p:cNvPr id="2" name="Text Placeholder 1">
            <a:extLst>
              <a:ext uri="{FF2B5EF4-FFF2-40B4-BE49-F238E27FC236}">
                <a16:creationId xmlns:a16="http://schemas.microsoft.com/office/drawing/2014/main" id="{804613F0-E2D1-48C2-8FAE-9879DCAEADCB}"/>
              </a:ext>
            </a:extLst>
          </p:cNvPr>
          <p:cNvSpPr>
            <a:spLocks noGrp="1"/>
          </p:cNvSpPr>
          <p:nvPr>
            <p:ph type="body" sz="quarter" idx="22"/>
          </p:nvPr>
        </p:nvSpPr>
        <p:spPr>
          <a:xfrm>
            <a:off x="463295" y="413155"/>
            <a:ext cx="11277600" cy="430887"/>
          </a:xfrm>
        </p:spPr>
        <p:txBody>
          <a:bodyPr/>
          <a:lstStyle/>
          <a:p>
            <a:r>
              <a:rPr lang="en-US"/>
              <a:t>Overall Timeline is of 8 Months considering a start on 3/27</a:t>
            </a:r>
          </a:p>
          <a:p>
            <a:endParaRPr lang="en-US"/>
          </a:p>
        </p:txBody>
      </p:sp>
      <p:sp>
        <p:nvSpPr>
          <p:cNvPr id="120" name="Title 2">
            <a:extLst>
              <a:ext uri="{FF2B5EF4-FFF2-40B4-BE49-F238E27FC236}">
                <a16:creationId xmlns:a16="http://schemas.microsoft.com/office/drawing/2014/main" id="{FBFCA566-FB8C-4211-9886-DEFA9B8B4542}"/>
              </a:ext>
            </a:extLst>
          </p:cNvPr>
          <p:cNvSpPr>
            <a:spLocks noGrp="1"/>
          </p:cNvSpPr>
          <p:nvPr>
            <p:ph type="title"/>
          </p:nvPr>
        </p:nvSpPr>
        <p:spPr>
          <a:xfrm>
            <a:off x="463295" y="-19043"/>
            <a:ext cx="11277600" cy="400110"/>
          </a:xfrm>
        </p:spPr>
        <p:txBody>
          <a:bodyPr/>
          <a:lstStyle/>
          <a:p>
            <a:r>
              <a:rPr lang="en-US"/>
              <a:t>Timeline</a:t>
            </a:r>
          </a:p>
        </p:txBody>
      </p:sp>
      <p:cxnSp>
        <p:nvCxnSpPr>
          <p:cNvPr id="134" name="Straight Connector 133">
            <a:extLst>
              <a:ext uri="{FF2B5EF4-FFF2-40B4-BE49-F238E27FC236}">
                <a16:creationId xmlns:a16="http://schemas.microsoft.com/office/drawing/2014/main" id="{64616F85-6CFA-45A6-AC06-9187807B8ECD}"/>
              </a:ext>
            </a:extLst>
          </p:cNvPr>
          <p:cNvCxnSpPr>
            <a:cxnSpLocks/>
          </p:cNvCxnSpPr>
          <p:nvPr/>
        </p:nvCxnSpPr>
        <p:spPr>
          <a:xfrm>
            <a:off x="2598516" y="1149483"/>
            <a:ext cx="1395662" cy="0"/>
          </a:xfrm>
          <a:prstGeom prst="line">
            <a:avLst/>
          </a:prstGeom>
          <a:noFill/>
          <a:ln w="57150" cap="flat" cmpd="sng" algn="ctr">
            <a:solidFill>
              <a:srgbClr val="6FC2B4"/>
            </a:solidFill>
            <a:prstDash val="solid"/>
          </a:ln>
          <a:effectLst/>
        </p:spPr>
      </p:cxnSp>
      <p:cxnSp>
        <p:nvCxnSpPr>
          <p:cNvPr id="135" name="Straight Connector 134">
            <a:extLst>
              <a:ext uri="{FF2B5EF4-FFF2-40B4-BE49-F238E27FC236}">
                <a16:creationId xmlns:a16="http://schemas.microsoft.com/office/drawing/2014/main" id="{AB839E15-AF79-4901-8FC9-186012F5BB37}"/>
              </a:ext>
            </a:extLst>
          </p:cNvPr>
          <p:cNvCxnSpPr>
            <a:cxnSpLocks/>
          </p:cNvCxnSpPr>
          <p:nvPr/>
        </p:nvCxnSpPr>
        <p:spPr>
          <a:xfrm flipV="1">
            <a:off x="3407358" y="1324108"/>
            <a:ext cx="2703713" cy="5347"/>
          </a:xfrm>
          <a:prstGeom prst="line">
            <a:avLst/>
          </a:prstGeom>
          <a:noFill/>
          <a:ln w="57150" cap="flat" cmpd="sng" algn="ctr">
            <a:solidFill>
              <a:srgbClr val="6FC2B4"/>
            </a:solidFill>
            <a:prstDash val="solid"/>
          </a:ln>
          <a:effectLst/>
        </p:spPr>
      </p:cxnSp>
      <p:cxnSp>
        <p:nvCxnSpPr>
          <p:cNvPr id="157" name="Straight Connector 156">
            <a:extLst>
              <a:ext uri="{FF2B5EF4-FFF2-40B4-BE49-F238E27FC236}">
                <a16:creationId xmlns:a16="http://schemas.microsoft.com/office/drawing/2014/main" id="{92C456D4-2F42-4A8E-9F77-6E3C5D048431}"/>
              </a:ext>
            </a:extLst>
          </p:cNvPr>
          <p:cNvCxnSpPr>
            <a:cxnSpLocks/>
          </p:cNvCxnSpPr>
          <p:nvPr/>
        </p:nvCxnSpPr>
        <p:spPr>
          <a:xfrm flipV="1">
            <a:off x="4372288" y="1524780"/>
            <a:ext cx="2902159" cy="11436"/>
          </a:xfrm>
          <a:prstGeom prst="line">
            <a:avLst/>
          </a:prstGeom>
          <a:noFill/>
          <a:ln w="57150" cap="flat" cmpd="sng" algn="ctr">
            <a:solidFill>
              <a:srgbClr val="595959"/>
            </a:solidFill>
            <a:prstDash val="solid"/>
          </a:ln>
          <a:effectLst/>
        </p:spPr>
      </p:cxnSp>
      <p:sp>
        <p:nvSpPr>
          <p:cNvPr id="177" name="TextBox 176">
            <a:extLst>
              <a:ext uri="{FF2B5EF4-FFF2-40B4-BE49-F238E27FC236}">
                <a16:creationId xmlns:a16="http://schemas.microsoft.com/office/drawing/2014/main" id="{A726E6E6-27C8-43B2-8D45-DD4F3FE6706D}"/>
              </a:ext>
            </a:extLst>
          </p:cNvPr>
          <p:cNvSpPr txBox="1"/>
          <p:nvPr/>
        </p:nvSpPr>
        <p:spPr>
          <a:xfrm>
            <a:off x="4057624" y="1088690"/>
            <a:ext cx="110179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Solution Overview</a:t>
            </a:r>
          </a:p>
        </p:txBody>
      </p:sp>
      <p:sp>
        <p:nvSpPr>
          <p:cNvPr id="188" name="TextBox 187">
            <a:extLst>
              <a:ext uri="{FF2B5EF4-FFF2-40B4-BE49-F238E27FC236}">
                <a16:creationId xmlns:a16="http://schemas.microsoft.com/office/drawing/2014/main" id="{65927EB2-E753-4EDE-970F-4EE91CD07D53}"/>
              </a:ext>
            </a:extLst>
          </p:cNvPr>
          <p:cNvSpPr txBox="1"/>
          <p:nvPr/>
        </p:nvSpPr>
        <p:spPr>
          <a:xfrm>
            <a:off x="8445628" y="15805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SIT </a:t>
            </a:r>
          </a:p>
        </p:txBody>
      </p:sp>
      <p:sp>
        <p:nvSpPr>
          <p:cNvPr id="189" name="TextBox 188">
            <a:extLst>
              <a:ext uri="{FF2B5EF4-FFF2-40B4-BE49-F238E27FC236}">
                <a16:creationId xmlns:a16="http://schemas.microsoft.com/office/drawing/2014/main" id="{2E09EC51-ACA8-4AE8-ACAF-946BFF787B1C}"/>
              </a:ext>
            </a:extLst>
          </p:cNvPr>
          <p:cNvSpPr txBox="1"/>
          <p:nvPr/>
        </p:nvSpPr>
        <p:spPr>
          <a:xfrm>
            <a:off x="7193800" y="1430663"/>
            <a:ext cx="1557296"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Configure &amp; Build</a:t>
            </a:r>
          </a:p>
        </p:txBody>
      </p:sp>
      <p:sp>
        <p:nvSpPr>
          <p:cNvPr id="190" name="TextBox 189">
            <a:extLst>
              <a:ext uri="{FF2B5EF4-FFF2-40B4-BE49-F238E27FC236}">
                <a16:creationId xmlns:a16="http://schemas.microsoft.com/office/drawing/2014/main" id="{2389D4E1-0A9F-4DE2-8081-5CB6595453D0}"/>
              </a:ext>
            </a:extLst>
          </p:cNvPr>
          <p:cNvSpPr txBox="1"/>
          <p:nvPr/>
        </p:nvSpPr>
        <p:spPr>
          <a:xfrm>
            <a:off x="6108806" y="1213045"/>
            <a:ext cx="1371291" cy="200055"/>
          </a:xfrm>
          <a:prstGeom prst="rect">
            <a:avLst/>
          </a:prstGeom>
          <a:noFill/>
        </p:spPr>
        <p:txBody>
          <a:bodyPr wrap="square">
            <a:spAutoFit/>
          </a:bodyPr>
          <a:lstStyle/>
          <a:p>
            <a:pPr marL="8659" marR="0" lvl="0" indent="0" algn="l" defTabSz="831227" rtl="0" eaLnBrk="1" fontAlgn="b"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Design Sprints</a:t>
            </a:r>
          </a:p>
        </p:txBody>
      </p:sp>
      <p:grpSp>
        <p:nvGrpSpPr>
          <p:cNvPr id="191" name="Group 190">
            <a:extLst>
              <a:ext uri="{FF2B5EF4-FFF2-40B4-BE49-F238E27FC236}">
                <a16:creationId xmlns:a16="http://schemas.microsoft.com/office/drawing/2014/main" id="{AEF17404-1301-4081-A450-4F62B8F97E68}"/>
              </a:ext>
            </a:extLst>
          </p:cNvPr>
          <p:cNvGrpSpPr/>
          <p:nvPr/>
        </p:nvGrpSpPr>
        <p:grpSpPr>
          <a:xfrm>
            <a:off x="10583842" y="1927914"/>
            <a:ext cx="257544" cy="249382"/>
            <a:chOff x="5859236" y="3546542"/>
            <a:chExt cx="257544" cy="249382"/>
          </a:xfrm>
        </p:grpSpPr>
        <p:sp>
          <p:nvSpPr>
            <p:cNvPr id="192" name="Oval 191">
              <a:extLst>
                <a:ext uri="{FF2B5EF4-FFF2-40B4-BE49-F238E27FC236}">
                  <a16:creationId xmlns:a16="http://schemas.microsoft.com/office/drawing/2014/main" id="{5A9D24E7-DAA0-4B36-8192-7978035FC1BB}"/>
                </a:ext>
              </a:extLst>
            </p:cNvPr>
            <p:cNvSpPr>
              <a:spLocks noChangeArrowheads="1"/>
            </p:cNvSpPr>
            <p:nvPr/>
          </p:nvSpPr>
          <p:spPr bwMode="auto">
            <a:xfrm>
              <a:off x="5859236" y="3546542"/>
              <a:ext cx="257544" cy="249382"/>
            </a:xfrm>
            <a:prstGeom prst="ellipse">
              <a:avLst/>
            </a:prstGeom>
            <a:solidFill>
              <a:srgbClr val="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3" name="Graphic 4">
              <a:extLst>
                <a:ext uri="{FF2B5EF4-FFF2-40B4-BE49-F238E27FC236}">
                  <a16:creationId xmlns:a16="http://schemas.microsoft.com/office/drawing/2014/main" id="{A384BCDC-3485-4F68-8707-FF7E0ED53905}"/>
                </a:ext>
              </a:extLst>
            </p:cNvPr>
            <p:cNvGrpSpPr/>
            <p:nvPr/>
          </p:nvGrpSpPr>
          <p:grpSpPr>
            <a:xfrm>
              <a:off x="5859236" y="3546542"/>
              <a:ext cx="257544" cy="249382"/>
              <a:chOff x="467743" y="2371173"/>
              <a:chExt cx="361670" cy="362610"/>
            </a:xfrm>
            <a:solidFill>
              <a:sysClr val="windowText" lastClr="000000"/>
            </a:solidFill>
          </p:grpSpPr>
          <p:sp>
            <p:nvSpPr>
              <p:cNvPr id="194" name="Graphic 4">
                <a:extLst>
                  <a:ext uri="{FF2B5EF4-FFF2-40B4-BE49-F238E27FC236}">
                    <a16:creationId xmlns:a16="http://schemas.microsoft.com/office/drawing/2014/main" id="{264AE205-9980-4A67-829F-BA1CD1E7142D}"/>
                  </a:ext>
                </a:extLst>
              </p:cNvPr>
              <p:cNvSpPr/>
              <p:nvPr/>
            </p:nvSpPr>
            <p:spPr>
              <a:xfrm>
                <a:off x="467743" y="2371173"/>
                <a:ext cx="361670" cy="362610"/>
              </a:xfrm>
              <a:custGeom>
                <a:avLst/>
                <a:gdLst>
                  <a:gd name="connsiteX0" fmla="*/ 180835 w 361670"/>
                  <a:gd name="connsiteY0" fmla="*/ 349204 h 362610"/>
                  <a:gd name="connsiteX1" fmla="*/ 12780 w 361670"/>
                  <a:gd name="connsiteY1" fmla="*/ 180667 h 362610"/>
                  <a:gd name="connsiteX2" fmla="*/ 180835 w 361670"/>
                  <a:gd name="connsiteY2" fmla="*/ 12130 h 362610"/>
                  <a:gd name="connsiteX3" fmla="*/ 348891 w 361670"/>
                  <a:gd name="connsiteY3" fmla="*/ 180667 h 362610"/>
                  <a:gd name="connsiteX4" fmla="*/ 180835 w 361670"/>
                  <a:gd name="connsiteY4" fmla="*/ 349204 h 362610"/>
                  <a:gd name="connsiteX5" fmla="*/ 180835 w 361670"/>
                  <a:gd name="connsiteY5" fmla="*/ 0 h 362610"/>
                  <a:gd name="connsiteX6" fmla="*/ 0 w 361670"/>
                  <a:gd name="connsiteY6" fmla="*/ 181305 h 362610"/>
                  <a:gd name="connsiteX7" fmla="*/ 180835 w 361670"/>
                  <a:gd name="connsiteY7" fmla="*/ 362610 h 362610"/>
                  <a:gd name="connsiteX8" fmla="*/ 361670 w 361670"/>
                  <a:gd name="connsiteY8" fmla="*/ 181305 h 362610"/>
                  <a:gd name="connsiteX9" fmla="*/ 361670 w 361670"/>
                  <a:gd name="connsiteY9" fmla="*/ 181305 h 362610"/>
                  <a:gd name="connsiteX10" fmla="*/ 180835 w 361670"/>
                  <a:gd name="connsiteY10" fmla="*/ 0 h 362610"/>
                  <a:gd name="connsiteX11" fmla="*/ 180835 w 361670"/>
                  <a:gd name="connsiteY11" fmla="*/ 0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1670" h="362610">
                    <a:moveTo>
                      <a:pt x="180835" y="349204"/>
                    </a:moveTo>
                    <a:cubicBezTo>
                      <a:pt x="87542" y="349204"/>
                      <a:pt x="12780" y="273873"/>
                      <a:pt x="12780" y="180667"/>
                    </a:cubicBezTo>
                    <a:cubicBezTo>
                      <a:pt x="12780" y="87461"/>
                      <a:pt x="88181" y="12130"/>
                      <a:pt x="180835" y="12130"/>
                    </a:cubicBezTo>
                    <a:cubicBezTo>
                      <a:pt x="273489" y="12130"/>
                      <a:pt x="348891" y="87461"/>
                      <a:pt x="348891" y="180667"/>
                    </a:cubicBezTo>
                    <a:cubicBezTo>
                      <a:pt x="348891" y="273873"/>
                      <a:pt x="273489" y="349204"/>
                      <a:pt x="180835" y="349204"/>
                    </a:cubicBezTo>
                    <a:moveTo>
                      <a:pt x="180835" y="0"/>
                    </a:moveTo>
                    <a:cubicBezTo>
                      <a:pt x="80513" y="0"/>
                      <a:pt x="0" y="81077"/>
                      <a:pt x="0" y="181305"/>
                    </a:cubicBezTo>
                    <a:cubicBezTo>
                      <a:pt x="0" y="281534"/>
                      <a:pt x="81152" y="362610"/>
                      <a:pt x="180835" y="362610"/>
                    </a:cubicBezTo>
                    <a:cubicBezTo>
                      <a:pt x="280518" y="362610"/>
                      <a:pt x="361670" y="281534"/>
                      <a:pt x="361670" y="181305"/>
                    </a:cubicBezTo>
                    <a:cubicBezTo>
                      <a:pt x="361670" y="181305"/>
                      <a:pt x="361670" y="181305"/>
                      <a:pt x="361670" y="181305"/>
                    </a:cubicBezTo>
                    <a:cubicBezTo>
                      <a:pt x="361670" y="81077"/>
                      <a:pt x="281157" y="0"/>
                      <a:pt x="180835" y="0"/>
                    </a:cubicBezTo>
                    <a:cubicBezTo>
                      <a:pt x="180835" y="0"/>
                      <a:pt x="180835" y="0"/>
                      <a:pt x="180835" y="0"/>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195" name="Graphic 4">
                <a:extLst>
                  <a:ext uri="{FF2B5EF4-FFF2-40B4-BE49-F238E27FC236}">
                    <a16:creationId xmlns:a16="http://schemas.microsoft.com/office/drawing/2014/main" id="{D51D000C-30EB-4CC7-82F2-5FD3D7686138}"/>
                  </a:ext>
                </a:extLst>
              </p:cNvPr>
              <p:cNvSpPr/>
              <p:nvPr/>
            </p:nvSpPr>
            <p:spPr>
              <a:xfrm>
                <a:off x="544800" y="2440759"/>
                <a:ext cx="206277" cy="222800"/>
              </a:xfrm>
              <a:custGeom>
                <a:avLst/>
                <a:gdLst>
                  <a:gd name="connsiteX0" fmla="*/ 170872 w 206277"/>
                  <a:gd name="connsiteY0" fmla="*/ 112996 h 222800"/>
                  <a:gd name="connsiteX1" fmla="*/ 147869 w 206277"/>
                  <a:gd name="connsiteY1" fmla="*/ 129595 h 222800"/>
                  <a:gd name="connsiteX2" fmla="*/ 161926 w 206277"/>
                  <a:gd name="connsiteY2" fmla="*/ 52987 h 222800"/>
                  <a:gd name="connsiteX3" fmla="*/ 190681 w 206277"/>
                  <a:gd name="connsiteY3" fmla="*/ 56179 h 222800"/>
                  <a:gd name="connsiteX4" fmla="*/ 170872 w 206277"/>
                  <a:gd name="connsiteY4" fmla="*/ 112996 h 222800"/>
                  <a:gd name="connsiteX5" fmla="*/ 103778 w 206277"/>
                  <a:gd name="connsiteY5" fmla="*/ 158323 h 222800"/>
                  <a:gd name="connsiteX6" fmla="*/ 85886 w 206277"/>
                  <a:gd name="connsiteY6" fmla="*/ 150024 h 222800"/>
                  <a:gd name="connsiteX7" fmla="*/ 57770 w 206277"/>
                  <a:gd name="connsiteY7" fmla="*/ 13406 h 222800"/>
                  <a:gd name="connsiteX8" fmla="*/ 149786 w 206277"/>
                  <a:gd name="connsiteY8" fmla="*/ 13406 h 222800"/>
                  <a:gd name="connsiteX9" fmla="*/ 121670 w 206277"/>
                  <a:gd name="connsiteY9" fmla="*/ 150024 h 222800"/>
                  <a:gd name="connsiteX10" fmla="*/ 103778 w 206277"/>
                  <a:gd name="connsiteY10" fmla="*/ 158323 h 222800"/>
                  <a:gd name="connsiteX11" fmla="*/ 90998 w 206277"/>
                  <a:gd name="connsiteY11" fmla="*/ 210033 h 222800"/>
                  <a:gd name="connsiteX12" fmla="*/ 103778 w 206277"/>
                  <a:gd name="connsiteY12" fmla="*/ 180667 h 222800"/>
                  <a:gd name="connsiteX13" fmla="*/ 116558 w 206277"/>
                  <a:gd name="connsiteY13" fmla="*/ 210033 h 222800"/>
                  <a:gd name="connsiteX14" fmla="*/ 90998 w 206277"/>
                  <a:gd name="connsiteY14" fmla="*/ 210033 h 222800"/>
                  <a:gd name="connsiteX15" fmla="*/ 36684 w 206277"/>
                  <a:gd name="connsiteY15" fmla="*/ 112996 h 222800"/>
                  <a:gd name="connsiteX16" fmla="*/ 17514 w 206277"/>
                  <a:gd name="connsiteY16" fmla="*/ 55541 h 222800"/>
                  <a:gd name="connsiteX17" fmla="*/ 46269 w 206277"/>
                  <a:gd name="connsiteY17" fmla="*/ 52349 h 222800"/>
                  <a:gd name="connsiteX18" fmla="*/ 60326 w 206277"/>
                  <a:gd name="connsiteY18" fmla="*/ 129595 h 222800"/>
                  <a:gd name="connsiteX19" fmla="*/ 36684 w 206277"/>
                  <a:gd name="connsiteY19" fmla="*/ 112996 h 222800"/>
                  <a:gd name="connsiteX20" fmla="*/ 162565 w 206277"/>
                  <a:gd name="connsiteY20" fmla="*/ 39581 h 222800"/>
                  <a:gd name="connsiteX21" fmla="*/ 162565 w 206277"/>
                  <a:gd name="connsiteY21" fmla="*/ 6384 h 222800"/>
                  <a:gd name="connsiteX22" fmla="*/ 156175 w 206277"/>
                  <a:gd name="connsiteY22" fmla="*/ 0 h 222800"/>
                  <a:gd name="connsiteX23" fmla="*/ 51381 w 206277"/>
                  <a:gd name="connsiteY23" fmla="*/ 0 h 222800"/>
                  <a:gd name="connsiteX24" fmla="*/ 44991 w 206277"/>
                  <a:gd name="connsiteY24" fmla="*/ 6384 h 222800"/>
                  <a:gd name="connsiteX25" fmla="*/ 44991 w 206277"/>
                  <a:gd name="connsiteY25" fmla="*/ 39581 h 222800"/>
                  <a:gd name="connsiteX26" fmla="*/ 7929 w 206277"/>
                  <a:gd name="connsiteY26" fmla="*/ 47241 h 222800"/>
                  <a:gd name="connsiteX27" fmla="*/ 27738 w 206277"/>
                  <a:gd name="connsiteY27" fmla="*/ 122572 h 222800"/>
                  <a:gd name="connsiteX28" fmla="*/ 67994 w 206277"/>
                  <a:gd name="connsiteY28" fmla="*/ 147470 h 222800"/>
                  <a:gd name="connsiteX29" fmla="*/ 76301 w 206277"/>
                  <a:gd name="connsiteY29" fmla="*/ 158323 h 222800"/>
                  <a:gd name="connsiteX30" fmla="*/ 94193 w 206277"/>
                  <a:gd name="connsiteY30" fmla="*/ 169176 h 222800"/>
                  <a:gd name="connsiteX31" fmla="*/ 75023 w 206277"/>
                  <a:gd name="connsiteY31" fmla="*/ 213863 h 222800"/>
                  <a:gd name="connsiteX32" fmla="*/ 78218 w 206277"/>
                  <a:gd name="connsiteY32" fmla="*/ 222163 h 222800"/>
                  <a:gd name="connsiteX33" fmla="*/ 80774 w 206277"/>
                  <a:gd name="connsiteY33" fmla="*/ 222801 h 222800"/>
                  <a:gd name="connsiteX34" fmla="*/ 125504 w 206277"/>
                  <a:gd name="connsiteY34" fmla="*/ 222801 h 222800"/>
                  <a:gd name="connsiteX35" fmla="*/ 130616 w 206277"/>
                  <a:gd name="connsiteY35" fmla="*/ 219609 h 222800"/>
                  <a:gd name="connsiteX36" fmla="*/ 131255 w 206277"/>
                  <a:gd name="connsiteY36" fmla="*/ 213225 h 222800"/>
                  <a:gd name="connsiteX37" fmla="*/ 112085 w 206277"/>
                  <a:gd name="connsiteY37" fmla="*/ 168537 h 222800"/>
                  <a:gd name="connsiteX38" fmla="*/ 129977 w 206277"/>
                  <a:gd name="connsiteY38" fmla="*/ 157684 h 222800"/>
                  <a:gd name="connsiteX39" fmla="*/ 138284 w 206277"/>
                  <a:gd name="connsiteY39" fmla="*/ 146193 h 222800"/>
                  <a:gd name="connsiteX40" fmla="*/ 178540 w 206277"/>
                  <a:gd name="connsiteY40" fmla="*/ 121934 h 222800"/>
                  <a:gd name="connsiteX41" fmla="*/ 198349 w 206277"/>
                  <a:gd name="connsiteY41" fmla="*/ 46603 h 222800"/>
                  <a:gd name="connsiteX42" fmla="*/ 162565 w 206277"/>
                  <a:gd name="connsiteY42" fmla="*/ 39581 h 2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6277" h="222800">
                    <a:moveTo>
                      <a:pt x="170872" y="112996"/>
                    </a:moveTo>
                    <a:cubicBezTo>
                      <a:pt x="163843" y="119380"/>
                      <a:pt x="156175" y="125126"/>
                      <a:pt x="147869" y="129595"/>
                    </a:cubicBezTo>
                    <a:cubicBezTo>
                      <a:pt x="156175" y="104697"/>
                      <a:pt x="160648" y="79161"/>
                      <a:pt x="161926" y="52987"/>
                    </a:cubicBezTo>
                    <a:cubicBezTo>
                      <a:pt x="174706" y="49157"/>
                      <a:pt x="184930" y="49795"/>
                      <a:pt x="190681" y="56179"/>
                    </a:cubicBezTo>
                    <a:cubicBezTo>
                      <a:pt x="200905" y="67032"/>
                      <a:pt x="191959" y="93206"/>
                      <a:pt x="170872" y="112996"/>
                    </a:cubicBezTo>
                    <a:moveTo>
                      <a:pt x="103778" y="158323"/>
                    </a:moveTo>
                    <a:cubicBezTo>
                      <a:pt x="96749" y="158323"/>
                      <a:pt x="90359" y="155131"/>
                      <a:pt x="85886" y="150024"/>
                    </a:cubicBezTo>
                    <a:cubicBezTo>
                      <a:pt x="59048" y="121934"/>
                      <a:pt x="57770" y="37027"/>
                      <a:pt x="57770" y="13406"/>
                    </a:cubicBezTo>
                    <a:lnTo>
                      <a:pt x="149786" y="13406"/>
                    </a:lnTo>
                    <a:cubicBezTo>
                      <a:pt x="149786" y="37027"/>
                      <a:pt x="148508" y="121934"/>
                      <a:pt x="121670" y="150024"/>
                    </a:cubicBezTo>
                    <a:cubicBezTo>
                      <a:pt x="117836" y="155131"/>
                      <a:pt x="110807" y="157684"/>
                      <a:pt x="103778" y="158323"/>
                    </a:cubicBezTo>
                    <a:moveTo>
                      <a:pt x="90998" y="210033"/>
                    </a:moveTo>
                    <a:lnTo>
                      <a:pt x="103778" y="180667"/>
                    </a:lnTo>
                    <a:lnTo>
                      <a:pt x="116558" y="210033"/>
                    </a:lnTo>
                    <a:lnTo>
                      <a:pt x="90998" y="210033"/>
                    </a:lnTo>
                    <a:close/>
                    <a:moveTo>
                      <a:pt x="36684" y="112996"/>
                    </a:moveTo>
                    <a:cubicBezTo>
                      <a:pt x="15597" y="93206"/>
                      <a:pt x="6651" y="67032"/>
                      <a:pt x="17514" y="55541"/>
                    </a:cubicBezTo>
                    <a:cubicBezTo>
                      <a:pt x="23265" y="49795"/>
                      <a:pt x="33489" y="48518"/>
                      <a:pt x="46269" y="52349"/>
                    </a:cubicBezTo>
                    <a:cubicBezTo>
                      <a:pt x="47547" y="78523"/>
                      <a:pt x="52020" y="104697"/>
                      <a:pt x="60326" y="129595"/>
                    </a:cubicBezTo>
                    <a:cubicBezTo>
                      <a:pt x="52020" y="125126"/>
                      <a:pt x="43713" y="119380"/>
                      <a:pt x="36684" y="112996"/>
                    </a:cubicBezTo>
                    <a:moveTo>
                      <a:pt x="162565" y="39581"/>
                    </a:moveTo>
                    <a:cubicBezTo>
                      <a:pt x="163204" y="21067"/>
                      <a:pt x="162565" y="8299"/>
                      <a:pt x="162565" y="6384"/>
                    </a:cubicBezTo>
                    <a:cubicBezTo>
                      <a:pt x="162565" y="2554"/>
                      <a:pt x="160009" y="0"/>
                      <a:pt x="156175" y="0"/>
                    </a:cubicBezTo>
                    <a:lnTo>
                      <a:pt x="51381" y="0"/>
                    </a:lnTo>
                    <a:cubicBezTo>
                      <a:pt x="47547" y="0"/>
                      <a:pt x="44991" y="2554"/>
                      <a:pt x="44991" y="6384"/>
                    </a:cubicBezTo>
                    <a:cubicBezTo>
                      <a:pt x="44991" y="7661"/>
                      <a:pt x="44352" y="21067"/>
                      <a:pt x="44991" y="39581"/>
                    </a:cubicBezTo>
                    <a:cubicBezTo>
                      <a:pt x="29655" y="35750"/>
                      <a:pt x="16236" y="38304"/>
                      <a:pt x="7929" y="47241"/>
                    </a:cubicBezTo>
                    <a:cubicBezTo>
                      <a:pt x="-8046" y="64478"/>
                      <a:pt x="900" y="97675"/>
                      <a:pt x="27738" y="122572"/>
                    </a:cubicBezTo>
                    <a:cubicBezTo>
                      <a:pt x="39240" y="133425"/>
                      <a:pt x="53297" y="142363"/>
                      <a:pt x="67994" y="147470"/>
                    </a:cubicBezTo>
                    <a:cubicBezTo>
                      <a:pt x="70550" y="151300"/>
                      <a:pt x="73106" y="155131"/>
                      <a:pt x="76301" y="158323"/>
                    </a:cubicBezTo>
                    <a:cubicBezTo>
                      <a:pt x="81413" y="163430"/>
                      <a:pt x="87803" y="167260"/>
                      <a:pt x="94193" y="169176"/>
                    </a:cubicBezTo>
                    <a:lnTo>
                      <a:pt x="75023" y="213863"/>
                    </a:lnTo>
                    <a:cubicBezTo>
                      <a:pt x="73745" y="217055"/>
                      <a:pt x="75023" y="220886"/>
                      <a:pt x="78218" y="222163"/>
                    </a:cubicBezTo>
                    <a:cubicBezTo>
                      <a:pt x="78857" y="222801"/>
                      <a:pt x="80135" y="222801"/>
                      <a:pt x="80774" y="222801"/>
                    </a:cubicBezTo>
                    <a:lnTo>
                      <a:pt x="125504" y="222801"/>
                    </a:lnTo>
                    <a:cubicBezTo>
                      <a:pt x="127421" y="222801"/>
                      <a:pt x="129977" y="221524"/>
                      <a:pt x="130616" y="219609"/>
                    </a:cubicBezTo>
                    <a:cubicBezTo>
                      <a:pt x="131894" y="217694"/>
                      <a:pt x="131894" y="215140"/>
                      <a:pt x="131255" y="213225"/>
                    </a:cubicBezTo>
                    <a:lnTo>
                      <a:pt x="112085" y="168537"/>
                    </a:lnTo>
                    <a:cubicBezTo>
                      <a:pt x="119114" y="166622"/>
                      <a:pt x="125504" y="162792"/>
                      <a:pt x="129977" y="157684"/>
                    </a:cubicBezTo>
                    <a:cubicBezTo>
                      <a:pt x="133172" y="154492"/>
                      <a:pt x="136367" y="150662"/>
                      <a:pt x="138284" y="146193"/>
                    </a:cubicBezTo>
                    <a:cubicBezTo>
                      <a:pt x="152980" y="140448"/>
                      <a:pt x="167038" y="132148"/>
                      <a:pt x="178540" y="121934"/>
                    </a:cubicBezTo>
                    <a:cubicBezTo>
                      <a:pt x="205378" y="96398"/>
                      <a:pt x="214324" y="63201"/>
                      <a:pt x="198349" y="46603"/>
                    </a:cubicBezTo>
                    <a:cubicBezTo>
                      <a:pt x="190681" y="37665"/>
                      <a:pt x="177262" y="35112"/>
                      <a:pt x="162565" y="39581"/>
                    </a:cubicBezTo>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196" name="Group 195">
            <a:extLst>
              <a:ext uri="{FF2B5EF4-FFF2-40B4-BE49-F238E27FC236}">
                <a16:creationId xmlns:a16="http://schemas.microsoft.com/office/drawing/2014/main" id="{7166623D-1CC9-4496-B3A5-23E60D0E78C1}"/>
              </a:ext>
            </a:extLst>
          </p:cNvPr>
          <p:cNvGrpSpPr/>
          <p:nvPr/>
        </p:nvGrpSpPr>
        <p:grpSpPr>
          <a:xfrm>
            <a:off x="5410905" y="1438486"/>
            <a:ext cx="257544" cy="249382"/>
            <a:chOff x="3496837" y="2461236"/>
            <a:chExt cx="257544" cy="249382"/>
          </a:xfrm>
        </p:grpSpPr>
        <p:sp>
          <p:nvSpPr>
            <p:cNvPr id="197" name="Oval 196">
              <a:extLst>
                <a:ext uri="{FF2B5EF4-FFF2-40B4-BE49-F238E27FC236}">
                  <a16:creationId xmlns:a16="http://schemas.microsoft.com/office/drawing/2014/main" id="{40529C9D-9F16-4486-A527-A47361E02E1A}"/>
                </a:ext>
              </a:extLst>
            </p:cNvPr>
            <p:cNvSpPr>
              <a:spLocks noChangeArrowheads="1"/>
            </p:cNvSpPr>
            <p:nvPr/>
          </p:nvSpPr>
          <p:spPr bwMode="auto">
            <a:xfrm>
              <a:off x="3496837"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198" name="Graphic 4">
              <a:extLst>
                <a:ext uri="{FF2B5EF4-FFF2-40B4-BE49-F238E27FC236}">
                  <a16:creationId xmlns:a16="http://schemas.microsoft.com/office/drawing/2014/main" id="{B68829A4-7584-4318-82A5-B976BD4F9C9C}"/>
                </a:ext>
              </a:extLst>
            </p:cNvPr>
            <p:cNvGrpSpPr/>
            <p:nvPr/>
          </p:nvGrpSpPr>
          <p:grpSpPr>
            <a:xfrm>
              <a:off x="3496837" y="2461236"/>
              <a:ext cx="257544" cy="249382"/>
              <a:chOff x="3607758" y="1402723"/>
              <a:chExt cx="362309" cy="361971"/>
            </a:xfrm>
            <a:solidFill>
              <a:sysClr val="windowText" lastClr="000000"/>
            </a:solidFill>
          </p:grpSpPr>
          <p:sp>
            <p:nvSpPr>
              <p:cNvPr id="199" name="Graphic 4">
                <a:extLst>
                  <a:ext uri="{FF2B5EF4-FFF2-40B4-BE49-F238E27FC236}">
                    <a16:creationId xmlns:a16="http://schemas.microsoft.com/office/drawing/2014/main" id="{0BCAE6BD-C4EF-4E32-AC43-D1B39219E99D}"/>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0" name="Graphic 4">
                <a:extLst>
                  <a:ext uri="{FF2B5EF4-FFF2-40B4-BE49-F238E27FC236}">
                    <a16:creationId xmlns:a16="http://schemas.microsoft.com/office/drawing/2014/main" id="{1986E84A-54D6-4479-BFB0-9DED142DE812}"/>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1" name="Graphic 4">
                <a:extLst>
                  <a:ext uri="{FF2B5EF4-FFF2-40B4-BE49-F238E27FC236}">
                    <a16:creationId xmlns:a16="http://schemas.microsoft.com/office/drawing/2014/main" id="{85EE9A7C-D5A5-44D9-AA21-CDF410AAC57E}"/>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8" name="Graphic 4">
                <a:extLst>
                  <a:ext uri="{FF2B5EF4-FFF2-40B4-BE49-F238E27FC236}">
                    <a16:creationId xmlns:a16="http://schemas.microsoft.com/office/drawing/2014/main" id="{FD172C39-C556-455A-A6CF-749B156FFBCD}"/>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09" name="Graphic 4">
                <a:extLst>
                  <a:ext uri="{FF2B5EF4-FFF2-40B4-BE49-F238E27FC236}">
                    <a16:creationId xmlns:a16="http://schemas.microsoft.com/office/drawing/2014/main" id="{550CCB5C-D1EF-4601-82A8-3E0D6FB43BBB}"/>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0" name="Graphic 4">
                <a:extLst>
                  <a:ext uri="{FF2B5EF4-FFF2-40B4-BE49-F238E27FC236}">
                    <a16:creationId xmlns:a16="http://schemas.microsoft.com/office/drawing/2014/main" id="{637DE873-FD44-4580-A4E4-DE599170C5B6}"/>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1" name="Graphic 4">
                <a:extLst>
                  <a:ext uri="{FF2B5EF4-FFF2-40B4-BE49-F238E27FC236}">
                    <a16:creationId xmlns:a16="http://schemas.microsoft.com/office/drawing/2014/main" id="{5E444436-C539-44B3-B28B-22B0A8F83670}"/>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2" name="Graphic 4">
                <a:extLst>
                  <a:ext uri="{FF2B5EF4-FFF2-40B4-BE49-F238E27FC236}">
                    <a16:creationId xmlns:a16="http://schemas.microsoft.com/office/drawing/2014/main" id="{B951FC30-4AC8-40BD-A27F-7DACC5BEBFE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14" name="Group 213">
            <a:extLst>
              <a:ext uri="{FF2B5EF4-FFF2-40B4-BE49-F238E27FC236}">
                <a16:creationId xmlns:a16="http://schemas.microsoft.com/office/drawing/2014/main" id="{F086D0CA-2357-4695-90F8-687DA77D9B23}"/>
              </a:ext>
            </a:extLst>
          </p:cNvPr>
          <p:cNvGrpSpPr/>
          <p:nvPr/>
        </p:nvGrpSpPr>
        <p:grpSpPr>
          <a:xfrm>
            <a:off x="4517074" y="1427835"/>
            <a:ext cx="257544" cy="249382"/>
            <a:chOff x="2951069" y="2461236"/>
            <a:chExt cx="257544" cy="249382"/>
          </a:xfrm>
        </p:grpSpPr>
        <p:sp>
          <p:nvSpPr>
            <p:cNvPr id="215" name="Oval 214">
              <a:extLst>
                <a:ext uri="{FF2B5EF4-FFF2-40B4-BE49-F238E27FC236}">
                  <a16:creationId xmlns:a16="http://schemas.microsoft.com/office/drawing/2014/main" id="{ACFB3260-E468-457C-B499-44060E14FD25}"/>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16" name="Graphic 4">
              <a:extLst>
                <a:ext uri="{FF2B5EF4-FFF2-40B4-BE49-F238E27FC236}">
                  <a16:creationId xmlns:a16="http://schemas.microsoft.com/office/drawing/2014/main" id="{6C89CE72-C481-4B3E-8980-A07EB20F96C3}"/>
                </a:ext>
              </a:extLst>
            </p:cNvPr>
            <p:cNvGrpSpPr/>
            <p:nvPr/>
          </p:nvGrpSpPr>
          <p:grpSpPr>
            <a:xfrm>
              <a:off x="2951069" y="2461236"/>
              <a:ext cx="257544" cy="249382"/>
              <a:chOff x="3607758" y="1402723"/>
              <a:chExt cx="362309" cy="361971"/>
            </a:xfrm>
            <a:solidFill>
              <a:sysClr val="windowText" lastClr="000000"/>
            </a:solidFill>
          </p:grpSpPr>
          <p:sp>
            <p:nvSpPr>
              <p:cNvPr id="217" name="Graphic 4">
                <a:extLst>
                  <a:ext uri="{FF2B5EF4-FFF2-40B4-BE49-F238E27FC236}">
                    <a16:creationId xmlns:a16="http://schemas.microsoft.com/office/drawing/2014/main" id="{D7FF9DD4-E08C-4E75-BED2-8174D9C7FEF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8" name="Graphic 4">
                <a:extLst>
                  <a:ext uri="{FF2B5EF4-FFF2-40B4-BE49-F238E27FC236}">
                    <a16:creationId xmlns:a16="http://schemas.microsoft.com/office/drawing/2014/main" id="{CAB287D4-6DD2-4D5A-859A-0280C04E3997}"/>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19" name="Graphic 4">
                <a:extLst>
                  <a:ext uri="{FF2B5EF4-FFF2-40B4-BE49-F238E27FC236}">
                    <a16:creationId xmlns:a16="http://schemas.microsoft.com/office/drawing/2014/main" id="{B54FC09C-313E-427C-BA8B-2306C6543F3A}"/>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0" name="Graphic 4">
                <a:extLst>
                  <a:ext uri="{FF2B5EF4-FFF2-40B4-BE49-F238E27FC236}">
                    <a16:creationId xmlns:a16="http://schemas.microsoft.com/office/drawing/2014/main" id="{239A8C2E-59F4-45F9-ADE1-C72B31580963}"/>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1" name="Graphic 4">
                <a:extLst>
                  <a:ext uri="{FF2B5EF4-FFF2-40B4-BE49-F238E27FC236}">
                    <a16:creationId xmlns:a16="http://schemas.microsoft.com/office/drawing/2014/main" id="{57C0E76F-442D-4995-9052-0D924834736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2" name="Graphic 4">
                <a:extLst>
                  <a:ext uri="{FF2B5EF4-FFF2-40B4-BE49-F238E27FC236}">
                    <a16:creationId xmlns:a16="http://schemas.microsoft.com/office/drawing/2014/main" id="{FF9BC537-9D6F-48B4-A645-81CEFCE0D373}"/>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3" name="Graphic 4">
                <a:extLst>
                  <a:ext uri="{FF2B5EF4-FFF2-40B4-BE49-F238E27FC236}">
                    <a16:creationId xmlns:a16="http://schemas.microsoft.com/office/drawing/2014/main" id="{53C6E7D5-C333-49A3-BE7E-304375905E63}"/>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4" name="Graphic 4">
                <a:extLst>
                  <a:ext uri="{FF2B5EF4-FFF2-40B4-BE49-F238E27FC236}">
                    <a16:creationId xmlns:a16="http://schemas.microsoft.com/office/drawing/2014/main" id="{14ED724E-BF0B-4387-B4EE-6BFB5B5AC229}"/>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25" name="Group 224">
            <a:extLst>
              <a:ext uri="{FF2B5EF4-FFF2-40B4-BE49-F238E27FC236}">
                <a16:creationId xmlns:a16="http://schemas.microsoft.com/office/drawing/2014/main" id="{41AD7D47-9971-4DD9-A51B-D0805C31A0DD}"/>
              </a:ext>
            </a:extLst>
          </p:cNvPr>
          <p:cNvGrpSpPr/>
          <p:nvPr/>
        </p:nvGrpSpPr>
        <p:grpSpPr>
          <a:xfrm>
            <a:off x="6319202" y="1398389"/>
            <a:ext cx="257544" cy="249382"/>
            <a:chOff x="4042606" y="2461236"/>
            <a:chExt cx="257544" cy="249382"/>
          </a:xfrm>
        </p:grpSpPr>
        <p:sp>
          <p:nvSpPr>
            <p:cNvPr id="226" name="Oval 225">
              <a:extLst>
                <a:ext uri="{FF2B5EF4-FFF2-40B4-BE49-F238E27FC236}">
                  <a16:creationId xmlns:a16="http://schemas.microsoft.com/office/drawing/2014/main" id="{C7FAE797-46CA-42C9-967E-CFDBB2305B73}"/>
                </a:ext>
              </a:extLst>
            </p:cNvPr>
            <p:cNvSpPr>
              <a:spLocks noChangeArrowheads="1"/>
            </p:cNvSpPr>
            <p:nvPr/>
          </p:nvSpPr>
          <p:spPr bwMode="auto">
            <a:xfrm>
              <a:off x="4042606"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27" name="Graphic 4">
              <a:extLst>
                <a:ext uri="{FF2B5EF4-FFF2-40B4-BE49-F238E27FC236}">
                  <a16:creationId xmlns:a16="http://schemas.microsoft.com/office/drawing/2014/main" id="{4CFE5A31-4F23-421C-B2DD-931359503B19}"/>
                </a:ext>
              </a:extLst>
            </p:cNvPr>
            <p:cNvGrpSpPr/>
            <p:nvPr/>
          </p:nvGrpSpPr>
          <p:grpSpPr>
            <a:xfrm>
              <a:off x="4042606" y="2461236"/>
              <a:ext cx="257544" cy="249382"/>
              <a:chOff x="3607758" y="1402723"/>
              <a:chExt cx="362309" cy="361971"/>
            </a:xfrm>
            <a:solidFill>
              <a:sysClr val="windowText" lastClr="000000"/>
            </a:solidFill>
          </p:grpSpPr>
          <p:sp>
            <p:nvSpPr>
              <p:cNvPr id="228" name="Graphic 4">
                <a:extLst>
                  <a:ext uri="{FF2B5EF4-FFF2-40B4-BE49-F238E27FC236}">
                    <a16:creationId xmlns:a16="http://schemas.microsoft.com/office/drawing/2014/main" id="{134BEB87-63AE-4DAA-BD00-BA983D0ACCAE}"/>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29" name="Graphic 4">
                <a:extLst>
                  <a:ext uri="{FF2B5EF4-FFF2-40B4-BE49-F238E27FC236}">
                    <a16:creationId xmlns:a16="http://schemas.microsoft.com/office/drawing/2014/main" id="{2AF2F530-6D9E-4807-9B5C-ADA07851392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0" name="Graphic 4">
                <a:extLst>
                  <a:ext uri="{FF2B5EF4-FFF2-40B4-BE49-F238E27FC236}">
                    <a16:creationId xmlns:a16="http://schemas.microsoft.com/office/drawing/2014/main" id="{EB21BBD9-558B-4B37-B76D-6BDB8242CF25}"/>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1" name="Graphic 4">
                <a:extLst>
                  <a:ext uri="{FF2B5EF4-FFF2-40B4-BE49-F238E27FC236}">
                    <a16:creationId xmlns:a16="http://schemas.microsoft.com/office/drawing/2014/main" id="{BC65111F-4D2C-4350-A4D6-7AA3A1B3F956}"/>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2" name="Graphic 4">
                <a:extLst>
                  <a:ext uri="{FF2B5EF4-FFF2-40B4-BE49-F238E27FC236}">
                    <a16:creationId xmlns:a16="http://schemas.microsoft.com/office/drawing/2014/main" id="{7BC26E06-94BE-4C8D-B8E2-8E437707D324}"/>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3" name="Graphic 4">
                <a:extLst>
                  <a:ext uri="{FF2B5EF4-FFF2-40B4-BE49-F238E27FC236}">
                    <a16:creationId xmlns:a16="http://schemas.microsoft.com/office/drawing/2014/main" id="{B8B2EC7B-4CAD-4F44-982C-852D3C4748A7}"/>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4" name="Graphic 4">
                <a:extLst>
                  <a:ext uri="{FF2B5EF4-FFF2-40B4-BE49-F238E27FC236}">
                    <a16:creationId xmlns:a16="http://schemas.microsoft.com/office/drawing/2014/main" id="{7E4304AB-0E5A-41A7-8641-2E651ACCCD45}"/>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35" name="Graphic 4">
                <a:extLst>
                  <a:ext uri="{FF2B5EF4-FFF2-40B4-BE49-F238E27FC236}">
                    <a16:creationId xmlns:a16="http://schemas.microsoft.com/office/drawing/2014/main" id="{4282B1F3-232A-41D0-9709-FF6A42040530}"/>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cxnSp>
        <p:nvCxnSpPr>
          <p:cNvPr id="237" name="Straight Connector 236">
            <a:extLst>
              <a:ext uri="{FF2B5EF4-FFF2-40B4-BE49-F238E27FC236}">
                <a16:creationId xmlns:a16="http://schemas.microsoft.com/office/drawing/2014/main" id="{B399F22F-FE88-4504-A4FD-E1CD9AFF3E5C}"/>
              </a:ext>
            </a:extLst>
          </p:cNvPr>
          <p:cNvCxnSpPr>
            <a:cxnSpLocks/>
          </p:cNvCxnSpPr>
          <p:nvPr/>
        </p:nvCxnSpPr>
        <p:spPr>
          <a:xfrm>
            <a:off x="7288588" y="1647807"/>
            <a:ext cx="1128846" cy="0"/>
          </a:xfrm>
          <a:prstGeom prst="line">
            <a:avLst/>
          </a:prstGeom>
          <a:noFill/>
          <a:ln w="57150" cap="flat" cmpd="sng" algn="ctr">
            <a:solidFill>
              <a:schemeClr val="tx1">
                <a:lumMod val="65000"/>
                <a:lumOff val="35000"/>
              </a:schemeClr>
            </a:solidFill>
            <a:prstDash val="solid"/>
          </a:ln>
          <a:effectLst/>
        </p:spPr>
      </p:cxnSp>
      <p:cxnSp>
        <p:nvCxnSpPr>
          <p:cNvPr id="238" name="Straight Connector 237">
            <a:extLst>
              <a:ext uri="{FF2B5EF4-FFF2-40B4-BE49-F238E27FC236}">
                <a16:creationId xmlns:a16="http://schemas.microsoft.com/office/drawing/2014/main" id="{53D7D0C7-FCD0-4C62-9E71-7E59D01B8444}"/>
              </a:ext>
            </a:extLst>
          </p:cNvPr>
          <p:cNvCxnSpPr>
            <a:cxnSpLocks/>
          </p:cNvCxnSpPr>
          <p:nvPr/>
        </p:nvCxnSpPr>
        <p:spPr>
          <a:xfrm>
            <a:off x="8619716" y="1958913"/>
            <a:ext cx="947691" cy="0"/>
          </a:xfrm>
          <a:prstGeom prst="line">
            <a:avLst/>
          </a:prstGeom>
          <a:noFill/>
          <a:ln w="57150" cap="flat" cmpd="sng" algn="ctr">
            <a:solidFill>
              <a:schemeClr val="tx1">
                <a:lumMod val="65000"/>
                <a:lumOff val="35000"/>
              </a:schemeClr>
            </a:solidFill>
            <a:prstDash val="solid"/>
          </a:ln>
          <a:effectLst/>
        </p:spPr>
      </p:cxnSp>
      <p:sp>
        <p:nvSpPr>
          <p:cNvPr id="239" name="TextBox 238">
            <a:extLst>
              <a:ext uri="{FF2B5EF4-FFF2-40B4-BE49-F238E27FC236}">
                <a16:creationId xmlns:a16="http://schemas.microsoft.com/office/drawing/2014/main" id="{5AAAAEEE-A02C-4192-848D-4EF0567E5105}"/>
              </a:ext>
            </a:extLst>
          </p:cNvPr>
          <p:cNvSpPr txBox="1"/>
          <p:nvPr/>
        </p:nvSpPr>
        <p:spPr>
          <a:xfrm>
            <a:off x="4864800" y="1669691"/>
            <a:ext cx="1557296"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Sprints (4 -5 weeks each)</a:t>
            </a:r>
          </a:p>
        </p:txBody>
      </p:sp>
      <p:cxnSp>
        <p:nvCxnSpPr>
          <p:cNvPr id="240" name="Straight Connector 239">
            <a:extLst>
              <a:ext uri="{FF2B5EF4-FFF2-40B4-BE49-F238E27FC236}">
                <a16:creationId xmlns:a16="http://schemas.microsoft.com/office/drawing/2014/main" id="{32B284CB-1CB7-47A4-BC5E-776E8915DED2}"/>
              </a:ext>
            </a:extLst>
          </p:cNvPr>
          <p:cNvCxnSpPr>
            <a:cxnSpLocks/>
          </p:cNvCxnSpPr>
          <p:nvPr/>
        </p:nvCxnSpPr>
        <p:spPr>
          <a:xfrm>
            <a:off x="6825756" y="2041270"/>
            <a:ext cx="418539" cy="0"/>
          </a:xfrm>
          <a:prstGeom prst="line">
            <a:avLst/>
          </a:prstGeom>
          <a:noFill/>
          <a:ln w="57150" cap="flat" cmpd="sng" algn="ctr">
            <a:solidFill>
              <a:schemeClr val="tx1">
                <a:lumMod val="65000"/>
                <a:lumOff val="35000"/>
              </a:schemeClr>
            </a:solidFill>
            <a:prstDash val="solid"/>
          </a:ln>
          <a:effectLst/>
        </p:spPr>
      </p:cxnSp>
      <p:cxnSp>
        <p:nvCxnSpPr>
          <p:cNvPr id="241" name="Straight Connector 240">
            <a:extLst>
              <a:ext uri="{FF2B5EF4-FFF2-40B4-BE49-F238E27FC236}">
                <a16:creationId xmlns:a16="http://schemas.microsoft.com/office/drawing/2014/main" id="{71BE5725-4416-4890-A8A4-B0B15DADA3DE}"/>
              </a:ext>
            </a:extLst>
          </p:cNvPr>
          <p:cNvCxnSpPr>
            <a:cxnSpLocks/>
          </p:cNvCxnSpPr>
          <p:nvPr/>
        </p:nvCxnSpPr>
        <p:spPr>
          <a:xfrm>
            <a:off x="5915169" y="2040254"/>
            <a:ext cx="418539" cy="0"/>
          </a:xfrm>
          <a:prstGeom prst="line">
            <a:avLst/>
          </a:prstGeom>
          <a:noFill/>
          <a:ln w="57150" cap="flat" cmpd="sng" algn="ctr">
            <a:solidFill>
              <a:schemeClr val="tx1">
                <a:lumMod val="65000"/>
                <a:lumOff val="35000"/>
              </a:schemeClr>
            </a:solidFill>
            <a:prstDash val="solid"/>
          </a:ln>
          <a:effectLst/>
        </p:spPr>
      </p:cxnSp>
      <p:cxnSp>
        <p:nvCxnSpPr>
          <p:cNvPr id="242" name="Straight Connector 241">
            <a:extLst>
              <a:ext uri="{FF2B5EF4-FFF2-40B4-BE49-F238E27FC236}">
                <a16:creationId xmlns:a16="http://schemas.microsoft.com/office/drawing/2014/main" id="{8545BBE6-E8A7-404F-B57F-DD754BF95D0E}"/>
              </a:ext>
            </a:extLst>
          </p:cNvPr>
          <p:cNvCxnSpPr>
            <a:cxnSpLocks/>
          </p:cNvCxnSpPr>
          <p:nvPr/>
        </p:nvCxnSpPr>
        <p:spPr>
          <a:xfrm>
            <a:off x="4992366" y="2045059"/>
            <a:ext cx="418539" cy="0"/>
          </a:xfrm>
          <a:prstGeom prst="line">
            <a:avLst/>
          </a:prstGeom>
          <a:noFill/>
          <a:ln w="57150" cap="flat" cmpd="sng" algn="ctr">
            <a:solidFill>
              <a:schemeClr val="tx1">
                <a:lumMod val="65000"/>
                <a:lumOff val="35000"/>
              </a:schemeClr>
            </a:solidFill>
            <a:prstDash val="solid"/>
          </a:ln>
          <a:effectLst/>
        </p:spPr>
      </p:cxnSp>
      <p:cxnSp>
        <p:nvCxnSpPr>
          <p:cNvPr id="243" name="Straight Connector 242">
            <a:extLst>
              <a:ext uri="{FF2B5EF4-FFF2-40B4-BE49-F238E27FC236}">
                <a16:creationId xmlns:a16="http://schemas.microsoft.com/office/drawing/2014/main" id="{97ED6F0A-9D7F-4348-ACDD-3B525BE80766}"/>
              </a:ext>
            </a:extLst>
          </p:cNvPr>
          <p:cNvCxnSpPr>
            <a:cxnSpLocks/>
          </p:cNvCxnSpPr>
          <p:nvPr/>
        </p:nvCxnSpPr>
        <p:spPr>
          <a:xfrm>
            <a:off x="8171200" y="2039673"/>
            <a:ext cx="418539" cy="0"/>
          </a:xfrm>
          <a:prstGeom prst="line">
            <a:avLst/>
          </a:prstGeom>
          <a:noFill/>
          <a:ln w="57150" cap="flat" cmpd="sng" algn="ctr">
            <a:solidFill>
              <a:schemeClr val="tx1">
                <a:lumMod val="65000"/>
                <a:lumOff val="35000"/>
              </a:schemeClr>
            </a:solidFill>
            <a:prstDash val="solid"/>
          </a:ln>
          <a:effectLst/>
        </p:spPr>
      </p:cxnSp>
      <p:sp>
        <p:nvSpPr>
          <p:cNvPr id="244" name="TextBox 243">
            <a:extLst>
              <a:ext uri="{FF2B5EF4-FFF2-40B4-BE49-F238E27FC236}">
                <a16:creationId xmlns:a16="http://schemas.microsoft.com/office/drawing/2014/main" id="{9823386C-71A8-408D-B27B-C9307B524AE0}"/>
              </a:ext>
            </a:extLst>
          </p:cNvPr>
          <p:cNvSpPr txBox="1"/>
          <p:nvPr/>
        </p:nvSpPr>
        <p:spPr>
          <a:xfrm>
            <a:off x="4893432" y="2072644"/>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0</a:t>
            </a:r>
          </a:p>
        </p:txBody>
      </p:sp>
      <p:sp>
        <p:nvSpPr>
          <p:cNvPr id="245" name="TextBox 244">
            <a:extLst>
              <a:ext uri="{FF2B5EF4-FFF2-40B4-BE49-F238E27FC236}">
                <a16:creationId xmlns:a16="http://schemas.microsoft.com/office/drawing/2014/main" id="{0B253449-B63B-46D0-8824-AAD7360BE7FE}"/>
              </a:ext>
            </a:extLst>
          </p:cNvPr>
          <p:cNvSpPr txBox="1"/>
          <p:nvPr/>
        </p:nvSpPr>
        <p:spPr>
          <a:xfrm>
            <a:off x="5858376" y="2071862"/>
            <a:ext cx="627032"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1</a:t>
            </a:r>
          </a:p>
        </p:txBody>
      </p:sp>
      <p:grpSp>
        <p:nvGrpSpPr>
          <p:cNvPr id="249" name="Group 248">
            <a:extLst>
              <a:ext uri="{FF2B5EF4-FFF2-40B4-BE49-F238E27FC236}">
                <a16:creationId xmlns:a16="http://schemas.microsoft.com/office/drawing/2014/main" id="{3D251FFA-8E71-4F5B-82D5-41DE0A684330}"/>
              </a:ext>
            </a:extLst>
          </p:cNvPr>
          <p:cNvGrpSpPr/>
          <p:nvPr/>
        </p:nvGrpSpPr>
        <p:grpSpPr>
          <a:xfrm>
            <a:off x="5273552" y="1195126"/>
            <a:ext cx="257544" cy="249382"/>
            <a:chOff x="2924893" y="2103407"/>
            <a:chExt cx="257544" cy="249382"/>
          </a:xfrm>
        </p:grpSpPr>
        <p:sp>
          <p:nvSpPr>
            <p:cNvPr id="250" name="Oval 249">
              <a:extLst>
                <a:ext uri="{FF2B5EF4-FFF2-40B4-BE49-F238E27FC236}">
                  <a16:creationId xmlns:a16="http://schemas.microsoft.com/office/drawing/2014/main" id="{88164C49-F757-4070-B660-48DC5BC11540}"/>
                </a:ext>
              </a:extLst>
            </p:cNvPr>
            <p:cNvSpPr>
              <a:spLocks noChangeArrowheads="1"/>
            </p:cNvSpPr>
            <p:nvPr/>
          </p:nvSpPr>
          <p:spPr bwMode="auto">
            <a:xfrm>
              <a:off x="2924893"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51" name="Graphic 4">
              <a:extLst>
                <a:ext uri="{FF2B5EF4-FFF2-40B4-BE49-F238E27FC236}">
                  <a16:creationId xmlns:a16="http://schemas.microsoft.com/office/drawing/2014/main" id="{81233C59-795C-4726-BB09-E26E36217928}"/>
                </a:ext>
              </a:extLst>
            </p:cNvPr>
            <p:cNvGrpSpPr/>
            <p:nvPr/>
          </p:nvGrpSpPr>
          <p:grpSpPr>
            <a:xfrm>
              <a:off x="2924893" y="2103407"/>
              <a:ext cx="257544" cy="249382"/>
              <a:chOff x="3607758" y="1402723"/>
              <a:chExt cx="362309" cy="361971"/>
            </a:xfrm>
            <a:solidFill>
              <a:sysClr val="windowText" lastClr="000000"/>
            </a:solidFill>
          </p:grpSpPr>
          <p:sp>
            <p:nvSpPr>
              <p:cNvPr id="252" name="Graphic 4">
                <a:extLst>
                  <a:ext uri="{FF2B5EF4-FFF2-40B4-BE49-F238E27FC236}">
                    <a16:creationId xmlns:a16="http://schemas.microsoft.com/office/drawing/2014/main" id="{ABDD3747-7786-4204-97E2-BEF5F0D354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3" name="Graphic 4">
                <a:extLst>
                  <a:ext uri="{FF2B5EF4-FFF2-40B4-BE49-F238E27FC236}">
                    <a16:creationId xmlns:a16="http://schemas.microsoft.com/office/drawing/2014/main" id="{4E1A988B-BD1F-4EB8-9CD8-8ABAE5D9C63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4" name="Graphic 4">
                <a:extLst>
                  <a:ext uri="{FF2B5EF4-FFF2-40B4-BE49-F238E27FC236}">
                    <a16:creationId xmlns:a16="http://schemas.microsoft.com/office/drawing/2014/main" id="{1CBFD0A1-3354-4495-A3F1-482547CEFCB4}"/>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5" name="Graphic 4">
                <a:extLst>
                  <a:ext uri="{FF2B5EF4-FFF2-40B4-BE49-F238E27FC236}">
                    <a16:creationId xmlns:a16="http://schemas.microsoft.com/office/drawing/2014/main" id="{5497B95A-562C-4859-AF60-E8E580722535}"/>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6" name="Graphic 4">
                <a:extLst>
                  <a:ext uri="{FF2B5EF4-FFF2-40B4-BE49-F238E27FC236}">
                    <a16:creationId xmlns:a16="http://schemas.microsoft.com/office/drawing/2014/main" id="{7D8F7D9E-1C7B-4CFC-A03B-F2F0CD423851}"/>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7" name="Graphic 4">
                <a:extLst>
                  <a:ext uri="{FF2B5EF4-FFF2-40B4-BE49-F238E27FC236}">
                    <a16:creationId xmlns:a16="http://schemas.microsoft.com/office/drawing/2014/main" id="{BE25D016-78F0-4E6A-9EBC-F6EE099659D9}"/>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8" name="Graphic 4">
                <a:extLst>
                  <a:ext uri="{FF2B5EF4-FFF2-40B4-BE49-F238E27FC236}">
                    <a16:creationId xmlns:a16="http://schemas.microsoft.com/office/drawing/2014/main" id="{A06211A0-D423-4C71-BEA6-676E8866EC7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59" name="Graphic 4">
                <a:extLst>
                  <a:ext uri="{FF2B5EF4-FFF2-40B4-BE49-F238E27FC236}">
                    <a16:creationId xmlns:a16="http://schemas.microsoft.com/office/drawing/2014/main" id="{ED4AE579-168B-41CE-9618-D2DACCFF0BE7}"/>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60" name="Group 259">
            <a:extLst>
              <a:ext uri="{FF2B5EF4-FFF2-40B4-BE49-F238E27FC236}">
                <a16:creationId xmlns:a16="http://schemas.microsoft.com/office/drawing/2014/main" id="{4D8CA785-6047-475E-A10F-6B5BF4BCD280}"/>
              </a:ext>
            </a:extLst>
          </p:cNvPr>
          <p:cNvGrpSpPr/>
          <p:nvPr/>
        </p:nvGrpSpPr>
        <p:grpSpPr>
          <a:xfrm>
            <a:off x="4280211" y="1195126"/>
            <a:ext cx="257544" cy="249382"/>
            <a:chOff x="2427175" y="2103407"/>
            <a:chExt cx="257544" cy="249382"/>
          </a:xfrm>
        </p:grpSpPr>
        <p:sp>
          <p:nvSpPr>
            <p:cNvPr id="261" name="Oval 260">
              <a:extLst>
                <a:ext uri="{FF2B5EF4-FFF2-40B4-BE49-F238E27FC236}">
                  <a16:creationId xmlns:a16="http://schemas.microsoft.com/office/drawing/2014/main" id="{2B3B73FB-9F89-4FB0-8A67-FF463803C332}"/>
                </a:ext>
              </a:extLst>
            </p:cNvPr>
            <p:cNvSpPr>
              <a:spLocks noChangeArrowheads="1"/>
            </p:cNvSpPr>
            <p:nvPr/>
          </p:nvSpPr>
          <p:spPr bwMode="auto">
            <a:xfrm>
              <a:off x="2427175"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62" name="Graphic 4">
              <a:extLst>
                <a:ext uri="{FF2B5EF4-FFF2-40B4-BE49-F238E27FC236}">
                  <a16:creationId xmlns:a16="http://schemas.microsoft.com/office/drawing/2014/main" id="{E7E2A2F3-217D-4EC9-B2F4-E3F55F721CAA}"/>
                </a:ext>
              </a:extLst>
            </p:cNvPr>
            <p:cNvGrpSpPr/>
            <p:nvPr/>
          </p:nvGrpSpPr>
          <p:grpSpPr>
            <a:xfrm>
              <a:off x="2427175" y="2103407"/>
              <a:ext cx="257544" cy="249382"/>
              <a:chOff x="3607758" y="1402723"/>
              <a:chExt cx="362309" cy="361971"/>
            </a:xfrm>
            <a:solidFill>
              <a:sysClr val="windowText" lastClr="000000"/>
            </a:solidFill>
          </p:grpSpPr>
          <p:sp>
            <p:nvSpPr>
              <p:cNvPr id="263" name="Graphic 4">
                <a:extLst>
                  <a:ext uri="{FF2B5EF4-FFF2-40B4-BE49-F238E27FC236}">
                    <a16:creationId xmlns:a16="http://schemas.microsoft.com/office/drawing/2014/main" id="{041E6012-91A5-45A2-97FA-7E2693AA816A}"/>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4" name="Graphic 4">
                <a:extLst>
                  <a:ext uri="{FF2B5EF4-FFF2-40B4-BE49-F238E27FC236}">
                    <a16:creationId xmlns:a16="http://schemas.microsoft.com/office/drawing/2014/main" id="{56B3BCEC-3635-4B6D-818F-528A93E071F1}"/>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5" name="Graphic 4">
                <a:extLst>
                  <a:ext uri="{FF2B5EF4-FFF2-40B4-BE49-F238E27FC236}">
                    <a16:creationId xmlns:a16="http://schemas.microsoft.com/office/drawing/2014/main" id="{B88C6CBE-3E8F-4FFF-8B47-01E2F44BAD5B}"/>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6" name="Graphic 4">
                <a:extLst>
                  <a:ext uri="{FF2B5EF4-FFF2-40B4-BE49-F238E27FC236}">
                    <a16:creationId xmlns:a16="http://schemas.microsoft.com/office/drawing/2014/main" id="{85CAF14B-A29D-43B6-A8DF-594DFFF48377}"/>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7" name="Graphic 4">
                <a:extLst>
                  <a:ext uri="{FF2B5EF4-FFF2-40B4-BE49-F238E27FC236}">
                    <a16:creationId xmlns:a16="http://schemas.microsoft.com/office/drawing/2014/main" id="{65198C28-004A-4F2F-B670-2AF117CC7805}"/>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8" name="Graphic 4">
                <a:extLst>
                  <a:ext uri="{FF2B5EF4-FFF2-40B4-BE49-F238E27FC236}">
                    <a16:creationId xmlns:a16="http://schemas.microsoft.com/office/drawing/2014/main" id="{28ED8BDF-0A35-4B8D-8E79-1566F81E8D28}"/>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69" name="Graphic 4">
                <a:extLst>
                  <a:ext uri="{FF2B5EF4-FFF2-40B4-BE49-F238E27FC236}">
                    <a16:creationId xmlns:a16="http://schemas.microsoft.com/office/drawing/2014/main" id="{2FF99046-6A19-46A8-B2A5-78717ACA9DF9}"/>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0" name="Graphic 4">
                <a:extLst>
                  <a:ext uri="{FF2B5EF4-FFF2-40B4-BE49-F238E27FC236}">
                    <a16:creationId xmlns:a16="http://schemas.microsoft.com/office/drawing/2014/main" id="{F0B6BBFF-401E-4B8F-96C3-7C63AB980DED}"/>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grpSp>
        <p:nvGrpSpPr>
          <p:cNvPr id="271" name="Group 270">
            <a:extLst>
              <a:ext uri="{FF2B5EF4-FFF2-40B4-BE49-F238E27FC236}">
                <a16:creationId xmlns:a16="http://schemas.microsoft.com/office/drawing/2014/main" id="{FDBB402E-BEF6-4769-8BE5-60EE6EE70128}"/>
              </a:ext>
            </a:extLst>
          </p:cNvPr>
          <p:cNvGrpSpPr/>
          <p:nvPr/>
        </p:nvGrpSpPr>
        <p:grpSpPr>
          <a:xfrm>
            <a:off x="3510838" y="1195126"/>
            <a:ext cx="257544" cy="249382"/>
            <a:chOff x="1929456" y="2103407"/>
            <a:chExt cx="257544" cy="249382"/>
          </a:xfrm>
        </p:grpSpPr>
        <p:sp>
          <p:nvSpPr>
            <p:cNvPr id="272" name="Oval 271">
              <a:extLst>
                <a:ext uri="{FF2B5EF4-FFF2-40B4-BE49-F238E27FC236}">
                  <a16:creationId xmlns:a16="http://schemas.microsoft.com/office/drawing/2014/main" id="{2F9F7283-FD8A-48D3-9BBD-C4461F7585FD}"/>
                </a:ext>
              </a:extLst>
            </p:cNvPr>
            <p:cNvSpPr>
              <a:spLocks noChangeArrowheads="1"/>
            </p:cNvSpPr>
            <p:nvPr/>
          </p:nvSpPr>
          <p:spPr bwMode="auto">
            <a:xfrm>
              <a:off x="1929456" y="2103407"/>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273" name="Graphic 4">
              <a:extLst>
                <a:ext uri="{FF2B5EF4-FFF2-40B4-BE49-F238E27FC236}">
                  <a16:creationId xmlns:a16="http://schemas.microsoft.com/office/drawing/2014/main" id="{2F4140E3-7D5C-4EC5-9152-7C9F68DD8DFB}"/>
                </a:ext>
              </a:extLst>
            </p:cNvPr>
            <p:cNvGrpSpPr/>
            <p:nvPr/>
          </p:nvGrpSpPr>
          <p:grpSpPr>
            <a:xfrm>
              <a:off x="1929456" y="2103407"/>
              <a:ext cx="257544" cy="249382"/>
              <a:chOff x="3607758" y="1402723"/>
              <a:chExt cx="362309" cy="361971"/>
            </a:xfrm>
            <a:solidFill>
              <a:sysClr val="windowText" lastClr="000000"/>
            </a:solidFill>
          </p:grpSpPr>
          <p:sp>
            <p:nvSpPr>
              <p:cNvPr id="274" name="Graphic 4">
                <a:extLst>
                  <a:ext uri="{FF2B5EF4-FFF2-40B4-BE49-F238E27FC236}">
                    <a16:creationId xmlns:a16="http://schemas.microsoft.com/office/drawing/2014/main" id="{836E64AA-9304-446E-9A6A-23825B7CFC0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5" name="Graphic 4">
                <a:extLst>
                  <a:ext uri="{FF2B5EF4-FFF2-40B4-BE49-F238E27FC236}">
                    <a16:creationId xmlns:a16="http://schemas.microsoft.com/office/drawing/2014/main" id="{1D4D3D17-A7E0-4116-BE3D-98C60ACF09CD}"/>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6" name="Graphic 4">
                <a:extLst>
                  <a:ext uri="{FF2B5EF4-FFF2-40B4-BE49-F238E27FC236}">
                    <a16:creationId xmlns:a16="http://schemas.microsoft.com/office/drawing/2014/main" id="{F765CA33-7B9F-415D-A16E-9B82DBAAFFED}"/>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7" name="Graphic 4">
                <a:extLst>
                  <a:ext uri="{FF2B5EF4-FFF2-40B4-BE49-F238E27FC236}">
                    <a16:creationId xmlns:a16="http://schemas.microsoft.com/office/drawing/2014/main" id="{8A1BDE4A-2672-42A3-BDB0-87B60739393B}"/>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8" name="Graphic 4">
                <a:extLst>
                  <a:ext uri="{FF2B5EF4-FFF2-40B4-BE49-F238E27FC236}">
                    <a16:creationId xmlns:a16="http://schemas.microsoft.com/office/drawing/2014/main" id="{4583596E-E858-485A-8289-6E2E6F2F9388}"/>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79" name="Graphic 4">
                <a:extLst>
                  <a:ext uri="{FF2B5EF4-FFF2-40B4-BE49-F238E27FC236}">
                    <a16:creationId xmlns:a16="http://schemas.microsoft.com/office/drawing/2014/main" id="{0BD1A25B-76A0-46A8-9AB2-8E0CBC6CF54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0" name="Graphic 4">
                <a:extLst>
                  <a:ext uri="{FF2B5EF4-FFF2-40B4-BE49-F238E27FC236}">
                    <a16:creationId xmlns:a16="http://schemas.microsoft.com/office/drawing/2014/main" id="{743AE297-64AD-4F87-B0CF-91DE5E55F4B2}"/>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281" name="Graphic 4">
                <a:extLst>
                  <a:ext uri="{FF2B5EF4-FFF2-40B4-BE49-F238E27FC236}">
                    <a16:creationId xmlns:a16="http://schemas.microsoft.com/office/drawing/2014/main" id="{AA25D741-BD13-41E0-B178-4C0DA1A8C303}"/>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283" name="TextBox 282">
            <a:extLst>
              <a:ext uri="{FF2B5EF4-FFF2-40B4-BE49-F238E27FC236}">
                <a16:creationId xmlns:a16="http://schemas.microsoft.com/office/drawing/2014/main" id="{E4C758B7-2FD0-410A-9668-18B00B403CBB}"/>
              </a:ext>
            </a:extLst>
          </p:cNvPr>
          <p:cNvSpPr txBox="1"/>
          <p:nvPr/>
        </p:nvSpPr>
        <p:spPr>
          <a:xfrm>
            <a:off x="10858178" y="1993443"/>
            <a:ext cx="873843"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MVP1 Go-Live </a:t>
            </a:r>
          </a:p>
        </p:txBody>
      </p:sp>
      <p:sp>
        <p:nvSpPr>
          <p:cNvPr id="284" name="TextBox 283">
            <a:extLst>
              <a:ext uri="{FF2B5EF4-FFF2-40B4-BE49-F238E27FC236}">
                <a16:creationId xmlns:a16="http://schemas.microsoft.com/office/drawing/2014/main" id="{644E71CA-74C7-47BE-9795-F86A306EB953}"/>
              </a:ext>
            </a:extLst>
          </p:cNvPr>
          <p:cNvSpPr txBox="1"/>
          <p:nvPr/>
        </p:nvSpPr>
        <p:spPr>
          <a:xfrm>
            <a:off x="9913028" y="2068224"/>
            <a:ext cx="679092" cy="200055"/>
          </a:xfrm>
          <a:prstGeom prst="rect">
            <a:avLst/>
          </a:prstGeom>
          <a:noFill/>
        </p:spPr>
        <p:txBody>
          <a:bodyPr wrap="square">
            <a:spAutoFit/>
          </a:bodyPr>
          <a:lstStyle/>
          <a:p>
            <a:pPr marL="0" marR="0" lvl="0" indent="0" algn="ctr" defTabSz="914400" rtl="0" eaLnBrk="1" fontAlgn="auto" latinLnBrk="0" hangingPunct="1">
              <a:lnSpc>
                <a:spcPct val="100000"/>
              </a:lnSpc>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Cutover</a:t>
            </a:r>
          </a:p>
        </p:txBody>
      </p:sp>
      <p:cxnSp>
        <p:nvCxnSpPr>
          <p:cNvPr id="286" name="Straight Connector 285">
            <a:extLst>
              <a:ext uri="{FF2B5EF4-FFF2-40B4-BE49-F238E27FC236}">
                <a16:creationId xmlns:a16="http://schemas.microsoft.com/office/drawing/2014/main" id="{51118A5B-6882-47A8-AB98-BB7FDD0976AF}"/>
              </a:ext>
            </a:extLst>
          </p:cNvPr>
          <p:cNvCxnSpPr>
            <a:cxnSpLocks/>
          </p:cNvCxnSpPr>
          <p:nvPr/>
        </p:nvCxnSpPr>
        <p:spPr>
          <a:xfrm>
            <a:off x="9980258" y="2039615"/>
            <a:ext cx="566762" cy="0"/>
          </a:xfrm>
          <a:prstGeom prst="line">
            <a:avLst/>
          </a:prstGeom>
          <a:noFill/>
          <a:ln w="57150" cap="flat" cmpd="sng" algn="ctr">
            <a:solidFill>
              <a:schemeClr val="tx1">
                <a:lumMod val="65000"/>
                <a:lumOff val="35000"/>
              </a:schemeClr>
            </a:solidFill>
            <a:prstDash val="solid"/>
          </a:ln>
          <a:effectLst/>
        </p:spPr>
      </p:cxnSp>
      <p:cxnSp>
        <p:nvCxnSpPr>
          <p:cNvPr id="290" name="Straight Connector 289">
            <a:extLst>
              <a:ext uri="{FF2B5EF4-FFF2-40B4-BE49-F238E27FC236}">
                <a16:creationId xmlns:a16="http://schemas.microsoft.com/office/drawing/2014/main" id="{EDEF4A9D-F9A3-4448-AFDF-DDEF8BBED75E}"/>
              </a:ext>
            </a:extLst>
          </p:cNvPr>
          <p:cNvCxnSpPr>
            <a:cxnSpLocks/>
          </p:cNvCxnSpPr>
          <p:nvPr/>
        </p:nvCxnSpPr>
        <p:spPr>
          <a:xfrm>
            <a:off x="2832322" y="2377695"/>
            <a:ext cx="8659405" cy="5990"/>
          </a:xfrm>
          <a:prstGeom prst="line">
            <a:avLst/>
          </a:prstGeom>
          <a:ln w="28575">
            <a:solidFill>
              <a:schemeClr val="bg1">
                <a:lumMod val="50000"/>
              </a:schemeClr>
            </a:solidFill>
            <a:prstDash val="solid"/>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3" name="Diamond 292">
            <a:extLst>
              <a:ext uri="{FF2B5EF4-FFF2-40B4-BE49-F238E27FC236}">
                <a16:creationId xmlns:a16="http://schemas.microsoft.com/office/drawing/2014/main" id="{624412BF-17C1-4E9E-B2A7-ACC838DD302F}"/>
              </a:ext>
            </a:extLst>
          </p:cNvPr>
          <p:cNvSpPr/>
          <p:nvPr/>
        </p:nvSpPr>
        <p:spPr bwMode="gray">
          <a:xfrm>
            <a:off x="10113608" y="229291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8" name="Diamond 297">
            <a:extLst>
              <a:ext uri="{FF2B5EF4-FFF2-40B4-BE49-F238E27FC236}">
                <a16:creationId xmlns:a16="http://schemas.microsoft.com/office/drawing/2014/main" id="{935EA0B6-E300-4014-BDA2-63B9A95721E4}"/>
              </a:ext>
            </a:extLst>
          </p:cNvPr>
          <p:cNvSpPr/>
          <p:nvPr/>
        </p:nvSpPr>
        <p:spPr bwMode="gray">
          <a:xfrm>
            <a:off x="9898264" y="229291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99" name="Diamond 298">
            <a:extLst>
              <a:ext uri="{FF2B5EF4-FFF2-40B4-BE49-F238E27FC236}">
                <a16:creationId xmlns:a16="http://schemas.microsoft.com/office/drawing/2014/main" id="{889235A3-ACF7-4D45-9F96-A45C6A533C20}"/>
              </a:ext>
            </a:extLst>
          </p:cNvPr>
          <p:cNvSpPr/>
          <p:nvPr/>
        </p:nvSpPr>
        <p:spPr bwMode="gray">
          <a:xfrm>
            <a:off x="10966809" y="228541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0" name="Diamond 299">
            <a:extLst>
              <a:ext uri="{FF2B5EF4-FFF2-40B4-BE49-F238E27FC236}">
                <a16:creationId xmlns:a16="http://schemas.microsoft.com/office/drawing/2014/main" id="{2D316F46-A33C-4C10-896D-750A07FE5C73}"/>
              </a:ext>
            </a:extLst>
          </p:cNvPr>
          <p:cNvSpPr/>
          <p:nvPr/>
        </p:nvSpPr>
        <p:spPr bwMode="gray">
          <a:xfrm>
            <a:off x="3695627"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1" name="Diamond 300">
            <a:extLst>
              <a:ext uri="{FF2B5EF4-FFF2-40B4-BE49-F238E27FC236}">
                <a16:creationId xmlns:a16="http://schemas.microsoft.com/office/drawing/2014/main" id="{920B5C27-8EFC-401D-9E57-6E1761BBF20A}"/>
              </a:ext>
            </a:extLst>
          </p:cNvPr>
          <p:cNvSpPr/>
          <p:nvPr/>
        </p:nvSpPr>
        <p:spPr bwMode="gray">
          <a:xfrm>
            <a:off x="6474999"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2" name="Diamond 301">
            <a:extLst>
              <a:ext uri="{FF2B5EF4-FFF2-40B4-BE49-F238E27FC236}">
                <a16:creationId xmlns:a16="http://schemas.microsoft.com/office/drawing/2014/main" id="{BA7A1016-928C-454B-9C1F-37E006551EAE}"/>
              </a:ext>
            </a:extLst>
          </p:cNvPr>
          <p:cNvSpPr/>
          <p:nvPr/>
        </p:nvSpPr>
        <p:spPr bwMode="gray">
          <a:xfrm>
            <a:off x="5521566"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3" name="Diamond 302">
            <a:extLst>
              <a:ext uri="{FF2B5EF4-FFF2-40B4-BE49-F238E27FC236}">
                <a16:creationId xmlns:a16="http://schemas.microsoft.com/office/drawing/2014/main" id="{36B1834F-845C-4F36-8D09-B5DF3A9769C3}"/>
              </a:ext>
            </a:extLst>
          </p:cNvPr>
          <p:cNvSpPr/>
          <p:nvPr/>
        </p:nvSpPr>
        <p:spPr bwMode="gray">
          <a:xfrm>
            <a:off x="4530645"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4" name="Diamond 303">
            <a:extLst>
              <a:ext uri="{FF2B5EF4-FFF2-40B4-BE49-F238E27FC236}">
                <a16:creationId xmlns:a16="http://schemas.microsoft.com/office/drawing/2014/main" id="{5B80F288-7022-4802-9EB7-5F5E3CCADF2C}"/>
              </a:ext>
            </a:extLst>
          </p:cNvPr>
          <p:cNvSpPr/>
          <p:nvPr/>
        </p:nvSpPr>
        <p:spPr bwMode="gray">
          <a:xfrm>
            <a:off x="3483128"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6" name="Diamond 305">
            <a:extLst>
              <a:ext uri="{FF2B5EF4-FFF2-40B4-BE49-F238E27FC236}">
                <a16:creationId xmlns:a16="http://schemas.microsoft.com/office/drawing/2014/main" id="{A675C9EE-EDFA-468A-AB1A-73B3DBAC74DE}"/>
              </a:ext>
            </a:extLst>
          </p:cNvPr>
          <p:cNvSpPr/>
          <p:nvPr/>
        </p:nvSpPr>
        <p:spPr bwMode="gray">
          <a:xfrm>
            <a:off x="4741829" y="2292245"/>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8" name="Diamond 307">
            <a:extLst>
              <a:ext uri="{FF2B5EF4-FFF2-40B4-BE49-F238E27FC236}">
                <a16:creationId xmlns:a16="http://schemas.microsoft.com/office/drawing/2014/main" id="{590BB5C5-B83A-43AA-A62E-3AD090F5E089}"/>
              </a:ext>
            </a:extLst>
          </p:cNvPr>
          <p:cNvSpPr/>
          <p:nvPr/>
        </p:nvSpPr>
        <p:spPr bwMode="gray">
          <a:xfrm>
            <a:off x="7846957" y="2293989"/>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09" name="Diamond 308">
            <a:extLst>
              <a:ext uri="{FF2B5EF4-FFF2-40B4-BE49-F238E27FC236}">
                <a16:creationId xmlns:a16="http://schemas.microsoft.com/office/drawing/2014/main" id="{ABE6A197-63EC-4D58-BDCD-9D00B8A26166}"/>
              </a:ext>
            </a:extLst>
          </p:cNvPr>
          <p:cNvSpPr/>
          <p:nvPr/>
        </p:nvSpPr>
        <p:spPr bwMode="gray">
          <a:xfrm>
            <a:off x="765336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1" name="Diamond 310">
            <a:extLst>
              <a:ext uri="{FF2B5EF4-FFF2-40B4-BE49-F238E27FC236}">
                <a16:creationId xmlns:a16="http://schemas.microsoft.com/office/drawing/2014/main" id="{2E13FBA6-5C25-45A7-8065-0AFBA7D8AC4B}"/>
              </a:ext>
            </a:extLst>
          </p:cNvPr>
          <p:cNvSpPr/>
          <p:nvPr/>
        </p:nvSpPr>
        <p:spPr bwMode="gray">
          <a:xfrm>
            <a:off x="8806654" y="22922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3" name="Star: 5 Points 312">
            <a:extLst>
              <a:ext uri="{FF2B5EF4-FFF2-40B4-BE49-F238E27FC236}">
                <a16:creationId xmlns:a16="http://schemas.microsoft.com/office/drawing/2014/main" id="{8CBF61AF-8CA1-4DFD-9598-2DED1C78378C}"/>
              </a:ext>
            </a:extLst>
          </p:cNvPr>
          <p:cNvSpPr/>
          <p:nvPr/>
        </p:nvSpPr>
        <p:spPr bwMode="gray">
          <a:xfrm>
            <a:off x="11120097" y="228474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6" name="Star: 5 Points 315">
            <a:extLst>
              <a:ext uri="{FF2B5EF4-FFF2-40B4-BE49-F238E27FC236}">
                <a16:creationId xmlns:a16="http://schemas.microsoft.com/office/drawing/2014/main" id="{24B76479-0904-41F5-8802-423CA69E3D45}"/>
              </a:ext>
            </a:extLst>
          </p:cNvPr>
          <p:cNvSpPr/>
          <p:nvPr/>
        </p:nvSpPr>
        <p:spPr bwMode="gray">
          <a:xfrm>
            <a:off x="8989534" y="2282637"/>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19" name="Diamond 318">
            <a:extLst>
              <a:ext uri="{FF2B5EF4-FFF2-40B4-BE49-F238E27FC236}">
                <a16:creationId xmlns:a16="http://schemas.microsoft.com/office/drawing/2014/main" id="{65939578-C85E-4E6E-8126-AFE5CC2B8B9A}"/>
              </a:ext>
            </a:extLst>
          </p:cNvPr>
          <p:cNvSpPr/>
          <p:nvPr/>
        </p:nvSpPr>
        <p:spPr bwMode="gray">
          <a:xfrm>
            <a:off x="8323259" y="10510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0" name="Rectangle 319">
            <a:extLst>
              <a:ext uri="{FF2B5EF4-FFF2-40B4-BE49-F238E27FC236}">
                <a16:creationId xmlns:a16="http://schemas.microsoft.com/office/drawing/2014/main" id="{13AF7DFD-DA37-4161-8FF8-44A4D6167C3B}"/>
              </a:ext>
            </a:extLst>
          </p:cNvPr>
          <p:cNvSpPr/>
          <p:nvPr/>
        </p:nvSpPr>
        <p:spPr>
          <a:xfrm>
            <a:off x="8466292" y="104208"/>
            <a:ext cx="1271261"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Steering Co Meetings </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1" name="Diamond 320">
            <a:extLst>
              <a:ext uri="{FF2B5EF4-FFF2-40B4-BE49-F238E27FC236}">
                <a16:creationId xmlns:a16="http://schemas.microsoft.com/office/drawing/2014/main" id="{B3EAB08A-F644-49B6-A447-4E4FC3435D85}"/>
              </a:ext>
            </a:extLst>
          </p:cNvPr>
          <p:cNvSpPr/>
          <p:nvPr/>
        </p:nvSpPr>
        <p:spPr bwMode="gray">
          <a:xfrm>
            <a:off x="7157167" y="105101"/>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2" name="Rectangle 321">
            <a:extLst>
              <a:ext uri="{FF2B5EF4-FFF2-40B4-BE49-F238E27FC236}">
                <a16:creationId xmlns:a16="http://schemas.microsoft.com/office/drawing/2014/main" id="{E007CE27-FF2D-4A86-84CF-DAC9007ED704}"/>
              </a:ext>
            </a:extLst>
          </p:cNvPr>
          <p:cNvSpPr/>
          <p:nvPr/>
        </p:nvSpPr>
        <p:spPr>
          <a:xfrm>
            <a:off x="7320319" y="104208"/>
            <a:ext cx="135157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Cross-Team Meeting</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23" name="Star: 5 Points 322">
            <a:extLst>
              <a:ext uri="{FF2B5EF4-FFF2-40B4-BE49-F238E27FC236}">
                <a16:creationId xmlns:a16="http://schemas.microsoft.com/office/drawing/2014/main" id="{2F7E0DD1-B7FC-43DB-9C30-F9B20705E1E4}"/>
              </a:ext>
            </a:extLst>
          </p:cNvPr>
          <p:cNvSpPr/>
          <p:nvPr/>
        </p:nvSpPr>
        <p:spPr bwMode="gray">
          <a:xfrm>
            <a:off x="10230836" y="105101"/>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24" name="Rectangle 323">
            <a:extLst>
              <a:ext uri="{FF2B5EF4-FFF2-40B4-BE49-F238E27FC236}">
                <a16:creationId xmlns:a16="http://schemas.microsoft.com/office/drawing/2014/main" id="{68814926-CCAD-4768-BF44-6EDFADDF8AD1}"/>
              </a:ext>
            </a:extLst>
          </p:cNvPr>
          <p:cNvSpPr/>
          <p:nvPr/>
        </p:nvSpPr>
        <p:spPr>
          <a:xfrm>
            <a:off x="10413716" y="104208"/>
            <a:ext cx="1728042"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Critical Check points Steering Co</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grpSp>
        <p:nvGrpSpPr>
          <p:cNvPr id="325" name="Group 324">
            <a:extLst>
              <a:ext uri="{FF2B5EF4-FFF2-40B4-BE49-F238E27FC236}">
                <a16:creationId xmlns:a16="http://schemas.microsoft.com/office/drawing/2014/main" id="{51B04ECB-18DA-462C-B993-1A80B4406179}"/>
              </a:ext>
            </a:extLst>
          </p:cNvPr>
          <p:cNvGrpSpPr/>
          <p:nvPr/>
        </p:nvGrpSpPr>
        <p:grpSpPr>
          <a:xfrm>
            <a:off x="9565589" y="48419"/>
            <a:ext cx="257544" cy="249382"/>
            <a:chOff x="2951069" y="2461236"/>
            <a:chExt cx="257544" cy="249382"/>
          </a:xfrm>
        </p:grpSpPr>
        <p:sp>
          <p:nvSpPr>
            <p:cNvPr id="326" name="Oval 325">
              <a:extLst>
                <a:ext uri="{FF2B5EF4-FFF2-40B4-BE49-F238E27FC236}">
                  <a16:creationId xmlns:a16="http://schemas.microsoft.com/office/drawing/2014/main" id="{6A878726-14FA-47A5-BA60-E95E4E763276}"/>
                </a:ext>
              </a:extLst>
            </p:cNvPr>
            <p:cNvSpPr>
              <a:spLocks noChangeArrowheads="1"/>
            </p:cNvSpPr>
            <p:nvPr/>
          </p:nvSpPr>
          <p:spPr bwMode="auto">
            <a:xfrm>
              <a:off x="2951069" y="2461236"/>
              <a:ext cx="257544" cy="249382"/>
            </a:xfrm>
            <a:prstGeom prst="ellipse">
              <a:avLst/>
            </a:prstGeom>
            <a:solidFill>
              <a:sysClr val="window" lastClr="FFFFFF"/>
            </a:solidFill>
            <a:ln w="6350" cap="flat">
              <a:noFill/>
              <a:prstDash val="solid"/>
              <a:miter lim="800000"/>
              <a:headEnd/>
              <a:tailEnd/>
            </a:ln>
          </p:spPr>
          <p:txBody>
            <a:bodyPr vert="horz" wrap="square" lIns="62345" tIns="31173" rIns="62345" bIns="31173" numCol="1"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623436" rtl="0" eaLnBrk="1" fontAlgn="auto" latinLnBrk="0" hangingPunct="1">
                <a:lnSpc>
                  <a:spcPct val="100000"/>
                </a:lnSpc>
                <a:spcBef>
                  <a:spcPts val="0"/>
                </a:spcBef>
                <a:spcAft>
                  <a:spcPts val="0"/>
                </a:spcAft>
                <a:buClrTx/>
                <a:buSzTx/>
                <a:buFontTx/>
                <a:buNone/>
                <a:tabLst/>
                <a:defRPr/>
              </a:pPr>
              <a:endParaRPr kumimoji="0" lang="en-GB" sz="477" b="0" i="0" u="none" strike="noStrike" kern="0" cap="none" spc="0" normalizeH="0" baseline="0" noProof="0">
                <a:ln>
                  <a:noFill/>
                </a:ln>
                <a:solidFill>
                  <a:srgbClr val="000000"/>
                </a:solidFill>
                <a:effectLst/>
                <a:uLnTx/>
                <a:uFillTx/>
                <a:latin typeface="Open Sans"/>
                <a:ea typeface="Open Sans" panose="020B0606030504020204" pitchFamily="34" charset="0"/>
                <a:cs typeface="Open Sans" panose="020B0606030504020204" pitchFamily="34" charset="0"/>
              </a:endParaRPr>
            </a:p>
          </p:txBody>
        </p:sp>
        <p:grpSp>
          <p:nvGrpSpPr>
            <p:cNvPr id="327" name="Graphic 4">
              <a:extLst>
                <a:ext uri="{FF2B5EF4-FFF2-40B4-BE49-F238E27FC236}">
                  <a16:creationId xmlns:a16="http://schemas.microsoft.com/office/drawing/2014/main" id="{78D2AA41-F29E-4DFE-A218-CB8E2ED0A293}"/>
                </a:ext>
              </a:extLst>
            </p:cNvPr>
            <p:cNvGrpSpPr/>
            <p:nvPr/>
          </p:nvGrpSpPr>
          <p:grpSpPr>
            <a:xfrm>
              <a:off x="2951069" y="2461236"/>
              <a:ext cx="257544" cy="249382"/>
              <a:chOff x="3607758" y="1402723"/>
              <a:chExt cx="362309" cy="361971"/>
            </a:xfrm>
            <a:solidFill>
              <a:sysClr val="windowText" lastClr="000000"/>
            </a:solidFill>
          </p:grpSpPr>
          <p:sp>
            <p:nvSpPr>
              <p:cNvPr id="328" name="Graphic 4">
                <a:extLst>
                  <a:ext uri="{FF2B5EF4-FFF2-40B4-BE49-F238E27FC236}">
                    <a16:creationId xmlns:a16="http://schemas.microsoft.com/office/drawing/2014/main" id="{5CBF5391-45B5-4CD7-997E-976951616890}"/>
                  </a:ext>
                </a:extLst>
              </p:cNvPr>
              <p:cNvSpPr/>
              <p:nvPr/>
            </p:nvSpPr>
            <p:spPr>
              <a:xfrm>
                <a:off x="3607758" y="1402723"/>
                <a:ext cx="362309" cy="361971"/>
              </a:xfrm>
              <a:custGeom>
                <a:avLst/>
                <a:gdLst>
                  <a:gd name="connsiteX0" fmla="*/ 181474 w 362309"/>
                  <a:gd name="connsiteY0" fmla="*/ 0 h 361971"/>
                  <a:gd name="connsiteX1" fmla="*/ 0 w 362309"/>
                  <a:gd name="connsiteY1" fmla="*/ 180667 h 361971"/>
                  <a:gd name="connsiteX2" fmla="*/ 180836 w 362309"/>
                  <a:gd name="connsiteY2" fmla="*/ 361972 h 361971"/>
                  <a:gd name="connsiteX3" fmla="*/ 362310 w 362309"/>
                  <a:gd name="connsiteY3" fmla="*/ 181305 h 361971"/>
                  <a:gd name="connsiteX4" fmla="*/ 362310 w 362309"/>
                  <a:gd name="connsiteY4" fmla="*/ 181305 h 361971"/>
                  <a:gd name="connsiteX5" fmla="*/ 181474 w 362309"/>
                  <a:gd name="connsiteY5" fmla="*/ 0 h 361971"/>
                  <a:gd name="connsiteX6" fmla="*/ 181474 w 362309"/>
                  <a:gd name="connsiteY6" fmla="*/ 0 h 361971"/>
                  <a:gd name="connsiteX7" fmla="*/ 181474 w 362309"/>
                  <a:gd name="connsiteY7" fmla="*/ 348565 h 361971"/>
                  <a:gd name="connsiteX8" fmla="*/ 12780 w 362309"/>
                  <a:gd name="connsiteY8" fmla="*/ 180667 h 361971"/>
                  <a:gd name="connsiteX9" fmla="*/ 181474 w 362309"/>
                  <a:gd name="connsiteY9" fmla="*/ 12130 h 361971"/>
                  <a:gd name="connsiteX10" fmla="*/ 350169 w 362309"/>
                  <a:gd name="connsiteY10" fmla="*/ 180028 h 361971"/>
                  <a:gd name="connsiteX11" fmla="*/ 350169 w 362309"/>
                  <a:gd name="connsiteY11" fmla="*/ 180028 h 361971"/>
                  <a:gd name="connsiteX12" fmla="*/ 181474 w 362309"/>
                  <a:gd name="connsiteY12" fmla="*/ 348565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309" h="361971">
                    <a:moveTo>
                      <a:pt x="181474" y="0"/>
                    </a:moveTo>
                    <a:cubicBezTo>
                      <a:pt x="81152" y="0"/>
                      <a:pt x="0" y="81077"/>
                      <a:pt x="0" y="180667"/>
                    </a:cubicBezTo>
                    <a:cubicBezTo>
                      <a:pt x="0" y="280257"/>
                      <a:pt x="81152" y="361972"/>
                      <a:pt x="180836" y="361972"/>
                    </a:cubicBezTo>
                    <a:cubicBezTo>
                      <a:pt x="281157" y="361972"/>
                      <a:pt x="362310" y="280895"/>
                      <a:pt x="362310" y="181305"/>
                    </a:cubicBezTo>
                    <a:cubicBezTo>
                      <a:pt x="362310" y="181305"/>
                      <a:pt x="362310" y="181305"/>
                      <a:pt x="362310" y="181305"/>
                    </a:cubicBezTo>
                    <a:cubicBezTo>
                      <a:pt x="362310" y="80438"/>
                      <a:pt x="281796" y="0"/>
                      <a:pt x="181474" y="0"/>
                    </a:cubicBezTo>
                    <a:cubicBezTo>
                      <a:pt x="181474" y="0"/>
                      <a:pt x="181474" y="0"/>
                      <a:pt x="181474" y="0"/>
                    </a:cubicBezTo>
                    <a:close/>
                    <a:moveTo>
                      <a:pt x="181474" y="348565"/>
                    </a:moveTo>
                    <a:cubicBezTo>
                      <a:pt x="88181" y="348565"/>
                      <a:pt x="12780" y="273234"/>
                      <a:pt x="12780" y="180667"/>
                    </a:cubicBezTo>
                    <a:cubicBezTo>
                      <a:pt x="12780" y="88099"/>
                      <a:pt x="88181" y="12130"/>
                      <a:pt x="181474" y="12130"/>
                    </a:cubicBezTo>
                    <a:cubicBezTo>
                      <a:pt x="274767" y="12130"/>
                      <a:pt x="350169" y="87461"/>
                      <a:pt x="350169" y="180028"/>
                    </a:cubicBezTo>
                    <a:lnTo>
                      <a:pt x="350169" y="180028"/>
                    </a:lnTo>
                    <a:cubicBezTo>
                      <a:pt x="349530" y="273234"/>
                      <a:pt x="274128" y="348565"/>
                      <a:pt x="181474" y="348565"/>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29" name="Graphic 4">
                <a:extLst>
                  <a:ext uri="{FF2B5EF4-FFF2-40B4-BE49-F238E27FC236}">
                    <a16:creationId xmlns:a16="http://schemas.microsoft.com/office/drawing/2014/main" id="{FEA4CC58-899A-49A6-887F-65FC8147572A}"/>
                  </a:ext>
                </a:extLst>
              </p:cNvPr>
              <p:cNvSpPr/>
              <p:nvPr/>
            </p:nvSpPr>
            <p:spPr>
              <a:xfrm>
                <a:off x="3812845" y="1474830"/>
                <a:ext cx="44152" cy="43473"/>
              </a:xfrm>
              <a:custGeom>
                <a:avLst/>
                <a:gdLst>
                  <a:gd name="connsiteX0" fmla="*/ 22395 w 44152"/>
                  <a:gd name="connsiteY0" fmla="*/ 43443 h 43473"/>
                  <a:gd name="connsiteX1" fmla="*/ 23673 w 44152"/>
                  <a:gd name="connsiteY1" fmla="*/ 43443 h 43473"/>
                  <a:gd name="connsiteX2" fmla="*/ 44121 w 44152"/>
                  <a:gd name="connsiteY2" fmla="*/ 20461 h 43473"/>
                  <a:gd name="connsiteX3" fmla="*/ 21117 w 44152"/>
                  <a:gd name="connsiteY3" fmla="*/ 32 h 43473"/>
                  <a:gd name="connsiteX4" fmla="*/ 30 w 44152"/>
                  <a:gd name="connsiteY4" fmla="*/ 22376 h 43473"/>
                  <a:gd name="connsiteX5" fmla="*/ 22395 w 44152"/>
                  <a:gd name="connsiteY5" fmla="*/ 43443 h 43473"/>
                  <a:gd name="connsiteX6" fmla="*/ 22395 w 44152"/>
                  <a:gd name="connsiteY6" fmla="*/ 43443 h 43473"/>
                  <a:gd name="connsiteX7" fmla="*/ 22395 w 44152"/>
                  <a:gd name="connsiteY7" fmla="*/ 43443 h 43473"/>
                  <a:gd name="connsiteX8" fmla="*/ 21756 w 44152"/>
                  <a:gd name="connsiteY8" fmla="*/ 12800 h 43473"/>
                  <a:gd name="connsiteX9" fmla="*/ 21756 w 44152"/>
                  <a:gd name="connsiteY9" fmla="*/ 12800 h 43473"/>
                  <a:gd name="connsiteX10" fmla="*/ 28146 w 44152"/>
                  <a:gd name="connsiteY10" fmla="*/ 15354 h 43473"/>
                  <a:gd name="connsiteX11" fmla="*/ 31341 w 44152"/>
                  <a:gd name="connsiteY11" fmla="*/ 21738 h 43473"/>
                  <a:gd name="connsiteX12" fmla="*/ 23034 w 44152"/>
                  <a:gd name="connsiteY12" fmla="*/ 31314 h 43473"/>
                  <a:gd name="connsiteX13" fmla="*/ 13449 w 44152"/>
                  <a:gd name="connsiteY13" fmla="*/ 23015 h 43473"/>
                  <a:gd name="connsiteX14" fmla="*/ 21756 w 44152"/>
                  <a:gd name="connsiteY14" fmla="*/ 12800 h 43473"/>
                  <a:gd name="connsiteX15" fmla="*/ 21756 w 44152"/>
                  <a:gd name="connsiteY15" fmla="*/ 12800 h 4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152" h="43473">
                    <a:moveTo>
                      <a:pt x="22395" y="43443"/>
                    </a:moveTo>
                    <a:lnTo>
                      <a:pt x="23673" y="43443"/>
                    </a:lnTo>
                    <a:cubicBezTo>
                      <a:pt x="35814" y="42805"/>
                      <a:pt x="44760" y="32591"/>
                      <a:pt x="44121" y="20461"/>
                    </a:cubicBezTo>
                    <a:cubicBezTo>
                      <a:pt x="43482" y="8331"/>
                      <a:pt x="33258" y="-606"/>
                      <a:pt x="21117" y="32"/>
                    </a:cubicBezTo>
                    <a:cubicBezTo>
                      <a:pt x="8976" y="671"/>
                      <a:pt x="-609" y="10247"/>
                      <a:pt x="30" y="22376"/>
                    </a:cubicBezTo>
                    <a:cubicBezTo>
                      <a:pt x="30" y="34506"/>
                      <a:pt x="10254" y="44082"/>
                      <a:pt x="22395" y="43443"/>
                    </a:cubicBezTo>
                    <a:lnTo>
                      <a:pt x="22395" y="43443"/>
                    </a:lnTo>
                    <a:lnTo>
                      <a:pt x="22395" y="43443"/>
                    </a:lnTo>
                    <a:close/>
                    <a:moveTo>
                      <a:pt x="21756" y="12800"/>
                    </a:moveTo>
                    <a:lnTo>
                      <a:pt x="21756" y="12800"/>
                    </a:lnTo>
                    <a:cubicBezTo>
                      <a:pt x="24312" y="12800"/>
                      <a:pt x="26868" y="13439"/>
                      <a:pt x="28146" y="15354"/>
                    </a:cubicBezTo>
                    <a:cubicBezTo>
                      <a:pt x="30063" y="17269"/>
                      <a:pt x="31341" y="19184"/>
                      <a:pt x="31341" y="21738"/>
                    </a:cubicBezTo>
                    <a:cubicBezTo>
                      <a:pt x="31341" y="26845"/>
                      <a:pt x="28146" y="30675"/>
                      <a:pt x="23034" y="31314"/>
                    </a:cubicBezTo>
                    <a:cubicBezTo>
                      <a:pt x="17922" y="31314"/>
                      <a:pt x="14088" y="28122"/>
                      <a:pt x="13449" y="23015"/>
                    </a:cubicBezTo>
                    <a:cubicBezTo>
                      <a:pt x="12810" y="17269"/>
                      <a:pt x="16644" y="13439"/>
                      <a:pt x="21756" y="12800"/>
                    </a:cubicBezTo>
                    <a:lnTo>
                      <a:pt x="21756" y="12800"/>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0" name="Graphic 4">
                <a:extLst>
                  <a:ext uri="{FF2B5EF4-FFF2-40B4-BE49-F238E27FC236}">
                    <a16:creationId xmlns:a16="http://schemas.microsoft.com/office/drawing/2014/main" id="{3E582D03-71EE-4C51-96FE-BCD3BC2D9563}"/>
                  </a:ext>
                </a:extLst>
              </p:cNvPr>
              <p:cNvSpPr/>
              <p:nvPr/>
            </p:nvSpPr>
            <p:spPr>
              <a:xfrm>
                <a:off x="3716550" y="1504349"/>
                <a:ext cx="88656" cy="57973"/>
              </a:xfrm>
              <a:custGeom>
                <a:avLst/>
                <a:gdLst>
                  <a:gd name="connsiteX0" fmla="*/ 6226 w 88656"/>
                  <a:gd name="connsiteY0" fmla="*/ 57974 h 57973"/>
                  <a:gd name="connsiteX1" fmla="*/ 10061 w 88656"/>
                  <a:gd name="connsiteY1" fmla="*/ 56697 h 57973"/>
                  <a:gd name="connsiteX2" fmla="*/ 64375 w 88656"/>
                  <a:gd name="connsiteY2" fmla="*/ 14563 h 57973"/>
                  <a:gd name="connsiteX3" fmla="*/ 77794 w 88656"/>
                  <a:gd name="connsiteY3" fmla="*/ 26692 h 57973"/>
                  <a:gd name="connsiteX4" fmla="*/ 86740 w 88656"/>
                  <a:gd name="connsiteY4" fmla="*/ 26692 h 57973"/>
                  <a:gd name="connsiteX5" fmla="*/ 86740 w 88656"/>
                  <a:gd name="connsiteY5" fmla="*/ 17755 h 57973"/>
                  <a:gd name="connsiteX6" fmla="*/ 86101 w 88656"/>
                  <a:gd name="connsiteY6" fmla="*/ 17116 h 57973"/>
                  <a:gd name="connsiteX7" fmla="*/ 68848 w 88656"/>
                  <a:gd name="connsiteY7" fmla="*/ 1795 h 57973"/>
                  <a:gd name="connsiteX8" fmla="*/ 60541 w 88656"/>
                  <a:gd name="connsiteY8" fmla="*/ 1156 h 57973"/>
                  <a:gd name="connsiteX9" fmla="*/ 2393 w 88656"/>
                  <a:gd name="connsiteY9" fmla="*/ 46483 h 57973"/>
                  <a:gd name="connsiteX10" fmla="*/ 1115 w 88656"/>
                  <a:gd name="connsiteY10" fmla="*/ 55420 h 57973"/>
                  <a:gd name="connsiteX11" fmla="*/ 6226 w 88656"/>
                  <a:gd name="connsiteY11" fmla="*/ 57974 h 57973"/>
                  <a:gd name="connsiteX12" fmla="*/ 6226 w 88656"/>
                  <a:gd name="connsiteY12" fmla="*/ 57974 h 5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656" h="57973">
                    <a:moveTo>
                      <a:pt x="6226" y="57974"/>
                    </a:moveTo>
                    <a:cubicBezTo>
                      <a:pt x="7505" y="57974"/>
                      <a:pt x="8783" y="57335"/>
                      <a:pt x="10061" y="56697"/>
                    </a:cubicBezTo>
                    <a:lnTo>
                      <a:pt x="64375" y="14563"/>
                    </a:lnTo>
                    <a:lnTo>
                      <a:pt x="77794" y="26692"/>
                    </a:lnTo>
                    <a:cubicBezTo>
                      <a:pt x="80350" y="29246"/>
                      <a:pt x="84184" y="29246"/>
                      <a:pt x="86740" y="26692"/>
                    </a:cubicBezTo>
                    <a:cubicBezTo>
                      <a:pt x="89296" y="24139"/>
                      <a:pt x="89296" y="20308"/>
                      <a:pt x="86740" y="17755"/>
                    </a:cubicBezTo>
                    <a:cubicBezTo>
                      <a:pt x="86740" y="17755"/>
                      <a:pt x="86101" y="17116"/>
                      <a:pt x="86101" y="17116"/>
                    </a:cubicBezTo>
                    <a:lnTo>
                      <a:pt x="68848" y="1795"/>
                    </a:lnTo>
                    <a:cubicBezTo>
                      <a:pt x="66292" y="-120"/>
                      <a:pt x="63097" y="-759"/>
                      <a:pt x="60541" y="1156"/>
                    </a:cubicBezTo>
                    <a:lnTo>
                      <a:pt x="2393" y="46483"/>
                    </a:lnTo>
                    <a:cubicBezTo>
                      <a:pt x="-163" y="48398"/>
                      <a:pt x="-802" y="52867"/>
                      <a:pt x="1115" y="55420"/>
                    </a:cubicBezTo>
                    <a:cubicBezTo>
                      <a:pt x="2393" y="57335"/>
                      <a:pt x="4310" y="57974"/>
                      <a:pt x="6226" y="57974"/>
                    </a:cubicBezTo>
                    <a:lnTo>
                      <a:pt x="6226" y="57974"/>
                    </a:ln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1" name="Graphic 4">
                <a:extLst>
                  <a:ext uri="{FF2B5EF4-FFF2-40B4-BE49-F238E27FC236}">
                    <a16:creationId xmlns:a16="http://schemas.microsoft.com/office/drawing/2014/main" id="{CDEF0AE3-CA02-47D3-90C3-72E34DC31D4C}"/>
                  </a:ext>
                </a:extLst>
              </p:cNvPr>
              <p:cNvSpPr/>
              <p:nvPr/>
            </p:nvSpPr>
            <p:spPr>
              <a:xfrm>
                <a:off x="3788154" y="1533595"/>
                <a:ext cx="108511" cy="157684"/>
              </a:xfrm>
              <a:custGeom>
                <a:avLst/>
                <a:gdLst>
                  <a:gd name="connsiteX0" fmla="*/ 98844 w 108511"/>
                  <a:gd name="connsiteY0" fmla="*/ 31282 h 157684"/>
                  <a:gd name="connsiteX1" fmla="*/ 65617 w 108511"/>
                  <a:gd name="connsiteY1" fmla="*/ 33835 h 157684"/>
                  <a:gd name="connsiteX2" fmla="*/ 32389 w 108511"/>
                  <a:gd name="connsiteY2" fmla="*/ 1915 h 157684"/>
                  <a:gd name="connsiteX3" fmla="*/ 23443 w 108511"/>
                  <a:gd name="connsiteY3" fmla="*/ 1915 h 157684"/>
                  <a:gd name="connsiteX4" fmla="*/ 22165 w 108511"/>
                  <a:gd name="connsiteY4" fmla="*/ 5107 h 157684"/>
                  <a:gd name="connsiteX5" fmla="*/ 22165 w 108511"/>
                  <a:gd name="connsiteY5" fmla="*/ 5107 h 157684"/>
                  <a:gd name="connsiteX6" fmla="*/ 8107 w 108511"/>
                  <a:gd name="connsiteY6" fmla="*/ 37666 h 157684"/>
                  <a:gd name="connsiteX7" fmla="*/ 8107 w 108511"/>
                  <a:gd name="connsiteY7" fmla="*/ 37666 h 157684"/>
                  <a:gd name="connsiteX8" fmla="*/ 7468 w 108511"/>
                  <a:gd name="connsiteY8" fmla="*/ 38304 h 157684"/>
                  <a:gd name="connsiteX9" fmla="*/ 7468 w 108511"/>
                  <a:gd name="connsiteY9" fmla="*/ 38942 h 157684"/>
                  <a:gd name="connsiteX10" fmla="*/ 7468 w 108511"/>
                  <a:gd name="connsiteY10" fmla="*/ 40219 h 157684"/>
                  <a:gd name="connsiteX11" fmla="*/ 7468 w 108511"/>
                  <a:gd name="connsiteY11" fmla="*/ 41496 h 157684"/>
                  <a:gd name="connsiteX12" fmla="*/ 7468 w 108511"/>
                  <a:gd name="connsiteY12" fmla="*/ 42134 h 157684"/>
                  <a:gd name="connsiteX13" fmla="*/ 9385 w 108511"/>
                  <a:gd name="connsiteY13" fmla="*/ 45326 h 157684"/>
                  <a:gd name="connsiteX14" fmla="*/ 58588 w 108511"/>
                  <a:gd name="connsiteY14" fmla="*/ 111081 h 157684"/>
                  <a:gd name="connsiteX15" fmla="*/ 2995 w 108511"/>
                  <a:gd name="connsiteY15" fmla="*/ 145555 h 157684"/>
                  <a:gd name="connsiteX16" fmla="*/ 1078 w 108511"/>
                  <a:gd name="connsiteY16" fmla="*/ 154492 h 157684"/>
                  <a:gd name="connsiteX17" fmla="*/ 6829 w 108511"/>
                  <a:gd name="connsiteY17" fmla="*/ 157684 h 157684"/>
                  <a:gd name="connsiteX18" fmla="*/ 10024 w 108511"/>
                  <a:gd name="connsiteY18" fmla="*/ 157046 h 157684"/>
                  <a:gd name="connsiteX19" fmla="*/ 71368 w 108511"/>
                  <a:gd name="connsiteY19" fmla="*/ 118742 h 157684"/>
                  <a:gd name="connsiteX20" fmla="*/ 74563 w 108511"/>
                  <a:gd name="connsiteY20" fmla="*/ 114273 h 157684"/>
                  <a:gd name="connsiteX21" fmla="*/ 73285 w 108511"/>
                  <a:gd name="connsiteY21" fmla="*/ 109166 h 157684"/>
                  <a:gd name="connsiteX22" fmla="*/ 22165 w 108511"/>
                  <a:gd name="connsiteY22" fmla="*/ 40219 h 157684"/>
                  <a:gd name="connsiteX23" fmla="*/ 32389 w 108511"/>
                  <a:gd name="connsiteY23" fmla="*/ 17237 h 157684"/>
                  <a:gd name="connsiteX24" fmla="*/ 61144 w 108511"/>
                  <a:gd name="connsiteY24" fmla="*/ 44049 h 157684"/>
                  <a:gd name="connsiteX25" fmla="*/ 65617 w 108511"/>
                  <a:gd name="connsiteY25" fmla="*/ 45965 h 157684"/>
                  <a:gd name="connsiteX26" fmla="*/ 66256 w 108511"/>
                  <a:gd name="connsiteY26" fmla="*/ 45965 h 157684"/>
                  <a:gd name="connsiteX27" fmla="*/ 102678 w 108511"/>
                  <a:gd name="connsiteY27" fmla="*/ 43411 h 157684"/>
                  <a:gd name="connsiteX28" fmla="*/ 108429 w 108511"/>
                  <a:gd name="connsiteY28" fmla="*/ 36389 h 157684"/>
                  <a:gd name="connsiteX29" fmla="*/ 98844 w 108511"/>
                  <a:gd name="connsiteY29" fmla="*/ 31282 h 157684"/>
                  <a:gd name="connsiteX30" fmla="*/ 98844 w 108511"/>
                  <a:gd name="connsiteY30" fmla="*/ 31282 h 15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8511" h="157684">
                    <a:moveTo>
                      <a:pt x="98844" y="31282"/>
                    </a:moveTo>
                    <a:lnTo>
                      <a:pt x="65617" y="33835"/>
                    </a:lnTo>
                    <a:lnTo>
                      <a:pt x="32389" y="1915"/>
                    </a:lnTo>
                    <a:cubicBezTo>
                      <a:pt x="29833" y="-638"/>
                      <a:pt x="25999" y="-638"/>
                      <a:pt x="23443" y="1915"/>
                    </a:cubicBezTo>
                    <a:cubicBezTo>
                      <a:pt x="22804" y="2554"/>
                      <a:pt x="22165" y="3830"/>
                      <a:pt x="22165" y="5107"/>
                    </a:cubicBezTo>
                    <a:lnTo>
                      <a:pt x="22165" y="5107"/>
                    </a:lnTo>
                    <a:lnTo>
                      <a:pt x="8107" y="37666"/>
                    </a:lnTo>
                    <a:lnTo>
                      <a:pt x="8107" y="37666"/>
                    </a:lnTo>
                    <a:lnTo>
                      <a:pt x="7468" y="38304"/>
                    </a:lnTo>
                    <a:cubicBezTo>
                      <a:pt x="7468" y="38304"/>
                      <a:pt x="7468" y="38304"/>
                      <a:pt x="7468" y="38942"/>
                    </a:cubicBezTo>
                    <a:cubicBezTo>
                      <a:pt x="7468" y="39581"/>
                      <a:pt x="7468" y="40219"/>
                      <a:pt x="7468" y="40219"/>
                    </a:cubicBezTo>
                    <a:cubicBezTo>
                      <a:pt x="7468" y="40857"/>
                      <a:pt x="7468" y="41496"/>
                      <a:pt x="7468" y="41496"/>
                    </a:cubicBezTo>
                    <a:cubicBezTo>
                      <a:pt x="7468" y="41496"/>
                      <a:pt x="7468" y="42134"/>
                      <a:pt x="7468" y="42134"/>
                    </a:cubicBezTo>
                    <a:cubicBezTo>
                      <a:pt x="7468" y="43411"/>
                      <a:pt x="8107" y="44049"/>
                      <a:pt x="9385" y="45326"/>
                    </a:cubicBezTo>
                    <a:lnTo>
                      <a:pt x="58588" y="111081"/>
                    </a:lnTo>
                    <a:lnTo>
                      <a:pt x="2995" y="145555"/>
                    </a:lnTo>
                    <a:cubicBezTo>
                      <a:pt x="-200" y="147470"/>
                      <a:pt x="-839" y="151300"/>
                      <a:pt x="1078" y="154492"/>
                    </a:cubicBezTo>
                    <a:cubicBezTo>
                      <a:pt x="2356" y="156408"/>
                      <a:pt x="4273" y="157684"/>
                      <a:pt x="6829" y="157684"/>
                    </a:cubicBezTo>
                    <a:cubicBezTo>
                      <a:pt x="8107" y="157684"/>
                      <a:pt x="9385" y="157046"/>
                      <a:pt x="10024" y="157046"/>
                    </a:cubicBezTo>
                    <a:lnTo>
                      <a:pt x="71368" y="118742"/>
                    </a:lnTo>
                    <a:cubicBezTo>
                      <a:pt x="72646" y="118104"/>
                      <a:pt x="73924" y="116188"/>
                      <a:pt x="74563" y="114273"/>
                    </a:cubicBezTo>
                    <a:cubicBezTo>
                      <a:pt x="75201" y="112358"/>
                      <a:pt x="74563" y="110443"/>
                      <a:pt x="73285" y="109166"/>
                    </a:cubicBezTo>
                    <a:lnTo>
                      <a:pt x="22165" y="40219"/>
                    </a:lnTo>
                    <a:lnTo>
                      <a:pt x="32389" y="17237"/>
                    </a:lnTo>
                    <a:lnTo>
                      <a:pt x="61144" y="44049"/>
                    </a:lnTo>
                    <a:cubicBezTo>
                      <a:pt x="62422" y="45326"/>
                      <a:pt x="63700" y="45965"/>
                      <a:pt x="65617" y="45965"/>
                    </a:cubicBezTo>
                    <a:lnTo>
                      <a:pt x="66256" y="45965"/>
                    </a:lnTo>
                    <a:lnTo>
                      <a:pt x="102678" y="43411"/>
                    </a:lnTo>
                    <a:cubicBezTo>
                      <a:pt x="105873" y="43411"/>
                      <a:pt x="109068" y="40219"/>
                      <a:pt x="108429" y="36389"/>
                    </a:cubicBezTo>
                    <a:cubicBezTo>
                      <a:pt x="105873" y="33835"/>
                      <a:pt x="102678" y="30643"/>
                      <a:pt x="98844" y="31282"/>
                    </a:cubicBezTo>
                    <a:cubicBezTo>
                      <a:pt x="98844" y="31282"/>
                      <a:pt x="98844" y="31282"/>
                      <a:pt x="98844" y="31282"/>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2" name="Graphic 4">
                <a:extLst>
                  <a:ext uri="{FF2B5EF4-FFF2-40B4-BE49-F238E27FC236}">
                    <a16:creationId xmlns:a16="http://schemas.microsoft.com/office/drawing/2014/main" id="{608983A1-B30C-437A-AEC6-5C605631724A}"/>
                  </a:ext>
                </a:extLst>
              </p:cNvPr>
              <p:cNvSpPr/>
              <p:nvPr/>
            </p:nvSpPr>
            <p:spPr>
              <a:xfrm>
                <a:off x="3719106" y="1589937"/>
                <a:ext cx="66767" cy="88574"/>
              </a:xfrm>
              <a:custGeom>
                <a:avLst/>
                <a:gdLst>
                  <a:gd name="connsiteX0" fmla="*/ 55429 w 66767"/>
                  <a:gd name="connsiteY0" fmla="*/ 2390 h 88574"/>
                  <a:gd name="connsiteX1" fmla="*/ 1115 w 66767"/>
                  <a:gd name="connsiteY1" fmla="*/ 78360 h 88574"/>
                  <a:gd name="connsiteX2" fmla="*/ 2393 w 66767"/>
                  <a:gd name="connsiteY2" fmla="*/ 87297 h 88574"/>
                  <a:gd name="connsiteX3" fmla="*/ 2393 w 66767"/>
                  <a:gd name="connsiteY3" fmla="*/ 87297 h 88574"/>
                  <a:gd name="connsiteX4" fmla="*/ 6226 w 66767"/>
                  <a:gd name="connsiteY4" fmla="*/ 88574 h 88574"/>
                  <a:gd name="connsiteX5" fmla="*/ 11338 w 66767"/>
                  <a:gd name="connsiteY5" fmla="*/ 86021 h 88574"/>
                  <a:gd name="connsiteX6" fmla="*/ 65653 w 66767"/>
                  <a:gd name="connsiteY6" fmla="*/ 10051 h 88574"/>
                  <a:gd name="connsiteX7" fmla="*/ 64375 w 66767"/>
                  <a:gd name="connsiteY7" fmla="*/ 1114 h 88574"/>
                  <a:gd name="connsiteX8" fmla="*/ 64375 w 66767"/>
                  <a:gd name="connsiteY8" fmla="*/ 1114 h 88574"/>
                  <a:gd name="connsiteX9" fmla="*/ 55429 w 66767"/>
                  <a:gd name="connsiteY9" fmla="*/ 2390 h 88574"/>
                  <a:gd name="connsiteX10" fmla="*/ 55429 w 66767"/>
                  <a:gd name="connsiteY10" fmla="*/ 2390 h 8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767" h="88574">
                    <a:moveTo>
                      <a:pt x="55429" y="2390"/>
                    </a:moveTo>
                    <a:lnTo>
                      <a:pt x="1115" y="78360"/>
                    </a:lnTo>
                    <a:cubicBezTo>
                      <a:pt x="-802" y="80913"/>
                      <a:pt x="-163" y="85382"/>
                      <a:pt x="2393" y="87297"/>
                    </a:cubicBezTo>
                    <a:cubicBezTo>
                      <a:pt x="2393" y="87297"/>
                      <a:pt x="2393" y="87297"/>
                      <a:pt x="2393" y="87297"/>
                    </a:cubicBezTo>
                    <a:cubicBezTo>
                      <a:pt x="3670" y="87936"/>
                      <a:pt x="4948" y="88574"/>
                      <a:pt x="6226" y="88574"/>
                    </a:cubicBezTo>
                    <a:cubicBezTo>
                      <a:pt x="8143" y="88574"/>
                      <a:pt x="10060" y="87297"/>
                      <a:pt x="11338" y="86021"/>
                    </a:cubicBezTo>
                    <a:lnTo>
                      <a:pt x="65653" y="10051"/>
                    </a:lnTo>
                    <a:cubicBezTo>
                      <a:pt x="67570" y="7498"/>
                      <a:pt x="66931" y="3029"/>
                      <a:pt x="64375" y="1114"/>
                    </a:cubicBezTo>
                    <a:cubicBezTo>
                      <a:pt x="64375" y="1114"/>
                      <a:pt x="64375" y="1114"/>
                      <a:pt x="64375" y="1114"/>
                    </a:cubicBezTo>
                    <a:cubicBezTo>
                      <a:pt x="61180" y="-802"/>
                      <a:pt x="57346" y="-163"/>
                      <a:pt x="55429" y="2390"/>
                    </a:cubicBezTo>
                    <a:cubicBezTo>
                      <a:pt x="55429" y="2390"/>
                      <a:pt x="55429" y="2390"/>
                      <a:pt x="55429" y="2390"/>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3" name="Graphic 4">
                <a:extLst>
                  <a:ext uri="{FF2B5EF4-FFF2-40B4-BE49-F238E27FC236}">
                    <a16:creationId xmlns:a16="http://schemas.microsoft.com/office/drawing/2014/main" id="{CBBE0F0B-2419-4E36-89D0-F64DF7194171}"/>
                  </a:ext>
                </a:extLst>
              </p:cNvPr>
              <p:cNvSpPr/>
              <p:nvPr/>
            </p:nvSpPr>
            <p:spPr>
              <a:xfrm>
                <a:off x="3690188" y="1578921"/>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4" name="Graphic 4">
                <a:extLst>
                  <a:ext uri="{FF2B5EF4-FFF2-40B4-BE49-F238E27FC236}">
                    <a16:creationId xmlns:a16="http://schemas.microsoft.com/office/drawing/2014/main" id="{0A2A0EFC-4F91-4001-8E8C-4183AAFFBB6F}"/>
                  </a:ext>
                </a:extLst>
              </p:cNvPr>
              <p:cNvSpPr/>
              <p:nvPr/>
            </p:nvSpPr>
            <p:spPr>
              <a:xfrm>
                <a:off x="3680603" y="1601265"/>
                <a:ext cx="55592" cy="12767"/>
              </a:xfrm>
              <a:custGeom>
                <a:avLst/>
                <a:gdLst>
                  <a:gd name="connsiteX0" fmla="*/ 6390 w 55592"/>
                  <a:gd name="connsiteY0" fmla="*/ 12768 h 12767"/>
                  <a:gd name="connsiteX1" fmla="*/ 49203 w 55592"/>
                  <a:gd name="connsiteY1" fmla="*/ 12768 h 12767"/>
                  <a:gd name="connsiteX2" fmla="*/ 55593 w 55592"/>
                  <a:gd name="connsiteY2" fmla="*/ 6384 h 12767"/>
                  <a:gd name="connsiteX3" fmla="*/ 49203 w 55592"/>
                  <a:gd name="connsiteY3" fmla="*/ 0 h 12767"/>
                  <a:gd name="connsiteX4" fmla="*/ 6390 w 55592"/>
                  <a:gd name="connsiteY4" fmla="*/ 0 h 12767"/>
                  <a:gd name="connsiteX5" fmla="*/ 0 w 55592"/>
                  <a:gd name="connsiteY5" fmla="*/ 6384 h 12767"/>
                  <a:gd name="connsiteX6" fmla="*/ 6390 w 55592"/>
                  <a:gd name="connsiteY6" fmla="*/ 12768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6390" y="12768"/>
                    </a:moveTo>
                    <a:lnTo>
                      <a:pt x="49203" y="12768"/>
                    </a:lnTo>
                    <a:cubicBezTo>
                      <a:pt x="53036" y="12768"/>
                      <a:pt x="55593" y="10214"/>
                      <a:pt x="55593" y="6384"/>
                    </a:cubicBezTo>
                    <a:cubicBezTo>
                      <a:pt x="55593" y="2554"/>
                      <a:pt x="53036" y="0"/>
                      <a:pt x="49203" y="0"/>
                    </a:cubicBezTo>
                    <a:lnTo>
                      <a:pt x="6390" y="0"/>
                    </a:lnTo>
                    <a:cubicBezTo>
                      <a:pt x="2556" y="0"/>
                      <a:pt x="0" y="2554"/>
                      <a:pt x="0" y="6384"/>
                    </a:cubicBezTo>
                    <a:cubicBezTo>
                      <a:pt x="0" y="10214"/>
                      <a:pt x="2556" y="12768"/>
                      <a:pt x="6390" y="12768"/>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sp>
            <p:nvSpPr>
              <p:cNvPr id="335" name="Graphic 4">
                <a:extLst>
                  <a:ext uri="{FF2B5EF4-FFF2-40B4-BE49-F238E27FC236}">
                    <a16:creationId xmlns:a16="http://schemas.microsoft.com/office/drawing/2014/main" id="{FCD9573A-7F85-4DDE-A45F-D199D168C84E}"/>
                  </a:ext>
                </a:extLst>
              </p:cNvPr>
              <p:cNvSpPr/>
              <p:nvPr/>
            </p:nvSpPr>
            <p:spPr>
              <a:xfrm>
                <a:off x="3671018" y="1622970"/>
                <a:ext cx="55592" cy="12767"/>
              </a:xfrm>
              <a:custGeom>
                <a:avLst/>
                <a:gdLst>
                  <a:gd name="connsiteX0" fmla="*/ 55593 w 55592"/>
                  <a:gd name="connsiteY0" fmla="*/ 6384 h 12767"/>
                  <a:gd name="connsiteX1" fmla="*/ 49203 w 55592"/>
                  <a:gd name="connsiteY1" fmla="*/ 0 h 12767"/>
                  <a:gd name="connsiteX2" fmla="*/ 6390 w 55592"/>
                  <a:gd name="connsiteY2" fmla="*/ 0 h 12767"/>
                  <a:gd name="connsiteX3" fmla="*/ 0 w 55592"/>
                  <a:gd name="connsiteY3" fmla="*/ 6384 h 12767"/>
                  <a:gd name="connsiteX4" fmla="*/ 6390 w 55592"/>
                  <a:gd name="connsiteY4" fmla="*/ 12768 h 12767"/>
                  <a:gd name="connsiteX5" fmla="*/ 49203 w 55592"/>
                  <a:gd name="connsiteY5" fmla="*/ 12768 h 12767"/>
                  <a:gd name="connsiteX6" fmla="*/ 55593 w 55592"/>
                  <a:gd name="connsiteY6" fmla="*/ 6384 h 1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92" h="12767">
                    <a:moveTo>
                      <a:pt x="55593" y="6384"/>
                    </a:moveTo>
                    <a:cubicBezTo>
                      <a:pt x="55593" y="2554"/>
                      <a:pt x="53036" y="0"/>
                      <a:pt x="49203" y="0"/>
                    </a:cubicBezTo>
                    <a:lnTo>
                      <a:pt x="6390" y="0"/>
                    </a:lnTo>
                    <a:cubicBezTo>
                      <a:pt x="2556" y="0"/>
                      <a:pt x="0" y="2554"/>
                      <a:pt x="0" y="6384"/>
                    </a:cubicBezTo>
                    <a:cubicBezTo>
                      <a:pt x="0" y="10214"/>
                      <a:pt x="2556" y="12768"/>
                      <a:pt x="6390" y="12768"/>
                    </a:cubicBezTo>
                    <a:lnTo>
                      <a:pt x="49203" y="12768"/>
                    </a:lnTo>
                    <a:cubicBezTo>
                      <a:pt x="53036" y="12768"/>
                      <a:pt x="55593" y="10214"/>
                      <a:pt x="55593" y="6384"/>
                    </a:cubicBezTo>
                    <a:close/>
                  </a:path>
                </a:pathLst>
              </a:custGeom>
              <a:grp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Open Sans"/>
                  <a:ea typeface="+mn-ea"/>
                  <a:cs typeface="+mn-cs"/>
                </a:endParaRPr>
              </a:p>
            </p:txBody>
          </p:sp>
        </p:grpSp>
      </p:grpSp>
      <p:sp>
        <p:nvSpPr>
          <p:cNvPr id="336" name="Rectangle 335">
            <a:extLst>
              <a:ext uri="{FF2B5EF4-FFF2-40B4-BE49-F238E27FC236}">
                <a16:creationId xmlns:a16="http://schemas.microsoft.com/office/drawing/2014/main" id="{2800A69B-4052-4C30-AAE4-845BD905081C}"/>
              </a:ext>
            </a:extLst>
          </p:cNvPr>
          <p:cNvSpPr/>
          <p:nvPr/>
        </p:nvSpPr>
        <p:spPr>
          <a:xfrm>
            <a:off x="9761007" y="104208"/>
            <a:ext cx="511515"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Sprints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cxnSp>
        <p:nvCxnSpPr>
          <p:cNvPr id="337" name="Straight Connector 336">
            <a:extLst>
              <a:ext uri="{FF2B5EF4-FFF2-40B4-BE49-F238E27FC236}">
                <a16:creationId xmlns:a16="http://schemas.microsoft.com/office/drawing/2014/main" id="{AC17B14B-F402-4852-9AE0-C53490F8241C}"/>
              </a:ext>
            </a:extLst>
          </p:cNvPr>
          <p:cNvCxnSpPr>
            <a:cxnSpLocks/>
          </p:cNvCxnSpPr>
          <p:nvPr/>
        </p:nvCxnSpPr>
        <p:spPr>
          <a:xfrm>
            <a:off x="4775303" y="196637"/>
            <a:ext cx="457200"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38" name="Rectangle 337">
            <a:extLst>
              <a:ext uri="{FF2B5EF4-FFF2-40B4-BE49-F238E27FC236}">
                <a16:creationId xmlns:a16="http://schemas.microsoft.com/office/drawing/2014/main" id="{440F3160-4CC8-451C-89BD-E1BBC56FE9B4}"/>
              </a:ext>
            </a:extLst>
          </p:cNvPr>
          <p:cNvSpPr/>
          <p:nvPr/>
        </p:nvSpPr>
        <p:spPr>
          <a:xfrm>
            <a:off x="5278768" y="104303"/>
            <a:ext cx="878767"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Key Activities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39" name="object 144">
            <a:extLst>
              <a:ext uri="{FF2B5EF4-FFF2-40B4-BE49-F238E27FC236}">
                <a16:creationId xmlns:a16="http://schemas.microsoft.com/office/drawing/2014/main" id="{1B82ECAA-51E4-4293-9D71-CE883DBFCA21}"/>
              </a:ext>
            </a:extLst>
          </p:cNvPr>
          <p:cNvSpPr/>
          <p:nvPr/>
        </p:nvSpPr>
        <p:spPr>
          <a:xfrm>
            <a:off x="6222959" y="105197"/>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40" name="Rectangle 339">
            <a:extLst>
              <a:ext uri="{FF2B5EF4-FFF2-40B4-BE49-F238E27FC236}">
                <a16:creationId xmlns:a16="http://schemas.microsoft.com/office/drawing/2014/main" id="{4871C67F-2460-4E71-9D82-DC82CB06287A}"/>
              </a:ext>
            </a:extLst>
          </p:cNvPr>
          <p:cNvSpPr/>
          <p:nvPr/>
        </p:nvSpPr>
        <p:spPr>
          <a:xfrm>
            <a:off x="6366525" y="104304"/>
            <a:ext cx="717149" cy="184666"/>
          </a:xfrm>
          <a:prstGeom prst="rect">
            <a:avLst/>
          </a:prstGeom>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a:ln>
                  <a:noFill/>
                </a:ln>
                <a:solidFill>
                  <a:prstClr val="black"/>
                </a:solidFill>
                <a:effectLst/>
                <a:uLnTx/>
                <a:uFillTx/>
                <a:latin typeface="Verdana"/>
                <a:ea typeface="+mn-ea"/>
                <a:cs typeface="+mn-cs"/>
              </a:rPr>
              <a:t>Deliverables</a:t>
            </a:r>
            <a:endParaRPr kumimoji="0" lang="en-US" sz="600" b="0" i="0" u="none" strike="noStrike" kern="1200" cap="none" spc="0" normalizeH="0" baseline="0" noProof="0">
              <a:ln>
                <a:noFill/>
              </a:ln>
              <a:solidFill>
                <a:prstClr val="black"/>
              </a:solidFill>
              <a:effectLst/>
              <a:uLnTx/>
              <a:uFillTx/>
              <a:latin typeface="Verdana"/>
              <a:ea typeface="+mn-ea"/>
              <a:cs typeface="+mn-cs"/>
            </a:endParaRPr>
          </a:p>
        </p:txBody>
      </p:sp>
      <p:sp>
        <p:nvSpPr>
          <p:cNvPr id="343" name="TextBox 342">
            <a:extLst>
              <a:ext uri="{FF2B5EF4-FFF2-40B4-BE49-F238E27FC236}">
                <a16:creationId xmlns:a16="http://schemas.microsoft.com/office/drawing/2014/main" id="{ADA3EC9E-4AC1-45FD-9E8F-924F1AC1928B}"/>
              </a:ext>
            </a:extLst>
          </p:cNvPr>
          <p:cNvSpPr txBox="1"/>
          <p:nvPr/>
        </p:nvSpPr>
        <p:spPr>
          <a:xfrm>
            <a:off x="3671758" y="2682894"/>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Strategies &amp; Standards</a:t>
            </a:r>
          </a:p>
        </p:txBody>
      </p:sp>
      <p:sp>
        <p:nvSpPr>
          <p:cNvPr id="347" name="TextBox 346">
            <a:extLst>
              <a:ext uri="{FF2B5EF4-FFF2-40B4-BE49-F238E27FC236}">
                <a16:creationId xmlns:a16="http://schemas.microsoft.com/office/drawing/2014/main" id="{BF567ADD-35B9-4823-95DF-3B2F7373AD25}"/>
              </a:ext>
            </a:extLst>
          </p:cNvPr>
          <p:cNvSpPr txBox="1"/>
          <p:nvPr/>
        </p:nvSpPr>
        <p:spPr>
          <a:xfrm>
            <a:off x="4679978" y="2686754"/>
            <a:ext cx="109920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CICD Setup and Code Review Checklist</a:t>
            </a:r>
          </a:p>
        </p:txBody>
      </p:sp>
      <p:sp>
        <p:nvSpPr>
          <p:cNvPr id="350" name="TextBox 349">
            <a:extLst>
              <a:ext uri="{FF2B5EF4-FFF2-40B4-BE49-F238E27FC236}">
                <a16:creationId xmlns:a16="http://schemas.microsoft.com/office/drawing/2014/main" id="{0BF8D9FA-0F22-4BE7-963B-B6016AD55F36}"/>
              </a:ext>
            </a:extLst>
          </p:cNvPr>
          <p:cNvSpPr txBox="1"/>
          <p:nvPr/>
        </p:nvSpPr>
        <p:spPr>
          <a:xfrm>
            <a:off x="5641890" y="2685785"/>
            <a:ext cx="103575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Testing Approach &amp; Boundary Readiness</a:t>
            </a:r>
          </a:p>
        </p:txBody>
      </p:sp>
      <p:cxnSp>
        <p:nvCxnSpPr>
          <p:cNvPr id="354" name="Straight Connector 353">
            <a:extLst>
              <a:ext uri="{FF2B5EF4-FFF2-40B4-BE49-F238E27FC236}">
                <a16:creationId xmlns:a16="http://schemas.microsoft.com/office/drawing/2014/main" id="{A4B0BF31-40D4-4850-AA47-269ABF706573}"/>
              </a:ext>
            </a:extLst>
          </p:cNvPr>
          <p:cNvCxnSpPr>
            <a:cxnSpLocks/>
          </p:cNvCxnSpPr>
          <p:nvPr/>
        </p:nvCxnSpPr>
        <p:spPr>
          <a:xfrm flipV="1">
            <a:off x="3216105" y="2569267"/>
            <a:ext cx="8631343" cy="2734"/>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5" name="object 144">
            <a:extLst>
              <a:ext uri="{FF2B5EF4-FFF2-40B4-BE49-F238E27FC236}">
                <a16:creationId xmlns:a16="http://schemas.microsoft.com/office/drawing/2014/main" id="{9E0DAA2A-C0A1-4BC9-8BFE-004237ACDB10}"/>
              </a:ext>
            </a:extLst>
          </p:cNvPr>
          <p:cNvSpPr/>
          <p:nvPr/>
        </p:nvSpPr>
        <p:spPr>
          <a:xfrm>
            <a:off x="832007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6" name="TextBox 355">
            <a:extLst>
              <a:ext uri="{FF2B5EF4-FFF2-40B4-BE49-F238E27FC236}">
                <a16:creationId xmlns:a16="http://schemas.microsoft.com/office/drawing/2014/main" id="{DE9FF93C-1FA7-420C-B363-B4CB3B373DEB}"/>
              </a:ext>
            </a:extLst>
          </p:cNvPr>
          <p:cNvSpPr txBox="1"/>
          <p:nvPr/>
        </p:nvSpPr>
        <p:spPr>
          <a:xfrm>
            <a:off x="7781162" y="2673770"/>
            <a:ext cx="104935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SIT  &amp; Performance  Sign Off</a:t>
            </a:r>
          </a:p>
        </p:txBody>
      </p:sp>
      <p:sp>
        <p:nvSpPr>
          <p:cNvPr id="358" name="object 144">
            <a:extLst>
              <a:ext uri="{FF2B5EF4-FFF2-40B4-BE49-F238E27FC236}">
                <a16:creationId xmlns:a16="http://schemas.microsoft.com/office/drawing/2014/main" id="{5016565D-FA4C-4DC3-845F-1C017B04DD14}"/>
              </a:ext>
            </a:extLst>
          </p:cNvPr>
          <p:cNvSpPr/>
          <p:nvPr/>
        </p:nvSpPr>
        <p:spPr>
          <a:xfrm>
            <a:off x="9591803" y="2470239"/>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59" name="TextBox 358">
            <a:extLst>
              <a:ext uri="{FF2B5EF4-FFF2-40B4-BE49-F238E27FC236}">
                <a16:creationId xmlns:a16="http://schemas.microsoft.com/office/drawing/2014/main" id="{C44BAFCD-EBA6-4743-B12A-B86869329AB3}"/>
              </a:ext>
            </a:extLst>
          </p:cNvPr>
          <p:cNvSpPr txBox="1"/>
          <p:nvPr/>
        </p:nvSpPr>
        <p:spPr>
          <a:xfrm>
            <a:off x="9302446" y="2783503"/>
            <a:ext cx="73584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Sign Off</a:t>
            </a:r>
          </a:p>
        </p:txBody>
      </p:sp>
      <p:sp>
        <p:nvSpPr>
          <p:cNvPr id="360" name="object 144">
            <a:extLst>
              <a:ext uri="{FF2B5EF4-FFF2-40B4-BE49-F238E27FC236}">
                <a16:creationId xmlns:a16="http://schemas.microsoft.com/office/drawing/2014/main" id="{A398D354-9DA3-4A42-821A-473208211F89}"/>
              </a:ext>
            </a:extLst>
          </p:cNvPr>
          <p:cNvSpPr/>
          <p:nvPr/>
        </p:nvSpPr>
        <p:spPr>
          <a:xfrm>
            <a:off x="9896294" y="24666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61" name="TextBox 360">
            <a:extLst>
              <a:ext uri="{FF2B5EF4-FFF2-40B4-BE49-F238E27FC236}">
                <a16:creationId xmlns:a16="http://schemas.microsoft.com/office/drawing/2014/main" id="{903C6860-666F-4954-B094-7D88A742BCF7}"/>
              </a:ext>
            </a:extLst>
          </p:cNvPr>
          <p:cNvSpPr txBox="1"/>
          <p:nvPr/>
        </p:nvSpPr>
        <p:spPr>
          <a:xfrm>
            <a:off x="9691374" y="2652099"/>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Go Ahead</a:t>
            </a:r>
          </a:p>
        </p:txBody>
      </p:sp>
      <p:cxnSp>
        <p:nvCxnSpPr>
          <p:cNvPr id="362" name="Straight Connector 361">
            <a:extLst>
              <a:ext uri="{FF2B5EF4-FFF2-40B4-BE49-F238E27FC236}">
                <a16:creationId xmlns:a16="http://schemas.microsoft.com/office/drawing/2014/main" id="{48B4D18E-DA9A-49F4-9B6B-30003B8AE7F5}"/>
              </a:ext>
            </a:extLst>
          </p:cNvPr>
          <p:cNvCxnSpPr>
            <a:cxnSpLocks/>
          </p:cNvCxnSpPr>
          <p:nvPr/>
        </p:nvCxnSpPr>
        <p:spPr>
          <a:xfrm>
            <a:off x="4722441" y="4824850"/>
            <a:ext cx="255879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3" name="TextBox 362">
            <a:extLst>
              <a:ext uri="{FF2B5EF4-FFF2-40B4-BE49-F238E27FC236}">
                <a16:creationId xmlns:a16="http://schemas.microsoft.com/office/drawing/2014/main" id="{268C75F9-3866-4293-9A09-2ECCF8754294}"/>
              </a:ext>
            </a:extLst>
          </p:cNvPr>
          <p:cNvSpPr txBox="1"/>
          <p:nvPr/>
        </p:nvSpPr>
        <p:spPr>
          <a:xfrm>
            <a:off x="5572381" y="4635957"/>
            <a:ext cx="1215317"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Functional Testing</a:t>
            </a:r>
          </a:p>
        </p:txBody>
      </p:sp>
      <p:cxnSp>
        <p:nvCxnSpPr>
          <p:cNvPr id="364" name="Straight Connector 363">
            <a:extLst>
              <a:ext uri="{FF2B5EF4-FFF2-40B4-BE49-F238E27FC236}">
                <a16:creationId xmlns:a16="http://schemas.microsoft.com/office/drawing/2014/main" id="{00CD6A9A-2CEA-47E5-AC19-DE703CADF90A}"/>
              </a:ext>
            </a:extLst>
          </p:cNvPr>
          <p:cNvCxnSpPr>
            <a:cxnSpLocks/>
          </p:cNvCxnSpPr>
          <p:nvPr/>
        </p:nvCxnSpPr>
        <p:spPr>
          <a:xfrm>
            <a:off x="5204151" y="494284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5" name="TextBox 364">
            <a:extLst>
              <a:ext uri="{FF2B5EF4-FFF2-40B4-BE49-F238E27FC236}">
                <a16:creationId xmlns:a16="http://schemas.microsoft.com/office/drawing/2014/main" id="{EE986AF2-A3A8-4EB2-A89E-16E4F0CBC91B}"/>
              </a:ext>
            </a:extLst>
          </p:cNvPr>
          <p:cNvSpPr txBox="1"/>
          <p:nvPr/>
        </p:nvSpPr>
        <p:spPr>
          <a:xfrm>
            <a:off x="5388974" y="4967136"/>
            <a:ext cx="128906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scripts Preparation</a:t>
            </a:r>
          </a:p>
        </p:txBody>
      </p:sp>
      <p:cxnSp>
        <p:nvCxnSpPr>
          <p:cNvPr id="366" name="Straight Connector 365">
            <a:extLst>
              <a:ext uri="{FF2B5EF4-FFF2-40B4-BE49-F238E27FC236}">
                <a16:creationId xmlns:a16="http://schemas.microsoft.com/office/drawing/2014/main" id="{92F119F8-0A65-4A20-8625-25B87B1B80B0}"/>
              </a:ext>
            </a:extLst>
          </p:cNvPr>
          <p:cNvCxnSpPr>
            <a:cxnSpLocks/>
          </p:cNvCxnSpPr>
          <p:nvPr/>
        </p:nvCxnSpPr>
        <p:spPr>
          <a:xfrm>
            <a:off x="7281240" y="507420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7993A9EB-4BCB-49D6-8F8B-6FC4B3F64388}"/>
              </a:ext>
            </a:extLst>
          </p:cNvPr>
          <p:cNvCxnSpPr>
            <a:cxnSpLocks/>
          </p:cNvCxnSpPr>
          <p:nvPr/>
        </p:nvCxnSpPr>
        <p:spPr>
          <a:xfrm>
            <a:off x="8739713" y="496084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69" name="TextBox 368">
            <a:extLst>
              <a:ext uri="{FF2B5EF4-FFF2-40B4-BE49-F238E27FC236}">
                <a16:creationId xmlns:a16="http://schemas.microsoft.com/office/drawing/2014/main" id="{548E5D14-0118-49EA-B9F5-B5208CC69D36}"/>
              </a:ext>
            </a:extLst>
          </p:cNvPr>
          <p:cNvSpPr txBox="1"/>
          <p:nvPr/>
        </p:nvSpPr>
        <p:spPr>
          <a:xfrm>
            <a:off x="8548319" y="472367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 &amp; Cutover Prep</a:t>
            </a:r>
          </a:p>
        </p:txBody>
      </p:sp>
      <p:cxnSp>
        <p:nvCxnSpPr>
          <p:cNvPr id="370" name="Straight Connector 369">
            <a:extLst>
              <a:ext uri="{FF2B5EF4-FFF2-40B4-BE49-F238E27FC236}">
                <a16:creationId xmlns:a16="http://schemas.microsoft.com/office/drawing/2014/main" id="{C5C872C6-D80F-43DB-860E-9FEF6E2EA7A5}"/>
              </a:ext>
            </a:extLst>
          </p:cNvPr>
          <p:cNvCxnSpPr>
            <a:cxnSpLocks/>
          </p:cNvCxnSpPr>
          <p:nvPr/>
        </p:nvCxnSpPr>
        <p:spPr>
          <a:xfrm>
            <a:off x="9836524" y="505086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45FD6751-8836-48BF-B85D-40EC657DA12F}"/>
              </a:ext>
            </a:extLst>
          </p:cNvPr>
          <p:cNvCxnSpPr>
            <a:cxnSpLocks/>
          </p:cNvCxnSpPr>
          <p:nvPr/>
        </p:nvCxnSpPr>
        <p:spPr>
          <a:xfrm>
            <a:off x="7956894" y="1754559"/>
            <a:ext cx="460233" cy="0"/>
          </a:xfrm>
          <a:prstGeom prst="line">
            <a:avLst/>
          </a:prstGeom>
          <a:noFill/>
          <a:ln w="57150" cap="flat" cmpd="sng" algn="ctr">
            <a:solidFill>
              <a:schemeClr val="tx1">
                <a:lumMod val="65000"/>
                <a:lumOff val="35000"/>
              </a:schemeClr>
            </a:solidFill>
            <a:prstDash val="solid"/>
          </a:ln>
          <a:effectLst/>
        </p:spPr>
      </p:cxnSp>
      <p:sp>
        <p:nvSpPr>
          <p:cNvPr id="373" name="TextBox 372">
            <a:extLst>
              <a:ext uri="{FF2B5EF4-FFF2-40B4-BE49-F238E27FC236}">
                <a16:creationId xmlns:a16="http://schemas.microsoft.com/office/drawing/2014/main" id="{94975910-7636-4177-B8B0-AB78D835220B}"/>
              </a:ext>
            </a:extLst>
          </p:cNvPr>
          <p:cNvSpPr txBox="1"/>
          <p:nvPr/>
        </p:nvSpPr>
        <p:spPr>
          <a:xfrm>
            <a:off x="8437907" y="1703226"/>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Performance Testing</a:t>
            </a:r>
          </a:p>
        </p:txBody>
      </p:sp>
      <p:cxnSp>
        <p:nvCxnSpPr>
          <p:cNvPr id="374" name="Straight Connector 373">
            <a:extLst>
              <a:ext uri="{FF2B5EF4-FFF2-40B4-BE49-F238E27FC236}">
                <a16:creationId xmlns:a16="http://schemas.microsoft.com/office/drawing/2014/main" id="{3994F9A7-028F-4A31-AA5C-3E138917D269}"/>
              </a:ext>
            </a:extLst>
          </p:cNvPr>
          <p:cNvCxnSpPr>
            <a:cxnSpLocks/>
          </p:cNvCxnSpPr>
          <p:nvPr/>
        </p:nvCxnSpPr>
        <p:spPr>
          <a:xfrm>
            <a:off x="7965146" y="1855303"/>
            <a:ext cx="460233" cy="0"/>
          </a:xfrm>
          <a:prstGeom prst="line">
            <a:avLst/>
          </a:prstGeom>
          <a:noFill/>
          <a:ln w="57150" cap="flat" cmpd="sng" algn="ctr">
            <a:solidFill>
              <a:schemeClr val="tx1">
                <a:lumMod val="65000"/>
                <a:lumOff val="35000"/>
              </a:schemeClr>
            </a:solidFill>
            <a:prstDash val="solid"/>
          </a:ln>
          <a:effectLst/>
        </p:spPr>
      </p:cxnSp>
      <p:sp>
        <p:nvSpPr>
          <p:cNvPr id="375" name="TextBox 374">
            <a:extLst>
              <a:ext uri="{FF2B5EF4-FFF2-40B4-BE49-F238E27FC236}">
                <a16:creationId xmlns:a16="http://schemas.microsoft.com/office/drawing/2014/main" id="{2C8F9C3E-8AFE-494A-B418-1AD44546DC71}"/>
              </a:ext>
            </a:extLst>
          </p:cNvPr>
          <p:cNvSpPr txBox="1"/>
          <p:nvPr/>
        </p:nvSpPr>
        <p:spPr>
          <a:xfrm>
            <a:off x="8446159" y="1803970"/>
            <a:ext cx="1015697"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Train The Trainer</a:t>
            </a:r>
          </a:p>
        </p:txBody>
      </p:sp>
      <p:sp>
        <p:nvSpPr>
          <p:cNvPr id="376" name="TextBox 375">
            <a:extLst>
              <a:ext uri="{FF2B5EF4-FFF2-40B4-BE49-F238E27FC236}">
                <a16:creationId xmlns:a16="http://schemas.microsoft.com/office/drawing/2014/main" id="{AF014CFA-D90F-4000-90B6-03DF02625C1F}"/>
              </a:ext>
            </a:extLst>
          </p:cNvPr>
          <p:cNvSpPr txBox="1"/>
          <p:nvPr/>
        </p:nvSpPr>
        <p:spPr>
          <a:xfrm>
            <a:off x="9601789" y="1910839"/>
            <a:ext cx="182880" cy="107722"/>
          </a:xfrm>
          <a:prstGeom prst="rect">
            <a:avLst/>
          </a:prstGeom>
        </p:spPr>
        <p:txBody>
          <a:bodyPr vert="horz" wrap="square" lIns="0" tIns="0" rIns="0" bIns="0" rtlCol="0">
            <a:spAutoFit/>
          </a:bodyPr>
          <a:lstStyle/>
          <a:p>
            <a:pPr marL="8659" marR="0" lvl="0" indent="0" algn="l" defTabSz="831227" rtl="0" eaLnBrk="1" fontAlgn="auto" latinLnBrk="0" hangingPunct="1">
              <a:lnSpc>
                <a:spcPct val="100000"/>
              </a:lnSpc>
              <a:spcBef>
                <a:spcPts val="273"/>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a:ea typeface="Chronicle Display Black" charset="0"/>
                <a:cs typeface="Chronicle Display Black" charset="0"/>
              </a:rPr>
              <a:t>UAT</a:t>
            </a:r>
          </a:p>
        </p:txBody>
      </p:sp>
      <p:sp>
        <p:nvSpPr>
          <p:cNvPr id="377" name="TextBox 376">
            <a:extLst>
              <a:ext uri="{FF2B5EF4-FFF2-40B4-BE49-F238E27FC236}">
                <a16:creationId xmlns:a16="http://schemas.microsoft.com/office/drawing/2014/main" id="{F800C7D1-CE8A-48CB-A567-FE16D52C292D}"/>
              </a:ext>
            </a:extLst>
          </p:cNvPr>
          <p:cNvSpPr txBox="1"/>
          <p:nvPr/>
        </p:nvSpPr>
        <p:spPr>
          <a:xfrm>
            <a:off x="6707297" y="2069090"/>
            <a:ext cx="614984"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2</a:t>
            </a:r>
          </a:p>
        </p:txBody>
      </p:sp>
      <p:sp>
        <p:nvSpPr>
          <p:cNvPr id="378" name="TextBox 377">
            <a:extLst>
              <a:ext uri="{FF2B5EF4-FFF2-40B4-BE49-F238E27FC236}">
                <a16:creationId xmlns:a16="http://schemas.microsoft.com/office/drawing/2014/main" id="{151C9C4C-88E6-4D23-8554-863BA0A10996}"/>
              </a:ext>
            </a:extLst>
          </p:cNvPr>
          <p:cNvSpPr txBox="1"/>
          <p:nvPr/>
        </p:nvSpPr>
        <p:spPr>
          <a:xfrm>
            <a:off x="8022609" y="2048109"/>
            <a:ext cx="811940" cy="200055"/>
          </a:xfrm>
          <a:prstGeom prst="rect">
            <a:avLst/>
          </a:prstGeom>
          <a:noFill/>
        </p:spPr>
        <p:txBody>
          <a:bodyPr wrap="square">
            <a:spAutoFit/>
          </a:bodyPr>
          <a:lstStyle/>
          <a:p>
            <a:pPr marL="0" marR="0" lvl="0" indent="0" algn="ctr" defTabSz="914400" rtl="0" eaLnBrk="1" fontAlgn="auto" latinLnBrk="0" hangingPunct="1">
              <a:spcAft>
                <a:spcPts val="0"/>
              </a:spcAft>
              <a:buClrTx/>
              <a:buSzPct val="100000"/>
              <a:buFontTx/>
              <a:buNone/>
              <a:tabLst/>
              <a:defRPr/>
            </a:pPr>
            <a:r>
              <a:rPr kumimoji="0" lang="en-US" sz="700" b="0" i="0" u="none" strike="noStrike" kern="1200" cap="none" spc="0" normalizeH="0" baseline="0" noProof="0">
                <a:ln>
                  <a:noFill/>
                </a:ln>
                <a:solidFill>
                  <a:prstClr val="black"/>
                </a:solidFill>
                <a:effectLst/>
                <a:uLnTx/>
                <a:uFillTx/>
                <a:latin typeface="Open Sans"/>
                <a:ea typeface="+mn-ea"/>
                <a:cs typeface="+mn-cs"/>
              </a:rPr>
              <a:t>Dry Run UAT</a:t>
            </a:r>
          </a:p>
        </p:txBody>
      </p:sp>
      <p:sp>
        <p:nvSpPr>
          <p:cNvPr id="381" name="object 144">
            <a:extLst>
              <a:ext uri="{FF2B5EF4-FFF2-40B4-BE49-F238E27FC236}">
                <a16:creationId xmlns:a16="http://schemas.microsoft.com/office/drawing/2014/main" id="{133682A4-DD8D-4EF7-9471-7195923D85F8}"/>
              </a:ext>
            </a:extLst>
          </p:cNvPr>
          <p:cNvSpPr/>
          <p:nvPr/>
        </p:nvSpPr>
        <p:spPr>
          <a:xfrm>
            <a:off x="6047021" y="247428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2" name="object 144">
            <a:extLst>
              <a:ext uri="{FF2B5EF4-FFF2-40B4-BE49-F238E27FC236}">
                <a16:creationId xmlns:a16="http://schemas.microsoft.com/office/drawing/2014/main" id="{B8879C51-C319-400D-AF46-5C29EB8BDBA7}"/>
              </a:ext>
            </a:extLst>
          </p:cNvPr>
          <p:cNvSpPr/>
          <p:nvPr/>
        </p:nvSpPr>
        <p:spPr>
          <a:xfrm>
            <a:off x="5107232" y="24845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3" name="object 144">
            <a:extLst>
              <a:ext uri="{FF2B5EF4-FFF2-40B4-BE49-F238E27FC236}">
                <a16:creationId xmlns:a16="http://schemas.microsoft.com/office/drawing/2014/main" id="{BC8FD696-478D-4A82-BD25-0D01D26AFAEE}"/>
              </a:ext>
            </a:extLst>
          </p:cNvPr>
          <p:cNvSpPr/>
          <p:nvPr/>
        </p:nvSpPr>
        <p:spPr>
          <a:xfrm>
            <a:off x="4096740" y="2475854"/>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6" name="object 144">
            <a:extLst>
              <a:ext uri="{FF2B5EF4-FFF2-40B4-BE49-F238E27FC236}">
                <a16:creationId xmlns:a16="http://schemas.microsoft.com/office/drawing/2014/main" id="{771E552E-25B5-40D5-A7E0-0447B675B6C3}"/>
              </a:ext>
            </a:extLst>
          </p:cNvPr>
          <p:cNvSpPr/>
          <p:nvPr/>
        </p:nvSpPr>
        <p:spPr>
          <a:xfrm>
            <a:off x="8973094" y="2469861"/>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387" name="TextBox 386">
            <a:extLst>
              <a:ext uri="{FF2B5EF4-FFF2-40B4-BE49-F238E27FC236}">
                <a16:creationId xmlns:a16="http://schemas.microsoft.com/office/drawing/2014/main" id="{B862D2C0-EEAB-4C69-B478-11222E3C3C79}"/>
              </a:ext>
            </a:extLst>
          </p:cNvPr>
          <p:cNvSpPr txBox="1"/>
          <p:nvPr/>
        </p:nvSpPr>
        <p:spPr>
          <a:xfrm>
            <a:off x="8640717" y="2671064"/>
            <a:ext cx="88088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Plan &amp; KT Plan</a:t>
            </a:r>
          </a:p>
        </p:txBody>
      </p:sp>
      <p:sp>
        <p:nvSpPr>
          <p:cNvPr id="202" name="Star: 5 Points 201">
            <a:extLst>
              <a:ext uri="{FF2B5EF4-FFF2-40B4-BE49-F238E27FC236}">
                <a16:creationId xmlns:a16="http://schemas.microsoft.com/office/drawing/2014/main" id="{74E96554-5AE7-41D5-A019-17745A1A49AE}"/>
              </a:ext>
            </a:extLst>
          </p:cNvPr>
          <p:cNvSpPr/>
          <p:nvPr/>
        </p:nvSpPr>
        <p:spPr bwMode="gray">
          <a:xfrm>
            <a:off x="5700929" y="2268279"/>
            <a:ext cx="182880" cy="182880"/>
          </a:xfrm>
          <a:prstGeom prst="star5">
            <a:avLst/>
          </a:prstGeom>
          <a:solidFill>
            <a:srgbClr val="DA291C"/>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3" name="Diamond 202">
            <a:extLst>
              <a:ext uri="{FF2B5EF4-FFF2-40B4-BE49-F238E27FC236}">
                <a16:creationId xmlns:a16="http://schemas.microsoft.com/office/drawing/2014/main" id="{7F82CFD7-0D76-4602-9A53-8BF9B0E9F3B1}"/>
              </a:ext>
            </a:extLst>
          </p:cNvPr>
          <p:cNvSpPr/>
          <p:nvPr/>
        </p:nvSpPr>
        <p:spPr bwMode="gray">
          <a:xfrm>
            <a:off x="6671781" y="2293441"/>
            <a:ext cx="182880" cy="182880"/>
          </a:xfrm>
          <a:prstGeom prst="diamond">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05" name="TextBox 204">
            <a:extLst>
              <a:ext uri="{FF2B5EF4-FFF2-40B4-BE49-F238E27FC236}">
                <a16:creationId xmlns:a16="http://schemas.microsoft.com/office/drawing/2014/main" id="{7137B93E-CCE5-454F-9E52-3AE4BDA3046B}"/>
              </a:ext>
            </a:extLst>
          </p:cNvPr>
          <p:cNvSpPr txBox="1"/>
          <p:nvPr/>
        </p:nvSpPr>
        <p:spPr>
          <a:xfrm>
            <a:off x="11526530" y="2292245"/>
            <a:ext cx="399526"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PMO</a:t>
            </a:r>
          </a:p>
        </p:txBody>
      </p:sp>
      <p:sp>
        <p:nvSpPr>
          <p:cNvPr id="206" name="object 144">
            <a:extLst>
              <a:ext uri="{FF2B5EF4-FFF2-40B4-BE49-F238E27FC236}">
                <a16:creationId xmlns:a16="http://schemas.microsoft.com/office/drawing/2014/main" id="{A765A284-6470-4496-82AF-D16DF30F0C24}"/>
              </a:ext>
            </a:extLst>
          </p:cNvPr>
          <p:cNvSpPr/>
          <p:nvPr/>
        </p:nvSpPr>
        <p:spPr>
          <a:xfrm>
            <a:off x="10851358" y="2457868"/>
            <a:ext cx="186819" cy="182880"/>
          </a:xfrm>
          <a:custGeom>
            <a:avLst/>
            <a:gdLst/>
            <a:ahLst/>
            <a:cxnLst/>
            <a:rect l="l" t="t" r="r" b="b"/>
            <a:pathLst>
              <a:path w="356870" h="245745">
                <a:moveTo>
                  <a:pt x="0" y="93725"/>
                </a:moveTo>
                <a:lnTo>
                  <a:pt x="136220" y="93725"/>
                </a:lnTo>
                <a:lnTo>
                  <a:pt x="178308" y="0"/>
                </a:lnTo>
                <a:lnTo>
                  <a:pt x="220395" y="93725"/>
                </a:lnTo>
                <a:lnTo>
                  <a:pt x="356616" y="93725"/>
                </a:lnTo>
                <a:lnTo>
                  <a:pt x="246418" y="151650"/>
                </a:lnTo>
                <a:lnTo>
                  <a:pt x="288505" y="245363"/>
                </a:lnTo>
                <a:lnTo>
                  <a:pt x="178308" y="187439"/>
                </a:lnTo>
                <a:lnTo>
                  <a:pt x="68110" y="245363"/>
                </a:lnTo>
                <a:lnTo>
                  <a:pt x="110197" y="151650"/>
                </a:lnTo>
                <a:lnTo>
                  <a:pt x="0" y="93725"/>
                </a:lnTo>
                <a:close/>
              </a:path>
            </a:pathLst>
          </a:custGeom>
          <a:solidFill>
            <a:schemeClr val="bg2">
              <a:lumMod val="50000"/>
            </a:schemeClr>
          </a:solidFill>
          <a:ln w="12700">
            <a:noFill/>
          </a:ln>
        </p:spPr>
        <p:txBody>
          <a:bodyPr wrap="square" lIns="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Verdana"/>
              <a:ea typeface="Verdana" panose="020B0604030504040204" pitchFamily="34" charset="0"/>
              <a:cs typeface="Open Sans" panose="020B0606030504020204" pitchFamily="34" charset="0"/>
            </a:endParaRPr>
          </a:p>
        </p:txBody>
      </p:sp>
      <p:sp>
        <p:nvSpPr>
          <p:cNvPr id="207" name="TextBox 206">
            <a:extLst>
              <a:ext uri="{FF2B5EF4-FFF2-40B4-BE49-F238E27FC236}">
                <a16:creationId xmlns:a16="http://schemas.microsoft.com/office/drawing/2014/main" id="{455AFD8A-97E7-4ED4-BEE6-A5D7B1F4C95E}"/>
              </a:ext>
            </a:extLst>
          </p:cNvPr>
          <p:cNvSpPr txBox="1"/>
          <p:nvPr/>
        </p:nvSpPr>
        <p:spPr>
          <a:xfrm>
            <a:off x="10500332" y="2676278"/>
            <a:ext cx="941582"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Initiate KT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289" name="TextBox 288">
            <a:extLst>
              <a:ext uri="{FF2B5EF4-FFF2-40B4-BE49-F238E27FC236}">
                <a16:creationId xmlns:a16="http://schemas.microsoft.com/office/drawing/2014/main" id="{BF45E320-F25B-4019-AACF-5D1612C43055}"/>
              </a:ext>
            </a:extLst>
          </p:cNvPr>
          <p:cNvSpPr txBox="1"/>
          <p:nvPr/>
        </p:nvSpPr>
        <p:spPr>
          <a:xfrm>
            <a:off x="9657509" y="4857519"/>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 Smoke test</a:t>
            </a:r>
          </a:p>
        </p:txBody>
      </p:sp>
      <p:cxnSp>
        <p:nvCxnSpPr>
          <p:cNvPr id="295" name="Straight Connector 294">
            <a:extLst>
              <a:ext uri="{FF2B5EF4-FFF2-40B4-BE49-F238E27FC236}">
                <a16:creationId xmlns:a16="http://schemas.microsoft.com/office/drawing/2014/main" id="{A7E0D3BF-C038-404E-AFB2-E3D9DB8D0F6B}"/>
              </a:ext>
            </a:extLst>
          </p:cNvPr>
          <p:cNvCxnSpPr>
            <a:cxnSpLocks/>
          </p:cNvCxnSpPr>
          <p:nvPr/>
        </p:nvCxnSpPr>
        <p:spPr>
          <a:xfrm>
            <a:off x="2989031" y="4712472"/>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6" name="TextBox 295">
            <a:extLst>
              <a:ext uri="{FF2B5EF4-FFF2-40B4-BE49-F238E27FC236}">
                <a16:creationId xmlns:a16="http://schemas.microsoft.com/office/drawing/2014/main" id="{E3AC4557-BA85-44E4-BB7D-0BE137945247}"/>
              </a:ext>
            </a:extLst>
          </p:cNvPr>
          <p:cNvSpPr txBox="1"/>
          <p:nvPr/>
        </p:nvSpPr>
        <p:spPr>
          <a:xfrm>
            <a:off x="3027327" y="4500375"/>
            <a:ext cx="1534855"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Solution and test plan </a:t>
            </a:r>
          </a:p>
        </p:txBody>
      </p:sp>
      <p:cxnSp>
        <p:nvCxnSpPr>
          <p:cNvPr id="305" name="Straight Connector 304">
            <a:extLst>
              <a:ext uri="{FF2B5EF4-FFF2-40B4-BE49-F238E27FC236}">
                <a16:creationId xmlns:a16="http://schemas.microsoft.com/office/drawing/2014/main" id="{F115D368-1728-4939-8234-9CD4D927E8D4}"/>
              </a:ext>
            </a:extLst>
          </p:cNvPr>
          <p:cNvCxnSpPr>
            <a:cxnSpLocks/>
          </p:cNvCxnSpPr>
          <p:nvPr/>
        </p:nvCxnSpPr>
        <p:spPr>
          <a:xfrm flipV="1">
            <a:off x="4545704" y="4123834"/>
            <a:ext cx="2733352" cy="2807"/>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E276F02D-0DE2-43C1-8E66-D78342AEDDB9}"/>
              </a:ext>
            </a:extLst>
          </p:cNvPr>
          <p:cNvCxnSpPr>
            <a:cxnSpLocks/>
          </p:cNvCxnSpPr>
          <p:nvPr/>
        </p:nvCxnSpPr>
        <p:spPr>
          <a:xfrm>
            <a:off x="7279056" y="4286592"/>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B82A52E5-C0A7-424E-B72F-729F108CE4E3}"/>
              </a:ext>
            </a:extLst>
          </p:cNvPr>
          <p:cNvCxnSpPr>
            <a:cxnSpLocks/>
          </p:cNvCxnSpPr>
          <p:nvPr/>
        </p:nvCxnSpPr>
        <p:spPr>
          <a:xfrm>
            <a:off x="9818810" y="4131929"/>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4" name="TextBox 343">
            <a:extLst>
              <a:ext uri="{FF2B5EF4-FFF2-40B4-BE49-F238E27FC236}">
                <a16:creationId xmlns:a16="http://schemas.microsoft.com/office/drawing/2014/main" id="{F10A2570-CF6E-4792-B154-7967509587C7}"/>
              </a:ext>
            </a:extLst>
          </p:cNvPr>
          <p:cNvSpPr txBox="1"/>
          <p:nvPr/>
        </p:nvSpPr>
        <p:spPr>
          <a:xfrm>
            <a:off x="9836524" y="3938263"/>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Cutover Support</a:t>
            </a:r>
          </a:p>
        </p:txBody>
      </p:sp>
      <p:cxnSp>
        <p:nvCxnSpPr>
          <p:cNvPr id="345" name="Straight Connector 344">
            <a:extLst>
              <a:ext uri="{FF2B5EF4-FFF2-40B4-BE49-F238E27FC236}">
                <a16:creationId xmlns:a16="http://schemas.microsoft.com/office/drawing/2014/main" id="{F12B9078-747D-40C1-8F91-F8A545DCC09B}"/>
              </a:ext>
            </a:extLst>
          </p:cNvPr>
          <p:cNvCxnSpPr>
            <a:cxnSpLocks/>
          </p:cNvCxnSpPr>
          <p:nvPr/>
        </p:nvCxnSpPr>
        <p:spPr>
          <a:xfrm>
            <a:off x="2971317" y="4014263"/>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6" name="TextBox 345">
            <a:extLst>
              <a:ext uri="{FF2B5EF4-FFF2-40B4-BE49-F238E27FC236}">
                <a16:creationId xmlns:a16="http://schemas.microsoft.com/office/drawing/2014/main" id="{21B669E9-EE94-41D9-966D-B264AE4966B9}"/>
              </a:ext>
            </a:extLst>
          </p:cNvPr>
          <p:cNvSpPr txBox="1"/>
          <p:nvPr/>
        </p:nvSpPr>
        <p:spPr>
          <a:xfrm>
            <a:off x="2871901" y="3805826"/>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Review strategy and integration arch</a:t>
            </a:r>
          </a:p>
        </p:txBody>
      </p:sp>
      <p:cxnSp>
        <p:nvCxnSpPr>
          <p:cNvPr id="348" name="Straight Connector 347">
            <a:extLst>
              <a:ext uri="{FF2B5EF4-FFF2-40B4-BE49-F238E27FC236}">
                <a16:creationId xmlns:a16="http://schemas.microsoft.com/office/drawing/2014/main" id="{1C0CE833-EC36-48A2-BC08-1D9259F81871}"/>
              </a:ext>
            </a:extLst>
          </p:cNvPr>
          <p:cNvCxnSpPr>
            <a:cxnSpLocks/>
          </p:cNvCxnSpPr>
          <p:nvPr/>
        </p:nvCxnSpPr>
        <p:spPr>
          <a:xfrm>
            <a:off x="10699366" y="4288680"/>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9" name="TextBox 348">
            <a:extLst>
              <a:ext uri="{FF2B5EF4-FFF2-40B4-BE49-F238E27FC236}">
                <a16:creationId xmlns:a16="http://schemas.microsoft.com/office/drawing/2014/main" id="{DF06D4E9-8ABD-4FE7-BF06-36B984F77FA4}"/>
              </a:ext>
            </a:extLst>
          </p:cNvPr>
          <p:cNvSpPr txBox="1"/>
          <p:nvPr/>
        </p:nvSpPr>
        <p:spPr>
          <a:xfrm>
            <a:off x="10848437" y="4113472"/>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Hypercare</a:t>
            </a:r>
          </a:p>
        </p:txBody>
      </p:sp>
      <p:sp>
        <p:nvSpPr>
          <p:cNvPr id="186" name="TextBox 185">
            <a:extLst>
              <a:ext uri="{FF2B5EF4-FFF2-40B4-BE49-F238E27FC236}">
                <a16:creationId xmlns:a16="http://schemas.microsoft.com/office/drawing/2014/main" id="{B6E1A788-3214-4D32-9DA2-3C3900B2DACB}"/>
              </a:ext>
            </a:extLst>
          </p:cNvPr>
          <p:cNvSpPr txBox="1"/>
          <p:nvPr/>
        </p:nvSpPr>
        <p:spPr>
          <a:xfrm>
            <a:off x="4781123" y="3923779"/>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Code Build and Unit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sp>
        <p:nvSpPr>
          <p:cNvPr id="187" name="TextBox 186">
            <a:extLst>
              <a:ext uri="{FF2B5EF4-FFF2-40B4-BE49-F238E27FC236}">
                <a16:creationId xmlns:a16="http://schemas.microsoft.com/office/drawing/2014/main" id="{62D7EA56-FEEF-4292-A985-E4D954D7FD2E}"/>
              </a:ext>
            </a:extLst>
          </p:cNvPr>
          <p:cNvSpPr txBox="1"/>
          <p:nvPr/>
        </p:nvSpPr>
        <p:spPr>
          <a:xfrm>
            <a:off x="7520349" y="4092050"/>
            <a:ext cx="176300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Test Cycle Support</a:t>
            </a:r>
          </a:p>
        </p:txBody>
      </p:sp>
      <p:sp>
        <p:nvSpPr>
          <p:cNvPr id="204" name="TextBox 203">
            <a:extLst>
              <a:ext uri="{FF2B5EF4-FFF2-40B4-BE49-F238E27FC236}">
                <a16:creationId xmlns:a16="http://schemas.microsoft.com/office/drawing/2014/main" id="{845552B6-9990-4D2D-AB47-D8CE9F6FC583}"/>
              </a:ext>
            </a:extLst>
          </p:cNvPr>
          <p:cNvSpPr txBox="1"/>
          <p:nvPr/>
        </p:nvSpPr>
        <p:spPr>
          <a:xfrm>
            <a:off x="7221776" y="4837925"/>
            <a:ext cx="1309300"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INT Prep &amp; Exec; UAT Prep</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13" name="Straight Connector 212">
            <a:extLst>
              <a:ext uri="{FF2B5EF4-FFF2-40B4-BE49-F238E27FC236}">
                <a16:creationId xmlns:a16="http://schemas.microsoft.com/office/drawing/2014/main" id="{A86BC0AA-6FA6-40F7-BA71-1090A3F48EC9}"/>
              </a:ext>
            </a:extLst>
          </p:cNvPr>
          <p:cNvCxnSpPr>
            <a:cxnSpLocks/>
          </p:cNvCxnSpPr>
          <p:nvPr/>
        </p:nvCxnSpPr>
        <p:spPr>
          <a:xfrm>
            <a:off x="2953593" y="5591421"/>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36" name="TextBox 235">
            <a:extLst>
              <a:ext uri="{FF2B5EF4-FFF2-40B4-BE49-F238E27FC236}">
                <a16:creationId xmlns:a16="http://schemas.microsoft.com/office/drawing/2014/main" id="{969ADE92-7C7D-4AC5-B5E1-30A46F5F93B5}"/>
              </a:ext>
            </a:extLst>
          </p:cNvPr>
          <p:cNvSpPr txBox="1"/>
          <p:nvPr/>
        </p:nvSpPr>
        <p:spPr>
          <a:xfrm>
            <a:off x="2953592" y="5374684"/>
            <a:ext cx="145323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Identify Integrations</a:t>
            </a:r>
          </a:p>
        </p:txBody>
      </p:sp>
      <p:cxnSp>
        <p:nvCxnSpPr>
          <p:cNvPr id="246" name="Straight Connector 245">
            <a:extLst>
              <a:ext uri="{FF2B5EF4-FFF2-40B4-BE49-F238E27FC236}">
                <a16:creationId xmlns:a16="http://schemas.microsoft.com/office/drawing/2014/main" id="{37319686-1962-487B-AB1A-500E03145038}"/>
              </a:ext>
            </a:extLst>
          </p:cNvPr>
          <p:cNvCxnSpPr>
            <a:cxnSpLocks/>
          </p:cNvCxnSpPr>
          <p:nvPr/>
        </p:nvCxnSpPr>
        <p:spPr>
          <a:xfrm>
            <a:off x="3878507" y="5828349"/>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7" name="TextBox 246">
            <a:extLst>
              <a:ext uri="{FF2B5EF4-FFF2-40B4-BE49-F238E27FC236}">
                <a16:creationId xmlns:a16="http://schemas.microsoft.com/office/drawing/2014/main" id="{EB5F4762-9EBB-43A1-857F-EAD406123DD3}"/>
              </a:ext>
            </a:extLst>
          </p:cNvPr>
          <p:cNvSpPr txBox="1"/>
          <p:nvPr/>
        </p:nvSpPr>
        <p:spPr>
          <a:xfrm>
            <a:off x="3878507" y="5628294"/>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Design Functional Spec &amp; Inputs to Data Mapping</a:t>
            </a:r>
          </a:p>
        </p:txBody>
      </p:sp>
      <p:cxnSp>
        <p:nvCxnSpPr>
          <p:cNvPr id="288" name="Straight Connector 287">
            <a:extLst>
              <a:ext uri="{FF2B5EF4-FFF2-40B4-BE49-F238E27FC236}">
                <a16:creationId xmlns:a16="http://schemas.microsoft.com/office/drawing/2014/main" id="{69CA6DB2-77F4-47FB-9957-B0477ADDB3AB}"/>
              </a:ext>
            </a:extLst>
          </p:cNvPr>
          <p:cNvCxnSpPr>
            <a:cxnSpLocks/>
          </p:cNvCxnSpPr>
          <p:nvPr/>
        </p:nvCxnSpPr>
        <p:spPr>
          <a:xfrm>
            <a:off x="7293232" y="5794647"/>
            <a:ext cx="229751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1" name="TextBox 290">
            <a:extLst>
              <a:ext uri="{FF2B5EF4-FFF2-40B4-BE49-F238E27FC236}">
                <a16:creationId xmlns:a16="http://schemas.microsoft.com/office/drawing/2014/main" id="{501119CA-9A51-422F-B199-F0008ABA3137}"/>
              </a:ext>
            </a:extLst>
          </p:cNvPr>
          <p:cNvSpPr txBox="1"/>
          <p:nvPr/>
        </p:nvSpPr>
        <p:spPr>
          <a:xfrm>
            <a:off x="7534525" y="5467198"/>
            <a:ext cx="1763003"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Execute Process Testing Cycle and Support Integration testing</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92" name="Straight Connector 291">
            <a:extLst>
              <a:ext uri="{FF2B5EF4-FFF2-40B4-BE49-F238E27FC236}">
                <a16:creationId xmlns:a16="http://schemas.microsoft.com/office/drawing/2014/main" id="{F4E9E0ED-A508-4873-83E9-11EBB70667C7}"/>
              </a:ext>
            </a:extLst>
          </p:cNvPr>
          <p:cNvCxnSpPr>
            <a:cxnSpLocks/>
          </p:cNvCxnSpPr>
          <p:nvPr/>
        </p:nvCxnSpPr>
        <p:spPr>
          <a:xfrm>
            <a:off x="9838002" y="57721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94" name="TextBox 293">
            <a:extLst>
              <a:ext uri="{FF2B5EF4-FFF2-40B4-BE49-F238E27FC236}">
                <a16:creationId xmlns:a16="http://schemas.microsoft.com/office/drawing/2014/main" id="{CF860F12-820A-41DD-8ED2-3CCC2E1C7860}"/>
              </a:ext>
            </a:extLst>
          </p:cNvPr>
          <p:cNvSpPr txBox="1"/>
          <p:nvPr/>
        </p:nvSpPr>
        <p:spPr>
          <a:xfrm>
            <a:off x="9671687" y="55533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297" name="Straight Connector 296">
            <a:extLst>
              <a:ext uri="{FF2B5EF4-FFF2-40B4-BE49-F238E27FC236}">
                <a16:creationId xmlns:a16="http://schemas.microsoft.com/office/drawing/2014/main" id="{C013F605-9F37-42B0-9A39-9D4DC5786834}"/>
              </a:ext>
            </a:extLst>
          </p:cNvPr>
          <p:cNvCxnSpPr>
            <a:cxnSpLocks/>
          </p:cNvCxnSpPr>
          <p:nvPr/>
        </p:nvCxnSpPr>
        <p:spPr>
          <a:xfrm>
            <a:off x="3876735" y="6514840"/>
            <a:ext cx="2344452"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10" name="TextBox 309">
            <a:extLst>
              <a:ext uri="{FF2B5EF4-FFF2-40B4-BE49-F238E27FC236}">
                <a16:creationId xmlns:a16="http://schemas.microsoft.com/office/drawing/2014/main" id="{04C470F8-5EAB-464D-945C-D3E0B7EEC745}"/>
              </a:ext>
            </a:extLst>
          </p:cNvPr>
          <p:cNvSpPr txBox="1"/>
          <p:nvPr/>
        </p:nvSpPr>
        <p:spPr>
          <a:xfrm>
            <a:off x="3885201" y="6327485"/>
            <a:ext cx="2355333"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Inputs to Data Mapping</a:t>
            </a:r>
          </a:p>
        </p:txBody>
      </p:sp>
      <p:cxnSp>
        <p:nvCxnSpPr>
          <p:cNvPr id="318" name="Straight Connector 317">
            <a:extLst>
              <a:ext uri="{FF2B5EF4-FFF2-40B4-BE49-F238E27FC236}">
                <a16:creationId xmlns:a16="http://schemas.microsoft.com/office/drawing/2014/main" id="{840DBD84-9EF4-4222-806C-98FBC4C454AD}"/>
              </a:ext>
            </a:extLst>
          </p:cNvPr>
          <p:cNvCxnSpPr>
            <a:cxnSpLocks/>
          </p:cNvCxnSpPr>
          <p:nvPr/>
        </p:nvCxnSpPr>
        <p:spPr>
          <a:xfrm>
            <a:off x="2949654" y="6311877"/>
            <a:ext cx="2384145"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41" name="TextBox 340">
            <a:extLst>
              <a:ext uri="{FF2B5EF4-FFF2-40B4-BE49-F238E27FC236}">
                <a16:creationId xmlns:a16="http://schemas.microsoft.com/office/drawing/2014/main" id="{8B83E09E-5E48-4CF3-A45B-2D0072507B87}"/>
              </a:ext>
            </a:extLst>
          </p:cNvPr>
          <p:cNvSpPr txBox="1"/>
          <p:nvPr/>
        </p:nvSpPr>
        <p:spPr>
          <a:xfrm>
            <a:off x="2949653" y="6095140"/>
            <a:ext cx="239096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Existing Process Walkthrough</a:t>
            </a:r>
          </a:p>
        </p:txBody>
      </p:sp>
      <p:cxnSp>
        <p:nvCxnSpPr>
          <p:cNvPr id="351" name="Straight Connector 350">
            <a:extLst>
              <a:ext uri="{FF2B5EF4-FFF2-40B4-BE49-F238E27FC236}">
                <a16:creationId xmlns:a16="http://schemas.microsoft.com/office/drawing/2014/main" id="{B7903855-E9B2-4437-9C59-B259F2DAB97F}"/>
              </a:ext>
            </a:extLst>
          </p:cNvPr>
          <p:cNvCxnSpPr>
            <a:cxnSpLocks/>
          </p:cNvCxnSpPr>
          <p:nvPr/>
        </p:nvCxnSpPr>
        <p:spPr>
          <a:xfrm>
            <a:off x="4153211" y="6737773"/>
            <a:ext cx="3108283"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52" name="TextBox 351">
            <a:extLst>
              <a:ext uri="{FF2B5EF4-FFF2-40B4-BE49-F238E27FC236}">
                <a16:creationId xmlns:a16="http://schemas.microsoft.com/office/drawing/2014/main" id="{FEC49A29-F574-493E-8901-A895E2096C13}"/>
              </a:ext>
            </a:extLst>
          </p:cNvPr>
          <p:cNvSpPr txBox="1"/>
          <p:nvPr/>
        </p:nvSpPr>
        <p:spPr>
          <a:xfrm>
            <a:off x="4280211" y="6565216"/>
            <a:ext cx="314288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Retrofit existing programs (If required)</a:t>
            </a:r>
          </a:p>
        </p:txBody>
      </p:sp>
      <p:sp>
        <p:nvSpPr>
          <p:cNvPr id="371" name="TextBox 370">
            <a:extLst>
              <a:ext uri="{FF2B5EF4-FFF2-40B4-BE49-F238E27FC236}">
                <a16:creationId xmlns:a16="http://schemas.microsoft.com/office/drawing/2014/main" id="{105C9131-C773-4BCF-9B1E-4ACA5C55F375}"/>
              </a:ext>
            </a:extLst>
          </p:cNvPr>
          <p:cNvSpPr txBox="1"/>
          <p:nvPr/>
        </p:nvSpPr>
        <p:spPr>
          <a:xfrm>
            <a:off x="8509924" y="6303002"/>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UAT Execution</a:t>
            </a:r>
          </a:p>
        </p:txBody>
      </p:sp>
      <p:sp>
        <p:nvSpPr>
          <p:cNvPr id="379" name="TextBox 378">
            <a:extLst>
              <a:ext uri="{FF2B5EF4-FFF2-40B4-BE49-F238E27FC236}">
                <a16:creationId xmlns:a16="http://schemas.microsoft.com/office/drawing/2014/main" id="{592C1BCF-9B56-4277-A1A4-73726902A6B8}"/>
              </a:ext>
            </a:extLst>
          </p:cNvPr>
          <p:cNvSpPr txBox="1"/>
          <p:nvPr/>
        </p:nvSpPr>
        <p:spPr>
          <a:xfrm>
            <a:off x="7183381" y="6283898"/>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SIT Support</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380" name="Straight Connector 379">
            <a:extLst>
              <a:ext uri="{FF2B5EF4-FFF2-40B4-BE49-F238E27FC236}">
                <a16:creationId xmlns:a16="http://schemas.microsoft.com/office/drawing/2014/main" id="{7BD05B08-4901-4981-8175-78408140C275}"/>
              </a:ext>
            </a:extLst>
          </p:cNvPr>
          <p:cNvCxnSpPr>
            <a:cxnSpLocks/>
          </p:cNvCxnSpPr>
          <p:nvPr/>
        </p:nvCxnSpPr>
        <p:spPr>
          <a:xfrm>
            <a:off x="7300290" y="6502955"/>
            <a:ext cx="113062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4E719F72-3B64-4B7A-8524-B20F2B430649}"/>
              </a:ext>
            </a:extLst>
          </p:cNvPr>
          <p:cNvCxnSpPr>
            <a:cxnSpLocks/>
          </p:cNvCxnSpPr>
          <p:nvPr/>
        </p:nvCxnSpPr>
        <p:spPr>
          <a:xfrm>
            <a:off x="8758763" y="6516593"/>
            <a:ext cx="809879"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84757130-C960-41DD-881F-348E488DE1EC}"/>
              </a:ext>
            </a:extLst>
          </p:cNvPr>
          <p:cNvCxnSpPr>
            <a:cxnSpLocks/>
          </p:cNvCxnSpPr>
          <p:nvPr/>
        </p:nvCxnSpPr>
        <p:spPr>
          <a:xfrm>
            <a:off x="9901502" y="6521401"/>
            <a:ext cx="880556"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0" name="TextBox 389">
            <a:extLst>
              <a:ext uri="{FF2B5EF4-FFF2-40B4-BE49-F238E27FC236}">
                <a16:creationId xmlns:a16="http://schemas.microsoft.com/office/drawing/2014/main" id="{67FB7E4D-D7C4-4C52-A85E-8D6750B43A01}"/>
              </a:ext>
            </a:extLst>
          </p:cNvPr>
          <p:cNvSpPr txBox="1"/>
          <p:nvPr/>
        </p:nvSpPr>
        <p:spPr>
          <a:xfrm>
            <a:off x="9722487" y="6328059"/>
            <a:ext cx="1309300"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Assist</a:t>
            </a: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 Cutover</a:t>
            </a:r>
          </a:p>
        </p:txBody>
      </p:sp>
      <p:cxnSp>
        <p:nvCxnSpPr>
          <p:cNvPr id="391" name="Straight Connector 390">
            <a:extLst>
              <a:ext uri="{FF2B5EF4-FFF2-40B4-BE49-F238E27FC236}">
                <a16:creationId xmlns:a16="http://schemas.microsoft.com/office/drawing/2014/main" id="{44F01750-7EB1-45B1-9EBC-1EF6C7D7F4F0}"/>
              </a:ext>
            </a:extLst>
          </p:cNvPr>
          <p:cNvCxnSpPr>
            <a:cxnSpLocks/>
          </p:cNvCxnSpPr>
          <p:nvPr/>
        </p:nvCxnSpPr>
        <p:spPr>
          <a:xfrm>
            <a:off x="10782058" y="5772101"/>
            <a:ext cx="810564" cy="2479"/>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392" name="TextBox 391">
            <a:extLst>
              <a:ext uri="{FF2B5EF4-FFF2-40B4-BE49-F238E27FC236}">
                <a16:creationId xmlns:a16="http://schemas.microsoft.com/office/drawing/2014/main" id="{68D46F9B-5695-4556-8FAE-D7586713ED04}"/>
              </a:ext>
            </a:extLst>
          </p:cNvPr>
          <p:cNvSpPr txBox="1"/>
          <p:nvPr/>
        </p:nvSpPr>
        <p:spPr>
          <a:xfrm>
            <a:off x="10719626" y="5542770"/>
            <a:ext cx="986311"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a:solidFill>
                  <a:prstClr val="black"/>
                </a:solidFill>
                <a:latin typeface="Open Sans" panose="020B0606030504020204" pitchFamily="34" charset="0"/>
                <a:ea typeface="Open Sans" panose="020B0606030504020204" pitchFamily="34" charset="0"/>
                <a:cs typeface="Open Sans" panose="020B0606030504020204" pitchFamily="34" charset="0"/>
                <a:sym typeface="Lato Light" charset="0"/>
              </a:rPr>
              <a:t>Support Hypercare</a:t>
            </a:r>
            <a:endPar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endParaRPr>
          </a:p>
        </p:txBody>
      </p:sp>
      <p:cxnSp>
        <p:nvCxnSpPr>
          <p:cNvPr id="248" name="Straight Connector 247">
            <a:extLst>
              <a:ext uri="{FF2B5EF4-FFF2-40B4-BE49-F238E27FC236}">
                <a16:creationId xmlns:a16="http://schemas.microsoft.com/office/drawing/2014/main" id="{4768C692-C9F5-4ED7-A87A-D7BEF458AA92}"/>
              </a:ext>
            </a:extLst>
          </p:cNvPr>
          <p:cNvCxnSpPr>
            <a:cxnSpLocks/>
          </p:cNvCxnSpPr>
          <p:nvPr/>
        </p:nvCxnSpPr>
        <p:spPr>
          <a:xfrm>
            <a:off x="2958899" y="3394854"/>
            <a:ext cx="1439278" cy="0"/>
          </a:xfrm>
          <a:prstGeom prst="line">
            <a:avLst/>
          </a:prstGeom>
          <a:ln w="28575">
            <a:solidFill>
              <a:schemeClr val="bg1">
                <a:lumMod val="50000"/>
              </a:schemeClr>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BBAE3032-F0AC-400C-B1E4-4EEFE753A841}"/>
              </a:ext>
            </a:extLst>
          </p:cNvPr>
          <p:cNvSpPr txBox="1"/>
          <p:nvPr/>
        </p:nvSpPr>
        <p:spPr>
          <a:xfrm>
            <a:off x="2859483" y="3186417"/>
            <a:ext cx="1763003" cy="2000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Lato Light" charset="0"/>
              </a:rPr>
              <a:t>OCI Landing Zone Design</a:t>
            </a:r>
          </a:p>
        </p:txBody>
      </p:sp>
      <p:sp>
        <p:nvSpPr>
          <p:cNvPr id="285" name="Diamond 284">
            <a:extLst>
              <a:ext uri="{FF2B5EF4-FFF2-40B4-BE49-F238E27FC236}">
                <a16:creationId xmlns:a16="http://schemas.microsoft.com/office/drawing/2014/main" id="{76BBAF63-25E6-4CF8-AC3C-C659D54169D3}"/>
              </a:ext>
            </a:extLst>
          </p:cNvPr>
          <p:cNvSpPr/>
          <p:nvPr/>
        </p:nvSpPr>
        <p:spPr bwMode="gray">
          <a:xfrm>
            <a:off x="7159866" y="362574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287" name="Diamond 286">
            <a:extLst>
              <a:ext uri="{FF2B5EF4-FFF2-40B4-BE49-F238E27FC236}">
                <a16:creationId xmlns:a16="http://schemas.microsoft.com/office/drawing/2014/main" id="{C141D4BB-F63A-408E-AD85-FE09758BD296}"/>
              </a:ext>
            </a:extLst>
          </p:cNvPr>
          <p:cNvSpPr/>
          <p:nvPr/>
        </p:nvSpPr>
        <p:spPr bwMode="gray">
          <a:xfrm>
            <a:off x="4378566" y="361812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3" name="TextBox 2">
            <a:extLst>
              <a:ext uri="{FF2B5EF4-FFF2-40B4-BE49-F238E27FC236}">
                <a16:creationId xmlns:a16="http://schemas.microsoft.com/office/drawing/2014/main" id="{9BD3694F-4D6F-46A9-B0D6-06ADE61DB138}"/>
              </a:ext>
            </a:extLst>
          </p:cNvPr>
          <p:cNvSpPr txBox="1"/>
          <p:nvPr/>
        </p:nvSpPr>
        <p:spPr>
          <a:xfrm>
            <a:off x="4416345" y="3527352"/>
            <a:ext cx="1630676" cy="292388"/>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700">
                <a:solidFill>
                  <a:srgbClr val="313131"/>
                </a:solidFill>
              </a:rPr>
              <a:t>Dev environment ready</a:t>
            </a:r>
          </a:p>
          <a:p>
            <a:pPr marL="203200" indent="-203200">
              <a:spcBef>
                <a:spcPts val="600"/>
              </a:spcBef>
              <a:buSzPct val="100000"/>
              <a:buFont typeface="Arial"/>
              <a:buChar char="•"/>
            </a:pPr>
            <a:r>
              <a:rPr lang="en-US" sz="700" err="1">
                <a:solidFill>
                  <a:srgbClr val="313131"/>
                </a:solidFill>
              </a:rPr>
              <a:t>Devops</a:t>
            </a:r>
            <a:r>
              <a:rPr lang="en-US" sz="700">
                <a:solidFill>
                  <a:srgbClr val="313131"/>
                </a:solidFill>
              </a:rPr>
              <a:t>/CICD tool setup</a:t>
            </a:r>
          </a:p>
        </p:txBody>
      </p:sp>
      <p:sp>
        <p:nvSpPr>
          <p:cNvPr id="312" name="TextBox 311">
            <a:extLst>
              <a:ext uri="{FF2B5EF4-FFF2-40B4-BE49-F238E27FC236}">
                <a16:creationId xmlns:a16="http://schemas.microsoft.com/office/drawing/2014/main" id="{B06DC0D8-58BB-43EA-88F2-15FEEE0BFAB0}"/>
              </a:ext>
            </a:extLst>
          </p:cNvPr>
          <p:cNvSpPr txBox="1"/>
          <p:nvPr/>
        </p:nvSpPr>
        <p:spPr>
          <a:xfrm>
            <a:off x="7174785" y="3657041"/>
            <a:ext cx="993862"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Test environment</a:t>
            </a:r>
          </a:p>
        </p:txBody>
      </p:sp>
      <p:sp>
        <p:nvSpPr>
          <p:cNvPr id="314" name="TextBox 313">
            <a:extLst>
              <a:ext uri="{FF2B5EF4-FFF2-40B4-BE49-F238E27FC236}">
                <a16:creationId xmlns:a16="http://schemas.microsoft.com/office/drawing/2014/main" id="{8C655207-87E6-4910-9A25-9B0C0F78B993}"/>
              </a:ext>
            </a:extLst>
          </p:cNvPr>
          <p:cNvSpPr txBox="1"/>
          <p:nvPr/>
        </p:nvSpPr>
        <p:spPr>
          <a:xfrm>
            <a:off x="3296205" y="2910281"/>
            <a:ext cx="1918795" cy="107722"/>
          </a:xfrm>
          <a:prstGeom prst="rect">
            <a:avLst/>
          </a:prstGeom>
          <a:noFill/>
        </p:spPr>
        <p:txBody>
          <a:bodyPr wrap="none" lIns="0" tIns="0" rIns="0" bIns="0" rtlCol="0">
            <a:spAutoFit/>
          </a:bodyPr>
          <a:lstStyle/>
          <a:p>
            <a:pPr marL="203200" indent="-203200">
              <a:spcBef>
                <a:spcPts val="600"/>
              </a:spcBef>
              <a:buSzPct val="100000"/>
              <a:buFont typeface="Arial"/>
              <a:buChar char="•"/>
            </a:pPr>
            <a:r>
              <a:rPr lang="en-US" sz="700">
                <a:solidFill>
                  <a:srgbClr val="313131"/>
                </a:solidFill>
              </a:rPr>
              <a:t>CICD requirements/standards, tooling</a:t>
            </a:r>
          </a:p>
        </p:txBody>
      </p:sp>
      <p:sp>
        <p:nvSpPr>
          <p:cNvPr id="317" name="Diamond 316">
            <a:extLst>
              <a:ext uri="{FF2B5EF4-FFF2-40B4-BE49-F238E27FC236}">
                <a16:creationId xmlns:a16="http://schemas.microsoft.com/office/drawing/2014/main" id="{471ABB15-28D0-481C-AC10-57F8B00289D8}"/>
              </a:ext>
            </a:extLst>
          </p:cNvPr>
          <p:cNvSpPr/>
          <p:nvPr/>
        </p:nvSpPr>
        <p:spPr bwMode="gray">
          <a:xfrm>
            <a:off x="3304146" y="2871365"/>
            <a:ext cx="182880" cy="182880"/>
          </a:xfrm>
          <a:prstGeom prst="diamond">
            <a:avLst/>
          </a:prstGeom>
          <a:solidFill>
            <a:srgbClr val="53565A"/>
          </a:solidFill>
          <a:ln w="19050" algn="ctr">
            <a:noFill/>
            <a:miter lim="800000"/>
            <a:headEnd/>
            <a:tailEnd/>
          </a:ln>
        </p:spPr>
        <p:txBody>
          <a:bodyPr wrap="square" lIns="88900" tIns="88900" rIns="88900" bIns="88900" rtlCol="0" anchor="ctr"/>
          <a:lstStyle/>
          <a:p>
            <a:pPr marL="0" marR="0" lvl="0" indent="0" algn="ctr" defTabSz="1217613" rtl="0" eaLnBrk="0" fontAlgn="base" latinLnBrk="0" hangingPunct="0">
              <a:lnSpc>
                <a:spcPct val="106000"/>
              </a:lnSpc>
              <a:spcBef>
                <a:spcPct val="0"/>
              </a:spcBef>
              <a:spcAft>
                <a:spcPct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sp>
        <p:nvSpPr>
          <p:cNvPr id="5" name="TextBox 4">
            <a:extLst>
              <a:ext uri="{FF2B5EF4-FFF2-40B4-BE49-F238E27FC236}">
                <a16:creationId xmlns:a16="http://schemas.microsoft.com/office/drawing/2014/main" id="{E0E95D2D-3E9F-47D7-BE80-4A65411636BB}"/>
              </a:ext>
            </a:extLst>
          </p:cNvPr>
          <p:cNvSpPr txBox="1"/>
          <p:nvPr/>
        </p:nvSpPr>
        <p:spPr>
          <a:xfrm>
            <a:off x="10270592" y="400706"/>
            <a:ext cx="1753965" cy="369332"/>
          </a:xfrm>
          <a:prstGeom prst="rect">
            <a:avLst/>
          </a:prstGeom>
          <a:solidFill>
            <a:srgbClr val="FFFF00"/>
          </a:solidFill>
        </p:spPr>
        <p:txBody>
          <a:bodyPr wrap="square" rtlCol="0">
            <a:spAutoFit/>
          </a:bodyPr>
          <a:lstStyle/>
          <a:p>
            <a:r>
              <a:rPr lang="en-US"/>
              <a:t>Rita  - ATS</a:t>
            </a:r>
          </a:p>
        </p:txBody>
      </p:sp>
    </p:spTree>
    <p:extLst>
      <p:ext uri="{BB962C8B-B14F-4D97-AF65-F5344CB8AC3E}">
        <p14:creationId xmlns:p14="http://schemas.microsoft.com/office/powerpoint/2010/main" val="363657752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IPG</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860526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IPG</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369332"/>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Empower teams to integrate effectively with current applications spread across Dollar Tree and Family Dollar, coordinating program timelines and balancing EA’s vision for DT’s future landscape</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1831271"/>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Understand timelines of ongoing </a:t>
            </a:r>
            <a:r>
              <a:rPr lang="en-US" sz="1100" kern="0" dirty="0">
                <a:solidFill>
                  <a:srgbClr val="000000"/>
                </a:solidFill>
                <a:latin typeface="Open Sans"/>
              </a:rPr>
              <a:t>NextGen initiatives</a:t>
            </a:r>
            <a:endParaRPr kumimoji="0" lang="en-US" sz="1100" b="0" i="0" u="none" strike="noStrike" kern="0" cap="none" spc="0" normalizeH="0" baseline="0" noProof="0" dirty="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Review existing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Understand Enterprise architectures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Consult with DT and Oracle teams on MVP Scope and process level data flows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Consult with enterprise architecture teams and align on current application retirement timelines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1000274"/>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Agreement of Business Process Taxonomy </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Scope of MVP business Processes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Data Scope / Segmentation for MVP agreed by all Partners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Partner Timelines and Resource Plans  </a:t>
            </a: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1492716"/>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Draft Canonical Models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Process and Data Flows for MVP scope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ATS Timeline and environment needs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Prioritized Integration Sprint Plan for POD teams</a:t>
            </a: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92333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MVP DSD Scope will be aligned to an agreed subset of products / stores / vendors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Store Systems are not in scope for the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Tree>
    <p:extLst>
      <p:ext uri="{BB962C8B-B14F-4D97-AF65-F5344CB8AC3E}">
        <p14:creationId xmlns:p14="http://schemas.microsoft.com/office/powerpoint/2010/main" val="79848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nvGraphicFramePr>
        <p:xfrm>
          <a:off x="531189" y="1027779"/>
          <a:ext cx="10412399" cy="4145662"/>
        </p:xfrm>
        <a:graphic>
          <a:graphicData uri="http://schemas.openxmlformats.org/drawingml/2006/table">
            <a:tbl>
              <a:tblPr firstRow="1" bandRow="1">
                <a:tableStyleId>{93296810-A885-4BE3-A3E7-6D5BEEA58F35}</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r>
                        <a:rPr lang="en-US" sz="1100" dirty="0"/>
                        <a:t>Start </a:t>
                      </a:r>
                    </a:p>
                  </a:txBody>
                  <a:tcPr/>
                </a:tc>
                <a:tc>
                  <a:txBody>
                    <a:bodyPr/>
                    <a:lstStyle/>
                    <a:p>
                      <a:r>
                        <a:rPr lang="en-US" sz="1100" dirty="0"/>
                        <a:t>End</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7">
                  <a:txBody>
                    <a:bodyPr/>
                    <a:lstStyle/>
                    <a:p>
                      <a:pPr algn="ctr"/>
                      <a:r>
                        <a:rPr lang="en-US" sz="1100"/>
                        <a:t>Discover</a:t>
                      </a:r>
                    </a:p>
                  </a:txBody>
                  <a:tcPr/>
                </a:tc>
                <a:tc>
                  <a:txBody>
                    <a:bodyPr/>
                    <a:lstStyle/>
                    <a:p>
                      <a:r>
                        <a:rPr lang="en-US" sz="1100"/>
                        <a:t>Hold soft kick off for IPG</a:t>
                      </a:r>
                    </a:p>
                  </a:txBody>
                  <a:tcPr/>
                </a:tc>
                <a:tc>
                  <a:txBody>
                    <a:bodyPr/>
                    <a:lstStyle/>
                    <a:p>
                      <a:r>
                        <a:rPr lang="en-US" sz="1100"/>
                        <a:t>Geoff/</a:t>
                      </a:r>
                    </a:p>
                    <a:p>
                      <a:r>
                        <a:rPr lang="en-US" sz="1100"/>
                        <a:t>Shankar</a:t>
                      </a:r>
                    </a:p>
                  </a:txBody>
                  <a:tcPr/>
                </a:tc>
                <a:tc>
                  <a:txBody>
                    <a:bodyPr/>
                    <a:lstStyle/>
                    <a:p>
                      <a:r>
                        <a:rPr lang="en-US" sz="1100"/>
                        <a:t>03/27/2023</a:t>
                      </a:r>
                    </a:p>
                  </a:txBody>
                  <a:tcPr/>
                </a:tc>
                <a:tc>
                  <a:txBody>
                    <a:bodyPr/>
                    <a:lstStyle/>
                    <a:p>
                      <a:r>
                        <a:rPr lang="en-US" sz="1100"/>
                        <a:t>03/27/2023</a:t>
                      </a:r>
                    </a:p>
                  </a:txBody>
                  <a:tcPr/>
                </a:tc>
                <a:tc>
                  <a:txBody>
                    <a:bodyPr/>
                    <a:lstStyle/>
                    <a:p>
                      <a:r>
                        <a:rPr lang="en-US" sz="1100" dirty="0"/>
                        <a:t>Identify key stakeholders, current system </a:t>
                      </a:r>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r>
                        <a:rPr lang="en-US" sz="1100"/>
                        <a:t>Understand the current landscape, vision for future state, key stakeholders of current and NextGen Apps</a:t>
                      </a:r>
                    </a:p>
                  </a:txBody>
                  <a:tcPr/>
                </a:tc>
                <a:tc>
                  <a:txBody>
                    <a:bodyPr/>
                    <a:lstStyle/>
                    <a:p>
                      <a:r>
                        <a:rPr lang="en-US" sz="1100"/>
                        <a:t>Geoff/</a:t>
                      </a:r>
                    </a:p>
                    <a:p>
                      <a:r>
                        <a:rPr lang="en-US" sz="1100"/>
                        <a:t>Shankar</a:t>
                      </a:r>
                    </a:p>
                  </a:txBody>
                  <a:tcPr/>
                </a:tc>
                <a:tc>
                  <a:txBody>
                    <a:bodyPr/>
                    <a:lstStyle/>
                    <a:p>
                      <a:r>
                        <a:rPr lang="en-US" sz="1100"/>
                        <a:t>03/28/2023</a:t>
                      </a:r>
                    </a:p>
                  </a:txBody>
                  <a:tcPr/>
                </a:tc>
                <a:tc>
                  <a:txBody>
                    <a:bodyPr/>
                    <a:lstStyle/>
                    <a:p>
                      <a:r>
                        <a:rPr lang="en-US" sz="1100"/>
                        <a:t>03/29/2023</a:t>
                      </a:r>
                    </a:p>
                  </a:txBody>
                  <a:tcPr/>
                </a:tc>
                <a:tc>
                  <a:txBody>
                    <a:bodyPr/>
                    <a:lstStyle/>
                    <a:p>
                      <a:r>
                        <a:rPr lang="en-US" sz="1100" dirty="0"/>
                        <a:t>Identify the current system landscape and to be system landscape</a:t>
                      </a:r>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r>
                        <a:rPr lang="en-US" sz="1100"/>
                        <a:t>Understand the NextGen apps and milestones and retirement plan for existing systems</a:t>
                      </a:r>
                    </a:p>
                  </a:txBody>
                  <a:tcPr/>
                </a:tc>
                <a:tc>
                  <a:txBody>
                    <a:bodyPr/>
                    <a:lstStyle/>
                    <a:p>
                      <a:r>
                        <a:rPr lang="en-US" sz="1100"/>
                        <a:t>Geoff</a:t>
                      </a:r>
                    </a:p>
                  </a:txBody>
                  <a:tcPr/>
                </a:tc>
                <a:tc>
                  <a:txBody>
                    <a:bodyPr/>
                    <a:lstStyle/>
                    <a:p>
                      <a:r>
                        <a:rPr lang="en-US" sz="1100"/>
                        <a:t>03/28/2023</a:t>
                      </a:r>
                    </a:p>
                  </a:txBody>
                  <a:tcPr/>
                </a:tc>
                <a:tc>
                  <a:txBody>
                    <a:bodyPr/>
                    <a:lstStyle/>
                    <a:p>
                      <a:r>
                        <a:rPr lang="en-US" sz="1100"/>
                        <a:t>03/29/2023</a:t>
                      </a:r>
                    </a:p>
                  </a:txBody>
                  <a:tcPr/>
                </a:tc>
                <a:tc>
                  <a:txBody>
                    <a:bodyPr/>
                    <a:lstStyle/>
                    <a:p>
                      <a:r>
                        <a:rPr lang="en-US" sz="1100" dirty="0"/>
                        <a:t>Understand the dependencies across various connect</a:t>
                      </a:r>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r>
                        <a:rPr lang="en-US" sz="1100"/>
                        <a:t>Identify the dependences across NextGen apps</a:t>
                      </a:r>
                    </a:p>
                  </a:txBody>
                  <a:tcPr/>
                </a:tc>
                <a:tc>
                  <a:txBody>
                    <a:bodyPr/>
                    <a:lstStyle/>
                    <a:p>
                      <a:r>
                        <a:rPr lang="en-US" sz="1100"/>
                        <a:t>Geoff</a:t>
                      </a:r>
                    </a:p>
                  </a:txBody>
                  <a:tcPr/>
                </a:tc>
                <a:tc>
                  <a:txBody>
                    <a:bodyPr/>
                    <a:lstStyle/>
                    <a:p>
                      <a:r>
                        <a:rPr lang="en-US" sz="1100"/>
                        <a:t>03/30/2023</a:t>
                      </a:r>
                    </a:p>
                  </a:txBody>
                  <a:tcPr/>
                </a:tc>
                <a:tc>
                  <a:txBody>
                    <a:bodyPr/>
                    <a:lstStyle/>
                    <a:p>
                      <a:r>
                        <a:rPr lang="en-US" sz="1100"/>
                        <a:t>03/30/2023</a:t>
                      </a:r>
                    </a:p>
                  </a:txBody>
                  <a:tcPr/>
                </a:tc>
                <a:tc>
                  <a:txBody>
                    <a:bodyPr/>
                    <a:lstStyle/>
                    <a:p>
                      <a:endParaRPr lang="en-US" sz="1100" dirty="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r>
                        <a:rPr lang="en-US" sz="1100"/>
                        <a:t>Hold Kick off for IPG</a:t>
                      </a:r>
                    </a:p>
                  </a:txBody>
                  <a:tcPr/>
                </a:tc>
                <a:tc>
                  <a:txBody>
                    <a:bodyPr/>
                    <a:lstStyle/>
                    <a:p>
                      <a:r>
                        <a:rPr lang="en-US" sz="1100"/>
                        <a:t>Geoff/Shankar</a:t>
                      </a:r>
                    </a:p>
                  </a:txBody>
                  <a:tcPr/>
                </a:tc>
                <a:tc>
                  <a:txBody>
                    <a:bodyPr/>
                    <a:lstStyle/>
                    <a:p>
                      <a:r>
                        <a:rPr lang="en-US" sz="1100"/>
                        <a:t>04/08/2023</a:t>
                      </a:r>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r>
                        <a:rPr lang="en-US" sz="1100"/>
                        <a:t>Prepare dependency plan for NextGen initiatives</a:t>
                      </a:r>
                    </a:p>
                  </a:txBody>
                  <a:tcPr/>
                </a:tc>
                <a:tc>
                  <a:txBody>
                    <a:bodyPr/>
                    <a:lstStyle/>
                    <a:p>
                      <a:r>
                        <a:rPr lang="en-US" sz="1100"/>
                        <a:t> Geoff</a:t>
                      </a:r>
                    </a:p>
                  </a:txBody>
                  <a:tcPr/>
                </a:tc>
                <a:tc>
                  <a:txBody>
                    <a:bodyPr/>
                    <a:lstStyle/>
                    <a:p>
                      <a:r>
                        <a:rPr lang="en-US" sz="1100"/>
                        <a:t>04/08/2023</a:t>
                      </a:r>
                    </a:p>
                  </a:txBody>
                  <a:tcPr/>
                </a:tc>
                <a:tc>
                  <a:txBody>
                    <a:bodyPr/>
                    <a:lstStyle/>
                    <a:p>
                      <a:r>
                        <a:rPr lang="en-US" sz="1100"/>
                        <a:t>04/15/2023</a:t>
                      </a:r>
                    </a:p>
                  </a:txBody>
                  <a:tcPr/>
                </a:tc>
                <a:tc>
                  <a:txBody>
                    <a:bodyPr/>
                    <a:lstStyle/>
                    <a:p>
                      <a:r>
                        <a:rPr lang="en-US" sz="1100" dirty="0"/>
                        <a:t>Dependency/Milestone plan</a:t>
                      </a:r>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r>
                        <a:rPr lang="en-US" sz="1100"/>
                        <a:t>Conduct sessions to finalize the tool set (CICD /QA/Program management) </a:t>
                      </a:r>
                    </a:p>
                  </a:txBody>
                  <a:tcPr/>
                </a:tc>
                <a:tc>
                  <a:txBody>
                    <a:bodyPr/>
                    <a:lstStyle/>
                    <a:p>
                      <a:r>
                        <a:rPr lang="en-US" sz="1100"/>
                        <a:t>Geoff</a:t>
                      </a:r>
                    </a:p>
                  </a:txBody>
                  <a:tcPr/>
                </a:tc>
                <a:tc>
                  <a:txBody>
                    <a:bodyPr/>
                    <a:lstStyle/>
                    <a:p>
                      <a:r>
                        <a:rPr lang="en-US" sz="1100"/>
                        <a:t>03/27/2023</a:t>
                      </a:r>
                    </a:p>
                  </a:txBody>
                  <a:tcPr/>
                </a:tc>
                <a:tc>
                  <a:txBody>
                    <a:bodyPr/>
                    <a:lstStyle/>
                    <a:p>
                      <a:r>
                        <a:rPr lang="en-US" sz="1100"/>
                        <a:t>04/</a:t>
                      </a:r>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ATS Discovery Schedule</a:t>
            </a:r>
          </a:p>
        </p:txBody>
      </p:sp>
      <p:sp>
        <p:nvSpPr>
          <p:cNvPr id="5" name="TextBox 4">
            <a:extLst>
              <a:ext uri="{FF2B5EF4-FFF2-40B4-BE49-F238E27FC236}">
                <a16:creationId xmlns:a16="http://schemas.microsoft.com/office/drawing/2014/main" id="{3E18B8A2-B1A6-FECE-81D2-0BD283F9CF2C}"/>
              </a:ext>
            </a:extLst>
          </p:cNvPr>
          <p:cNvSpPr txBox="1"/>
          <p:nvPr/>
        </p:nvSpPr>
        <p:spPr>
          <a:xfrm rot="20089380">
            <a:off x="3299792" y="2626617"/>
            <a:ext cx="5936812" cy="369332"/>
          </a:xfrm>
          <a:prstGeom prst="rect">
            <a:avLst/>
          </a:prstGeom>
          <a:solidFill>
            <a:srgbClr val="FFFF00"/>
          </a:solidFill>
        </p:spPr>
        <p:txBody>
          <a:bodyPr wrap="square" rtlCol="0">
            <a:spAutoFit/>
          </a:bodyPr>
          <a:lstStyle/>
          <a:p>
            <a:r>
              <a:rPr lang="en-US"/>
              <a:t>Need to be updated</a:t>
            </a:r>
          </a:p>
        </p:txBody>
      </p:sp>
    </p:spTree>
    <p:extLst>
      <p:ext uri="{BB962C8B-B14F-4D97-AF65-F5344CB8AC3E}">
        <p14:creationId xmlns:p14="http://schemas.microsoft.com/office/powerpoint/2010/main" val="284477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ATS</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40019783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ATS</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184666"/>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Text….</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507831"/>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Activity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Dependency 1</a:t>
            </a:r>
            <a:endParaRPr lang="en-US" sz="1100" kern="0" dirty="0">
              <a:solidFill>
                <a:srgbClr val="000000"/>
              </a:solidFill>
              <a:latin typeface="Open Sans"/>
            </a:endParaRP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Deliverable</a:t>
            </a:r>
            <a:endParaRPr lang="en-US" sz="1100" kern="0" dirty="0">
              <a:solidFill>
                <a:srgbClr val="000000"/>
              </a:solidFill>
              <a:latin typeface="Open Sans"/>
            </a:endParaRP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507831"/>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Assumption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Tree>
    <p:extLst>
      <p:ext uri="{BB962C8B-B14F-4D97-AF65-F5344CB8AC3E}">
        <p14:creationId xmlns:p14="http://schemas.microsoft.com/office/powerpoint/2010/main" val="76653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243700957"/>
              </p:ext>
            </p:extLst>
          </p:nvPr>
        </p:nvGraphicFramePr>
        <p:xfrm>
          <a:off x="531189" y="1027779"/>
          <a:ext cx="10412399" cy="3554162"/>
        </p:xfrm>
        <a:graphic>
          <a:graphicData uri="http://schemas.openxmlformats.org/drawingml/2006/table">
            <a:tbl>
              <a:tblPr firstRow="1" bandRow="1">
                <a:tableStyleId>{93296810-A885-4BE3-A3E7-6D5BEEA58F35}</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r>
                        <a:rPr lang="en-US" sz="1100" dirty="0"/>
                        <a:t>Start </a:t>
                      </a:r>
                    </a:p>
                  </a:txBody>
                  <a:tcPr/>
                </a:tc>
                <a:tc>
                  <a:txBody>
                    <a:bodyPr/>
                    <a:lstStyle/>
                    <a:p>
                      <a:r>
                        <a:rPr lang="en-US" sz="1100" dirty="0"/>
                        <a:t>End</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7">
                  <a:txBody>
                    <a:bodyPr/>
                    <a:lstStyle/>
                    <a:p>
                      <a:pPr algn="ctr"/>
                      <a:r>
                        <a:rPr lang="en-US" sz="1100"/>
                        <a:t>Discover</a:t>
                      </a:r>
                    </a:p>
                  </a:txBody>
                  <a:tcPr/>
                </a:tc>
                <a:tc>
                  <a:txBody>
                    <a:bodyPr/>
                    <a:lstStyle/>
                    <a:p>
                      <a:endParaRPr lang="en-US" sz="1100" dirty="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endParaRPr lang="en-US" sz="1100" dirty="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endParaRPr lang="en-US" sz="1100" dirty="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ATS Discovery Schedule</a:t>
            </a:r>
          </a:p>
        </p:txBody>
      </p:sp>
      <p:sp>
        <p:nvSpPr>
          <p:cNvPr id="2" name="TextBox 1">
            <a:extLst>
              <a:ext uri="{FF2B5EF4-FFF2-40B4-BE49-F238E27FC236}">
                <a16:creationId xmlns:a16="http://schemas.microsoft.com/office/drawing/2014/main" id="{A0524FAC-12E6-7C21-1CAD-9C70AED8EEEA}"/>
              </a:ext>
            </a:extLst>
          </p:cNvPr>
          <p:cNvSpPr txBox="1"/>
          <p:nvPr/>
        </p:nvSpPr>
        <p:spPr>
          <a:xfrm rot="20089380">
            <a:off x="3299792" y="2626617"/>
            <a:ext cx="5936812" cy="369332"/>
          </a:xfrm>
          <a:prstGeom prst="rect">
            <a:avLst/>
          </a:prstGeom>
          <a:solidFill>
            <a:srgbClr val="FFFF00"/>
          </a:solidFill>
        </p:spPr>
        <p:txBody>
          <a:bodyPr wrap="square" rtlCol="0">
            <a:spAutoFit/>
          </a:bodyPr>
          <a:lstStyle/>
          <a:p>
            <a:r>
              <a:rPr lang="en-US"/>
              <a:t>Need to be updated</a:t>
            </a:r>
          </a:p>
        </p:txBody>
      </p:sp>
    </p:spTree>
    <p:extLst>
      <p:ext uri="{BB962C8B-B14F-4D97-AF65-F5344CB8AC3E}">
        <p14:creationId xmlns:p14="http://schemas.microsoft.com/office/powerpoint/2010/main" val="2286063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7BB212-173A-4CDC-BF56-27743CA9CFC2}"/>
              </a:ext>
            </a:extLst>
          </p:cNvPr>
          <p:cNvSpPr>
            <a:spLocks noGrp="1"/>
          </p:cNvSpPr>
          <p:nvPr>
            <p:ph type="body" sz="quarter" idx="10"/>
          </p:nvPr>
        </p:nvSpPr>
        <p:spPr/>
        <p:txBody>
          <a:bodyPr/>
          <a:lstStyle/>
          <a:p>
            <a:pPr marL="0" indent="0">
              <a:buNone/>
            </a:pPr>
            <a:r>
              <a:rPr lang="en-US"/>
              <a:t>IPOD &amp; QA</a:t>
            </a:r>
          </a:p>
        </p:txBody>
      </p:sp>
      <p:pic>
        <p:nvPicPr>
          <p:cNvPr id="4" name="Picture 3">
            <a:extLst>
              <a:ext uri="{FF2B5EF4-FFF2-40B4-BE49-F238E27FC236}">
                <a16:creationId xmlns:a16="http://schemas.microsoft.com/office/drawing/2014/main" id="{18AE15E7-077D-4ED5-A051-FC1985870C0D}"/>
              </a:ext>
            </a:extLst>
          </p:cNvPr>
          <p:cNvPicPr>
            <a:picLocks noChangeAspect="1"/>
          </p:cNvPicPr>
          <p:nvPr/>
        </p:nvPicPr>
        <p:blipFill rotWithShape="1">
          <a:blip r:embed="rId2"/>
          <a:srcRect r="49527" b="14168"/>
          <a:stretch/>
        </p:blipFill>
        <p:spPr>
          <a:xfrm>
            <a:off x="7801337" y="0"/>
            <a:ext cx="4390663" cy="6858000"/>
          </a:xfrm>
          <a:prstGeom prst="rect">
            <a:avLst/>
          </a:prstGeom>
        </p:spPr>
      </p:pic>
    </p:spTree>
    <p:extLst>
      <p:ext uri="{BB962C8B-B14F-4D97-AF65-F5344CB8AC3E}">
        <p14:creationId xmlns:p14="http://schemas.microsoft.com/office/powerpoint/2010/main" val="35820016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141C4C-FE32-4006-BADA-24CFFA578C2C}"/>
              </a:ext>
            </a:extLst>
          </p:cNvPr>
          <p:cNvSpPr>
            <a:spLocks noGrp="1"/>
          </p:cNvSpPr>
          <p:nvPr>
            <p:ph type="body" sz="quarter" idx="10"/>
          </p:nvPr>
        </p:nvSpPr>
        <p:spPr>
          <a:xfrm>
            <a:off x="126998" y="168634"/>
            <a:ext cx="9966960" cy="424732"/>
          </a:xfrm>
        </p:spPr>
        <p:txBody>
          <a:bodyPr vert="horz" lIns="91440" tIns="45720" rIns="91440" bIns="45720" rtlCol="0" anchor="ctr">
            <a:normAutofit/>
          </a:bodyPr>
          <a:lstStyle/>
          <a:p>
            <a:pPr>
              <a:spcBef>
                <a:spcPts val="0"/>
              </a:spcBef>
            </a:pPr>
            <a:r>
              <a:rPr lang="en-US" sz="3200" kern="1200" dirty="0">
                <a:solidFill>
                  <a:schemeClr val="tx1"/>
                </a:solidFill>
                <a:latin typeface="+mj-lt"/>
                <a:ea typeface="+mj-ea"/>
                <a:cs typeface="+mj-cs"/>
              </a:rPr>
              <a:t>Initial 4 week Discovery Plan – IPOD &amp; QA</a:t>
            </a:r>
          </a:p>
        </p:txBody>
      </p:sp>
      <p:sp>
        <p:nvSpPr>
          <p:cNvPr id="8" name="Rectangle 7">
            <a:extLst>
              <a:ext uri="{FF2B5EF4-FFF2-40B4-BE49-F238E27FC236}">
                <a16:creationId xmlns:a16="http://schemas.microsoft.com/office/drawing/2014/main" id="{8331DF97-CC7B-3074-B987-4736F1027550}"/>
              </a:ext>
            </a:extLst>
          </p:cNvPr>
          <p:cNvSpPr/>
          <p:nvPr/>
        </p:nvSpPr>
        <p:spPr>
          <a:xfrm>
            <a:off x="390332" y="130711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41" name="Tagline">
            <a:extLst>
              <a:ext uri="{FF2B5EF4-FFF2-40B4-BE49-F238E27FC236}">
                <a16:creationId xmlns:a16="http://schemas.microsoft.com/office/drawing/2014/main" id="{4D54039E-4D35-903A-BB96-EA81836D52E4}"/>
              </a:ext>
            </a:extLst>
          </p:cNvPr>
          <p:cNvSpPr txBox="1"/>
          <p:nvPr/>
        </p:nvSpPr>
        <p:spPr>
          <a:xfrm>
            <a:off x="251684" y="655873"/>
            <a:ext cx="11578751" cy="184666"/>
          </a:xfrm>
          <a:prstGeom prst="rect">
            <a:avLst/>
          </a:prstGeom>
          <a:noFill/>
        </p:spPr>
        <p:txBody>
          <a:bodyPr vert="horz" wrap="square" lIns="0" tIns="0" rIns="0" bIns="0" rtlCol="0" anchor="t">
            <a:spAutoFit/>
          </a:bodyPr>
          <a:lstStyle/>
          <a:p>
            <a:pPr>
              <a:defRPr/>
            </a:pPr>
            <a:r>
              <a:rPr kumimoji="0" lang="en-US" sz="1200" b="0" i="0" u="none" strike="noStrike" kern="1200" cap="none" spc="0" normalizeH="0" baseline="0" noProof="0" dirty="0">
                <a:ln>
                  <a:noFill/>
                </a:ln>
                <a:solidFill>
                  <a:srgbClr val="000000"/>
                </a:solidFill>
                <a:effectLst/>
                <a:uLnTx/>
                <a:uFillTx/>
                <a:latin typeface="Futura"/>
                <a:ea typeface="+mn-ea"/>
                <a:cs typeface="Futura" panose="020B0602020204020303"/>
              </a:rPr>
              <a:t>Text….</a:t>
            </a:r>
            <a:endParaRPr kumimoji="0" lang="en-US" sz="1200" b="1" i="0" u="none" strike="noStrike" kern="1200" cap="none" spc="0" normalizeH="0" baseline="0" noProof="0" dirty="0">
              <a:ln>
                <a:noFill/>
              </a:ln>
              <a:solidFill>
                <a:srgbClr val="000000"/>
              </a:solidFill>
              <a:effectLst/>
              <a:uLnTx/>
              <a:uFillTx/>
              <a:latin typeface="Futura" panose="020B0602020204020303"/>
              <a:ea typeface="+mn-ea"/>
              <a:cs typeface="+mn-cs"/>
            </a:endParaRPr>
          </a:p>
        </p:txBody>
      </p:sp>
      <p:sp>
        <p:nvSpPr>
          <p:cNvPr id="30" name="TextBox 29">
            <a:extLst>
              <a:ext uri="{FF2B5EF4-FFF2-40B4-BE49-F238E27FC236}">
                <a16:creationId xmlns:a16="http://schemas.microsoft.com/office/drawing/2014/main" id="{6E7BE10B-B4D7-46E5-AACB-6C6F99B7ED25}"/>
              </a:ext>
            </a:extLst>
          </p:cNvPr>
          <p:cNvSpPr txBox="1"/>
          <p:nvPr/>
        </p:nvSpPr>
        <p:spPr>
          <a:xfrm>
            <a:off x="390331" y="2177403"/>
            <a:ext cx="5032379" cy="507831"/>
          </a:xfrm>
          <a:prstGeom prst="rect">
            <a:avLst/>
          </a:prstGeom>
          <a:noFill/>
          <a:ln>
            <a:noFill/>
          </a:ln>
        </p:spPr>
        <p:txBody>
          <a:bodyPr wrap="square" lIns="91440" tIns="45720" rIns="91440" bIns="45720" anchor="t">
            <a:spAutoFit/>
          </a:bodyPr>
          <a:lstStyle/>
          <a:p>
            <a:pPr marL="171450" lvl="0" indent="-171450">
              <a:spcAft>
                <a:spcPts val="600"/>
              </a:spcAft>
              <a:buFont typeface="Arial" panose="020B0604020202020204" pitchFamily="34" charset="0"/>
              <a:buChar char="•"/>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Activity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Futura"/>
              <a:ea typeface="+mn-ea"/>
              <a:cs typeface="Futura" panose="020B0602020204020303"/>
            </a:endParaRPr>
          </a:p>
        </p:txBody>
      </p:sp>
      <p:sp>
        <p:nvSpPr>
          <p:cNvPr id="6" name="Rectangle 5">
            <a:extLst>
              <a:ext uri="{FF2B5EF4-FFF2-40B4-BE49-F238E27FC236}">
                <a16:creationId xmlns:a16="http://schemas.microsoft.com/office/drawing/2014/main" id="{44F3DE9C-F9D8-A3F6-2A98-5F7BEEA0FFFB}"/>
              </a:ext>
            </a:extLst>
          </p:cNvPr>
          <p:cNvSpPr/>
          <p:nvPr/>
        </p:nvSpPr>
        <p:spPr>
          <a:xfrm>
            <a:off x="390331" y="1270808"/>
            <a:ext cx="5191602" cy="57682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 Discovery Activities</a:t>
            </a:r>
          </a:p>
        </p:txBody>
      </p:sp>
      <p:sp>
        <p:nvSpPr>
          <p:cNvPr id="16" name="Rectangle 15">
            <a:extLst>
              <a:ext uri="{FF2B5EF4-FFF2-40B4-BE49-F238E27FC236}">
                <a16:creationId xmlns:a16="http://schemas.microsoft.com/office/drawing/2014/main" id="{15726005-58BF-C0CF-2EB1-9ED9BC7BAB9A}"/>
              </a:ext>
            </a:extLst>
          </p:cNvPr>
          <p:cNvSpPr/>
          <p:nvPr/>
        </p:nvSpPr>
        <p:spPr>
          <a:xfrm>
            <a:off x="390332" y="4009282"/>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17" name="TextBox 16">
            <a:extLst>
              <a:ext uri="{FF2B5EF4-FFF2-40B4-BE49-F238E27FC236}">
                <a16:creationId xmlns:a16="http://schemas.microsoft.com/office/drawing/2014/main" id="{D77EF13F-BE23-5EF1-E0A4-3F76B708FDBE}"/>
              </a:ext>
            </a:extLst>
          </p:cNvPr>
          <p:cNvSpPr txBox="1"/>
          <p:nvPr/>
        </p:nvSpPr>
        <p:spPr>
          <a:xfrm>
            <a:off x="390331" y="4879575"/>
            <a:ext cx="4991436"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Dependency 1</a:t>
            </a:r>
            <a:endParaRPr lang="en-US" sz="1100" kern="0" dirty="0">
              <a:solidFill>
                <a:srgbClr val="000000"/>
              </a:solidFill>
              <a:latin typeface="Open Sans"/>
            </a:endParaRPr>
          </a:p>
        </p:txBody>
      </p:sp>
      <p:sp>
        <p:nvSpPr>
          <p:cNvPr id="18" name="Rectangle 17">
            <a:extLst>
              <a:ext uri="{FF2B5EF4-FFF2-40B4-BE49-F238E27FC236}">
                <a16:creationId xmlns:a16="http://schemas.microsoft.com/office/drawing/2014/main" id="{D849BD82-EE22-721A-4A76-12A49805249F}"/>
              </a:ext>
            </a:extLst>
          </p:cNvPr>
          <p:cNvSpPr/>
          <p:nvPr/>
        </p:nvSpPr>
        <p:spPr>
          <a:xfrm>
            <a:off x="390332" y="4009282"/>
            <a:ext cx="5191602" cy="576826"/>
          </a:xfrm>
          <a:prstGeom prst="rect">
            <a:avLst/>
          </a:prstGeom>
          <a:solidFill>
            <a:schemeClr val="accent6">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Dependencies</a:t>
            </a:r>
          </a:p>
        </p:txBody>
      </p:sp>
      <p:sp>
        <p:nvSpPr>
          <p:cNvPr id="21" name="Rectangle 20">
            <a:extLst>
              <a:ext uri="{FF2B5EF4-FFF2-40B4-BE49-F238E27FC236}">
                <a16:creationId xmlns:a16="http://schemas.microsoft.com/office/drawing/2014/main" id="{4756F0A7-4E9C-8972-B65D-5B265A8AC486}"/>
              </a:ext>
            </a:extLst>
          </p:cNvPr>
          <p:cNvSpPr/>
          <p:nvPr/>
        </p:nvSpPr>
        <p:spPr>
          <a:xfrm>
            <a:off x="6277067" y="1315198"/>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2" name="TextBox 21">
            <a:extLst>
              <a:ext uri="{FF2B5EF4-FFF2-40B4-BE49-F238E27FC236}">
                <a16:creationId xmlns:a16="http://schemas.microsoft.com/office/drawing/2014/main" id="{BD29AC27-D375-35A8-483C-8AB2C71F0A76}"/>
              </a:ext>
            </a:extLst>
          </p:cNvPr>
          <p:cNvSpPr txBox="1"/>
          <p:nvPr/>
        </p:nvSpPr>
        <p:spPr>
          <a:xfrm>
            <a:off x="6277066" y="2185491"/>
            <a:ext cx="5032379" cy="261610"/>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rgbClr val="000000"/>
                </a:solidFill>
                <a:effectLst/>
                <a:uLnTx/>
                <a:uFillTx/>
                <a:latin typeface="Open Sans"/>
                <a:ea typeface="+mn-ea"/>
                <a:cs typeface="+mn-cs"/>
              </a:rPr>
              <a:t>Deliverable</a:t>
            </a:r>
            <a:endParaRPr lang="en-US" sz="1100" kern="0" dirty="0">
              <a:solidFill>
                <a:srgbClr val="000000"/>
              </a:solidFill>
              <a:latin typeface="Open Sans"/>
            </a:endParaRPr>
          </a:p>
        </p:txBody>
      </p:sp>
      <p:sp>
        <p:nvSpPr>
          <p:cNvPr id="23" name="Rectangle 22">
            <a:extLst>
              <a:ext uri="{FF2B5EF4-FFF2-40B4-BE49-F238E27FC236}">
                <a16:creationId xmlns:a16="http://schemas.microsoft.com/office/drawing/2014/main" id="{1510808A-1294-E5BC-B402-5FF362522744}"/>
              </a:ext>
            </a:extLst>
          </p:cNvPr>
          <p:cNvSpPr/>
          <p:nvPr/>
        </p:nvSpPr>
        <p:spPr>
          <a:xfrm>
            <a:off x="6277066" y="1277554"/>
            <a:ext cx="5191602" cy="57682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Deliverables</a:t>
            </a:r>
          </a:p>
        </p:txBody>
      </p:sp>
      <p:sp>
        <p:nvSpPr>
          <p:cNvPr id="24" name="Rectangle 23">
            <a:extLst>
              <a:ext uri="{FF2B5EF4-FFF2-40B4-BE49-F238E27FC236}">
                <a16:creationId xmlns:a16="http://schemas.microsoft.com/office/drawing/2014/main" id="{7AB70C1C-FE58-A127-26A7-105A1B2639E0}"/>
              </a:ext>
            </a:extLst>
          </p:cNvPr>
          <p:cNvSpPr/>
          <p:nvPr/>
        </p:nvSpPr>
        <p:spPr>
          <a:xfrm>
            <a:off x="6277067" y="4017370"/>
            <a:ext cx="5191602" cy="26021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tura"/>
              <a:ea typeface="+mn-ea"/>
              <a:cs typeface="+mn-cs"/>
            </a:endParaRPr>
          </a:p>
        </p:txBody>
      </p:sp>
      <p:sp>
        <p:nvSpPr>
          <p:cNvPr id="25" name="TextBox 24">
            <a:extLst>
              <a:ext uri="{FF2B5EF4-FFF2-40B4-BE49-F238E27FC236}">
                <a16:creationId xmlns:a16="http://schemas.microsoft.com/office/drawing/2014/main" id="{98DB011C-F65F-1494-93F4-4128A8F3B971}"/>
              </a:ext>
            </a:extLst>
          </p:cNvPr>
          <p:cNvSpPr txBox="1"/>
          <p:nvPr/>
        </p:nvSpPr>
        <p:spPr>
          <a:xfrm>
            <a:off x="6277066" y="4887663"/>
            <a:ext cx="4991436" cy="507831"/>
          </a:xfrm>
          <a:prstGeom prst="rect">
            <a:avLst/>
          </a:prstGeom>
          <a:noFill/>
          <a:ln>
            <a:noFill/>
          </a:ln>
        </p:spPr>
        <p:txBody>
          <a:bodyPr wrap="square" lIns="91440" tIns="45720" rIns="91440" bIns="45720" anchor="t">
            <a:sp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100" kern="0" dirty="0">
                <a:solidFill>
                  <a:srgbClr val="000000"/>
                </a:solidFill>
                <a:latin typeface="Open Sans"/>
              </a:rPr>
              <a:t>Assumption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100" kern="0" dirty="0">
              <a:solidFill>
                <a:srgbClr val="000000"/>
              </a:solidFill>
              <a:latin typeface="Open Sans"/>
            </a:endParaRPr>
          </a:p>
        </p:txBody>
      </p:sp>
      <p:sp>
        <p:nvSpPr>
          <p:cNvPr id="26" name="Rectangle 25">
            <a:extLst>
              <a:ext uri="{FF2B5EF4-FFF2-40B4-BE49-F238E27FC236}">
                <a16:creationId xmlns:a16="http://schemas.microsoft.com/office/drawing/2014/main" id="{24B83414-F830-EC34-10AC-A95DCE5D30C1}"/>
              </a:ext>
            </a:extLst>
          </p:cNvPr>
          <p:cNvSpPr/>
          <p:nvPr/>
        </p:nvSpPr>
        <p:spPr>
          <a:xfrm>
            <a:off x="6277066" y="4009282"/>
            <a:ext cx="5191602" cy="57682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Assumptions</a:t>
            </a:r>
          </a:p>
        </p:txBody>
      </p:sp>
    </p:spTree>
    <p:extLst>
      <p:ext uri="{BB962C8B-B14F-4D97-AF65-F5344CB8AC3E}">
        <p14:creationId xmlns:p14="http://schemas.microsoft.com/office/powerpoint/2010/main" val="84300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112945945"/>
              </p:ext>
            </p:extLst>
          </p:nvPr>
        </p:nvGraphicFramePr>
        <p:xfrm>
          <a:off x="531189" y="1027779"/>
          <a:ext cx="10412399" cy="3554162"/>
        </p:xfrm>
        <a:graphic>
          <a:graphicData uri="http://schemas.openxmlformats.org/drawingml/2006/table">
            <a:tbl>
              <a:tblPr firstRow="1" bandRow="1">
                <a:tableStyleId>{93296810-A885-4BE3-A3E7-6D5BEEA58F35}</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dirty="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Activities </a:t>
                      </a:r>
                    </a:p>
                    <a:p>
                      <a:endParaRPr lang="en-US" sz="1100" dirty="0"/>
                    </a:p>
                  </a:txBody>
                  <a:tcPr/>
                </a:tc>
                <a:tc>
                  <a:txBody>
                    <a:bodyPr/>
                    <a:lstStyle/>
                    <a:p>
                      <a:r>
                        <a:rPr lang="en-US" sz="1100" dirty="0"/>
                        <a:t>Owner</a:t>
                      </a:r>
                    </a:p>
                  </a:txBody>
                  <a:tcPr/>
                </a:tc>
                <a:tc>
                  <a:txBody>
                    <a:bodyPr/>
                    <a:lstStyle/>
                    <a:p>
                      <a:r>
                        <a:rPr lang="en-US" sz="1100" dirty="0"/>
                        <a:t>Start </a:t>
                      </a:r>
                    </a:p>
                  </a:txBody>
                  <a:tcPr/>
                </a:tc>
                <a:tc>
                  <a:txBody>
                    <a:bodyPr/>
                    <a:lstStyle/>
                    <a:p>
                      <a:r>
                        <a:rPr lang="en-US" sz="1100" dirty="0"/>
                        <a:t>End</a:t>
                      </a:r>
                    </a:p>
                  </a:txBody>
                  <a:tcPr/>
                </a:tc>
                <a:tc>
                  <a:txBody>
                    <a:bodyPr/>
                    <a:lstStyle/>
                    <a:p>
                      <a:r>
                        <a:rPr lang="en-US" sz="1100" dirty="0"/>
                        <a:t>Expected Outcome/</a:t>
                      </a:r>
                    </a:p>
                    <a:p>
                      <a:r>
                        <a:rPr lang="en-US" sz="1100" dirty="0"/>
                        <a:t>Deliverables</a:t>
                      </a:r>
                    </a:p>
                  </a:txBody>
                  <a:tcPr/>
                </a:tc>
                <a:extLst>
                  <a:ext uri="{0D108BD9-81ED-4DB2-BD59-A6C34878D82A}">
                    <a16:rowId xmlns:a16="http://schemas.microsoft.com/office/drawing/2014/main" val="1764356976"/>
                  </a:ext>
                </a:extLst>
              </a:tr>
              <a:tr h="375476">
                <a:tc rowSpan="7">
                  <a:txBody>
                    <a:bodyPr/>
                    <a:lstStyle/>
                    <a:p>
                      <a:pPr algn="ctr"/>
                      <a:r>
                        <a:rPr lang="en-US" sz="1100"/>
                        <a:t>Discover</a:t>
                      </a:r>
                    </a:p>
                  </a:txBody>
                  <a:tcPr/>
                </a:tc>
                <a:tc>
                  <a:txBody>
                    <a:bodyPr/>
                    <a:lstStyle/>
                    <a:p>
                      <a:endParaRPr lang="en-US" sz="1100" dirty="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3030336129"/>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187872957"/>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192904392"/>
                  </a:ext>
                </a:extLst>
              </a:tr>
              <a:tr h="375476">
                <a:tc vMerge="1">
                  <a:txBody>
                    <a:bodyPr/>
                    <a:lstStyle/>
                    <a:p>
                      <a:endParaRPr lang="en-US" sz="1100"/>
                    </a:p>
                  </a:txBody>
                  <a:tcPr/>
                </a:tc>
                <a:tc>
                  <a:txBody>
                    <a:bodyPr/>
                    <a:lstStyle/>
                    <a:p>
                      <a:endParaRPr lang="en-US" sz="1100"/>
                    </a:p>
                  </a:txBody>
                  <a:tcPr/>
                </a:tc>
                <a:tc>
                  <a:txBody>
                    <a:bodyPr/>
                    <a:lstStyle/>
                    <a:p>
                      <a:endParaRPr lang="en-US" sz="1100" dirty="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2415364628"/>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extLst>
                  <a:ext uri="{0D108BD9-81ED-4DB2-BD59-A6C34878D82A}">
                    <a16:rowId xmlns:a16="http://schemas.microsoft.com/office/drawing/2014/main" val="676785884"/>
                  </a:ext>
                </a:extLst>
              </a:tr>
              <a:tr h="375476">
                <a:tc vMerge="1">
                  <a:txBody>
                    <a:bodyPr/>
                    <a:lstStyle/>
                    <a:p>
                      <a:endParaRPr lang="en-US"/>
                    </a:p>
                  </a:txBody>
                  <a:tcPr/>
                </a:tc>
                <a:tc>
                  <a:txBody>
                    <a:bodyPr/>
                    <a:lstStyle/>
                    <a:p>
                      <a:endParaRPr lang="en-US" sz="1100"/>
                    </a:p>
                  </a:txBody>
                  <a:tcPr/>
                </a:tc>
                <a:tc>
                  <a:txBody>
                    <a:bodyPr/>
                    <a:lstStyle/>
                    <a:p>
                      <a:endParaRPr lang="en-US" sz="110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459934666"/>
                  </a:ext>
                </a:extLst>
              </a:tr>
              <a:tr h="375476">
                <a:tc vMerge="1">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dirty="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97221515"/>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IPDO &amp; QA Discovery Schedule</a:t>
            </a:r>
          </a:p>
        </p:txBody>
      </p:sp>
      <p:sp>
        <p:nvSpPr>
          <p:cNvPr id="2" name="TextBox 1">
            <a:extLst>
              <a:ext uri="{FF2B5EF4-FFF2-40B4-BE49-F238E27FC236}">
                <a16:creationId xmlns:a16="http://schemas.microsoft.com/office/drawing/2014/main" id="{A0524FAC-12E6-7C21-1CAD-9C70AED8EEEA}"/>
              </a:ext>
            </a:extLst>
          </p:cNvPr>
          <p:cNvSpPr txBox="1"/>
          <p:nvPr/>
        </p:nvSpPr>
        <p:spPr>
          <a:xfrm rot="20089380">
            <a:off x="3299792" y="2626617"/>
            <a:ext cx="5936812" cy="369332"/>
          </a:xfrm>
          <a:prstGeom prst="rect">
            <a:avLst/>
          </a:prstGeom>
          <a:solidFill>
            <a:srgbClr val="FFFF00"/>
          </a:solidFill>
        </p:spPr>
        <p:txBody>
          <a:bodyPr wrap="square" rtlCol="0">
            <a:spAutoFit/>
          </a:bodyPr>
          <a:lstStyle/>
          <a:p>
            <a:r>
              <a:rPr lang="en-US"/>
              <a:t>Need to be updated</a:t>
            </a:r>
          </a:p>
        </p:txBody>
      </p:sp>
    </p:spTree>
    <p:extLst>
      <p:ext uri="{BB962C8B-B14F-4D97-AF65-F5344CB8AC3E}">
        <p14:creationId xmlns:p14="http://schemas.microsoft.com/office/powerpoint/2010/main" val="871548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668B02F-D955-4327-BB70-292A933891BB}"/>
              </a:ext>
            </a:extLst>
          </p:cNvPr>
          <p:cNvGrpSpPr>
            <a:grpSpLocks noChangeAspect="1"/>
          </p:cNvGrpSpPr>
          <p:nvPr/>
        </p:nvGrpSpPr>
        <p:grpSpPr>
          <a:xfrm>
            <a:off x="460540" y="344136"/>
            <a:ext cx="1819105" cy="345827"/>
            <a:chOff x="398463" y="404813"/>
            <a:chExt cx="1627187" cy="307976"/>
          </a:xfrm>
          <a:solidFill>
            <a:schemeClr val="tx1"/>
          </a:solidFill>
        </p:grpSpPr>
        <p:sp>
          <p:nvSpPr>
            <p:cNvPr id="7" name="Oval 5">
              <a:extLst>
                <a:ext uri="{FF2B5EF4-FFF2-40B4-BE49-F238E27FC236}">
                  <a16:creationId xmlns:a16="http://schemas.microsoft.com/office/drawing/2014/main" id="{ADE8AD84-E47E-4692-BD7D-A9A1DEA71BD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8" name="Freeform 6">
              <a:extLst>
                <a:ext uri="{FF2B5EF4-FFF2-40B4-BE49-F238E27FC236}">
                  <a16:creationId xmlns:a16="http://schemas.microsoft.com/office/drawing/2014/main" id="{22D54762-235C-4B49-A851-DAD6211397D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9" name="Rectangle 7">
              <a:extLst>
                <a:ext uri="{FF2B5EF4-FFF2-40B4-BE49-F238E27FC236}">
                  <a16:creationId xmlns:a16="http://schemas.microsoft.com/office/drawing/2014/main" id="{059D4F8B-708E-4C3B-A1AC-068B6CFB96C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0" name="Freeform 8">
              <a:extLst>
                <a:ext uri="{FF2B5EF4-FFF2-40B4-BE49-F238E27FC236}">
                  <a16:creationId xmlns:a16="http://schemas.microsoft.com/office/drawing/2014/main" id="{6F4693DD-22D5-4B0A-88CC-F3121B2A8EE6}"/>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1" name="Rectangle 9">
              <a:extLst>
                <a:ext uri="{FF2B5EF4-FFF2-40B4-BE49-F238E27FC236}">
                  <a16:creationId xmlns:a16="http://schemas.microsoft.com/office/drawing/2014/main" id="{DABE5AEE-A35F-49F0-96AC-E21C24E384C0}"/>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2" name="Rectangle 10">
              <a:extLst>
                <a:ext uri="{FF2B5EF4-FFF2-40B4-BE49-F238E27FC236}">
                  <a16:creationId xmlns:a16="http://schemas.microsoft.com/office/drawing/2014/main" id="{1E54FABE-E068-4439-97F8-344F7A71618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3" name="Freeform 11">
              <a:extLst>
                <a:ext uri="{FF2B5EF4-FFF2-40B4-BE49-F238E27FC236}">
                  <a16:creationId xmlns:a16="http://schemas.microsoft.com/office/drawing/2014/main" id="{44CFAE17-9420-41A4-91AD-37DAD079FAA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4" name="Freeform 12">
              <a:extLst>
                <a:ext uri="{FF2B5EF4-FFF2-40B4-BE49-F238E27FC236}">
                  <a16:creationId xmlns:a16="http://schemas.microsoft.com/office/drawing/2014/main" id="{8A37E189-C878-4165-87B7-FE77E81CE66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5" name="Freeform 13">
              <a:extLst>
                <a:ext uri="{FF2B5EF4-FFF2-40B4-BE49-F238E27FC236}">
                  <a16:creationId xmlns:a16="http://schemas.microsoft.com/office/drawing/2014/main" id="{50ADAAD8-DE65-418B-95BC-EFD70B57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16" name="Freeform 14">
              <a:extLst>
                <a:ext uri="{FF2B5EF4-FFF2-40B4-BE49-F238E27FC236}">
                  <a16:creationId xmlns:a16="http://schemas.microsoft.com/office/drawing/2014/main" id="{80AA8F98-634C-4019-844E-9DBC92AC1DBD}"/>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pic>
        <p:nvPicPr>
          <p:cNvPr id="23" name="Picture 22">
            <a:extLst>
              <a:ext uri="{FF2B5EF4-FFF2-40B4-BE49-F238E27FC236}">
                <a16:creationId xmlns:a16="http://schemas.microsoft.com/office/drawing/2014/main" id="{6C3BC7DC-E0B1-429B-9350-DCCF9F7C20C1}"/>
              </a:ext>
            </a:extLst>
          </p:cNvPr>
          <p:cNvPicPr>
            <a:picLocks noChangeAspect="1"/>
          </p:cNvPicPr>
          <p:nvPr/>
        </p:nvPicPr>
        <p:blipFill>
          <a:blip r:embed="rId2"/>
          <a:srcRect/>
          <a:stretch/>
        </p:blipFill>
        <p:spPr>
          <a:xfrm>
            <a:off x="5444958" y="685800"/>
            <a:ext cx="6686884" cy="6141840"/>
          </a:xfrm>
          <a:prstGeom prst="rect">
            <a:avLst/>
          </a:prstGeom>
        </p:spPr>
      </p:pic>
      <p:sp>
        <p:nvSpPr>
          <p:cNvPr id="24" name="Subtitle 2">
            <a:extLst>
              <a:ext uri="{FF2B5EF4-FFF2-40B4-BE49-F238E27FC236}">
                <a16:creationId xmlns:a16="http://schemas.microsoft.com/office/drawing/2014/main" id="{62EB86E1-78BC-4F94-B9BD-4BF41581FB6F}"/>
              </a:ext>
            </a:extLst>
          </p:cNvPr>
          <p:cNvSpPr txBox="1">
            <a:spLocks/>
          </p:cNvSpPr>
          <p:nvPr/>
        </p:nvSpPr>
        <p:spPr bwMode="gray">
          <a:xfrm>
            <a:off x="457200" y="2230805"/>
            <a:ext cx="4128655" cy="2313486"/>
          </a:xfrm>
          <a:prstGeom prst="rect">
            <a:avLst/>
          </a:prstGeom>
        </p:spPr>
        <p:txBody>
          <a:bodyPr lIns="0" tIns="0" rIns="0" bIns="0" anchor="t" anchorCtr="0">
            <a:noAutofit/>
          </a:bodyPr>
          <a:lstStyle>
            <a:lvl1pPr marL="0" indent="0" algn="l" defTabSz="914400" rtl="0" eaLnBrk="1" latinLnBrk="0" hangingPunct="1">
              <a:lnSpc>
                <a:spcPct val="110000"/>
              </a:lnSpc>
              <a:spcBef>
                <a:spcPts val="0"/>
              </a:spcBef>
              <a:spcAft>
                <a:spcPts val="0"/>
              </a:spcAft>
              <a:buSzPct val="100000"/>
              <a:buFont typeface="Arial" panose="020B0604020202020204" pitchFamily="34" charset="0"/>
              <a:buNone/>
              <a:defRPr lang="en-US" sz="4800" b="1" kern="1200" noProof="0" dirty="0">
                <a:ln w="25400">
                  <a:solidFill>
                    <a:schemeClr val="bg1"/>
                  </a:solidFill>
                </a:ln>
                <a:no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0" indent="0" algn="l" defTabSz="914400" rtl="0" eaLnBrk="1" latinLnBrk="0" hangingPunct="1">
              <a:lnSpc>
                <a:spcPts val="3600"/>
              </a:lnSpc>
              <a:spcBef>
                <a:spcPts val="0"/>
              </a:spcBef>
              <a:spcAft>
                <a:spcPts val="0"/>
              </a:spcAft>
              <a:buClrTx/>
              <a:buSzPct val="100000"/>
              <a:buFont typeface="Arial"/>
              <a:buNone/>
              <a:defRPr lang="en-US" sz="3600" b="1" i="0" kern="1200" spc="-120" baseline="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2pPr>
            <a:lvl3pPr marL="1219170" indent="0" algn="ctr" defTabSz="914400" rtl="0" eaLnBrk="1" latinLnBrk="0" hangingPunct="1">
              <a:spcBef>
                <a:spcPts val="0"/>
              </a:spcBef>
              <a:spcAft>
                <a:spcPts val="1000"/>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914400" rtl="0" eaLnBrk="1" latinLnBrk="0" hangingPunct="1">
              <a:spcBef>
                <a:spcPts val="0"/>
              </a:spcBef>
              <a:spcAft>
                <a:spcPts val="1000"/>
              </a:spcAft>
              <a:buClrTx/>
              <a:buSzPct val="100000"/>
              <a:buFont typeface="Verdana" panose="020B0604030504040204" pitchFamily="34" charset="0"/>
              <a:buNone/>
              <a:defRPr lang="en-US" sz="2133" kern="1200" baseline="0">
                <a:solidFill>
                  <a:schemeClr val="tx1"/>
                </a:solidFill>
                <a:latin typeface="+mn-lt"/>
                <a:ea typeface="+mn-ea"/>
                <a:cs typeface="+mn-cs"/>
              </a:defRPr>
            </a:lvl4pPr>
            <a:lvl5pPr marL="2438339" indent="0" algn="ctr" defTabSz="798513" rtl="0" eaLnBrk="1" latinLnBrk="0" hangingPunct="1">
              <a:spcBef>
                <a:spcPts val="0"/>
              </a:spcBef>
              <a:spcAft>
                <a:spcPts val="1000"/>
              </a:spcAft>
              <a:buClrTx/>
              <a:buSzPct val="100000"/>
              <a:buFont typeface="Verdana" panose="020B0604030504040204" pitchFamily="34" charset="0"/>
              <a:buNone/>
              <a:tabLst/>
              <a:defRPr lang="en-US" sz="2133" kern="1200" baseline="0">
                <a:solidFill>
                  <a:schemeClr val="tx1"/>
                </a:solidFill>
                <a:latin typeface="+mn-lt"/>
                <a:ea typeface="+mn-ea"/>
                <a:cs typeface="+mn-cs"/>
              </a:defRPr>
            </a:lvl5pPr>
            <a:lvl6pPr marL="3047924"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914400" rtl="0" eaLnBrk="1" latinLnBrk="0" hangingPunct="1">
              <a:spcBef>
                <a:spcPts val="0"/>
              </a:spcBef>
              <a:spcAft>
                <a:spcPts val="1000"/>
              </a:spcAft>
              <a:buFont typeface="Verdana" panose="020B0604030504040204" pitchFamily="34" charset="0"/>
              <a:buNone/>
              <a:defRPr sz="2133" kern="1200">
                <a:solidFill>
                  <a:schemeClr val="tx1"/>
                </a:solidFill>
                <a:latin typeface="+mn-lt"/>
                <a:ea typeface="+mn-ea"/>
                <a:cs typeface="+mn-cs"/>
              </a:defRPr>
            </a:lvl7pPr>
            <a:lvl8pPr marL="4267093"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914400" rtl="0" eaLnBrk="1" latinLnBrk="0" hangingPunct="1">
              <a:spcBef>
                <a:spcPts val="0"/>
              </a:spcBef>
              <a:spcAft>
                <a:spcPts val="1000"/>
              </a:spcAft>
              <a:buFont typeface="Verdana" panose="020B0604030504040204" pitchFamily="34" charset="0"/>
              <a:buNone/>
              <a:defRPr sz="2133" kern="1200" baseline="0">
                <a:solidFill>
                  <a:schemeClr val="tx1"/>
                </a:solidFill>
                <a:latin typeface="+mn-lt"/>
                <a:ea typeface="+mn-ea"/>
                <a:cs typeface="+mn-cs"/>
              </a:defRPr>
            </a:lvl9pPr>
          </a:lstStyle>
          <a:p>
            <a:pPr>
              <a:lnSpc>
                <a:spcPts val="9000"/>
              </a:lnSpc>
            </a:pPr>
            <a:r>
              <a:rPr lang="en-US" sz="9000">
                <a:ln w="25400">
                  <a:noFill/>
                </a:ln>
                <a:gradFill flip="none" rotWithShape="1">
                  <a:gsLst>
                    <a:gs pos="100000">
                      <a:srgbClr val="FFCD00"/>
                    </a:gs>
                    <a:gs pos="0">
                      <a:srgbClr val="046A38"/>
                    </a:gs>
                  </a:gsLst>
                  <a:lin ang="2700000" scaled="1"/>
                  <a:tileRect/>
                </a:gradFill>
                <a:latin typeface="Open Sans Extrabold" panose="020B0906030804020204" pitchFamily="34" charset="0"/>
                <a:ea typeface="Open Sans Extrabold" panose="020B0906030804020204" pitchFamily="34" charset="0"/>
                <a:cs typeface="Open Sans Extrabold" panose="020B0906030804020204" pitchFamily="34" charset="0"/>
              </a:rPr>
              <a:t>Thank you</a:t>
            </a:r>
          </a:p>
        </p:txBody>
      </p:sp>
      <p:sp>
        <p:nvSpPr>
          <p:cNvPr id="25" name="USOC_Text2">
            <a:extLst>
              <a:ext uri="{FF2B5EF4-FFF2-40B4-BE49-F238E27FC236}">
                <a16:creationId xmlns:a16="http://schemas.microsoft.com/office/drawing/2014/main" id="{B136E1DB-D5E0-4C06-85C5-49A07F974E09}"/>
              </a:ext>
            </a:extLst>
          </p:cNvPr>
          <p:cNvSpPr txBox="1">
            <a:spLocks/>
          </p:cNvSpPr>
          <p:nvPr/>
        </p:nvSpPr>
        <p:spPr bwMode="gray">
          <a:xfrm>
            <a:off x="460542" y="4872841"/>
            <a:ext cx="5289094" cy="1586501"/>
          </a:xfrm>
          <a:prstGeom prst="rect">
            <a:avLst/>
          </a:prstGeom>
        </p:spPr>
        <p:txBody>
          <a:bodyPr lIns="0" rIns="0" anchor="t" anchorCtr="0"/>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ts val="900"/>
              </a:lnSpc>
              <a:spcAft>
                <a:spcPts val="400"/>
              </a:spcAft>
              <a:defRPr/>
            </a:pPr>
            <a:r>
              <a:rPr lang="en-US" sz="800" b="1">
                <a:solidFill>
                  <a:schemeClr val="tx1"/>
                </a:solidFill>
                <a:ea typeface="Open Sans" panose="020B0606030504020204" pitchFamily="34" charset="0"/>
                <a:cs typeface="Open Sans" panose="020B0606030504020204" pitchFamily="34" charset="0"/>
              </a:rPr>
              <a:t>ABOUT DELOITTE</a:t>
            </a:r>
            <a:endParaRPr lang="en-US" sz="800">
              <a:solidFill>
                <a:schemeClr val="tx1"/>
              </a:solidFill>
              <a:ea typeface="Open Sans" panose="020B0606030504020204" pitchFamily="34" charset="0"/>
              <a:cs typeface="Open Sans" panose="020B0606030504020204" pitchFamily="34" charset="0"/>
            </a:endParaRPr>
          </a:p>
          <a:p>
            <a:pPr fontAlgn="auto">
              <a:lnSpc>
                <a:spcPct val="110000"/>
              </a:lnSpc>
              <a:spcBef>
                <a:spcPts val="0"/>
              </a:spcBef>
              <a:spcAft>
                <a:spcPts val="400"/>
              </a:spcAft>
              <a:defRPr/>
            </a:pPr>
            <a:r>
              <a:rPr lang="en-US" sz="800">
                <a:solidFill>
                  <a:schemeClr val="tx1"/>
                </a:solidFill>
                <a:ea typeface="Open Sans" panose="020B0606030504020204" pitchFamily="34" charset="0"/>
                <a:cs typeface="Open Sans" panose="020B0606030504020204" pitchFamily="34" charset="0"/>
              </a:rPr>
              <a:t>Deloitte refers to one or more of Deloitte </a:t>
            </a:r>
            <a:r>
              <a:rPr lang="en-US" sz="800" err="1">
                <a:solidFill>
                  <a:schemeClr val="tx1"/>
                </a:solidFill>
                <a:ea typeface="Open Sans" panose="020B0606030504020204" pitchFamily="34" charset="0"/>
                <a:cs typeface="Open Sans" panose="020B0606030504020204" pitchFamily="34" charset="0"/>
              </a:rPr>
              <a:t>Touche</a:t>
            </a:r>
            <a:r>
              <a:rPr lang="en-US" sz="800">
                <a:solidFill>
                  <a:schemeClr val="tx1"/>
                </a:solidFill>
                <a:ea typeface="Open Sans" panose="020B0606030504020204" pitchFamily="34" charset="0"/>
                <a:cs typeface="Open Sans" panose="020B0606030504020204" pitchFamily="34" charset="0"/>
              </a:rPr>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a:t>
            </a:r>
            <a:r>
              <a:rPr lang="en-US" sz="800">
                <a:solidFill>
                  <a:schemeClr val="tx1"/>
                </a:solidFill>
                <a:ea typeface="Open Sans" panose="020B060603050402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www.deloitte.com/about</a:t>
            </a:r>
            <a:r>
              <a:rPr lang="en-US" sz="800">
                <a:solidFill>
                  <a:schemeClr val="tx1"/>
                </a:solidFill>
                <a:ea typeface="Open Sans" panose="020B0606030504020204" pitchFamily="34" charset="0"/>
                <a:cs typeface="Open Sans" panose="020B0606030504020204" pitchFamily="34" charset="0"/>
              </a:rPr>
              <a:t> to learn more about our global network of member firms.</a:t>
            </a:r>
            <a:br>
              <a:rPr lang="en-US" sz="800">
                <a:solidFill>
                  <a:schemeClr val="tx1"/>
                </a:solidFill>
                <a:ea typeface="Open Sans" panose="020B0606030504020204" pitchFamily="34" charset="0"/>
                <a:cs typeface="Open Sans" panose="020B0606030504020204" pitchFamily="34" charset="0"/>
              </a:rPr>
            </a:b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Copyright © 2023 Deloitte Development LLC. </a:t>
            </a:r>
            <a:br>
              <a:rPr lang="en-US" sz="800">
                <a:solidFill>
                  <a:schemeClr val="tx1"/>
                </a:solidFill>
                <a:ea typeface="Open Sans" panose="020B0606030504020204" pitchFamily="34" charset="0"/>
                <a:cs typeface="Open Sans" panose="020B0606030504020204" pitchFamily="34" charset="0"/>
              </a:rPr>
            </a:br>
            <a:r>
              <a:rPr lang="en-US" sz="800">
                <a:solidFill>
                  <a:schemeClr val="tx1"/>
                </a:solidFill>
                <a:ea typeface="Open Sans" panose="020B0606030504020204" pitchFamily="34" charset="0"/>
                <a:cs typeface="Open Sans" panose="020B0606030504020204" pitchFamily="34" charset="0"/>
              </a:rPr>
              <a:t>All rights reserved.</a:t>
            </a:r>
          </a:p>
        </p:txBody>
      </p:sp>
    </p:spTree>
    <p:extLst>
      <p:ext uri="{BB962C8B-B14F-4D97-AF65-F5344CB8AC3E}">
        <p14:creationId xmlns:p14="http://schemas.microsoft.com/office/powerpoint/2010/main" val="358931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126207"/>
            <a:ext cx="10515600" cy="1325563"/>
          </a:xfrm>
        </p:spPr>
        <p:txBody>
          <a:bodyPr>
            <a:normAutofit/>
          </a:bodyPr>
          <a:lstStyle/>
          <a:p>
            <a:r>
              <a:rPr lang="en-US" sz="3200"/>
              <a:t>Timelines, Activities &amp; Deliverables –Integration POD to support Oracle Retail MVP</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1012785" y="5618511"/>
            <a:ext cx="10769674" cy="0"/>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134284" y="3338175"/>
            <a:ext cx="2368296"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Capture technical requirements &amp; data mapping with current and Retail applications stakeholders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Write lean design specifications</a:t>
            </a:r>
          </a:p>
          <a:p>
            <a:pPr marL="171450" indent="-171450">
              <a:spcAft>
                <a:spcPts val="600"/>
              </a:spcAft>
              <a:buFont typeface="Arial" panose="020B0604020202020204" pitchFamily="34" charset="0"/>
              <a:buChar char="•"/>
              <a:defRPr/>
            </a:pPr>
            <a:r>
              <a:rPr lang="en-US" sz="1000" kern="0">
                <a:solidFill>
                  <a:srgbClr val="000000"/>
                </a:solidFill>
                <a:latin typeface="Open Sans"/>
              </a:rPr>
              <a:t>Perform Initial POC’s for connectivity testing </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E</a:t>
            </a:r>
            <a:r>
              <a:rPr lang="en-US" sz="1000" kern="0">
                <a:solidFill>
                  <a:srgbClr val="000000"/>
                </a:solidFill>
                <a:latin typeface="Open Sans"/>
              </a:rPr>
              <a:t>stablish CICD pipeline for Code promotions</a:t>
            </a:r>
          </a:p>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Validate </a:t>
            </a:r>
            <a:r>
              <a:rPr lang="en-US" sz="1000" kern="0">
                <a:solidFill>
                  <a:srgbClr val="000000"/>
                </a:solidFill>
                <a:latin typeface="Open Sans"/>
              </a:rPr>
              <a:t>integrations in RICE list</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indent="-171450">
              <a:spcAft>
                <a:spcPts val="600"/>
              </a:spcAft>
              <a:buFont typeface="Arial" panose="020B0604020202020204" pitchFamily="34" charset="0"/>
              <a:buChar char="•"/>
              <a:defRPr/>
            </a:pPr>
            <a:r>
              <a:rPr lang="en-US" sz="1000">
                <a:solidFill>
                  <a:srgbClr val="313131"/>
                </a:solidFill>
                <a:latin typeface="Open Sans" panose="020B0606030504020204" pitchFamily="34" charset="0"/>
                <a:ea typeface="Open Sans" panose="020B0606030504020204" pitchFamily="34" charset="0"/>
                <a:cs typeface="Open Sans" panose="020B0606030504020204" pitchFamily="34" charset="0"/>
              </a:rPr>
              <a:t>Design &amp; curate initial canonical models for Retail MVP</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25414" y="3366455"/>
            <a:ext cx="1088136" cy="2216067"/>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indent="-171450">
              <a:spcAft>
                <a:spcPts val="600"/>
              </a:spcAft>
              <a:buFont typeface="Arial" panose="020B0604020202020204" pitchFamily="34" charset="0"/>
              <a:buChar char="•"/>
              <a:defRPr/>
            </a:pPr>
            <a:r>
              <a:rPr lang="en-US" sz="1000" kern="0">
                <a:solidFill>
                  <a:srgbClr val="000000"/>
                </a:solidFill>
                <a:latin typeface="Open Sans"/>
              </a:rPr>
              <a:t>Participate in scope review sessions &amp; </a:t>
            </a:r>
            <a:r>
              <a:rPr kumimoji="0" lang="en-US" sz="1000" b="0" i="0" u="none" strike="noStrike" kern="0" cap="none" spc="0" normalizeH="0" baseline="0" noProof="0">
                <a:ln>
                  <a:noFill/>
                </a:ln>
                <a:solidFill>
                  <a:srgbClr val="000000"/>
                </a:solidFill>
                <a:effectLst/>
                <a:uLnTx/>
                <a:uFillTx/>
                <a:latin typeface="Open Sans"/>
                <a:ea typeface="+mn-ea"/>
                <a:cs typeface="+mn-cs"/>
              </a:rPr>
              <a:t>Finalize scope for POD</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Coding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Review Existing Landscape</a:t>
            </a:r>
          </a:p>
        </p:txBody>
      </p:sp>
      <p:sp>
        <p:nvSpPr>
          <p:cNvPr id="53" name="Pentagon 194">
            <a:extLst>
              <a:ext uri="{FF2B5EF4-FFF2-40B4-BE49-F238E27FC236}">
                <a16:creationId xmlns:a16="http://schemas.microsoft.com/office/drawing/2014/main" id="{09FEA067-B57F-4EF9-BBCE-C9668F31751F}"/>
              </a:ext>
            </a:extLst>
          </p:cNvPr>
          <p:cNvSpPr>
            <a:spLocks/>
          </p:cNvSpPr>
          <p:nvPr/>
        </p:nvSpPr>
        <p:spPr>
          <a:xfrm>
            <a:off x="1025414" y="3034196"/>
            <a:ext cx="1084730" cy="282130"/>
          </a:xfrm>
          <a:prstGeom prst="rect">
            <a:avLst/>
          </a:prstGeom>
          <a:solidFill>
            <a:srgbClr val="046A3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6" name="Pentagon 194">
            <a:extLst>
              <a:ext uri="{FF2B5EF4-FFF2-40B4-BE49-F238E27FC236}">
                <a16:creationId xmlns:a16="http://schemas.microsoft.com/office/drawing/2014/main" id="{44A91F7A-B97D-418C-AF93-34F809E650A0}"/>
              </a:ext>
            </a:extLst>
          </p:cNvPr>
          <p:cNvSpPr>
            <a:spLocks/>
          </p:cNvSpPr>
          <p:nvPr/>
        </p:nvSpPr>
        <p:spPr>
          <a:xfrm>
            <a:off x="2134284" y="3034196"/>
            <a:ext cx="2365049" cy="282130"/>
          </a:xfrm>
          <a:prstGeom prst="rect">
            <a:avLst/>
          </a:prstGeom>
          <a:solidFill>
            <a:srgbClr val="43B02A"/>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78" name="Pentagon 194">
            <a:extLst>
              <a:ext uri="{FF2B5EF4-FFF2-40B4-BE49-F238E27FC236}">
                <a16:creationId xmlns:a16="http://schemas.microsoft.com/office/drawing/2014/main" id="{0CE2639C-AB3A-4C89-B02D-9CDE45D072D0}"/>
              </a:ext>
            </a:extLst>
          </p:cNvPr>
          <p:cNvSpPr>
            <a:spLocks/>
          </p:cNvSpPr>
          <p:nvPr/>
        </p:nvSpPr>
        <p:spPr>
          <a:xfrm>
            <a:off x="4528331" y="3034196"/>
            <a:ext cx="2365048" cy="282130"/>
          </a:xfrm>
          <a:prstGeom prst="rect">
            <a:avLst/>
          </a:prstGeom>
          <a:solidFill>
            <a:srgbClr val="0076A8"/>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Build</a:t>
            </a:r>
          </a:p>
        </p:txBody>
      </p:sp>
      <p:sp>
        <p:nvSpPr>
          <p:cNvPr id="86" name="Rectangle 85">
            <a:extLst>
              <a:ext uri="{FF2B5EF4-FFF2-40B4-BE49-F238E27FC236}">
                <a16:creationId xmlns:a16="http://schemas.microsoft.com/office/drawing/2014/main" id="{004068FA-9C1E-4AC0-8D25-E775B3D8DD6E}"/>
              </a:ext>
            </a:extLst>
          </p:cNvPr>
          <p:cNvSpPr/>
          <p:nvPr/>
        </p:nvSpPr>
        <p:spPr>
          <a:xfrm>
            <a:off x="1025414" y="5663625"/>
            <a:ext cx="1088136" cy="7488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Approved integration scope</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7" name="Rectangle 86">
            <a:extLst>
              <a:ext uri="{FF2B5EF4-FFF2-40B4-BE49-F238E27FC236}">
                <a16:creationId xmlns:a16="http://schemas.microsoft.com/office/drawing/2014/main" id="{A030629A-4F2E-40EA-8E1D-F671F7949604}"/>
              </a:ext>
            </a:extLst>
          </p:cNvPr>
          <p:cNvSpPr/>
          <p:nvPr/>
        </p:nvSpPr>
        <p:spPr>
          <a:xfrm>
            <a:off x="2134284" y="5678988"/>
            <a:ext cx="2368296" cy="710748"/>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Data mapping and Technical Specification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0" name="Rectangle 89">
            <a:extLst>
              <a:ext uri="{FF2B5EF4-FFF2-40B4-BE49-F238E27FC236}">
                <a16:creationId xmlns:a16="http://schemas.microsoft.com/office/drawing/2014/main" id="{61EB1541-0A95-44BE-98DB-5101A1A5AE63}"/>
              </a:ext>
            </a:extLst>
          </p:cNvPr>
          <p:cNvSpPr/>
          <p:nvPr/>
        </p:nvSpPr>
        <p:spPr>
          <a:xfrm>
            <a:off x="4528331" y="3366456"/>
            <a:ext cx="2368296"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Develop code build</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test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Execute test scripts and conduct unit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test cases</a:t>
            </a:r>
          </a:p>
          <a:p>
            <a:pPr marL="171450" indent="-171450">
              <a:spcAft>
                <a:spcPts val="600"/>
              </a:spcAft>
              <a:buFont typeface="Arial" panose="020B0604020202020204" pitchFamily="34" charset="0"/>
              <a:buChar char="•"/>
              <a:defRPr/>
            </a:pPr>
            <a:r>
              <a:rPr lang="en-US" sz="1000" kern="0">
                <a:solidFill>
                  <a:srgbClr val="000000"/>
                </a:solidFill>
                <a:latin typeface="Open Sans"/>
              </a:rPr>
              <a:t>Batch schedule preparation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6919948" y="3034196"/>
            <a:ext cx="3686519" cy="282130"/>
          </a:xfrm>
          <a:prstGeom prst="rect">
            <a:avLst/>
          </a:prstGeom>
          <a:solidFill>
            <a:srgbClr val="FFCD00"/>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6919948" y="3366456"/>
            <a:ext cx="3687679" cy="2219665"/>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System integration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End to End test cycles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 cycle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Performance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Participate in defect triaging and perform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Provide inputs for cutover plan</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Finalize hyper care approach</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5" name="Pentagon 194">
            <a:extLst>
              <a:ext uri="{FF2B5EF4-FFF2-40B4-BE49-F238E27FC236}">
                <a16:creationId xmlns:a16="http://schemas.microsoft.com/office/drawing/2014/main" id="{AB775A0D-B37B-4634-BB1F-E56615617F64}"/>
              </a:ext>
            </a:extLst>
          </p:cNvPr>
          <p:cNvSpPr>
            <a:spLocks/>
          </p:cNvSpPr>
          <p:nvPr/>
        </p:nvSpPr>
        <p:spPr>
          <a:xfrm>
            <a:off x="10633035" y="3034196"/>
            <a:ext cx="1103693" cy="282130"/>
          </a:xfrm>
          <a:prstGeom prst="rect">
            <a:avLst/>
          </a:prstGeom>
          <a:solidFill>
            <a:srgbClr val="7F7F7F"/>
          </a:solidFill>
          <a:ln w="19050" cap="flat" cmpd="sng" algn="ctr">
            <a:noFill/>
            <a:prstDash val="solid"/>
            <a:miter lim="800000"/>
          </a:ln>
          <a:effectLst/>
        </p:spPr>
        <p:txBody>
          <a:bodyPr lIns="91440" tIns="91440" rIns="91440" bIns="9144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solidFill>
                  <a:schemeClr val="bg1"/>
                </a:solidFill>
                <a:latin typeface="Open Sans"/>
                <a:cs typeface="Open Sans"/>
              </a:rPr>
              <a:t>Post Go-live</a:t>
            </a:r>
            <a:endParaRPr kumimoji="0" lang="en-US" sz="1000" b="1" i="0" u="none" strike="noStrike" kern="0" cap="none" spc="0" normalizeH="0" baseline="0" noProof="0">
              <a:ln>
                <a:noFill/>
              </a:ln>
              <a:solidFill>
                <a:schemeClr val="bg1"/>
              </a:solidFill>
              <a:effectLst/>
              <a:uLnTx/>
              <a:uFillTx/>
              <a:latin typeface="Open Sans"/>
              <a:ea typeface="+mn-ea"/>
              <a:cs typeface="Open Sans"/>
            </a:endParaRPr>
          </a:p>
        </p:txBody>
      </p:sp>
      <p:sp>
        <p:nvSpPr>
          <p:cNvPr id="96" name="Rectangle 95">
            <a:extLst>
              <a:ext uri="{FF2B5EF4-FFF2-40B4-BE49-F238E27FC236}">
                <a16:creationId xmlns:a16="http://schemas.microsoft.com/office/drawing/2014/main" id="{87026ABF-3179-41C6-BCAA-0A0F8A2C56BC}"/>
              </a:ext>
            </a:extLst>
          </p:cNvPr>
          <p:cNvSpPr/>
          <p:nvPr/>
        </p:nvSpPr>
        <p:spPr>
          <a:xfrm>
            <a:off x="10633035" y="3366456"/>
            <a:ext cx="1106424" cy="2219665"/>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Application Go 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Post-production defect fixes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knowledge transfer sessions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7" name="Rectangle 96">
            <a:extLst>
              <a:ext uri="{FF2B5EF4-FFF2-40B4-BE49-F238E27FC236}">
                <a16:creationId xmlns:a16="http://schemas.microsoft.com/office/drawing/2014/main" id="{316BE937-ECBE-4025-A9A0-007F52C4A629}"/>
              </a:ext>
            </a:extLst>
          </p:cNvPr>
          <p:cNvSpPr/>
          <p:nvPr/>
        </p:nvSpPr>
        <p:spPr>
          <a:xfrm>
            <a:off x="4528331" y="5678989"/>
            <a:ext cx="2368296"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Code Bundle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Unit Test Plan &amp; Results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6919948" y="5679181"/>
            <a:ext cx="3670751" cy="710748"/>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Cut over plan – Integration </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fix</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Hypercare approach</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1" name="Rectangle 100">
            <a:extLst>
              <a:ext uri="{FF2B5EF4-FFF2-40B4-BE49-F238E27FC236}">
                <a16:creationId xmlns:a16="http://schemas.microsoft.com/office/drawing/2014/main" id="{F9EEC192-03A0-4776-B5B3-15DB3811A32A}"/>
              </a:ext>
            </a:extLst>
          </p:cNvPr>
          <p:cNvSpPr/>
          <p:nvPr/>
        </p:nvSpPr>
        <p:spPr>
          <a:xfrm>
            <a:off x="10633035" y="5660130"/>
            <a:ext cx="1106424" cy="710748"/>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Go-live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Knowledge Transfer Documents</a:t>
            </a: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grpSp>
        <p:nvGrpSpPr>
          <p:cNvPr id="44" name="Group 43">
            <a:extLst>
              <a:ext uri="{FF2B5EF4-FFF2-40B4-BE49-F238E27FC236}">
                <a16:creationId xmlns:a16="http://schemas.microsoft.com/office/drawing/2014/main" id="{4A125DE7-8C4C-411D-BCA9-5AAF3D62E100}"/>
              </a:ext>
            </a:extLst>
          </p:cNvPr>
          <p:cNvGrpSpPr/>
          <p:nvPr/>
        </p:nvGrpSpPr>
        <p:grpSpPr>
          <a:xfrm>
            <a:off x="469456" y="1433258"/>
            <a:ext cx="399163" cy="5005644"/>
            <a:chOff x="469456" y="1470430"/>
            <a:chExt cx="399163" cy="4968469"/>
          </a:xfrm>
        </p:grpSpPr>
        <p:sp>
          <p:nvSpPr>
            <p:cNvPr id="45" name="Pentagon 194">
              <a:extLst>
                <a:ext uri="{FF2B5EF4-FFF2-40B4-BE49-F238E27FC236}">
                  <a16:creationId xmlns:a16="http://schemas.microsoft.com/office/drawing/2014/main" id="{32F4485F-028D-4E62-91F8-31F3C9A7CD31}"/>
                </a:ext>
              </a:extLst>
            </p:cNvPr>
            <p:cNvSpPr>
              <a:spLocks/>
            </p:cNvSpPr>
            <p:nvPr/>
          </p:nvSpPr>
          <p:spPr>
            <a:xfrm rot="16200000">
              <a:off x="-150113" y="2089999"/>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6" name="Pentagon 194">
              <a:extLst>
                <a:ext uri="{FF2B5EF4-FFF2-40B4-BE49-F238E27FC236}">
                  <a16:creationId xmlns:a16="http://schemas.microsoft.com/office/drawing/2014/main" id="{98BEB57D-5A06-49B6-9C68-C6B26F16020C}"/>
                </a:ext>
              </a:extLst>
            </p:cNvPr>
            <p:cNvSpPr>
              <a:spLocks/>
            </p:cNvSpPr>
            <p:nvPr/>
          </p:nvSpPr>
          <p:spPr>
            <a:xfrm rot="16200000">
              <a:off x="-587935" y="40545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47" name="Pentagon 194">
              <a:extLst>
                <a:ext uri="{FF2B5EF4-FFF2-40B4-BE49-F238E27FC236}">
                  <a16:creationId xmlns:a16="http://schemas.microsoft.com/office/drawing/2014/main" id="{83236C30-13A7-4993-8FCC-E1E824DDA16A}"/>
                </a:ext>
              </a:extLst>
            </p:cNvPr>
            <p:cNvSpPr>
              <a:spLocks/>
            </p:cNvSpPr>
            <p:nvPr/>
          </p:nvSpPr>
          <p:spPr>
            <a:xfrm rot="16200000">
              <a:off x="164873" y="5735154"/>
              <a:ext cx="1008328"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8" name="Group 47">
            <a:extLst>
              <a:ext uri="{FF2B5EF4-FFF2-40B4-BE49-F238E27FC236}">
                <a16:creationId xmlns:a16="http://schemas.microsoft.com/office/drawing/2014/main" id="{8EB0251F-4D6A-4AA1-9671-A6C19B8438F4}"/>
              </a:ext>
            </a:extLst>
          </p:cNvPr>
          <p:cNvGrpSpPr/>
          <p:nvPr/>
        </p:nvGrpSpPr>
        <p:grpSpPr>
          <a:xfrm>
            <a:off x="983092" y="1545352"/>
            <a:ext cx="10753637" cy="425486"/>
            <a:chOff x="983092" y="989268"/>
            <a:chExt cx="10753637" cy="425486"/>
          </a:xfrm>
        </p:grpSpPr>
        <p:cxnSp>
          <p:nvCxnSpPr>
            <p:cNvPr id="49" name="Straight Connector 48">
              <a:extLst>
                <a:ext uri="{FF2B5EF4-FFF2-40B4-BE49-F238E27FC236}">
                  <a16:creationId xmlns:a16="http://schemas.microsoft.com/office/drawing/2014/main" id="{A661C5A9-84D8-47AD-93A5-446212012AE5}"/>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2D0E79D-DCC3-4671-AC78-8488F6A5E28D}"/>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1" name="object 26">
              <a:extLst>
                <a:ext uri="{FF2B5EF4-FFF2-40B4-BE49-F238E27FC236}">
                  <a16:creationId xmlns:a16="http://schemas.microsoft.com/office/drawing/2014/main" id="{0C560531-2B55-4034-9F6A-43073764C55B}"/>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52" name="Oval 51">
              <a:extLst>
                <a:ext uri="{FF2B5EF4-FFF2-40B4-BE49-F238E27FC236}">
                  <a16:creationId xmlns:a16="http://schemas.microsoft.com/office/drawing/2014/main" id="{D68C6740-CA13-4D87-A8E2-829B338F087F}"/>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4" name="Oval 53">
              <a:extLst>
                <a:ext uri="{FF2B5EF4-FFF2-40B4-BE49-F238E27FC236}">
                  <a16:creationId xmlns:a16="http://schemas.microsoft.com/office/drawing/2014/main" id="{664F9F04-C7FD-4A03-9AC2-F7E450FF722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5" name="Oval 54">
              <a:extLst>
                <a:ext uri="{FF2B5EF4-FFF2-40B4-BE49-F238E27FC236}">
                  <a16:creationId xmlns:a16="http://schemas.microsoft.com/office/drawing/2014/main" id="{2B1EB940-7AC7-4F68-AB2E-3B6E9A769F8D}"/>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9" name="Oval 58">
              <a:extLst>
                <a:ext uri="{FF2B5EF4-FFF2-40B4-BE49-F238E27FC236}">
                  <a16:creationId xmlns:a16="http://schemas.microsoft.com/office/drawing/2014/main" id="{71166208-9060-4C83-A314-C2CFF0FDBD23}"/>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60" name="Oval 59">
              <a:extLst>
                <a:ext uri="{FF2B5EF4-FFF2-40B4-BE49-F238E27FC236}">
                  <a16:creationId xmlns:a16="http://schemas.microsoft.com/office/drawing/2014/main" id="{A2A74C78-FA9F-40D6-8352-E68C8349F603}"/>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1" name="Oval 60">
              <a:extLst>
                <a:ext uri="{FF2B5EF4-FFF2-40B4-BE49-F238E27FC236}">
                  <a16:creationId xmlns:a16="http://schemas.microsoft.com/office/drawing/2014/main" id="{9ED629FF-3FDA-48F5-9F39-DF2E1D52CA17}"/>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2" name="Oval 61">
              <a:extLst>
                <a:ext uri="{FF2B5EF4-FFF2-40B4-BE49-F238E27FC236}">
                  <a16:creationId xmlns:a16="http://schemas.microsoft.com/office/drawing/2014/main" id="{9E8C984F-AE52-4154-BDA5-669B96C10F37}"/>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63" name="Oval 62">
              <a:extLst>
                <a:ext uri="{FF2B5EF4-FFF2-40B4-BE49-F238E27FC236}">
                  <a16:creationId xmlns:a16="http://schemas.microsoft.com/office/drawing/2014/main" id="{365B4B5D-55F9-426D-8455-8285DDEB52A2}"/>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64" name="Oval 63">
              <a:extLst>
                <a:ext uri="{FF2B5EF4-FFF2-40B4-BE49-F238E27FC236}">
                  <a16:creationId xmlns:a16="http://schemas.microsoft.com/office/drawing/2014/main" id="{D1B79676-81C4-469D-AE8B-30D37A76207F}"/>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65" name="Oval 64">
              <a:extLst>
                <a:ext uri="{FF2B5EF4-FFF2-40B4-BE49-F238E27FC236}">
                  <a16:creationId xmlns:a16="http://schemas.microsoft.com/office/drawing/2014/main" id="{1F2CACA4-4CA7-4551-84CA-4C5890FAC177}"/>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6" name="Oval 65">
              <a:extLst>
                <a:ext uri="{FF2B5EF4-FFF2-40B4-BE49-F238E27FC236}">
                  <a16:creationId xmlns:a16="http://schemas.microsoft.com/office/drawing/2014/main" id="{649F0D0F-FDD8-4FC5-ABD4-A337B7DAA1AC}"/>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8" name="Oval 67">
              <a:extLst>
                <a:ext uri="{FF2B5EF4-FFF2-40B4-BE49-F238E27FC236}">
                  <a16:creationId xmlns:a16="http://schemas.microsoft.com/office/drawing/2014/main" id="{C469EA5E-AE5D-44F5-8799-5D7C8F49E410}"/>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69" name="Oval 68">
              <a:extLst>
                <a:ext uri="{FF2B5EF4-FFF2-40B4-BE49-F238E27FC236}">
                  <a16:creationId xmlns:a16="http://schemas.microsoft.com/office/drawing/2014/main" id="{5AA72551-4AB5-4276-B53D-69456B2F0A8D}"/>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0" name="Oval 69">
              <a:extLst>
                <a:ext uri="{FF2B5EF4-FFF2-40B4-BE49-F238E27FC236}">
                  <a16:creationId xmlns:a16="http://schemas.microsoft.com/office/drawing/2014/main" id="{1D5454FB-D53C-4868-9B1A-7156B4375779}"/>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1" name="Oval 70">
              <a:extLst>
                <a:ext uri="{FF2B5EF4-FFF2-40B4-BE49-F238E27FC236}">
                  <a16:creationId xmlns:a16="http://schemas.microsoft.com/office/drawing/2014/main" id="{2AD82C6F-9897-4A9B-88AF-13BBDDCDA1C1}"/>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4" name="Oval 73">
              <a:extLst>
                <a:ext uri="{FF2B5EF4-FFF2-40B4-BE49-F238E27FC236}">
                  <a16:creationId xmlns:a16="http://schemas.microsoft.com/office/drawing/2014/main" id="{03101979-0254-44B3-ACC0-708E545028A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A4AFA6CC-D06C-47A9-9452-CC018EF9BA3C}"/>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7" name="Pentagon 194">
            <a:extLst>
              <a:ext uri="{FF2B5EF4-FFF2-40B4-BE49-F238E27FC236}">
                <a16:creationId xmlns:a16="http://schemas.microsoft.com/office/drawing/2014/main" id="{3B3C5A9A-D386-4D99-97A6-7BBB99976555}"/>
              </a:ext>
            </a:extLst>
          </p:cNvPr>
          <p:cNvSpPr>
            <a:spLocks/>
          </p:cNvSpPr>
          <p:nvPr/>
        </p:nvSpPr>
        <p:spPr>
          <a:xfrm>
            <a:off x="1032842" y="2005648"/>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58" name="Pentagon 194">
            <a:extLst>
              <a:ext uri="{FF2B5EF4-FFF2-40B4-BE49-F238E27FC236}">
                <a16:creationId xmlns:a16="http://schemas.microsoft.com/office/drawing/2014/main" id="{46312B82-788E-4D64-A245-C62B3D97965E}"/>
              </a:ext>
            </a:extLst>
          </p:cNvPr>
          <p:cNvSpPr>
            <a:spLocks/>
          </p:cNvSpPr>
          <p:nvPr/>
        </p:nvSpPr>
        <p:spPr>
          <a:xfrm>
            <a:off x="2203253" y="2248813"/>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67" name="Pentagon 194">
            <a:extLst>
              <a:ext uri="{FF2B5EF4-FFF2-40B4-BE49-F238E27FC236}">
                <a16:creationId xmlns:a16="http://schemas.microsoft.com/office/drawing/2014/main" id="{70312241-0E1B-421D-BC27-B2A56C60E8FB}"/>
              </a:ext>
            </a:extLst>
          </p:cNvPr>
          <p:cNvSpPr>
            <a:spLocks/>
          </p:cNvSpPr>
          <p:nvPr/>
        </p:nvSpPr>
        <p:spPr>
          <a:xfrm>
            <a:off x="3060974" y="2494143"/>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72" name="Pentagon 194">
            <a:extLst>
              <a:ext uri="{FF2B5EF4-FFF2-40B4-BE49-F238E27FC236}">
                <a16:creationId xmlns:a16="http://schemas.microsoft.com/office/drawing/2014/main" id="{F0267B5A-8E1A-4228-A8A1-FF13B63E982C}"/>
              </a:ext>
            </a:extLst>
          </p:cNvPr>
          <p:cNvSpPr>
            <a:spLocks/>
          </p:cNvSpPr>
          <p:nvPr/>
        </p:nvSpPr>
        <p:spPr>
          <a:xfrm>
            <a:off x="7707534" y="2494143"/>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73" name="Pentagon 194">
            <a:extLst>
              <a:ext uri="{FF2B5EF4-FFF2-40B4-BE49-F238E27FC236}">
                <a16:creationId xmlns:a16="http://schemas.microsoft.com/office/drawing/2014/main" id="{76BD7C2F-0238-4681-8BF5-0096DFDF10E3}"/>
              </a:ext>
            </a:extLst>
          </p:cNvPr>
          <p:cNvSpPr>
            <a:spLocks/>
          </p:cNvSpPr>
          <p:nvPr/>
        </p:nvSpPr>
        <p:spPr>
          <a:xfrm>
            <a:off x="10633035" y="2511987"/>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75" name="Straight Connector 74">
            <a:extLst>
              <a:ext uri="{FF2B5EF4-FFF2-40B4-BE49-F238E27FC236}">
                <a16:creationId xmlns:a16="http://schemas.microsoft.com/office/drawing/2014/main" id="{F8108FD3-EA58-4EF2-9FA2-C4A2E791CACE}"/>
              </a:ext>
            </a:extLst>
          </p:cNvPr>
          <p:cNvCxnSpPr>
            <a:cxnSpLocks/>
          </p:cNvCxnSpPr>
          <p:nvPr/>
        </p:nvCxnSpPr>
        <p:spPr>
          <a:xfrm flipH="1">
            <a:off x="1012785" y="2867061"/>
            <a:ext cx="10769674" cy="0"/>
          </a:xfrm>
          <a:prstGeom prst="line">
            <a:avLst/>
          </a:prstGeom>
          <a:noFill/>
          <a:ln w="9525" cap="flat" cmpd="sng" algn="ctr">
            <a:solidFill>
              <a:srgbClr val="000000">
                <a:lumMod val="75000"/>
              </a:srgbClr>
            </a:solidFill>
            <a:prstDash val="dot"/>
            <a:miter lim="800000"/>
          </a:ln>
          <a:effectLst/>
        </p:spPr>
      </p:cxnSp>
      <p:cxnSp>
        <p:nvCxnSpPr>
          <p:cNvPr id="76" name="Straight Connector 75">
            <a:extLst>
              <a:ext uri="{FF2B5EF4-FFF2-40B4-BE49-F238E27FC236}">
                <a16:creationId xmlns:a16="http://schemas.microsoft.com/office/drawing/2014/main" id="{D65D0AB0-E474-4AD3-92C7-0A059C896CCD}"/>
              </a:ext>
            </a:extLst>
          </p:cNvPr>
          <p:cNvCxnSpPr>
            <a:cxnSpLocks/>
          </p:cNvCxnSpPr>
          <p:nvPr/>
        </p:nvCxnSpPr>
        <p:spPr>
          <a:xfrm>
            <a:off x="3467908" y="2370361"/>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8665F878-1CB6-4433-A75C-1A1E5DB01C50}"/>
              </a:ext>
            </a:extLst>
          </p:cNvPr>
          <p:cNvGrpSpPr>
            <a:grpSpLocks noChangeAspect="1"/>
          </p:cNvGrpSpPr>
          <p:nvPr/>
        </p:nvGrpSpPr>
        <p:grpSpPr>
          <a:xfrm>
            <a:off x="4388457" y="2263665"/>
            <a:ext cx="215452" cy="197711"/>
            <a:chOff x="6883093" y="4009408"/>
            <a:chExt cx="411480" cy="411480"/>
          </a:xfrm>
        </p:grpSpPr>
        <p:sp>
          <p:nvSpPr>
            <p:cNvPr id="80" name="Oval 39">
              <a:extLst>
                <a:ext uri="{FF2B5EF4-FFF2-40B4-BE49-F238E27FC236}">
                  <a16:creationId xmlns:a16="http://schemas.microsoft.com/office/drawing/2014/main" id="{8E3D7A97-AAAE-47F6-BE64-705FB715FA81}"/>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2" name="Group 81">
              <a:extLst>
                <a:ext uri="{FF2B5EF4-FFF2-40B4-BE49-F238E27FC236}">
                  <a16:creationId xmlns:a16="http://schemas.microsoft.com/office/drawing/2014/main" id="{8C055DAF-1518-4946-A0FA-280B91445AAD}"/>
                </a:ext>
              </a:extLst>
            </p:cNvPr>
            <p:cNvGrpSpPr/>
            <p:nvPr/>
          </p:nvGrpSpPr>
          <p:grpSpPr>
            <a:xfrm>
              <a:off x="6974768" y="4120386"/>
              <a:ext cx="223070" cy="202036"/>
              <a:chOff x="7707288" y="985839"/>
              <a:chExt cx="269912" cy="244473"/>
            </a:xfrm>
          </p:grpSpPr>
          <p:sp>
            <p:nvSpPr>
              <p:cNvPr id="83" name="Freeform 192">
                <a:extLst>
                  <a:ext uri="{FF2B5EF4-FFF2-40B4-BE49-F238E27FC236}">
                    <a16:creationId xmlns:a16="http://schemas.microsoft.com/office/drawing/2014/main" id="{1197622A-D33F-435C-9458-9CACBF7682C4}"/>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4" name="Freeform 208">
                <a:extLst>
                  <a:ext uri="{FF2B5EF4-FFF2-40B4-BE49-F238E27FC236}">
                    <a16:creationId xmlns:a16="http://schemas.microsoft.com/office/drawing/2014/main" id="{B4358DC0-E0A3-45FC-8F86-8405898315B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5" name="Freeform 213">
                <a:extLst>
                  <a:ext uri="{FF2B5EF4-FFF2-40B4-BE49-F238E27FC236}">
                    <a16:creationId xmlns:a16="http://schemas.microsoft.com/office/drawing/2014/main" id="{F202DAA5-E9C6-46FE-A090-F765D6F74699}"/>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8" name="Freeform 214">
                <a:extLst>
                  <a:ext uri="{FF2B5EF4-FFF2-40B4-BE49-F238E27FC236}">
                    <a16:creationId xmlns:a16="http://schemas.microsoft.com/office/drawing/2014/main" id="{BA922F92-A4AF-44E0-910A-50FBB5663391}"/>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9" name="Freeform 215">
                <a:extLst>
                  <a:ext uri="{FF2B5EF4-FFF2-40B4-BE49-F238E27FC236}">
                    <a16:creationId xmlns:a16="http://schemas.microsoft.com/office/drawing/2014/main" id="{404A49CC-45C4-4C63-891C-9B8AEAA0E07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93" name="Group 92">
            <a:extLst>
              <a:ext uri="{FF2B5EF4-FFF2-40B4-BE49-F238E27FC236}">
                <a16:creationId xmlns:a16="http://schemas.microsoft.com/office/drawing/2014/main" id="{99CB5A06-4AEE-4890-A062-CDE731580033}"/>
              </a:ext>
            </a:extLst>
          </p:cNvPr>
          <p:cNvGrpSpPr>
            <a:grpSpLocks noChangeAspect="1"/>
          </p:cNvGrpSpPr>
          <p:nvPr/>
        </p:nvGrpSpPr>
        <p:grpSpPr>
          <a:xfrm>
            <a:off x="3856075" y="2263665"/>
            <a:ext cx="215452" cy="197711"/>
            <a:chOff x="6883093" y="4009408"/>
            <a:chExt cx="411480" cy="411480"/>
          </a:xfrm>
        </p:grpSpPr>
        <p:sp>
          <p:nvSpPr>
            <p:cNvPr id="94" name="Oval 39">
              <a:extLst>
                <a:ext uri="{FF2B5EF4-FFF2-40B4-BE49-F238E27FC236}">
                  <a16:creationId xmlns:a16="http://schemas.microsoft.com/office/drawing/2014/main" id="{99B7C844-376D-4706-BFC0-B5881A1B0140}"/>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99" name="Group 98">
              <a:extLst>
                <a:ext uri="{FF2B5EF4-FFF2-40B4-BE49-F238E27FC236}">
                  <a16:creationId xmlns:a16="http://schemas.microsoft.com/office/drawing/2014/main" id="{E89764DC-7370-4369-9AD9-F543F24683EB}"/>
                </a:ext>
              </a:extLst>
            </p:cNvPr>
            <p:cNvGrpSpPr/>
            <p:nvPr/>
          </p:nvGrpSpPr>
          <p:grpSpPr>
            <a:xfrm>
              <a:off x="6974768" y="4120386"/>
              <a:ext cx="223070" cy="202036"/>
              <a:chOff x="7707288" y="985839"/>
              <a:chExt cx="269912" cy="244473"/>
            </a:xfrm>
          </p:grpSpPr>
          <p:sp>
            <p:nvSpPr>
              <p:cNvPr id="100" name="Freeform 192">
                <a:extLst>
                  <a:ext uri="{FF2B5EF4-FFF2-40B4-BE49-F238E27FC236}">
                    <a16:creationId xmlns:a16="http://schemas.microsoft.com/office/drawing/2014/main" id="{83417680-C9E2-4FEC-A44E-7EACE939079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2" name="Freeform 208">
                <a:extLst>
                  <a:ext uri="{FF2B5EF4-FFF2-40B4-BE49-F238E27FC236}">
                    <a16:creationId xmlns:a16="http://schemas.microsoft.com/office/drawing/2014/main" id="{2CA8577A-C7BE-4E75-BA1A-16C31B896DA8}"/>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3" name="Freeform 213">
                <a:extLst>
                  <a:ext uri="{FF2B5EF4-FFF2-40B4-BE49-F238E27FC236}">
                    <a16:creationId xmlns:a16="http://schemas.microsoft.com/office/drawing/2014/main" id="{4796A083-0299-489F-9994-A211D15C8B0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4" name="Freeform 214">
                <a:extLst>
                  <a:ext uri="{FF2B5EF4-FFF2-40B4-BE49-F238E27FC236}">
                    <a16:creationId xmlns:a16="http://schemas.microsoft.com/office/drawing/2014/main" id="{FED89F62-AA79-427F-9D75-E5019173F422}"/>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05" name="Freeform 215">
                <a:extLst>
                  <a:ext uri="{FF2B5EF4-FFF2-40B4-BE49-F238E27FC236}">
                    <a16:creationId xmlns:a16="http://schemas.microsoft.com/office/drawing/2014/main" id="{7D406DA8-8FDA-46E7-831E-82858FE89766}"/>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106" name="Straight Connector 105">
            <a:extLst>
              <a:ext uri="{FF2B5EF4-FFF2-40B4-BE49-F238E27FC236}">
                <a16:creationId xmlns:a16="http://schemas.microsoft.com/office/drawing/2014/main" id="{1B545DF4-3061-4D08-8763-5CD9096F0C47}"/>
              </a:ext>
            </a:extLst>
          </p:cNvPr>
          <p:cNvCxnSpPr>
            <a:cxnSpLocks/>
          </p:cNvCxnSpPr>
          <p:nvPr/>
        </p:nvCxnSpPr>
        <p:spPr>
          <a:xfrm>
            <a:off x="4183343" y="2628543"/>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23834A3-929B-4AE0-BD64-B5B9F285517E}"/>
              </a:ext>
            </a:extLst>
          </p:cNvPr>
          <p:cNvGrpSpPr>
            <a:grpSpLocks noChangeAspect="1"/>
          </p:cNvGrpSpPr>
          <p:nvPr/>
        </p:nvGrpSpPr>
        <p:grpSpPr>
          <a:xfrm>
            <a:off x="5103892" y="2521847"/>
            <a:ext cx="215452" cy="197711"/>
            <a:chOff x="6883093" y="4009408"/>
            <a:chExt cx="411480" cy="411480"/>
          </a:xfrm>
        </p:grpSpPr>
        <p:sp>
          <p:nvSpPr>
            <p:cNvPr id="108" name="Oval 39">
              <a:extLst>
                <a:ext uri="{FF2B5EF4-FFF2-40B4-BE49-F238E27FC236}">
                  <a16:creationId xmlns:a16="http://schemas.microsoft.com/office/drawing/2014/main" id="{3B02C721-F55F-40EC-865E-F7D9C745B4A8}"/>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09" name="Group 108">
              <a:extLst>
                <a:ext uri="{FF2B5EF4-FFF2-40B4-BE49-F238E27FC236}">
                  <a16:creationId xmlns:a16="http://schemas.microsoft.com/office/drawing/2014/main" id="{E99BC282-E898-4D98-853D-B26D97AF9CE2}"/>
                </a:ext>
              </a:extLst>
            </p:cNvPr>
            <p:cNvGrpSpPr/>
            <p:nvPr/>
          </p:nvGrpSpPr>
          <p:grpSpPr>
            <a:xfrm>
              <a:off x="6974768" y="4120386"/>
              <a:ext cx="223070" cy="202036"/>
              <a:chOff x="7707288" y="985839"/>
              <a:chExt cx="269912" cy="244473"/>
            </a:xfrm>
          </p:grpSpPr>
          <p:sp>
            <p:nvSpPr>
              <p:cNvPr id="110" name="Freeform 192">
                <a:extLst>
                  <a:ext uri="{FF2B5EF4-FFF2-40B4-BE49-F238E27FC236}">
                    <a16:creationId xmlns:a16="http://schemas.microsoft.com/office/drawing/2014/main" id="{040BCF43-A0AD-46F8-9522-A05FCC1FB3E9}"/>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1" name="Freeform 208">
                <a:extLst>
                  <a:ext uri="{FF2B5EF4-FFF2-40B4-BE49-F238E27FC236}">
                    <a16:creationId xmlns:a16="http://schemas.microsoft.com/office/drawing/2014/main" id="{D8195C32-E62A-4171-9185-024D70A65502}"/>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13">
                <a:extLst>
                  <a:ext uri="{FF2B5EF4-FFF2-40B4-BE49-F238E27FC236}">
                    <a16:creationId xmlns:a16="http://schemas.microsoft.com/office/drawing/2014/main" id="{54848E6B-C220-4846-BBD9-86823F263335}"/>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4">
                <a:extLst>
                  <a:ext uri="{FF2B5EF4-FFF2-40B4-BE49-F238E27FC236}">
                    <a16:creationId xmlns:a16="http://schemas.microsoft.com/office/drawing/2014/main" id="{B1A1F52E-DCAA-4007-950B-84D9787885CB}"/>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5">
                <a:extLst>
                  <a:ext uri="{FF2B5EF4-FFF2-40B4-BE49-F238E27FC236}">
                    <a16:creationId xmlns:a16="http://schemas.microsoft.com/office/drawing/2014/main" id="{065EDA72-8B4B-44AE-8133-1D8915CDDCA2}"/>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115" name="Group 114">
            <a:extLst>
              <a:ext uri="{FF2B5EF4-FFF2-40B4-BE49-F238E27FC236}">
                <a16:creationId xmlns:a16="http://schemas.microsoft.com/office/drawing/2014/main" id="{9584C7CD-C78E-46F0-8E3F-A547338972E0}"/>
              </a:ext>
            </a:extLst>
          </p:cNvPr>
          <p:cNvGrpSpPr>
            <a:grpSpLocks noChangeAspect="1"/>
          </p:cNvGrpSpPr>
          <p:nvPr/>
        </p:nvGrpSpPr>
        <p:grpSpPr>
          <a:xfrm>
            <a:off x="4571510" y="2521847"/>
            <a:ext cx="215452" cy="197711"/>
            <a:chOff x="6883093" y="4009408"/>
            <a:chExt cx="411480" cy="411480"/>
          </a:xfrm>
        </p:grpSpPr>
        <p:sp>
          <p:nvSpPr>
            <p:cNvPr id="116" name="Oval 39">
              <a:extLst>
                <a:ext uri="{FF2B5EF4-FFF2-40B4-BE49-F238E27FC236}">
                  <a16:creationId xmlns:a16="http://schemas.microsoft.com/office/drawing/2014/main" id="{23B9092D-444F-4B93-94C7-FFAB19DE47E3}"/>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117" name="Group 116">
              <a:extLst>
                <a:ext uri="{FF2B5EF4-FFF2-40B4-BE49-F238E27FC236}">
                  <a16:creationId xmlns:a16="http://schemas.microsoft.com/office/drawing/2014/main" id="{2E1FEC31-4FCF-490B-AD1C-58C06C477968}"/>
                </a:ext>
              </a:extLst>
            </p:cNvPr>
            <p:cNvGrpSpPr/>
            <p:nvPr/>
          </p:nvGrpSpPr>
          <p:grpSpPr>
            <a:xfrm>
              <a:off x="6974768" y="4120386"/>
              <a:ext cx="223070" cy="202036"/>
              <a:chOff x="7707288" y="985839"/>
              <a:chExt cx="269912" cy="244473"/>
            </a:xfrm>
          </p:grpSpPr>
          <p:sp>
            <p:nvSpPr>
              <p:cNvPr id="118" name="Freeform 192">
                <a:extLst>
                  <a:ext uri="{FF2B5EF4-FFF2-40B4-BE49-F238E27FC236}">
                    <a16:creationId xmlns:a16="http://schemas.microsoft.com/office/drawing/2014/main" id="{031FB6F7-C1AF-4C08-97F1-4B44CA68BB67}"/>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9" name="Freeform 208">
                <a:extLst>
                  <a:ext uri="{FF2B5EF4-FFF2-40B4-BE49-F238E27FC236}">
                    <a16:creationId xmlns:a16="http://schemas.microsoft.com/office/drawing/2014/main" id="{1B07B9BC-A18F-4D0B-B95F-06BCAAB4D94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0" name="Freeform 213">
                <a:extLst>
                  <a:ext uri="{FF2B5EF4-FFF2-40B4-BE49-F238E27FC236}">
                    <a16:creationId xmlns:a16="http://schemas.microsoft.com/office/drawing/2014/main" id="{E28B0374-7273-4B5E-B8DA-3763FBDBEFB7}"/>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1" name="Freeform 214">
                <a:extLst>
                  <a:ext uri="{FF2B5EF4-FFF2-40B4-BE49-F238E27FC236}">
                    <a16:creationId xmlns:a16="http://schemas.microsoft.com/office/drawing/2014/main" id="{673FDB39-FD94-4CCB-91F5-73336A188FA6}"/>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22" name="Freeform 215">
                <a:extLst>
                  <a:ext uri="{FF2B5EF4-FFF2-40B4-BE49-F238E27FC236}">
                    <a16:creationId xmlns:a16="http://schemas.microsoft.com/office/drawing/2014/main" id="{8706C66F-8058-43CE-BFED-B48FA334CAF5}"/>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2323323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18989" y="5733"/>
            <a:ext cx="10515600" cy="1325563"/>
          </a:xfrm>
        </p:spPr>
        <p:txBody>
          <a:bodyPr>
            <a:normAutofit/>
          </a:bodyPr>
          <a:lstStyle/>
          <a:p>
            <a:pPr>
              <a:spcBef>
                <a:spcPts val="0"/>
              </a:spcBef>
            </a:pPr>
            <a:r>
              <a:rPr lang="en-US" sz="3200"/>
              <a:t>Timelines, Activities &amp; Deliverables – Oracle Retail MVP QA</a:t>
            </a:r>
          </a:p>
        </p:txBody>
      </p:sp>
      <p:cxnSp>
        <p:nvCxnSpPr>
          <p:cNvPr id="37" name="Straight Connector 36">
            <a:extLst>
              <a:ext uri="{FF2B5EF4-FFF2-40B4-BE49-F238E27FC236}">
                <a16:creationId xmlns:a16="http://schemas.microsoft.com/office/drawing/2014/main" id="{2F6E545F-E1ED-4339-92FF-2F4BF8915C3A}"/>
              </a:ext>
            </a:extLst>
          </p:cNvPr>
          <p:cNvCxnSpPr>
            <a:cxnSpLocks/>
          </p:cNvCxnSpPr>
          <p:nvPr/>
        </p:nvCxnSpPr>
        <p:spPr>
          <a:xfrm flipH="1">
            <a:off x="977968" y="5522309"/>
            <a:ext cx="10774412" cy="60308"/>
          </a:xfrm>
          <a:prstGeom prst="line">
            <a:avLst/>
          </a:prstGeom>
          <a:noFill/>
          <a:ln w="9525" cap="flat" cmpd="sng" algn="ctr">
            <a:solidFill>
              <a:srgbClr val="000000">
                <a:lumMod val="75000"/>
              </a:srgbClr>
            </a:solidFill>
            <a:prstDash val="dot"/>
            <a:miter lim="800000"/>
          </a:ln>
          <a:effectLst/>
        </p:spPr>
      </p:cxnSp>
      <p:sp>
        <p:nvSpPr>
          <p:cNvPr id="36" name="Rectangle 35">
            <a:extLst>
              <a:ext uri="{FF2B5EF4-FFF2-40B4-BE49-F238E27FC236}">
                <a16:creationId xmlns:a16="http://schemas.microsoft.com/office/drawing/2014/main" id="{25579246-1E29-4712-8342-562A07B84110}"/>
              </a:ext>
            </a:extLst>
          </p:cNvPr>
          <p:cNvSpPr/>
          <p:nvPr/>
        </p:nvSpPr>
        <p:spPr>
          <a:xfrm>
            <a:off x="2201945" y="2953931"/>
            <a:ext cx="4854382" cy="2560320"/>
          </a:xfrm>
          <a:prstGeom prst="rect">
            <a:avLst/>
          </a:prstGeom>
          <a:solidFill>
            <a:schemeClr val="tx2">
              <a:lumMod val="20000"/>
              <a:lumOff val="80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design review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Prepare Test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system integration test scripts based on MVP process scenarios/user stories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Document End to End test scripts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Identify critical components for performance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existing and Identify test scenarios for automation</a:t>
            </a:r>
          </a:p>
          <a:p>
            <a:pPr marL="171450" indent="-171450">
              <a:spcAft>
                <a:spcPts val="600"/>
              </a:spcAft>
              <a:buFont typeface="Arial" panose="020B0604020202020204" pitchFamily="34" charset="0"/>
              <a:buChar char="•"/>
              <a:defRPr/>
            </a:pPr>
            <a:r>
              <a:rPr lang="en-US" sz="1000" kern="0">
                <a:solidFill>
                  <a:srgbClr val="000000"/>
                </a:solidFill>
                <a:latin typeface="Open Sans"/>
              </a:rPr>
              <a:t>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indent="-171450">
              <a:spcAft>
                <a:spcPts val="600"/>
              </a:spcAft>
              <a:buFont typeface="Arial" panose="020B0604020202020204" pitchFamily="34" charset="0"/>
              <a:buChar char="•"/>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38" name="Pentagon 195">
            <a:extLst>
              <a:ext uri="{FF2B5EF4-FFF2-40B4-BE49-F238E27FC236}">
                <a16:creationId xmlns:a16="http://schemas.microsoft.com/office/drawing/2014/main" id="{2F3E9867-1A6D-4A2F-99F0-489AA809EEF5}"/>
              </a:ext>
            </a:extLst>
          </p:cNvPr>
          <p:cNvSpPr>
            <a:spLocks/>
          </p:cNvSpPr>
          <p:nvPr/>
        </p:nvSpPr>
        <p:spPr>
          <a:xfrm>
            <a:off x="1011992" y="2953931"/>
            <a:ext cx="1133939" cy="2560320"/>
          </a:xfrm>
          <a:prstGeom prst="rect">
            <a:avLst/>
          </a:prstGeom>
          <a:solidFill>
            <a:srgbClr val="F2F2F2"/>
          </a:solidFill>
          <a:ln w="19050" cap="flat" cmpd="sng" algn="ctr">
            <a:noFill/>
            <a:prstDash val="solid"/>
            <a:miter lim="800000"/>
          </a:ln>
          <a:effectLst/>
        </p:spPr>
        <p:txBody>
          <a:bodyPr lIns="45720" tIns="45720" rIns="45720" bIns="45720" rtlCol="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Participate in process &amp; MVP Scope sessions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QA framework &amp; metrics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automation framework</a:t>
            </a:r>
          </a:p>
        </p:txBody>
      </p:sp>
      <p:sp>
        <p:nvSpPr>
          <p:cNvPr id="86" name="Rectangle 85">
            <a:extLst>
              <a:ext uri="{FF2B5EF4-FFF2-40B4-BE49-F238E27FC236}">
                <a16:creationId xmlns:a16="http://schemas.microsoft.com/office/drawing/2014/main" id="{004068FA-9C1E-4AC0-8D25-E775B3D8DD6E}"/>
              </a:ext>
            </a:extLst>
          </p:cNvPr>
          <p:cNvSpPr/>
          <p:nvPr/>
        </p:nvSpPr>
        <p:spPr>
          <a:xfrm>
            <a:off x="1006886" y="5607844"/>
            <a:ext cx="1133939" cy="1007353"/>
          </a:xfrm>
          <a:prstGeom prst="rect">
            <a:avLst/>
          </a:prstGeom>
          <a:solidFill>
            <a:srgbClr val="F2F2F2"/>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Test Strategy</a:t>
            </a:r>
          </a:p>
        </p:txBody>
      </p:sp>
      <p:sp>
        <p:nvSpPr>
          <p:cNvPr id="87" name="Rectangle 86">
            <a:extLst>
              <a:ext uri="{FF2B5EF4-FFF2-40B4-BE49-F238E27FC236}">
                <a16:creationId xmlns:a16="http://schemas.microsoft.com/office/drawing/2014/main" id="{A030629A-4F2E-40EA-8E1D-F671F7949604}"/>
              </a:ext>
            </a:extLst>
          </p:cNvPr>
          <p:cNvSpPr/>
          <p:nvPr/>
        </p:nvSpPr>
        <p:spPr>
          <a:xfrm>
            <a:off x="2201945" y="5607845"/>
            <a:ext cx="4854382" cy="1007354"/>
          </a:xfrm>
          <a:prstGeom prst="rect">
            <a:avLst/>
          </a:prstGeom>
          <a:solidFill>
            <a:schemeClr val="tx2">
              <a:lumMod val="20000"/>
              <a:lumOff val="80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 plan/scenarios</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1" name="Pentagon 194">
            <a:extLst>
              <a:ext uri="{FF2B5EF4-FFF2-40B4-BE49-F238E27FC236}">
                <a16:creationId xmlns:a16="http://schemas.microsoft.com/office/drawing/2014/main" id="{6BFF3D5F-72EE-474D-A716-925497E6324B}"/>
              </a:ext>
            </a:extLst>
          </p:cNvPr>
          <p:cNvSpPr>
            <a:spLocks/>
          </p:cNvSpPr>
          <p:nvPr/>
        </p:nvSpPr>
        <p:spPr>
          <a:xfrm>
            <a:off x="7119084" y="2527281"/>
            <a:ext cx="2427191" cy="382323"/>
          </a:xfrm>
          <a:prstGeom prst="rect">
            <a:avLst/>
          </a:prstGeom>
          <a:solidFill>
            <a:srgbClr val="FFCD00"/>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kern="0">
                <a:latin typeface="Open Sans"/>
                <a:cs typeface="Open Sans"/>
              </a:rPr>
              <a:t>Testing/Go-live Preparation</a:t>
            </a:r>
            <a:endParaRPr kumimoji="0" lang="en-US" sz="1000" b="1" i="0" u="none" strike="noStrike" kern="0" cap="none" spc="0" normalizeH="0" baseline="0" noProof="0">
              <a:ln>
                <a:noFill/>
              </a:ln>
              <a:effectLst/>
              <a:uLnTx/>
              <a:uFillTx/>
              <a:latin typeface="Open Sans"/>
              <a:ea typeface="+mn-ea"/>
              <a:cs typeface="Open Sans"/>
            </a:endParaRPr>
          </a:p>
        </p:txBody>
      </p:sp>
      <p:sp>
        <p:nvSpPr>
          <p:cNvPr id="92" name="Rectangle 91">
            <a:extLst>
              <a:ext uri="{FF2B5EF4-FFF2-40B4-BE49-F238E27FC236}">
                <a16:creationId xmlns:a16="http://schemas.microsoft.com/office/drawing/2014/main" id="{B09980EA-4DC1-48A2-BA4F-785FFBABDAC6}"/>
              </a:ext>
            </a:extLst>
          </p:cNvPr>
          <p:cNvSpPr/>
          <p:nvPr/>
        </p:nvSpPr>
        <p:spPr>
          <a:xfrm>
            <a:off x="7119084" y="2953931"/>
            <a:ext cx="2427191" cy="2560320"/>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System integration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Conduct End to End test cycles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UAT testing</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 Performance testing and report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Review results against agreed Entry exit criteria</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Defect Triaging, QA  program and metrics reporting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3" name="Pentagon 194">
            <a:extLst>
              <a:ext uri="{FF2B5EF4-FFF2-40B4-BE49-F238E27FC236}">
                <a16:creationId xmlns:a16="http://schemas.microsoft.com/office/drawing/2014/main" id="{C7D94815-C35F-4B4E-BCBC-523350756404}"/>
              </a:ext>
            </a:extLst>
          </p:cNvPr>
          <p:cNvSpPr>
            <a:spLocks/>
          </p:cNvSpPr>
          <p:nvPr/>
        </p:nvSpPr>
        <p:spPr>
          <a:xfrm>
            <a:off x="9609101" y="2527281"/>
            <a:ext cx="2143859" cy="382323"/>
          </a:xfrm>
          <a:prstGeom prst="rect">
            <a:avLst/>
          </a:prstGeom>
          <a:solidFill>
            <a:srgbClr val="7F7F7F"/>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Post Go-live</a:t>
            </a:r>
          </a:p>
        </p:txBody>
      </p:sp>
      <p:sp>
        <p:nvSpPr>
          <p:cNvPr id="94" name="Rectangle 93">
            <a:extLst>
              <a:ext uri="{FF2B5EF4-FFF2-40B4-BE49-F238E27FC236}">
                <a16:creationId xmlns:a16="http://schemas.microsoft.com/office/drawing/2014/main" id="{DAC2DC67-213F-430F-838D-2F02C8C27C76}"/>
              </a:ext>
            </a:extLst>
          </p:cNvPr>
          <p:cNvSpPr/>
          <p:nvPr/>
        </p:nvSpPr>
        <p:spPr>
          <a:xfrm>
            <a:off x="9609101" y="2953931"/>
            <a:ext cx="2146049" cy="2560320"/>
          </a:xfrm>
          <a:prstGeom prst="rect">
            <a:avLst/>
          </a:prstGeom>
          <a:solidFill>
            <a:schemeClr val="bg1">
              <a:lumMod val="8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Support Go-live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00"/>
                </a:solidFill>
                <a:effectLst/>
                <a:uLnTx/>
                <a:uFillTx/>
                <a:latin typeface="Open Sans"/>
                <a:ea typeface="+mn-ea"/>
                <a:cs typeface="+mn-cs"/>
              </a:rPr>
              <a:t>Perform Smoke 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Review production defect fix/testing</a:t>
            </a:r>
          </a:p>
          <a:p>
            <a:pPr marL="171450" indent="-171450">
              <a:spcAft>
                <a:spcPts val="600"/>
              </a:spcAft>
              <a:buFont typeface="Arial" panose="020B0604020202020204" pitchFamily="34" charset="0"/>
              <a:buChar char="•"/>
              <a:defRPr/>
            </a:pPr>
            <a:r>
              <a:rPr lang="en-US" sz="1000" kern="0">
                <a:solidFill>
                  <a:srgbClr val="000000"/>
                </a:solidFill>
                <a:latin typeface="Open Sans"/>
              </a:rPr>
              <a:t>Continue to automate scenarios identified for regression</a:t>
            </a:r>
          </a:p>
          <a:p>
            <a:pPr marL="171450" indent="-171450">
              <a:spcAft>
                <a:spcPts val="600"/>
              </a:spcAft>
              <a:buFont typeface="Arial" panose="020B0604020202020204" pitchFamily="34" charset="0"/>
              <a:buChar char="•"/>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98" name="Rectangle 97">
            <a:extLst>
              <a:ext uri="{FF2B5EF4-FFF2-40B4-BE49-F238E27FC236}">
                <a16:creationId xmlns:a16="http://schemas.microsoft.com/office/drawing/2014/main" id="{4D7D4064-7C37-4245-88E8-791FFC6037D4}"/>
              </a:ext>
            </a:extLst>
          </p:cNvPr>
          <p:cNvSpPr/>
          <p:nvPr/>
        </p:nvSpPr>
        <p:spPr>
          <a:xfrm>
            <a:off x="7119084" y="5607845"/>
            <a:ext cx="2427191" cy="1007354"/>
          </a:xfrm>
          <a:prstGeom prst="rect">
            <a:avLst/>
          </a:prstGeom>
          <a:solidFill>
            <a:schemeClr val="bg1">
              <a:lumMod val="95000"/>
            </a:schemeClr>
          </a:solidFill>
          <a:ln w="19050">
            <a:noFill/>
          </a:ln>
        </p:spPr>
        <p:txBody>
          <a:bodyPr wrap="square" lIns="45720" tIns="45720" rIns="4572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System integration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End to End test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Performance testing results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Daily QA dashboard </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100" name="Rectangle 99">
            <a:extLst>
              <a:ext uri="{FF2B5EF4-FFF2-40B4-BE49-F238E27FC236}">
                <a16:creationId xmlns:a16="http://schemas.microsoft.com/office/drawing/2014/main" id="{43ADBBF2-E307-4E4F-834A-C75C7D4EABAC}"/>
              </a:ext>
            </a:extLst>
          </p:cNvPr>
          <p:cNvSpPr/>
          <p:nvPr/>
        </p:nvSpPr>
        <p:spPr>
          <a:xfrm>
            <a:off x="9607425" y="5607845"/>
            <a:ext cx="2146049" cy="1007354"/>
          </a:xfrm>
          <a:prstGeom prst="rect">
            <a:avLst/>
          </a:prstGeom>
          <a:solidFill>
            <a:schemeClr val="bg1">
              <a:lumMod val="85000"/>
            </a:schemeClr>
          </a:solidFill>
          <a:ln w="19050">
            <a:noFill/>
          </a:ln>
        </p:spPr>
        <p:txBody>
          <a:bodyPr wrap="square" lIns="45720" tIns="45720" rIns="4572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Post-production QA metrics reporting</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1" name="Pentagon 194">
            <a:extLst>
              <a:ext uri="{FF2B5EF4-FFF2-40B4-BE49-F238E27FC236}">
                <a16:creationId xmlns:a16="http://schemas.microsoft.com/office/drawing/2014/main" id="{C7D43053-2281-4E56-8984-7A10B52C7F74}"/>
              </a:ext>
            </a:extLst>
          </p:cNvPr>
          <p:cNvSpPr>
            <a:spLocks/>
          </p:cNvSpPr>
          <p:nvPr/>
        </p:nvSpPr>
        <p:spPr>
          <a:xfrm>
            <a:off x="1011992" y="2527281"/>
            <a:ext cx="1133939" cy="382323"/>
          </a:xfrm>
          <a:prstGeom prst="rect">
            <a:avLst/>
          </a:prstGeom>
          <a:solidFill>
            <a:srgbClr val="046A38"/>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2" name="Pentagon 194">
            <a:extLst>
              <a:ext uri="{FF2B5EF4-FFF2-40B4-BE49-F238E27FC236}">
                <a16:creationId xmlns:a16="http://schemas.microsoft.com/office/drawing/2014/main" id="{02C5142B-4CA0-4FA2-B733-4AD676E0B3C5}"/>
              </a:ext>
            </a:extLst>
          </p:cNvPr>
          <p:cNvSpPr>
            <a:spLocks/>
          </p:cNvSpPr>
          <p:nvPr/>
        </p:nvSpPr>
        <p:spPr>
          <a:xfrm>
            <a:off x="2201945" y="2527281"/>
            <a:ext cx="4853505" cy="382323"/>
          </a:xfrm>
          <a:prstGeom prst="rect">
            <a:avLst/>
          </a:prstGeom>
          <a:solidFill>
            <a:srgbClr val="43B02A"/>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Design/Build</a:t>
            </a:r>
          </a:p>
        </p:txBody>
      </p:sp>
      <p:grpSp>
        <p:nvGrpSpPr>
          <p:cNvPr id="65" name="Group 64">
            <a:extLst>
              <a:ext uri="{FF2B5EF4-FFF2-40B4-BE49-F238E27FC236}">
                <a16:creationId xmlns:a16="http://schemas.microsoft.com/office/drawing/2014/main" id="{6CB92B64-0306-42DB-9DA4-AEDEB2AF07DA}"/>
              </a:ext>
            </a:extLst>
          </p:cNvPr>
          <p:cNvGrpSpPr/>
          <p:nvPr/>
        </p:nvGrpSpPr>
        <p:grpSpPr>
          <a:xfrm>
            <a:off x="492689" y="1331296"/>
            <a:ext cx="399162" cy="5212407"/>
            <a:chOff x="469456" y="1254763"/>
            <a:chExt cx="399162" cy="5173698"/>
          </a:xfrm>
        </p:grpSpPr>
        <p:sp>
          <p:nvSpPr>
            <p:cNvPr id="66" name="Pentagon 194">
              <a:extLst>
                <a:ext uri="{FF2B5EF4-FFF2-40B4-BE49-F238E27FC236}">
                  <a16:creationId xmlns:a16="http://schemas.microsoft.com/office/drawing/2014/main" id="{9A0D2248-B61C-41C1-833F-607CB5D3DBCA}"/>
                </a:ext>
              </a:extLst>
            </p:cNvPr>
            <p:cNvSpPr>
              <a:spLocks/>
            </p:cNvSpPr>
            <p:nvPr/>
          </p:nvSpPr>
          <p:spPr>
            <a:xfrm rot="16200000">
              <a:off x="22004" y="1702215"/>
              <a:ext cx="1294066"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68" name="Pentagon 194">
              <a:extLst>
                <a:ext uri="{FF2B5EF4-FFF2-40B4-BE49-F238E27FC236}">
                  <a16:creationId xmlns:a16="http://schemas.microsoft.com/office/drawing/2014/main" id="{CE6A1CBE-ED4C-409C-9810-C8622BACA7FF}"/>
                </a:ext>
              </a:extLst>
            </p:cNvPr>
            <p:cNvSpPr>
              <a:spLocks/>
            </p:cNvSpPr>
            <p:nvPr/>
          </p:nvSpPr>
          <p:spPr>
            <a:xfrm rot="16200000">
              <a:off x="-859807" y="3771130"/>
              <a:ext cx="3057688"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9" name="Pentagon 194">
              <a:extLst>
                <a:ext uri="{FF2B5EF4-FFF2-40B4-BE49-F238E27FC236}">
                  <a16:creationId xmlns:a16="http://schemas.microsoft.com/office/drawing/2014/main" id="{2C2CCB35-2789-49F4-9309-BE1D614C0AFE}"/>
                </a:ext>
              </a:extLst>
            </p:cNvPr>
            <p:cNvSpPr>
              <a:spLocks/>
            </p:cNvSpPr>
            <p:nvPr/>
          </p:nvSpPr>
          <p:spPr>
            <a:xfrm rot="16200000">
              <a:off x="157626" y="5717470"/>
              <a:ext cx="1022821"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70" name="Group 69">
            <a:extLst>
              <a:ext uri="{FF2B5EF4-FFF2-40B4-BE49-F238E27FC236}">
                <a16:creationId xmlns:a16="http://schemas.microsoft.com/office/drawing/2014/main" id="{BC8075ED-49C2-4CC5-8D11-CD81FEE8E0E5}"/>
              </a:ext>
            </a:extLst>
          </p:cNvPr>
          <p:cNvGrpSpPr/>
          <p:nvPr/>
        </p:nvGrpSpPr>
        <p:grpSpPr>
          <a:xfrm>
            <a:off x="983092" y="1279880"/>
            <a:ext cx="10753637" cy="425486"/>
            <a:chOff x="983092" y="989268"/>
            <a:chExt cx="10753637" cy="425486"/>
          </a:xfrm>
        </p:grpSpPr>
        <p:cxnSp>
          <p:nvCxnSpPr>
            <p:cNvPr id="71" name="Straight Connector 70">
              <a:extLst>
                <a:ext uri="{FF2B5EF4-FFF2-40B4-BE49-F238E27FC236}">
                  <a16:creationId xmlns:a16="http://schemas.microsoft.com/office/drawing/2014/main" id="{8031C484-F9A0-4F30-888C-87B001D0C4AF}"/>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4E6C5F-A88C-4A53-B9AA-EA0875149282}"/>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8" name="object 26">
              <a:extLst>
                <a:ext uri="{FF2B5EF4-FFF2-40B4-BE49-F238E27FC236}">
                  <a16:creationId xmlns:a16="http://schemas.microsoft.com/office/drawing/2014/main" id="{C564400D-D5C9-4A9B-88A4-782D09F84066}"/>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81" name="Oval 80">
              <a:extLst>
                <a:ext uri="{FF2B5EF4-FFF2-40B4-BE49-F238E27FC236}">
                  <a16:creationId xmlns:a16="http://schemas.microsoft.com/office/drawing/2014/main" id="{15760B36-FC23-46D4-976B-812F8274125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90" name="Oval 89">
              <a:extLst>
                <a:ext uri="{FF2B5EF4-FFF2-40B4-BE49-F238E27FC236}">
                  <a16:creationId xmlns:a16="http://schemas.microsoft.com/office/drawing/2014/main" id="{150F9913-DB42-444A-A588-AF030C9E8463}"/>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95" name="Oval 94">
              <a:extLst>
                <a:ext uri="{FF2B5EF4-FFF2-40B4-BE49-F238E27FC236}">
                  <a16:creationId xmlns:a16="http://schemas.microsoft.com/office/drawing/2014/main" id="{34662E52-6537-47EF-9C0D-0B469208B8A5}"/>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96" name="Oval 95">
              <a:extLst>
                <a:ext uri="{FF2B5EF4-FFF2-40B4-BE49-F238E27FC236}">
                  <a16:creationId xmlns:a16="http://schemas.microsoft.com/office/drawing/2014/main" id="{43EE56CB-0302-4978-B87A-C32A5899755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97" name="Oval 96">
              <a:extLst>
                <a:ext uri="{FF2B5EF4-FFF2-40B4-BE49-F238E27FC236}">
                  <a16:creationId xmlns:a16="http://schemas.microsoft.com/office/drawing/2014/main" id="{DABD143A-CEF9-41D3-A385-9CFC2DD4F152}"/>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99" name="Oval 98">
              <a:extLst>
                <a:ext uri="{FF2B5EF4-FFF2-40B4-BE49-F238E27FC236}">
                  <a16:creationId xmlns:a16="http://schemas.microsoft.com/office/drawing/2014/main" id="{4FDB943C-360E-452C-8A93-72ECC11849F0}"/>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101" name="Oval 100">
              <a:extLst>
                <a:ext uri="{FF2B5EF4-FFF2-40B4-BE49-F238E27FC236}">
                  <a16:creationId xmlns:a16="http://schemas.microsoft.com/office/drawing/2014/main" id="{FAD46434-EF57-44B6-BAB7-3B51DFF264F9}"/>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102" name="Oval 101">
              <a:extLst>
                <a:ext uri="{FF2B5EF4-FFF2-40B4-BE49-F238E27FC236}">
                  <a16:creationId xmlns:a16="http://schemas.microsoft.com/office/drawing/2014/main" id="{F7ABA77F-7AC9-4EEB-B925-E709A048FE9D}"/>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103" name="Oval 102">
              <a:extLst>
                <a:ext uri="{FF2B5EF4-FFF2-40B4-BE49-F238E27FC236}">
                  <a16:creationId xmlns:a16="http://schemas.microsoft.com/office/drawing/2014/main" id="{7E70DA54-956D-4024-B038-D7650A4DA234}"/>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104" name="Oval 103">
              <a:extLst>
                <a:ext uri="{FF2B5EF4-FFF2-40B4-BE49-F238E27FC236}">
                  <a16:creationId xmlns:a16="http://schemas.microsoft.com/office/drawing/2014/main" id="{FAB571A3-7331-43AC-AA0E-8E7E3AD3FFE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5" name="Oval 104">
              <a:extLst>
                <a:ext uri="{FF2B5EF4-FFF2-40B4-BE49-F238E27FC236}">
                  <a16:creationId xmlns:a16="http://schemas.microsoft.com/office/drawing/2014/main" id="{83ED2EFB-0E2E-4B9F-9E32-362BF248DBED}"/>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6" name="Oval 105">
              <a:extLst>
                <a:ext uri="{FF2B5EF4-FFF2-40B4-BE49-F238E27FC236}">
                  <a16:creationId xmlns:a16="http://schemas.microsoft.com/office/drawing/2014/main" id="{F8FA3D7C-104C-4EF1-98D6-36849F1B4DEA}"/>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7" name="Oval 106">
              <a:extLst>
                <a:ext uri="{FF2B5EF4-FFF2-40B4-BE49-F238E27FC236}">
                  <a16:creationId xmlns:a16="http://schemas.microsoft.com/office/drawing/2014/main" id="{1EB29444-AEE8-4DEF-AB6A-3F9D425AE6BB}"/>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8" name="Oval 107">
              <a:extLst>
                <a:ext uri="{FF2B5EF4-FFF2-40B4-BE49-F238E27FC236}">
                  <a16:creationId xmlns:a16="http://schemas.microsoft.com/office/drawing/2014/main" id="{40CD8A87-B164-455E-B5D7-D1247C5D05F6}"/>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09" name="Oval 108">
              <a:extLst>
                <a:ext uri="{FF2B5EF4-FFF2-40B4-BE49-F238E27FC236}">
                  <a16:creationId xmlns:a16="http://schemas.microsoft.com/office/drawing/2014/main" id="{ACEE8D4F-3CE3-483D-81E1-649385284848}"/>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0" name="Oval 109">
              <a:extLst>
                <a:ext uri="{FF2B5EF4-FFF2-40B4-BE49-F238E27FC236}">
                  <a16:creationId xmlns:a16="http://schemas.microsoft.com/office/drawing/2014/main" id="{EC93D322-95E2-4FC7-9A72-43C2F5EC3991}"/>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111" name="Oval 110">
              <a:extLst>
                <a:ext uri="{FF2B5EF4-FFF2-40B4-BE49-F238E27FC236}">
                  <a16:creationId xmlns:a16="http://schemas.microsoft.com/office/drawing/2014/main" id="{44CA4D0D-75CC-458B-A4CB-94973A9B2D19}"/>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43" name="Pentagon 194">
            <a:extLst>
              <a:ext uri="{FF2B5EF4-FFF2-40B4-BE49-F238E27FC236}">
                <a16:creationId xmlns:a16="http://schemas.microsoft.com/office/drawing/2014/main" id="{A3EF4467-1E13-4740-A2F3-369C7F9E03FB}"/>
              </a:ext>
            </a:extLst>
          </p:cNvPr>
          <p:cNvSpPr>
            <a:spLocks/>
          </p:cNvSpPr>
          <p:nvPr/>
        </p:nvSpPr>
        <p:spPr>
          <a:xfrm>
            <a:off x="1032842" y="1712205"/>
            <a:ext cx="1308146" cy="233805"/>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38BC9403-799A-4CF1-9DFB-E5E8960C90E6}"/>
              </a:ext>
            </a:extLst>
          </p:cNvPr>
          <p:cNvSpPr>
            <a:spLocks/>
          </p:cNvSpPr>
          <p:nvPr/>
        </p:nvSpPr>
        <p:spPr>
          <a:xfrm>
            <a:off x="2203253" y="1955370"/>
            <a:ext cx="4195590" cy="233805"/>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Design</a:t>
            </a:r>
          </a:p>
        </p:txBody>
      </p:sp>
      <p:sp>
        <p:nvSpPr>
          <p:cNvPr id="45" name="Pentagon 194">
            <a:extLst>
              <a:ext uri="{FF2B5EF4-FFF2-40B4-BE49-F238E27FC236}">
                <a16:creationId xmlns:a16="http://schemas.microsoft.com/office/drawing/2014/main" id="{A1F2E8B4-EE3D-46A0-A676-94C3C3071247}"/>
              </a:ext>
            </a:extLst>
          </p:cNvPr>
          <p:cNvSpPr>
            <a:spLocks/>
          </p:cNvSpPr>
          <p:nvPr/>
        </p:nvSpPr>
        <p:spPr>
          <a:xfrm>
            <a:off x="3060974" y="2200700"/>
            <a:ext cx="4646559" cy="271855"/>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Iterative Build</a:t>
            </a:r>
          </a:p>
        </p:txBody>
      </p:sp>
      <p:sp>
        <p:nvSpPr>
          <p:cNvPr id="46" name="Pentagon 194">
            <a:extLst>
              <a:ext uri="{FF2B5EF4-FFF2-40B4-BE49-F238E27FC236}">
                <a16:creationId xmlns:a16="http://schemas.microsoft.com/office/drawing/2014/main" id="{06D3F6D1-1791-4770-95DF-16447EB06764}"/>
              </a:ext>
            </a:extLst>
          </p:cNvPr>
          <p:cNvSpPr>
            <a:spLocks/>
          </p:cNvSpPr>
          <p:nvPr/>
        </p:nvSpPr>
        <p:spPr>
          <a:xfrm>
            <a:off x="7707534" y="2200700"/>
            <a:ext cx="2925502" cy="271855"/>
          </a:xfrm>
          <a:prstGeom prst="homePlate">
            <a:avLst/>
          </a:prstGeom>
          <a:solidFill>
            <a:srgbClr val="FFCD00"/>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effectLst/>
                <a:uLnTx/>
                <a:uFillTx/>
                <a:latin typeface="Open Sans"/>
                <a:ea typeface="+mn-ea"/>
                <a:cs typeface="Open Sans"/>
              </a:rPr>
              <a:t>Test</a:t>
            </a:r>
          </a:p>
        </p:txBody>
      </p:sp>
      <p:sp>
        <p:nvSpPr>
          <p:cNvPr id="47" name="Pentagon 194">
            <a:extLst>
              <a:ext uri="{FF2B5EF4-FFF2-40B4-BE49-F238E27FC236}">
                <a16:creationId xmlns:a16="http://schemas.microsoft.com/office/drawing/2014/main" id="{F4EAC06D-EE92-448D-82D3-C16F2E09CF72}"/>
              </a:ext>
            </a:extLst>
          </p:cNvPr>
          <p:cNvSpPr>
            <a:spLocks/>
          </p:cNvSpPr>
          <p:nvPr/>
        </p:nvSpPr>
        <p:spPr>
          <a:xfrm>
            <a:off x="10633035" y="2218544"/>
            <a:ext cx="1149424" cy="233805"/>
          </a:xfrm>
          <a:prstGeom prst="homePlate">
            <a:avLst/>
          </a:prstGeom>
          <a:solidFill>
            <a:srgbClr val="7F7F7F"/>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a:t>
            </a:r>
          </a:p>
        </p:txBody>
      </p:sp>
      <p:cxnSp>
        <p:nvCxnSpPr>
          <p:cNvPr id="48" name="Straight Connector 47">
            <a:extLst>
              <a:ext uri="{FF2B5EF4-FFF2-40B4-BE49-F238E27FC236}">
                <a16:creationId xmlns:a16="http://schemas.microsoft.com/office/drawing/2014/main" id="{545AF2D5-4B51-4AE2-9F19-257814250D5C}"/>
              </a:ext>
            </a:extLst>
          </p:cNvPr>
          <p:cNvCxnSpPr>
            <a:cxnSpLocks/>
          </p:cNvCxnSpPr>
          <p:nvPr/>
        </p:nvCxnSpPr>
        <p:spPr>
          <a:xfrm flipH="1">
            <a:off x="1012785" y="2497139"/>
            <a:ext cx="10769674" cy="0"/>
          </a:xfrm>
          <a:prstGeom prst="line">
            <a:avLst/>
          </a:prstGeom>
          <a:noFill/>
          <a:ln w="9525" cap="flat" cmpd="sng" algn="ctr">
            <a:solidFill>
              <a:srgbClr val="000000">
                <a:lumMod val="75000"/>
              </a:srgbClr>
            </a:solidFill>
            <a:prstDash val="dot"/>
            <a:miter lim="800000"/>
          </a:ln>
          <a:effectLst/>
        </p:spPr>
      </p:cxnSp>
      <p:cxnSp>
        <p:nvCxnSpPr>
          <p:cNvPr id="49" name="Straight Connector 48">
            <a:extLst>
              <a:ext uri="{FF2B5EF4-FFF2-40B4-BE49-F238E27FC236}">
                <a16:creationId xmlns:a16="http://schemas.microsoft.com/office/drawing/2014/main" id="{8D711DB6-4513-4EB7-966F-61343AAB5AE9}"/>
              </a:ext>
            </a:extLst>
          </p:cNvPr>
          <p:cNvCxnSpPr>
            <a:cxnSpLocks/>
          </p:cNvCxnSpPr>
          <p:nvPr/>
        </p:nvCxnSpPr>
        <p:spPr>
          <a:xfrm>
            <a:off x="3467908" y="2076918"/>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DDC107-74F1-4344-8187-015690458680}"/>
              </a:ext>
            </a:extLst>
          </p:cNvPr>
          <p:cNvGrpSpPr>
            <a:grpSpLocks noChangeAspect="1"/>
          </p:cNvGrpSpPr>
          <p:nvPr/>
        </p:nvGrpSpPr>
        <p:grpSpPr>
          <a:xfrm>
            <a:off x="4388457" y="1970222"/>
            <a:ext cx="215452" cy="197711"/>
            <a:chOff x="6883093" y="4009408"/>
            <a:chExt cx="411480" cy="411480"/>
          </a:xfrm>
        </p:grpSpPr>
        <p:sp>
          <p:nvSpPr>
            <p:cNvPr id="51" name="Oval 39">
              <a:extLst>
                <a:ext uri="{FF2B5EF4-FFF2-40B4-BE49-F238E27FC236}">
                  <a16:creationId xmlns:a16="http://schemas.microsoft.com/office/drawing/2014/main" id="{8B40A3EF-F028-4636-BC98-1A6FE1ED384F}"/>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52" name="Group 51">
              <a:extLst>
                <a:ext uri="{FF2B5EF4-FFF2-40B4-BE49-F238E27FC236}">
                  <a16:creationId xmlns:a16="http://schemas.microsoft.com/office/drawing/2014/main" id="{7C96EA0A-2CB1-40D2-B64B-B60D52178738}"/>
                </a:ext>
              </a:extLst>
            </p:cNvPr>
            <p:cNvGrpSpPr/>
            <p:nvPr/>
          </p:nvGrpSpPr>
          <p:grpSpPr>
            <a:xfrm>
              <a:off x="6974764" y="4120386"/>
              <a:ext cx="223070" cy="202036"/>
              <a:chOff x="7707288" y="985839"/>
              <a:chExt cx="269912" cy="244473"/>
            </a:xfrm>
          </p:grpSpPr>
          <p:sp>
            <p:nvSpPr>
              <p:cNvPr id="53" name="Freeform 192">
                <a:extLst>
                  <a:ext uri="{FF2B5EF4-FFF2-40B4-BE49-F238E27FC236}">
                    <a16:creationId xmlns:a16="http://schemas.microsoft.com/office/drawing/2014/main" id="{DB0CEBC2-59AE-4528-9FCC-B0BBAF3DA9AE}"/>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4" name="Freeform 208">
                <a:extLst>
                  <a:ext uri="{FF2B5EF4-FFF2-40B4-BE49-F238E27FC236}">
                    <a16:creationId xmlns:a16="http://schemas.microsoft.com/office/drawing/2014/main" id="{B8430E4C-EEAC-436A-8EF2-677E2D9B7F81}"/>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5" name="Freeform 213">
                <a:extLst>
                  <a:ext uri="{FF2B5EF4-FFF2-40B4-BE49-F238E27FC236}">
                    <a16:creationId xmlns:a16="http://schemas.microsoft.com/office/drawing/2014/main" id="{BD352009-C124-43FA-A971-67831EF43598}"/>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6" name="Freeform 214">
                <a:extLst>
                  <a:ext uri="{FF2B5EF4-FFF2-40B4-BE49-F238E27FC236}">
                    <a16:creationId xmlns:a16="http://schemas.microsoft.com/office/drawing/2014/main" id="{FD56A518-395D-4427-BC61-69079FD8B0A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57" name="Freeform 215">
                <a:extLst>
                  <a:ext uri="{FF2B5EF4-FFF2-40B4-BE49-F238E27FC236}">
                    <a16:creationId xmlns:a16="http://schemas.microsoft.com/office/drawing/2014/main" id="{F83777EF-C9F2-4293-8026-7E5C17688DAA}"/>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58" name="Group 57">
            <a:extLst>
              <a:ext uri="{FF2B5EF4-FFF2-40B4-BE49-F238E27FC236}">
                <a16:creationId xmlns:a16="http://schemas.microsoft.com/office/drawing/2014/main" id="{CCA235F0-56D7-43CE-9912-4F2EA95E9321}"/>
              </a:ext>
            </a:extLst>
          </p:cNvPr>
          <p:cNvGrpSpPr>
            <a:grpSpLocks noChangeAspect="1"/>
          </p:cNvGrpSpPr>
          <p:nvPr/>
        </p:nvGrpSpPr>
        <p:grpSpPr>
          <a:xfrm>
            <a:off x="3856075" y="1970222"/>
            <a:ext cx="215452" cy="197711"/>
            <a:chOff x="6883093" y="4009408"/>
            <a:chExt cx="411480" cy="411480"/>
          </a:xfrm>
        </p:grpSpPr>
        <p:sp>
          <p:nvSpPr>
            <p:cNvPr id="59" name="Oval 39">
              <a:extLst>
                <a:ext uri="{FF2B5EF4-FFF2-40B4-BE49-F238E27FC236}">
                  <a16:creationId xmlns:a16="http://schemas.microsoft.com/office/drawing/2014/main" id="{A15D3C41-39D8-44B9-BE1E-424334E96FB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60" name="Group 59">
              <a:extLst>
                <a:ext uri="{FF2B5EF4-FFF2-40B4-BE49-F238E27FC236}">
                  <a16:creationId xmlns:a16="http://schemas.microsoft.com/office/drawing/2014/main" id="{5AE1914E-7350-460B-ADA5-D09196FC7C1A}"/>
                </a:ext>
              </a:extLst>
            </p:cNvPr>
            <p:cNvGrpSpPr/>
            <p:nvPr/>
          </p:nvGrpSpPr>
          <p:grpSpPr>
            <a:xfrm>
              <a:off x="6974764" y="4120386"/>
              <a:ext cx="223070" cy="202036"/>
              <a:chOff x="7707288" y="985839"/>
              <a:chExt cx="269912" cy="244473"/>
            </a:xfrm>
          </p:grpSpPr>
          <p:sp>
            <p:nvSpPr>
              <p:cNvPr id="61" name="Freeform 192">
                <a:extLst>
                  <a:ext uri="{FF2B5EF4-FFF2-40B4-BE49-F238E27FC236}">
                    <a16:creationId xmlns:a16="http://schemas.microsoft.com/office/drawing/2014/main" id="{0910273A-688A-472B-B64E-ABD174074B4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2" name="Freeform 208">
                <a:extLst>
                  <a:ext uri="{FF2B5EF4-FFF2-40B4-BE49-F238E27FC236}">
                    <a16:creationId xmlns:a16="http://schemas.microsoft.com/office/drawing/2014/main" id="{1195F4C5-76C8-4C97-A29A-B9D0B64FC0C4}"/>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3" name="Freeform 213">
                <a:extLst>
                  <a:ext uri="{FF2B5EF4-FFF2-40B4-BE49-F238E27FC236}">
                    <a16:creationId xmlns:a16="http://schemas.microsoft.com/office/drawing/2014/main" id="{F77C07D0-6921-4F08-BB22-3BB1846223B2}"/>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4" name="Freeform 214">
                <a:extLst>
                  <a:ext uri="{FF2B5EF4-FFF2-40B4-BE49-F238E27FC236}">
                    <a16:creationId xmlns:a16="http://schemas.microsoft.com/office/drawing/2014/main" id="{1B18E131-29EC-4E4D-AEC8-3CB2E7DD19C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67" name="Freeform 215">
                <a:extLst>
                  <a:ext uri="{FF2B5EF4-FFF2-40B4-BE49-F238E27FC236}">
                    <a16:creationId xmlns:a16="http://schemas.microsoft.com/office/drawing/2014/main" id="{D03090DA-CA6D-495A-ABC9-49CE7A84F3FB}"/>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cxnSp>
        <p:nvCxnSpPr>
          <p:cNvPr id="72" name="Straight Connector 71">
            <a:extLst>
              <a:ext uri="{FF2B5EF4-FFF2-40B4-BE49-F238E27FC236}">
                <a16:creationId xmlns:a16="http://schemas.microsoft.com/office/drawing/2014/main" id="{0D5642A0-A16F-405C-9693-9F277CE1E46B}"/>
              </a:ext>
            </a:extLst>
          </p:cNvPr>
          <p:cNvCxnSpPr>
            <a:cxnSpLocks/>
          </p:cNvCxnSpPr>
          <p:nvPr/>
        </p:nvCxnSpPr>
        <p:spPr>
          <a:xfrm>
            <a:off x="4183343" y="2335100"/>
            <a:ext cx="1511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FDFD9400-2D33-4B03-BB4C-B28DF4E775D0}"/>
              </a:ext>
            </a:extLst>
          </p:cNvPr>
          <p:cNvGrpSpPr>
            <a:grpSpLocks noChangeAspect="1"/>
          </p:cNvGrpSpPr>
          <p:nvPr/>
        </p:nvGrpSpPr>
        <p:grpSpPr>
          <a:xfrm>
            <a:off x="5103892" y="2228404"/>
            <a:ext cx="215452" cy="197711"/>
            <a:chOff x="6883093" y="4009408"/>
            <a:chExt cx="411480" cy="411480"/>
          </a:xfrm>
        </p:grpSpPr>
        <p:sp>
          <p:nvSpPr>
            <p:cNvPr id="75" name="Oval 39">
              <a:extLst>
                <a:ext uri="{FF2B5EF4-FFF2-40B4-BE49-F238E27FC236}">
                  <a16:creationId xmlns:a16="http://schemas.microsoft.com/office/drawing/2014/main" id="{BE306B52-09EE-4A78-AD90-4C74AD2A056C}"/>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76" name="Group 75">
              <a:extLst>
                <a:ext uri="{FF2B5EF4-FFF2-40B4-BE49-F238E27FC236}">
                  <a16:creationId xmlns:a16="http://schemas.microsoft.com/office/drawing/2014/main" id="{FEE15F66-A033-46C3-B00B-302DAC056D79}"/>
                </a:ext>
              </a:extLst>
            </p:cNvPr>
            <p:cNvGrpSpPr/>
            <p:nvPr/>
          </p:nvGrpSpPr>
          <p:grpSpPr>
            <a:xfrm>
              <a:off x="6974764" y="4120386"/>
              <a:ext cx="223070" cy="202036"/>
              <a:chOff x="7707288" y="985839"/>
              <a:chExt cx="269912" cy="244473"/>
            </a:xfrm>
          </p:grpSpPr>
          <p:sp>
            <p:nvSpPr>
              <p:cNvPr id="77" name="Freeform 192">
                <a:extLst>
                  <a:ext uri="{FF2B5EF4-FFF2-40B4-BE49-F238E27FC236}">
                    <a16:creationId xmlns:a16="http://schemas.microsoft.com/office/drawing/2014/main" id="{2CDEC6A8-12A6-4836-A40B-88854CC64623}"/>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79" name="Freeform 208">
                <a:extLst>
                  <a:ext uri="{FF2B5EF4-FFF2-40B4-BE49-F238E27FC236}">
                    <a16:creationId xmlns:a16="http://schemas.microsoft.com/office/drawing/2014/main" id="{DC3C5FAD-F555-4E16-97B4-A590DDE95200}"/>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0" name="Freeform 213">
                <a:extLst>
                  <a:ext uri="{FF2B5EF4-FFF2-40B4-BE49-F238E27FC236}">
                    <a16:creationId xmlns:a16="http://schemas.microsoft.com/office/drawing/2014/main" id="{1104B414-49A3-44FE-90FD-541997DB13FA}"/>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2" name="Freeform 214">
                <a:extLst>
                  <a:ext uri="{FF2B5EF4-FFF2-40B4-BE49-F238E27FC236}">
                    <a16:creationId xmlns:a16="http://schemas.microsoft.com/office/drawing/2014/main" id="{028E49F4-0656-47F3-B22A-2119285AA438}"/>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83" name="Freeform 215">
                <a:extLst>
                  <a:ext uri="{FF2B5EF4-FFF2-40B4-BE49-F238E27FC236}">
                    <a16:creationId xmlns:a16="http://schemas.microsoft.com/office/drawing/2014/main" id="{9CE07328-4C4A-4278-8E68-B856B03763AC}"/>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grpSp>
        <p:nvGrpSpPr>
          <p:cNvPr id="84" name="Group 83">
            <a:extLst>
              <a:ext uri="{FF2B5EF4-FFF2-40B4-BE49-F238E27FC236}">
                <a16:creationId xmlns:a16="http://schemas.microsoft.com/office/drawing/2014/main" id="{A8D4A09E-EF38-4667-96B2-DE705901A786}"/>
              </a:ext>
            </a:extLst>
          </p:cNvPr>
          <p:cNvGrpSpPr>
            <a:grpSpLocks noChangeAspect="1"/>
          </p:cNvGrpSpPr>
          <p:nvPr/>
        </p:nvGrpSpPr>
        <p:grpSpPr>
          <a:xfrm>
            <a:off x="4571510" y="2228404"/>
            <a:ext cx="215452" cy="197711"/>
            <a:chOff x="6883093" y="4009408"/>
            <a:chExt cx="411480" cy="411480"/>
          </a:xfrm>
        </p:grpSpPr>
        <p:sp>
          <p:nvSpPr>
            <p:cNvPr id="85" name="Oval 39">
              <a:extLst>
                <a:ext uri="{FF2B5EF4-FFF2-40B4-BE49-F238E27FC236}">
                  <a16:creationId xmlns:a16="http://schemas.microsoft.com/office/drawing/2014/main" id="{E98D387C-1F79-45E5-ADE3-0F67BDBC6C32}"/>
                </a:ext>
              </a:extLst>
            </p:cNvPr>
            <p:cNvSpPr>
              <a:spLocks noChangeArrowheads="1"/>
            </p:cNvSpPr>
            <p:nvPr/>
          </p:nvSpPr>
          <p:spPr bwMode="auto">
            <a:xfrm>
              <a:off x="6883093" y="4009408"/>
              <a:ext cx="411480" cy="411480"/>
            </a:xfrm>
            <a:prstGeom prst="ellipse">
              <a:avLst/>
            </a:prstGeom>
            <a:solidFill>
              <a:srgbClr val="FFFFFF"/>
            </a:solidFill>
            <a:ln w="9525" cap="flat">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nvGrpSpPr>
            <p:cNvPr id="88" name="Group 87">
              <a:extLst>
                <a:ext uri="{FF2B5EF4-FFF2-40B4-BE49-F238E27FC236}">
                  <a16:creationId xmlns:a16="http://schemas.microsoft.com/office/drawing/2014/main" id="{0D99CC0D-F5B8-4408-BB55-D51CA93DFE85}"/>
                </a:ext>
              </a:extLst>
            </p:cNvPr>
            <p:cNvGrpSpPr/>
            <p:nvPr/>
          </p:nvGrpSpPr>
          <p:grpSpPr>
            <a:xfrm>
              <a:off x="6974764" y="4120386"/>
              <a:ext cx="223070" cy="202036"/>
              <a:chOff x="7707288" y="985839"/>
              <a:chExt cx="269912" cy="244473"/>
            </a:xfrm>
          </p:grpSpPr>
          <p:sp>
            <p:nvSpPr>
              <p:cNvPr id="89" name="Freeform 192">
                <a:extLst>
                  <a:ext uri="{FF2B5EF4-FFF2-40B4-BE49-F238E27FC236}">
                    <a16:creationId xmlns:a16="http://schemas.microsoft.com/office/drawing/2014/main" id="{29381BA7-CF9F-42D8-9FB8-A46CB1EA7F95}"/>
                  </a:ext>
                </a:extLst>
              </p:cNvPr>
              <p:cNvSpPr>
                <a:spLocks/>
              </p:cNvSpPr>
              <p:nvPr/>
            </p:nvSpPr>
            <p:spPr bwMode="auto">
              <a:xfrm>
                <a:off x="7707288" y="1114426"/>
                <a:ext cx="52388" cy="7938"/>
              </a:xfrm>
              <a:custGeom>
                <a:avLst/>
                <a:gdLst>
                  <a:gd name="T0" fmla="*/ 61 w 66"/>
                  <a:gd name="T1" fmla="*/ 11 h 11"/>
                  <a:gd name="T2" fmla="*/ 61 w 66"/>
                  <a:gd name="T3" fmla="*/ 11 h 11"/>
                  <a:gd name="T4" fmla="*/ 64 w 66"/>
                  <a:gd name="T5" fmla="*/ 11 h 11"/>
                  <a:gd name="T6" fmla="*/ 65 w 66"/>
                  <a:gd name="T7" fmla="*/ 10 h 11"/>
                  <a:gd name="T8" fmla="*/ 66 w 66"/>
                  <a:gd name="T9" fmla="*/ 7 h 11"/>
                  <a:gd name="T10" fmla="*/ 66 w 66"/>
                  <a:gd name="T11" fmla="*/ 6 h 11"/>
                  <a:gd name="T12" fmla="*/ 66 w 66"/>
                  <a:gd name="T13" fmla="*/ 6 h 11"/>
                  <a:gd name="T14" fmla="*/ 66 w 66"/>
                  <a:gd name="T15" fmla="*/ 3 h 11"/>
                  <a:gd name="T16" fmla="*/ 65 w 66"/>
                  <a:gd name="T17" fmla="*/ 1 h 11"/>
                  <a:gd name="T18" fmla="*/ 64 w 66"/>
                  <a:gd name="T19" fmla="*/ 0 h 11"/>
                  <a:gd name="T20" fmla="*/ 61 w 66"/>
                  <a:gd name="T21" fmla="*/ 0 h 11"/>
                  <a:gd name="T22" fmla="*/ 6 w 66"/>
                  <a:gd name="T23" fmla="*/ 0 h 11"/>
                  <a:gd name="T24" fmla="*/ 6 w 66"/>
                  <a:gd name="T25" fmla="*/ 0 h 11"/>
                  <a:gd name="T26" fmla="*/ 3 w 66"/>
                  <a:gd name="T27" fmla="*/ 0 h 11"/>
                  <a:gd name="T28" fmla="*/ 2 w 66"/>
                  <a:gd name="T29" fmla="*/ 1 h 11"/>
                  <a:gd name="T30" fmla="*/ 0 w 66"/>
                  <a:gd name="T31" fmla="*/ 3 h 11"/>
                  <a:gd name="T32" fmla="*/ 0 w 66"/>
                  <a:gd name="T33" fmla="*/ 6 h 11"/>
                  <a:gd name="T34" fmla="*/ 0 w 66"/>
                  <a:gd name="T35" fmla="*/ 6 h 11"/>
                  <a:gd name="T36" fmla="*/ 0 w 66"/>
                  <a:gd name="T37" fmla="*/ 7 h 11"/>
                  <a:gd name="T38" fmla="*/ 2 w 66"/>
                  <a:gd name="T39" fmla="*/ 10 h 11"/>
                  <a:gd name="T40" fmla="*/ 3 w 66"/>
                  <a:gd name="T41" fmla="*/ 11 h 11"/>
                  <a:gd name="T42" fmla="*/ 6 w 66"/>
                  <a:gd name="T43" fmla="*/ 11 h 11"/>
                  <a:gd name="T44" fmla="*/ 61 w 66"/>
                  <a:gd name="T4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6" h="11">
                    <a:moveTo>
                      <a:pt x="61" y="11"/>
                    </a:moveTo>
                    <a:lnTo>
                      <a:pt x="61" y="11"/>
                    </a:lnTo>
                    <a:lnTo>
                      <a:pt x="64" y="11"/>
                    </a:lnTo>
                    <a:lnTo>
                      <a:pt x="65" y="10"/>
                    </a:lnTo>
                    <a:lnTo>
                      <a:pt x="66" y="7"/>
                    </a:lnTo>
                    <a:lnTo>
                      <a:pt x="66" y="6"/>
                    </a:lnTo>
                    <a:lnTo>
                      <a:pt x="66" y="6"/>
                    </a:lnTo>
                    <a:lnTo>
                      <a:pt x="66" y="3"/>
                    </a:lnTo>
                    <a:lnTo>
                      <a:pt x="65" y="1"/>
                    </a:lnTo>
                    <a:lnTo>
                      <a:pt x="64" y="0"/>
                    </a:lnTo>
                    <a:lnTo>
                      <a:pt x="61" y="0"/>
                    </a:lnTo>
                    <a:lnTo>
                      <a:pt x="6" y="0"/>
                    </a:lnTo>
                    <a:lnTo>
                      <a:pt x="6" y="0"/>
                    </a:lnTo>
                    <a:lnTo>
                      <a:pt x="3" y="0"/>
                    </a:lnTo>
                    <a:lnTo>
                      <a:pt x="2" y="1"/>
                    </a:lnTo>
                    <a:lnTo>
                      <a:pt x="0" y="3"/>
                    </a:lnTo>
                    <a:lnTo>
                      <a:pt x="0" y="6"/>
                    </a:lnTo>
                    <a:lnTo>
                      <a:pt x="0" y="6"/>
                    </a:lnTo>
                    <a:lnTo>
                      <a:pt x="0" y="7"/>
                    </a:lnTo>
                    <a:lnTo>
                      <a:pt x="2" y="10"/>
                    </a:lnTo>
                    <a:lnTo>
                      <a:pt x="3" y="11"/>
                    </a:lnTo>
                    <a:lnTo>
                      <a:pt x="6" y="11"/>
                    </a:lnTo>
                    <a:lnTo>
                      <a:pt x="61" y="11"/>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2" name="Freeform 208">
                <a:extLst>
                  <a:ext uri="{FF2B5EF4-FFF2-40B4-BE49-F238E27FC236}">
                    <a16:creationId xmlns:a16="http://schemas.microsoft.com/office/drawing/2014/main" id="{7EDF4AA3-88C1-4345-A9E7-3BFA6E9B938D}"/>
                  </a:ext>
                </a:extLst>
              </p:cNvPr>
              <p:cNvSpPr>
                <a:spLocks/>
              </p:cNvSpPr>
              <p:nvPr/>
            </p:nvSpPr>
            <p:spPr bwMode="auto">
              <a:xfrm>
                <a:off x="7742224" y="1077914"/>
                <a:ext cx="53974" cy="9525"/>
              </a:xfrm>
              <a:custGeom>
                <a:avLst/>
                <a:gdLst>
                  <a:gd name="T0" fmla="*/ 5 w 67"/>
                  <a:gd name="T1" fmla="*/ 13 h 13"/>
                  <a:gd name="T2" fmla="*/ 62 w 67"/>
                  <a:gd name="T3" fmla="*/ 13 h 13"/>
                  <a:gd name="T4" fmla="*/ 62 w 67"/>
                  <a:gd name="T5" fmla="*/ 13 h 13"/>
                  <a:gd name="T6" fmla="*/ 63 w 67"/>
                  <a:gd name="T7" fmla="*/ 11 h 13"/>
                  <a:gd name="T8" fmla="*/ 66 w 67"/>
                  <a:gd name="T9" fmla="*/ 10 h 13"/>
                  <a:gd name="T10" fmla="*/ 66 w 67"/>
                  <a:gd name="T11" fmla="*/ 9 h 13"/>
                  <a:gd name="T12" fmla="*/ 67 w 67"/>
                  <a:gd name="T13" fmla="*/ 6 h 13"/>
                  <a:gd name="T14" fmla="*/ 67 w 67"/>
                  <a:gd name="T15" fmla="*/ 6 h 13"/>
                  <a:gd name="T16" fmla="*/ 66 w 67"/>
                  <a:gd name="T17" fmla="*/ 4 h 13"/>
                  <a:gd name="T18" fmla="*/ 66 w 67"/>
                  <a:gd name="T19" fmla="*/ 2 h 13"/>
                  <a:gd name="T20" fmla="*/ 63 w 67"/>
                  <a:gd name="T21" fmla="*/ 2 h 13"/>
                  <a:gd name="T22" fmla="*/ 62 w 67"/>
                  <a:gd name="T23" fmla="*/ 0 h 13"/>
                  <a:gd name="T24" fmla="*/ 5 w 67"/>
                  <a:gd name="T25" fmla="*/ 0 h 13"/>
                  <a:gd name="T26" fmla="*/ 5 w 67"/>
                  <a:gd name="T27" fmla="*/ 0 h 13"/>
                  <a:gd name="T28" fmla="*/ 2 w 67"/>
                  <a:gd name="T29" fmla="*/ 2 h 13"/>
                  <a:gd name="T30" fmla="*/ 1 w 67"/>
                  <a:gd name="T31" fmla="*/ 2 h 13"/>
                  <a:gd name="T32" fmla="*/ 0 w 67"/>
                  <a:gd name="T33" fmla="*/ 4 h 13"/>
                  <a:gd name="T34" fmla="*/ 0 w 67"/>
                  <a:gd name="T35" fmla="*/ 6 h 13"/>
                  <a:gd name="T36" fmla="*/ 0 w 67"/>
                  <a:gd name="T37" fmla="*/ 6 h 13"/>
                  <a:gd name="T38" fmla="*/ 0 w 67"/>
                  <a:gd name="T39" fmla="*/ 9 h 13"/>
                  <a:gd name="T40" fmla="*/ 1 w 67"/>
                  <a:gd name="T41" fmla="*/ 10 h 13"/>
                  <a:gd name="T42" fmla="*/ 2 w 67"/>
                  <a:gd name="T43" fmla="*/ 11 h 13"/>
                  <a:gd name="T44" fmla="*/ 5 w 67"/>
                  <a:gd name="T45" fmla="*/ 13 h 13"/>
                  <a:gd name="T46" fmla="*/ 5 w 67"/>
                  <a:gd name="T4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13">
                    <a:moveTo>
                      <a:pt x="5" y="13"/>
                    </a:moveTo>
                    <a:lnTo>
                      <a:pt x="62" y="13"/>
                    </a:lnTo>
                    <a:lnTo>
                      <a:pt x="62" y="13"/>
                    </a:lnTo>
                    <a:lnTo>
                      <a:pt x="63" y="11"/>
                    </a:lnTo>
                    <a:lnTo>
                      <a:pt x="66" y="10"/>
                    </a:lnTo>
                    <a:lnTo>
                      <a:pt x="66" y="9"/>
                    </a:lnTo>
                    <a:lnTo>
                      <a:pt x="67" y="6"/>
                    </a:lnTo>
                    <a:lnTo>
                      <a:pt x="67" y="6"/>
                    </a:lnTo>
                    <a:lnTo>
                      <a:pt x="66" y="4"/>
                    </a:lnTo>
                    <a:lnTo>
                      <a:pt x="66" y="2"/>
                    </a:lnTo>
                    <a:lnTo>
                      <a:pt x="63" y="2"/>
                    </a:lnTo>
                    <a:lnTo>
                      <a:pt x="62" y="0"/>
                    </a:lnTo>
                    <a:lnTo>
                      <a:pt x="5" y="0"/>
                    </a:lnTo>
                    <a:lnTo>
                      <a:pt x="5" y="0"/>
                    </a:lnTo>
                    <a:lnTo>
                      <a:pt x="2" y="2"/>
                    </a:lnTo>
                    <a:lnTo>
                      <a:pt x="1" y="2"/>
                    </a:lnTo>
                    <a:lnTo>
                      <a:pt x="0" y="4"/>
                    </a:lnTo>
                    <a:lnTo>
                      <a:pt x="0" y="6"/>
                    </a:lnTo>
                    <a:lnTo>
                      <a:pt x="0" y="6"/>
                    </a:lnTo>
                    <a:lnTo>
                      <a:pt x="0" y="9"/>
                    </a:lnTo>
                    <a:lnTo>
                      <a:pt x="1" y="10"/>
                    </a:lnTo>
                    <a:lnTo>
                      <a:pt x="2" y="11"/>
                    </a:lnTo>
                    <a:lnTo>
                      <a:pt x="5" y="13"/>
                    </a:lnTo>
                    <a:lnTo>
                      <a:pt x="5" y="13"/>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3" name="Freeform 213">
                <a:extLst>
                  <a:ext uri="{FF2B5EF4-FFF2-40B4-BE49-F238E27FC236}">
                    <a16:creationId xmlns:a16="http://schemas.microsoft.com/office/drawing/2014/main" id="{4BA04B54-9C50-4F68-8301-452F477A49F6}"/>
                  </a:ext>
                </a:extLst>
              </p:cNvPr>
              <p:cNvSpPr>
                <a:spLocks/>
              </p:cNvSpPr>
              <p:nvPr/>
            </p:nvSpPr>
            <p:spPr bwMode="auto">
              <a:xfrm>
                <a:off x="7897800" y="985839"/>
                <a:ext cx="61913" cy="61914"/>
              </a:xfrm>
              <a:custGeom>
                <a:avLst/>
                <a:gdLst>
                  <a:gd name="T0" fmla="*/ 39 w 78"/>
                  <a:gd name="T1" fmla="*/ 77 h 77"/>
                  <a:gd name="T2" fmla="*/ 39 w 78"/>
                  <a:gd name="T3" fmla="*/ 77 h 77"/>
                  <a:gd name="T4" fmla="*/ 47 w 78"/>
                  <a:gd name="T5" fmla="*/ 77 h 77"/>
                  <a:gd name="T6" fmla="*/ 54 w 78"/>
                  <a:gd name="T7" fmla="*/ 75 h 77"/>
                  <a:gd name="T8" fmla="*/ 60 w 78"/>
                  <a:gd name="T9" fmla="*/ 71 h 77"/>
                  <a:gd name="T10" fmla="*/ 66 w 78"/>
                  <a:gd name="T11" fmla="*/ 67 h 77"/>
                  <a:gd name="T12" fmla="*/ 71 w 78"/>
                  <a:gd name="T13" fmla="*/ 60 h 77"/>
                  <a:gd name="T14" fmla="*/ 75 w 78"/>
                  <a:gd name="T15" fmla="*/ 53 h 77"/>
                  <a:gd name="T16" fmla="*/ 76 w 78"/>
                  <a:gd name="T17" fmla="*/ 47 h 77"/>
                  <a:gd name="T18" fmla="*/ 78 w 78"/>
                  <a:gd name="T19" fmla="*/ 39 h 77"/>
                  <a:gd name="T20" fmla="*/ 78 w 78"/>
                  <a:gd name="T21" fmla="*/ 39 h 77"/>
                  <a:gd name="T22" fmla="*/ 76 w 78"/>
                  <a:gd name="T23" fmla="*/ 30 h 77"/>
                  <a:gd name="T24" fmla="*/ 75 w 78"/>
                  <a:gd name="T25" fmla="*/ 24 h 77"/>
                  <a:gd name="T26" fmla="*/ 71 w 78"/>
                  <a:gd name="T27" fmla="*/ 17 h 77"/>
                  <a:gd name="T28" fmla="*/ 66 w 78"/>
                  <a:gd name="T29" fmla="*/ 10 h 77"/>
                  <a:gd name="T30" fmla="*/ 60 w 78"/>
                  <a:gd name="T31" fmla="*/ 6 h 77"/>
                  <a:gd name="T32" fmla="*/ 54 w 78"/>
                  <a:gd name="T33" fmla="*/ 2 h 77"/>
                  <a:gd name="T34" fmla="*/ 47 w 78"/>
                  <a:gd name="T35" fmla="*/ 0 h 77"/>
                  <a:gd name="T36" fmla="*/ 39 w 78"/>
                  <a:gd name="T37" fmla="*/ 0 h 77"/>
                  <a:gd name="T38" fmla="*/ 39 w 78"/>
                  <a:gd name="T39" fmla="*/ 0 h 77"/>
                  <a:gd name="T40" fmla="*/ 31 w 78"/>
                  <a:gd name="T41" fmla="*/ 0 h 77"/>
                  <a:gd name="T42" fmla="*/ 23 w 78"/>
                  <a:gd name="T43" fmla="*/ 2 h 77"/>
                  <a:gd name="T44" fmla="*/ 16 w 78"/>
                  <a:gd name="T45" fmla="*/ 6 h 77"/>
                  <a:gd name="T46" fmla="*/ 11 w 78"/>
                  <a:gd name="T47" fmla="*/ 10 h 77"/>
                  <a:gd name="T48" fmla="*/ 7 w 78"/>
                  <a:gd name="T49" fmla="*/ 17 h 77"/>
                  <a:gd name="T50" fmla="*/ 3 w 78"/>
                  <a:gd name="T51" fmla="*/ 24 h 77"/>
                  <a:gd name="T52" fmla="*/ 0 w 78"/>
                  <a:gd name="T53" fmla="*/ 30 h 77"/>
                  <a:gd name="T54" fmla="*/ 0 w 78"/>
                  <a:gd name="T55" fmla="*/ 39 h 77"/>
                  <a:gd name="T56" fmla="*/ 0 w 78"/>
                  <a:gd name="T57" fmla="*/ 39 h 77"/>
                  <a:gd name="T58" fmla="*/ 0 w 78"/>
                  <a:gd name="T59" fmla="*/ 47 h 77"/>
                  <a:gd name="T60" fmla="*/ 3 w 78"/>
                  <a:gd name="T61" fmla="*/ 53 h 77"/>
                  <a:gd name="T62" fmla="*/ 7 w 78"/>
                  <a:gd name="T63" fmla="*/ 60 h 77"/>
                  <a:gd name="T64" fmla="*/ 11 w 78"/>
                  <a:gd name="T65" fmla="*/ 67 h 77"/>
                  <a:gd name="T66" fmla="*/ 16 w 78"/>
                  <a:gd name="T67" fmla="*/ 71 h 77"/>
                  <a:gd name="T68" fmla="*/ 23 w 78"/>
                  <a:gd name="T69" fmla="*/ 75 h 77"/>
                  <a:gd name="T70" fmla="*/ 31 w 78"/>
                  <a:gd name="T71" fmla="*/ 77 h 77"/>
                  <a:gd name="T72" fmla="*/ 39 w 78"/>
                  <a:gd name="T73" fmla="*/ 77 h 77"/>
                  <a:gd name="T74" fmla="*/ 39 w 78"/>
                  <a:gd name="T75"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8" h="77">
                    <a:moveTo>
                      <a:pt x="39" y="77"/>
                    </a:moveTo>
                    <a:lnTo>
                      <a:pt x="39" y="77"/>
                    </a:lnTo>
                    <a:lnTo>
                      <a:pt x="47" y="77"/>
                    </a:lnTo>
                    <a:lnTo>
                      <a:pt x="54" y="75"/>
                    </a:lnTo>
                    <a:lnTo>
                      <a:pt x="60" y="71"/>
                    </a:lnTo>
                    <a:lnTo>
                      <a:pt x="66" y="67"/>
                    </a:lnTo>
                    <a:lnTo>
                      <a:pt x="71" y="60"/>
                    </a:lnTo>
                    <a:lnTo>
                      <a:pt x="75" y="53"/>
                    </a:lnTo>
                    <a:lnTo>
                      <a:pt x="76" y="47"/>
                    </a:lnTo>
                    <a:lnTo>
                      <a:pt x="78" y="39"/>
                    </a:lnTo>
                    <a:lnTo>
                      <a:pt x="78" y="39"/>
                    </a:lnTo>
                    <a:lnTo>
                      <a:pt x="76" y="30"/>
                    </a:lnTo>
                    <a:lnTo>
                      <a:pt x="75" y="24"/>
                    </a:lnTo>
                    <a:lnTo>
                      <a:pt x="71" y="17"/>
                    </a:lnTo>
                    <a:lnTo>
                      <a:pt x="66" y="10"/>
                    </a:lnTo>
                    <a:lnTo>
                      <a:pt x="60" y="6"/>
                    </a:lnTo>
                    <a:lnTo>
                      <a:pt x="54" y="2"/>
                    </a:lnTo>
                    <a:lnTo>
                      <a:pt x="47" y="0"/>
                    </a:lnTo>
                    <a:lnTo>
                      <a:pt x="39" y="0"/>
                    </a:lnTo>
                    <a:lnTo>
                      <a:pt x="39" y="0"/>
                    </a:lnTo>
                    <a:lnTo>
                      <a:pt x="31" y="0"/>
                    </a:lnTo>
                    <a:lnTo>
                      <a:pt x="23" y="2"/>
                    </a:lnTo>
                    <a:lnTo>
                      <a:pt x="16" y="6"/>
                    </a:lnTo>
                    <a:lnTo>
                      <a:pt x="11" y="10"/>
                    </a:lnTo>
                    <a:lnTo>
                      <a:pt x="7" y="17"/>
                    </a:lnTo>
                    <a:lnTo>
                      <a:pt x="3" y="24"/>
                    </a:lnTo>
                    <a:lnTo>
                      <a:pt x="0" y="30"/>
                    </a:lnTo>
                    <a:lnTo>
                      <a:pt x="0" y="39"/>
                    </a:lnTo>
                    <a:lnTo>
                      <a:pt x="0" y="39"/>
                    </a:lnTo>
                    <a:lnTo>
                      <a:pt x="0" y="47"/>
                    </a:lnTo>
                    <a:lnTo>
                      <a:pt x="3" y="53"/>
                    </a:lnTo>
                    <a:lnTo>
                      <a:pt x="7" y="60"/>
                    </a:lnTo>
                    <a:lnTo>
                      <a:pt x="11" y="67"/>
                    </a:lnTo>
                    <a:lnTo>
                      <a:pt x="16" y="71"/>
                    </a:lnTo>
                    <a:lnTo>
                      <a:pt x="23" y="75"/>
                    </a:lnTo>
                    <a:lnTo>
                      <a:pt x="31" y="77"/>
                    </a:lnTo>
                    <a:lnTo>
                      <a:pt x="39" y="77"/>
                    </a:lnTo>
                    <a:lnTo>
                      <a:pt x="39" y="77"/>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4" name="Freeform 214">
                <a:extLst>
                  <a:ext uri="{FF2B5EF4-FFF2-40B4-BE49-F238E27FC236}">
                    <a16:creationId xmlns:a16="http://schemas.microsoft.com/office/drawing/2014/main" id="{E7611263-FF6E-4AC2-BF97-E2DE1124C36E}"/>
                  </a:ext>
                </a:extLst>
              </p:cNvPr>
              <p:cNvSpPr>
                <a:spLocks/>
              </p:cNvSpPr>
              <p:nvPr/>
            </p:nvSpPr>
            <p:spPr bwMode="auto">
              <a:xfrm>
                <a:off x="7788288" y="998537"/>
                <a:ext cx="188912" cy="231775"/>
              </a:xfrm>
              <a:custGeom>
                <a:avLst/>
                <a:gdLst>
                  <a:gd name="T0" fmla="*/ 237 w 239"/>
                  <a:gd name="T1" fmla="*/ 96 h 291"/>
                  <a:gd name="T2" fmla="*/ 226 w 239"/>
                  <a:gd name="T3" fmla="*/ 90 h 291"/>
                  <a:gd name="T4" fmla="*/ 214 w 239"/>
                  <a:gd name="T5" fmla="*/ 92 h 291"/>
                  <a:gd name="T6" fmla="*/ 135 w 239"/>
                  <a:gd name="T7" fmla="*/ 67 h 291"/>
                  <a:gd name="T8" fmla="*/ 135 w 239"/>
                  <a:gd name="T9" fmla="*/ 67 h 291"/>
                  <a:gd name="T10" fmla="*/ 135 w 239"/>
                  <a:gd name="T11" fmla="*/ 67 h 291"/>
                  <a:gd name="T12" fmla="*/ 73 w 239"/>
                  <a:gd name="T13" fmla="*/ 5 h 291"/>
                  <a:gd name="T14" fmla="*/ 62 w 239"/>
                  <a:gd name="T15" fmla="*/ 0 h 291"/>
                  <a:gd name="T16" fmla="*/ 51 w 239"/>
                  <a:gd name="T17" fmla="*/ 4 h 291"/>
                  <a:gd name="T18" fmla="*/ 7 w 239"/>
                  <a:gd name="T19" fmla="*/ 37 h 291"/>
                  <a:gd name="T20" fmla="*/ 0 w 239"/>
                  <a:gd name="T21" fmla="*/ 47 h 291"/>
                  <a:gd name="T22" fmla="*/ 2 w 239"/>
                  <a:gd name="T23" fmla="*/ 57 h 291"/>
                  <a:gd name="T24" fmla="*/ 3 w 239"/>
                  <a:gd name="T25" fmla="*/ 61 h 291"/>
                  <a:gd name="T26" fmla="*/ 12 w 239"/>
                  <a:gd name="T27" fmla="*/ 67 h 291"/>
                  <a:gd name="T28" fmla="*/ 23 w 239"/>
                  <a:gd name="T29" fmla="*/ 66 h 291"/>
                  <a:gd name="T30" fmla="*/ 59 w 239"/>
                  <a:gd name="T31" fmla="*/ 39 h 291"/>
                  <a:gd name="T32" fmla="*/ 54 w 239"/>
                  <a:gd name="T33" fmla="*/ 123 h 291"/>
                  <a:gd name="T34" fmla="*/ 50 w 239"/>
                  <a:gd name="T35" fmla="*/ 129 h 291"/>
                  <a:gd name="T36" fmla="*/ 45 w 239"/>
                  <a:gd name="T37" fmla="*/ 139 h 291"/>
                  <a:gd name="T38" fmla="*/ 43 w 239"/>
                  <a:gd name="T39" fmla="*/ 146 h 291"/>
                  <a:gd name="T40" fmla="*/ 47 w 239"/>
                  <a:gd name="T41" fmla="*/ 164 h 291"/>
                  <a:gd name="T42" fmla="*/ 59 w 239"/>
                  <a:gd name="T43" fmla="*/ 177 h 291"/>
                  <a:gd name="T44" fmla="*/ 81 w 239"/>
                  <a:gd name="T45" fmla="*/ 264 h 291"/>
                  <a:gd name="T46" fmla="*/ 78 w 239"/>
                  <a:gd name="T47" fmla="*/ 270 h 291"/>
                  <a:gd name="T48" fmla="*/ 81 w 239"/>
                  <a:gd name="T49" fmla="*/ 283 h 291"/>
                  <a:gd name="T50" fmla="*/ 85 w 239"/>
                  <a:gd name="T51" fmla="*/ 287 h 291"/>
                  <a:gd name="T52" fmla="*/ 94 w 239"/>
                  <a:gd name="T53" fmla="*/ 291 h 291"/>
                  <a:gd name="T54" fmla="*/ 98 w 239"/>
                  <a:gd name="T55" fmla="*/ 290 h 291"/>
                  <a:gd name="T56" fmla="*/ 106 w 239"/>
                  <a:gd name="T57" fmla="*/ 287 h 291"/>
                  <a:gd name="T58" fmla="*/ 153 w 239"/>
                  <a:gd name="T59" fmla="*/ 216 h 291"/>
                  <a:gd name="T60" fmla="*/ 156 w 239"/>
                  <a:gd name="T61" fmla="*/ 211 h 291"/>
                  <a:gd name="T62" fmla="*/ 156 w 239"/>
                  <a:gd name="T63" fmla="*/ 204 h 291"/>
                  <a:gd name="T64" fmla="*/ 148 w 239"/>
                  <a:gd name="T65" fmla="*/ 193 h 291"/>
                  <a:gd name="T66" fmla="*/ 82 w 239"/>
                  <a:gd name="T67" fmla="*/ 152 h 291"/>
                  <a:gd name="T68" fmla="*/ 79 w 239"/>
                  <a:gd name="T69" fmla="*/ 147 h 291"/>
                  <a:gd name="T70" fmla="*/ 82 w 239"/>
                  <a:gd name="T71" fmla="*/ 143 h 291"/>
                  <a:gd name="T72" fmla="*/ 167 w 239"/>
                  <a:gd name="T73" fmla="*/ 146 h 291"/>
                  <a:gd name="T74" fmla="*/ 172 w 239"/>
                  <a:gd name="T75" fmla="*/ 150 h 291"/>
                  <a:gd name="T76" fmla="*/ 179 w 239"/>
                  <a:gd name="T77" fmla="*/ 152 h 291"/>
                  <a:gd name="T78" fmla="*/ 187 w 239"/>
                  <a:gd name="T79" fmla="*/ 149 h 291"/>
                  <a:gd name="T80" fmla="*/ 233 w 239"/>
                  <a:gd name="T81" fmla="*/ 121 h 291"/>
                  <a:gd name="T82" fmla="*/ 239 w 239"/>
                  <a:gd name="T83" fmla="*/ 110 h 291"/>
                  <a:gd name="T84" fmla="*/ 237 w 239"/>
                  <a:gd name="T85" fmla="*/ 96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9" h="291">
                    <a:moveTo>
                      <a:pt x="237" y="96"/>
                    </a:moveTo>
                    <a:lnTo>
                      <a:pt x="237" y="96"/>
                    </a:lnTo>
                    <a:lnTo>
                      <a:pt x="233" y="92"/>
                    </a:lnTo>
                    <a:lnTo>
                      <a:pt x="226" y="90"/>
                    </a:lnTo>
                    <a:lnTo>
                      <a:pt x="219" y="90"/>
                    </a:lnTo>
                    <a:lnTo>
                      <a:pt x="214" y="92"/>
                    </a:lnTo>
                    <a:lnTo>
                      <a:pt x="180" y="113"/>
                    </a:lnTo>
                    <a:lnTo>
                      <a:pt x="135" y="67"/>
                    </a:lnTo>
                    <a:lnTo>
                      <a:pt x="135" y="67"/>
                    </a:lnTo>
                    <a:lnTo>
                      <a:pt x="135" y="67"/>
                    </a:lnTo>
                    <a:lnTo>
                      <a:pt x="135" y="67"/>
                    </a:lnTo>
                    <a:lnTo>
                      <a:pt x="135" y="67"/>
                    </a:lnTo>
                    <a:lnTo>
                      <a:pt x="73" y="5"/>
                    </a:lnTo>
                    <a:lnTo>
                      <a:pt x="73" y="5"/>
                    </a:lnTo>
                    <a:lnTo>
                      <a:pt x="67" y="1"/>
                    </a:lnTo>
                    <a:lnTo>
                      <a:pt x="62" y="0"/>
                    </a:lnTo>
                    <a:lnTo>
                      <a:pt x="57" y="1"/>
                    </a:lnTo>
                    <a:lnTo>
                      <a:pt x="51" y="4"/>
                    </a:lnTo>
                    <a:lnTo>
                      <a:pt x="7" y="37"/>
                    </a:lnTo>
                    <a:lnTo>
                      <a:pt x="7" y="37"/>
                    </a:lnTo>
                    <a:lnTo>
                      <a:pt x="3" y="41"/>
                    </a:lnTo>
                    <a:lnTo>
                      <a:pt x="0" y="47"/>
                    </a:lnTo>
                    <a:lnTo>
                      <a:pt x="0" y="52"/>
                    </a:lnTo>
                    <a:lnTo>
                      <a:pt x="2" y="57"/>
                    </a:lnTo>
                    <a:lnTo>
                      <a:pt x="2" y="57"/>
                    </a:lnTo>
                    <a:lnTo>
                      <a:pt x="3" y="61"/>
                    </a:lnTo>
                    <a:lnTo>
                      <a:pt x="6" y="64"/>
                    </a:lnTo>
                    <a:lnTo>
                      <a:pt x="12" y="67"/>
                    </a:lnTo>
                    <a:lnTo>
                      <a:pt x="19" y="67"/>
                    </a:lnTo>
                    <a:lnTo>
                      <a:pt x="23" y="66"/>
                    </a:lnTo>
                    <a:lnTo>
                      <a:pt x="26" y="64"/>
                    </a:lnTo>
                    <a:lnTo>
                      <a:pt x="59" y="39"/>
                    </a:lnTo>
                    <a:lnTo>
                      <a:pt x="98" y="79"/>
                    </a:lnTo>
                    <a:lnTo>
                      <a:pt x="54" y="123"/>
                    </a:lnTo>
                    <a:lnTo>
                      <a:pt x="54" y="123"/>
                    </a:lnTo>
                    <a:lnTo>
                      <a:pt x="50" y="129"/>
                    </a:lnTo>
                    <a:lnTo>
                      <a:pt x="46" y="134"/>
                    </a:lnTo>
                    <a:lnTo>
                      <a:pt x="45" y="139"/>
                    </a:lnTo>
                    <a:lnTo>
                      <a:pt x="43" y="146"/>
                    </a:lnTo>
                    <a:lnTo>
                      <a:pt x="43" y="146"/>
                    </a:lnTo>
                    <a:lnTo>
                      <a:pt x="43" y="156"/>
                    </a:lnTo>
                    <a:lnTo>
                      <a:pt x="47" y="164"/>
                    </a:lnTo>
                    <a:lnTo>
                      <a:pt x="51" y="170"/>
                    </a:lnTo>
                    <a:lnTo>
                      <a:pt x="59" y="177"/>
                    </a:lnTo>
                    <a:lnTo>
                      <a:pt x="116" y="212"/>
                    </a:lnTo>
                    <a:lnTo>
                      <a:pt x="81" y="264"/>
                    </a:lnTo>
                    <a:lnTo>
                      <a:pt x="81" y="264"/>
                    </a:lnTo>
                    <a:lnTo>
                      <a:pt x="78" y="270"/>
                    </a:lnTo>
                    <a:lnTo>
                      <a:pt x="78" y="276"/>
                    </a:lnTo>
                    <a:lnTo>
                      <a:pt x="81" y="283"/>
                    </a:lnTo>
                    <a:lnTo>
                      <a:pt x="85" y="287"/>
                    </a:lnTo>
                    <a:lnTo>
                      <a:pt x="85" y="287"/>
                    </a:lnTo>
                    <a:lnTo>
                      <a:pt x="89" y="290"/>
                    </a:lnTo>
                    <a:lnTo>
                      <a:pt x="94" y="291"/>
                    </a:lnTo>
                    <a:lnTo>
                      <a:pt x="94" y="291"/>
                    </a:lnTo>
                    <a:lnTo>
                      <a:pt x="98" y="290"/>
                    </a:lnTo>
                    <a:lnTo>
                      <a:pt x="102" y="289"/>
                    </a:lnTo>
                    <a:lnTo>
                      <a:pt x="106" y="287"/>
                    </a:lnTo>
                    <a:lnTo>
                      <a:pt x="109" y="283"/>
                    </a:lnTo>
                    <a:lnTo>
                      <a:pt x="153" y="216"/>
                    </a:lnTo>
                    <a:lnTo>
                      <a:pt x="153" y="216"/>
                    </a:lnTo>
                    <a:lnTo>
                      <a:pt x="156" y="211"/>
                    </a:lnTo>
                    <a:lnTo>
                      <a:pt x="156" y="204"/>
                    </a:lnTo>
                    <a:lnTo>
                      <a:pt x="156" y="204"/>
                    </a:lnTo>
                    <a:lnTo>
                      <a:pt x="153" y="197"/>
                    </a:lnTo>
                    <a:lnTo>
                      <a:pt x="148" y="193"/>
                    </a:lnTo>
                    <a:lnTo>
                      <a:pt x="82" y="152"/>
                    </a:lnTo>
                    <a:lnTo>
                      <a:pt x="82" y="152"/>
                    </a:lnTo>
                    <a:lnTo>
                      <a:pt x="81" y="150"/>
                    </a:lnTo>
                    <a:lnTo>
                      <a:pt x="79" y="147"/>
                    </a:lnTo>
                    <a:lnTo>
                      <a:pt x="81" y="145"/>
                    </a:lnTo>
                    <a:lnTo>
                      <a:pt x="82" y="143"/>
                    </a:lnTo>
                    <a:lnTo>
                      <a:pt x="122" y="102"/>
                    </a:lnTo>
                    <a:lnTo>
                      <a:pt x="167" y="146"/>
                    </a:lnTo>
                    <a:lnTo>
                      <a:pt x="167" y="146"/>
                    </a:lnTo>
                    <a:lnTo>
                      <a:pt x="172" y="150"/>
                    </a:lnTo>
                    <a:lnTo>
                      <a:pt x="179" y="152"/>
                    </a:lnTo>
                    <a:lnTo>
                      <a:pt x="179" y="152"/>
                    </a:lnTo>
                    <a:lnTo>
                      <a:pt x="183" y="150"/>
                    </a:lnTo>
                    <a:lnTo>
                      <a:pt x="187" y="149"/>
                    </a:lnTo>
                    <a:lnTo>
                      <a:pt x="233" y="121"/>
                    </a:lnTo>
                    <a:lnTo>
                      <a:pt x="233" y="121"/>
                    </a:lnTo>
                    <a:lnTo>
                      <a:pt x="237" y="115"/>
                    </a:lnTo>
                    <a:lnTo>
                      <a:pt x="239" y="110"/>
                    </a:lnTo>
                    <a:lnTo>
                      <a:pt x="239" y="103"/>
                    </a:lnTo>
                    <a:lnTo>
                      <a:pt x="237" y="96"/>
                    </a:lnTo>
                    <a:lnTo>
                      <a:pt x="237" y="96"/>
                    </a:lnTo>
                    <a:close/>
                  </a:path>
                </a:pathLst>
              </a:custGeom>
              <a:solidFill>
                <a:schemeClr val="bg1"/>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sp>
            <p:nvSpPr>
              <p:cNvPr id="115" name="Freeform 215">
                <a:extLst>
                  <a:ext uri="{FF2B5EF4-FFF2-40B4-BE49-F238E27FC236}">
                    <a16:creationId xmlns:a16="http://schemas.microsoft.com/office/drawing/2014/main" id="{C13332AC-5524-433E-9AF0-43586E43DCB1}"/>
                  </a:ext>
                </a:extLst>
              </p:cNvPr>
              <p:cNvSpPr>
                <a:spLocks/>
              </p:cNvSpPr>
              <p:nvPr/>
            </p:nvSpPr>
            <p:spPr bwMode="auto">
              <a:xfrm>
                <a:off x="7712075" y="1136650"/>
                <a:ext cx="96838" cy="47625"/>
              </a:xfrm>
              <a:custGeom>
                <a:avLst/>
                <a:gdLst>
                  <a:gd name="T0" fmla="*/ 93 w 122"/>
                  <a:gd name="T1" fmla="*/ 6 h 61"/>
                  <a:gd name="T2" fmla="*/ 71 w 122"/>
                  <a:gd name="T3" fmla="*/ 27 h 61"/>
                  <a:gd name="T4" fmla="*/ 16 w 122"/>
                  <a:gd name="T5" fmla="*/ 27 h 61"/>
                  <a:gd name="T6" fmla="*/ 16 w 122"/>
                  <a:gd name="T7" fmla="*/ 27 h 61"/>
                  <a:gd name="T8" fmla="*/ 9 w 122"/>
                  <a:gd name="T9" fmla="*/ 29 h 61"/>
                  <a:gd name="T10" fmla="*/ 4 w 122"/>
                  <a:gd name="T11" fmla="*/ 33 h 61"/>
                  <a:gd name="T12" fmla="*/ 1 w 122"/>
                  <a:gd name="T13" fmla="*/ 38 h 61"/>
                  <a:gd name="T14" fmla="*/ 0 w 122"/>
                  <a:gd name="T15" fmla="*/ 45 h 61"/>
                  <a:gd name="T16" fmla="*/ 0 w 122"/>
                  <a:gd name="T17" fmla="*/ 45 h 61"/>
                  <a:gd name="T18" fmla="*/ 1 w 122"/>
                  <a:gd name="T19" fmla="*/ 51 h 61"/>
                  <a:gd name="T20" fmla="*/ 4 w 122"/>
                  <a:gd name="T21" fmla="*/ 57 h 61"/>
                  <a:gd name="T22" fmla="*/ 9 w 122"/>
                  <a:gd name="T23" fmla="*/ 59 h 61"/>
                  <a:gd name="T24" fmla="*/ 16 w 122"/>
                  <a:gd name="T25" fmla="*/ 61 h 61"/>
                  <a:gd name="T26" fmla="*/ 78 w 122"/>
                  <a:gd name="T27" fmla="*/ 61 h 61"/>
                  <a:gd name="T28" fmla="*/ 78 w 122"/>
                  <a:gd name="T29" fmla="*/ 61 h 61"/>
                  <a:gd name="T30" fmla="*/ 84 w 122"/>
                  <a:gd name="T31" fmla="*/ 59 h 61"/>
                  <a:gd name="T32" fmla="*/ 90 w 122"/>
                  <a:gd name="T33" fmla="*/ 57 h 61"/>
                  <a:gd name="T34" fmla="*/ 117 w 122"/>
                  <a:gd name="T35" fmla="*/ 29 h 61"/>
                  <a:gd name="T36" fmla="*/ 117 w 122"/>
                  <a:gd name="T37" fmla="*/ 29 h 61"/>
                  <a:gd name="T38" fmla="*/ 121 w 122"/>
                  <a:gd name="T39" fmla="*/ 23 h 61"/>
                  <a:gd name="T40" fmla="*/ 122 w 122"/>
                  <a:gd name="T41" fmla="*/ 16 h 61"/>
                  <a:gd name="T42" fmla="*/ 121 w 122"/>
                  <a:gd name="T43" fmla="*/ 11 h 61"/>
                  <a:gd name="T44" fmla="*/ 117 w 122"/>
                  <a:gd name="T45" fmla="*/ 6 h 61"/>
                  <a:gd name="T46" fmla="*/ 117 w 122"/>
                  <a:gd name="T47" fmla="*/ 6 h 61"/>
                  <a:gd name="T48" fmla="*/ 111 w 122"/>
                  <a:gd name="T49" fmla="*/ 2 h 61"/>
                  <a:gd name="T50" fmla="*/ 105 w 122"/>
                  <a:gd name="T51" fmla="*/ 0 h 61"/>
                  <a:gd name="T52" fmla="*/ 99 w 122"/>
                  <a:gd name="T53" fmla="*/ 2 h 61"/>
                  <a:gd name="T54" fmla="*/ 93 w 122"/>
                  <a:gd name="T55" fmla="*/ 6 h 61"/>
                  <a:gd name="T56" fmla="*/ 93 w 122"/>
                  <a:gd name="T57" fmla="*/ 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2" h="61">
                    <a:moveTo>
                      <a:pt x="93" y="6"/>
                    </a:moveTo>
                    <a:lnTo>
                      <a:pt x="71" y="27"/>
                    </a:lnTo>
                    <a:lnTo>
                      <a:pt x="16" y="27"/>
                    </a:lnTo>
                    <a:lnTo>
                      <a:pt x="16" y="27"/>
                    </a:lnTo>
                    <a:lnTo>
                      <a:pt x="9" y="29"/>
                    </a:lnTo>
                    <a:lnTo>
                      <a:pt x="4" y="33"/>
                    </a:lnTo>
                    <a:lnTo>
                      <a:pt x="1" y="38"/>
                    </a:lnTo>
                    <a:lnTo>
                      <a:pt x="0" y="45"/>
                    </a:lnTo>
                    <a:lnTo>
                      <a:pt x="0" y="45"/>
                    </a:lnTo>
                    <a:lnTo>
                      <a:pt x="1" y="51"/>
                    </a:lnTo>
                    <a:lnTo>
                      <a:pt x="4" y="57"/>
                    </a:lnTo>
                    <a:lnTo>
                      <a:pt x="9" y="59"/>
                    </a:lnTo>
                    <a:lnTo>
                      <a:pt x="16" y="61"/>
                    </a:lnTo>
                    <a:lnTo>
                      <a:pt x="78" y="61"/>
                    </a:lnTo>
                    <a:lnTo>
                      <a:pt x="78" y="61"/>
                    </a:lnTo>
                    <a:lnTo>
                      <a:pt x="84" y="59"/>
                    </a:lnTo>
                    <a:lnTo>
                      <a:pt x="90" y="57"/>
                    </a:lnTo>
                    <a:lnTo>
                      <a:pt x="117" y="29"/>
                    </a:lnTo>
                    <a:lnTo>
                      <a:pt x="117" y="29"/>
                    </a:lnTo>
                    <a:lnTo>
                      <a:pt x="121" y="23"/>
                    </a:lnTo>
                    <a:lnTo>
                      <a:pt x="122" y="16"/>
                    </a:lnTo>
                    <a:lnTo>
                      <a:pt x="121" y="11"/>
                    </a:lnTo>
                    <a:lnTo>
                      <a:pt x="117" y="6"/>
                    </a:lnTo>
                    <a:lnTo>
                      <a:pt x="117" y="6"/>
                    </a:lnTo>
                    <a:lnTo>
                      <a:pt x="111" y="2"/>
                    </a:lnTo>
                    <a:lnTo>
                      <a:pt x="105" y="0"/>
                    </a:lnTo>
                    <a:lnTo>
                      <a:pt x="99" y="2"/>
                    </a:lnTo>
                    <a:lnTo>
                      <a:pt x="93" y="6"/>
                    </a:lnTo>
                    <a:lnTo>
                      <a:pt x="93" y="6"/>
                    </a:lnTo>
                    <a:close/>
                  </a:path>
                </a:pathLst>
              </a:custGeom>
              <a:solidFill>
                <a:srgbClr val="000000"/>
              </a:solidFill>
              <a:ln w="9525">
                <a:solidFill>
                  <a:schemeClr val="tx1"/>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Open Sans"/>
                  <a:ea typeface="Verdana" panose="020B0604030504040204" pitchFamily="34" charset="0"/>
                  <a:cs typeface="Verdana" panose="020B0604030504040204" pitchFamily="34" charset="0"/>
                </a:endParaRPr>
              </a:p>
            </p:txBody>
          </p:sp>
        </p:grpSp>
      </p:grpSp>
    </p:spTree>
    <p:extLst>
      <p:ext uri="{BB962C8B-B14F-4D97-AF65-F5344CB8AC3E}">
        <p14:creationId xmlns:p14="http://schemas.microsoft.com/office/powerpoint/2010/main" val="757324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650892482"/>
              </p:ext>
            </p:extLst>
          </p:nvPr>
        </p:nvGraphicFramePr>
        <p:xfrm>
          <a:off x="286327" y="563419"/>
          <a:ext cx="11473506" cy="39700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pPr marL="0" indent="0">
                        <a:spcAft>
                          <a:spcPts val="600"/>
                        </a:spcAft>
                        <a:buFont typeface="Arial" panose="020B0604020202020204" pitchFamily="34" charset="0"/>
                        <a:buNone/>
                        <a:defRPr/>
                      </a:pPr>
                      <a:r>
                        <a:rPr lang="en-US" sz="1050" b="0" i="0" kern="1200">
                          <a:solidFill>
                            <a:schemeClr val="dk1"/>
                          </a:solidFill>
                          <a:effectLst/>
                          <a:latin typeface="+mn-lt"/>
                          <a:ea typeface="+mn-ea"/>
                          <a:cs typeface="+mn-cs"/>
                        </a:rPr>
                        <a:t>Collaborate with stakeholders to understand their requirements and ensure they are included in the scope of work</a:t>
                      </a:r>
                      <a:endParaRPr kumimoji="0" lang="en-US" sz="700" b="0" i="0" u="none" strike="noStrike" kern="0" cap="none" spc="0" normalizeH="0" baseline="0" noProof="0">
                        <a:ln>
                          <a:noFill/>
                        </a:ln>
                        <a:solidFill>
                          <a:srgbClr val="000000"/>
                        </a:solidFill>
                        <a:effectLst/>
                        <a:uLnTx/>
                        <a:uFillTx/>
                        <a:latin typeface="Open Sans"/>
                        <a:ea typeface="+mn-ea"/>
                        <a:cs typeface="+mn-cs"/>
                      </a:endParaRPr>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r>
                        <a:rPr lang="en-US" sz="1050" b="0" i="0" kern="1200">
                          <a:solidFill>
                            <a:schemeClr val="dk1"/>
                          </a:solidFill>
                          <a:effectLst/>
                          <a:latin typeface="+mn-lt"/>
                          <a:ea typeface="+mn-ea"/>
                          <a:cs typeface="+mn-cs"/>
                        </a:rPr>
                        <a:t>A well-defined scope document that clearly outlines the goals, objectives, deliverables, and timelines for the project.</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Ensure the scope is clearly defined and aligned with business goals.</a:t>
                      </a:r>
                      <a:endParaRPr lang="en-US" sz="1100"/>
                    </a:p>
                  </a:txBody>
                  <a:tcPr/>
                </a:tc>
                <a:tc>
                  <a:txBody>
                    <a:bodyPr/>
                    <a:lstStyle/>
                    <a:p>
                      <a:r>
                        <a:rPr lang="en-US" sz="1100"/>
                        <a:t>Functional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Review the scope document to ensure that it is technically feasible and achievable.</a:t>
                      </a:r>
                      <a:endParaRPr lang="en-US" sz="1100"/>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r>
                        <a:rPr lang="en-US" sz="1050" b="0" i="0" kern="1200">
                          <a:solidFill>
                            <a:schemeClr val="dk1"/>
                          </a:solidFill>
                          <a:effectLst/>
                          <a:latin typeface="+mn-lt"/>
                          <a:ea typeface="+mn-ea"/>
                          <a:cs typeface="+mn-cs"/>
                        </a:rPr>
                        <a:t>Collaborate with the functional lead to identify potential technical risks and provide input on solutions.</a:t>
                      </a:r>
                    </a:p>
                  </a:txBody>
                  <a:tcPr/>
                </a:tc>
                <a:tc>
                  <a:txBody>
                    <a:bodyPr/>
                    <a:lstStyle/>
                    <a:p>
                      <a:r>
                        <a:rPr lang="en-US" sz="1100"/>
                        <a:t>Technical Lead</a:t>
                      </a:r>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4184875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3626396013"/>
              </p:ext>
            </p:extLst>
          </p:nvPr>
        </p:nvGraphicFramePr>
        <p:xfrm>
          <a:off x="286327" y="563419"/>
          <a:ext cx="11473506" cy="7437120"/>
        </p:xfrm>
        <a:graphic>
          <a:graphicData uri="http://schemas.openxmlformats.org/drawingml/2006/table">
            <a:tbl>
              <a:tblPr firstRow="1" bandRow="1">
                <a:tableStyleId>{5C22544A-7EE6-4342-B048-85BDC9FD1C3A}</a:tableStyleId>
              </a:tblPr>
              <a:tblGrid>
                <a:gridCol w="1912251">
                  <a:extLst>
                    <a:ext uri="{9D8B030D-6E8A-4147-A177-3AD203B41FA5}">
                      <a16:colId xmlns:a16="http://schemas.microsoft.com/office/drawing/2014/main" val="2836749742"/>
                    </a:ext>
                  </a:extLst>
                </a:gridCol>
                <a:gridCol w="1912251">
                  <a:extLst>
                    <a:ext uri="{9D8B030D-6E8A-4147-A177-3AD203B41FA5}">
                      <a16:colId xmlns:a16="http://schemas.microsoft.com/office/drawing/2014/main" val="2027741553"/>
                    </a:ext>
                  </a:extLst>
                </a:gridCol>
                <a:gridCol w="1912251">
                  <a:extLst>
                    <a:ext uri="{9D8B030D-6E8A-4147-A177-3AD203B41FA5}">
                      <a16:colId xmlns:a16="http://schemas.microsoft.com/office/drawing/2014/main" val="3128840304"/>
                    </a:ext>
                  </a:extLst>
                </a:gridCol>
                <a:gridCol w="1912251">
                  <a:extLst>
                    <a:ext uri="{9D8B030D-6E8A-4147-A177-3AD203B41FA5}">
                      <a16:colId xmlns:a16="http://schemas.microsoft.com/office/drawing/2014/main" val="4057921746"/>
                    </a:ext>
                  </a:extLst>
                </a:gridCol>
                <a:gridCol w="1912251">
                  <a:extLst>
                    <a:ext uri="{9D8B030D-6E8A-4147-A177-3AD203B41FA5}">
                      <a16:colId xmlns:a16="http://schemas.microsoft.com/office/drawing/2014/main" val="4039690621"/>
                    </a:ext>
                  </a:extLst>
                </a:gridCol>
                <a:gridCol w="1912251">
                  <a:extLst>
                    <a:ext uri="{9D8B030D-6E8A-4147-A177-3AD203B41FA5}">
                      <a16:colId xmlns:a16="http://schemas.microsoft.com/office/drawing/2014/main" val="3642394042"/>
                    </a:ext>
                  </a:extLst>
                </a:gridCol>
              </a:tblGrid>
              <a:tr h="0">
                <a:tc>
                  <a:txBody>
                    <a:bodyPr/>
                    <a:lstStyle/>
                    <a:p>
                      <a:r>
                        <a:rPr lang="en-US" sz="1100"/>
                        <a:t>Phase</a:t>
                      </a:r>
                    </a:p>
                  </a:txBody>
                  <a:tcPr/>
                </a:tc>
                <a:tc>
                  <a:txBody>
                    <a:bodyPr/>
                    <a:lstStyle/>
                    <a:p>
                      <a:r>
                        <a:rPr lang="en-US" sz="1100"/>
                        <a:t>Activities </a:t>
                      </a:r>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outcome/deliverables</a:t>
                      </a:r>
                    </a:p>
                  </a:txBody>
                  <a:tcPr/>
                </a:tc>
                <a:extLst>
                  <a:ext uri="{0D108BD9-81ED-4DB2-BD59-A6C34878D82A}">
                    <a16:rowId xmlns:a16="http://schemas.microsoft.com/office/drawing/2014/main" val="1764356976"/>
                  </a:ext>
                </a:extLst>
              </a:tr>
              <a:tr h="0">
                <a:tc>
                  <a:txBody>
                    <a:bodyPr/>
                    <a:lstStyle/>
                    <a:p>
                      <a:r>
                        <a:rPr lang="en-US" sz="1100"/>
                        <a:t>Discover</a:t>
                      </a:r>
                    </a:p>
                  </a:txBody>
                  <a:tcPr/>
                </a:tc>
                <a:tc>
                  <a:txBody>
                    <a:bodyPr/>
                    <a:lstStyle/>
                    <a:p>
                      <a:r>
                        <a:rPr lang="en-US" sz="1100"/>
                        <a:t>Finalize the Intergation Touch Points between Oracle and Legacy Applications</a:t>
                      </a:r>
                    </a:p>
                  </a:txBody>
                  <a:tcPr/>
                </a:tc>
                <a:tc>
                  <a:txBody>
                    <a:bodyPr/>
                    <a:lstStyle/>
                    <a:p>
                      <a:r>
                        <a:rPr lang="en-US" sz="1100"/>
                        <a:t>QA Lead (TBD)</a:t>
                      </a:r>
                    </a:p>
                  </a:txBody>
                  <a:tcPr/>
                </a:tc>
                <a:tc>
                  <a:txBody>
                    <a:bodyPr/>
                    <a:lstStyle/>
                    <a:p>
                      <a:endParaRPr lang="en-US" sz="1100"/>
                    </a:p>
                  </a:txBody>
                  <a:tcPr/>
                </a:tc>
                <a:tc>
                  <a:txBody>
                    <a:bodyPr/>
                    <a:lstStyle/>
                    <a:p>
                      <a:endParaRPr lang="en-US" sz="1100"/>
                    </a:p>
                  </a:txBody>
                  <a:tcPr/>
                </a:tc>
                <a:tc>
                  <a:txBody>
                    <a:bodyPr/>
                    <a:lstStyle/>
                    <a:p>
                      <a:r>
                        <a:rPr lang="en-US" sz="1100"/>
                        <a:t>Testing strategy document outlining the approach, scope, risks, timelines, and tools.</a:t>
                      </a:r>
                    </a:p>
                  </a:txBody>
                  <a:tcPr/>
                </a:tc>
                <a:extLst>
                  <a:ext uri="{0D108BD9-81ED-4DB2-BD59-A6C34878D82A}">
                    <a16:rowId xmlns:a16="http://schemas.microsoft.com/office/drawing/2014/main" val="3030336129"/>
                  </a:ext>
                </a:extLst>
              </a:tr>
              <a:tr h="0">
                <a:tc>
                  <a:txBody>
                    <a:bodyPr/>
                    <a:lstStyle/>
                    <a:p>
                      <a:endParaRPr lang="en-US" sz="1100"/>
                    </a:p>
                  </a:txBody>
                  <a:tcPr/>
                </a:tc>
                <a:tc>
                  <a:txBody>
                    <a:bodyPr/>
                    <a:lstStyle/>
                    <a:p>
                      <a:r>
                        <a:rPr lang="en-US" sz="1100"/>
                        <a:t>Tools and Resources that will be used for testing and reporting</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r>
                        <a:rPr lang="en-US" sz="1100"/>
                        <a:t>Test plan document outlining the testing cycles, entry and exit criteria, and roles and responsibilities.</a:t>
                      </a:r>
                    </a:p>
                  </a:txBody>
                  <a:tcPr/>
                </a:tc>
                <a:extLst>
                  <a:ext uri="{0D108BD9-81ED-4DB2-BD59-A6C34878D82A}">
                    <a16:rowId xmlns:a16="http://schemas.microsoft.com/office/drawing/2014/main" val="187872957"/>
                  </a:ext>
                </a:extLst>
              </a:tr>
              <a:tr h="0">
                <a:tc>
                  <a:txBody>
                    <a:bodyPr/>
                    <a:lstStyle/>
                    <a:p>
                      <a:endParaRPr lang="en-US" sz="1100"/>
                    </a:p>
                  </a:txBody>
                  <a:tcPr/>
                </a:tc>
                <a:tc>
                  <a:txBody>
                    <a:bodyPr/>
                    <a:lstStyle/>
                    <a:p>
                      <a:r>
                        <a:rPr lang="en-US" sz="1100"/>
                        <a:t>Identify the test data and team to support with data points</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Test case documents outlining the scenarios, test steps, and expected results.</a:t>
                      </a:r>
                    </a:p>
                    <a:p>
                      <a:pPr marL="171450" indent="-171450">
                        <a:buFont typeface="Arial" panose="020B0604020202020204" pitchFamily="34" charset="0"/>
                        <a:buChar char="•"/>
                      </a:pPr>
                      <a:r>
                        <a:rPr lang="en-US" sz="1100"/>
                        <a:t>Test execution reports detailing the status of each test cycle, including the number of test cases executed, passed, and failed.</a:t>
                      </a:r>
                    </a:p>
                    <a:p>
                      <a:pPr marL="171450" indent="-171450">
                        <a:buFont typeface="Arial" panose="020B0604020202020204" pitchFamily="34" charset="0"/>
                        <a:buChar char="•"/>
                      </a:pPr>
                      <a:r>
                        <a:rPr lang="en-US" sz="1100"/>
                        <a:t>Defect reports detailing the defects identified during testing, including severity, priority, and status.</a:t>
                      </a:r>
                    </a:p>
                    <a:p>
                      <a:pPr marL="171450" indent="-171450">
                        <a:buFont typeface="Arial" panose="020B0604020202020204" pitchFamily="34" charset="0"/>
                        <a:buChar char="•"/>
                      </a:pPr>
                      <a:r>
                        <a:rPr lang="en-US" sz="1100"/>
                        <a:t>Analytical reports detailing the test execution, test coverage, and defect trends.</a:t>
                      </a:r>
                    </a:p>
                    <a:p>
                      <a:pPr marL="171450" indent="-171450">
                        <a:buFont typeface="Arial" panose="020B0604020202020204" pitchFamily="34" charset="0"/>
                        <a:buChar char="•"/>
                      </a:pPr>
                      <a:r>
                        <a:rPr lang="en-US" sz="1100"/>
                        <a:t>Daily QA dashboard providing a summary of the testing progress and status to stakeholders.</a:t>
                      </a:r>
                    </a:p>
                    <a:p>
                      <a:pPr marL="171450" indent="-171450">
                        <a:buFont typeface="Arial" panose="020B0604020202020204" pitchFamily="34" charset="0"/>
                        <a:buChar char="•"/>
                      </a:pPr>
                      <a:r>
                        <a:rPr lang="en-US" sz="1100"/>
                        <a:t>Communication plan outlining the stakeholders, channels, and frequency of communication for Testing</a:t>
                      </a:r>
                    </a:p>
                  </a:txBody>
                  <a:tcPr/>
                </a:tc>
                <a:extLst>
                  <a:ext uri="{0D108BD9-81ED-4DB2-BD59-A6C34878D82A}">
                    <a16:rowId xmlns:a16="http://schemas.microsoft.com/office/drawing/2014/main" val="192904392"/>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7221515"/>
                  </a:ext>
                </a:extLst>
              </a:tr>
              <a:tr h="0">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9875520" cy="914400"/>
          </a:xfrm>
        </p:spPr>
        <p:txBody>
          <a:bodyPr>
            <a:normAutofit/>
          </a:bodyPr>
          <a:lstStyle/>
          <a:p>
            <a:pPr>
              <a:spcBef>
                <a:spcPts val="0"/>
              </a:spcBef>
            </a:pPr>
            <a:r>
              <a:rPr lang="en-US" sz="3200"/>
              <a:t>4 Weeks schedule/activities</a:t>
            </a:r>
          </a:p>
        </p:txBody>
      </p:sp>
    </p:spTree>
    <p:extLst>
      <p:ext uri="{BB962C8B-B14F-4D97-AF65-F5344CB8AC3E}">
        <p14:creationId xmlns:p14="http://schemas.microsoft.com/office/powerpoint/2010/main" val="1173803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nvGraphicFramePr>
        <p:xfrm>
          <a:off x="1118159" y="1007800"/>
          <a:ext cx="10691219" cy="5307622"/>
        </p:xfrm>
        <a:graphic>
          <a:graphicData uri="http://schemas.openxmlformats.org/drawingml/2006/table">
            <a:tbl>
              <a:tblPr firstRow="1" bandRow="1">
                <a:tableStyleId>{5C22544A-7EE6-4342-B048-85BDC9FD1C3A}</a:tableStyleId>
              </a:tblPr>
              <a:tblGrid>
                <a:gridCol w="525816">
                  <a:extLst>
                    <a:ext uri="{9D8B030D-6E8A-4147-A177-3AD203B41FA5}">
                      <a16:colId xmlns:a16="http://schemas.microsoft.com/office/drawing/2014/main" val="1804304856"/>
                    </a:ext>
                  </a:extLst>
                </a:gridCol>
                <a:gridCol w="1745401">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WK</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Alignment Session</a:t>
                      </a:r>
                      <a:r>
                        <a:rPr lang="en-US" sz="1200" i="0"/>
                        <a: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The purpose of the kick-off meeting is to formally notify all project team members that the project has begun and make sure everyone has a common understanding of the project and their roles.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Explain project objectives, scope, approach, governance, project team and timeline</a:t>
                      </a:r>
                      <a:endParaRPr lang="en-US" sz="1200" kern="1200">
                        <a:solidFill>
                          <a:schemeClr val="dk1"/>
                        </a:solidFill>
                        <a:latin typeface="+mn-lt"/>
                        <a:ea typeface="+mn-ea"/>
                        <a:cs typeface="+mn-cs"/>
                      </a:endParaRP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Merchandising/Purchasing, E-Comm, Finance, AP, Stores and DC Operations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Accounting</a:t>
                      </a:r>
                    </a:p>
                  </a:txBody>
                  <a:tcPr marL="45720" marR="45720" marT="27432" marB="27432" anchor="ctr">
                    <a:solidFill>
                      <a:schemeClr val="bg1">
                        <a:lumMod val="95000"/>
                      </a:schemeClr>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Confirm and validate functional scope of the Merchandising Cloud Service (MCS)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Validate decisions for key solution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Identify and assess high-level business impacts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Enable 60% completion of system configuration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t>Build a greater understanding of how business users will interact with the system</a:t>
                      </a:r>
                      <a:endParaRPr lang="en-US" sz="1200" i="0"/>
                    </a:p>
                  </a:txBody>
                  <a:tcPr marL="45720" marR="45720" marT="27432" marB="27432" anchor="ctr">
                    <a:solidFill>
                      <a:schemeClr val="bg1">
                        <a:lumMod val="95000"/>
                      </a:schemeClr>
                    </a:solidFill>
                  </a:tcPr>
                </a:tc>
                <a:tc rowSpan="2">
                  <a:txBody>
                    <a:bodyPr/>
                    <a:lstStyle/>
                    <a:p>
                      <a:pPr marL="171450" indent="-171450">
                        <a:buFont typeface="Arial"/>
                        <a:buChar char="•"/>
                      </a:pPr>
                      <a:r>
                        <a:rPr lang="en-US" sz="1200" i="0"/>
                        <a:t>DT &amp; FD Core Business and Project Team: IT, Data Governance, Merchandising/Purchasing, E-Comm, Finance, AP</a:t>
                      </a:r>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1189423">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Familiarization Session: </a:t>
                      </a:r>
                      <a:r>
                        <a:rPr lang="en-US" sz="1200" i="0"/>
                        <a:t>Foundations Organizational Hierarchy</a:t>
                      </a:r>
                    </a:p>
                  </a:txBody>
                  <a:tcPr marL="45720" marR="45720" marT="27432" marB="27432" anchor="ctr">
                    <a:solidFill>
                      <a:schemeClr val="bg1">
                        <a:lumMod val="95000"/>
                      </a:schemeClr>
                    </a:solidFill>
                  </a:tcPr>
                </a:tc>
                <a:tc vMerge="1">
                  <a:txBody>
                    <a:bodyPr/>
                    <a:lstStyle/>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vMerge="1">
                  <a:txBody>
                    <a:bodyPr/>
                    <a:lstStyle/>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075312267"/>
                  </a:ext>
                </a:extLst>
              </a:tr>
              <a:tr h="764629">
                <a:tc>
                  <a:txBody>
                    <a:bodyPr/>
                    <a:lstStyle/>
                    <a:p>
                      <a:pPr algn="ctr"/>
                      <a:r>
                        <a:rPr lang="en-US" sz="1200" b="1" i="0"/>
                        <a:t>1</a:t>
                      </a:r>
                    </a:p>
                  </a:txBody>
                  <a:tcPr marL="45720" marR="45720" marT="27432" marB="27432" anchor="ctr">
                    <a:solidFill>
                      <a:schemeClr val="bg1">
                        <a:lumMod val="95000"/>
                      </a:schemeClr>
                    </a:solidFill>
                  </a:tcPr>
                </a:tc>
                <a:tc>
                  <a:txBody>
                    <a:bodyPr/>
                    <a:lstStyle/>
                    <a:p>
                      <a:pPr algn="ctr"/>
                      <a:r>
                        <a:rPr lang="en-US" sz="1200" b="1" i="0"/>
                        <a:t>Preparation Session: </a:t>
                      </a:r>
                      <a:r>
                        <a:rPr lang="en-US" sz="1200" i="0"/>
                        <a:t>Technical Integration Prep Session</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a:t>Provide an overview of MFCS integration architecture and the out-of-the-box integration catalogue</a:t>
                      </a:r>
                    </a:p>
                    <a:p>
                      <a:pPr marL="171450" indent="-171450">
                        <a:buFont typeface="Arial" panose="020B0604020202020204" pitchFamily="34" charset="0"/>
                        <a:buChar char="•"/>
                      </a:pPr>
                      <a:r>
                        <a:rPr lang="en-US" sz="1200"/>
                        <a:t>Create an understanding of each integration method and how it is used to integrate within Oracle Retail and external systems</a:t>
                      </a:r>
                    </a:p>
                    <a:p>
                      <a:pPr marL="171450" indent="-171450">
                        <a:buFont typeface="Arial" panose="020B0604020202020204" pitchFamily="34" charset="0"/>
                        <a:buChar char="•"/>
                      </a:pPr>
                      <a:r>
                        <a:rPr lang="en-US" sz="1200"/>
                        <a:t>Facilitate discussion about DT/FD high level integration requirements</a:t>
                      </a:r>
                    </a:p>
                    <a:p>
                      <a:pPr marL="171450" indent="-171450">
                        <a:buFont typeface="Arial" panose="020B0604020202020204" pitchFamily="34" charset="0"/>
                        <a:buChar char="•"/>
                      </a:pPr>
                      <a:r>
                        <a:rPr lang="en-US" sz="1200"/>
                        <a:t>Identify potential integration constraints</a:t>
                      </a:r>
                    </a:p>
                    <a:p>
                      <a:pPr marL="285750" indent="-285750">
                        <a:buFont typeface="Arial" panose="020B0604020202020204" pitchFamily="34" charset="0"/>
                        <a:buChar char="•"/>
                      </a:pPr>
                      <a:endParaRPr lang="en-US" sz="1200"/>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Project Team:  IT</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20965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9D8B513C-F2C5-4E6C-AEE2-3211FC52E52A}"/>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Object 4" hidden="1">
            <a:extLst>
              <a:ext uri="{FF2B5EF4-FFF2-40B4-BE49-F238E27FC236}">
                <a16:creationId xmlns:a16="http://schemas.microsoft.com/office/drawing/2014/main" id="{EF5F04AD-6F82-42E4-B623-32B813813D2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5" name="Object 4" hidden="1">
                        <a:extLst>
                          <a:ext uri="{FF2B5EF4-FFF2-40B4-BE49-F238E27FC236}">
                            <a16:creationId xmlns:a16="http://schemas.microsoft.com/office/drawing/2014/main" id="{EF5F04AD-6F82-42E4-B623-32B813813D2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383EF02-89AB-40AC-8873-F23B261E333C}"/>
              </a:ext>
            </a:extLst>
          </p:cNvPr>
          <p:cNvSpPr>
            <a:spLocks noGrp="1"/>
          </p:cNvSpPr>
          <p:nvPr>
            <p:ph type="title"/>
          </p:nvPr>
        </p:nvSpPr>
        <p:spPr>
          <a:xfrm>
            <a:off x="432167" y="-78139"/>
            <a:ext cx="11011293" cy="1325563"/>
          </a:xfrm>
        </p:spPr>
        <p:txBody>
          <a:bodyPr>
            <a:normAutofit/>
          </a:bodyPr>
          <a:lstStyle/>
          <a:p>
            <a:pPr>
              <a:spcBef>
                <a:spcPts val="0"/>
              </a:spcBef>
            </a:pPr>
            <a:r>
              <a:rPr lang="en-US" sz="3200" dirty="0"/>
              <a:t>Timelines, Activities and Deliverables – ESL IPG</a:t>
            </a:r>
          </a:p>
        </p:txBody>
      </p:sp>
      <p:grpSp>
        <p:nvGrpSpPr>
          <p:cNvPr id="9" name="Group 8">
            <a:extLst>
              <a:ext uri="{FF2B5EF4-FFF2-40B4-BE49-F238E27FC236}">
                <a16:creationId xmlns:a16="http://schemas.microsoft.com/office/drawing/2014/main" id="{ACD35936-3F5F-4D5A-A3B3-997891628E17}"/>
              </a:ext>
            </a:extLst>
          </p:cNvPr>
          <p:cNvGrpSpPr/>
          <p:nvPr/>
        </p:nvGrpSpPr>
        <p:grpSpPr>
          <a:xfrm>
            <a:off x="469456" y="879677"/>
            <a:ext cx="399163" cy="5559225"/>
            <a:chOff x="469456" y="1254763"/>
            <a:chExt cx="399163" cy="5184137"/>
          </a:xfrm>
        </p:grpSpPr>
        <p:sp>
          <p:nvSpPr>
            <p:cNvPr id="61" name="Pentagon 194">
              <a:extLst>
                <a:ext uri="{FF2B5EF4-FFF2-40B4-BE49-F238E27FC236}">
                  <a16:creationId xmlns:a16="http://schemas.microsoft.com/office/drawing/2014/main" id="{06EC075B-645E-4F18-B4DC-846588CD1B67}"/>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 &amp; Phases</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62" name="Pentagon 194">
              <a:extLst>
                <a:ext uri="{FF2B5EF4-FFF2-40B4-BE49-F238E27FC236}">
                  <a16:creationId xmlns:a16="http://schemas.microsoft.com/office/drawing/2014/main" id="{483F9A32-5ECF-4627-B2C7-D18A27C2ACDC}"/>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Activities</a:t>
              </a:r>
            </a:p>
          </p:txBody>
        </p:sp>
        <p:sp>
          <p:nvSpPr>
            <p:cNvPr id="63" name="Pentagon 194">
              <a:extLst>
                <a:ext uri="{FF2B5EF4-FFF2-40B4-BE49-F238E27FC236}">
                  <a16:creationId xmlns:a16="http://schemas.microsoft.com/office/drawing/2014/main" id="{25891947-3DC2-446E-94C1-5382E9252198}"/>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sp>
        <p:nvSpPr>
          <p:cNvPr id="39" name="Rectangle 38">
            <a:extLst>
              <a:ext uri="{FF2B5EF4-FFF2-40B4-BE49-F238E27FC236}">
                <a16:creationId xmlns:a16="http://schemas.microsoft.com/office/drawing/2014/main" id="{55A27C3C-79E3-466E-A4CC-4AA678014409}"/>
              </a:ext>
            </a:extLst>
          </p:cNvPr>
          <p:cNvSpPr/>
          <p:nvPr/>
        </p:nvSpPr>
        <p:spPr>
          <a:xfrm>
            <a:off x="983093" y="1603605"/>
            <a:ext cx="10759624" cy="903839"/>
          </a:xfrm>
          <a:prstGeom prst="rect">
            <a:avLst/>
          </a:prstGeom>
          <a:solidFill>
            <a:srgbClr val="F2F2F2"/>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Open Sans"/>
              <a:ea typeface="+mn-ea"/>
              <a:cs typeface="+mn-cs"/>
            </a:endParaRPr>
          </a:p>
        </p:txBody>
      </p:sp>
      <p:sp>
        <p:nvSpPr>
          <p:cNvPr id="40" name="Rectangle 39">
            <a:extLst>
              <a:ext uri="{FF2B5EF4-FFF2-40B4-BE49-F238E27FC236}">
                <a16:creationId xmlns:a16="http://schemas.microsoft.com/office/drawing/2014/main" id="{71CEDC49-E09B-4EF1-BE35-931ECA9F5FCF}"/>
              </a:ext>
            </a:extLst>
          </p:cNvPr>
          <p:cNvSpPr/>
          <p:nvPr/>
        </p:nvSpPr>
        <p:spPr>
          <a:xfrm>
            <a:off x="3475398" y="2738769"/>
            <a:ext cx="3759245" cy="2347696"/>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Laydown integration strategy inline with EA’s vision for the future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integration patterns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ESL responsibilities to service integration requests for NextGen initiatives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Establish cross initiative communication cadence to understand dependencies and flag risks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Define and catalog canonical models to service short term and long-term initiatives</a:t>
            </a:r>
          </a:p>
          <a:p>
            <a:pPr marL="171450" indent="-171450">
              <a:spcAft>
                <a:spcPts val="600"/>
              </a:spcAft>
              <a:buFont typeface="Arial" panose="020B0604020202020204" pitchFamily="34" charset="0"/>
              <a:buChar char="•"/>
              <a:defRPr/>
            </a:pPr>
            <a:r>
              <a:rPr lang="en-US" sz="1000" kern="0">
                <a:solidFill>
                  <a:srgbClr val="000000"/>
                </a:solidFill>
                <a:latin typeface="Open Sans"/>
              </a:rPr>
              <a:t>Define strategy for handling PCI or other sensitive</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42" name="Pentagon 195">
            <a:extLst>
              <a:ext uri="{FF2B5EF4-FFF2-40B4-BE49-F238E27FC236}">
                <a16:creationId xmlns:a16="http://schemas.microsoft.com/office/drawing/2014/main" id="{E1B2AC90-D6EE-44D5-9215-865A2F14C0F8}"/>
              </a:ext>
            </a:extLst>
          </p:cNvPr>
          <p:cNvSpPr>
            <a:spLocks/>
          </p:cNvSpPr>
          <p:nvPr/>
        </p:nvSpPr>
        <p:spPr>
          <a:xfrm>
            <a:off x="1003888" y="2738769"/>
            <a:ext cx="2384528" cy="2340642"/>
          </a:xfrm>
          <a:prstGeom prst="rect">
            <a:avLst/>
          </a:prstGeom>
          <a:solidFill>
            <a:schemeClr val="bg1">
              <a:lumMod val="95000"/>
            </a:schemeClr>
          </a:solidFill>
          <a:ln w="19050" cap="flat" cmpd="sng" algn="ctr">
            <a:noFill/>
            <a:prstDash val="solid"/>
            <a:miter lim="800000"/>
          </a:ln>
          <a:effectLst/>
        </p:spPr>
        <p:txBody>
          <a:bodyPr lIns="91440" tIns="45720" rIns="91440" bIns="45720" rtlCol="0" anchor="t">
            <a:noAutofit/>
          </a:bodyPr>
          <a:lstStyle/>
          <a:p>
            <a:pPr marL="171450" lvl="0" indent="-171450">
              <a:spcAft>
                <a:spcPts val="600"/>
              </a:spcAft>
              <a:buFont typeface="Arial" panose="020B0604020202020204" pitchFamily="34" charset="0"/>
              <a:buChar char="•"/>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Understand timelines of ongoing </a:t>
            </a:r>
            <a:r>
              <a:rPr lang="en-US" sz="1000" kern="0" dirty="0">
                <a:solidFill>
                  <a:srgbClr val="000000"/>
                </a:solidFill>
                <a:latin typeface="Open Sans"/>
              </a:rPr>
              <a:t>NextGen initiatives</a:t>
            </a:r>
            <a:endParaRPr kumimoji="0" lang="en-US" sz="1000" b="0" i="0" u="none" strike="noStrike" kern="0" cap="none" spc="0" normalizeH="0" baseline="0" noProof="0" dirty="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Review existing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dirty="0">
                <a:solidFill>
                  <a:srgbClr val="000000"/>
                </a:solidFill>
                <a:latin typeface="Open Sans"/>
              </a:rPr>
              <a:t>Understand Enterprise architectures vision for the future landscape</a:t>
            </a:r>
          </a:p>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Consult with enterprise architecture teams and align on current application retirement timelines </a:t>
            </a:r>
          </a:p>
        </p:txBody>
      </p:sp>
      <p:sp>
        <p:nvSpPr>
          <p:cNvPr id="43" name="Pentagon 194">
            <a:extLst>
              <a:ext uri="{FF2B5EF4-FFF2-40B4-BE49-F238E27FC236}">
                <a16:creationId xmlns:a16="http://schemas.microsoft.com/office/drawing/2014/main" id="{A12E0750-3927-481F-9DE9-3ECA041B61B2}"/>
              </a:ext>
            </a:extLst>
          </p:cNvPr>
          <p:cNvSpPr>
            <a:spLocks/>
          </p:cNvSpPr>
          <p:nvPr/>
        </p:nvSpPr>
        <p:spPr>
          <a:xfrm>
            <a:off x="986615" y="1623827"/>
            <a:ext cx="2587142" cy="233805"/>
          </a:xfrm>
          <a:prstGeom prst="homePlate">
            <a:avLst/>
          </a:prstGeom>
          <a:solidFill>
            <a:schemeClr val="accent3"/>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44" name="Pentagon 194">
            <a:extLst>
              <a:ext uri="{FF2B5EF4-FFF2-40B4-BE49-F238E27FC236}">
                <a16:creationId xmlns:a16="http://schemas.microsoft.com/office/drawing/2014/main" id="{B4C93E88-DD68-4E5E-A7FD-CB9630F1B439}"/>
              </a:ext>
            </a:extLst>
          </p:cNvPr>
          <p:cNvSpPr>
            <a:spLocks/>
          </p:cNvSpPr>
          <p:nvPr/>
        </p:nvSpPr>
        <p:spPr>
          <a:xfrm>
            <a:off x="2088057" y="1874401"/>
            <a:ext cx="2604048" cy="226278"/>
          </a:xfrm>
          <a:prstGeom prst="homePlate">
            <a:avLst/>
          </a:prstGeom>
          <a:solidFill>
            <a:schemeClr val="accent2"/>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54" name="Pentagon 194">
            <a:extLst>
              <a:ext uri="{FF2B5EF4-FFF2-40B4-BE49-F238E27FC236}">
                <a16:creationId xmlns:a16="http://schemas.microsoft.com/office/drawing/2014/main" id="{D76F60A2-BEF5-47A9-BB8B-E55BFA7958BD}"/>
              </a:ext>
            </a:extLst>
          </p:cNvPr>
          <p:cNvSpPr>
            <a:spLocks/>
          </p:cNvSpPr>
          <p:nvPr/>
        </p:nvSpPr>
        <p:spPr>
          <a:xfrm>
            <a:off x="3616448" y="2117447"/>
            <a:ext cx="8118352" cy="284851"/>
          </a:xfrm>
          <a:prstGeom prst="homePlate">
            <a:avLst/>
          </a:prstGeom>
          <a:solidFill>
            <a:srgbClr val="005F91"/>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sp>
        <p:nvSpPr>
          <p:cNvPr id="64" name="Rectangle 63">
            <a:extLst>
              <a:ext uri="{FF2B5EF4-FFF2-40B4-BE49-F238E27FC236}">
                <a16:creationId xmlns:a16="http://schemas.microsoft.com/office/drawing/2014/main" id="{0CFC8EB1-74E2-4FEA-8318-282CF1E8DC7E}"/>
              </a:ext>
            </a:extLst>
          </p:cNvPr>
          <p:cNvSpPr/>
          <p:nvPr/>
        </p:nvSpPr>
        <p:spPr>
          <a:xfrm>
            <a:off x="1003888" y="5204456"/>
            <a:ext cx="2386584" cy="116955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rgbClr val="000000"/>
                </a:solidFill>
                <a:effectLst/>
                <a:uLnTx/>
                <a:uFillTx/>
                <a:latin typeface="Open Sans"/>
                <a:ea typeface="+mn-ea"/>
                <a:cs typeface="+mn-cs"/>
              </a:rPr>
              <a:t>NextGen initiatives with milestones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dirty="0">
                <a:solidFill>
                  <a:srgbClr val="000000"/>
                </a:solidFill>
                <a:latin typeface="Open Sans"/>
              </a:rPr>
              <a:t>Application Inventory with dispositioning (Current &amp; NextGen)</a:t>
            </a: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i="0" u="none" strike="noStrike" kern="0" cap="none" spc="0" normalizeH="0" baseline="0" noProof="0" dirty="0">
              <a:ln>
                <a:noFill/>
              </a:ln>
              <a:solidFill>
                <a:srgbClr val="000000"/>
              </a:solidFill>
              <a:effectLst/>
              <a:uLnTx/>
              <a:uFillTx/>
              <a:latin typeface="Open Sans"/>
              <a:ea typeface="+mn-ea"/>
              <a:cs typeface="+mn-cs"/>
            </a:endParaRPr>
          </a:p>
        </p:txBody>
      </p:sp>
      <p:sp>
        <p:nvSpPr>
          <p:cNvPr id="69" name="Rectangle 68">
            <a:extLst>
              <a:ext uri="{FF2B5EF4-FFF2-40B4-BE49-F238E27FC236}">
                <a16:creationId xmlns:a16="http://schemas.microsoft.com/office/drawing/2014/main" id="{D5C1BD3C-AB69-436C-9B44-9F520DFD3DEF}"/>
              </a:ext>
            </a:extLst>
          </p:cNvPr>
          <p:cNvSpPr/>
          <p:nvPr/>
        </p:nvSpPr>
        <p:spPr>
          <a:xfrm>
            <a:off x="7327392" y="2742935"/>
            <a:ext cx="4406041" cy="2340643"/>
          </a:xfrm>
          <a:prstGeom prst="rect">
            <a:avLst/>
          </a:prstGeom>
          <a:solidFill>
            <a:schemeClr val="bg1">
              <a:lumMod val="95000"/>
            </a:schemeClr>
          </a:solidFill>
          <a:ln w="19050">
            <a:noFill/>
          </a:ln>
        </p:spPr>
        <p:txBody>
          <a:bodyPr wrap="square" lIns="91440" tIns="45720" rIns="91440" bIns="45720" anchor="t">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integration pods to design and develop according to standards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Empower ATS team to monitor security and architectural standards</a:t>
            </a:r>
            <a:endParaRPr lang="en-US" sz="1000" kern="0">
              <a:solidFill>
                <a:srgbClr val="000000"/>
              </a:solidFill>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Educate project teams on integration patterns and leverage canonical models to expedite value delivery</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kern="0">
                <a:solidFill>
                  <a:srgbClr val="000000"/>
                </a:solidFill>
                <a:latin typeface="Open Sans"/>
              </a:rPr>
              <a:t>Monitor capacity across integration pods and highlight risks  to NextGen program timelines </a:t>
            </a:r>
            <a:endParaRPr lang="en-US" sz="1000" kern="0">
              <a:solidFill>
                <a:srgbClr val="000000"/>
              </a:solidFill>
              <a:latin typeface="Open Sans"/>
              <a:ea typeface="Open Sans"/>
              <a:cs typeface="Open Sans"/>
            </a:endParaRP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Application Integration Strategy</a:t>
            </a:r>
          </a:p>
          <a:p>
            <a:pPr marL="171450" indent="-171450">
              <a:spcAft>
                <a:spcPts val="600"/>
              </a:spcAft>
              <a:buFont typeface="Arial" panose="020B0604020202020204" pitchFamily="34" charset="0"/>
              <a:buChar char="•"/>
              <a:defRPr/>
            </a:pPr>
            <a:r>
              <a:rPr lang="en-US" sz="1000" b="1" kern="0">
                <a:solidFill>
                  <a:srgbClr val="000000"/>
                </a:solidFill>
                <a:latin typeface="Open Sans"/>
              </a:rPr>
              <a:t>Review and Update Data Integration Strategy</a:t>
            </a:r>
          </a:p>
          <a:p>
            <a:pPr marL="171450" indent="-171450">
              <a:spcAft>
                <a:spcPts val="600"/>
              </a:spcAft>
              <a:buFont typeface="Arial" panose="020B0604020202020204" pitchFamily="34" charset="0"/>
              <a:buChar char="•"/>
              <a:defRPr/>
            </a:pPr>
            <a:r>
              <a:rPr lang="en-US" sz="1000" b="1">
                <a:latin typeface="Open Sans"/>
                <a:ea typeface="Open Sans"/>
                <a:cs typeface="Open Sans"/>
              </a:rPr>
              <a:t>Review and Update Cross Technology Project Release Plan</a:t>
            </a:r>
          </a:p>
          <a:p>
            <a:pPr marL="171450" indent="-171450">
              <a:spcAft>
                <a:spcPts val="600"/>
              </a:spcAft>
              <a:buFont typeface="Arial" panose="020B0604020202020204" pitchFamily="34" charset="0"/>
              <a:buChar char="•"/>
              <a:defRPr/>
            </a:pPr>
            <a:r>
              <a:rPr lang="en-US" sz="1000" b="1" kern="0">
                <a:solidFill>
                  <a:srgbClr val="000000"/>
                </a:solidFill>
                <a:latin typeface="Open Sans"/>
              </a:rPr>
              <a:t>Update Application Inventory</a:t>
            </a:r>
            <a:endParaRPr lang="en-US" sz="1000" b="1" i="0" u="none" strike="noStrike" kern="0" cap="none" spc="0" normalizeH="0" baseline="0" noProof="0">
              <a:ln>
                <a:noFill/>
              </a:ln>
              <a:solidFill>
                <a:srgbClr val="000000"/>
              </a:solidFill>
              <a:effectLst/>
              <a:uLnTx/>
              <a:uFillTx/>
              <a:latin typeface="Open Sans"/>
              <a:ea typeface="Open Sans"/>
              <a:cs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lang="en-US" sz="1000" kern="0">
              <a:solidFill>
                <a:srgbClr val="000000"/>
              </a:solidFill>
              <a:latin typeface="Open San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a:p>
            <a:pPr marL="171450" marR="0" lvl="0" indent="-171450" defTabSz="914400" eaLnBrk="1" fontAlgn="auto" latinLnBrk="0" hangingPunct="1">
              <a:spcAft>
                <a:spcPts val="600"/>
              </a:spcAft>
              <a:buClrTx/>
              <a:buSzTx/>
              <a:buFont typeface="Arial" panose="020B0604020202020204" pitchFamily="34" charset="0"/>
              <a:buChar char="•"/>
              <a:tabLst/>
              <a:defRPr/>
            </a:pPr>
            <a:endParaRPr kumimoji="0" lang="en-US" sz="1000" b="0" i="0" u="none" strike="noStrike" kern="0" cap="none" spc="0" normalizeH="0" baseline="0" noProof="0">
              <a:ln>
                <a:noFill/>
              </a:ln>
              <a:solidFill>
                <a:srgbClr val="000000"/>
              </a:solidFill>
              <a:effectLst/>
              <a:uLnTx/>
              <a:uFillTx/>
              <a:latin typeface="Open Sans"/>
              <a:ea typeface="+mn-ea"/>
              <a:cs typeface="+mn-cs"/>
            </a:endParaRPr>
          </a:p>
        </p:txBody>
      </p:sp>
      <p:sp>
        <p:nvSpPr>
          <p:cNvPr id="71" name="Rectangle 70">
            <a:extLst>
              <a:ext uri="{FF2B5EF4-FFF2-40B4-BE49-F238E27FC236}">
                <a16:creationId xmlns:a16="http://schemas.microsoft.com/office/drawing/2014/main" id="{831C6C4F-F5AE-451A-B48B-105AF0616CA7}"/>
              </a:ext>
            </a:extLst>
          </p:cNvPr>
          <p:cNvSpPr/>
          <p:nvPr/>
        </p:nvSpPr>
        <p:spPr>
          <a:xfrm>
            <a:off x="3475398" y="5204456"/>
            <a:ext cx="3758184" cy="1176671"/>
          </a:xfrm>
          <a:prstGeom prst="rect">
            <a:avLst/>
          </a:prstGeom>
          <a:solidFill>
            <a:schemeClr val="bg1">
              <a:lumMod val="95000"/>
            </a:schemeClr>
          </a:solidFill>
          <a:ln w="19050">
            <a:noFill/>
          </a:ln>
        </p:spPr>
        <p:txBody>
          <a:bodyPr wrap="square" lIns="91440" tIns="45720" rIns="91440" bIns="45720">
            <a:noAutofit/>
          </a:bodyPr>
          <a:lstStyle/>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Application Integration strategy</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Data integration strategy (including initial canonical models)</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a:latin typeface="Open Sans" panose="020B0606030504020204" pitchFamily="34" charset="0"/>
                <a:ea typeface="Open Sans" panose="020B0606030504020204" pitchFamily="34" charset="0"/>
                <a:cs typeface="Open Sans" panose="020B0606030504020204" pitchFamily="34" charset="0"/>
              </a:rPr>
              <a:t>Cross Technology Project Release Plan</a:t>
            </a:r>
          </a:p>
        </p:txBody>
      </p:sp>
      <p:sp>
        <p:nvSpPr>
          <p:cNvPr id="74" name="Rectangle 73">
            <a:extLst>
              <a:ext uri="{FF2B5EF4-FFF2-40B4-BE49-F238E27FC236}">
                <a16:creationId xmlns:a16="http://schemas.microsoft.com/office/drawing/2014/main" id="{3BE0E449-58F0-4FFD-BCB7-0AAD1710EC04}"/>
              </a:ext>
            </a:extLst>
          </p:cNvPr>
          <p:cNvSpPr/>
          <p:nvPr/>
        </p:nvSpPr>
        <p:spPr>
          <a:xfrm>
            <a:off x="7326025" y="5204456"/>
            <a:ext cx="4407408" cy="1176671"/>
          </a:xfrm>
          <a:prstGeom prst="rect">
            <a:avLst/>
          </a:prstGeom>
          <a:solidFill>
            <a:schemeClr val="bg1">
              <a:lumMod val="95000"/>
            </a:schemeClr>
          </a:solidFill>
          <a:ln w="19050">
            <a:noFill/>
          </a:ln>
        </p:spPr>
        <p:txBody>
          <a:bodyPr wrap="square" lIns="91440" tIns="45720" rIns="91440" bIns="45720">
            <a:noAutofit/>
          </a:bodyPr>
          <a:lstStyle/>
          <a:p>
            <a:pPr marL="171450" indent="-171450">
              <a:spcAft>
                <a:spcPts val="600"/>
              </a:spcAft>
              <a:buFont typeface="Arial" panose="020B0604020202020204" pitchFamily="34" charset="0"/>
              <a:buChar char="•"/>
              <a:defRPr/>
            </a:pPr>
            <a:r>
              <a:rPr lang="en-US" sz="1000" kern="0">
                <a:solidFill>
                  <a:srgbClr val="000000"/>
                </a:solidFill>
                <a:latin typeface="Open Sans"/>
              </a:rPr>
              <a:t>Weekly IPG Status Report</a:t>
            </a:r>
          </a:p>
          <a:p>
            <a:pPr marL="171450" marR="0" lvl="0" indent="-171450" defTabSz="914400" eaLnBrk="1" fontAlgn="auto" latinLnBrk="0" hangingPunct="1">
              <a:spcAft>
                <a:spcPts val="600"/>
              </a:spcAft>
              <a:buClrTx/>
              <a:buSzTx/>
              <a:buFont typeface="Arial" panose="020B0604020202020204" pitchFamily="34" charset="0"/>
              <a:buChar char="•"/>
              <a:tabLst/>
              <a:defRPr/>
            </a:pPr>
            <a:r>
              <a:rPr lang="en-US" sz="1000" kern="0">
                <a:solidFill>
                  <a:srgbClr val="000000"/>
                </a:solidFill>
                <a:latin typeface="Open Sans"/>
              </a:rPr>
              <a:t>Architecture Review Board (ARB) Playbook and Guidelines</a:t>
            </a:r>
          </a:p>
        </p:txBody>
      </p:sp>
      <p:sp>
        <p:nvSpPr>
          <p:cNvPr id="4" name="Pentagon 194">
            <a:extLst>
              <a:ext uri="{FF2B5EF4-FFF2-40B4-BE49-F238E27FC236}">
                <a16:creationId xmlns:a16="http://schemas.microsoft.com/office/drawing/2014/main" id="{4454E732-413F-6CA6-4539-73DA8C9127BF}"/>
              </a:ext>
            </a:extLst>
          </p:cNvPr>
          <p:cNvSpPr>
            <a:spLocks/>
          </p:cNvSpPr>
          <p:nvPr/>
        </p:nvSpPr>
        <p:spPr>
          <a:xfrm>
            <a:off x="1003888" y="2520896"/>
            <a:ext cx="2383533" cy="196112"/>
          </a:xfrm>
          <a:prstGeom prst="rect">
            <a:avLst/>
          </a:prstGeom>
          <a:solidFill>
            <a:schemeClr val="accent3"/>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Discover</a:t>
            </a:r>
          </a:p>
        </p:txBody>
      </p:sp>
      <p:sp>
        <p:nvSpPr>
          <p:cNvPr id="6" name="Pentagon 194">
            <a:extLst>
              <a:ext uri="{FF2B5EF4-FFF2-40B4-BE49-F238E27FC236}">
                <a16:creationId xmlns:a16="http://schemas.microsoft.com/office/drawing/2014/main" id="{5E95083C-3DCA-0ED7-8F73-F3CCA9534F1D}"/>
              </a:ext>
            </a:extLst>
          </p:cNvPr>
          <p:cNvSpPr>
            <a:spLocks/>
          </p:cNvSpPr>
          <p:nvPr/>
        </p:nvSpPr>
        <p:spPr>
          <a:xfrm>
            <a:off x="3475398" y="2520896"/>
            <a:ext cx="3759245" cy="196112"/>
          </a:xfrm>
          <a:prstGeom prst="rect">
            <a:avLst/>
          </a:prstGeom>
          <a:solidFill>
            <a:schemeClr val="accent2"/>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Define</a:t>
            </a:r>
          </a:p>
        </p:txBody>
      </p:sp>
      <p:sp>
        <p:nvSpPr>
          <p:cNvPr id="7" name="Pentagon 194">
            <a:extLst>
              <a:ext uri="{FF2B5EF4-FFF2-40B4-BE49-F238E27FC236}">
                <a16:creationId xmlns:a16="http://schemas.microsoft.com/office/drawing/2014/main" id="{7EDC680F-47A7-502E-54FA-A4A364238A41}"/>
              </a:ext>
            </a:extLst>
          </p:cNvPr>
          <p:cNvSpPr>
            <a:spLocks/>
          </p:cNvSpPr>
          <p:nvPr/>
        </p:nvSpPr>
        <p:spPr>
          <a:xfrm>
            <a:off x="7327392" y="2520896"/>
            <a:ext cx="4406041" cy="196112"/>
          </a:xfrm>
          <a:prstGeom prst="rect">
            <a:avLst/>
          </a:prstGeom>
          <a:solidFill>
            <a:srgbClr val="005F91"/>
          </a:solidFill>
          <a:ln w="19050" cap="flat" cmpd="sng" algn="ctr">
            <a:no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Empower</a:t>
            </a:r>
          </a:p>
        </p:txBody>
      </p:sp>
      <p:cxnSp>
        <p:nvCxnSpPr>
          <p:cNvPr id="41" name="Straight Connector 40">
            <a:extLst>
              <a:ext uri="{FF2B5EF4-FFF2-40B4-BE49-F238E27FC236}">
                <a16:creationId xmlns:a16="http://schemas.microsoft.com/office/drawing/2014/main" id="{F26076ED-3816-4674-A681-11FD8A7D5574}"/>
              </a:ext>
            </a:extLst>
          </p:cNvPr>
          <p:cNvCxnSpPr>
            <a:cxnSpLocks/>
          </p:cNvCxnSpPr>
          <p:nvPr/>
        </p:nvCxnSpPr>
        <p:spPr>
          <a:xfrm flipH="1">
            <a:off x="992637" y="5147655"/>
            <a:ext cx="10711683" cy="0"/>
          </a:xfrm>
          <a:prstGeom prst="line">
            <a:avLst/>
          </a:prstGeom>
          <a:noFill/>
          <a:ln w="12700" cap="flat" cmpd="sng" algn="ctr">
            <a:solidFill>
              <a:schemeClr val="tx1"/>
            </a:solidFill>
            <a:prstDash val="dot"/>
            <a:miter lim="800000"/>
          </a:ln>
          <a:effectLst/>
        </p:spPr>
      </p:cxnSp>
      <p:cxnSp>
        <p:nvCxnSpPr>
          <p:cNvPr id="12" name="Straight Connector 11">
            <a:extLst>
              <a:ext uri="{FF2B5EF4-FFF2-40B4-BE49-F238E27FC236}">
                <a16:creationId xmlns:a16="http://schemas.microsoft.com/office/drawing/2014/main" id="{34B43633-7F6C-49E5-9B8C-1A4CDC9D7203}"/>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8" name="object 26">
            <a:extLst>
              <a:ext uri="{FF2B5EF4-FFF2-40B4-BE49-F238E27FC236}">
                <a16:creationId xmlns:a16="http://schemas.microsoft.com/office/drawing/2014/main" id="{16D0E6E8-C2FE-4AC6-AF37-6C7E3999BC5C}"/>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13" name="Oval 12">
            <a:extLst>
              <a:ext uri="{FF2B5EF4-FFF2-40B4-BE49-F238E27FC236}">
                <a16:creationId xmlns:a16="http://schemas.microsoft.com/office/drawing/2014/main" id="{1024FAB5-AAB6-4848-8F8C-E9ADB0FB9EBE}"/>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53" name="Oval 52">
            <a:extLst>
              <a:ext uri="{FF2B5EF4-FFF2-40B4-BE49-F238E27FC236}">
                <a16:creationId xmlns:a16="http://schemas.microsoft.com/office/drawing/2014/main" id="{953E9E5E-B634-4BBA-B19E-16E42589969C}"/>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56" name="Oval 55">
            <a:extLst>
              <a:ext uri="{FF2B5EF4-FFF2-40B4-BE49-F238E27FC236}">
                <a16:creationId xmlns:a16="http://schemas.microsoft.com/office/drawing/2014/main" id="{96808809-3294-4F16-A619-5D5C1072CA98}"/>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57" name="Oval 56">
            <a:extLst>
              <a:ext uri="{FF2B5EF4-FFF2-40B4-BE49-F238E27FC236}">
                <a16:creationId xmlns:a16="http://schemas.microsoft.com/office/drawing/2014/main" id="{A5FE6FFD-9384-40E1-A19B-CA00AB659F61}"/>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58" name="Oval 57">
            <a:extLst>
              <a:ext uri="{FF2B5EF4-FFF2-40B4-BE49-F238E27FC236}">
                <a16:creationId xmlns:a16="http://schemas.microsoft.com/office/drawing/2014/main" id="{7E634CE1-9960-46C1-9781-0905AD27F78F}"/>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65" name="Oval 64">
            <a:extLst>
              <a:ext uri="{FF2B5EF4-FFF2-40B4-BE49-F238E27FC236}">
                <a16:creationId xmlns:a16="http://schemas.microsoft.com/office/drawing/2014/main" id="{7F7F3A09-CF03-4AF2-BA47-E00BDEEAC7AF}"/>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67" name="Oval 66">
            <a:extLst>
              <a:ext uri="{FF2B5EF4-FFF2-40B4-BE49-F238E27FC236}">
                <a16:creationId xmlns:a16="http://schemas.microsoft.com/office/drawing/2014/main" id="{87983A7A-BB8E-4577-ACEE-3AA62DC1E243}"/>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0" name="Oval 69">
            <a:extLst>
              <a:ext uri="{FF2B5EF4-FFF2-40B4-BE49-F238E27FC236}">
                <a16:creationId xmlns:a16="http://schemas.microsoft.com/office/drawing/2014/main" id="{698D76A9-7FDD-47DC-8708-C18BFDF84F97}"/>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72" name="Oval 71">
            <a:extLst>
              <a:ext uri="{FF2B5EF4-FFF2-40B4-BE49-F238E27FC236}">
                <a16:creationId xmlns:a16="http://schemas.microsoft.com/office/drawing/2014/main" id="{98747D4B-2E9E-475C-BC45-8B265F15EE1B}"/>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75" name="Oval 74">
            <a:extLst>
              <a:ext uri="{FF2B5EF4-FFF2-40B4-BE49-F238E27FC236}">
                <a16:creationId xmlns:a16="http://schemas.microsoft.com/office/drawing/2014/main" id="{1A8EE777-2E53-44C2-8055-44CF01B029B6}"/>
              </a:ext>
            </a:extLst>
          </p:cNvPr>
          <p:cNvSpPr/>
          <p:nvPr/>
        </p:nvSpPr>
        <p:spPr bwMode="gray">
          <a:xfrm>
            <a:off x="166204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6" name="Oval 75">
            <a:extLst>
              <a:ext uri="{FF2B5EF4-FFF2-40B4-BE49-F238E27FC236}">
                <a16:creationId xmlns:a16="http://schemas.microsoft.com/office/drawing/2014/main" id="{784C620B-BC0A-4A5A-BC31-9A642A66B757}"/>
              </a:ext>
            </a:extLst>
          </p:cNvPr>
          <p:cNvSpPr/>
          <p:nvPr/>
        </p:nvSpPr>
        <p:spPr bwMode="gray">
          <a:xfrm>
            <a:off x="2972318"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7" name="Oval 76">
            <a:extLst>
              <a:ext uri="{FF2B5EF4-FFF2-40B4-BE49-F238E27FC236}">
                <a16:creationId xmlns:a16="http://schemas.microsoft.com/office/drawing/2014/main" id="{86C78941-E257-4180-B911-F3ADAEAF237D}"/>
              </a:ext>
            </a:extLst>
          </p:cNvPr>
          <p:cNvSpPr/>
          <p:nvPr/>
        </p:nvSpPr>
        <p:spPr bwMode="gray">
          <a:xfrm>
            <a:off x="4297036"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8" name="Oval 77">
            <a:extLst>
              <a:ext uri="{FF2B5EF4-FFF2-40B4-BE49-F238E27FC236}">
                <a16:creationId xmlns:a16="http://schemas.microsoft.com/office/drawing/2014/main" id="{21619F76-9B24-4A39-A40B-FDF15D5B8491}"/>
              </a:ext>
            </a:extLst>
          </p:cNvPr>
          <p:cNvSpPr/>
          <p:nvPr/>
        </p:nvSpPr>
        <p:spPr bwMode="gray">
          <a:xfrm>
            <a:off x="5588133"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79" name="Oval 78">
            <a:extLst>
              <a:ext uri="{FF2B5EF4-FFF2-40B4-BE49-F238E27FC236}">
                <a16:creationId xmlns:a16="http://schemas.microsoft.com/office/drawing/2014/main" id="{C1A0D740-F3B2-4F0C-8D22-38278413748D}"/>
              </a:ext>
            </a:extLst>
          </p:cNvPr>
          <p:cNvSpPr/>
          <p:nvPr/>
        </p:nvSpPr>
        <p:spPr bwMode="gray">
          <a:xfrm>
            <a:off x="6899677"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0" name="Oval 79">
            <a:extLst>
              <a:ext uri="{FF2B5EF4-FFF2-40B4-BE49-F238E27FC236}">
                <a16:creationId xmlns:a16="http://schemas.microsoft.com/office/drawing/2014/main" id="{F8CFA576-8995-4915-A6DA-D6D803D53A56}"/>
              </a:ext>
            </a:extLst>
          </p:cNvPr>
          <p:cNvSpPr/>
          <p:nvPr/>
        </p:nvSpPr>
        <p:spPr bwMode="gray">
          <a:xfrm>
            <a:off x="8284612"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1" name="Oval 80">
            <a:extLst>
              <a:ext uri="{FF2B5EF4-FFF2-40B4-BE49-F238E27FC236}">
                <a16:creationId xmlns:a16="http://schemas.microsoft.com/office/drawing/2014/main" id="{1CBBC163-7CCF-4F01-A4C6-9E44B1539CC0}"/>
              </a:ext>
            </a:extLst>
          </p:cNvPr>
          <p:cNvSpPr/>
          <p:nvPr/>
        </p:nvSpPr>
        <p:spPr bwMode="gray">
          <a:xfrm>
            <a:off x="9511415"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2" name="Oval 81">
            <a:extLst>
              <a:ext uri="{FF2B5EF4-FFF2-40B4-BE49-F238E27FC236}">
                <a16:creationId xmlns:a16="http://schemas.microsoft.com/office/drawing/2014/main" id="{4EA986EF-8517-4924-B553-79CBE391CDD4}"/>
              </a:ext>
            </a:extLst>
          </p:cNvPr>
          <p:cNvSpPr/>
          <p:nvPr/>
        </p:nvSpPr>
        <p:spPr bwMode="gray">
          <a:xfrm>
            <a:off x="10779510" y="1265295"/>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Tree>
    <p:extLst>
      <p:ext uri="{BB962C8B-B14F-4D97-AF65-F5344CB8AC3E}">
        <p14:creationId xmlns:p14="http://schemas.microsoft.com/office/powerpoint/2010/main" val="4013939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A19B7FC1-A5AD-458B-BD17-F958BF0C2A6F}"/>
              </a:ext>
            </a:extLst>
          </p:cNvPr>
          <p:cNvGraphicFramePr>
            <a:graphicFrameLocks noGrp="1"/>
          </p:cNvGraphicFramePr>
          <p:nvPr>
            <p:extLst>
              <p:ext uri="{D42A27DB-BD31-4B8C-83A1-F6EECF244321}">
                <p14:modId xmlns:p14="http://schemas.microsoft.com/office/powerpoint/2010/main" val="2128506446"/>
              </p:ext>
            </p:extLst>
          </p:nvPr>
        </p:nvGraphicFramePr>
        <p:xfrm>
          <a:off x="531189" y="1027779"/>
          <a:ext cx="10412399" cy="5449446"/>
        </p:xfrm>
        <a:graphic>
          <a:graphicData uri="http://schemas.openxmlformats.org/drawingml/2006/table">
            <a:tbl>
              <a:tblPr firstRow="1" bandRow="1">
                <a:tableStyleId>{5C22544A-7EE6-4342-B048-85BDC9FD1C3A}</a:tableStyleId>
              </a:tblPr>
              <a:tblGrid>
                <a:gridCol w="1027049">
                  <a:extLst>
                    <a:ext uri="{9D8B030D-6E8A-4147-A177-3AD203B41FA5}">
                      <a16:colId xmlns:a16="http://schemas.microsoft.com/office/drawing/2014/main" val="2027741553"/>
                    </a:ext>
                  </a:extLst>
                </a:gridCol>
                <a:gridCol w="3789620">
                  <a:extLst>
                    <a:ext uri="{9D8B030D-6E8A-4147-A177-3AD203B41FA5}">
                      <a16:colId xmlns:a16="http://schemas.microsoft.com/office/drawing/2014/main" val="2212234916"/>
                    </a:ext>
                  </a:extLst>
                </a:gridCol>
                <a:gridCol w="1082759">
                  <a:extLst>
                    <a:ext uri="{9D8B030D-6E8A-4147-A177-3AD203B41FA5}">
                      <a16:colId xmlns:a16="http://schemas.microsoft.com/office/drawing/2014/main" val="3128840304"/>
                    </a:ext>
                  </a:extLst>
                </a:gridCol>
                <a:gridCol w="1035747">
                  <a:extLst>
                    <a:ext uri="{9D8B030D-6E8A-4147-A177-3AD203B41FA5}">
                      <a16:colId xmlns:a16="http://schemas.microsoft.com/office/drawing/2014/main" val="4057921746"/>
                    </a:ext>
                  </a:extLst>
                </a:gridCol>
                <a:gridCol w="1738612">
                  <a:extLst>
                    <a:ext uri="{9D8B030D-6E8A-4147-A177-3AD203B41FA5}">
                      <a16:colId xmlns:a16="http://schemas.microsoft.com/office/drawing/2014/main" val="4039690621"/>
                    </a:ext>
                  </a:extLst>
                </a:gridCol>
                <a:gridCol w="1738612">
                  <a:extLst>
                    <a:ext uri="{9D8B030D-6E8A-4147-A177-3AD203B41FA5}">
                      <a16:colId xmlns:a16="http://schemas.microsoft.com/office/drawing/2014/main" val="3642394042"/>
                    </a:ext>
                  </a:extLst>
                </a:gridCol>
              </a:tblGrid>
              <a:tr h="925830">
                <a:tc>
                  <a:txBody>
                    <a:bodyPr/>
                    <a:lstStyle/>
                    <a:p>
                      <a:r>
                        <a:rPr lang="en-US" sz="1100"/>
                        <a:t>Phase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Activities </a:t>
                      </a:r>
                    </a:p>
                    <a:p>
                      <a:endParaRPr lang="en-US" sz="1100"/>
                    </a:p>
                  </a:txBody>
                  <a:tcPr/>
                </a:tc>
                <a:tc>
                  <a:txBody>
                    <a:bodyPr/>
                    <a:lstStyle/>
                    <a:p>
                      <a:r>
                        <a:rPr lang="en-US" sz="1100"/>
                        <a:t>Owner</a:t>
                      </a:r>
                    </a:p>
                  </a:txBody>
                  <a:tcPr/>
                </a:tc>
                <a:tc>
                  <a:txBody>
                    <a:bodyPr/>
                    <a:lstStyle/>
                    <a:p>
                      <a:r>
                        <a:rPr lang="en-US" sz="1100"/>
                        <a:t>Start </a:t>
                      </a:r>
                    </a:p>
                  </a:txBody>
                  <a:tcPr/>
                </a:tc>
                <a:tc>
                  <a:txBody>
                    <a:bodyPr/>
                    <a:lstStyle/>
                    <a:p>
                      <a:r>
                        <a:rPr lang="en-US" sz="1100"/>
                        <a:t>End</a:t>
                      </a:r>
                    </a:p>
                  </a:txBody>
                  <a:tcPr/>
                </a:tc>
                <a:tc>
                  <a:txBody>
                    <a:bodyPr/>
                    <a:lstStyle/>
                    <a:p>
                      <a:r>
                        <a:rPr lang="en-US" sz="1100"/>
                        <a:t>Expected Outcome/</a:t>
                      </a:r>
                    </a:p>
                    <a:p>
                      <a:r>
                        <a:rPr lang="en-US" sz="1100"/>
                        <a:t>Deliverables</a:t>
                      </a:r>
                    </a:p>
                  </a:txBody>
                  <a:tcPr/>
                </a:tc>
                <a:extLst>
                  <a:ext uri="{0D108BD9-81ED-4DB2-BD59-A6C34878D82A}">
                    <a16:rowId xmlns:a16="http://schemas.microsoft.com/office/drawing/2014/main" val="1764356976"/>
                  </a:ext>
                </a:extLst>
              </a:tr>
              <a:tr h="375476">
                <a:tc>
                  <a:txBody>
                    <a:bodyPr/>
                    <a:lstStyle/>
                    <a:p>
                      <a:r>
                        <a:rPr lang="en-US" sz="1100"/>
                        <a:t>Discover</a:t>
                      </a:r>
                    </a:p>
                  </a:txBody>
                  <a:tcPr/>
                </a:tc>
                <a:tc>
                  <a:txBody>
                    <a:bodyPr/>
                    <a:lstStyle/>
                    <a:p>
                      <a:r>
                        <a:rPr lang="en-US" sz="1100"/>
                        <a:t>Specific Data related problems or challenges</a:t>
                      </a:r>
                    </a:p>
                    <a:p>
                      <a:r>
                        <a:rPr lang="en-US" sz="1100"/>
                        <a:t>Data security and privacy requirements for the project </a:t>
                      </a:r>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r>
                        <a:rPr lang="en-US" sz="1100"/>
                        <a:t>Analyze existing data sources and assess their quality and relevance.</a:t>
                      </a:r>
                    </a:p>
                    <a:p>
                      <a:pPr marL="171450" indent="-171450">
                        <a:buFont typeface="Arial" panose="020B0604020202020204" pitchFamily="34" charset="0"/>
                        <a:buChar char="•"/>
                      </a:pPr>
                      <a:r>
                        <a:rPr lang="en-US" sz="1100"/>
                        <a:t>Begin developing a data strategy for handling sensitive data.</a:t>
                      </a:r>
                    </a:p>
                    <a:p>
                      <a:pPr marL="171450" indent="-171450">
                        <a:buFont typeface="Arial" panose="020B0604020202020204" pitchFamily="34" charset="0"/>
                        <a:buChar char="•"/>
                      </a:pPr>
                      <a:r>
                        <a:rPr lang="en-US" sz="1100"/>
                        <a:t>Finalize the design and catalog of canonical data models.</a:t>
                      </a:r>
                    </a:p>
                    <a:p>
                      <a:pPr marL="171450" indent="-171450">
                        <a:buFont typeface="Arial" panose="020B0604020202020204" pitchFamily="34" charset="0"/>
                        <a:buChar char="•"/>
                      </a:pPr>
                      <a:r>
                        <a:rPr lang="en-US" sz="1100"/>
                        <a:t>Establish governance policies for the usage of the canonical data models.</a:t>
                      </a:r>
                    </a:p>
                  </a:txBody>
                  <a:tcPr/>
                </a:tc>
                <a:extLst>
                  <a:ext uri="{0D108BD9-81ED-4DB2-BD59-A6C34878D82A}">
                    <a16:rowId xmlns:a16="http://schemas.microsoft.com/office/drawing/2014/main" val="3030336129"/>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87872957"/>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192904392"/>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2415364628"/>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676785884"/>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pPr marL="171450" indent="-171450">
                        <a:buFont typeface="Arial" panose="020B0604020202020204" pitchFamily="34" charset="0"/>
                        <a:buChar char="•"/>
                      </a:pPr>
                      <a:endParaRPr lang="en-US" sz="1100"/>
                    </a:p>
                  </a:txBody>
                  <a:tcPr/>
                </a:tc>
                <a:extLst>
                  <a:ext uri="{0D108BD9-81ED-4DB2-BD59-A6C34878D82A}">
                    <a16:rowId xmlns:a16="http://schemas.microsoft.com/office/drawing/2014/main" val="197221515"/>
                  </a:ext>
                </a:extLst>
              </a:tr>
              <a:tr h="375476">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tc>
                  <a:txBody>
                    <a:bodyPr/>
                    <a:lstStyle/>
                    <a:p>
                      <a:endParaRPr lang="en-US" sz="1100"/>
                    </a:p>
                  </a:txBody>
                  <a:tcPr/>
                </a:tc>
                <a:extLst>
                  <a:ext uri="{0D108BD9-81ED-4DB2-BD59-A6C34878D82A}">
                    <a16:rowId xmlns:a16="http://schemas.microsoft.com/office/drawing/2014/main" val="3943442717"/>
                  </a:ext>
                </a:extLst>
              </a:tr>
            </a:tbl>
          </a:graphicData>
        </a:graphic>
      </p:graphicFrame>
      <p:sp>
        <p:nvSpPr>
          <p:cNvPr id="4" name="Title 1">
            <a:extLst>
              <a:ext uri="{FF2B5EF4-FFF2-40B4-BE49-F238E27FC236}">
                <a16:creationId xmlns:a16="http://schemas.microsoft.com/office/drawing/2014/main" id="{5F3FCF59-F60B-40CC-9E33-202EF957F6DE}"/>
              </a:ext>
            </a:extLst>
          </p:cNvPr>
          <p:cNvSpPr>
            <a:spLocks noGrp="1"/>
          </p:cNvSpPr>
          <p:nvPr>
            <p:ph type="title"/>
          </p:nvPr>
        </p:nvSpPr>
        <p:spPr>
          <a:xfrm>
            <a:off x="432167" y="-78139"/>
            <a:ext cx="11011293" cy="1325563"/>
          </a:xfrm>
        </p:spPr>
        <p:txBody>
          <a:bodyPr>
            <a:normAutofit/>
          </a:bodyPr>
          <a:lstStyle/>
          <a:p>
            <a:pPr>
              <a:spcBef>
                <a:spcPts val="0"/>
              </a:spcBef>
            </a:pPr>
            <a:r>
              <a:rPr lang="en-US" sz="3200"/>
              <a:t>4 Weeks schedule/activities (</a:t>
            </a:r>
            <a:r>
              <a:rPr lang="en-US" sz="3200" err="1"/>
              <a:t>contd</a:t>
            </a:r>
            <a:r>
              <a:rPr lang="en-US" sz="3200"/>
              <a:t>)</a:t>
            </a:r>
          </a:p>
        </p:txBody>
      </p:sp>
    </p:spTree>
    <p:extLst>
      <p:ext uri="{BB962C8B-B14F-4D97-AF65-F5344CB8AC3E}">
        <p14:creationId xmlns:p14="http://schemas.microsoft.com/office/powerpoint/2010/main" val="157252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8">
            <a:extLst>
              <a:ext uri="{FF2B5EF4-FFF2-40B4-BE49-F238E27FC236}">
                <a16:creationId xmlns:a16="http://schemas.microsoft.com/office/drawing/2014/main" id="{42F1674A-2959-4D20-A400-B3002ECE89BD}"/>
              </a:ext>
            </a:extLst>
          </p:cNvPr>
          <p:cNvGraphicFramePr>
            <a:graphicFrameLocks/>
          </p:cNvGraphicFramePr>
          <p:nvPr>
            <p:extLst>
              <p:ext uri="{D42A27DB-BD31-4B8C-83A1-F6EECF244321}">
                <p14:modId xmlns:p14="http://schemas.microsoft.com/office/powerpoint/2010/main" val="3504251692"/>
              </p:ext>
            </p:extLst>
          </p:nvPr>
        </p:nvGraphicFramePr>
        <p:xfrm>
          <a:off x="1118159" y="1007800"/>
          <a:ext cx="10691219" cy="5787665"/>
        </p:xfrm>
        <a:graphic>
          <a:graphicData uri="http://schemas.openxmlformats.org/drawingml/2006/table">
            <a:tbl>
              <a:tblPr firstRow="1" bandRow="1">
                <a:tableStyleId>{5C22544A-7EE6-4342-B048-85BDC9FD1C3A}</a:tableStyleId>
              </a:tblPr>
              <a:tblGrid>
                <a:gridCol w="1038632">
                  <a:extLst>
                    <a:ext uri="{9D8B030D-6E8A-4147-A177-3AD203B41FA5}">
                      <a16:colId xmlns:a16="http://schemas.microsoft.com/office/drawing/2014/main" val="1804304856"/>
                    </a:ext>
                  </a:extLst>
                </a:gridCol>
                <a:gridCol w="1232585">
                  <a:extLst>
                    <a:ext uri="{9D8B030D-6E8A-4147-A177-3AD203B41FA5}">
                      <a16:colId xmlns:a16="http://schemas.microsoft.com/office/drawing/2014/main" val="3487582892"/>
                    </a:ext>
                  </a:extLst>
                </a:gridCol>
                <a:gridCol w="3560064">
                  <a:extLst>
                    <a:ext uri="{9D8B030D-6E8A-4147-A177-3AD203B41FA5}">
                      <a16:colId xmlns:a16="http://schemas.microsoft.com/office/drawing/2014/main" val="4022828597"/>
                    </a:ext>
                  </a:extLst>
                </a:gridCol>
                <a:gridCol w="3400240">
                  <a:extLst>
                    <a:ext uri="{9D8B030D-6E8A-4147-A177-3AD203B41FA5}">
                      <a16:colId xmlns:a16="http://schemas.microsoft.com/office/drawing/2014/main" val="3430374848"/>
                    </a:ext>
                  </a:extLst>
                </a:gridCol>
                <a:gridCol w="1459698">
                  <a:extLst>
                    <a:ext uri="{9D8B030D-6E8A-4147-A177-3AD203B41FA5}">
                      <a16:colId xmlns:a16="http://schemas.microsoft.com/office/drawing/2014/main" val="3926366452"/>
                    </a:ext>
                  </a:extLst>
                </a:gridCol>
              </a:tblGrid>
              <a:tr h="126056">
                <a:tc>
                  <a:txBody>
                    <a:bodyPr/>
                    <a:lstStyle/>
                    <a:p>
                      <a:pPr algn="ctr"/>
                      <a:r>
                        <a:rPr lang="en-US" sz="1400" i="0"/>
                        <a:t>Week Starting</a:t>
                      </a:r>
                    </a:p>
                  </a:txBody>
                  <a:tcPr anchor="ctr"/>
                </a:tc>
                <a:tc>
                  <a:txBody>
                    <a:bodyPr/>
                    <a:lstStyle/>
                    <a:p>
                      <a:pPr algn="ctr"/>
                      <a:r>
                        <a:rPr lang="en-US" sz="1400" i="0"/>
                        <a:t>Focus Area</a:t>
                      </a:r>
                    </a:p>
                  </a:txBody>
                  <a:tcPr anchor="ctr"/>
                </a:tc>
                <a:tc>
                  <a:txBody>
                    <a:bodyPr/>
                    <a:lstStyle/>
                    <a:p>
                      <a:pPr algn="ctr"/>
                      <a:r>
                        <a:rPr lang="en-US" sz="1400" i="0"/>
                        <a:t>Expected Outcomes</a:t>
                      </a:r>
                    </a:p>
                  </a:txBody>
                  <a:tcPr anchor="ctr"/>
                </a:tc>
                <a:tc>
                  <a:txBody>
                    <a:bodyPr/>
                    <a:lstStyle/>
                    <a:p>
                      <a:pPr algn="ctr"/>
                      <a:r>
                        <a:rPr lang="en-US" sz="1400" i="0"/>
                        <a:t>Attendees</a:t>
                      </a:r>
                    </a:p>
                  </a:txBody>
                  <a:tcPr anchor="ctr"/>
                </a:tc>
                <a:tc>
                  <a:txBody>
                    <a:bodyPr/>
                    <a:lstStyle/>
                    <a:p>
                      <a:pPr algn="ctr"/>
                      <a:r>
                        <a:rPr lang="en-US" sz="1400" i="0"/>
                        <a:t>Est. Duration</a:t>
                      </a:r>
                    </a:p>
                  </a:txBody>
                  <a:tcPr anchor="ctr"/>
                </a:tc>
                <a:extLst>
                  <a:ext uri="{0D108BD9-81ED-4DB2-BD59-A6C34878D82A}">
                    <a16:rowId xmlns:a16="http://schemas.microsoft.com/office/drawing/2014/main" val="3608970412"/>
                  </a:ext>
                </a:extLst>
              </a:tr>
              <a:tr h="594711">
                <a:tc>
                  <a:txBody>
                    <a:bodyPr/>
                    <a:lstStyle/>
                    <a:p>
                      <a:pPr algn="ctr"/>
                      <a:r>
                        <a:rPr lang="en-US" sz="1200" b="1" i="0"/>
                        <a:t>27</a:t>
                      </a:r>
                      <a:r>
                        <a:rPr lang="en-US" sz="1200" b="1" i="0" baseline="30000"/>
                        <a:t>th</a:t>
                      </a:r>
                      <a:r>
                        <a:rPr lang="en-US" sz="1200" b="1" i="0"/>
                        <a:t> March</a:t>
                      </a:r>
                    </a:p>
                  </a:txBody>
                  <a:tcPr marL="45720" marR="45720" marT="27432" marB="27432" anchor="ctr">
                    <a:solidFill>
                      <a:schemeClr val="bg1">
                        <a:lumMod val="95000"/>
                      </a:schemeClr>
                    </a:solidFill>
                  </a:tcPr>
                </a:tc>
                <a:tc>
                  <a:txBody>
                    <a:bodyPr/>
                    <a:lstStyle/>
                    <a:p>
                      <a:pPr algn="ctr"/>
                      <a:r>
                        <a:rPr lang="en-US" sz="1200" i="0"/>
                        <a:t>Soft Kickoff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Align on Agenda for kick-off and participants, schedule kick 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43730546"/>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Familiarization sessions 1</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Understand Current landscape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Identify NextGen initiatives and key milestones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algn="ctr"/>
                      <a:r>
                        <a:rPr lang="en-US" sz="1200" b="1" i="0"/>
                        <a:t>4 hours</a:t>
                      </a:r>
                    </a:p>
                  </a:txBody>
                  <a:tcPr marL="45720" marR="45720" marT="27432" marB="27432" anchor="ctr">
                    <a:solidFill>
                      <a:schemeClr val="bg1">
                        <a:lumMod val="95000"/>
                      </a:schemeClr>
                    </a:solidFill>
                  </a:tcPr>
                </a:tc>
                <a:extLst>
                  <a:ext uri="{0D108BD9-81ED-4DB2-BD59-A6C34878D82A}">
                    <a16:rowId xmlns:a16="http://schemas.microsoft.com/office/drawing/2014/main" val="1516700124"/>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i="0"/>
                        <a:t>Familiarization sessions 2</a:t>
                      </a:r>
                    </a:p>
                    <a:p>
                      <a:pPr algn="ct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Finalize the focus areas/priority list for initial weeks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i="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i="0"/>
                        <a:t>Enterprise Architect(s)</a:t>
                      </a:r>
                    </a:p>
                    <a:p>
                      <a:pPr marL="171450" indent="-171450">
                        <a:buFont typeface="Arial"/>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p>
                      <a:pPr algn="ctr"/>
                      <a:endParaRPr lang="en-US" sz="1200" b="1" i="0"/>
                    </a:p>
                  </a:txBody>
                  <a:tcPr marL="45720" marR="45720" marT="27432" marB="27432" anchor="ctr">
                    <a:solidFill>
                      <a:schemeClr val="bg1">
                        <a:lumMod val="95000"/>
                      </a:schemeClr>
                    </a:solidFill>
                  </a:tcPr>
                </a:tc>
                <a:extLst>
                  <a:ext uri="{0D108BD9-81ED-4DB2-BD59-A6C34878D82A}">
                    <a16:rowId xmlns:a16="http://schemas.microsoft.com/office/drawing/2014/main" val="411454459"/>
                  </a:ext>
                </a:extLst>
              </a:tr>
              <a:tr h="594711">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Kick off Prep</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Review the kick-off and alignment with core team before the actual kick-off</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&amp; IT sponsors</a:t>
                      </a:r>
                    </a:p>
                    <a:p>
                      <a:pPr marL="171450" indent="-171450">
                        <a:buFont typeface="Arial" panose="020B0604020202020204" pitchFamily="34" charset="0"/>
                        <a:buChar char="•"/>
                      </a:pPr>
                      <a:r>
                        <a:rPr lang="en-US" sz="1200" i="0"/>
                        <a:t>Enterprise Architect(s)</a:t>
                      </a:r>
                    </a:p>
                  </a:txBody>
                  <a:tcPr marL="45720" marR="45720" marT="27432" marB="27432" anchor="ctr">
                    <a:solidFill>
                      <a:schemeClr val="bg1">
                        <a:lumMod val="95000"/>
                      </a:schemeClr>
                    </a:solidFill>
                  </a:tcPr>
                </a:tc>
                <a:tc>
                  <a:txBody>
                    <a:bodyPr/>
                    <a:lstStyle/>
                    <a:p>
                      <a:pPr algn="ct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04572099"/>
                  </a:ext>
                </a:extLst>
              </a:tr>
              <a:tr h="764629">
                <a:tc>
                  <a:txBody>
                    <a:bodyPr/>
                    <a:lstStyle/>
                    <a:p>
                      <a:pPr algn="ctr"/>
                      <a:r>
                        <a:rPr lang="en-US" sz="1200" b="1" i="0"/>
                        <a:t>3</a:t>
                      </a:r>
                      <a:r>
                        <a:rPr lang="en-US" sz="1200" b="1" i="0" baseline="30000"/>
                        <a:t>rd</a:t>
                      </a:r>
                      <a:r>
                        <a:rPr lang="en-US" sz="1200" b="1" i="0"/>
                        <a:t> April</a:t>
                      </a:r>
                    </a:p>
                  </a:txBody>
                  <a:tcPr marL="45720" marR="45720" marT="27432" marB="27432" anchor="ctr">
                    <a:solidFill>
                      <a:schemeClr val="bg1">
                        <a:lumMod val="95000"/>
                      </a:schemeClr>
                    </a:solidFill>
                  </a:tcPr>
                </a:tc>
                <a:tc>
                  <a:txBody>
                    <a:bodyPr/>
                    <a:lstStyle/>
                    <a:p>
                      <a:pPr algn="ctr"/>
                      <a:r>
                        <a:rPr lang="en-US" sz="1200" i="0"/>
                        <a:t>Kick Off</a:t>
                      </a:r>
                    </a:p>
                  </a:txBody>
                  <a:tcPr marL="45720" marR="45720" marT="27432" marB="27432"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Review Short term/long term goals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noProof="0">
                          <a:solidFill>
                            <a:schemeClr val="dk1"/>
                          </a:solidFill>
                          <a:latin typeface="+mn-lt"/>
                          <a:ea typeface="+mn-ea"/>
                          <a:cs typeface="+mn-cs"/>
                        </a:rPr>
                        <a:t>Scope, timeline, Roles, responsibilities alignment across teams </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Business Sponsors</a:t>
                      </a:r>
                    </a:p>
                    <a:p>
                      <a:pPr marL="171450" indent="-171450">
                        <a:buFont typeface="Arial" panose="020B0604020202020204" pitchFamily="34" charset="0"/>
                        <a:buChar char="•"/>
                      </a:pPr>
                      <a:r>
                        <a:rPr lang="en-US" sz="1200" i="0"/>
                        <a:t>DT &amp; FD Core Business and Project Team: IT, Data Governance, Enterprise Architects, Solution Architects</a:t>
                      </a:r>
                    </a:p>
                    <a:p>
                      <a:pPr marL="171450" indent="-171450">
                        <a:buFont typeface="Arial" panose="020B0604020202020204" pitchFamily="34" charset="0"/>
                        <a:buChar char="•"/>
                      </a:pPr>
                      <a:endParaRPr lang="en-US" sz="1200" i="0"/>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2836545424"/>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1</a:t>
                      </a:r>
                    </a:p>
                  </a:txBody>
                  <a:tcPr marL="45720" marR="45720" marT="27432" marB="27432" anchor="ctr">
                    <a:solidFill>
                      <a:schemeClr val="bg1">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a:t>Discuss CICD tooling options  and finalize</a:t>
                      </a:r>
                    </a:p>
                    <a:p>
                      <a:pPr marL="285750" indent="-285750">
                        <a:buFont typeface="Arial" panose="020B0604020202020204" pitchFamily="34" charset="0"/>
                        <a:buChar char="•"/>
                      </a:pPr>
                      <a:endParaRPr lang="en-US" sz="1200"/>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Enterprise Architects, Solution Architects</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1366457297"/>
                  </a:ext>
                </a:extLst>
              </a:tr>
              <a:tr h="764629">
                <a:tc>
                  <a:txBody>
                    <a:bodyPr/>
                    <a:lstStyle/>
                    <a:p>
                      <a:pPr algn="ctr"/>
                      <a:endParaRPr lang="en-US" sz="1200" b="1" i="0"/>
                    </a:p>
                  </a:txBody>
                  <a:tcPr marL="45720" marR="45720" marT="27432" marB="27432" anchor="ctr">
                    <a:solidFill>
                      <a:schemeClr val="bg1">
                        <a:lumMod val="95000"/>
                      </a:schemeClr>
                    </a:solidFill>
                  </a:tcPr>
                </a:tc>
                <a:tc>
                  <a:txBody>
                    <a:bodyPr/>
                    <a:lstStyle/>
                    <a:p>
                      <a:pPr algn="ctr"/>
                      <a:r>
                        <a:rPr lang="en-US" sz="1200" i="0"/>
                        <a:t>Finalize Tools</a:t>
                      </a:r>
                    </a:p>
                    <a:p>
                      <a:pPr algn="ctr"/>
                      <a:r>
                        <a:rPr lang="en-US" sz="1200" i="0"/>
                        <a:t>Session 2</a:t>
                      </a:r>
                    </a:p>
                  </a:txBody>
                  <a:tcPr marL="45720" marR="45720" marT="27432" marB="27432" anchor="ctr">
                    <a:solidFill>
                      <a:schemeClr val="bg1">
                        <a:lumMod val="95000"/>
                      </a:schemeClr>
                    </a:solidFill>
                  </a:tcPr>
                </a:tc>
                <a:tc>
                  <a:txBody>
                    <a:bodyPr/>
                    <a:lstStyle/>
                    <a:p>
                      <a:pPr marL="285750" indent="-285750">
                        <a:buFont typeface="Arial" panose="020B0604020202020204" pitchFamily="34" charset="0"/>
                        <a:buChar char="•"/>
                      </a:pPr>
                      <a:r>
                        <a:rPr lang="en-US" sz="1200"/>
                        <a:t>Finalize QA tracking and automation tools</a:t>
                      </a:r>
                    </a:p>
                  </a:txBody>
                  <a:tcPr marL="45720" marR="45720" marT="27432" marB="27432" anchor="ctr">
                    <a:solidFill>
                      <a:schemeClr val="bg1">
                        <a:lumMod val="95000"/>
                      </a:schemeClr>
                    </a:solidFill>
                  </a:tcPr>
                </a:tc>
                <a:tc>
                  <a:txBody>
                    <a:bodyPr/>
                    <a:lstStyle/>
                    <a:p>
                      <a:pPr marL="171450" indent="-171450">
                        <a:buFont typeface="Arial" panose="020B0604020202020204" pitchFamily="34" charset="0"/>
                        <a:buChar char="•"/>
                      </a:pPr>
                      <a:r>
                        <a:rPr lang="en-US" sz="1200" i="0"/>
                        <a:t>DT &amp; FD QA team</a:t>
                      </a:r>
                    </a:p>
                    <a:p>
                      <a:pPr marL="171450" indent="-171450">
                        <a:buFont typeface="Arial" panose="020B0604020202020204" pitchFamily="34" charset="0"/>
                        <a:buChar char="•"/>
                      </a:pPr>
                      <a:r>
                        <a:rPr lang="en-US" sz="1200" i="0"/>
                        <a:t>DT &amp; FD NextGen POC</a:t>
                      </a:r>
                    </a:p>
                  </a:txBody>
                  <a:tcPr marL="45720" marR="45720" marT="27432" marB="27432"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t>2 hours</a:t>
                      </a:r>
                    </a:p>
                  </a:txBody>
                  <a:tcPr marL="45720" marR="45720" marT="27432" marB="27432" anchor="ctr">
                    <a:solidFill>
                      <a:schemeClr val="bg1">
                        <a:lumMod val="95000"/>
                      </a:schemeClr>
                    </a:solidFill>
                  </a:tcPr>
                </a:tc>
                <a:extLst>
                  <a:ext uri="{0D108BD9-81ED-4DB2-BD59-A6C34878D82A}">
                    <a16:rowId xmlns:a16="http://schemas.microsoft.com/office/drawing/2014/main" val="3447065138"/>
                  </a:ext>
                </a:extLst>
              </a:tr>
            </a:tbl>
          </a:graphicData>
        </a:graphic>
      </p:graphicFrame>
      <p:sp>
        <p:nvSpPr>
          <p:cNvPr id="4" name="Title 1">
            <a:extLst>
              <a:ext uri="{FF2B5EF4-FFF2-40B4-BE49-F238E27FC236}">
                <a16:creationId xmlns:a16="http://schemas.microsoft.com/office/drawing/2014/main" id="{ADDA8B19-ECCE-4671-9664-F071F2CE9334}"/>
              </a:ext>
            </a:extLst>
          </p:cNvPr>
          <p:cNvSpPr txBox="1">
            <a:spLocks/>
          </p:cNvSpPr>
          <p:nvPr/>
        </p:nvSpPr>
        <p:spPr>
          <a:xfrm>
            <a:off x="1118158" y="353568"/>
            <a:ext cx="10634753" cy="4876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Sessions Planned</a:t>
            </a:r>
          </a:p>
        </p:txBody>
      </p:sp>
    </p:spTree>
    <p:extLst>
      <p:ext uri="{BB962C8B-B14F-4D97-AF65-F5344CB8AC3E}">
        <p14:creationId xmlns:p14="http://schemas.microsoft.com/office/powerpoint/2010/main" val="3469977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C5A4-F4CB-44A0-8975-9D6EC7C2A23F}"/>
              </a:ext>
            </a:extLst>
          </p:cNvPr>
          <p:cNvSpPr>
            <a:spLocks noGrp="1"/>
          </p:cNvSpPr>
          <p:nvPr>
            <p:ph type="title"/>
          </p:nvPr>
        </p:nvSpPr>
        <p:spPr>
          <a:xfrm>
            <a:off x="368744" y="-83604"/>
            <a:ext cx="11353800" cy="1325563"/>
          </a:xfrm>
        </p:spPr>
        <p:txBody>
          <a:bodyPr>
            <a:normAutofit/>
          </a:bodyPr>
          <a:lstStyle/>
          <a:p>
            <a:pPr>
              <a:spcBef>
                <a:spcPts val="0"/>
              </a:spcBef>
            </a:pPr>
            <a:r>
              <a:rPr lang="en-US" sz="3200"/>
              <a:t>Detailed Timelines, Activities and Milestones : ESL-ATS</a:t>
            </a:r>
          </a:p>
        </p:txBody>
      </p:sp>
      <p:grpSp>
        <p:nvGrpSpPr>
          <p:cNvPr id="3" name="Group 2">
            <a:extLst>
              <a:ext uri="{FF2B5EF4-FFF2-40B4-BE49-F238E27FC236}">
                <a16:creationId xmlns:a16="http://schemas.microsoft.com/office/drawing/2014/main" id="{194C09EE-B3E5-47D4-BC7E-1DD5B699F1AE}"/>
              </a:ext>
            </a:extLst>
          </p:cNvPr>
          <p:cNvGrpSpPr/>
          <p:nvPr/>
        </p:nvGrpSpPr>
        <p:grpSpPr>
          <a:xfrm>
            <a:off x="1032641" y="2154527"/>
            <a:ext cx="10601072" cy="4284367"/>
            <a:chOff x="8255265" y="2707961"/>
            <a:chExt cx="9928390" cy="4722410"/>
          </a:xfrm>
        </p:grpSpPr>
        <p:sp>
          <p:nvSpPr>
            <p:cNvPr id="73" name="Rectangle 72">
              <a:extLst>
                <a:ext uri="{FF2B5EF4-FFF2-40B4-BE49-F238E27FC236}">
                  <a16:creationId xmlns:a16="http://schemas.microsoft.com/office/drawing/2014/main" id="{B3D53195-F5F4-E012-A5BB-4A7443262E7E}"/>
                </a:ext>
              </a:extLst>
            </p:cNvPr>
            <p:cNvSpPr/>
            <p:nvPr/>
          </p:nvSpPr>
          <p:spPr>
            <a:xfrm>
              <a:off x="9758116" y="3301524"/>
              <a:ext cx="1523189" cy="301760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Review Architecture with Key Stakeholders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Finalize Development &amp; Test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OCI Tenancy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Implement Identity and Access Management</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Configure Network Connectivity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Validate OCI Tenancy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Infrastructure and PaaS Security Controls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78" name="Pentagon 195">
              <a:extLst>
                <a:ext uri="{FF2B5EF4-FFF2-40B4-BE49-F238E27FC236}">
                  <a16:creationId xmlns:a16="http://schemas.microsoft.com/office/drawing/2014/main" id="{DD39690C-101C-1635-33AE-E681BB4CE1B4}"/>
                </a:ext>
              </a:extLst>
            </p:cNvPr>
            <p:cNvSpPr>
              <a:spLocks/>
            </p:cNvSpPr>
            <p:nvPr/>
          </p:nvSpPr>
          <p:spPr>
            <a:xfrm>
              <a:off x="8288400" y="3308725"/>
              <a:ext cx="1436582" cy="2999222"/>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lIns="45720" tIns="45720" rIns="45720" bIns="45720" rtlCol="0" anchor="t"/>
            <a:lstStyle/>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Analyze Future State Architecture</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Network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Draft Proposed Architecture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Backup &amp; Recovery/DR Strategy</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Requirements for Identity and Access Management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monitoring and audit requirements</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Cyber security gaps and requirements</a:t>
              </a:r>
            </a:p>
            <a:p>
              <a:pPr marL="171450" marR="0" indent="-171450" fontAlgn="auto">
                <a:spcAft>
                  <a:spcPts val="300"/>
                </a:spcAft>
                <a:buClrTx/>
                <a:buSzTx/>
                <a:buFont typeface="Arial" panose="020B0604020202020204" pitchFamily="34" charset="0"/>
                <a:buChar char="•"/>
                <a:tabLst/>
                <a:defRPr/>
              </a:pPr>
              <a:endParaRPr lang="en-US" sz="1000" kern="0">
                <a:solidFill>
                  <a:srgbClr val="000000"/>
                </a:solidFill>
                <a:latin typeface="Open Sans"/>
              </a:endParaRPr>
            </a:p>
          </p:txBody>
        </p:sp>
        <p:sp>
          <p:nvSpPr>
            <p:cNvPr id="81" name="Pentagon 194">
              <a:extLst>
                <a:ext uri="{FF2B5EF4-FFF2-40B4-BE49-F238E27FC236}">
                  <a16:creationId xmlns:a16="http://schemas.microsoft.com/office/drawing/2014/main" id="{28851616-35EF-AB08-6023-16345BAD0480}"/>
                </a:ext>
              </a:extLst>
            </p:cNvPr>
            <p:cNvSpPr>
              <a:spLocks/>
            </p:cNvSpPr>
            <p:nvPr/>
          </p:nvSpPr>
          <p:spPr>
            <a:xfrm>
              <a:off x="8255266" y="3115765"/>
              <a:ext cx="1469715" cy="214376"/>
            </a:xfrm>
            <a:prstGeom prst="homePlate">
              <a:avLst/>
            </a:prstGeom>
            <a:solidFill>
              <a:srgbClr val="046A3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Discover and Analyze</a:t>
              </a:r>
            </a:p>
          </p:txBody>
        </p:sp>
        <p:sp>
          <p:nvSpPr>
            <p:cNvPr id="82" name="Pentagon 194">
              <a:extLst>
                <a:ext uri="{FF2B5EF4-FFF2-40B4-BE49-F238E27FC236}">
                  <a16:creationId xmlns:a16="http://schemas.microsoft.com/office/drawing/2014/main" id="{BC35E0E3-16FA-687F-9348-7EA71724ABDF}"/>
                </a:ext>
              </a:extLst>
            </p:cNvPr>
            <p:cNvSpPr>
              <a:spLocks/>
            </p:cNvSpPr>
            <p:nvPr/>
          </p:nvSpPr>
          <p:spPr>
            <a:xfrm>
              <a:off x="9758116" y="3125467"/>
              <a:ext cx="1523189" cy="19020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Design</a:t>
              </a:r>
            </a:p>
          </p:txBody>
        </p:sp>
        <p:sp>
          <p:nvSpPr>
            <p:cNvPr id="117" name="Rectangle 116">
              <a:extLst>
                <a:ext uri="{FF2B5EF4-FFF2-40B4-BE49-F238E27FC236}">
                  <a16:creationId xmlns:a16="http://schemas.microsoft.com/office/drawing/2014/main" id="{E1814EC1-BC88-A235-29CC-4066DF385744}"/>
                </a:ext>
              </a:extLst>
            </p:cNvPr>
            <p:cNvSpPr/>
            <p:nvPr/>
          </p:nvSpPr>
          <p:spPr>
            <a:xfrm>
              <a:off x="14424884" y="6382578"/>
              <a:ext cx="2477311" cy="1045810"/>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Production</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119" name="Rectangle 118">
              <a:extLst>
                <a:ext uri="{FF2B5EF4-FFF2-40B4-BE49-F238E27FC236}">
                  <a16:creationId xmlns:a16="http://schemas.microsoft.com/office/drawing/2014/main" id="{4DDB2A28-EBA0-559D-EB96-89844332E5F2}"/>
                </a:ext>
              </a:extLst>
            </p:cNvPr>
            <p:cNvSpPr/>
            <p:nvPr/>
          </p:nvSpPr>
          <p:spPr>
            <a:xfrm>
              <a:off x="14424886" y="3299966"/>
              <a:ext cx="1593240" cy="301916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Capture Sizing inputs</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Configuration</a:t>
              </a:r>
            </a:p>
            <a:p>
              <a:pPr marL="171450" indent="-171450" fontAlgn="auto">
                <a:spcAft>
                  <a:spcPts val="300"/>
                </a:spcAft>
                <a:buFont typeface="Arial" panose="020B0604020202020204" pitchFamily="34" charset="0"/>
                <a:buChar char="•"/>
                <a:defRPr/>
              </a:pPr>
              <a:r>
                <a:rPr lang="en-US" sz="1000" b="1" kern="0">
                  <a:solidFill>
                    <a:srgbClr val="000000"/>
                  </a:solidFill>
                  <a:latin typeface="Open Sans"/>
                </a:rPr>
                <a:t>Size Production</a:t>
              </a:r>
            </a:p>
            <a:p>
              <a:pPr marL="171450" marR="0" indent="-171450" fontAlgn="auto">
                <a:spcAft>
                  <a:spcPts val="300"/>
                </a:spcAft>
                <a:buClrTx/>
                <a:buSzTx/>
                <a:buFont typeface="Arial" panose="020B0604020202020204" pitchFamily="34" charset="0"/>
                <a:buChar char="•"/>
                <a:tabLst/>
                <a:defRPr/>
              </a:pPr>
              <a:r>
                <a:rPr lang="en-US" sz="1000" b="1" kern="0">
                  <a:solidFill>
                    <a:srgbClr val="000000"/>
                  </a:solidFill>
                  <a:latin typeface="Open Sans"/>
                </a:rPr>
                <a:t>Finalize Production Architecture Design</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Review Infrastructure &amp; PaaS Security </a:t>
              </a:r>
            </a:p>
            <a:p>
              <a:pPr marL="171450" marR="0" indent="-171450" fontAlgn="auto">
                <a:spcAft>
                  <a:spcPts val="300"/>
                </a:spcAft>
                <a:buClrTx/>
                <a:buSzTx/>
                <a:buFont typeface="Arial" panose="020B0604020202020204" pitchFamily="34" charset="0"/>
                <a:buChar char="•"/>
                <a:tabLst/>
                <a:defRPr/>
              </a:pPr>
              <a:r>
                <a:rPr lang="en-US" sz="1000" kern="0">
                  <a:solidFill>
                    <a:srgbClr val="000000"/>
                  </a:solidFill>
                  <a:latin typeface="Open Sans"/>
                </a:rPr>
                <a:t>Deliverables signoff </a:t>
              </a:r>
            </a:p>
          </p:txBody>
        </p:sp>
        <p:sp>
          <p:nvSpPr>
            <p:cNvPr id="120" name="Pentagon 194">
              <a:extLst>
                <a:ext uri="{FF2B5EF4-FFF2-40B4-BE49-F238E27FC236}">
                  <a16:creationId xmlns:a16="http://schemas.microsoft.com/office/drawing/2014/main" id="{2BA13824-9B6E-072E-2977-AAA21F04AFC0}"/>
                </a:ext>
              </a:extLst>
            </p:cNvPr>
            <p:cNvSpPr>
              <a:spLocks/>
            </p:cNvSpPr>
            <p:nvPr/>
          </p:nvSpPr>
          <p:spPr>
            <a:xfrm>
              <a:off x="14424886" y="3113275"/>
              <a:ext cx="1593240" cy="202366"/>
            </a:xfrm>
            <a:prstGeom prst="homePlate">
              <a:avLst/>
            </a:prstGeom>
            <a:solidFill>
              <a:srgbClr val="43B02A"/>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latin typeface="Open Sans"/>
                  <a:ea typeface="+mn-ea"/>
                  <a:cs typeface="Open Sans"/>
                </a:rPr>
                <a:t>Analyze &amp; Design</a:t>
              </a:r>
            </a:p>
          </p:txBody>
        </p:sp>
        <p:sp>
          <p:nvSpPr>
            <p:cNvPr id="134" name="Pentagon 194">
              <a:extLst>
                <a:ext uri="{FF2B5EF4-FFF2-40B4-BE49-F238E27FC236}">
                  <a16:creationId xmlns:a16="http://schemas.microsoft.com/office/drawing/2014/main" id="{4075FD52-2F2D-366F-3F9F-F2A920FC609B}"/>
                </a:ext>
              </a:extLst>
            </p:cNvPr>
            <p:cNvSpPr>
              <a:spLocks/>
            </p:cNvSpPr>
            <p:nvPr/>
          </p:nvSpPr>
          <p:spPr>
            <a:xfrm>
              <a:off x="8255265" y="2707961"/>
              <a:ext cx="3026038" cy="352762"/>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Stage 1 Development &amp; </a:t>
              </a:r>
              <a:r>
                <a:rPr kumimoji="0" lang="en-US" sz="1000" b="1" i="0" u="none" strike="noStrike" kern="0" cap="none" spc="0" normalizeH="0" baseline="0" noProof="0" err="1">
                  <a:ln>
                    <a:noFill/>
                  </a:ln>
                  <a:solidFill>
                    <a:srgbClr val="000000"/>
                  </a:solidFill>
                  <a:effectLst/>
                  <a:uLnTx/>
                  <a:uFillTx/>
                  <a:latin typeface="Open Sans"/>
                  <a:ea typeface="+mn-ea"/>
                  <a:cs typeface="Open Sans"/>
                </a:rPr>
                <a:t>Tes</a:t>
              </a:r>
              <a:r>
                <a:rPr lang="en-US" sz="1000" b="1" kern="0">
                  <a:solidFill>
                    <a:srgbClr val="000000"/>
                  </a:solidFill>
                  <a:latin typeface="Open Sans"/>
                  <a:cs typeface="Open Sans"/>
                </a:rPr>
                <a:t>t</a:t>
              </a:r>
              <a:endParaRPr kumimoji="0" lang="en-US" sz="1000" b="1" i="0" u="none" strike="noStrike" kern="0" cap="none" spc="0" normalizeH="0" baseline="0" noProof="0">
                <a:ln>
                  <a:noFill/>
                </a:ln>
                <a:solidFill>
                  <a:srgbClr val="000000"/>
                </a:solidFill>
                <a:effectLst/>
                <a:uLnTx/>
                <a:uFillTx/>
                <a:latin typeface="Open Sans"/>
                <a:ea typeface="+mn-ea"/>
                <a:cs typeface="Open Sans"/>
              </a:endParaRPr>
            </a:p>
          </p:txBody>
        </p:sp>
        <p:sp>
          <p:nvSpPr>
            <p:cNvPr id="135" name="Pentagon 194">
              <a:extLst>
                <a:ext uri="{FF2B5EF4-FFF2-40B4-BE49-F238E27FC236}">
                  <a16:creationId xmlns:a16="http://schemas.microsoft.com/office/drawing/2014/main" id="{998DD630-6D0A-7A0E-6264-C3685303A6A2}"/>
                </a:ext>
              </a:extLst>
            </p:cNvPr>
            <p:cNvSpPr>
              <a:spLocks/>
            </p:cNvSpPr>
            <p:nvPr/>
          </p:nvSpPr>
          <p:spPr>
            <a:xfrm>
              <a:off x="14424885" y="2707961"/>
              <a:ext cx="1593241" cy="352301"/>
            </a:xfrm>
            <a:prstGeom prst="homePlate">
              <a:avLst/>
            </a:prstGeom>
            <a:solidFill>
              <a:schemeClr val="bg1">
                <a:lumMod val="75000"/>
              </a:schemeClr>
            </a:solidFill>
            <a:ln w="19050" cap="flat" cmpd="sng" algn="ctr">
              <a:solidFill>
                <a:srgbClr val="FFFFFF">
                  <a:lumMod val="95000"/>
                </a:srgbClr>
              </a:solidFill>
              <a:prstDash val="solid"/>
              <a:miter lim="800000"/>
            </a:ln>
            <a:effectLst/>
          </p:spPr>
          <p:txBody>
            <a:bodyPr tIns="0" rIns="0" bIns="0" rtlCol="0" anchor="ctr"/>
            <a:lstStyle/>
            <a:p>
              <a:pPr fontAlgn="auto">
                <a:spcBef>
                  <a:spcPts val="0"/>
                </a:spcBef>
                <a:spcAft>
                  <a:spcPts val="0"/>
                </a:spcAft>
              </a:pPr>
              <a:r>
                <a:rPr lang="en-US" sz="900" b="1" kern="0">
                  <a:solidFill>
                    <a:srgbClr val="000000"/>
                  </a:solidFill>
                  <a:latin typeface="Open Sans"/>
                  <a:ea typeface="+mn-ea"/>
                  <a:cs typeface="Open Sans"/>
                </a:rPr>
                <a:t>Stage 2 (Production)</a:t>
              </a:r>
            </a:p>
            <a:p>
              <a:pPr fontAlgn="auto">
                <a:spcBef>
                  <a:spcPts val="0"/>
                </a:spcBef>
                <a:spcAft>
                  <a:spcPts val="0"/>
                </a:spcAft>
              </a:pPr>
              <a:r>
                <a:rPr lang="en-US" sz="900" b="1" kern="0">
                  <a:solidFill>
                    <a:srgbClr val="000000"/>
                  </a:solidFill>
                  <a:latin typeface="Open Sans"/>
                  <a:cs typeface="Open Sans"/>
                </a:rPr>
                <a:t>Compartment</a:t>
              </a:r>
              <a:endParaRPr lang="en-US" sz="900" b="1" kern="0">
                <a:solidFill>
                  <a:srgbClr val="000000"/>
                </a:solidFill>
                <a:latin typeface="Open Sans"/>
                <a:ea typeface="+mn-ea"/>
                <a:cs typeface="Open Sans"/>
              </a:endParaRPr>
            </a:p>
          </p:txBody>
        </p:sp>
        <p:sp>
          <p:nvSpPr>
            <p:cNvPr id="20" name="Pentagon 195">
              <a:extLst>
                <a:ext uri="{FF2B5EF4-FFF2-40B4-BE49-F238E27FC236}">
                  <a16:creationId xmlns:a16="http://schemas.microsoft.com/office/drawing/2014/main" id="{0DDF3E50-C175-02E7-BFC8-CA3271813320}"/>
                </a:ext>
              </a:extLst>
            </p:cNvPr>
            <p:cNvSpPr>
              <a:spLocks/>
            </p:cNvSpPr>
            <p:nvPr/>
          </p:nvSpPr>
          <p:spPr>
            <a:xfrm>
              <a:off x="8288400" y="6382577"/>
              <a:ext cx="1436581" cy="1047794"/>
            </a:xfrm>
            <a:prstGeom prst="rect">
              <a:avLst/>
            </a:prstGeom>
            <a:solidFill>
              <a:schemeClr val="bg1">
                <a:lumMod val="95000"/>
              </a:schemeClr>
            </a:solidFill>
            <a:ln w="19050" cap="flat" cmpd="sng" algn="ctr">
              <a:solidFill>
                <a:srgbClr val="FFFFFF">
                  <a:lumMod val="95000"/>
                </a:srgbClr>
              </a:solidFill>
              <a:prstDash val="solid"/>
              <a:miter lim="800000"/>
            </a:ln>
            <a:effectLst/>
          </p:spPr>
          <p:txBody>
            <a:bodyPr tIns="45720" rIns="91440" bIns="45720" rtlCol="0" anchor="t"/>
            <a:lstStyle/>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00000"/>
                  </a:solidFill>
                  <a:effectLst/>
                  <a:uLnTx/>
                  <a:uFillTx/>
                  <a:latin typeface="Open Sans"/>
                </a:rPr>
                <a:t>OCI Tenancy Architecture Design MVP </a:t>
              </a: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rPr>
                <a:t>Network Design MVP</a:t>
              </a:r>
              <a:endParaRPr kumimoji="0" lang="en-US" sz="900" b="0" i="0" u="none" strike="noStrike" kern="0" cap="none" spc="0" normalizeH="0" baseline="0" noProof="0">
                <a:ln>
                  <a:noFill/>
                </a:ln>
                <a:solidFill>
                  <a:srgbClr val="000000"/>
                </a:solidFill>
                <a:effectLst/>
                <a:uLnTx/>
                <a:uFillTx/>
                <a:latin typeface="Open Sans"/>
              </a:endParaRPr>
            </a:p>
            <a:p>
              <a:pPr marL="171450" marR="0" lvl="0" indent="-1714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0">
                  <a:solidFill>
                    <a:srgbClr val="000000"/>
                  </a:solidFill>
                  <a:latin typeface="Open Sans"/>
                  <a:ea typeface="+mn-ea"/>
                  <a:cs typeface="+mn-cs"/>
                </a:rPr>
                <a:t>OCI &amp; PaaS Se</a:t>
              </a:r>
              <a:r>
                <a:rPr lang="en-US" sz="900" kern="0">
                  <a:solidFill>
                    <a:srgbClr val="000000"/>
                  </a:solidFill>
                  <a:latin typeface="Open Sans"/>
                </a:rPr>
                <a:t>curity Design MVP</a:t>
              </a:r>
            </a:p>
          </p:txBody>
        </p:sp>
        <p:sp>
          <p:nvSpPr>
            <p:cNvPr id="21" name="Pentagon 195">
              <a:extLst>
                <a:ext uri="{FF2B5EF4-FFF2-40B4-BE49-F238E27FC236}">
                  <a16:creationId xmlns:a16="http://schemas.microsoft.com/office/drawing/2014/main" id="{A39B8ED4-767B-B4EC-A7CC-91FE2529CD60}"/>
                </a:ext>
              </a:extLst>
            </p:cNvPr>
            <p:cNvSpPr>
              <a:spLocks/>
            </p:cNvSpPr>
            <p:nvPr/>
          </p:nvSpPr>
          <p:spPr>
            <a:xfrm>
              <a:off x="9758116" y="6384553"/>
              <a:ext cx="2462506" cy="1045814"/>
            </a:xfrm>
            <a:prstGeom prst="rect">
              <a:avLst/>
            </a:prstGeom>
            <a:solidFill>
              <a:schemeClr val="bg1">
                <a:lumMod val="95000"/>
              </a:schemeClr>
            </a:solidFill>
            <a:ln w="19050">
              <a:solidFill>
                <a:srgbClr val="FFFFFF">
                  <a:lumMod val="95000"/>
                </a:srgbClr>
              </a:solidFill>
            </a:ln>
          </p:spPr>
          <p:txBody>
            <a:bodyPr wrap="square" tIns="45720" rIns="91440" bIns="45720">
              <a:noAutofit/>
            </a:bodyPr>
            <a:lstStyle/>
            <a:p>
              <a:pPr>
                <a:spcAft>
                  <a:spcPts val="300"/>
                </a:spcAft>
              </a:pPr>
              <a:r>
                <a:rPr lang="en-US" sz="900" b="1" kern="0">
                  <a:solidFill>
                    <a:srgbClr val="000000"/>
                  </a:solidFill>
                  <a:latin typeface="Open Sans"/>
                </a:rPr>
                <a:t>Build Development/Test</a:t>
              </a:r>
            </a:p>
            <a:p>
              <a:pPr marL="171450" indent="-171450">
                <a:spcAft>
                  <a:spcPts val="300"/>
                </a:spcAft>
                <a:buFont typeface="Arial" panose="020B0604020202020204" pitchFamily="34" charset="0"/>
                <a:buChar char="•"/>
              </a:pPr>
              <a:r>
                <a:rPr lang="en-US" sz="900" kern="0">
                  <a:solidFill>
                    <a:srgbClr val="000000"/>
                  </a:solidFill>
                  <a:latin typeface="Open Sans"/>
                </a:rPr>
                <a:t>Deploy Platform Services (PaaS)</a:t>
              </a:r>
            </a:p>
            <a:p>
              <a:pPr marL="171450" indent="-171450">
                <a:spcAft>
                  <a:spcPts val="300"/>
                </a:spcAft>
                <a:buFont typeface="Arial" panose="020B0604020202020204" pitchFamily="34" charset="0"/>
                <a:buChar char="•"/>
              </a:pPr>
              <a:r>
                <a:rPr lang="en-US" sz="900" kern="0">
                  <a:solidFill>
                    <a:srgbClr val="000000"/>
                  </a:solidFill>
                  <a:latin typeface="Open Sans"/>
                </a:rPr>
                <a:t>Secure Infrastructure &amp; PaaS services</a:t>
              </a:r>
            </a:p>
            <a:p>
              <a:pPr marL="171450" indent="-171450">
                <a:spcAft>
                  <a:spcPts val="300"/>
                </a:spcAft>
                <a:buFont typeface="Arial" panose="020B0604020202020204" pitchFamily="34" charset="0"/>
                <a:buChar char="•"/>
              </a:pPr>
              <a:r>
                <a:rPr lang="en-US" sz="900" kern="0">
                  <a:solidFill>
                    <a:srgbClr val="000000"/>
                  </a:solidFill>
                  <a:latin typeface="Open Sans"/>
                </a:rPr>
                <a:t>Environment Validation</a:t>
              </a:r>
            </a:p>
            <a:p>
              <a:pPr marL="171450" indent="-171450">
                <a:spcAft>
                  <a:spcPts val="300"/>
                </a:spcAft>
                <a:buFont typeface="Arial" panose="020B0604020202020204" pitchFamily="34" charset="0"/>
                <a:buChar char="•"/>
              </a:pPr>
              <a:r>
                <a:rPr lang="en-US" sz="900" kern="0">
                  <a:solidFill>
                    <a:srgbClr val="000000"/>
                  </a:solidFill>
                  <a:latin typeface="Open Sans"/>
                </a:rPr>
                <a:t>Setup Backups, Monitoring &amp; Auditing</a:t>
              </a:r>
            </a:p>
          </p:txBody>
        </p:sp>
        <p:sp>
          <p:nvSpPr>
            <p:cNvPr id="26" name="Rectangle 25">
              <a:extLst>
                <a:ext uri="{FF2B5EF4-FFF2-40B4-BE49-F238E27FC236}">
                  <a16:creationId xmlns:a16="http://schemas.microsoft.com/office/drawing/2014/main" id="{CEC44F08-4545-2ECA-92C4-FE3042483368}"/>
                </a:ext>
              </a:extLst>
            </p:cNvPr>
            <p:cNvSpPr/>
            <p:nvPr/>
          </p:nvSpPr>
          <p:spPr>
            <a:xfrm>
              <a:off x="11328851" y="3295907"/>
              <a:ext cx="3048490" cy="3023225"/>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7" name="Pentagon 194">
              <a:extLst>
                <a:ext uri="{FF2B5EF4-FFF2-40B4-BE49-F238E27FC236}">
                  <a16:creationId xmlns:a16="http://schemas.microsoft.com/office/drawing/2014/main" id="{07A9F864-E65F-2F66-D32D-0FD06A435108}"/>
                </a:ext>
              </a:extLst>
            </p:cNvPr>
            <p:cNvSpPr>
              <a:spLocks/>
            </p:cNvSpPr>
            <p:nvPr/>
          </p:nvSpPr>
          <p:spPr>
            <a:xfrm>
              <a:off x="11328850" y="3130691"/>
              <a:ext cx="3096033" cy="18498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sp>
          <p:nvSpPr>
            <p:cNvPr id="28" name="Rectangle 27">
              <a:extLst>
                <a:ext uri="{FF2B5EF4-FFF2-40B4-BE49-F238E27FC236}">
                  <a16:creationId xmlns:a16="http://schemas.microsoft.com/office/drawing/2014/main" id="{DC09DE75-6712-6C12-416E-31389457FF34}"/>
                </a:ext>
              </a:extLst>
            </p:cNvPr>
            <p:cNvSpPr/>
            <p:nvPr/>
          </p:nvSpPr>
          <p:spPr>
            <a:xfrm>
              <a:off x="16065672" y="3295907"/>
              <a:ext cx="2085460" cy="3028587"/>
            </a:xfrm>
            <a:prstGeom prst="rect">
              <a:avLst/>
            </a:prstGeom>
            <a:solidFill>
              <a:schemeClr val="bg1">
                <a:lumMod val="95000"/>
              </a:schemeClr>
            </a:solidFill>
            <a:ln w="19050">
              <a:solidFill>
                <a:srgbClr val="FFFFFF">
                  <a:lumMod val="95000"/>
                </a:srgbClr>
              </a:solidFill>
            </a:ln>
          </p:spPr>
          <p:txBody>
            <a:bodyPr wrap="square" lIns="45720" tIns="45720" rIns="45720" bIns="45720">
              <a:noAutofit/>
            </a:bodyPr>
            <a:lstStyle/>
            <a:p>
              <a:pPr marL="171450" indent="-171450">
                <a:spcAft>
                  <a:spcPts val="300"/>
                </a:spcAft>
                <a:buFont typeface="Arial" panose="020B0604020202020204" pitchFamily="34" charset="0"/>
                <a:buChar char="•"/>
                <a:defRPr/>
              </a:pPr>
              <a:r>
                <a:rPr lang="en-US" sz="1000" kern="0">
                  <a:solidFill>
                    <a:srgbClr val="000000"/>
                  </a:solidFill>
                  <a:latin typeface="Open Sans"/>
                </a:rPr>
                <a:t>Day-to-day monitoring and management </a:t>
              </a:r>
            </a:p>
            <a:p>
              <a:pPr marL="171450" indent="-171450">
                <a:spcAft>
                  <a:spcPts val="300"/>
                </a:spcAft>
                <a:buFont typeface="Arial" panose="020B0604020202020204" pitchFamily="34" charset="0"/>
                <a:buChar char="•"/>
                <a:defRPr/>
              </a:pPr>
              <a:r>
                <a:rPr lang="en-US" sz="1000" kern="0">
                  <a:solidFill>
                    <a:srgbClr val="000000"/>
                  </a:solidFill>
                  <a:latin typeface="Open Sans"/>
                </a:rPr>
                <a:t>Environments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Configuration &amp; change management support </a:t>
              </a:r>
            </a:p>
            <a:p>
              <a:pPr marL="171450" indent="-171450">
                <a:spcAft>
                  <a:spcPts val="300"/>
                </a:spcAft>
                <a:buFont typeface="Arial" panose="020B0604020202020204" pitchFamily="34" charset="0"/>
                <a:buChar char="•"/>
                <a:defRPr/>
              </a:pPr>
              <a:r>
                <a:rPr lang="en-US" sz="1000" kern="0">
                  <a:solidFill>
                    <a:srgbClr val="000000"/>
                  </a:solidFill>
                  <a:latin typeface="Open Sans"/>
                </a:rPr>
                <a:t>Performance &amp; troubleshooting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Cost optimization</a:t>
              </a:r>
            </a:p>
            <a:p>
              <a:pPr marL="171450" indent="-171450">
                <a:spcAft>
                  <a:spcPts val="300"/>
                </a:spcAft>
                <a:buFont typeface="Arial" panose="020B0604020202020204" pitchFamily="34" charset="0"/>
                <a:buChar char="•"/>
                <a:defRPr/>
              </a:pPr>
              <a:r>
                <a:rPr lang="en-US" sz="1000" kern="0">
                  <a:solidFill>
                    <a:srgbClr val="000000"/>
                  </a:solidFill>
                  <a:latin typeface="Open Sans"/>
                </a:rPr>
                <a:t>Capacity management</a:t>
              </a:r>
            </a:p>
            <a:p>
              <a:pPr marL="171450" indent="-171450">
                <a:spcAft>
                  <a:spcPts val="300"/>
                </a:spcAft>
                <a:buFont typeface="Arial" panose="020B0604020202020204" pitchFamily="34" charset="0"/>
                <a:buChar char="•"/>
                <a:defRPr/>
              </a:pPr>
              <a:r>
                <a:rPr lang="en-US" sz="1000" kern="0">
                  <a:solidFill>
                    <a:srgbClr val="000000"/>
                  </a:solidFill>
                  <a:latin typeface="Open Sans"/>
                </a:rPr>
                <a:t>DevOps, CI/CD</a:t>
              </a:r>
            </a:p>
            <a:p>
              <a:pPr marL="171450" indent="-171450">
                <a:spcAft>
                  <a:spcPts val="300"/>
                </a:spcAft>
                <a:buFont typeface="Arial" panose="020B0604020202020204" pitchFamily="34" charset="0"/>
                <a:buChar char="•"/>
                <a:defRPr/>
              </a:pPr>
              <a:r>
                <a:rPr lang="en-US" sz="1000" kern="0">
                  <a:solidFill>
                    <a:srgbClr val="000000"/>
                  </a:solidFill>
                  <a:latin typeface="Open Sans"/>
                </a:rPr>
                <a:t>Backups</a:t>
              </a:r>
            </a:p>
            <a:p>
              <a:pPr marL="171450" indent="-171450">
                <a:spcAft>
                  <a:spcPts val="300"/>
                </a:spcAft>
                <a:buFont typeface="Arial" panose="020B0604020202020204" pitchFamily="34" charset="0"/>
                <a:buChar char="•"/>
                <a:defRPr/>
              </a:pPr>
              <a:r>
                <a:rPr lang="en-US" sz="1000" kern="0">
                  <a:solidFill>
                    <a:srgbClr val="000000"/>
                  </a:solidFill>
                  <a:latin typeface="Open Sans"/>
                </a:rPr>
                <a:t>Access support</a:t>
              </a:r>
            </a:p>
            <a:p>
              <a:pPr marL="171450" indent="-171450">
                <a:spcAft>
                  <a:spcPts val="300"/>
                </a:spcAft>
                <a:buFont typeface="Arial" panose="020B0604020202020204" pitchFamily="34" charset="0"/>
                <a:buChar char="•"/>
                <a:defRPr/>
              </a:pPr>
              <a:r>
                <a:rPr lang="en-US" sz="1000" kern="0">
                  <a:solidFill>
                    <a:srgbClr val="000000"/>
                  </a:solidFill>
                  <a:latin typeface="Open Sans"/>
                </a:rPr>
                <a:t>Documentation</a:t>
              </a:r>
            </a:p>
          </p:txBody>
        </p:sp>
        <p:sp>
          <p:nvSpPr>
            <p:cNvPr id="29" name="Pentagon 194">
              <a:extLst>
                <a:ext uri="{FF2B5EF4-FFF2-40B4-BE49-F238E27FC236}">
                  <a16:creationId xmlns:a16="http://schemas.microsoft.com/office/drawing/2014/main" id="{83BA127B-7478-8FC2-366E-CC854B3B974E}"/>
                </a:ext>
              </a:extLst>
            </p:cNvPr>
            <p:cNvSpPr>
              <a:spLocks/>
            </p:cNvSpPr>
            <p:nvPr/>
          </p:nvSpPr>
          <p:spPr>
            <a:xfrm>
              <a:off x="16065671" y="3134749"/>
              <a:ext cx="2117984" cy="180892"/>
            </a:xfrm>
            <a:prstGeom prst="homePlate">
              <a:avLst/>
            </a:prstGeom>
            <a:solidFill>
              <a:srgbClr val="0076A8"/>
            </a:solidFill>
            <a:ln w="19050" cap="flat" cmpd="sng" algn="ctr">
              <a:solidFill>
                <a:srgbClr val="FFFFFF">
                  <a:lumMod val="95000"/>
                </a:srgbClr>
              </a:solidFill>
              <a:prstDash val="solid"/>
              <a:miter lim="800000"/>
            </a:ln>
            <a:effectLst/>
          </p:spPr>
          <p:txBody>
            <a:bodyPr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mn-ea"/>
                  <a:cs typeface="Open Sans"/>
                </a:rPr>
                <a:t>Run &amp; Maintain</a:t>
              </a:r>
            </a:p>
          </p:txBody>
        </p:sp>
      </p:grpSp>
      <p:grpSp>
        <p:nvGrpSpPr>
          <p:cNvPr id="9" name="Group 8">
            <a:extLst>
              <a:ext uri="{FF2B5EF4-FFF2-40B4-BE49-F238E27FC236}">
                <a16:creationId xmlns:a16="http://schemas.microsoft.com/office/drawing/2014/main" id="{51462D8E-163C-423D-A8E6-48848937A253}"/>
              </a:ext>
            </a:extLst>
          </p:cNvPr>
          <p:cNvGrpSpPr/>
          <p:nvPr/>
        </p:nvGrpSpPr>
        <p:grpSpPr>
          <a:xfrm>
            <a:off x="992529" y="939705"/>
            <a:ext cx="2992906" cy="608462"/>
            <a:chOff x="13037716" y="1001698"/>
            <a:chExt cx="2992906" cy="608462"/>
          </a:xfrm>
        </p:grpSpPr>
        <p:sp>
          <p:nvSpPr>
            <p:cNvPr id="103" name="object 113">
              <a:extLst>
                <a:ext uri="{FF2B5EF4-FFF2-40B4-BE49-F238E27FC236}">
                  <a16:creationId xmlns:a16="http://schemas.microsoft.com/office/drawing/2014/main" id="{156F9A65-56D8-BD74-0655-52AD506CABFA}"/>
                </a:ext>
              </a:extLst>
            </p:cNvPr>
            <p:cNvSpPr txBox="1"/>
            <p:nvPr/>
          </p:nvSpPr>
          <p:spPr>
            <a:xfrm>
              <a:off x="13095592" y="1283303"/>
              <a:ext cx="137870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1000" spc="0">
                  <a:solidFill>
                    <a:srgbClr val="000000"/>
                  </a:solidFill>
                  <a:latin typeface="Open Sans"/>
                  <a:ea typeface="+mn-ea"/>
                  <a:cs typeface="Open Sans"/>
                </a:rPr>
                <a:t>Discover &amp; Analyze</a:t>
              </a:r>
              <a:endParaRPr lang="en-US" sz="1000" b="1" spc="0">
                <a:solidFill>
                  <a:srgbClr val="000000"/>
                </a:solidFill>
                <a:latin typeface="Open Sans"/>
                <a:ea typeface="+mn-ea"/>
                <a:cs typeface="Open Sans"/>
              </a:endParaRPr>
            </a:p>
          </p:txBody>
        </p:sp>
        <p:sp>
          <p:nvSpPr>
            <p:cNvPr id="105" name="object 113">
              <a:extLst>
                <a:ext uri="{FF2B5EF4-FFF2-40B4-BE49-F238E27FC236}">
                  <a16:creationId xmlns:a16="http://schemas.microsoft.com/office/drawing/2014/main" id="{02D8BC92-B2DD-531C-C73C-BCDCC458AE62}"/>
                </a:ext>
              </a:extLst>
            </p:cNvPr>
            <p:cNvSpPr txBox="1"/>
            <p:nvPr/>
          </p:nvSpPr>
          <p:spPr>
            <a:xfrm>
              <a:off x="14443274" y="1296432"/>
              <a:ext cx="603696" cy="307777"/>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p>
            <a:p>
              <a:pPr fontAlgn="auto">
                <a:lnSpc>
                  <a:spcPct val="100000"/>
                </a:lnSpc>
                <a:spcBef>
                  <a:spcPts val="0"/>
                </a:spcBef>
                <a:spcAft>
                  <a:spcPts val="0"/>
                </a:spcAft>
              </a:pPr>
              <a:r>
                <a:rPr lang="en-US" sz="1000" spc="0">
                  <a:solidFill>
                    <a:srgbClr val="000000"/>
                  </a:solidFill>
                  <a:latin typeface="Open Sans"/>
                  <a:ea typeface="+mn-ea"/>
                  <a:cs typeface="Open Sans"/>
                </a:rPr>
                <a:t>Design</a:t>
              </a:r>
            </a:p>
          </p:txBody>
        </p:sp>
        <p:sp>
          <p:nvSpPr>
            <p:cNvPr id="111" name="object 113">
              <a:extLst>
                <a:ext uri="{FF2B5EF4-FFF2-40B4-BE49-F238E27FC236}">
                  <a16:creationId xmlns:a16="http://schemas.microsoft.com/office/drawing/2014/main" id="{AA238760-EDAE-8B14-CDD2-CD1B980B857D}"/>
                </a:ext>
              </a:extLst>
            </p:cNvPr>
            <p:cNvSpPr txBox="1"/>
            <p:nvPr/>
          </p:nvSpPr>
          <p:spPr>
            <a:xfrm>
              <a:off x="15159732" y="1290997"/>
              <a:ext cx="855165"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3:</a:t>
              </a:r>
            </a:p>
            <a:p>
              <a:pPr fontAlgn="auto">
                <a:lnSpc>
                  <a:spcPct val="100000"/>
                </a:lnSpc>
                <a:spcBef>
                  <a:spcPts val="0"/>
                </a:spcBef>
                <a:spcAft>
                  <a:spcPts val="0"/>
                </a:spcAft>
              </a:pPr>
              <a:r>
                <a:rPr lang="en-US" sz="900" spc="0">
                  <a:solidFill>
                    <a:srgbClr val="000000"/>
                  </a:solidFill>
                  <a:latin typeface="Open Sans"/>
                  <a:ea typeface="+mn-ea"/>
                  <a:cs typeface="Open Sans"/>
                </a:rPr>
                <a:t>Build non-Prod</a:t>
              </a:r>
            </a:p>
          </p:txBody>
        </p:sp>
        <p:sp>
          <p:nvSpPr>
            <p:cNvPr id="30" name="Rectangle 29">
              <a:extLst>
                <a:ext uri="{FF2B5EF4-FFF2-40B4-BE49-F238E27FC236}">
                  <a16:creationId xmlns:a16="http://schemas.microsoft.com/office/drawing/2014/main" id="{BE0477AC-FE16-670E-1B86-8D6FF83469D1}"/>
                </a:ext>
              </a:extLst>
            </p:cNvPr>
            <p:cNvSpPr/>
            <p:nvPr/>
          </p:nvSpPr>
          <p:spPr>
            <a:xfrm>
              <a:off x="13037716" y="1136100"/>
              <a:ext cx="2992906"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FFCDF3B-519D-2A4C-BFC4-349178796723}"/>
                </a:ext>
              </a:extLst>
            </p:cNvPr>
            <p:cNvSpPr txBox="1"/>
            <p:nvPr/>
          </p:nvSpPr>
          <p:spPr>
            <a:xfrm>
              <a:off x="13298846" y="1001698"/>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1</a:t>
              </a:r>
            </a:p>
          </p:txBody>
        </p:sp>
      </p:grpSp>
      <p:grpSp>
        <p:nvGrpSpPr>
          <p:cNvPr id="10" name="Group 9">
            <a:extLst>
              <a:ext uri="{FF2B5EF4-FFF2-40B4-BE49-F238E27FC236}">
                <a16:creationId xmlns:a16="http://schemas.microsoft.com/office/drawing/2014/main" id="{775EE506-FC74-4E39-BCD3-DC07C78D7BE9}"/>
              </a:ext>
            </a:extLst>
          </p:cNvPr>
          <p:cNvGrpSpPr/>
          <p:nvPr/>
        </p:nvGrpSpPr>
        <p:grpSpPr>
          <a:xfrm>
            <a:off x="7483131" y="939705"/>
            <a:ext cx="1646313" cy="583150"/>
            <a:chOff x="10592666" y="932564"/>
            <a:chExt cx="1646313" cy="583150"/>
          </a:xfrm>
        </p:grpSpPr>
        <p:sp>
          <p:nvSpPr>
            <p:cNvPr id="129" name="object 113">
              <a:extLst>
                <a:ext uri="{FF2B5EF4-FFF2-40B4-BE49-F238E27FC236}">
                  <a16:creationId xmlns:a16="http://schemas.microsoft.com/office/drawing/2014/main" id="{F193CFFB-5DE5-10FD-5B81-FE50E4CEDDF5}"/>
                </a:ext>
              </a:extLst>
            </p:cNvPr>
            <p:cNvSpPr txBox="1"/>
            <p:nvPr/>
          </p:nvSpPr>
          <p:spPr>
            <a:xfrm>
              <a:off x="10635994" y="1197684"/>
              <a:ext cx="1135081"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1:</a:t>
              </a:r>
            </a:p>
            <a:p>
              <a:pPr fontAlgn="auto">
                <a:lnSpc>
                  <a:spcPct val="100000"/>
                </a:lnSpc>
                <a:spcBef>
                  <a:spcPts val="0"/>
                </a:spcBef>
                <a:spcAft>
                  <a:spcPts val="0"/>
                </a:spcAft>
              </a:pPr>
              <a:r>
                <a:rPr lang="en-US" sz="900" spc="0">
                  <a:solidFill>
                    <a:srgbClr val="000000"/>
                  </a:solidFill>
                  <a:latin typeface="Open Sans"/>
                  <a:ea typeface="+mn-ea"/>
                  <a:cs typeface="Open Sans"/>
                </a:rPr>
                <a:t>Analyze &amp;</a:t>
              </a:r>
              <a:r>
                <a:rPr lang="en-US" sz="900" spc="0">
                  <a:solidFill>
                    <a:srgbClr val="000000"/>
                  </a:solidFill>
                  <a:latin typeface="Open Sans"/>
                  <a:cs typeface="Open Sans"/>
                </a:rPr>
                <a:t> </a:t>
              </a:r>
              <a:r>
                <a:rPr lang="en-US" sz="900" spc="0">
                  <a:solidFill>
                    <a:srgbClr val="000000"/>
                  </a:solidFill>
                  <a:latin typeface="Open Sans"/>
                  <a:ea typeface="+mn-ea"/>
                  <a:cs typeface="Open Sans"/>
                </a:rPr>
                <a:t>Design</a:t>
              </a:r>
            </a:p>
          </p:txBody>
        </p:sp>
        <p:sp>
          <p:nvSpPr>
            <p:cNvPr id="131" name="object 113">
              <a:extLst>
                <a:ext uri="{FF2B5EF4-FFF2-40B4-BE49-F238E27FC236}">
                  <a16:creationId xmlns:a16="http://schemas.microsoft.com/office/drawing/2014/main" id="{DB499B41-EC18-9D3F-94D4-BB810261EE6B}"/>
                </a:ext>
              </a:extLst>
            </p:cNvPr>
            <p:cNvSpPr txBox="1"/>
            <p:nvPr/>
          </p:nvSpPr>
          <p:spPr>
            <a:xfrm>
              <a:off x="11635283" y="1203732"/>
              <a:ext cx="603696" cy="292388"/>
            </a:xfrm>
            <a:prstGeom prst="rect">
              <a:avLst/>
            </a:prstGeom>
            <a:ln>
              <a:noFill/>
            </a:ln>
          </p:spPr>
          <p:txBody>
            <a:bodyPr vert="horz" wrap="square" lIns="0" tIns="0" rIns="0" bIns="0" rtlCol="0">
              <a:spAutoFit/>
            </a:bodyPr>
            <a:lstStyle>
              <a:defPPr>
                <a:defRPr lang="en-US"/>
              </a:defPPr>
              <a:lvl1pPr marR="5080" indent="0">
                <a:lnSpc>
                  <a:spcPct val="90000"/>
                </a:lnSpc>
                <a:defRPr sz="1200" spc="85">
                  <a:solidFill>
                    <a:srgbClr val="FFFFFF"/>
                  </a:solidFill>
                  <a:cs typeface="Knockout-HTF29-JuniorLiteweight"/>
                </a:defRPr>
              </a:lvl1pPr>
            </a:lstStyle>
            <a:p>
              <a:pPr fontAlgn="auto">
                <a:lnSpc>
                  <a:spcPct val="100000"/>
                </a:lnSpc>
                <a:spcBef>
                  <a:spcPts val="0"/>
                </a:spcBef>
                <a:spcAft>
                  <a:spcPts val="0"/>
                </a:spcAft>
              </a:pPr>
              <a:r>
                <a:rPr lang="en-US" sz="1000" b="1" spc="0">
                  <a:solidFill>
                    <a:srgbClr val="000000"/>
                  </a:solidFill>
                  <a:latin typeface="Open Sans"/>
                  <a:ea typeface="+mn-ea"/>
                  <a:cs typeface="Open Sans"/>
                </a:rPr>
                <a:t>Phase 2:</a:t>
              </a:r>
              <a:endParaRPr lang="en-US" sz="900" b="1" spc="0">
                <a:solidFill>
                  <a:srgbClr val="000000"/>
                </a:solidFill>
                <a:latin typeface="Open Sans"/>
                <a:ea typeface="+mn-ea"/>
                <a:cs typeface="Open Sans"/>
              </a:endParaRPr>
            </a:p>
            <a:p>
              <a:pPr fontAlgn="auto">
                <a:lnSpc>
                  <a:spcPct val="100000"/>
                </a:lnSpc>
                <a:spcBef>
                  <a:spcPts val="0"/>
                </a:spcBef>
                <a:spcAft>
                  <a:spcPts val="0"/>
                </a:spcAft>
              </a:pPr>
              <a:r>
                <a:rPr lang="en-US" sz="900" spc="0">
                  <a:solidFill>
                    <a:srgbClr val="000000"/>
                  </a:solidFill>
                  <a:latin typeface="Open Sans"/>
                  <a:ea typeface="+mn-ea"/>
                  <a:cs typeface="Open Sans"/>
                </a:rPr>
                <a:t>Build Prod</a:t>
              </a:r>
            </a:p>
          </p:txBody>
        </p:sp>
        <p:sp>
          <p:nvSpPr>
            <p:cNvPr id="31" name="Rectangle 30">
              <a:extLst>
                <a:ext uri="{FF2B5EF4-FFF2-40B4-BE49-F238E27FC236}">
                  <a16:creationId xmlns:a16="http://schemas.microsoft.com/office/drawing/2014/main" id="{74F4D725-31AD-D317-A117-8BC1933FABCA}"/>
                </a:ext>
              </a:extLst>
            </p:cNvPr>
            <p:cNvSpPr/>
            <p:nvPr/>
          </p:nvSpPr>
          <p:spPr>
            <a:xfrm>
              <a:off x="10592666" y="1041654"/>
              <a:ext cx="1646313" cy="474060"/>
            </a:xfrm>
            <a:prstGeom prst="rect">
              <a:avLst/>
            </a:prstGeom>
            <a:noFill/>
            <a:ln>
              <a:solidFill>
                <a:srgbClr val="43B0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F1D77B8-4B87-C98A-55C8-F2E8B440FC0F}"/>
                </a:ext>
              </a:extLst>
            </p:cNvPr>
            <p:cNvSpPr txBox="1"/>
            <p:nvPr/>
          </p:nvSpPr>
          <p:spPr>
            <a:xfrm>
              <a:off x="10779510" y="932564"/>
              <a:ext cx="928065" cy="246221"/>
            </a:xfrm>
            <a:prstGeom prst="rect">
              <a:avLst/>
            </a:prstGeom>
            <a:solidFill>
              <a:schemeClr val="bg1"/>
            </a:solidFill>
          </p:spPr>
          <p:txBody>
            <a:bodyPr wrap="square" rtlCol="0">
              <a:spAutoFit/>
            </a:bodyPr>
            <a:lstStyle/>
            <a:p>
              <a:pPr algn="ctr"/>
              <a:r>
                <a:rPr lang="en-US" sz="1000" b="1">
                  <a:latin typeface="Open Sans" panose="020B0606030504020204" pitchFamily="34" charset="0"/>
                  <a:ea typeface="Open Sans" panose="020B0606030504020204" pitchFamily="34" charset="0"/>
                  <a:cs typeface="Open Sans" panose="020B0606030504020204" pitchFamily="34" charset="0"/>
                </a:rPr>
                <a:t>Stage 2</a:t>
              </a:r>
            </a:p>
          </p:txBody>
        </p:sp>
      </p:grpSp>
      <p:grpSp>
        <p:nvGrpSpPr>
          <p:cNvPr id="47" name="Group 46">
            <a:extLst>
              <a:ext uri="{FF2B5EF4-FFF2-40B4-BE49-F238E27FC236}">
                <a16:creationId xmlns:a16="http://schemas.microsoft.com/office/drawing/2014/main" id="{8909B98C-2E68-4E0C-B914-D145B348A272}"/>
              </a:ext>
            </a:extLst>
          </p:cNvPr>
          <p:cNvGrpSpPr/>
          <p:nvPr/>
        </p:nvGrpSpPr>
        <p:grpSpPr>
          <a:xfrm>
            <a:off x="469456" y="879677"/>
            <a:ext cx="399163" cy="5559225"/>
            <a:chOff x="469456" y="1254763"/>
            <a:chExt cx="399163" cy="5184137"/>
          </a:xfrm>
        </p:grpSpPr>
        <p:sp>
          <p:nvSpPr>
            <p:cNvPr id="48" name="Pentagon 194">
              <a:extLst>
                <a:ext uri="{FF2B5EF4-FFF2-40B4-BE49-F238E27FC236}">
                  <a16:creationId xmlns:a16="http://schemas.microsoft.com/office/drawing/2014/main" id="{67FF85D4-B9C8-4CE1-BE05-B1A533764A4D}"/>
                </a:ext>
              </a:extLst>
            </p:cNvPr>
            <p:cNvSpPr>
              <a:spLocks/>
            </p:cNvSpPr>
            <p:nvPr/>
          </p:nvSpPr>
          <p:spPr>
            <a:xfrm rot="16200000">
              <a:off x="-150113" y="1874332"/>
              <a:ext cx="1638300" cy="399162"/>
            </a:xfrm>
            <a:prstGeom prst="chevron">
              <a:avLst/>
            </a:prstGeom>
            <a:solidFill>
              <a:schemeClr val="bg1">
                <a:lumMod val="9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a:solidFill>
                    <a:srgbClr val="000000"/>
                  </a:solidFill>
                  <a:latin typeface="Open Sans"/>
                  <a:cs typeface="Open Sans"/>
                </a:rPr>
                <a:t>Timeline</a:t>
              </a:r>
            </a:p>
          </p:txBody>
        </p:sp>
        <p:sp>
          <p:nvSpPr>
            <p:cNvPr id="49" name="Pentagon 194">
              <a:extLst>
                <a:ext uri="{FF2B5EF4-FFF2-40B4-BE49-F238E27FC236}">
                  <a16:creationId xmlns:a16="http://schemas.microsoft.com/office/drawing/2014/main" id="{71B8450C-D1F1-488E-BEB8-7159CB9B14D0}"/>
                </a:ext>
              </a:extLst>
            </p:cNvPr>
            <p:cNvSpPr>
              <a:spLocks/>
            </p:cNvSpPr>
            <p:nvPr/>
          </p:nvSpPr>
          <p:spPr>
            <a:xfrm rot="16200000">
              <a:off x="-587935" y="3856801"/>
              <a:ext cx="2513945" cy="399162"/>
            </a:xfrm>
            <a:prstGeom prst="chevron">
              <a:avLst/>
            </a:prstGeom>
            <a:solidFill>
              <a:schemeClr val="bg1">
                <a:lumMod val="8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ATS Build-out</a:t>
              </a:r>
            </a:p>
          </p:txBody>
        </p:sp>
        <p:sp>
          <p:nvSpPr>
            <p:cNvPr id="50" name="Pentagon 194">
              <a:extLst>
                <a:ext uri="{FF2B5EF4-FFF2-40B4-BE49-F238E27FC236}">
                  <a16:creationId xmlns:a16="http://schemas.microsoft.com/office/drawing/2014/main" id="{E75B116E-E585-48F9-84DC-F54EFBD14A75}"/>
                </a:ext>
              </a:extLst>
            </p:cNvPr>
            <p:cNvSpPr>
              <a:spLocks/>
            </p:cNvSpPr>
            <p:nvPr/>
          </p:nvSpPr>
          <p:spPr>
            <a:xfrm rot="16200000">
              <a:off x="59437" y="5629719"/>
              <a:ext cx="1219200" cy="399162"/>
            </a:xfrm>
            <a:prstGeom prst="homePlate">
              <a:avLst/>
            </a:prstGeom>
            <a:solidFill>
              <a:schemeClr val="bg1">
                <a:lumMod val="75000"/>
              </a:schemeClr>
            </a:solidFill>
            <a:ln w="19050" cap="flat" cmpd="sng" algn="ctr">
              <a:noFill/>
              <a:prstDash val="solid"/>
              <a:miter lim="800000"/>
            </a:ln>
            <a:effectLst/>
          </p:spPr>
          <p:txBody>
            <a:bodyPr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Open Sans"/>
                  <a:ea typeface="+mn-ea"/>
                  <a:cs typeface="Open Sans"/>
                </a:rPr>
                <a:t>Deliverables</a:t>
              </a:r>
            </a:p>
          </p:txBody>
        </p:sp>
      </p:grpSp>
      <p:grpSp>
        <p:nvGrpSpPr>
          <p:cNvPr id="4" name="Group 3">
            <a:extLst>
              <a:ext uri="{FF2B5EF4-FFF2-40B4-BE49-F238E27FC236}">
                <a16:creationId xmlns:a16="http://schemas.microsoft.com/office/drawing/2014/main" id="{C6A33289-D4F3-451B-A5F7-F1DC83CF5E27}"/>
              </a:ext>
            </a:extLst>
          </p:cNvPr>
          <p:cNvGrpSpPr/>
          <p:nvPr/>
        </p:nvGrpSpPr>
        <p:grpSpPr>
          <a:xfrm>
            <a:off x="983092" y="1545352"/>
            <a:ext cx="10753637" cy="425486"/>
            <a:chOff x="983092" y="989268"/>
            <a:chExt cx="10753637" cy="425486"/>
          </a:xfrm>
        </p:grpSpPr>
        <p:cxnSp>
          <p:nvCxnSpPr>
            <p:cNvPr id="46" name="Straight Connector 45">
              <a:extLst>
                <a:ext uri="{FF2B5EF4-FFF2-40B4-BE49-F238E27FC236}">
                  <a16:creationId xmlns:a16="http://schemas.microsoft.com/office/drawing/2014/main" id="{EFF1A305-E8DC-43D7-BA5B-5F2779C8562B}"/>
                </a:ext>
              </a:extLst>
            </p:cNvPr>
            <p:cNvCxnSpPr>
              <a:cxnSpLocks/>
            </p:cNvCxnSpPr>
            <p:nvPr/>
          </p:nvCxnSpPr>
          <p:spPr>
            <a:xfrm>
              <a:off x="983848" y="1309622"/>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5EE26D0-A4FD-493B-932F-69FEF9EF64AA}"/>
                </a:ext>
              </a:extLst>
            </p:cNvPr>
            <p:cNvCxnSpPr>
              <a:cxnSpLocks/>
            </p:cNvCxnSpPr>
            <p:nvPr/>
          </p:nvCxnSpPr>
          <p:spPr>
            <a:xfrm>
              <a:off x="983848" y="1081601"/>
              <a:ext cx="107528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6" name="object 26">
              <a:extLst>
                <a:ext uri="{FF2B5EF4-FFF2-40B4-BE49-F238E27FC236}">
                  <a16:creationId xmlns:a16="http://schemas.microsoft.com/office/drawing/2014/main" id="{47ED6E4E-5369-457F-85E6-4A86E8425C8F}"/>
                </a:ext>
              </a:extLst>
            </p:cNvPr>
            <p:cNvSpPr txBox="1"/>
            <p:nvPr/>
          </p:nvSpPr>
          <p:spPr>
            <a:xfrm>
              <a:off x="5968510" y="989268"/>
              <a:ext cx="783556" cy="184666"/>
            </a:xfrm>
            <a:prstGeom prst="rect">
              <a:avLst/>
            </a:prstGeom>
            <a:solidFill>
              <a:schemeClr val="bg1"/>
            </a:solidFill>
            <a:ln w="76200" cmpd="sng">
              <a:noFill/>
            </a:ln>
          </p:spPr>
          <p:txBody>
            <a:bodyPr vert="horz" wrap="square" lIns="45720" tIns="0" rIns="45720" bIns="0" rtlCol="0">
              <a:spAutoFit/>
            </a:bodyPr>
            <a:lstStyle/>
            <a:p>
              <a:pPr marL="1270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rgbClr val="000000"/>
                  </a:solidFill>
                  <a:latin typeface="Open Sans"/>
                  <a:ea typeface="+mn-ea"/>
                  <a:cs typeface="Open Sans"/>
                </a:rPr>
                <a:t>Months</a:t>
              </a:r>
              <a:endParaRPr kumimoji="0" lang="en-US" sz="1200" b="1" i="0" u="none" strike="noStrike" kern="0" cap="none" spc="0" normalizeH="0" baseline="0" noProof="0">
                <a:ln>
                  <a:noFill/>
                </a:ln>
                <a:solidFill>
                  <a:srgbClr val="000000"/>
                </a:solidFill>
                <a:effectLst/>
                <a:uLnTx/>
                <a:uFillTx/>
                <a:latin typeface="Open Sans"/>
                <a:ea typeface="+mn-ea"/>
                <a:cs typeface="Open Sans"/>
              </a:endParaRPr>
            </a:p>
          </p:txBody>
        </p:sp>
        <p:sp>
          <p:nvSpPr>
            <p:cNvPr id="67" name="Oval 66">
              <a:extLst>
                <a:ext uri="{FF2B5EF4-FFF2-40B4-BE49-F238E27FC236}">
                  <a16:creationId xmlns:a16="http://schemas.microsoft.com/office/drawing/2014/main" id="{A9BED6CE-8BC7-47C7-98AE-17947857DF8C}"/>
                </a:ext>
              </a:extLst>
            </p:cNvPr>
            <p:cNvSpPr/>
            <p:nvPr/>
          </p:nvSpPr>
          <p:spPr bwMode="gray">
            <a:xfrm>
              <a:off x="983092"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0</a:t>
              </a:r>
            </a:p>
          </p:txBody>
        </p:sp>
        <p:sp>
          <p:nvSpPr>
            <p:cNvPr id="68" name="Oval 67">
              <a:extLst>
                <a:ext uri="{FF2B5EF4-FFF2-40B4-BE49-F238E27FC236}">
                  <a16:creationId xmlns:a16="http://schemas.microsoft.com/office/drawing/2014/main" id="{BD73F761-9ECF-43E7-8D50-376582F69E60}"/>
                </a:ext>
              </a:extLst>
            </p:cNvPr>
            <p:cNvSpPr/>
            <p:nvPr/>
          </p:nvSpPr>
          <p:spPr bwMode="gray">
            <a:xfrm>
              <a:off x="2219381"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1</a:t>
              </a:r>
            </a:p>
          </p:txBody>
        </p:sp>
        <p:sp>
          <p:nvSpPr>
            <p:cNvPr id="69" name="Oval 68">
              <a:extLst>
                <a:ext uri="{FF2B5EF4-FFF2-40B4-BE49-F238E27FC236}">
                  <a16:creationId xmlns:a16="http://schemas.microsoft.com/office/drawing/2014/main" id="{D1BD3B6F-25CC-4926-A112-1E2B975D1EDB}"/>
                </a:ext>
              </a:extLst>
            </p:cNvPr>
            <p:cNvSpPr/>
            <p:nvPr/>
          </p:nvSpPr>
          <p:spPr bwMode="gray">
            <a:xfrm>
              <a:off x="357478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2</a:t>
              </a:r>
            </a:p>
          </p:txBody>
        </p:sp>
        <p:sp>
          <p:nvSpPr>
            <p:cNvPr id="70" name="Oval 69">
              <a:extLst>
                <a:ext uri="{FF2B5EF4-FFF2-40B4-BE49-F238E27FC236}">
                  <a16:creationId xmlns:a16="http://schemas.microsoft.com/office/drawing/2014/main" id="{E63F87D5-C0C8-4988-8830-173A5C236E3E}"/>
                </a:ext>
              </a:extLst>
            </p:cNvPr>
            <p:cNvSpPr/>
            <p:nvPr/>
          </p:nvSpPr>
          <p:spPr bwMode="gray">
            <a:xfrm>
              <a:off x="4839727"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3</a:t>
              </a:r>
            </a:p>
          </p:txBody>
        </p:sp>
        <p:sp>
          <p:nvSpPr>
            <p:cNvPr id="71" name="Oval 70">
              <a:extLst>
                <a:ext uri="{FF2B5EF4-FFF2-40B4-BE49-F238E27FC236}">
                  <a16:creationId xmlns:a16="http://schemas.microsoft.com/office/drawing/2014/main" id="{77E2DAE2-4E22-4C2F-8DBD-634E336F7E5A}"/>
                </a:ext>
              </a:extLst>
            </p:cNvPr>
            <p:cNvSpPr/>
            <p:nvPr/>
          </p:nvSpPr>
          <p:spPr bwMode="gray">
            <a:xfrm>
              <a:off x="618858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4</a:t>
              </a:r>
            </a:p>
          </p:txBody>
        </p:sp>
        <p:sp>
          <p:nvSpPr>
            <p:cNvPr id="74" name="Oval 73">
              <a:extLst>
                <a:ext uri="{FF2B5EF4-FFF2-40B4-BE49-F238E27FC236}">
                  <a16:creationId xmlns:a16="http://schemas.microsoft.com/office/drawing/2014/main" id="{287789DC-5C9F-48A7-8CB4-73AFFE45FBB1}"/>
                </a:ext>
              </a:extLst>
            </p:cNvPr>
            <p:cNvSpPr/>
            <p:nvPr/>
          </p:nvSpPr>
          <p:spPr bwMode="gray">
            <a:xfrm>
              <a:off x="7497270"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5</a:t>
              </a:r>
            </a:p>
          </p:txBody>
        </p:sp>
        <p:sp>
          <p:nvSpPr>
            <p:cNvPr id="77" name="Oval 76">
              <a:extLst>
                <a:ext uri="{FF2B5EF4-FFF2-40B4-BE49-F238E27FC236}">
                  <a16:creationId xmlns:a16="http://schemas.microsoft.com/office/drawing/2014/main" id="{B402D31F-030A-4869-B368-9C939BC39B85}"/>
                </a:ext>
              </a:extLst>
            </p:cNvPr>
            <p:cNvSpPr/>
            <p:nvPr/>
          </p:nvSpPr>
          <p:spPr bwMode="gray">
            <a:xfrm>
              <a:off x="8881538"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6</a:t>
              </a:r>
            </a:p>
          </p:txBody>
        </p:sp>
        <p:sp>
          <p:nvSpPr>
            <p:cNvPr id="79" name="Oval 78">
              <a:extLst>
                <a:ext uri="{FF2B5EF4-FFF2-40B4-BE49-F238E27FC236}">
                  <a16:creationId xmlns:a16="http://schemas.microsoft.com/office/drawing/2014/main" id="{785C59E1-9C09-4569-9E2F-984F7FC16868}"/>
                </a:ext>
              </a:extLst>
            </p:cNvPr>
            <p:cNvSpPr/>
            <p:nvPr/>
          </p:nvSpPr>
          <p:spPr bwMode="gray">
            <a:xfrm>
              <a:off x="1005516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7</a:t>
              </a:r>
            </a:p>
          </p:txBody>
        </p:sp>
        <p:sp>
          <p:nvSpPr>
            <p:cNvPr id="80" name="Oval 79">
              <a:extLst>
                <a:ext uri="{FF2B5EF4-FFF2-40B4-BE49-F238E27FC236}">
                  <a16:creationId xmlns:a16="http://schemas.microsoft.com/office/drawing/2014/main" id="{3C794411-2F2B-4278-9C5A-F2C32871AAEA}"/>
                </a:ext>
              </a:extLst>
            </p:cNvPr>
            <p:cNvSpPr/>
            <p:nvPr/>
          </p:nvSpPr>
          <p:spPr bwMode="gray">
            <a:xfrm>
              <a:off x="11338329" y="1204491"/>
              <a:ext cx="210263" cy="210263"/>
            </a:xfrm>
            <a:prstGeom prst="ellipse">
              <a:avLst/>
            </a:prstGeom>
            <a:solidFill>
              <a:schemeClr val="bg1">
                <a:lumMod val="85000"/>
              </a:schemeClr>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000"/>
                <a:t>8</a:t>
              </a:r>
            </a:p>
          </p:txBody>
        </p:sp>
        <p:sp>
          <p:nvSpPr>
            <p:cNvPr id="83" name="Oval 82">
              <a:extLst>
                <a:ext uri="{FF2B5EF4-FFF2-40B4-BE49-F238E27FC236}">
                  <a16:creationId xmlns:a16="http://schemas.microsoft.com/office/drawing/2014/main" id="{7EEDCD53-89F9-4E82-BCE8-83C6918A4710}"/>
                </a:ext>
              </a:extLst>
            </p:cNvPr>
            <p:cNvSpPr/>
            <p:nvPr/>
          </p:nvSpPr>
          <p:spPr bwMode="gray">
            <a:xfrm>
              <a:off x="166204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4" name="Oval 83">
              <a:extLst>
                <a:ext uri="{FF2B5EF4-FFF2-40B4-BE49-F238E27FC236}">
                  <a16:creationId xmlns:a16="http://schemas.microsoft.com/office/drawing/2014/main" id="{8C24C28C-E044-4AC5-8A39-F290AB944776}"/>
                </a:ext>
              </a:extLst>
            </p:cNvPr>
            <p:cNvSpPr/>
            <p:nvPr/>
          </p:nvSpPr>
          <p:spPr bwMode="gray">
            <a:xfrm>
              <a:off x="2972318"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5" name="Oval 84">
              <a:extLst>
                <a:ext uri="{FF2B5EF4-FFF2-40B4-BE49-F238E27FC236}">
                  <a16:creationId xmlns:a16="http://schemas.microsoft.com/office/drawing/2014/main" id="{F24A9B79-E099-43E5-ACDE-14BA110FBCE8}"/>
                </a:ext>
              </a:extLst>
            </p:cNvPr>
            <p:cNvSpPr/>
            <p:nvPr/>
          </p:nvSpPr>
          <p:spPr bwMode="gray">
            <a:xfrm>
              <a:off x="4297036"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6" name="Oval 85">
              <a:extLst>
                <a:ext uri="{FF2B5EF4-FFF2-40B4-BE49-F238E27FC236}">
                  <a16:creationId xmlns:a16="http://schemas.microsoft.com/office/drawing/2014/main" id="{2148392A-F03D-4EFC-9B4B-90033276EA46}"/>
                </a:ext>
              </a:extLst>
            </p:cNvPr>
            <p:cNvSpPr/>
            <p:nvPr/>
          </p:nvSpPr>
          <p:spPr bwMode="gray">
            <a:xfrm>
              <a:off x="5588133"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7" name="Oval 86">
              <a:extLst>
                <a:ext uri="{FF2B5EF4-FFF2-40B4-BE49-F238E27FC236}">
                  <a16:creationId xmlns:a16="http://schemas.microsoft.com/office/drawing/2014/main" id="{690B3F8D-8EDB-4E71-9000-B2248A57E16C}"/>
                </a:ext>
              </a:extLst>
            </p:cNvPr>
            <p:cNvSpPr/>
            <p:nvPr/>
          </p:nvSpPr>
          <p:spPr bwMode="gray">
            <a:xfrm>
              <a:off x="6899677"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8" name="Oval 87">
              <a:extLst>
                <a:ext uri="{FF2B5EF4-FFF2-40B4-BE49-F238E27FC236}">
                  <a16:creationId xmlns:a16="http://schemas.microsoft.com/office/drawing/2014/main" id="{E3059D30-EC84-467E-89E4-6C766ACC67BD}"/>
                </a:ext>
              </a:extLst>
            </p:cNvPr>
            <p:cNvSpPr/>
            <p:nvPr/>
          </p:nvSpPr>
          <p:spPr bwMode="gray">
            <a:xfrm>
              <a:off x="8284612"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89" name="Oval 88">
              <a:extLst>
                <a:ext uri="{FF2B5EF4-FFF2-40B4-BE49-F238E27FC236}">
                  <a16:creationId xmlns:a16="http://schemas.microsoft.com/office/drawing/2014/main" id="{736B85EF-11F0-4DE9-B3FE-1ACB61AE60EF}"/>
                </a:ext>
              </a:extLst>
            </p:cNvPr>
            <p:cNvSpPr/>
            <p:nvPr/>
          </p:nvSpPr>
          <p:spPr bwMode="gray">
            <a:xfrm>
              <a:off x="9511415"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sp>
          <p:nvSpPr>
            <p:cNvPr id="90" name="Oval 89">
              <a:extLst>
                <a:ext uri="{FF2B5EF4-FFF2-40B4-BE49-F238E27FC236}">
                  <a16:creationId xmlns:a16="http://schemas.microsoft.com/office/drawing/2014/main" id="{84EC4F26-85C4-4F00-AA81-CA927695B70B}"/>
                </a:ext>
              </a:extLst>
            </p:cNvPr>
            <p:cNvSpPr/>
            <p:nvPr/>
          </p:nvSpPr>
          <p:spPr bwMode="gray">
            <a:xfrm>
              <a:off x="10779510" y="1265294"/>
              <a:ext cx="88656" cy="88656"/>
            </a:xfrm>
            <a:prstGeom prst="ellipse">
              <a:avLst/>
            </a:prstGeom>
            <a:solidFill>
              <a:srgbClr val="7F7F7F"/>
            </a:solidFill>
            <a:ln w="28575" algn="ctr">
              <a:solidFill>
                <a:schemeClr val="bg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000"/>
            </a:p>
          </p:txBody>
        </p:sp>
      </p:grpSp>
      <p:sp>
        <p:nvSpPr>
          <p:cNvPr id="5" name="Rectangle 4">
            <a:extLst>
              <a:ext uri="{FF2B5EF4-FFF2-40B4-BE49-F238E27FC236}">
                <a16:creationId xmlns:a16="http://schemas.microsoft.com/office/drawing/2014/main" id="{B216C3C1-8D63-699B-9CC9-992CC426A912}"/>
              </a:ext>
            </a:extLst>
          </p:cNvPr>
          <p:cNvSpPr/>
          <p:nvPr/>
        </p:nvSpPr>
        <p:spPr>
          <a:xfrm>
            <a:off x="983093" y="1970838"/>
            <a:ext cx="3313944" cy="4647132"/>
          </a:xfrm>
          <a:prstGeom prst="rect">
            <a:avLst/>
          </a:prstGeom>
          <a:solidFill>
            <a:schemeClr val="accent1">
              <a:alpha val="4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19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9B22BE06811840A13B8778E93A5EB1" ma:contentTypeVersion="6" ma:contentTypeDescription="Create a new document." ma:contentTypeScope="" ma:versionID="e6bb28ec8651c068d8d863d80df6bcd3">
  <xsd:schema xmlns:xsd="http://www.w3.org/2001/XMLSchema" xmlns:xs="http://www.w3.org/2001/XMLSchema" xmlns:p="http://schemas.microsoft.com/office/2006/metadata/properties" xmlns:ns2="60abb974-290a-4d2d-a7d7-9131eff0095d" xmlns:ns3="5f71fc39-fc89-4395-9438-cea9f45828f0" targetNamespace="http://schemas.microsoft.com/office/2006/metadata/properties" ma:root="true" ma:fieldsID="8a2dda2680ab78bb2d82e23db40a902c" ns2:_="" ns3:_="">
    <xsd:import namespace="60abb974-290a-4d2d-a7d7-9131eff0095d"/>
    <xsd:import namespace="5f71fc39-fc89-4395-9438-cea9f45828f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abb974-290a-4d2d-a7d7-9131eff009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71fc39-fc89-4395-9438-cea9f45828f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586B7F-1F04-4CB1-ADB6-84562D97203E}">
  <ds:schemaRefs>
    <ds:schemaRef ds:uri="5f71fc39-fc89-4395-9438-cea9f45828f0"/>
    <ds:schemaRef ds:uri="60abb974-290a-4d2d-a7d7-9131eff009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C0B813-B48B-41B5-BE72-CC76D4D292FA}">
  <ds:schemaRefs>
    <ds:schemaRef ds:uri="5f71fc39-fc89-4395-9438-cea9f45828f0"/>
    <ds:schemaRef ds:uri="60abb974-290a-4d2d-a7d7-9131eff009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D397B7F-F298-466F-9FFE-9E81B6E444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2573</Words>
  <Application>Microsoft Office PowerPoint</Application>
  <PresentationFormat>Widescreen</PresentationFormat>
  <Paragraphs>595</Paragraphs>
  <Slides>22</Slides>
  <Notes>8</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2" baseType="lpstr">
      <vt:lpstr>Arial</vt:lpstr>
      <vt:lpstr>Calibri</vt:lpstr>
      <vt:lpstr>Calibri Light</vt:lpstr>
      <vt:lpstr>Futura</vt:lpstr>
      <vt:lpstr>Open Sans</vt:lpstr>
      <vt:lpstr>Open Sans Extrabold</vt:lpstr>
      <vt:lpstr>Verdana</vt:lpstr>
      <vt:lpstr>Wingdings 2</vt:lpstr>
      <vt:lpstr>Office Theme</vt:lpstr>
      <vt:lpstr>think-cell Slide</vt:lpstr>
      <vt:lpstr>PowerPoint Presentation</vt:lpstr>
      <vt:lpstr>PowerPoint Presentation</vt:lpstr>
      <vt:lpstr>Timeline</vt:lpstr>
      <vt:lpstr>PowerPoint Presentation</vt:lpstr>
      <vt:lpstr>PowerPoint Presentation</vt:lpstr>
      <vt:lpstr>ATS Discovery Schedule</vt:lpstr>
      <vt:lpstr>PowerPoint Presentation</vt:lpstr>
      <vt:lpstr>PowerPoint Presentation</vt:lpstr>
      <vt:lpstr>ATS Discovery Schedule</vt:lpstr>
      <vt:lpstr>PowerPoint Presentation</vt:lpstr>
      <vt:lpstr>PowerPoint Presentation</vt:lpstr>
      <vt:lpstr>IPDO &amp; QA Discovery Schedule</vt:lpstr>
      <vt:lpstr>PowerPoint Presentation</vt:lpstr>
      <vt:lpstr>Timelines, Activities &amp; Deliverables –Integration POD to support Oracle Retail MVP</vt:lpstr>
      <vt:lpstr>Timelines, Activities &amp; Deliverables – Oracle Retail MVP QA</vt:lpstr>
      <vt:lpstr>4 Weeks schedule/activities</vt:lpstr>
      <vt:lpstr>4 Weeks schedule/activities</vt:lpstr>
      <vt:lpstr>PowerPoint Presentation</vt:lpstr>
      <vt:lpstr>Timelines, Activities and Deliverables – ESL IPG</vt:lpstr>
      <vt:lpstr>4 Weeks schedule/activities (contd)</vt:lpstr>
      <vt:lpstr>PowerPoint Presentation</vt:lpstr>
      <vt:lpstr>Detailed Timelines, Activities and Milestones : ESL-ATS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Gopalan, Arun</dc:creator>
  <cp:lastModifiedBy>Geoff Lyle</cp:lastModifiedBy>
  <cp:revision>2</cp:revision>
  <dcterms:created xsi:type="dcterms:W3CDTF">2023-03-07T14:03:00Z</dcterms:created>
  <dcterms:modified xsi:type="dcterms:W3CDTF">2023-03-22T20:52:50Z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2023-03-07T14:03:00Z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9cac7322-65e2-45c4-b567-6e48e752951e</vt:lpwstr>
  </property>
  <property fmtid="{D5CDD505-2E9C-101B-9397-08002B2CF9AE}" pid="8" name="MSIP_Label_ea60d57e-af5b-4752-ac57-3e4f28ca11dc_ContentBits">
    <vt:lpwstr>0</vt:lpwstr>
  </property>
  <property fmtid="{D5CDD505-2E9C-101B-9397-08002B2CF9AE}" pid="9" name="ContentTypeId">
    <vt:lpwstr>0x010100789B22BE06811840A13B8778E93A5EB1</vt:lpwstr>
  </property>
</Properties>
</file>