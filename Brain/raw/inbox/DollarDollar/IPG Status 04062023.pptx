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6930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9C367AFF-54D4-4D31-BA0F-598023CCCAA6}">
          <p14:sldIdLst>
            <p14:sldId id="2147469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B19AC32-CB29-CAE2-EF41-1FD7F1E2D89C}" name="Srinivasan, Shankaran" initials="SS" userId="S::shsrinivasan@deloitte.com::0941a90f-ef28-4c8a-9127-c1af9b5efe8c" providerId="AD"/>
  <p188:author id="{9E4EDB4E-6C97-15EB-8326-0997FBFE3596}" name="Thakkar, Devangkumar" initials="TD" userId="S::dethakkar@deloitte.com::4ac1fb3a-77d4-44bc-b091-8bb958f67a41" providerId="AD"/>
  <p188:author id="{E86378A0-5BE7-10A3-0164-7F368022F5BA}" name="Khalsa, Sonia Khalsa" initials="KSK" userId="S::sokhalsa@deloitte.com::c636f597-9ace-42ab-a72f-7a1818fda409" providerId="AD"/>
  <p188:author id="{E1CC64A4-B7E8-0D93-1FE7-45F5DE6026B0}" name="Somaiyya, Jigar" initials="SJ" userId="S::jsomaiyya@deloitte.com::b98d3bb1-3b0d-46b9-b0c5-bd0e9d7b2fdd" providerId="AD"/>
  <p188:author id="{C7ECB3A7-604A-C96A-29FE-A23DC3099577}" name="Zaidi, Hasan" initials="ZH" userId="S::hazaidi@deloitte.com::ef35c43a-c6b7-4983-91af-e5db0e3d74e6" providerId="AD"/>
  <p188:author id="{0C1B9EF0-4B57-91A2-AF19-BA5C5240E9FB}" name="Arya, Poojaa" initials="AP" userId="S::phassani@deloitte.com::ad2c5045-d41e-4df5-9fe8-8ebc862094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B02A"/>
    <a:srgbClr val="007CB0"/>
    <a:srgbClr val="FFCD00"/>
    <a:srgbClr val="7F7F7F"/>
    <a:srgbClr val="046A38"/>
    <a:srgbClr val="0076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D17F6-ECE8-4493-ABFB-C4D8ED95367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05186-EE54-4CC4-BEBC-7E32B9314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9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4975" y="709613"/>
            <a:ext cx="6307138" cy="35480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C3FEC4-AAB4-49BF-A958-3731A457D8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316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CA25-0E36-4900-A84F-24D14939D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4828B-C77A-4839-8958-D55552E53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865EA-37AB-46BE-8F3E-A4CA8BA6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2EDFB-388F-4B50-95F5-4EDCC4F5B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7744-C64A-42F5-9E28-6DB5542FA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3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C8F5E-9E4B-4C12-AAD5-87245380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2D447-D0F1-41D1-9C4E-F433564DA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4E46E-5D06-4275-BD5C-CD6578D9A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252E-F8D8-4026-B97D-0A820B36D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6C006-1A65-4B05-A485-01C145DB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12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15C4-F6EC-4AD5-BA12-6478DC61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92A54-52E9-46DF-A0B8-5ADE0716E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E38C6-05B8-42FF-B59E-A4D01660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C3929-C20F-4B68-ACF8-C358FB37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6949-DF2A-4BFD-BD95-9B35E9FD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8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1F6C-82FE-4270-91A8-B1F7A45EE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C09D1-6000-41A4-B146-E8B0FAB09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A3D11-87B2-412B-9D77-B1F94D3F0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CAEEE-2CF9-4689-BE7A-A166F27E0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0FD71-2655-4B2F-BC4E-29FADCF2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5B7EB-9939-44A0-9B5D-8310CA4B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4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73C3C-BF77-4332-A7AB-64D313D2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682AA-11D7-4AF1-A300-95D513B53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97624-0139-47FA-8889-197546FB0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8F22C-D0C4-4AC6-9DDE-759AEE59F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56F6FA-4467-4016-A054-1CFB4045A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993C9A-2AAB-4B21-9F6B-550C83F4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CDFBB-E61E-4A98-A515-3E835588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E8A7AC-12A3-4941-BFE8-A7E01673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8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824C-AC1B-4EA4-8EF0-6821BD524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F6C41-97DB-4C43-B659-659C1D8B2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559E7-3A6E-4B91-954E-C12821A88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B992D-72BF-4572-BA64-BD5B72EB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7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045F0B-91B1-4D5E-9210-6F953808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AA9EA-759A-4A49-800A-0FBAA21E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6AE87-062D-443A-838F-C6A8EB3C7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57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D714-30F7-4D1C-86B6-008B7AA88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F727D-800A-4114-9013-596805FD7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C9204-DB20-44A6-8513-C1DE67893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E2724-99F9-45E0-98F1-1379CDA8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C21BF-408E-4442-A264-032B081A9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7628B-B9E0-4B6C-939E-062F6DED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7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9F70-1CCB-4B48-99BB-3827A9C1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A6982-54DD-4AD6-8174-0BF34D4A3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1D05A-8245-4112-98D3-45A91E3E4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0F16D-4C80-4D82-84D5-E8D2D49E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8E81B-EE01-4EF7-8B5C-02D6469A0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D9CDD-B73E-4236-B008-0803B85B5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02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763D-1AD1-4169-9F56-D9457711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6CC31-F312-4E35-A7C4-039FF64C2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C22F-9ACF-4750-8762-5250ED74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BBFB0-C456-48E1-8CDF-DF43F0C7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6A636-98E7-4095-B088-0645A418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6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1B88A1-631B-4AF2-94E0-9C58E7789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9E3C7-C1A9-4CDA-A5D9-65A441E5A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A0DE3-E226-4A64-900B-FBFE471B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2917A-6753-426C-A341-5BB1C692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66ADA-6ED2-4FD4-A456-F3BA46D6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6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6E8C76-D59B-4A4D-B875-69CC39593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40E68-46A6-4050-9435-1865FD923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E95B5-1303-4F48-BEE3-2F4666CB8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37B21-698B-416E-930C-F44484A35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45F67-3427-4DBF-979A-4218C2677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24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281D647E-AB06-4503-91E1-9D2E663A4F94}"/>
              </a:ext>
            </a:extLst>
          </p:cNvPr>
          <p:cNvGraphicFramePr>
            <a:graphicFrameLocks noGrp="1"/>
          </p:cNvGraphicFramePr>
          <p:nvPr/>
        </p:nvGraphicFramePr>
        <p:xfrm>
          <a:off x="353676" y="4711535"/>
          <a:ext cx="3551879" cy="144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2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Path to Green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108061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2700D2D8-F279-4BD0-AE75-A35824C62EF6}"/>
              </a:ext>
            </a:extLst>
          </p:cNvPr>
          <p:cNvGraphicFramePr>
            <a:graphicFrameLocks noGrp="1"/>
          </p:cNvGraphicFramePr>
          <p:nvPr/>
        </p:nvGraphicFramePr>
        <p:xfrm>
          <a:off x="353676" y="6152759"/>
          <a:ext cx="3553246" cy="6396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6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24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314399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E4F9061D-66F6-46F5-A528-2CAD67D6D0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E4F9061D-66F6-46F5-A528-2CAD67D6D0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71A01C71-E6B9-4439-A77C-C8D429F5E00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  <a:sym typeface="Arial Black" panose="020B0A040201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077763" y="1335973"/>
            <a:ext cx="5867677" cy="279218"/>
            <a:chOff x="-1977497" y="6479196"/>
            <a:chExt cx="5867677" cy="27921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198A3D2-2955-47A3-A45F-954E71C3A29B}"/>
                </a:ext>
              </a:extLst>
            </p:cNvPr>
            <p:cNvSpPr/>
            <p:nvPr/>
          </p:nvSpPr>
          <p:spPr>
            <a:xfrm>
              <a:off x="2622702" y="6529323"/>
              <a:ext cx="517585" cy="15527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36A68D8-F079-49D7-B3EE-3ED56FC5754C}"/>
                </a:ext>
              </a:extLst>
            </p:cNvPr>
            <p:cNvSpPr/>
            <p:nvPr/>
          </p:nvSpPr>
          <p:spPr>
            <a:xfrm>
              <a:off x="-672926" y="6533734"/>
              <a:ext cx="517585" cy="15527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402094A-7919-4D9B-8D13-EFC68E877178}"/>
                </a:ext>
              </a:extLst>
            </p:cNvPr>
            <p:cNvSpPr/>
            <p:nvPr/>
          </p:nvSpPr>
          <p:spPr>
            <a:xfrm>
              <a:off x="-1901217" y="6537025"/>
              <a:ext cx="517585" cy="155276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EF15C40-2AB1-4FD2-91AB-74F497DDCBD9}"/>
                </a:ext>
              </a:extLst>
            </p:cNvPr>
            <p:cNvSpPr/>
            <p:nvPr/>
          </p:nvSpPr>
          <p:spPr>
            <a:xfrm>
              <a:off x="762747" y="6537025"/>
              <a:ext cx="517585" cy="1552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0B7D58-6D5D-42E5-930B-7972EE66EF4B}"/>
                </a:ext>
              </a:extLst>
            </p:cNvPr>
            <p:cNvSpPr txBox="1"/>
            <p:nvPr/>
          </p:nvSpPr>
          <p:spPr>
            <a:xfrm>
              <a:off x="3235114" y="6529323"/>
              <a:ext cx="655066" cy="15423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Completed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7B0633D-8BD0-4BA8-B93C-F8A7F2588FBF}"/>
                </a:ext>
              </a:extLst>
            </p:cNvPr>
            <p:cNvSpPr txBox="1"/>
            <p:nvPr/>
          </p:nvSpPr>
          <p:spPr>
            <a:xfrm>
              <a:off x="-1323456" y="6522648"/>
              <a:ext cx="555825" cy="16965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On-track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3C59F7-6B3A-4EF8-BD04-E23EF4982980}"/>
                </a:ext>
              </a:extLst>
            </p:cNvPr>
            <p:cNvSpPr txBox="1"/>
            <p:nvPr/>
          </p:nvSpPr>
          <p:spPr>
            <a:xfrm>
              <a:off x="-66324" y="6528815"/>
              <a:ext cx="732664" cy="15474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Risk or delay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8C42740-DEF9-4138-9AC9-F6A6A5B73E3A}"/>
                </a:ext>
              </a:extLst>
            </p:cNvPr>
            <p:cNvSpPr txBox="1"/>
            <p:nvPr/>
          </p:nvSpPr>
          <p:spPr>
            <a:xfrm>
              <a:off x="1340508" y="6527100"/>
              <a:ext cx="1222018" cy="8345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Critical issue or delay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6C01C49-4DF8-404E-A676-F50C124A6CB7}"/>
                </a:ext>
              </a:extLst>
            </p:cNvPr>
            <p:cNvSpPr/>
            <p:nvPr/>
          </p:nvSpPr>
          <p:spPr>
            <a:xfrm>
              <a:off x="-1977497" y="6479196"/>
              <a:ext cx="5867677" cy="279218"/>
            </a:xfrm>
            <a:prstGeom prst="rect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sp>
        <p:nvSpPr>
          <p:cNvPr id="44" name="Title 30">
            <a:extLst>
              <a:ext uri="{FF2B5EF4-FFF2-40B4-BE49-F238E27FC236}">
                <a16:creationId xmlns:a16="http://schemas.microsoft.com/office/drawing/2014/main" id="{236596C2-8276-4E0D-8650-48667463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05" y="160431"/>
            <a:ext cx="11491383" cy="648404"/>
          </a:xfrm>
        </p:spPr>
        <p:txBody>
          <a:bodyPr vert="horz">
            <a:normAutofit/>
          </a:bodyPr>
          <a:lstStyle/>
          <a:p>
            <a:r>
              <a:rPr lang="en-US" sz="2000">
                <a:latin typeface="Arial Black"/>
              </a:rPr>
              <a:t>PROJECT WEEKLY STATUS: IPG</a:t>
            </a:r>
            <a:br>
              <a:rPr lang="en-US" sz="2000" b="1" cap="all">
                <a:highlight>
                  <a:srgbClr val="FFFF00"/>
                </a:highlight>
                <a:latin typeface="Calibri"/>
              </a:rPr>
            </a:br>
            <a:r>
              <a:rPr lang="en-US" sz="2000" b="1" cap="all">
                <a:latin typeface="Arial Black"/>
              </a:rPr>
              <a:t>MARCH 31</a:t>
            </a:r>
            <a:r>
              <a:rPr lang="en-US" sz="2000">
                <a:latin typeface="Arial Black"/>
              </a:rPr>
              <a:t>, 2023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30764F-3742-49CF-A60A-6961F7F54D67}"/>
              </a:ext>
            </a:extLst>
          </p:cNvPr>
          <p:cNvSpPr txBox="1"/>
          <p:nvPr/>
        </p:nvSpPr>
        <p:spPr>
          <a:xfrm>
            <a:off x="2880361" y="445736"/>
            <a:ext cx="91585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EXECUTIVE SPONSOR: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Bobby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Aflatooni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, Larry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Gatta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, Rick McNeely 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PROGRAM LEADER: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Abhay Shetty / Bryan Byrd  </a:t>
            </a:r>
            <a:r>
              <a:rPr kumimoji="0" lang="en-US" sz="1200" b="1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/>
                <a:cs typeface="Calibri"/>
              </a:rPr>
              <a:t>PM/lead: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Rajesh Thukral </a:t>
            </a:r>
          </a:p>
        </p:txBody>
      </p:sp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582" y="6462"/>
            <a:ext cx="1980004" cy="313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7" name="Table 2">
            <a:extLst>
              <a:ext uri="{FF2B5EF4-FFF2-40B4-BE49-F238E27FC236}">
                <a16:creationId xmlns:a16="http://schemas.microsoft.com/office/drawing/2014/main" id="{2852C303-53E8-434F-AAB5-EB07D4B0D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637255"/>
              </p:ext>
            </p:extLst>
          </p:nvPr>
        </p:nvGraphicFramePr>
        <p:xfrm>
          <a:off x="353676" y="3360374"/>
          <a:ext cx="3553246" cy="13049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3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2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 panose="020F0502020204030204" pitchFamily="34" charset="0"/>
                        </a:rPr>
                        <a:t>DELIVERABLES &amp; KEY MILESTONES</a:t>
                      </a:r>
                      <a:endParaRPr lang="en-US" sz="12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 panose="020F0502020204030204" pitchFamily="34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DUE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6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NextGen Discovery Sessions (SC/POS)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111224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IPG Kickoff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4/21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502677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Approved Integration Strategy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4/28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946269"/>
                  </a:ext>
                </a:extLst>
              </a:tr>
            </a:tbl>
          </a:graphicData>
        </a:graphic>
      </p:graphicFrame>
      <p:sp>
        <p:nvSpPr>
          <p:cNvPr id="70" name="Freeform 25">
            <a:extLst>
              <a:ext uri="{FF2B5EF4-FFF2-40B4-BE49-F238E27FC236}">
                <a16:creationId xmlns:a16="http://schemas.microsoft.com/office/drawing/2014/main" id="{C5D33FCC-FDF7-4224-9E4B-38B41F1E9470}"/>
              </a:ext>
            </a:extLst>
          </p:cNvPr>
          <p:cNvSpPr>
            <a:spLocks noEditPoints="1"/>
          </p:cNvSpPr>
          <p:nvPr/>
        </p:nvSpPr>
        <p:spPr bwMode="auto">
          <a:xfrm>
            <a:off x="2256035" y="6187757"/>
            <a:ext cx="274050" cy="252680"/>
          </a:xfrm>
          <a:custGeom>
            <a:avLst/>
            <a:gdLst>
              <a:gd name="T0" fmla="*/ 259 w 288"/>
              <a:gd name="T1" fmla="*/ 0 h 288"/>
              <a:gd name="T2" fmla="*/ 29 w 288"/>
              <a:gd name="T3" fmla="*/ 0 h 288"/>
              <a:gd name="T4" fmla="*/ 0 w 288"/>
              <a:gd name="T5" fmla="*/ 29 h 288"/>
              <a:gd name="T6" fmla="*/ 0 w 288"/>
              <a:gd name="T7" fmla="*/ 260 h 288"/>
              <a:gd name="T8" fmla="*/ 29 w 288"/>
              <a:gd name="T9" fmla="*/ 288 h 288"/>
              <a:gd name="T10" fmla="*/ 48 w 288"/>
              <a:gd name="T11" fmla="*/ 288 h 288"/>
              <a:gd name="T12" fmla="*/ 48 w 288"/>
              <a:gd name="T13" fmla="*/ 224 h 288"/>
              <a:gd name="T14" fmla="*/ 108 w 288"/>
              <a:gd name="T15" fmla="*/ 164 h 288"/>
              <a:gd name="T16" fmla="*/ 183 w 288"/>
              <a:gd name="T17" fmla="*/ 164 h 288"/>
              <a:gd name="T18" fmla="*/ 244 w 288"/>
              <a:gd name="T19" fmla="*/ 224 h 288"/>
              <a:gd name="T20" fmla="*/ 244 w 288"/>
              <a:gd name="T21" fmla="*/ 288 h 288"/>
              <a:gd name="T22" fmla="*/ 259 w 288"/>
              <a:gd name="T23" fmla="*/ 288 h 288"/>
              <a:gd name="T24" fmla="*/ 288 w 288"/>
              <a:gd name="T25" fmla="*/ 260 h 288"/>
              <a:gd name="T26" fmla="*/ 288 w 288"/>
              <a:gd name="T27" fmla="*/ 29 h 288"/>
              <a:gd name="T28" fmla="*/ 259 w 288"/>
              <a:gd name="T29" fmla="*/ 0 h 288"/>
              <a:gd name="T30" fmla="*/ 144 w 288"/>
              <a:gd name="T31" fmla="*/ 135 h 288"/>
              <a:gd name="T32" fmla="*/ 93 w 288"/>
              <a:gd name="T33" fmla="*/ 84 h 288"/>
              <a:gd name="T34" fmla="*/ 144 w 288"/>
              <a:gd name="T35" fmla="*/ 33 h 288"/>
              <a:gd name="T36" fmla="*/ 195 w 288"/>
              <a:gd name="T37" fmla="*/ 84 h 288"/>
              <a:gd name="T38" fmla="*/ 144 w 288"/>
              <a:gd name="T39" fmla="*/ 135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8" h="288">
                <a:moveTo>
                  <a:pt x="259" y="0"/>
                </a:moveTo>
                <a:cubicBezTo>
                  <a:pt x="29" y="0"/>
                  <a:pt x="29" y="0"/>
                  <a:pt x="29" y="0"/>
                </a:cubicBezTo>
                <a:cubicBezTo>
                  <a:pt x="13" y="0"/>
                  <a:pt x="0" y="13"/>
                  <a:pt x="0" y="29"/>
                </a:cubicBezTo>
                <a:cubicBezTo>
                  <a:pt x="0" y="260"/>
                  <a:pt x="0" y="260"/>
                  <a:pt x="0" y="260"/>
                </a:cubicBezTo>
                <a:cubicBezTo>
                  <a:pt x="0" y="275"/>
                  <a:pt x="13" y="288"/>
                  <a:pt x="29" y="288"/>
                </a:cubicBezTo>
                <a:cubicBezTo>
                  <a:pt x="48" y="288"/>
                  <a:pt x="48" y="288"/>
                  <a:pt x="48" y="288"/>
                </a:cubicBezTo>
                <a:cubicBezTo>
                  <a:pt x="48" y="224"/>
                  <a:pt x="48" y="224"/>
                  <a:pt x="48" y="224"/>
                </a:cubicBezTo>
                <a:cubicBezTo>
                  <a:pt x="48" y="191"/>
                  <a:pt x="75" y="164"/>
                  <a:pt x="108" y="164"/>
                </a:cubicBezTo>
                <a:cubicBezTo>
                  <a:pt x="183" y="164"/>
                  <a:pt x="183" y="164"/>
                  <a:pt x="183" y="164"/>
                </a:cubicBezTo>
                <a:cubicBezTo>
                  <a:pt x="216" y="164"/>
                  <a:pt x="244" y="191"/>
                  <a:pt x="244" y="224"/>
                </a:cubicBezTo>
                <a:cubicBezTo>
                  <a:pt x="244" y="288"/>
                  <a:pt x="244" y="288"/>
                  <a:pt x="244" y="288"/>
                </a:cubicBezTo>
                <a:cubicBezTo>
                  <a:pt x="259" y="288"/>
                  <a:pt x="259" y="288"/>
                  <a:pt x="259" y="288"/>
                </a:cubicBezTo>
                <a:cubicBezTo>
                  <a:pt x="275" y="288"/>
                  <a:pt x="288" y="275"/>
                  <a:pt x="288" y="260"/>
                </a:cubicBezTo>
                <a:cubicBezTo>
                  <a:pt x="288" y="29"/>
                  <a:pt x="288" y="29"/>
                  <a:pt x="288" y="29"/>
                </a:cubicBezTo>
                <a:cubicBezTo>
                  <a:pt x="288" y="13"/>
                  <a:pt x="275" y="0"/>
                  <a:pt x="259" y="0"/>
                </a:cubicBezTo>
                <a:close/>
                <a:moveTo>
                  <a:pt x="144" y="135"/>
                </a:moveTo>
                <a:cubicBezTo>
                  <a:pt x="116" y="135"/>
                  <a:pt x="93" y="112"/>
                  <a:pt x="93" y="84"/>
                </a:cubicBezTo>
                <a:cubicBezTo>
                  <a:pt x="93" y="56"/>
                  <a:pt x="116" y="33"/>
                  <a:pt x="144" y="33"/>
                </a:cubicBezTo>
                <a:cubicBezTo>
                  <a:pt x="172" y="33"/>
                  <a:pt x="195" y="56"/>
                  <a:pt x="195" y="84"/>
                </a:cubicBezTo>
                <a:cubicBezTo>
                  <a:pt x="195" y="112"/>
                  <a:pt x="172" y="135"/>
                  <a:pt x="144" y="135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71" name="Freeform 19">
            <a:extLst>
              <a:ext uri="{FF2B5EF4-FFF2-40B4-BE49-F238E27FC236}">
                <a16:creationId xmlns:a16="http://schemas.microsoft.com/office/drawing/2014/main" id="{64948846-B5AF-48EF-A542-0EB74288CF7B}"/>
              </a:ext>
            </a:extLst>
          </p:cNvPr>
          <p:cNvSpPr>
            <a:spLocks noEditPoints="1"/>
          </p:cNvSpPr>
          <p:nvPr/>
        </p:nvSpPr>
        <p:spPr bwMode="auto">
          <a:xfrm>
            <a:off x="460612" y="6507987"/>
            <a:ext cx="273648" cy="259045"/>
          </a:xfrm>
          <a:custGeom>
            <a:avLst/>
            <a:gdLst>
              <a:gd name="T0" fmla="*/ 288 w 288"/>
              <a:gd name="T1" fmla="*/ 144 h 288"/>
              <a:gd name="T2" fmla="*/ 234 w 288"/>
              <a:gd name="T3" fmla="*/ 31 h 288"/>
              <a:gd name="T4" fmla="*/ 234 w 288"/>
              <a:gd name="T5" fmla="*/ 31 h 288"/>
              <a:gd name="T6" fmla="*/ 233 w 288"/>
              <a:gd name="T7" fmla="*/ 31 h 288"/>
              <a:gd name="T8" fmla="*/ 144 w 288"/>
              <a:gd name="T9" fmla="*/ 0 h 288"/>
              <a:gd name="T10" fmla="*/ 0 w 288"/>
              <a:gd name="T11" fmla="*/ 144 h 288"/>
              <a:gd name="T12" fmla="*/ 144 w 288"/>
              <a:gd name="T13" fmla="*/ 288 h 288"/>
              <a:gd name="T14" fmla="*/ 287 w 288"/>
              <a:gd name="T15" fmla="*/ 156 h 288"/>
              <a:gd name="T16" fmla="*/ 287 w 288"/>
              <a:gd name="T17" fmla="*/ 156 h 288"/>
              <a:gd name="T18" fmla="*/ 287 w 288"/>
              <a:gd name="T19" fmla="*/ 156 h 288"/>
              <a:gd name="T20" fmla="*/ 288 w 288"/>
              <a:gd name="T21" fmla="*/ 144 h 288"/>
              <a:gd name="T22" fmla="*/ 247 w 288"/>
              <a:gd name="T23" fmla="*/ 79 h 288"/>
              <a:gd name="T24" fmla="*/ 251 w 288"/>
              <a:gd name="T25" fmla="*/ 87 h 288"/>
              <a:gd name="T26" fmla="*/ 220 w 288"/>
              <a:gd name="T27" fmla="*/ 105 h 288"/>
              <a:gd name="T28" fmla="*/ 215 w 288"/>
              <a:gd name="T29" fmla="*/ 97 h 288"/>
              <a:gd name="T30" fmla="*/ 247 w 288"/>
              <a:gd name="T31" fmla="*/ 79 h 288"/>
              <a:gd name="T32" fmla="*/ 201 w 288"/>
              <a:gd name="T33" fmla="*/ 36 h 288"/>
              <a:gd name="T34" fmla="*/ 208 w 288"/>
              <a:gd name="T35" fmla="*/ 41 h 288"/>
              <a:gd name="T36" fmla="*/ 190 w 288"/>
              <a:gd name="T37" fmla="*/ 73 h 288"/>
              <a:gd name="T38" fmla="*/ 182 w 288"/>
              <a:gd name="T39" fmla="*/ 68 h 288"/>
              <a:gd name="T40" fmla="*/ 201 w 288"/>
              <a:gd name="T41" fmla="*/ 36 h 288"/>
              <a:gd name="T42" fmla="*/ 208 w 288"/>
              <a:gd name="T43" fmla="*/ 246 h 288"/>
              <a:gd name="T44" fmla="*/ 191 w 288"/>
              <a:gd name="T45" fmla="*/ 215 h 288"/>
              <a:gd name="T46" fmla="*/ 183 w 288"/>
              <a:gd name="T47" fmla="*/ 220 h 288"/>
              <a:gd name="T48" fmla="*/ 201 w 288"/>
              <a:gd name="T49" fmla="*/ 250 h 288"/>
              <a:gd name="T50" fmla="*/ 149 w 288"/>
              <a:gd name="T51" fmla="*/ 264 h 288"/>
              <a:gd name="T52" fmla="*/ 149 w 288"/>
              <a:gd name="T53" fmla="*/ 229 h 288"/>
              <a:gd name="T54" fmla="*/ 140 w 288"/>
              <a:gd name="T55" fmla="*/ 229 h 288"/>
              <a:gd name="T56" fmla="*/ 140 w 288"/>
              <a:gd name="T57" fmla="*/ 265 h 288"/>
              <a:gd name="T58" fmla="*/ 88 w 288"/>
              <a:gd name="T59" fmla="*/ 251 h 288"/>
              <a:gd name="T60" fmla="*/ 106 w 288"/>
              <a:gd name="T61" fmla="*/ 220 h 288"/>
              <a:gd name="T62" fmla="*/ 98 w 288"/>
              <a:gd name="T63" fmla="*/ 216 h 288"/>
              <a:gd name="T64" fmla="*/ 80 w 288"/>
              <a:gd name="T65" fmla="*/ 247 h 288"/>
              <a:gd name="T66" fmla="*/ 42 w 288"/>
              <a:gd name="T67" fmla="*/ 209 h 288"/>
              <a:gd name="T68" fmla="*/ 73 w 288"/>
              <a:gd name="T69" fmla="*/ 191 h 288"/>
              <a:gd name="T70" fmla="*/ 68 w 288"/>
              <a:gd name="T71" fmla="*/ 183 h 288"/>
              <a:gd name="T72" fmla="*/ 37 w 288"/>
              <a:gd name="T73" fmla="*/ 201 h 288"/>
              <a:gd name="T74" fmla="*/ 23 w 288"/>
              <a:gd name="T75" fmla="*/ 149 h 288"/>
              <a:gd name="T76" fmla="*/ 59 w 288"/>
              <a:gd name="T77" fmla="*/ 149 h 288"/>
              <a:gd name="T78" fmla="*/ 59 w 288"/>
              <a:gd name="T79" fmla="*/ 140 h 288"/>
              <a:gd name="T80" fmla="*/ 23 w 288"/>
              <a:gd name="T81" fmla="*/ 140 h 288"/>
              <a:gd name="T82" fmla="*/ 36 w 288"/>
              <a:gd name="T83" fmla="*/ 88 h 288"/>
              <a:gd name="T84" fmla="*/ 68 w 288"/>
              <a:gd name="T85" fmla="*/ 106 h 288"/>
              <a:gd name="T86" fmla="*/ 72 w 288"/>
              <a:gd name="T87" fmla="*/ 98 h 288"/>
              <a:gd name="T88" fmla="*/ 41 w 288"/>
              <a:gd name="T89" fmla="*/ 80 h 288"/>
              <a:gd name="T90" fmla="*/ 36 w 288"/>
              <a:gd name="T91" fmla="*/ 88 h 288"/>
              <a:gd name="T92" fmla="*/ 79 w 288"/>
              <a:gd name="T93" fmla="*/ 41 h 288"/>
              <a:gd name="T94" fmla="*/ 97 w 288"/>
              <a:gd name="T95" fmla="*/ 72 h 288"/>
              <a:gd name="T96" fmla="*/ 105 w 288"/>
              <a:gd name="T97" fmla="*/ 68 h 288"/>
              <a:gd name="T98" fmla="*/ 87 w 288"/>
              <a:gd name="T99" fmla="*/ 36 h 288"/>
              <a:gd name="T100" fmla="*/ 144 w 288"/>
              <a:gd name="T101" fmla="*/ 22 h 288"/>
              <a:gd name="T102" fmla="*/ 144 w 288"/>
              <a:gd name="T103" fmla="*/ 147 h 288"/>
              <a:gd name="T104" fmla="*/ 241 w 288"/>
              <a:gd name="T105" fmla="*/ 216 h 288"/>
              <a:gd name="T106" fmla="*/ 208 w 288"/>
              <a:gd name="T107" fmla="*/ 246 h 288"/>
              <a:gd name="T108" fmla="*/ 266 w 288"/>
              <a:gd name="T109" fmla="*/ 148 h 288"/>
              <a:gd name="T110" fmla="*/ 229 w 288"/>
              <a:gd name="T111" fmla="*/ 148 h 288"/>
              <a:gd name="T112" fmla="*/ 229 w 288"/>
              <a:gd name="T113" fmla="*/ 139 h 288"/>
              <a:gd name="T114" fmla="*/ 266 w 288"/>
              <a:gd name="T115" fmla="*/ 139 h 288"/>
              <a:gd name="T116" fmla="*/ 266 w 288"/>
              <a:gd name="T117" fmla="*/ 14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88" h="288">
                <a:moveTo>
                  <a:pt x="288" y="144"/>
                </a:moveTo>
                <a:cubicBezTo>
                  <a:pt x="288" y="98"/>
                  <a:pt x="266" y="58"/>
                  <a:pt x="234" y="31"/>
                </a:cubicBezTo>
                <a:cubicBezTo>
                  <a:pt x="234" y="31"/>
                  <a:pt x="234" y="31"/>
                  <a:pt x="234" y="31"/>
                </a:cubicBezTo>
                <a:cubicBezTo>
                  <a:pt x="233" y="31"/>
                  <a:pt x="233" y="31"/>
                  <a:pt x="233" y="31"/>
                </a:cubicBezTo>
                <a:cubicBezTo>
                  <a:pt x="209" y="11"/>
                  <a:pt x="178" y="0"/>
                  <a:pt x="144" y="0"/>
                </a:cubicBezTo>
                <a:cubicBezTo>
                  <a:pt x="64" y="0"/>
                  <a:pt x="0" y="64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219" y="288"/>
                  <a:pt x="281" y="230"/>
                  <a:pt x="287" y="156"/>
                </a:cubicBezTo>
                <a:cubicBezTo>
                  <a:pt x="287" y="156"/>
                  <a:pt x="287" y="156"/>
                  <a:pt x="287" y="156"/>
                </a:cubicBezTo>
                <a:cubicBezTo>
                  <a:pt x="287" y="156"/>
                  <a:pt x="287" y="156"/>
                  <a:pt x="287" y="156"/>
                </a:cubicBezTo>
                <a:cubicBezTo>
                  <a:pt x="287" y="152"/>
                  <a:pt x="288" y="148"/>
                  <a:pt x="288" y="144"/>
                </a:cubicBezTo>
                <a:close/>
                <a:moveTo>
                  <a:pt x="247" y="79"/>
                </a:moveTo>
                <a:cubicBezTo>
                  <a:pt x="251" y="87"/>
                  <a:pt x="251" y="87"/>
                  <a:pt x="251" y="87"/>
                </a:cubicBezTo>
                <a:cubicBezTo>
                  <a:pt x="220" y="105"/>
                  <a:pt x="220" y="105"/>
                  <a:pt x="220" y="105"/>
                </a:cubicBezTo>
                <a:cubicBezTo>
                  <a:pt x="215" y="97"/>
                  <a:pt x="215" y="97"/>
                  <a:pt x="215" y="97"/>
                </a:cubicBezTo>
                <a:lnTo>
                  <a:pt x="247" y="79"/>
                </a:lnTo>
                <a:close/>
                <a:moveTo>
                  <a:pt x="201" y="36"/>
                </a:moveTo>
                <a:cubicBezTo>
                  <a:pt x="208" y="41"/>
                  <a:pt x="208" y="41"/>
                  <a:pt x="208" y="41"/>
                </a:cubicBezTo>
                <a:cubicBezTo>
                  <a:pt x="190" y="73"/>
                  <a:pt x="190" y="73"/>
                  <a:pt x="190" y="73"/>
                </a:cubicBezTo>
                <a:cubicBezTo>
                  <a:pt x="182" y="68"/>
                  <a:pt x="182" y="68"/>
                  <a:pt x="182" y="68"/>
                </a:cubicBezTo>
                <a:lnTo>
                  <a:pt x="201" y="36"/>
                </a:lnTo>
                <a:close/>
                <a:moveTo>
                  <a:pt x="208" y="246"/>
                </a:moveTo>
                <a:cubicBezTo>
                  <a:pt x="191" y="215"/>
                  <a:pt x="191" y="215"/>
                  <a:pt x="191" y="215"/>
                </a:cubicBezTo>
                <a:cubicBezTo>
                  <a:pt x="183" y="220"/>
                  <a:pt x="183" y="220"/>
                  <a:pt x="183" y="220"/>
                </a:cubicBezTo>
                <a:cubicBezTo>
                  <a:pt x="201" y="250"/>
                  <a:pt x="201" y="250"/>
                  <a:pt x="201" y="250"/>
                </a:cubicBezTo>
                <a:cubicBezTo>
                  <a:pt x="185" y="259"/>
                  <a:pt x="168" y="264"/>
                  <a:pt x="149" y="264"/>
                </a:cubicBezTo>
                <a:cubicBezTo>
                  <a:pt x="149" y="229"/>
                  <a:pt x="149" y="229"/>
                  <a:pt x="149" y="229"/>
                </a:cubicBezTo>
                <a:cubicBezTo>
                  <a:pt x="140" y="229"/>
                  <a:pt x="140" y="229"/>
                  <a:pt x="140" y="229"/>
                </a:cubicBezTo>
                <a:cubicBezTo>
                  <a:pt x="140" y="265"/>
                  <a:pt x="140" y="265"/>
                  <a:pt x="140" y="265"/>
                </a:cubicBezTo>
                <a:cubicBezTo>
                  <a:pt x="121" y="264"/>
                  <a:pt x="104" y="259"/>
                  <a:pt x="88" y="251"/>
                </a:cubicBezTo>
                <a:cubicBezTo>
                  <a:pt x="106" y="220"/>
                  <a:pt x="106" y="220"/>
                  <a:pt x="106" y="220"/>
                </a:cubicBezTo>
                <a:cubicBezTo>
                  <a:pt x="98" y="216"/>
                  <a:pt x="98" y="216"/>
                  <a:pt x="98" y="216"/>
                </a:cubicBezTo>
                <a:cubicBezTo>
                  <a:pt x="80" y="247"/>
                  <a:pt x="80" y="247"/>
                  <a:pt x="80" y="247"/>
                </a:cubicBezTo>
                <a:cubicBezTo>
                  <a:pt x="65" y="237"/>
                  <a:pt x="52" y="224"/>
                  <a:pt x="42" y="209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68" y="183"/>
                  <a:pt x="68" y="183"/>
                  <a:pt x="68" y="183"/>
                </a:cubicBezTo>
                <a:cubicBezTo>
                  <a:pt x="37" y="201"/>
                  <a:pt x="37" y="201"/>
                  <a:pt x="37" y="201"/>
                </a:cubicBezTo>
                <a:cubicBezTo>
                  <a:pt x="29" y="186"/>
                  <a:pt x="23" y="168"/>
                  <a:pt x="23" y="149"/>
                </a:cubicBezTo>
                <a:cubicBezTo>
                  <a:pt x="59" y="149"/>
                  <a:pt x="59" y="149"/>
                  <a:pt x="59" y="149"/>
                </a:cubicBezTo>
                <a:cubicBezTo>
                  <a:pt x="59" y="140"/>
                  <a:pt x="59" y="140"/>
                  <a:pt x="59" y="140"/>
                </a:cubicBezTo>
                <a:cubicBezTo>
                  <a:pt x="23" y="140"/>
                  <a:pt x="23" y="140"/>
                  <a:pt x="23" y="140"/>
                </a:cubicBezTo>
                <a:cubicBezTo>
                  <a:pt x="23" y="121"/>
                  <a:pt x="28" y="104"/>
                  <a:pt x="36" y="88"/>
                </a:cubicBezTo>
                <a:cubicBezTo>
                  <a:pt x="68" y="106"/>
                  <a:pt x="68" y="106"/>
                  <a:pt x="68" y="106"/>
                </a:cubicBezTo>
                <a:cubicBezTo>
                  <a:pt x="72" y="98"/>
                  <a:pt x="72" y="98"/>
                  <a:pt x="72" y="98"/>
                </a:cubicBezTo>
                <a:cubicBezTo>
                  <a:pt x="41" y="80"/>
                  <a:pt x="41" y="80"/>
                  <a:pt x="41" y="80"/>
                </a:cubicBezTo>
                <a:cubicBezTo>
                  <a:pt x="36" y="88"/>
                  <a:pt x="36" y="88"/>
                  <a:pt x="36" y="88"/>
                </a:cubicBezTo>
                <a:cubicBezTo>
                  <a:pt x="46" y="69"/>
                  <a:pt x="61" y="52"/>
                  <a:pt x="79" y="41"/>
                </a:cubicBezTo>
                <a:cubicBezTo>
                  <a:pt x="97" y="72"/>
                  <a:pt x="97" y="72"/>
                  <a:pt x="97" y="72"/>
                </a:cubicBezTo>
                <a:cubicBezTo>
                  <a:pt x="105" y="68"/>
                  <a:pt x="105" y="68"/>
                  <a:pt x="105" y="68"/>
                </a:cubicBezTo>
                <a:cubicBezTo>
                  <a:pt x="87" y="36"/>
                  <a:pt x="87" y="36"/>
                  <a:pt x="87" y="36"/>
                </a:cubicBezTo>
                <a:cubicBezTo>
                  <a:pt x="104" y="28"/>
                  <a:pt x="123" y="22"/>
                  <a:pt x="144" y="22"/>
                </a:cubicBezTo>
                <a:cubicBezTo>
                  <a:pt x="144" y="147"/>
                  <a:pt x="144" y="147"/>
                  <a:pt x="144" y="147"/>
                </a:cubicBezTo>
                <a:cubicBezTo>
                  <a:pt x="241" y="216"/>
                  <a:pt x="241" y="216"/>
                  <a:pt x="241" y="216"/>
                </a:cubicBezTo>
                <a:cubicBezTo>
                  <a:pt x="232" y="228"/>
                  <a:pt x="221" y="238"/>
                  <a:pt x="208" y="246"/>
                </a:cubicBezTo>
                <a:close/>
                <a:moveTo>
                  <a:pt x="266" y="148"/>
                </a:moveTo>
                <a:cubicBezTo>
                  <a:pt x="229" y="148"/>
                  <a:pt x="229" y="148"/>
                  <a:pt x="229" y="148"/>
                </a:cubicBezTo>
                <a:cubicBezTo>
                  <a:pt x="229" y="139"/>
                  <a:pt x="229" y="139"/>
                  <a:pt x="229" y="139"/>
                </a:cubicBezTo>
                <a:cubicBezTo>
                  <a:pt x="266" y="139"/>
                  <a:pt x="266" y="139"/>
                  <a:pt x="266" y="139"/>
                </a:cubicBezTo>
                <a:lnTo>
                  <a:pt x="266" y="148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72" name="Freeform 18">
            <a:extLst>
              <a:ext uri="{FF2B5EF4-FFF2-40B4-BE49-F238E27FC236}">
                <a16:creationId xmlns:a16="http://schemas.microsoft.com/office/drawing/2014/main" id="{A85B0944-CED0-4864-92D3-39B40785AA9C}"/>
              </a:ext>
            </a:extLst>
          </p:cNvPr>
          <p:cNvSpPr>
            <a:spLocks noEditPoints="1"/>
          </p:cNvSpPr>
          <p:nvPr/>
        </p:nvSpPr>
        <p:spPr bwMode="auto">
          <a:xfrm>
            <a:off x="2256035" y="6500484"/>
            <a:ext cx="274050" cy="274050"/>
          </a:xfrm>
          <a:custGeom>
            <a:avLst/>
            <a:gdLst>
              <a:gd name="T0" fmla="*/ 144 w 288"/>
              <a:gd name="T1" fmla="*/ 0 h 288"/>
              <a:gd name="T2" fmla="*/ 0 w 288"/>
              <a:gd name="T3" fmla="*/ 144 h 288"/>
              <a:gd name="T4" fmla="*/ 144 w 288"/>
              <a:gd name="T5" fmla="*/ 288 h 288"/>
              <a:gd name="T6" fmla="*/ 288 w 288"/>
              <a:gd name="T7" fmla="*/ 144 h 288"/>
              <a:gd name="T8" fmla="*/ 144 w 288"/>
              <a:gd name="T9" fmla="*/ 0 h 288"/>
              <a:gd name="T10" fmla="*/ 196 w 288"/>
              <a:gd name="T11" fmla="*/ 211 h 288"/>
              <a:gd name="T12" fmla="*/ 162 w 288"/>
              <a:gd name="T13" fmla="*/ 227 h 288"/>
              <a:gd name="T14" fmla="*/ 162 w 288"/>
              <a:gd name="T15" fmla="*/ 245 h 288"/>
              <a:gd name="T16" fmla="*/ 131 w 288"/>
              <a:gd name="T17" fmla="*/ 245 h 288"/>
              <a:gd name="T18" fmla="*/ 131 w 288"/>
              <a:gd name="T19" fmla="*/ 228 h 288"/>
              <a:gd name="T20" fmla="*/ 84 w 288"/>
              <a:gd name="T21" fmla="*/ 211 h 288"/>
              <a:gd name="T22" fmla="*/ 84 w 288"/>
              <a:gd name="T23" fmla="*/ 173 h 288"/>
              <a:gd name="T24" fmla="*/ 111 w 288"/>
              <a:gd name="T25" fmla="*/ 191 h 288"/>
              <a:gd name="T26" fmla="*/ 143 w 288"/>
              <a:gd name="T27" fmla="*/ 198 h 288"/>
              <a:gd name="T28" fmla="*/ 164 w 288"/>
              <a:gd name="T29" fmla="*/ 194 h 288"/>
              <a:gd name="T30" fmla="*/ 176 w 288"/>
              <a:gd name="T31" fmla="*/ 177 h 288"/>
              <a:gd name="T32" fmla="*/ 152 w 288"/>
              <a:gd name="T33" fmla="*/ 155 h 288"/>
              <a:gd name="T34" fmla="*/ 107 w 288"/>
              <a:gd name="T35" fmla="*/ 139 h 288"/>
              <a:gd name="T36" fmla="*/ 83 w 288"/>
              <a:gd name="T37" fmla="*/ 103 h 288"/>
              <a:gd name="T38" fmla="*/ 98 w 288"/>
              <a:gd name="T39" fmla="*/ 70 h 288"/>
              <a:gd name="T40" fmla="*/ 131 w 288"/>
              <a:gd name="T41" fmla="*/ 55 h 288"/>
              <a:gd name="T42" fmla="*/ 131 w 288"/>
              <a:gd name="T43" fmla="*/ 37 h 288"/>
              <a:gd name="T44" fmla="*/ 162 w 288"/>
              <a:gd name="T45" fmla="*/ 37 h 288"/>
              <a:gd name="T46" fmla="*/ 162 w 288"/>
              <a:gd name="T47" fmla="*/ 56 h 288"/>
              <a:gd name="T48" fmla="*/ 202 w 288"/>
              <a:gd name="T49" fmla="*/ 70 h 288"/>
              <a:gd name="T50" fmla="*/ 202 w 288"/>
              <a:gd name="T51" fmla="*/ 106 h 288"/>
              <a:gd name="T52" fmla="*/ 175 w 288"/>
              <a:gd name="T53" fmla="*/ 90 h 288"/>
              <a:gd name="T54" fmla="*/ 144 w 288"/>
              <a:gd name="T55" fmla="*/ 83 h 288"/>
              <a:gd name="T56" fmla="*/ 127 w 288"/>
              <a:gd name="T57" fmla="*/ 88 h 288"/>
              <a:gd name="T58" fmla="*/ 117 w 288"/>
              <a:gd name="T59" fmla="*/ 101 h 288"/>
              <a:gd name="T60" fmla="*/ 141 w 288"/>
              <a:gd name="T61" fmla="*/ 121 h 288"/>
              <a:gd name="T62" fmla="*/ 186 w 288"/>
              <a:gd name="T63" fmla="*/ 137 h 288"/>
              <a:gd name="T64" fmla="*/ 210 w 288"/>
              <a:gd name="T65" fmla="*/ 175 h 288"/>
              <a:gd name="T66" fmla="*/ 196 w 288"/>
              <a:gd name="T67" fmla="*/ 211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88" h="288">
                <a:moveTo>
                  <a:pt x="144" y="0"/>
                </a:moveTo>
                <a:cubicBezTo>
                  <a:pt x="64" y="0"/>
                  <a:pt x="0" y="64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223" y="288"/>
                  <a:pt x="288" y="223"/>
                  <a:pt x="288" y="144"/>
                </a:cubicBezTo>
                <a:cubicBezTo>
                  <a:pt x="288" y="64"/>
                  <a:pt x="223" y="0"/>
                  <a:pt x="144" y="0"/>
                </a:cubicBezTo>
                <a:close/>
                <a:moveTo>
                  <a:pt x="196" y="211"/>
                </a:moveTo>
                <a:cubicBezTo>
                  <a:pt x="188" y="219"/>
                  <a:pt x="176" y="224"/>
                  <a:pt x="162" y="227"/>
                </a:cubicBezTo>
                <a:cubicBezTo>
                  <a:pt x="162" y="245"/>
                  <a:pt x="162" y="245"/>
                  <a:pt x="162" y="245"/>
                </a:cubicBezTo>
                <a:cubicBezTo>
                  <a:pt x="131" y="245"/>
                  <a:pt x="131" y="245"/>
                  <a:pt x="131" y="245"/>
                </a:cubicBezTo>
                <a:cubicBezTo>
                  <a:pt x="131" y="228"/>
                  <a:pt x="131" y="228"/>
                  <a:pt x="131" y="228"/>
                </a:cubicBezTo>
                <a:cubicBezTo>
                  <a:pt x="116" y="227"/>
                  <a:pt x="101" y="221"/>
                  <a:pt x="84" y="211"/>
                </a:cubicBezTo>
                <a:cubicBezTo>
                  <a:pt x="84" y="173"/>
                  <a:pt x="84" y="173"/>
                  <a:pt x="84" y="173"/>
                </a:cubicBezTo>
                <a:cubicBezTo>
                  <a:pt x="95" y="181"/>
                  <a:pt x="104" y="187"/>
                  <a:pt x="111" y="191"/>
                </a:cubicBezTo>
                <a:cubicBezTo>
                  <a:pt x="121" y="196"/>
                  <a:pt x="132" y="198"/>
                  <a:pt x="143" y="198"/>
                </a:cubicBezTo>
                <a:cubicBezTo>
                  <a:pt x="152" y="198"/>
                  <a:pt x="159" y="197"/>
                  <a:pt x="164" y="194"/>
                </a:cubicBezTo>
                <a:cubicBezTo>
                  <a:pt x="172" y="190"/>
                  <a:pt x="176" y="184"/>
                  <a:pt x="176" y="177"/>
                </a:cubicBezTo>
                <a:cubicBezTo>
                  <a:pt x="176" y="168"/>
                  <a:pt x="168" y="161"/>
                  <a:pt x="152" y="155"/>
                </a:cubicBezTo>
                <a:cubicBezTo>
                  <a:pt x="123" y="145"/>
                  <a:pt x="109" y="140"/>
                  <a:pt x="107" y="139"/>
                </a:cubicBezTo>
                <a:cubicBezTo>
                  <a:pt x="91" y="131"/>
                  <a:pt x="83" y="119"/>
                  <a:pt x="83" y="103"/>
                </a:cubicBezTo>
                <a:cubicBezTo>
                  <a:pt x="83" y="89"/>
                  <a:pt x="88" y="78"/>
                  <a:pt x="98" y="70"/>
                </a:cubicBezTo>
                <a:cubicBezTo>
                  <a:pt x="107" y="62"/>
                  <a:pt x="118" y="57"/>
                  <a:pt x="131" y="55"/>
                </a:cubicBezTo>
                <a:cubicBezTo>
                  <a:pt x="131" y="37"/>
                  <a:pt x="131" y="37"/>
                  <a:pt x="131" y="37"/>
                </a:cubicBezTo>
                <a:cubicBezTo>
                  <a:pt x="162" y="37"/>
                  <a:pt x="162" y="37"/>
                  <a:pt x="162" y="37"/>
                </a:cubicBezTo>
                <a:cubicBezTo>
                  <a:pt x="162" y="56"/>
                  <a:pt x="162" y="56"/>
                  <a:pt x="162" y="56"/>
                </a:cubicBezTo>
                <a:cubicBezTo>
                  <a:pt x="176" y="58"/>
                  <a:pt x="189" y="62"/>
                  <a:pt x="202" y="70"/>
                </a:cubicBezTo>
                <a:cubicBezTo>
                  <a:pt x="202" y="106"/>
                  <a:pt x="202" y="106"/>
                  <a:pt x="202" y="106"/>
                </a:cubicBezTo>
                <a:cubicBezTo>
                  <a:pt x="190" y="98"/>
                  <a:pt x="181" y="92"/>
                  <a:pt x="175" y="90"/>
                </a:cubicBezTo>
                <a:cubicBezTo>
                  <a:pt x="165" y="85"/>
                  <a:pt x="155" y="83"/>
                  <a:pt x="144" y="83"/>
                </a:cubicBezTo>
                <a:cubicBezTo>
                  <a:pt x="138" y="83"/>
                  <a:pt x="132" y="85"/>
                  <a:pt x="127" y="88"/>
                </a:cubicBezTo>
                <a:cubicBezTo>
                  <a:pt x="120" y="91"/>
                  <a:pt x="117" y="95"/>
                  <a:pt x="117" y="101"/>
                </a:cubicBezTo>
                <a:cubicBezTo>
                  <a:pt x="117" y="109"/>
                  <a:pt x="125" y="116"/>
                  <a:pt x="141" y="121"/>
                </a:cubicBezTo>
                <a:cubicBezTo>
                  <a:pt x="167" y="129"/>
                  <a:pt x="182" y="135"/>
                  <a:pt x="186" y="137"/>
                </a:cubicBezTo>
                <a:cubicBezTo>
                  <a:pt x="202" y="146"/>
                  <a:pt x="210" y="159"/>
                  <a:pt x="210" y="175"/>
                </a:cubicBezTo>
                <a:cubicBezTo>
                  <a:pt x="210" y="190"/>
                  <a:pt x="205" y="202"/>
                  <a:pt x="196" y="211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73" name="Table 6">
            <a:extLst>
              <a:ext uri="{FF2B5EF4-FFF2-40B4-BE49-F238E27FC236}">
                <a16:creationId xmlns:a16="http://schemas.microsoft.com/office/drawing/2014/main" id="{901A9D8C-C4BB-436A-9323-1CFEBD9F8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177427"/>
              </p:ext>
            </p:extLst>
          </p:nvPr>
        </p:nvGraphicFramePr>
        <p:xfrm>
          <a:off x="4001197" y="3360374"/>
          <a:ext cx="7955775" cy="22084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0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PLANNED ACTIVITIES FOR NEXT FEW WEEKS</a:t>
                      </a:r>
                      <a:endParaRPr lang="en-US" sz="12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DUE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50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Integration Portfolio Governance Introduction with Enterprise Architecture team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4/7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73461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Engage with APP owners to understand priorities, work streams in progress and landscape for NextGen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196980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Prepare draft Canonical Models and Release Priority for MVP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93032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Prepare MVP impacted Application integration strategy  - DRAFT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4/21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332924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Prepare Integration Strategy document, ready be presented with DT integration team by 4/12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WIP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81497"/>
                  </a:ext>
                </a:extLst>
              </a:tr>
              <a:tr h="21377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286047"/>
                  </a:ext>
                </a:extLst>
              </a:tr>
              <a:tr h="21377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596285"/>
                  </a:ext>
                </a:extLst>
              </a:tr>
            </a:tbl>
          </a:graphicData>
        </a:graphic>
      </p:graphicFrame>
      <p:graphicFrame>
        <p:nvGraphicFramePr>
          <p:cNvPr id="74" name="Table 4">
            <a:extLst>
              <a:ext uri="{FF2B5EF4-FFF2-40B4-BE49-F238E27FC236}">
                <a16:creationId xmlns:a16="http://schemas.microsoft.com/office/drawing/2014/main" id="{EBF72164-D44B-4AB2-93B0-8CDC112F89F2}"/>
              </a:ext>
            </a:extLst>
          </p:cNvPr>
          <p:cNvGraphicFramePr>
            <a:graphicFrameLocks noGrp="1"/>
          </p:cNvGraphicFramePr>
          <p:nvPr/>
        </p:nvGraphicFramePr>
        <p:xfrm>
          <a:off x="4001197" y="1670960"/>
          <a:ext cx="7955775" cy="15195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45">
                  <a:extLst>
                    <a:ext uri="{9D8B030D-6E8A-4147-A177-3AD203B41FA5}">
                      <a16:colId xmlns:a16="http://schemas.microsoft.com/office/drawing/2014/main" val="3395070529"/>
                    </a:ext>
                  </a:extLst>
                </a:gridCol>
                <a:gridCol w="4044588">
                  <a:extLst>
                    <a:ext uri="{9D8B030D-6E8A-4147-A177-3AD203B41FA5}">
                      <a16:colId xmlns:a16="http://schemas.microsoft.com/office/drawing/2014/main" val="3864803265"/>
                    </a:ext>
                  </a:extLst>
                </a:gridCol>
                <a:gridCol w="745724">
                  <a:extLst>
                    <a:ext uri="{9D8B030D-6E8A-4147-A177-3AD203B41FA5}">
                      <a16:colId xmlns:a16="http://schemas.microsoft.com/office/drawing/2014/main" val="3027399220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3085072682"/>
                    </a:ext>
                  </a:extLst>
                </a:gridCol>
                <a:gridCol w="994299">
                  <a:extLst>
                    <a:ext uri="{9D8B030D-6E8A-4147-A177-3AD203B41FA5}">
                      <a16:colId xmlns:a16="http://schemas.microsoft.com/office/drawing/2014/main" val="4151964516"/>
                    </a:ext>
                  </a:extLst>
                </a:gridCol>
                <a:gridCol w="1099583">
                  <a:extLst>
                    <a:ext uri="{9D8B030D-6E8A-4147-A177-3AD203B41FA5}">
                      <a16:colId xmlns:a16="http://schemas.microsoft.com/office/drawing/2014/main" val="1508659131"/>
                    </a:ext>
                  </a:extLst>
                </a:gridCol>
              </a:tblGrid>
              <a:tr h="378497">
                <a:tc gridSpan="2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KEY</a:t>
                      </a:r>
                      <a:r>
                        <a:rPr lang="en-US" sz="1200" b="1" kern="0" baseline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 CHALLENGES </a:t>
                      </a:r>
                      <a:endParaRPr lang="en-US" sz="1200" b="1" kern="0" baseline="0">
                        <a:solidFill>
                          <a:schemeClr val="tx1"/>
                        </a:solidFill>
                        <a:latin typeface="+mn-lt"/>
                        <a:ea typeface="ＭＳ Ｐゴシック" charset="0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0" baseline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(R = Risk, I = Issue, A = Action, D = Decision)</a:t>
                      </a:r>
                      <a:endParaRPr lang="en-US" sz="9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OPEN 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DATE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OWNER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PLAN TO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CLOSE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HELP 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NEEDED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944806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effectLst/>
                        </a:rPr>
                        <a:t>Need to set regular cadence with the core IPG team to understand other ongoing initiatives – By 4/14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4/6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4362562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8722463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6212416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6D1D85A7-FFBE-4B56-BDE1-6B68796E4F46}"/>
              </a:ext>
            </a:extLst>
          </p:cNvPr>
          <p:cNvGrpSpPr/>
          <p:nvPr/>
        </p:nvGrpSpPr>
        <p:grpSpPr>
          <a:xfrm>
            <a:off x="453690" y="6183677"/>
            <a:ext cx="287492" cy="260840"/>
            <a:chOff x="6361113" y="2438400"/>
            <a:chExt cx="1192213" cy="1084263"/>
          </a:xfrm>
          <a:solidFill>
            <a:srgbClr val="008000"/>
          </a:solidFill>
        </p:grpSpPr>
        <p:sp>
          <p:nvSpPr>
            <p:cNvPr id="76" name="Freeform 21">
              <a:extLst>
                <a:ext uri="{FF2B5EF4-FFF2-40B4-BE49-F238E27FC236}">
                  <a16:creationId xmlns:a16="http://schemas.microsoft.com/office/drawing/2014/main" id="{07F99712-2C68-4FD8-93E9-C94BE92E6E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61113" y="2706688"/>
              <a:ext cx="1192213" cy="560388"/>
            </a:xfrm>
            <a:custGeom>
              <a:avLst/>
              <a:gdLst>
                <a:gd name="T0" fmla="*/ 751 w 751"/>
                <a:gd name="T1" fmla="*/ 0 h 353"/>
                <a:gd name="T2" fmla="*/ 0 w 751"/>
                <a:gd name="T3" fmla="*/ 0 h 353"/>
                <a:gd name="T4" fmla="*/ 0 w 751"/>
                <a:gd name="T5" fmla="*/ 353 h 353"/>
                <a:gd name="T6" fmla="*/ 751 w 751"/>
                <a:gd name="T7" fmla="*/ 353 h 353"/>
                <a:gd name="T8" fmla="*/ 751 w 751"/>
                <a:gd name="T9" fmla="*/ 0 h 353"/>
                <a:gd name="T10" fmla="*/ 232 w 751"/>
                <a:gd name="T11" fmla="*/ 173 h 353"/>
                <a:gd name="T12" fmla="*/ 232 w 751"/>
                <a:gd name="T13" fmla="*/ 265 h 353"/>
                <a:gd name="T14" fmla="*/ 69 w 751"/>
                <a:gd name="T15" fmla="*/ 161 h 353"/>
                <a:gd name="T16" fmla="*/ 232 w 751"/>
                <a:gd name="T17" fmla="*/ 57 h 353"/>
                <a:gd name="T18" fmla="*/ 232 w 751"/>
                <a:gd name="T19" fmla="*/ 149 h 353"/>
                <a:gd name="T20" fmla="*/ 523 w 751"/>
                <a:gd name="T21" fmla="*/ 149 h 353"/>
                <a:gd name="T22" fmla="*/ 523 w 751"/>
                <a:gd name="T23" fmla="*/ 57 h 353"/>
                <a:gd name="T24" fmla="*/ 687 w 751"/>
                <a:gd name="T25" fmla="*/ 161 h 353"/>
                <a:gd name="T26" fmla="*/ 523 w 751"/>
                <a:gd name="T27" fmla="*/ 265 h 353"/>
                <a:gd name="T28" fmla="*/ 523 w 751"/>
                <a:gd name="T29" fmla="*/ 173 h 353"/>
                <a:gd name="T30" fmla="*/ 232 w 751"/>
                <a:gd name="T31" fmla="*/ 173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51" h="353">
                  <a:moveTo>
                    <a:pt x="751" y="0"/>
                  </a:moveTo>
                  <a:lnTo>
                    <a:pt x="0" y="0"/>
                  </a:lnTo>
                  <a:lnTo>
                    <a:pt x="0" y="353"/>
                  </a:lnTo>
                  <a:lnTo>
                    <a:pt x="751" y="353"/>
                  </a:lnTo>
                  <a:lnTo>
                    <a:pt x="751" y="0"/>
                  </a:lnTo>
                  <a:close/>
                  <a:moveTo>
                    <a:pt x="232" y="173"/>
                  </a:moveTo>
                  <a:lnTo>
                    <a:pt x="232" y="265"/>
                  </a:lnTo>
                  <a:lnTo>
                    <a:pt x="69" y="161"/>
                  </a:lnTo>
                  <a:lnTo>
                    <a:pt x="232" y="57"/>
                  </a:lnTo>
                  <a:lnTo>
                    <a:pt x="232" y="149"/>
                  </a:lnTo>
                  <a:lnTo>
                    <a:pt x="523" y="149"/>
                  </a:lnTo>
                  <a:lnTo>
                    <a:pt x="523" y="57"/>
                  </a:lnTo>
                  <a:lnTo>
                    <a:pt x="687" y="161"/>
                  </a:lnTo>
                  <a:lnTo>
                    <a:pt x="523" y="265"/>
                  </a:lnTo>
                  <a:lnTo>
                    <a:pt x="523" y="173"/>
                  </a:lnTo>
                  <a:lnTo>
                    <a:pt x="232" y="1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77" name="Freeform 22">
              <a:extLst>
                <a:ext uri="{FF2B5EF4-FFF2-40B4-BE49-F238E27FC236}">
                  <a16:creationId xmlns:a16="http://schemas.microsoft.com/office/drawing/2014/main" id="{35FD81B7-4D87-44FD-8156-5C1D8FE7C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2438400"/>
              <a:ext cx="1192213" cy="230188"/>
            </a:xfrm>
            <a:custGeom>
              <a:avLst/>
              <a:gdLst>
                <a:gd name="T0" fmla="*/ 751 w 751"/>
                <a:gd name="T1" fmla="*/ 0 h 145"/>
                <a:gd name="T2" fmla="*/ 599 w 751"/>
                <a:gd name="T3" fmla="*/ 0 h 145"/>
                <a:gd name="T4" fmla="*/ 599 w 751"/>
                <a:gd name="T5" fmla="*/ 83 h 145"/>
                <a:gd name="T6" fmla="*/ 576 w 751"/>
                <a:gd name="T7" fmla="*/ 83 h 145"/>
                <a:gd name="T8" fmla="*/ 576 w 751"/>
                <a:gd name="T9" fmla="*/ 0 h 145"/>
                <a:gd name="T10" fmla="*/ 393 w 751"/>
                <a:gd name="T11" fmla="*/ 0 h 145"/>
                <a:gd name="T12" fmla="*/ 393 w 751"/>
                <a:gd name="T13" fmla="*/ 83 h 145"/>
                <a:gd name="T14" fmla="*/ 370 w 751"/>
                <a:gd name="T15" fmla="*/ 83 h 145"/>
                <a:gd name="T16" fmla="*/ 370 w 751"/>
                <a:gd name="T17" fmla="*/ 0 h 145"/>
                <a:gd name="T18" fmla="*/ 161 w 751"/>
                <a:gd name="T19" fmla="*/ 0 h 145"/>
                <a:gd name="T20" fmla="*/ 161 w 751"/>
                <a:gd name="T21" fmla="*/ 83 h 145"/>
                <a:gd name="T22" fmla="*/ 137 w 751"/>
                <a:gd name="T23" fmla="*/ 83 h 145"/>
                <a:gd name="T24" fmla="*/ 137 w 751"/>
                <a:gd name="T25" fmla="*/ 0 h 145"/>
                <a:gd name="T26" fmla="*/ 0 w 751"/>
                <a:gd name="T27" fmla="*/ 0 h 145"/>
                <a:gd name="T28" fmla="*/ 0 w 751"/>
                <a:gd name="T29" fmla="*/ 145 h 145"/>
                <a:gd name="T30" fmla="*/ 751 w 751"/>
                <a:gd name="T31" fmla="*/ 145 h 145"/>
                <a:gd name="T32" fmla="*/ 751 w 751"/>
                <a:gd name="T33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1" h="145">
                  <a:moveTo>
                    <a:pt x="751" y="0"/>
                  </a:moveTo>
                  <a:lnTo>
                    <a:pt x="599" y="0"/>
                  </a:lnTo>
                  <a:lnTo>
                    <a:pt x="599" y="83"/>
                  </a:lnTo>
                  <a:lnTo>
                    <a:pt x="576" y="83"/>
                  </a:lnTo>
                  <a:lnTo>
                    <a:pt x="576" y="0"/>
                  </a:lnTo>
                  <a:lnTo>
                    <a:pt x="393" y="0"/>
                  </a:lnTo>
                  <a:lnTo>
                    <a:pt x="393" y="83"/>
                  </a:lnTo>
                  <a:lnTo>
                    <a:pt x="370" y="83"/>
                  </a:lnTo>
                  <a:lnTo>
                    <a:pt x="370" y="0"/>
                  </a:lnTo>
                  <a:lnTo>
                    <a:pt x="161" y="0"/>
                  </a:lnTo>
                  <a:lnTo>
                    <a:pt x="161" y="83"/>
                  </a:lnTo>
                  <a:lnTo>
                    <a:pt x="137" y="83"/>
                  </a:lnTo>
                  <a:lnTo>
                    <a:pt x="137" y="0"/>
                  </a:lnTo>
                  <a:lnTo>
                    <a:pt x="0" y="0"/>
                  </a:lnTo>
                  <a:lnTo>
                    <a:pt x="0" y="145"/>
                  </a:lnTo>
                  <a:lnTo>
                    <a:pt x="751" y="145"/>
                  </a:lnTo>
                  <a:lnTo>
                    <a:pt x="7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78" name="Freeform 23">
              <a:extLst>
                <a:ext uri="{FF2B5EF4-FFF2-40B4-BE49-F238E27FC236}">
                  <a16:creationId xmlns:a16="http://schemas.microsoft.com/office/drawing/2014/main" id="{EDCE3E85-1643-4F8A-AED7-2920DD7A5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3305175"/>
              <a:ext cx="1192213" cy="217488"/>
            </a:xfrm>
            <a:custGeom>
              <a:avLst/>
              <a:gdLst>
                <a:gd name="T0" fmla="*/ 0 w 751"/>
                <a:gd name="T1" fmla="*/ 137 h 137"/>
                <a:gd name="T2" fmla="*/ 137 w 751"/>
                <a:gd name="T3" fmla="*/ 137 h 137"/>
                <a:gd name="T4" fmla="*/ 137 w 751"/>
                <a:gd name="T5" fmla="*/ 54 h 137"/>
                <a:gd name="T6" fmla="*/ 161 w 751"/>
                <a:gd name="T7" fmla="*/ 54 h 137"/>
                <a:gd name="T8" fmla="*/ 161 w 751"/>
                <a:gd name="T9" fmla="*/ 137 h 137"/>
                <a:gd name="T10" fmla="*/ 370 w 751"/>
                <a:gd name="T11" fmla="*/ 137 h 137"/>
                <a:gd name="T12" fmla="*/ 370 w 751"/>
                <a:gd name="T13" fmla="*/ 54 h 137"/>
                <a:gd name="T14" fmla="*/ 393 w 751"/>
                <a:gd name="T15" fmla="*/ 54 h 137"/>
                <a:gd name="T16" fmla="*/ 393 w 751"/>
                <a:gd name="T17" fmla="*/ 137 h 137"/>
                <a:gd name="T18" fmla="*/ 576 w 751"/>
                <a:gd name="T19" fmla="*/ 137 h 137"/>
                <a:gd name="T20" fmla="*/ 576 w 751"/>
                <a:gd name="T21" fmla="*/ 54 h 137"/>
                <a:gd name="T22" fmla="*/ 599 w 751"/>
                <a:gd name="T23" fmla="*/ 54 h 137"/>
                <a:gd name="T24" fmla="*/ 599 w 751"/>
                <a:gd name="T25" fmla="*/ 137 h 137"/>
                <a:gd name="T26" fmla="*/ 751 w 751"/>
                <a:gd name="T27" fmla="*/ 137 h 137"/>
                <a:gd name="T28" fmla="*/ 751 w 751"/>
                <a:gd name="T29" fmla="*/ 0 h 137"/>
                <a:gd name="T30" fmla="*/ 0 w 751"/>
                <a:gd name="T31" fmla="*/ 0 h 137"/>
                <a:gd name="T32" fmla="*/ 0 w 751"/>
                <a:gd name="T33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1" h="137">
                  <a:moveTo>
                    <a:pt x="0" y="137"/>
                  </a:moveTo>
                  <a:lnTo>
                    <a:pt x="137" y="137"/>
                  </a:lnTo>
                  <a:lnTo>
                    <a:pt x="137" y="54"/>
                  </a:lnTo>
                  <a:lnTo>
                    <a:pt x="161" y="54"/>
                  </a:lnTo>
                  <a:lnTo>
                    <a:pt x="161" y="137"/>
                  </a:lnTo>
                  <a:lnTo>
                    <a:pt x="370" y="137"/>
                  </a:lnTo>
                  <a:lnTo>
                    <a:pt x="370" y="54"/>
                  </a:lnTo>
                  <a:lnTo>
                    <a:pt x="393" y="54"/>
                  </a:lnTo>
                  <a:lnTo>
                    <a:pt x="393" y="137"/>
                  </a:lnTo>
                  <a:lnTo>
                    <a:pt x="576" y="137"/>
                  </a:lnTo>
                  <a:lnTo>
                    <a:pt x="576" y="54"/>
                  </a:lnTo>
                  <a:lnTo>
                    <a:pt x="599" y="54"/>
                  </a:lnTo>
                  <a:lnTo>
                    <a:pt x="599" y="137"/>
                  </a:lnTo>
                  <a:lnTo>
                    <a:pt x="751" y="137"/>
                  </a:lnTo>
                  <a:lnTo>
                    <a:pt x="751" y="0"/>
                  </a:lnTo>
                  <a:lnTo>
                    <a:pt x="0" y="0"/>
                  </a:lnTo>
                  <a:lnTo>
                    <a:pt x="0" y="13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</p:grp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DBE5DBDB-7191-423C-A7BA-1D06B26A7EEC}"/>
              </a:ext>
            </a:extLst>
          </p:cNvPr>
          <p:cNvGraphicFramePr>
            <a:graphicFrameLocks noGrp="1"/>
          </p:cNvGraphicFramePr>
          <p:nvPr/>
        </p:nvGraphicFramePr>
        <p:xfrm>
          <a:off x="4001197" y="5694644"/>
          <a:ext cx="7955774" cy="1097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3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747">
                  <a:extLst>
                    <a:ext uri="{9D8B030D-6E8A-4147-A177-3AD203B41FA5}">
                      <a16:colId xmlns:a16="http://schemas.microsoft.com/office/drawing/2014/main" val="109970816"/>
                    </a:ext>
                  </a:extLst>
                </a:gridCol>
              </a:tblGrid>
              <a:tr h="2745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KEY ACCOMPLISHMENTS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2745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 generic entity relationship models have been identified for MVP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623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316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26255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73DE2A73-F124-49CE-A59E-E8FEE3C3DFDD}"/>
              </a:ext>
            </a:extLst>
          </p:cNvPr>
          <p:cNvGraphicFramePr>
            <a:graphicFrameLocks noGrp="1"/>
          </p:cNvGraphicFramePr>
          <p:nvPr/>
        </p:nvGraphicFramePr>
        <p:xfrm>
          <a:off x="353676" y="1670960"/>
          <a:ext cx="3551879" cy="16275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8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HEADLINES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1115643"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Engaged with Enterprise Architecture team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Participated in project kickoff sessions, oracle foundation session and MVP breakout planning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Integration strategy and portfolio governance planning in progress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</a:pPr>
                      <a:endParaRPr lang="en-US" sz="1200" b="0" i="0" u="none" strike="noStrike" kern="1200" baseline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764E9-397A-4FEE-BE8F-0A55A10F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45439" y="6461653"/>
            <a:ext cx="220453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3792D4-8FCB-4391-8F5D-038B8C6DF5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263039-D033-DE38-765A-DE209481C485}"/>
              </a:ext>
            </a:extLst>
          </p:cNvPr>
          <p:cNvGraphicFramePr>
            <a:graphicFrameLocks noGrp="1"/>
          </p:cNvGraphicFramePr>
          <p:nvPr/>
        </p:nvGraphicFramePr>
        <p:xfrm>
          <a:off x="353675" y="763141"/>
          <a:ext cx="11591756" cy="42670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1868">
                  <a:extLst>
                    <a:ext uri="{9D8B030D-6E8A-4147-A177-3AD203B41FA5}">
                      <a16:colId xmlns:a16="http://schemas.microsoft.com/office/drawing/2014/main" val="2898324739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3275364168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0705719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11104500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37244957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4029764863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889824718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398189912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922606471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06473915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725813581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730589314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6532444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481295919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41201056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91511507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51029071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2 Q1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3 Q1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4 Q2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Period 5 Q2</a:t>
                      </a:r>
                      <a:endParaRPr sz="1000" b="1" u="none" strike="noStrike" cap="none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u="none" strike="noStrike" cap="none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Period 5 Q2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6 Q2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77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03/20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03/27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4/3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04/10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04/17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04/24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05/01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05/08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05/15</a:t>
                      </a:r>
                      <a:endParaRPr sz="1000" b="0" u="none" strike="noStrike" kern="1200" cap="none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05/22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5/29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06/05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06/12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06/19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06/26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07/03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07/10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21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2678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J.5IAAuyGoKwpBDiQ5R9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9B22BE06811840A13B8778E93A5EB1" ma:contentTypeVersion="6" ma:contentTypeDescription="Create a new document." ma:contentTypeScope="" ma:versionID="e6bb28ec8651c068d8d863d80df6bcd3">
  <xsd:schema xmlns:xsd="http://www.w3.org/2001/XMLSchema" xmlns:xs="http://www.w3.org/2001/XMLSchema" xmlns:p="http://schemas.microsoft.com/office/2006/metadata/properties" xmlns:ns2="60abb974-290a-4d2d-a7d7-9131eff0095d" xmlns:ns3="5f71fc39-fc89-4395-9438-cea9f45828f0" targetNamespace="http://schemas.microsoft.com/office/2006/metadata/properties" ma:root="true" ma:fieldsID="8a2dda2680ab78bb2d82e23db40a902c" ns2:_="" ns3:_="">
    <xsd:import namespace="60abb974-290a-4d2d-a7d7-9131eff0095d"/>
    <xsd:import namespace="5f71fc39-fc89-4395-9438-cea9f45828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abb974-290a-4d2d-a7d7-9131eff009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71fc39-fc89-4395-9438-cea9f45828f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C0B813-B48B-41B5-BE72-CC76D4D292FA}">
  <ds:schemaRefs>
    <ds:schemaRef ds:uri="5f71fc39-fc89-4395-9438-cea9f45828f0"/>
    <ds:schemaRef ds:uri="60abb974-290a-4d2d-a7d7-9131eff009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5586B7F-1F04-4CB1-ADB6-84562D97203E}">
  <ds:schemaRefs>
    <ds:schemaRef ds:uri="5f71fc39-fc89-4395-9438-cea9f45828f0"/>
    <ds:schemaRef ds:uri="60abb974-290a-4d2d-a7d7-9131eff009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D397B7F-F298-466F-9FFE-9E81B6E444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2970</TotalTime>
  <Words>263</Words>
  <Application>Microsoft Office PowerPoint</Application>
  <PresentationFormat>Widescreen</PresentationFormat>
  <Paragraphs>76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Arial,Sans-Serif</vt:lpstr>
      <vt:lpstr>Calibri</vt:lpstr>
      <vt:lpstr>Calibri Light</vt:lpstr>
      <vt:lpstr>Office Theme</vt:lpstr>
      <vt:lpstr>think-cell Slide</vt:lpstr>
      <vt:lpstr>PROJECT WEEKLY STATUS: IPG MARCH 31, 2023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jsomaiyya@deloitte.com</dc:creator>
  <cp:lastModifiedBy>Geoff Lyle</cp:lastModifiedBy>
  <cp:revision>6</cp:revision>
  <dcterms:created xsi:type="dcterms:W3CDTF">2023-03-07T14:03:00Z</dcterms:created>
  <dcterms:modified xsi:type="dcterms:W3CDTF">2023-04-06T17:19:17Z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2023-03-07T14:03:00Z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9cac7322-65e2-45c4-b567-6e48e752951e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0x010100789B22BE06811840A13B8778E93A5EB1</vt:lpwstr>
  </property>
</Properties>
</file>