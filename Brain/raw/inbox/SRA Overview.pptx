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68" r:id="rId4"/>
  </p:sldMasterIdLst>
  <p:notesMasterIdLst>
    <p:notesMasterId r:id="rId13"/>
  </p:notesMasterIdLst>
  <p:sldIdLst>
    <p:sldId id="307" r:id="rId5"/>
    <p:sldId id="305" r:id="rId6"/>
    <p:sldId id="293" r:id="rId7"/>
    <p:sldId id="306" r:id="rId8"/>
    <p:sldId id="308" r:id="rId9"/>
    <p:sldId id="309" r:id="rId10"/>
    <p:sldId id="310" r:id="rId11"/>
    <p:sldId id="299" r:id="rId1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Tahoma" panose="020B0604030504040204" pitchFamily="34" charset="0"/>
      <p:regular r:id="rId18"/>
      <p:bold r:id="rId19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7DD"/>
    <a:srgbClr val="FFC5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4276" autoAdjust="0"/>
  </p:normalViewPr>
  <p:slideViewPr>
    <p:cSldViewPr snapToGrid="0">
      <p:cViewPr varScale="1">
        <p:scale>
          <a:sx n="57" d="100"/>
          <a:sy n="57" d="100"/>
        </p:scale>
        <p:origin x="147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athans\AppData\Local\Microsoft\Windows\Temporary%20Internet%20Files\Content.Outlook\01P0ZZRA\shrink%20v%20sra%20(2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740621893383"/>
          <c:y val="8.9209313018046202E-2"/>
          <c:w val="0.85077325463115905"/>
          <c:h val="0.69826945427144704"/>
        </c:manualLayout>
      </c:layout>
      <c:lineChart>
        <c:grouping val="standard"/>
        <c:varyColors val="0"/>
        <c:ser>
          <c:idx val="0"/>
          <c:order val="0"/>
          <c:tx>
            <c:strRef>
              <c:f>Sheet3!$F$3</c:f>
              <c:strCache>
                <c:ptCount val="1"/>
                <c:pt idx="0">
                  <c:v>SRA Rate %</c:v>
                </c:pt>
              </c:strCache>
            </c:strRef>
          </c:tx>
          <c:cat>
            <c:strRef>
              <c:f>Sheet3!$E$4:$E$23</c:f>
              <c:strCache>
                <c:ptCount val="20"/>
                <c:pt idx="0">
                  <c:v>0 - .49%</c:v>
                </c:pt>
                <c:pt idx="1">
                  <c:v>.50% - .99%</c:v>
                </c:pt>
                <c:pt idx="2">
                  <c:v>1.00% - 1.49%</c:v>
                </c:pt>
                <c:pt idx="3">
                  <c:v>1.50% - 1.99%</c:v>
                </c:pt>
                <c:pt idx="4">
                  <c:v>2.00% - 2.49%</c:v>
                </c:pt>
                <c:pt idx="5">
                  <c:v>2.50% - 2.99%</c:v>
                </c:pt>
                <c:pt idx="6">
                  <c:v>3.00% - 3.49%</c:v>
                </c:pt>
                <c:pt idx="7">
                  <c:v>3.50% - 3.99%</c:v>
                </c:pt>
                <c:pt idx="8">
                  <c:v>4.00% - 4.49%</c:v>
                </c:pt>
                <c:pt idx="9">
                  <c:v>4.50% - 4.99%</c:v>
                </c:pt>
                <c:pt idx="10">
                  <c:v>5.00% - 5.49%</c:v>
                </c:pt>
                <c:pt idx="11">
                  <c:v>5.50% - 5.99%</c:v>
                </c:pt>
                <c:pt idx="12">
                  <c:v>6.00% - 6.49%</c:v>
                </c:pt>
                <c:pt idx="13">
                  <c:v>6.50% - 6.99%</c:v>
                </c:pt>
                <c:pt idx="14">
                  <c:v>7.00% - 7.49%</c:v>
                </c:pt>
                <c:pt idx="15">
                  <c:v>7.50% - 7.99%</c:v>
                </c:pt>
                <c:pt idx="16">
                  <c:v>8.00% - 8.49%</c:v>
                </c:pt>
                <c:pt idx="17">
                  <c:v>8.50% - 8.99%</c:v>
                </c:pt>
                <c:pt idx="18">
                  <c:v>9.00% - 9.49%</c:v>
                </c:pt>
                <c:pt idx="19">
                  <c:v>9.50% - 10.00%</c:v>
                </c:pt>
              </c:strCache>
            </c:strRef>
          </c:cat>
          <c:val>
            <c:numRef>
              <c:f>Sheet3!$F$4:$F$23</c:f>
              <c:numCache>
                <c:formatCode>0.00%</c:formatCode>
                <c:ptCount val="20"/>
                <c:pt idx="0">
                  <c:v>2.5000000000000001E-2</c:v>
                </c:pt>
                <c:pt idx="1">
                  <c:v>2.8000000000000001E-2</c:v>
                </c:pt>
                <c:pt idx="2">
                  <c:v>0.03</c:v>
                </c:pt>
                <c:pt idx="3">
                  <c:v>3.5000000000000003E-2</c:v>
                </c:pt>
                <c:pt idx="4">
                  <c:v>0.04</c:v>
                </c:pt>
                <c:pt idx="5">
                  <c:v>4.9000000000000002E-2</c:v>
                </c:pt>
                <c:pt idx="6">
                  <c:v>0.05</c:v>
                </c:pt>
                <c:pt idx="7">
                  <c:v>5.0999999999999997E-2</c:v>
                </c:pt>
                <c:pt idx="8">
                  <c:v>5.1999999999999998E-2</c:v>
                </c:pt>
                <c:pt idx="9">
                  <c:v>7.0000000000000007E-2</c:v>
                </c:pt>
                <c:pt idx="10">
                  <c:v>0.13</c:v>
                </c:pt>
                <c:pt idx="11">
                  <c:v>0.14000000000000001</c:v>
                </c:pt>
                <c:pt idx="12">
                  <c:v>0.17</c:v>
                </c:pt>
                <c:pt idx="13">
                  <c:v>0.18</c:v>
                </c:pt>
                <c:pt idx="14">
                  <c:v>0.17</c:v>
                </c:pt>
                <c:pt idx="15">
                  <c:v>0.16</c:v>
                </c:pt>
                <c:pt idx="16">
                  <c:v>0.16500000000000001</c:v>
                </c:pt>
                <c:pt idx="17">
                  <c:v>0.17</c:v>
                </c:pt>
                <c:pt idx="18">
                  <c:v>0.2</c:v>
                </c:pt>
                <c:pt idx="19">
                  <c:v>0.21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52-4F02-ADDE-8AF34807D8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1017336"/>
        <c:axId val="236253904"/>
      </c:lineChart>
      <c:catAx>
        <c:axId val="171017336"/>
        <c:scaling>
          <c:orientation val="minMax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Shrink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236253904"/>
        <c:crosses val="autoZero"/>
        <c:auto val="1"/>
        <c:lblAlgn val="ctr"/>
        <c:lblOffset val="100"/>
        <c:noMultiLvlLbl val="0"/>
      </c:catAx>
      <c:valAx>
        <c:axId val="236253904"/>
        <c:scaling>
          <c:orientation val="minMax"/>
        </c:scaling>
        <c:delete val="1"/>
        <c:axPos val="l"/>
        <c:majorGridlines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SRA as</a:t>
                </a:r>
                <a:r>
                  <a:rPr lang="en-US" baseline="0"/>
                  <a:t> %</a:t>
                </a:r>
              </a:p>
              <a:p>
                <a:pPr>
                  <a:defRPr/>
                </a:pPr>
                <a:r>
                  <a:rPr lang="en-US" baseline="0"/>
                  <a:t>os Sales</a:t>
                </a:r>
                <a:endParaRPr lang="en-US"/>
              </a:p>
            </c:rich>
          </c:tx>
          <c:overlay val="0"/>
        </c:title>
        <c:numFmt formatCode="0.00%" sourceLinked="1"/>
        <c:majorTickMark val="out"/>
        <c:minorTickMark val="none"/>
        <c:tickLblPos val="nextTo"/>
        <c:crossAx val="17101733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0D198EB-37B2-4D21-8913-8353A5640395}" type="datetimeFigureOut">
              <a:rPr lang="en-US"/>
              <a:pPr>
                <a:defRPr/>
              </a:pPr>
              <a:t>3/14/2017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F51D8F8-14A6-4156-912E-8F762CB1357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55702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GB" dirty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D396786-53CA-45EA-A1E1-5F5164EA9D91}" type="slidenum">
              <a:rPr lang="en-GB" smtClean="0"/>
              <a:pPr eaLnBrk="1" hangingPunct="1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287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457200" y="2633197"/>
            <a:ext cx="8229600" cy="1591607"/>
          </a:xfrm>
        </p:spPr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GB" sz="5400" b="1" dirty="0">
                <a:latin typeface="+mj-lt"/>
              </a:rPr>
              <a:t>Title (Bold Font)</a:t>
            </a:r>
            <a:br>
              <a:rPr lang="en-GB" sz="5400" b="1" dirty="0">
                <a:latin typeface="+mj-lt"/>
              </a:rPr>
            </a:br>
            <a:r>
              <a:rPr lang="en-GB" sz="5400" dirty="0">
                <a:latin typeface="+mj-lt"/>
              </a:rPr>
              <a:t>Subtitle </a:t>
            </a:r>
          </a:p>
        </p:txBody>
      </p:sp>
      <p:pic>
        <p:nvPicPr>
          <p:cNvPr id="6" name="Picture 8" descr="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1462" y="0"/>
            <a:ext cx="2302538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s - no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28625" y="1857375"/>
            <a:ext cx="8286779" cy="4214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no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4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s with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ys-corner-RGB-PNG.pn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4109"/>
            <a:ext cx="9144000" cy="6723915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28625" y="1857375"/>
            <a:ext cx="8286779" cy="4214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no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s-corner-RGB-PNG.pn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4109"/>
            <a:ext cx="9144000" cy="67239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s-corner-RGB-PNG.pn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4109"/>
            <a:ext cx="9144000" cy="6723915"/>
          </a:xfrm>
          <a:prstGeom prst="rect">
            <a:avLst/>
          </a:prstGeom>
        </p:spPr>
      </p:pic>
      <p:pic>
        <p:nvPicPr>
          <p:cNvPr id="3" name="Picture 8" descr="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1033" y="2470419"/>
            <a:ext cx="7021935" cy="191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76900" y="71438"/>
            <a:ext cx="3395663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 descr="Sys-corner-RGB-PNG.png"/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4109"/>
            <a:ext cx="9144000" cy="672391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457200" y="2633197"/>
            <a:ext cx="8229600" cy="1591607"/>
          </a:xfrm>
        </p:spPr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GB" sz="5400" b="1" dirty="0">
                <a:latin typeface="+mj-lt"/>
              </a:rPr>
              <a:t>Title (Bold Font)</a:t>
            </a:r>
            <a:br>
              <a:rPr lang="en-GB" sz="5400" b="1" dirty="0">
                <a:latin typeface="+mj-lt"/>
              </a:rPr>
            </a:br>
            <a:r>
              <a:rPr lang="en-GB" sz="5400" dirty="0">
                <a:latin typeface="+mj-lt"/>
              </a:rPr>
              <a:t>Subtitle </a:t>
            </a: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s - no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28625" y="1857375"/>
            <a:ext cx="8286779" cy="42148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no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4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s with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ys-corner-RGB-PNG.png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4109"/>
            <a:ext cx="9144000" cy="6723915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28625" y="1857375"/>
            <a:ext cx="8286779" cy="42148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- no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with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s-corner-RGB-PNG.png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4109"/>
            <a:ext cx="9144000" cy="67239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s-corner-RGB-PNG.png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4109"/>
            <a:ext cx="9144000" cy="6723915"/>
          </a:xfrm>
          <a:prstGeom prst="rect">
            <a:avLst/>
          </a:prstGeom>
        </p:spPr>
      </p:pic>
      <p:pic>
        <p:nvPicPr>
          <p:cNvPr id="3" name="Picture 8" descr="Logo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1033" y="2470419"/>
            <a:ext cx="7021935" cy="191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bullets with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ys-corner-RGB-PNG.png"/>
          <p:cNvPicPr>
            <a:picLocks noChangeAspect="1"/>
          </p:cNvPicPr>
          <p:nvPr userDrawn="1"/>
        </p:nvPicPr>
        <p:blipFill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4109"/>
            <a:ext cx="9144000" cy="6723915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28625" y="1857375"/>
            <a:ext cx="8286779" cy="42148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3477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ys-corner-RGB-PNG.png"/>
          <p:cNvPicPr>
            <a:picLocks noChangeAspect="1"/>
          </p:cNvPicPr>
          <p:nvPr userDrawn="1"/>
        </p:nvPicPr>
        <p:blipFill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alphaModFix/>
          </a:blip>
          <a:stretch>
            <a:fillRect/>
          </a:stretch>
        </p:blipFill>
        <p:spPr>
          <a:xfrm>
            <a:off x="0" y="134111"/>
            <a:ext cx="9144000" cy="6723915"/>
          </a:xfrm>
          <a:prstGeom prst="rect">
            <a:avLst/>
          </a:prstGeom>
        </p:spPr>
      </p:pic>
      <p:pic>
        <p:nvPicPr>
          <p:cNvPr id="7" name="Picture 2" descr="sys.secure-RGB-PNG.png"/>
          <p:cNvPicPr>
            <a:picLocks noChangeAspect="1"/>
          </p:cNvPicPr>
          <p:nvPr userDrawn="1"/>
        </p:nvPicPr>
        <p:blipFill>
          <a:blip r:embed="rId3" cstate="print"/>
          <a:srcRect b="10948"/>
          <a:stretch>
            <a:fillRect/>
          </a:stretch>
        </p:blipFill>
        <p:spPr bwMode="auto">
          <a:xfrm>
            <a:off x="76201" y="76200"/>
            <a:ext cx="2025650" cy="586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reflection blurRad="6350" stA="52000" endA="300" endPos="35000" dir="5400000" sy="-100000" algn="bl" rotWithShape="0"/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DD45-ECF4-B745-B0BA-50DB8159BD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52400" y="1951039"/>
            <a:ext cx="85344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52400" y="762000"/>
            <a:ext cx="85344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2418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CECEB17-E56B-4A60-BA2D-CBA50DE03793}" type="datetimeFigureOut">
              <a:rPr lang="en-US" smtClean="0"/>
              <a:pPr>
                <a:defRPr/>
              </a:pPr>
              <a:t>3/14/2017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C3167E8-8F44-497E-BAD4-5C885621B7EA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40" r:id="rId8"/>
    <p:sldLayoutId id="2147483739" r:id="rId9"/>
    <p:sldLayoutId id="2147483741" r:id="rId10"/>
    <p:sldLayoutId id="2147483746" r:id="rId11"/>
    <p:sldLayoutId id="2147483742" r:id="rId12"/>
    <p:sldLayoutId id="2147483743" r:id="rId13"/>
    <p:sldLayoutId id="2147483745" r:id="rId14"/>
    <p:sldLayoutId id="2147483776" r:id="rId15"/>
    <p:sldLayoutId id="2147483777" r:id="rId16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 b="1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 b="1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 b="1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 b="1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00150" y="1657350"/>
            <a:ext cx="6743700" cy="37147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600" dirty="0"/>
              <a:t>SRA Scorecard</a:t>
            </a:r>
          </a:p>
          <a:p>
            <a:pPr marL="0" indent="0" algn="ctr">
              <a:buNone/>
            </a:pPr>
            <a:r>
              <a:rPr lang="en-US" sz="3600" dirty="0"/>
              <a:t>Definition of Terms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DD45-ECF4-B745-B0BA-50DB8159BD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85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88"/>
            <a:ext cx="9144000" cy="1143000"/>
          </a:xfrm>
        </p:spPr>
        <p:txBody>
          <a:bodyPr/>
          <a:lstStyle/>
          <a:p>
            <a:r>
              <a:rPr lang="en-US" sz="3200" dirty="0"/>
              <a:t>Sales Reducing Activities (SRA’s)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7504" y="908720"/>
            <a:ext cx="8856983" cy="5328591"/>
          </a:xfrm>
        </p:spPr>
        <p:txBody>
          <a:bodyPr/>
          <a:lstStyle/>
          <a:p>
            <a:r>
              <a:rPr lang="en-US" sz="1400" b="1" dirty="0"/>
              <a:t>SRA’s POS activities that either decrement the gross sales,  margin or alter tax rates. Industry experience has proven that SRA rates have a relationship with shrink and company profitability</a:t>
            </a: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endParaRPr lang="en-US" sz="1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0070C0"/>
              </a:solidFill>
            </a:endParaRPr>
          </a:p>
          <a:p>
            <a:r>
              <a:rPr lang="en-US" sz="1400" b="1" dirty="0"/>
              <a:t>SRA’s which impact Sales</a:t>
            </a:r>
          </a:p>
          <a:p>
            <a:pPr lvl="1"/>
            <a:r>
              <a:rPr lang="en-US" sz="1400" dirty="0"/>
              <a:t>Item Voids – Removing items from the transaction prior to tendering</a:t>
            </a:r>
          </a:p>
          <a:p>
            <a:pPr lvl="1"/>
            <a:r>
              <a:rPr lang="en-US" sz="1400" dirty="0"/>
              <a:t>Transaction Cancels – Cancelling the entire transaction prior to tendering</a:t>
            </a:r>
          </a:p>
          <a:p>
            <a:pPr lvl="1"/>
            <a:r>
              <a:rPr lang="en-US" sz="1400" dirty="0"/>
              <a:t>Post Voids – Cancelling a transaction after it has completed</a:t>
            </a:r>
          </a:p>
          <a:p>
            <a:pPr lvl="1"/>
            <a:r>
              <a:rPr lang="en-US" sz="1400" dirty="0"/>
              <a:t>Refunds – Taking a product back from a customer and issuing them with a payment</a:t>
            </a:r>
          </a:p>
          <a:p>
            <a:pPr marL="457200" lvl="1" indent="0">
              <a:buNone/>
            </a:pPr>
            <a:endParaRPr lang="en-US" sz="1400" dirty="0"/>
          </a:p>
          <a:p>
            <a:r>
              <a:rPr lang="en-US" sz="1400" b="1" dirty="0"/>
              <a:t>SRA’s which impact Margin</a:t>
            </a:r>
          </a:p>
          <a:p>
            <a:pPr lvl="1"/>
            <a:r>
              <a:rPr lang="en-US" sz="1400" dirty="0"/>
              <a:t>Price Modifies – A manual change in the price of an item in either a sale or a refund</a:t>
            </a:r>
          </a:p>
          <a:p>
            <a:pPr lvl="1"/>
            <a:r>
              <a:rPr lang="en-US" sz="1400" dirty="0"/>
              <a:t>Price Discounts – A manual reduction in the price of an item for a specific reason</a:t>
            </a:r>
          </a:p>
          <a:p>
            <a:pPr lvl="1"/>
            <a:r>
              <a:rPr lang="en-US" sz="1400" dirty="0"/>
              <a:t>Coupons – A reduction in the price of an item or a transaction via a coupon</a:t>
            </a:r>
          </a:p>
          <a:p>
            <a:pPr lvl="1"/>
            <a:endParaRPr lang="en-US" sz="1400" dirty="0"/>
          </a:p>
          <a:p>
            <a:r>
              <a:rPr lang="en-US" sz="1400" b="1" dirty="0"/>
              <a:t>SRA’s which impact Tax Rates</a:t>
            </a:r>
          </a:p>
          <a:p>
            <a:pPr lvl="1"/>
            <a:r>
              <a:rPr lang="en-US" sz="1400" dirty="0"/>
              <a:t>Tax Modify – Changing the tax rate on a sale or refund transaction prior to tendering</a:t>
            </a:r>
          </a:p>
          <a:p>
            <a:pPr lvl="1"/>
            <a:endParaRPr lang="en-US" sz="14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0070C0"/>
              </a:solidFill>
            </a:endParaRPr>
          </a:p>
          <a:p>
            <a:endParaRPr lang="en-US" sz="1400" dirty="0">
              <a:solidFill>
                <a:srgbClr val="0070C0"/>
              </a:solidFill>
            </a:endParaRPr>
          </a:p>
          <a:p>
            <a:pPr lvl="1"/>
            <a:endParaRPr lang="en-US" sz="140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endParaRPr lang="en-US" sz="1400" dirty="0">
              <a:solidFill>
                <a:srgbClr val="0070C0"/>
              </a:solidFill>
            </a:endParaRPr>
          </a:p>
          <a:p>
            <a:endParaRPr lang="en-US" sz="1400" dirty="0">
              <a:solidFill>
                <a:srgbClr val="0070C0"/>
              </a:solidFill>
            </a:endParaRPr>
          </a:p>
          <a:p>
            <a:endParaRPr lang="en-US" sz="1400" dirty="0">
              <a:solidFill>
                <a:srgbClr val="0070C0"/>
              </a:solidFill>
            </a:endParaRPr>
          </a:p>
          <a:p>
            <a:endParaRPr lang="en-US" sz="1400" dirty="0">
              <a:solidFill>
                <a:srgbClr val="0070C0"/>
              </a:solidFill>
            </a:endParaRPr>
          </a:p>
          <a:p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5" name="Footer Placeholder 5"/>
          <p:cNvSpPr txBox="1">
            <a:spLocks/>
          </p:cNvSpPr>
          <p:nvPr/>
        </p:nvSpPr>
        <p:spPr>
          <a:xfrm>
            <a:off x="-44152" y="6664275"/>
            <a:ext cx="584028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DO NOT DISTRIBUTE – CONFIDENTIAL INFORMATION </a:t>
            </a:r>
          </a:p>
        </p:txBody>
      </p:sp>
      <p:sp>
        <p:nvSpPr>
          <p:cNvPr id="6" name="Slide Number Placeholder 6"/>
          <p:cNvSpPr txBox="1">
            <a:spLocks/>
          </p:cNvSpPr>
          <p:nvPr/>
        </p:nvSpPr>
        <p:spPr>
          <a:xfrm>
            <a:off x="7092280" y="666427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543DD45-ECF4-B745-B0BA-50DB8159BDF4}" type="slidenum">
              <a:rPr lang="en-US" sz="1100" smtClean="0"/>
              <a:pPr algn="r"/>
              <a:t>2</a:t>
            </a:fld>
            <a:endParaRPr lang="en-US" sz="1100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/>
          </p:nvPr>
        </p:nvGraphicFramePr>
        <p:xfrm>
          <a:off x="1563500" y="1556792"/>
          <a:ext cx="5544616" cy="1709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3224719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 bwMode="auto">
          <a:xfrm>
            <a:off x="0" y="0"/>
            <a:ext cx="7944465" cy="1356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pl-PL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Scorecard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Top Level View</a:t>
            </a:r>
          </a:p>
          <a:p>
            <a:pPr algn="l"/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Configured according to the location hierarchy this top level view is the entry point to the scorecards.</a:t>
            </a:r>
            <a:endParaRPr lang="en-GB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428625" y="1857375"/>
            <a:ext cx="8286779" cy="421483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2" y="1533887"/>
            <a:ext cx="8534246" cy="515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541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 bwMode="auto">
          <a:xfrm>
            <a:off x="0" y="0"/>
            <a:ext cx="4309353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pl-PL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Scorecard</a:t>
            </a:r>
            <a: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SRA Detail</a:t>
            </a: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428625" y="1857375"/>
            <a:ext cx="8286779" cy="421483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77" y="1238865"/>
            <a:ext cx="8035874" cy="549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1988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00150" y="1657350"/>
            <a:ext cx="6743700" cy="371475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Definition of terms</a:t>
            </a:r>
          </a:p>
          <a:p>
            <a:pPr lvl="1"/>
            <a:r>
              <a:rPr lang="en-US" dirty="0"/>
              <a:t>Sales (net) = gross sales </a:t>
            </a:r>
            <a:r>
              <a:rPr lang="en-US" i="1" dirty="0"/>
              <a:t>less</a:t>
            </a:r>
            <a:r>
              <a:rPr lang="en-US" dirty="0"/>
              <a:t> tax </a:t>
            </a:r>
            <a:r>
              <a:rPr lang="en-US" i="1" dirty="0"/>
              <a:t>less </a:t>
            </a:r>
            <a:r>
              <a:rPr lang="en-US" dirty="0"/>
              <a:t>SRA values (variant)</a:t>
            </a:r>
          </a:p>
          <a:p>
            <a:pPr lvl="1"/>
            <a:r>
              <a:rPr lang="en-US" dirty="0"/>
              <a:t>SCA = sales capture activities</a:t>
            </a:r>
          </a:p>
          <a:p>
            <a:pPr lvl="2"/>
            <a:r>
              <a:rPr lang="en-US" dirty="0"/>
              <a:t>Sales related data – revenue / customers / items</a:t>
            </a:r>
          </a:p>
          <a:p>
            <a:pPr lvl="3"/>
            <a:r>
              <a:rPr lang="en-US" dirty="0"/>
              <a:t>Suspend / recall / scan% / keyed % / transactions / time metrics</a:t>
            </a:r>
          </a:p>
          <a:p>
            <a:pPr lvl="1"/>
            <a:r>
              <a:rPr lang="en-US" dirty="0"/>
              <a:t>SRA = sales reducing activities</a:t>
            </a:r>
          </a:p>
          <a:p>
            <a:pPr lvl="2"/>
            <a:r>
              <a:rPr lang="en-US" dirty="0"/>
              <a:t>8 unique events</a:t>
            </a:r>
          </a:p>
          <a:p>
            <a:pPr lvl="3"/>
            <a:r>
              <a:rPr lang="en-US" dirty="0"/>
              <a:t>Stock Ledger impacting – Voids, Transaction Cancel, Post Void, Refund</a:t>
            </a:r>
          </a:p>
          <a:p>
            <a:pPr lvl="3"/>
            <a:r>
              <a:rPr lang="en-US" dirty="0"/>
              <a:t>Margin impacting – Price Modify, Discounts, Coupons</a:t>
            </a:r>
          </a:p>
          <a:p>
            <a:pPr lvl="3"/>
            <a:r>
              <a:rPr lang="en-US" dirty="0"/>
              <a:t>Tax Modify / Exempt </a:t>
            </a:r>
          </a:p>
          <a:p>
            <a:pPr lvl="1"/>
            <a:r>
              <a:rPr lang="en-US" dirty="0"/>
              <a:t>TES = transaction event sequence</a:t>
            </a:r>
          </a:p>
          <a:p>
            <a:pPr lvl="2"/>
            <a:r>
              <a:rPr lang="en-US" dirty="0"/>
              <a:t>The process/actions to execute a function be it scanning an item, applying a coupon, totaling the order, processing the tender,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DD45-ECF4-B745-B0BA-50DB8159BD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99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00150" y="1657350"/>
            <a:ext cx="6743700" cy="39671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Definition of terms</a:t>
            </a:r>
          </a:p>
          <a:p>
            <a:pPr lvl="1"/>
            <a:r>
              <a:rPr lang="en-US" dirty="0"/>
              <a:t>EOD = end of day</a:t>
            </a:r>
          </a:p>
          <a:p>
            <a:pPr lvl="2"/>
            <a:r>
              <a:rPr lang="en-US" dirty="0"/>
              <a:t>Report that finalizes sales for the day – creates file(s) that are sent to finance and other designated departments</a:t>
            </a:r>
          </a:p>
          <a:p>
            <a:pPr lvl="1"/>
            <a:r>
              <a:rPr lang="en-US" dirty="0"/>
              <a:t>EOW = end of week </a:t>
            </a:r>
          </a:p>
          <a:p>
            <a:pPr lvl="2"/>
            <a:r>
              <a:rPr lang="en-US" dirty="0"/>
              <a:t>Report that finalizes sales for the week</a:t>
            </a:r>
          </a:p>
          <a:p>
            <a:pPr lvl="1"/>
            <a:r>
              <a:rPr lang="en-US" dirty="0"/>
              <a:t>VPC = value per customer</a:t>
            </a:r>
          </a:p>
          <a:p>
            <a:pPr lvl="2"/>
            <a:r>
              <a:rPr lang="en-US" dirty="0"/>
              <a:t>Sales (net) / customer count</a:t>
            </a:r>
          </a:p>
          <a:p>
            <a:pPr lvl="1"/>
            <a:r>
              <a:rPr lang="en-US" dirty="0"/>
              <a:t>VPI = value per item</a:t>
            </a:r>
          </a:p>
          <a:p>
            <a:pPr lvl="2"/>
            <a:r>
              <a:rPr lang="en-US" dirty="0"/>
              <a:t>Sales (net) / item count</a:t>
            </a:r>
          </a:p>
          <a:p>
            <a:pPr lvl="1"/>
            <a:r>
              <a:rPr lang="en-US" dirty="0"/>
              <a:t>IPC = items per customer</a:t>
            </a:r>
          </a:p>
          <a:p>
            <a:pPr lvl="2"/>
            <a:r>
              <a:rPr lang="en-US" dirty="0"/>
              <a:t>Item count / customer count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DD45-ECF4-B745-B0BA-50DB8159BD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253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00150" y="1657350"/>
            <a:ext cx="6743700" cy="37147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Definition of terms</a:t>
            </a:r>
          </a:p>
          <a:p>
            <a:pPr lvl="1"/>
            <a:r>
              <a:rPr lang="en-US" dirty="0"/>
              <a:t>SRA VPC</a:t>
            </a:r>
          </a:p>
          <a:p>
            <a:pPr lvl="2"/>
            <a:r>
              <a:rPr lang="en-US" dirty="0"/>
              <a:t>Value per customer of the SRA event</a:t>
            </a:r>
          </a:p>
          <a:p>
            <a:pPr lvl="1"/>
            <a:r>
              <a:rPr lang="en-US" dirty="0"/>
              <a:t>SRA VPI</a:t>
            </a:r>
          </a:p>
          <a:p>
            <a:pPr lvl="2"/>
            <a:r>
              <a:rPr lang="en-US" dirty="0"/>
              <a:t>Value per item of the SRA event</a:t>
            </a:r>
          </a:p>
          <a:p>
            <a:pPr lvl="1"/>
            <a:r>
              <a:rPr lang="en-US" dirty="0"/>
              <a:t>SRA IPC</a:t>
            </a:r>
          </a:p>
          <a:p>
            <a:pPr lvl="2"/>
            <a:r>
              <a:rPr lang="en-US" dirty="0"/>
              <a:t>SRA Items per customer </a:t>
            </a:r>
          </a:p>
          <a:p>
            <a:pPr lvl="1"/>
            <a:r>
              <a:rPr lang="en-US" dirty="0"/>
              <a:t>PTS = percent to sales </a:t>
            </a:r>
          </a:p>
          <a:p>
            <a:pPr lvl="2"/>
            <a:r>
              <a:rPr lang="en-US" dirty="0"/>
              <a:t>Example Shrink dollars / sales (net)</a:t>
            </a:r>
          </a:p>
          <a:p>
            <a:pPr lvl="1"/>
            <a:r>
              <a:rPr lang="en-US" dirty="0"/>
              <a:t>CR = customer ratio (frequency – tier 1)</a:t>
            </a:r>
          </a:p>
          <a:p>
            <a:pPr lvl="2"/>
            <a:r>
              <a:rPr lang="en-US" dirty="0"/>
              <a:t>Lower number = WORSE</a:t>
            </a:r>
          </a:p>
          <a:p>
            <a:pPr lvl="1"/>
            <a:r>
              <a:rPr lang="en-US" dirty="0"/>
              <a:t>IR – item ratio (frequency – tier 2 optional)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DD45-ECF4-B745-B0BA-50DB8159BD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929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 bwMode="auto">
          <a:xfrm>
            <a:off x="262661" y="207687"/>
            <a:ext cx="4309353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pl-PL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Scorecards</a:t>
            </a:r>
            <a:endParaRPr lang="en-GB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428625" y="1857375"/>
            <a:ext cx="8286779" cy="421483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100" dirty="0"/>
          </a:p>
        </p:txBody>
      </p:sp>
      <p:grpSp>
        <p:nvGrpSpPr>
          <p:cNvPr id="33" name="Canvas 136"/>
          <p:cNvGrpSpPr/>
          <p:nvPr/>
        </p:nvGrpSpPr>
        <p:grpSpPr>
          <a:xfrm>
            <a:off x="977900" y="1172452"/>
            <a:ext cx="7493000" cy="5291847"/>
            <a:chOff x="0" y="0"/>
            <a:chExt cx="6400800" cy="6687820"/>
          </a:xfrm>
        </p:grpSpPr>
        <p:sp>
          <p:nvSpPr>
            <p:cNvPr id="34" name="Rectangle 33"/>
            <p:cNvSpPr/>
            <p:nvPr/>
          </p:nvSpPr>
          <p:spPr>
            <a:xfrm>
              <a:off x="0" y="0"/>
              <a:ext cx="6400800" cy="668782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sp>
        <p:sp>
          <p:nvSpPr>
            <p:cNvPr id="35" name="Rectangle 34"/>
            <p:cNvSpPr/>
            <p:nvPr/>
          </p:nvSpPr>
          <p:spPr>
            <a:xfrm>
              <a:off x="127571" y="36002"/>
              <a:ext cx="6273229" cy="6549657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100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48087" y="216022"/>
              <a:ext cx="1971675" cy="37973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GB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Location Level N</a:t>
              </a:r>
              <a:endParaRPr lang="en-GB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2508517" y="237289"/>
              <a:ext cx="2248535" cy="379095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GB" sz="1100">
                  <a:effectLst/>
                  <a:latin typeface="Tahoma" panose="020B0604030504040204" pitchFamily="34" charset="0"/>
                  <a:ea typeface="Calibri" panose="020F0502020204030204" pitchFamily="34" charset="0"/>
                </a:rPr>
                <a:t>Location Level N SRA</a:t>
              </a:r>
              <a:endParaRPr lang="en-GB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12327" y="995479"/>
              <a:ext cx="2248535" cy="37592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GB" sz="1100">
                  <a:effectLst/>
                  <a:latin typeface="Tahoma" panose="020B0604030504040204" pitchFamily="34" charset="0"/>
                  <a:ea typeface="Calibri" panose="020F0502020204030204" pitchFamily="34" charset="0"/>
                </a:rPr>
                <a:t>Location Level N SRA Details</a:t>
              </a:r>
              <a:endParaRPr lang="en-GB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9" name="Down Arrow 38"/>
            <p:cNvSpPr/>
            <p:nvPr/>
          </p:nvSpPr>
          <p:spPr>
            <a:xfrm>
              <a:off x="3430537" y="663374"/>
              <a:ext cx="276225" cy="313055"/>
            </a:xfrm>
            <a:prstGeom prst="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100"/>
            </a:p>
          </p:txBody>
        </p:sp>
        <p:sp>
          <p:nvSpPr>
            <p:cNvPr id="40" name="Right Arrow 39"/>
            <p:cNvSpPr/>
            <p:nvPr/>
          </p:nvSpPr>
          <p:spPr>
            <a:xfrm>
              <a:off x="2168273" y="251204"/>
              <a:ext cx="257175" cy="332105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100"/>
            </a:p>
          </p:txBody>
        </p:sp>
        <p:sp>
          <p:nvSpPr>
            <p:cNvPr id="41" name="Down Arrow 40"/>
            <p:cNvSpPr/>
            <p:nvPr/>
          </p:nvSpPr>
          <p:spPr>
            <a:xfrm>
              <a:off x="998707" y="673114"/>
              <a:ext cx="276225" cy="893978"/>
            </a:xfrm>
            <a:prstGeom prst="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100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148101" y="1651398"/>
              <a:ext cx="1971675" cy="379095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GB" sz="1100">
                  <a:effectLst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Store Year</a:t>
              </a:r>
              <a:endParaRPr lang="en-GB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3" name="Right Arrow 42"/>
            <p:cNvSpPr/>
            <p:nvPr/>
          </p:nvSpPr>
          <p:spPr>
            <a:xfrm>
              <a:off x="2178922" y="1672470"/>
              <a:ext cx="257175" cy="331470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100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2504707" y="1651205"/>
              <a:ext cx="2248535" cy="37846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GB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Store Year</a:t>
              </a:r>
              <a:r>
                <a:rPr lang="en-GB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</a:rPr>
                <a:t> SRA</a:t>
              </a:r>
              <a:endParaRPr lang="en-GB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2508517" y="2409395"/>
              <a:ext cx="2248535" cy="375285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GB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Store Year </a:t>
              </a:r>
              <a:r>
                <a:rPr lang="en-GB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</a:rPr>
                <a:t>SRA Details</a:t>
              </a:r>
              <a:endParaRPr lang="en-GB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6" name="Down Arrow 45"/>
            <p:cNvSpPr/>
            <p:nvPr/>
          </p:nvSpPr>
          <p:spPr>
            <a:xfrm>
              <a:off x="3426727" y="2077290"/>
              <a:ext cx="276225" cy="312420"/>
            </a:xfrm>
            <a:prstGeom prst="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100"/>
            </a:p>
          </p:txBody>
        </p:sp>
        <p:sp>
          <p:nvSpPr>
            <p:cNvPr id="47" name="Down Arrow 46"/>
            <p:cNvSpPr/>
            <p:nvPr/>
          </p:nvSpPr>
          <p:spPr>
            <a:xfrm>
              <a:off x="1019972" y="2055433"/>
              <a:ext cx="276225" cy="893445"/>
            </a:xfrm>
            <a:prstGeom prst="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100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58735" y="2969829"/>
              <a:ext cx="1971675" cy="37846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GB" sz="1100">
                  <a:effectLst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Store Week Day</a:t>
              </a:r>
              <a:endParaRPr lang="en-GB" sz="11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2466000" y="2969722"/>
              <a:ext cx="2247900" cy="377825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GB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Store Week</a:t>
              </a:r>
              <a:r>
                <a:rPr lang="en-GB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</a:rPr>
                <a:t> SRA</a:t>
              </a:r>
              <a:endParaRPr lang="en-GB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0" name="Right Arrow 49"/>
            <p:cNvSpPr/>
            <p:nvPr/>
          </p:nvSpPr>
          <p:spPr>
            <a:xfrm>
              <a:off x="2178865" y="2969722"/>
              <a:ext cx="256540" cy="330835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100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2465935" y="3876099"/>
              <a:ext cx="2317078" cy="37465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GB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Store Week </a:t>
              </a:r>
              <a:r>
                <a:rPr lang="en-GB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</a:rPr>
                <a:t>SRA Details</a:t>
              </a:r>
              <a:endParaRPr lang="en-GB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2" name="Down Arrow 51"/>
            <p:cNvSpPr/>
            <p:nvPr/>
          </p:nvSpPr>
          <p:spPr>
            <a:xfrm>
              <a:off x="3384145" y="3543994"/>
              <a:ext cx="275590" cy="311785"/>
            </a:xfrm>
            <a:prstGeom prst="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100"/>
            </a:p>
          </p:txBody>
        </p:sp>
        <p:sp>
          <p:nvSpPr>
            <p:cNvPr id="53" name="Bent-Up Arrow 52"/>
            <p:cNvSpPr/>
            <p:nvPr/>
          </p:nvSpPr>
          <p:spPr>
            <a:xfrm rot="5400000">
              <a:off x="1420674" y="3863718"/>
              <a:ext cx="1424763" cy="584791"/>
            </a:xfrm>
            <a:prstGeom prst="bentUp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100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2470430" y="4485988"/>
              <a:ext cx="2247900" cy="37719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GB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Store Day</a:t>
              </a:r>
              <a:r>
                <a:rPr lang="en-GB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</a:rPr>
                <a:t> SRA</a:t>
              </a:r>
              <a:endParaRPr lang="en-GB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2470430" y="5233383"/>
              <a:ext cx="2247900" cy="374015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en-GB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Store Week </a:t>
              </a:r>
              <a:r>
                <a:rPr lang="en-GB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</a:rPr>
                <a:t>Day Detail</a:t>
              </a:r>
              <a:r>
                <a:rPr lang="pl-PL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</a:rPr>
                <a:t>s</a:t>
              </a:r>
              <a:endParaRPr lang="en-GB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6" name="Down Arrow 55"/>
            <p:cNvSpPr/>
            <p:nvPr/>
          </p:nvSpPr>
          <p:spPr>
            <a:xfrm>
              <a:off x="3384195" y="4904955"/>
              <a:ext cx="275590" cy="311150"/>
            </a:xfrm>
            <a:prstGeom prst="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100"/>
            </a:p>
          </p:txBody>
        </p:sp>
        <p:sp>
          <p:nvSpPr>
            <p:cNvPr id="57" name="Down Arrow 56"/>
            <p:cNvSpPr/>
            <p:nvPr/>
          </p:nvSpPr>
          <p:spPr>
            <a:xfrm rot="16200000">
              <a:off x="4690584" y="5270478"/>
              <a:ext cx="588896" cy="404037"/>
            </a:xfrm>
            <a:prstGeom prst="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10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201182" y="5035902"/>
              <a:ext cx="1039138" cy="82263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1100">
                  <a:effectLst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Secure Question Answers</a:t>
              </a:r>
              <a:endParaRPr lang="en-GB" sz="1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024640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C15873DBA1A84E8D45286A141B24B9" ma:contentTypeVersion="0" ma:contentTypeDescription="Create a new document." ma:contentTypeScope="" ma:versionID="a03a28caa1a1c9732d5028daed36984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07B133-7F3A-4A63-8BBB-C22EACB6235C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C147B7A-2193-4B26-8B46-E09A085061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EFAF6C-3760-438E-92F7-64E2F9FDF6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99103</TotalTime>
  <Words>504</Words>
  <Application>Microsoft Office PowerPoint</Application>
  <PresentationFormat>On-screen Show (4:3)</PresentationFormat>
  <Paragraphs>96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Arial</vt:lpstr>
      <vt:lpstr>Tahoma</vt:lpstr>
      <vt:lpstr>Times New Roman</vt:lpstr>
      <vt:lpstr>Theme1</vt:lpstr>
      <vt:lpstr>PowerPoint Presentation</vt:lpstr>
      <vt:lpstr>Sales Reducing Activities (SRA’s)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Jerry R. Boersma</dc:creator>
  <cp:lastModifiedBy>Geoff Lyle</cp:lastModifiedBy>
  <cp:revision>503</cp:revision>
  <dcterms:created xsi:type="dcterms:W3CDTF">2009-04-08T09:40:49Z</dcterms:created>
  <dcterms:modified xsi:type="dcterms:W3CDTF">2017-03-14T18:02:27Z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0x010100B1C15873DBA1A84E8D45286A141B24B9</vt:lpwstr>
  </property>
</Properties>
</file>