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2"/>
  </p:notesMasterIdLst>
  <p:sldIdLst>
    <p:sldId id="257" r:id="rId5"/>
    <p:sldId id="309" r:id="rId6"/>
    <p:sldId id="286" r:id="rId7"/>
    <p:sldId id="310" r:id="rId8"/>
    <p:sldId id="311" r:id="rId9"/>
    <p:sldId id="312" r:id="rId10"/>
    <p:sldId id="287" r:id="rId11"/>
    <p:sldId id="258" r:id="rId12"/>
    <p:sldId id="302" r:id="rId13"/>
    <p:sldId id="290" r:id="rId14"/>
    <p:sldId id="313" r:id="rId15"/>
    <p:sldId id="303" r:id="rId16"/>
    <p:sldId id="276" r:id="rId17"/>
    <p:sldId id="291" r:id="rId18"/>
    <p:sldId id="277" r:id="rId19"/>
    <p:sldId id="265" r:id="rId20"/>
    <p:sldId id="274" r:id="rId21"/>
    <p:sldId id="278" r:id="rId22"/>
    <p:sldId id="279" r:id="rId23"/>
    <p:sldId id="263" r:id="rId24"/>
    <p:sldId id="269" r:id="rId25"/>
    <p:sldId id="292" r:id="rId26"/>
    <p:sldId id="296" r:id="rId27"/>
    <p:sldId id="282" r:id="rId28"/>
    <p:sldId id="283" r:id="rId29"/>
    <p:sldId id="307" r:id="rId30"/>
    <p:sldId id="284" r:id="rId31"/>
    <p:sldId id="260" r:id="rId32"/>
    <p:sldId id="261" r:id="rId33"/>
    <p:sldId id="262" r:id="rId34"/>
    <p:sldId id="289" r:id="rId35"/>
    <p:sldId id="298" r:id="rId36"/>
    <p:sldId id="308" r:id="rId37"/>
    <p:sldId id="299" r:id="rId38"/>
    <p:sldId id="304" r:id="rId39"/>
    <p:sldId id="305" r:id="rId40"/>
    <p:sldId id="30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ssica Lynch" initials="JL" lastIdx="1" clrIdx="0">
    <p:extLst>
      <p:ext uri="{19B8F6BF-5375-455C-9EA6-DF929625EA0E}">
        <p15:presenceInfo xmlns:p15="http://schemas.microsoft.com/office/powerpoint/2012/main" userId="S::jlynch@appriss.com::9e0dede5-80bd-438c-9409-af178e35ba4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4A55"/>
    <a:srgbClr val="FFAFAF"/>
    <a:srgbClr val="10336B"/>
    <a:srgbClr val="231932"/>
    <a:srgbClr val="AF0041"/>
    <a:srgbClr val="0AB8F0"/>
    <a:srgbClr val="577CE2"/>
    <a:srgbClr val="678DE2"/>
    <a:srgbClr val="448FE2"/>
    <a:srgbClr val="368F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75" autoAdjust="0"/>
    <p:restoredTop sz="94768"/>
  </p:normalViewPr>
  <p:slideViewPr>
    <p:cSldViewPr snapToGrid="0" snapToObjects="1">
      <p:cViewPr varScale="1">
        <p:scale>
          <a:sx n="86" d="100"/>
          <a:sy n="86" d="100"/>
        </p:scale>
        <p:origin x="54" y="219"/>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19C0B4"/>
            </a:solidFill>
            <a:ln>
              <a:noFill/>
            </a:ln>
            <a:effectLst/>
          </c:spPr>
          <c:invertIfNegative val="0"/>
          <c:dPt>
            <c:idx val="0"/>
            <c:invertIfNegative val="0"/>
            <c:bubble3D val="0"/>
            <c:spPr>
              <a:solidFill>
                <a:srgbClr val="AF0041"/>
              </a:solidFill>
              <a:ln>
                <a:noFill/>
              </a:ln>
              <a:effectLst/>
            </c:spPr>
            <c:extLst>
              <c:ext xmlns:c16="http://schemas.microsoft.com/office/drawing/2014/chart" uri="{C3380CC4-5D6E-409C-BE32-E72D297353CC}">
                <c16:uniqueId val="{00000001-5484-4F84-8D40-5025CAA3093C}"/>
              </c:ext>
            </c:extLst>
          </c:dPt>
          <c:dPt>
            <c:idx val="1"/>
            <c:invertIfNegative val="0"/>
            <c:bubble3D val="0"/>
            <c:spPr>
              <a:solidFill>
                <a:srgbClr val="AF0041"/>
              </a:solidFill>
              <a:ln>
                <a:noFill/>
              </a:ln>
              <a:effectLst/>
            </c:spPr>
            <c:extLst>
              <c:ext xmlns:c16="http://schemas.microsoft.com/office/drawing/2014/chart" uri="{C3380CC4-5D6E-409C-BE32-E72D297353CC}">
                <c16:uniqueId val="{00000003-5484-4F84-8D40-5025CAA3093C}"/>
              </c:ext>
            </c:extLst>
          </c:dPt>
          <c:dPt>
            <c:idx val="2"/>
            <c:invertIfNegative val="0"/>
            <c:bubble3D val="0"/>
            <c:spPr>
              <a:solidFill>
                <a:srgbClr val="AF0041"/>
              </a:solidFill>
              <a:ln>
                <a:noFill/>
              </a:ln>
              <a:effectLst/>
            </c:spPr>
            <c:extLst>
              <c:ext xmlns:c16="http://schemas.microsoft.com/office/drawing/2014/chart" uri="{C3380CC4-5D6E-409C-BE32-E72D297353CC}">
                <c16:uniqueId val="{00000005-5484-4F84-8D40-5025CAA3093C}"/>
              </c:ext>
            </c:extLst>
          </c:dPt>
          <c:dPt>
            <c:idx val="3"/>
            <c:invertIfNegative val="0"/>
            <c:bubble3D val="0"/>
            <c:spPr>
              <a:solidFill>
                <a:srgbClr val="AF0041"/>
              </a:solidFill>
              <a:ln>
                <a:noFill/>
              </a:ln>
              <a:effectLst/>
            </c:spPr>
            <c:extLst>
              <c:ext xmlns:c16="http://schemas.microsoft.com/office/drawing/2014/chart" uri="{C3380CC4-5D6E-409C-BE32-E72D297353CC}">
                <c16:uniqueId val="{00000007-5484-4F84-8D40-5025CAA3093C}"/>
              </c:ext>
            </c:extLst>
          </c:dPt>
          <c:dPt>
            <c:idx val="4"/>
            <c:invertIfNegative val="0"/>
            <c:bubble3D val="0"/>
            <c:spPr>
              <a:solidFill>
                <a:srgbClr val="FFC400"/>
              </a:solidFill>
              <a:ln>
                <a:noFill/>
              </a:ln>
              <a:effectLst/>
            </c:spPr>
            <c:extLst>
              <c:ext xmlns:c16="http://schemas.microsoft.com/office/drawing/2014/chart" uri="{C3380CC4-5D6E-409C-BE32-E72D297353CC}">
                <c16:uniqueId val="{00000009-5484-4F84-8D40-5025CAA3093C}"/>
              </c:ext>
            </c:extLst>
          </c:dPt>
          <c:dPt>
            <c:idx val="5"/>
            <c:invertIfNegative val="0"/>
            <c:bubble3D val="0"/>
            <c:spPr>
              <a:solidFill>
                <a:srgbClr val="FFC400"/>
              </a:solidFill>
              <a:ln>
                <a:noFill/>
              </a:ln>
              <a:effectLst/>
            </c:spPr>
            <c:extLst>
              <c:ext xmlns:c16="http://schemas.microsoft.com/office/drawing/2014/chart" uri="{C3380CC4-5D6E-409C-BE32-E72D297353CC}">
                <c16:uniqueId val="{0000000B-5484-4F84-8D40-5025CAA3093C}"/>
              </c:ext>
            </c:extLst>
          </c:dPt>
          <c:dPt>
            <c:idx val="6"/>
            <c:invertIfNegative val="0"/>
            <c:bubble3D val="0"/>
            <c:spPr>
              <a:solidFill>
                <a:srgbClr val="FFC400"/>
              </a:solidFill>
              <a:ln>
                <a:noFill/>
              </a:ln>
              <a:effectLst/>
            </c:spPr>
            <c:extLst>
              <c:ext xmlns:c16="http://schemas.microsoft.com/office/drawing/2014/chart" uri="{C3380CC4-5D6E-409C-BE32-E72D297353CC}">
                <c16:uniqueId val="{0000000D-5484-4F84-8D40-5025CAA3093C}"/>
              </c:ext>
            </c:extLst>
          </c:dPt>
          <c:dPt>
            <c:idx val="7"/>
            <c:invertIfNegative val="0"/>
            <c:bubble3D val="0"/>
            <c:spPr>
              <a:solidFill>
                <a:srgbClr val="FFC400"/>
              </a:solidFill>
              <a:ln>
                <a:noFill/>
              </a:ln>
              <a:effectLst/>
            </c:spPr>
            <c:extLst>
              <c:ext xmlns:c16="http://schemas.microsoft.com/office/drawing/2014/chart" uri="{C3380CC4-5D6E-409C-BE32-E72D297353CC}">
                <c16:uniqueId val="{0000000F-5484-4F84-8D40-5025CAA3093C}"/>
              </c:ext>
            </c:extLst>
          </c:dPt>
          <c:dPt>
            <c:idx val="8"/>
            <c:invertIfNegative val="0"/>
            <c:bubble3D val="0"/>
            <c:spPr>
              <a:solidFill>
                <a:srgbClr val="FFC400"/>
              </a:solidFill>
              <a:ln>
                <a:noFill/>
              </a:ln>
              <a:effectLst/>
            </c:spPr>
            <c:extLst>
              <c:ext xmlns:c16="http://schemas.microsoft.com/office/drawing/2014/chart" uri="{C3380CC4-5D6E-409C-BE32-E72D297353CC}">
                <c16:uniqueId val="{00000011-5484-4F84-8D40-5025CAA3093C}"/>
              </c:ext>
            </c:extLst>
          </c:dPt>
          <c:dPt>
            <c:idx val="9"/>
            <c:invertIfNegative val="0"/>
            <c:bubble3D val="0"/>
            <c:spPr>
              <a:solidFill>
                <a:srgbClr val="8E0859"/>
              </a:solidFill>
              <a:ln>
                <a:noFill/>
              </a:ln>
              <a:effectLst/>
            </c:spPr>
            <c:extLst>
              <c:ext xmlns:c16="http://schemas.microsoft.com/office/drawing/2014/chart" uri="{C3380CC4-5D6E-409C-BE32-E72D297353CC}">
                <c16:uniqueId val="{00000013-5484-4F84-8D40-5025CAA3093C}"/>
              </c:ext>
            </c:extLst>
          </c:dPt>
          <c:dPt>
            <c:idx val="10"/>
            <c:invertIfNegative val="0"/>
            <c:bubble3D val="0"/>
            <c:spPr>
              <a:solidFill>
                <a:srgbClr val="8E0859"/>
              </a:solidFill>
              <a:ln>
                <a:noFill/>
              </a:ln>
              <a:effectLst/>
            </c:spPr>
            <c:extLst>
              <c:ext xmlns:c16="http://schemas.microsoft.com/office/drawing/2014/chart" uri="{C3380CC4-5D6E-409C-BE32-E72D297353CC}">
                <c16:uniqueId val="{00000015-5484-4F84-8D40-5025CAA3093C}"/>
              </c:ext>
            </c:extLst>
          </c:dPt>
          <c:dPt>
            <c:idx val="11"/>
            <c:invertIfNegative val="0"/>
            <c:bubble3D val="0"/>
            <c:spPr>
              <a:solidFill>
                <a:srgbClr val="8E0859"/>
              </a:solidFill>
              <a:ln>
                <a:noFill/>
              </a:ln>
              <a:effectLst/>
            </c:spPr>
            <c:extLst>
              <c:ext xmlns:c16="http://schemas.microsoft.com/office/drawing/2014/chart" uri="{C3380CC4-5D6E-409C-BE32-E72D297353CC}">
                <c16:uniqueId val="{00000017-5484-4F84-8D40-5025CAA3093C}"/>
              </c:ext>
            </c:extLst>
          </c:dPt>
          <c:dPt>
            <c:idx val="12"/>
            <c:invertIfNegative val="0"/>
            <c:bubble3D val="0"/>
            <c:spPr>
              <a:solidFill>
                <a:srgbClr val="8E0859"/>
              </a:solidFill>
              <a:ln>
                <a:noFill/>
              </a:ln>
              <a:effectLst/>
            </c:spPr>
            <c:extLst>
              <c:ext xmlns:c16="http://schemas.microsoft.com/office/drawing/2014/chart" uri="{C3380CC4-5D6E-409C-BE32-E72D297353CC}">
                <c16:uniqueId val="{00000019-5484-4F84-8D40-5025CAA3093C}"/>
              </c:ext>
            </c:extLst>
          </c:dPt>
          <c:dPt>
            <c:idx val="13"/>
            <c:invertIfNegative val="0"/>
            <c:bubble3D val="0"/>
            <c:spPr>
              <a:solidFill>
                <a:srgbClr val="10336B"/>
              </a:solidFill>
              <a:ln>
                <a:noFill/>
              </a:ln>
              <a:effectLst/>
            </c:spPr>
            <c:extLst>
              <c:ext xmlns:c16="http://schemas.microsoft.com/office/drawing/2014/chart" uri="{C3380CC4-5D6E-409C-BE32-E72D297353CC}">
                <c16:uniqueId val="{0000001B-5484-4F84-8D40-5025CAA3093C}"/>
              </c:ext>
            </c:extLst>
          </c:dPt>
          <c:dPt>
            <c:idx val="14"/>
            <c:invertIfNegative val="0"/>
            <c:bubble3D val="0"/>
            <c:spPr>
              <a:solidFill>
                <a:srgbClr val="10336B"/>
              </a:solidFill>
              <a:ln>
                <a:noFill/>
              </a:ln>
              <a:effectLst/>
            </c:spPr>
            <c:extLst>
              <c:ext xmlns:c16="http://schemas.microsoft.com/office/drawing/2014/chart" uri="{C3380CC4-5D6E-409C-BE32-E72D297353CC}">
                <c16:uniqueId val="{0000001D-5484-4F84-8D40-5025CAA3093C}"/>
              </c:ext>
            </c:extLst>
          </c:dPt>
          <c:dPt>
            <c:idx val="15"/>
            <c:invertIfNegative val="0"/>
            <c:bubble3D val="0"/>
            <c:spPr>
              <a:solidFill>
                <a:srgbClr val="10336B"/>
              </a:solidFill>
              <a:ln>
                <a:noFill/>
              </a:ln>
              <a:effectLst/>
            </c:spPr>
            <c:extLst>
              <c:ext xmlns:c16="http://schemas.microsoft.com/office/drawing/2014/chart" uri="{C3380CC4-5D6E-409C-BE32-E72D297353CC}">
                <c16:uniqueId val="{0000001F-5484-4F84-8D40-5025CAA3093C}"/>
              </c:ext>
            </c:extLst>
          </c:dPt>
          <c:dPt>
            <c:idx val="16"/>
            <c:invertIfNegative val="0"/>
            <c:bubble3D val="0"/>
            <c:spPr>
              <a:solidFill>
                <a:srgbClr val="10336B"/>
              </a:solidFill>
              <a:ln>
                <a:noFill/>
              </a:ln>
              <a:effectLst/>
            </c:spPr>
            <c:extLst>
              <c:ext xmlns:c16="http://schemas.microsoft.com/office/drawing/2014/chart" uri="{C3380CC4-5D6E-409C-BE32-E72D297353CC}">
                <c16:uniqueId val="{00000021-5484-4F84-8D40-5025CAA3093C}"/>
              </c:ext>
            </c:extLst>
          </c:dPt>
          <c:dPt>
            <c:idx val="17"/>
            <c:invertIfNegative val="0"/>
            <c:bubble3D val="0"/>
            <c:spPr>
              <a:solidFill>
                <a:srgbClr val="10336B"/>
              </a:solidFill>
              <a:ln>
                <a:noFill/>
              </a:ln>
              <a:effectLst/>
            </c:spPr>
            <c:extLst>
              <c:ext xmlns:c16="http://schemas.microsoft.com/office/drawing/2014/chart" uri="{C3380CC4-5D6E-409C-BE32-E72D297353CC}">
                <c16:uniqueId val="{00000023-5484-4F84-8D40-5025CAA3093C}"/>
              </c:ext>
            </c:extLst>
          </c:dPt>
          <c:dPt>
            <c:idx val="18"/>
            <c:invertIfNegative val="0"/>
            <c:bubble3D val="0"/>
            <c:spPr>
              <a:solidFill>
                <a:srgbClr val="10336B"/>
              </a:solidFill>
              <a:ln>
                <a:noFill/>
              </a:ln>
              <a:effectLst/>
            </c:spPr>
            <c:extLst>
              <c:ext xmlns:c16="http://schemas.microsoft.com/office/drawing/2014/chart" uri="{C3380CC4-5D6E-409C-BE32-E72D297353CC}">
                <c16:uniqueId val="{00000025-5484-4F84-8D40-5025CAA3093C}"/>
              </c:ext>
            </c:extLst>
          </c:dPt>
          <c:dPt>
            <c:idx val="19"/>
            <c:invertIfNegative val="0"/>
            <c:bubble3D val="0"/>
            <c:spPr>
              <a:solidFill>
                <a:srgbClr val="10336B"/>
              </a:solidFill>
              <a:ln>
                <a:noFill/>
              </a:ln>
              <a:effectLst/>
            </c:spPr>
            <c:extLst>
              <c:ext xmlns:c16="http://schemas.microsoft.com/office/drawing/2014/chart" uri="{C3380CC4-5D6E-409C-BE32-E72D297353CC}">
                <c16:uniqueId val="{00000027-5484-4F84-8D40-5025CAA3093C}"/>
              </c:ext>
            </c:extLst>
          </c:dPt>
          <c:cat>
            <c:numRef>
              <c:f>Sheet1!$A$2:$A$21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Sheet1!$B$2:$B$21</c:f>
              <c:numCache>
                <c:formatCode>General</c:formatCode>
                <c:ptCount val="20"/>
                <c:pt idx="0">
                  <c:v>7</c:v>
                </c:pt>
                <c:pt idx="1">
                  <c:v>5</c:v>
                </c:pt>
                <c:pt idx="2">
                  <c:v>2</c:v>
                </c:pt>
                <c:pt idx="3">
                  <c:v>3.5</c:v>
                </c:pt>
                <c:pt idx="4">
                  <c:v>1</c:v>
                </c:pt>
                <c:pt idx="5">
                  <c:v>4.5</c:v>
                </c:pt>
                <c:pt idx="6">
                  <c:v>2</c:v>
                </c:pt>
                <c:pt idx="7">
                  <c:v>1</c:v>
                </c:pt>
                <c:pt idx="8">
                  <c:v>3</c:v>
                </c:pt>
                <c:pt idx="9">
                  <c:v>1.5</c:v>
                </c:pt>
                <c:pt idx="10">
                  <c:v>4</c:v>
                </c:pt>
                <c:pt idx="11">
                  <c:v>3</c:v>
                </c:pt>
                <c:pt idx="12">
                  <c:v>1</c:v>
                </c:pt>
                <c:pt idx="13">
                  <c:v>4.5</c:v>
                </c:pt>
                <c:pt idx="14">
                  <c:v>5</c:v>
                </c:pt>
                <c:pt idx="15">
                  <c:v>3.5</c:v>
                </c:pt>
                <c:pt idx="16">
                  <c:v>2.5</c:v>
                </c:pt>
                <c:pt idx="17">
                  <c:v>1.5</c:v>
                </c:pt>
                <c:pt idx="18">
                  <c:v>0.5</c:v>
                </c:pt>
                <c:pt idx="19">
                  <c:v>0.2</c:v>
                </c:pt>
              </c:numCache>
            </c:numRef>
          </c:val>
          <c:extLst>
            <c:ext xmlns:c16="http://schemas.microsoft.com/office/drawing/2014/chart" uri="{C3380CC4-5D6E-409C-BE32-E72D297353CC}">
              <c16:uniqueId val="{00000028-5484-4F84-8D40-5025CAA3093C}"/>
            </c:ext>
          </c:extLst>
        </c:ser>
        <c:dLbls>
          <c:showLegendKey val="0"/>
          <c:showVal val="0"/>
          <c:showCatName val="0"/>
          <c:showSerName val="0"/>
          <c:showPercent val="0"/>
          <c:showBubbleSize val="0"/>
        </c:dLbls>
        <c:gapWidth val="50"/>
        <c:overlap val="-27"/>
        <c:axId val="326455312"/>
        <c:axId val="326458064"/>
      </c:barChart>
      <c:catAx>
        <c:axId val="326455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ark OT Light" charset="0"/>
                <a:ea typeface="Mark OT Light" charset="0"/>
                <a:cs typeface="Mark OT Light" charset="0"/>
              </a:defRPr>
            </a:pPr>
            <a:endParaRPr lang="en-US"/>
          </a:p>
        </c:txPr>
        <c:crossAx val="326458064"/>
        <c:crosses val="autoZero"/>
        <c:auto val="1"/>
        <c:lblAlgn val="ctr"/>
        <c:lblOffset val="100"/>
        <c:noMultiLvlLbl val="0"/>
      </c:catAx>
      <c:valAx>
        <c:axId val="326458064"/>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ark OT Light" charset="0"/>
                <a:ea typeface="Mark OT Light" charset="0"/>
                <a:cs typeface="Mark OT Light" charset="0"/>
              </a:defRPr>
            </a:pPr>
            <a:endParaRPr lang="en-US"/>
          </a:p>
        </c:txPr>
        <c:crossAx val="326455312"/>
        <c:crosses val="autoZero"/>
        <c:crossBetween val="between"/>
      </c:valAx>
      <c:spPr>
        <a:noFill/>
        <a:ln>
          <a:noFill/>
        </a:ln>
        <a:effectLst/>
      </c:spPr>
    </c:plotArea>
    <c:plotVisOnly val="1"/>
    <c:dispBlanksAs val="gap"/>
    <c:showDLblsOverMax val="0"/>
  </c:chart>
  <c:spPr>
    <a:noFill/>
    <a:ln>
      <a:noFill/>
    </a:ln>
    <a:effectLst/>
  </c:spPr>
  <c:txPr>
    <a:bodyPr/>
    <a:lstStyle/>
    <a:p>
      <a:pPr>
        <a:defRPr sz="800" b="0" i="0">
          <a:solidFill>
            <a:schemeClr val="tx1"/>
          </a:solidFill>
          <a:latin typeface="Mark OT Light" charset="0"/>
          <a:ea typeface="Mark OT Light" charset="0"/>
          <a:cs typeface="Mark OT Light"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dLbls>
          <c:dLblPos val="outEnd"/>
          <c:showLegendKey val="0"/>
          <c:showVal val="1"/>
          <c:showCatName val="0"/>
          <c:showSerName val="0"/>
          <c:showPercent val="0"/>
          <c:showBubbleSize val="0"/>
        </c:dLbls>
        <c:gapWidth val="444"/>
        <c:axId val="326385488"/>
        <c:axId val="326388240"/>
      </c:barChart>
      <c:catAx>
        <c:axId val="3263854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ark OT Light" charset="0"/>
                <a:ea typeface="Mark OT Light" charset="0"/>
                <a:cs typeface="Mark OT Light" charset="0"/>
              </a:defRPr>
            </a:pPr>
            <a:endParaRPr lang="en-US"/>
          </a:p>
        </c:txPr>
        <c:crossAx val="326388240"/>
        <c:crosses val="autoZero"/>
        <c:auto val="1"/>
        <c:lblAlgn val="ctr"/>
        <c:lblOffset val="100"/>
        <c:noMultiLvlLbl val="0"/>
      </c:catAx>
      <c:valAx>
        <c:axId val="326388240"/>
        <c:scaling>
          <c:orientation val="minMax"/>
        </c:scaling>
        <c:delete val="1"/>
        <c:axPos val="b"/>
        <c:numFmt formatCode="General" sourceLinked="1"/>
        <c:majorTickMark val="none"/>
        <c:minorTickMark val="none"/>
        <c:tickLblPos val="nextTo"/>
        <c:crossAx val="32638548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ark OT Medium" charset="0"/>
              <a:ea typeface="Mark OT Medium" charset="0"/>
              <a:cs typeface="Mark OT Medium" charset="0"/>
            </a:defRPr>
          </a:pPr>
          <a:endParaRPr lang="en-US"/>
        </a:p>
      </c:txPr>
    </c:legend>
    <c:plotVisOnly val="1"/>
    <c:dispBlanksAs val="gap"/>
    <c:showDLblsOverMax val="0"/>
  </c:chart>
  <c:spPr>
    <a:noFill/>
    <a:ln>
      <a:noFill/>
    </a:ln>
    <a:effectLst/>
  </c:spPr>
  <c:txPr>
    <a:bodyPr/>
    <a:lstStyle/>
    <a:p>
      <a:pPr>
        <a:defRPr sz="1000" b="0" i="0">
          <a:latin typeface="+mn-lt"/>
          <a:ea typeface="Titillium" charset="0"/>
          <a:cs typeface="Titillium"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rgbClr val="AF004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Titillium" charset="0"/>
                    <a:cs typeface="Titillium"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April</c:v>
                </c:pt>
                <c:pt idx="1">
                  <c:v>May</c:v>
                </c:pt>
                <c:pt idx="2">
                  <c:v>June</c:v>
                </c:pt>
                <c:pt idx="3">
                  <c:v>July</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16DD-43AF-B540-A40AE9CCB9A7}"/>
            </c:ext>
          </c:extLst>
        </c:ser>
        <c:dLbls>
          <c:dLblPos val="outEnd"/>
          <c:showLegendKey val="0"/>
          <c:showVal val="1"/>
          <c:showCatName val="0"/>
          <c:showSerName val="0"/>
          <c:showPercent val="0"/>
          <c:showBubbleSize val="0"/>
        </c:dLbls>
        <c:gapWidth val="444"/>
        <c:axId val="326411872"/>
        <c:axId val="326414624"/>
      </c:barChart>
      <c:catAx>
        <c:axId val="3264118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ark OT Light" charset="0"/>
                <a:ea typeface="Mark OT Light" charset="0"/>
                <a:cs typeface="Mark OT Light" charset="0"/>
              </a:defRPr>
            </a:pPr>
            <a:endParaRPr lang="en-US"/>
          </a:p>
        </c:txPr>
        <c:crossAx val="326414624"/>
        <c:crosses val="autoZero"/>
        <c:auto val="1"/>
        <c:lblAlgn val="ctr"/>
        <c:lblOffset val="100"/>
        <c:noMultiLvlLbl val="0"/>
      </c:catAx>
      <c:valAx>
        <c:axId val="326414624"/>
        <c:scaling>
          <c:orientation val="minMax"/>
        </c:scaling>
        <c:delete val="1"/>
        <c:axPos val="b"/>
        <c:numFmt formatCode="General" sourceLinked="1"/>
        <c:majorTickMark val="none"/>
        <c:minorTickMark val="none"/>
        <c:tickLblPos val="nextTo"/>
        <c:crossAx val="32641187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ark OT Medium" charset="0"/>
              <a:ea typeface="Mark OT Medium" charset="0"/>
              <a:cs typeface="Mark OT Medium" charset="0"/>
            </a:defRPr>
          </a:pPr>
          <a:endParaRPr lang="en-US"/>
        </a:p>
      </c:txPr>
    </c:legend>
    <c:plotVisOnly val="1"/>
    <c:dispBlanksAs val="gap"/>
    <c:showDLblsOverMax val="0"/>
  </c:chart>
  <c:spPr>
    <a:noFill/>
    <a:ln>
      <a:noFill/>
    </a:ln>
    <a:effectLst/>
  </c:spPr>
  <c:txPr>
    <a:bodyPr/>
    <a:lstStyle/>
    <a:p>
      <a:pPr>
        <a:defRPr sz="1000" b="0" i="0">
          <a:latin typeface="+mn-lt"/>
          <a:ea typeface="Titillium" charset="0"/>
          <a:cs typeface="Titillium"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808401-6D77-F34B-84CE-C252BEDEBB61}" type="datetimeFigureOut">
              <a:rPr lang="en-US" smtClean="0"/>
              <a:t>8/23/2019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17824C-E39D-7F46-8DD3-C97833CD0148}" type="slidenum">
              <a:rPr lang="en-US" smtClean="0"/>
              <a:t>‹#›</a:t>
            </a:fld>
            <a:endParaRPr lang="en-US"/>
          </a:p>
        </p:txBody>
      </p:sp>
    </p:spTree>
    <p:extLst>
      <p:ext uri="{BB962C8B-B14F-4D97-AF65-F5344CB8AC3E}">
        <p14:creationId xmlns:p14="http://schemas.microsoft.com/office/powerpoint/2010/main" val="1442917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17824C-E39D-7F46-8DD3-C97833CD0148}" type="slidenum">
              <a:rPr lang="en-US" smtClean="0"/>
              <a:t>3</a:t>
            </a:fld>
            <a:endParaRPr lang="en-US"/>
          </a:p>
        </p:txBody>
      </p:sp>
    </p:spTree>
    <p:extLst>
      <p:ext uri="{BB962C8B-B14F-4D97-AF65-F5344CB8AC3E}">
        <p14:creationId xmlns:p14="http://schemas.microsoft.com/office/powerpoint/2010/main" val="393349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17824C-E39D-7F46-8DD3-C97833CD0148}" type="slidenum">
              <a:rPr lang="en-US" smtClean="0"/>
              <a:t>13</a:t>
            </a:fld>
            <a:endParaRPr lang="en-US"/>
          </a:p>
        </p:txBody>
      </p:sp>
    </p:spTree>
    <p:extLst>
      <p:ext uri="{BB962C8B-B14F-4D97-AF65-F5344CB8AC3E}">
        <p14:creationId xmlns:p14="http://schemas.microsoft.com/office/powerpoint/2010/main" val="3988392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17824C-E39D-7F46-8DD3-C97833CD0148}" type="slidenum">
              <a:rPr lang="en-US" smtClean="0"/>
              <a:t>14</a:t>
            </a:fld>
            <a:endParaRPr lang="en-US"/>
          </a:p>
        </p:txBody>
      </p:sp>
    </p:spTree>
    <p:extLst>
      <p:ext uri="{BB962C8B-B14F-4D97-AF65-F5344CB8AC3E}">
        <p14:creationId xmlns:p14="http://schemas.microsoft.com/office/powerpoint/2010/main" val="2146439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Typically, an instance of the platform will have the organizational hierarchy constructed from the location reference data feed. However, additional hierarchy can be configured to describe other organizational configurations which may be internal to LP or other retail business units. </a:t>
            </a:r>
          </a:p>
          <a:p>
            <a:endParaRPr lang="en-US" dirty="0"/>
          </a:p>
        </p:txBody>
      </p:sp>
      <p:sp>
        <p:nvSpPr>
          <p:cNvPr id="4" name="Slide Number Placeholder 3"/>
          <p:cNvSpPr>
            <a:spLocks noGrp="1"/>
          </p:cNvSpPr>
          <p:nvPr>
            <p:ph type="sldNum" sz="quarter" idx="5"/>
          </p:nvPr>
        </p:nvSpPr>
        <p:spPr/>
        <p:txBody>
          <a:bodyPr/>
          <a:lstStyle/>
          <a:p>
            <a:fld id="{4017824C-E39D-7F46-8DD3-C97833CD0148}" type="slidenum">
              <a:rPr lang="en-US" smtClean="0"/>
              <a:t>18</a:t>
            </a:fld>
            <a:endParaRPr lang="en-US"/>
          </a:p>
        </p:txBody>
      </p:sp>
    </p:spTree>
    <p:extLst>
      <p:ext uri="{BB962C8B-B14F-4D97-AF65-F5344CB8AC3E}">
        <p14:creationId xmlns:p14="http://schemas.microsoft.com/office/powerpoint/2010/main" val="24397842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Slide">
    <p:bg>
      <p:bgPr>
        <a:solidFill>
          <a:schemeClr val="bg1"/>
        </a:solidFill>
        <a:effectLst/>
      </p:bgPr>
    </p:bg>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831850" y="3579187"/>
            <a:ext cx="10515600" cy="443198"/>
          </a:xfrm>
        </p:spPr>
        <p:txBody>
          <a:bodyPr lIns="0" tIns="0" rIns="0" bIns="0" anchor="b">
            <a:spAutoFit/>
          </a:bodyPr>
          <a:lstStyle>
            <a:lvl1pPr>
              <a:defRPr sz="3200" baseline="0">
                <a:solidFill>
                  <a:srgbClr val="231932"/>
                </a:solidFill>
              </a:defRPr>
            </a:lvl1pPr>
          </a:lstStyle>
          <a:p>
            <a:r>
              <a:rPr lang="en-US" dirty="0"/>
              <a:t>Title</a:t>
            </a:r>
          </a:p>
        </p:txBody>
      </p:sp>
      <p:sp>
        <p:nvSpPr>
          <p:cNvPr id="12" name="Text Placeholder 2"/>
          <p:cNvSpPr>
            <a:spLocks noGrp="1"/>
          </p:cNvSpPr>
          <p:nvPr>
            <p:ph type="body" idx="1" hasCustomPrompt="1"/>
          </p:nvPr>
        </p:nvSpPr>
        <p:spPr>
          <a:xfrm>
            <a:off x="831850" y="4212378"/>
            <a:ext cx="10515600" cy="332399"/>
          </a:xfrm>
        </p:spPr>
        <p:txBody>
          <a:bodyPr lIns="0" tIns="0" rIns="0" bIns="0">
            <a:spAutoFit/>
          </a:bodyPr>
          <a:lstStyle>
            <a:lvl1pPr marL="0" indent="0">
              <a:buNone/>
              <a:defRPr sz="2400" b="0" i="0" baseline="0">
                <a:solidFill>
                  <a:srgbClr val="AF0041"/>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0113" y="1992176"/>
            <a:ext cx="2115988" cy="43573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ternate Title Slide Red">
    <p:bg>
      <p:bgPr>
        <a:gradFill flip="none" rotWithShape="1">
          <a:gsLst>
            <a:gs pos="10000">
              <a:srgbClr val="AF0041"/>
            </a:gs>
            <a:gs pos="100000">
              <a:srgbClr val="FA505F"/>
            </a:gs>
          </a:gsLst>
          <a:lin ang="13500000" scaled="1"/>
          <a:tileRect/>
        </a:gra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831850" y="3869467"/>
            <a:ext cx="10515600" cy="443198"/>
          </a:xfrm>
        </p:spPr>
        <p:txBody>
          <a:bodyPr lIns="0" tIns="0" rIns="0" bIns="0" anchor="b">
            <a:spAutoFit/>
          </a:bodyPr>
          <a:lstStyle>
            <a:lvl1pPr>
              <a:defRPr sz="3200" baseline="0">
                <a:solidFill>
                  <a:schemeClr val="bg1"/>
                </a:solidFill>
              </a:defRPr>
            </a:lvl1pPr>
          </a:lstStyle>
          <a:p>
            <a:r>
              <a:rPr lang="en-US" dirty="0"/>
              <a:t>Title</a:t>
            </a:r>
          </a:p>
        </p:txBody>
      </p:sp>
      <p:sp>
        <p:nvSpPr>
          <p:cNvPr id="6" name="Text Placeholder 2"/>
          <p:cNvSpPr>
            <a:spLocks noGrp="1"/>
          </p:cNvSpPr>
          <p:nvPr>
            <p:ph type="body" idx="1" hasCustomPrompt="1"/>
          </p:nvPr>
        </p:nvSpPr>
        <p:spPr>
          <a:xfrm>
            <a:off x="831850" y="4502658"/>
            <a:ext cx="10515600" cy="332399"/>
          </a:xfrm>
        </p:spPr>
        <p:txBody>
          <a:bodyPr lIns="0" tIns="0" rIns="0" bIns="0">
            <a:spAutoFit/>
          </a:bodyPr>
          <a:lstStyle>
            <a:lvl1pPr marL="0" indent="0">
              <a:buNone/>
              <a:defRPr sz="2400" b="0" i="0">
                <a:solidFill>
                  <a:schemeClr val="bg1"/>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50237" y="1032994"/>
            <a:ext cx="1837943" cy="4378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ternate Title Slide Blue">
    <p:bg>
      <p:bgPr>
        <a:gradFill flip="none" rotWithShape="1">
          <a:gsLst>
            <a:gs pos="10000">
              <a:srgbClr val="231932"/>
            </a:gs>
            <a:gs pos="100000">
              <a:srgbClr val="4B3273"/>
            </a:gs>
          </a:gsLst>
          <a:lin ang="13500000" scaled="1"/>
          <a:tileRect/>
        </a:gra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831850" y="3869467"/>
            <a:ext cx="10515600" cy="443198"/>
          </a:xfrm>
        </p:spPr>
        <p:txBody>
          <a:bodyPr lIns="0" tIns="0" rIns="0" bIns="0" anchor="b">
            <a:spAutoFit/>
          </a:bodyPr>
          <a:lstStyle>
            <a:lvl1pPr>
              <a:defRPr sz="3200" baseline="0">
                <a:solidFill>
                  <a:schemeClr val="bg1"/>
                </a:solidFill>
              </a:defRPr>
            </a:lvl1pPr>
          </a:lstStyle>
          <a:p>
            <a:r>
              <a:rPr lang="en-US" dirty="0"/>
              <a:t>Title</a:t>
            </a:r>
          </a:p>
        </p:txBody>
      </p:sp>
      <p:sp>
        <p:nvSpPr>
          <p:cNvPr id="6" name="Text Placeholder 2"/>
          <p:cNvSpPr>
            <a:spLocks noGrp="1"/>
          </p:cNvSpPr>
          <p:nvPr>
            <p:ph type="body" idx="1" hasCustomPrompt="1"/>
          </p:nvPr>
        </p:nvSpPr>
        <p:spPr>
          <a:xfrm>
            <a:off x="831850" y="4502658"/>
            <a:ext cx="10515600" cy="332399"/>
          </a:xfrm>
        </p:spPr>
        <p:txBody>
          <a:bodyPr lIns="0" tIns="0" rIns="0" bIns="0">
            <a:spAutoFit/>
          </a:bodyPr>
          <a:lstStyle>
            <a:lvl1pPr marL="0" indent="0">
              <a:buNone/>
              <a:defRPr sz="2400" b="0" i="0">
                <a:solidFill>
                  <a:schemeClr val="bg1"/>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50237" y="1032994"/>
            <a:ext cx="1837943" cy="4378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Text Slide Red">
    <p:bg>
      <p:bgPr>
        <a:solidFill>
          <a:schemeClr val="bg1"/>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1143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0" name="Content Placeholder 3"/>
          <p:cNvSpPr>
            <a:spLocks noGrp="1"/>
          </p:cNvSpPr>
          <p:nvPr>
            <p:ph sz="half" idx="14"/>
          </p:nvPr>
        </p:nvSpPr>
        <p:spPr>
          <a:xfrm>
            <a:off x="831850" y="1501727"/>
            <a:ext cx="10521950"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7CA73DD0-19D6-424E-9AA7-4D3BC77EFA56}" type="datetime1">
              <a:rPr lang="en-US" smtClean="0"/>
              <a:t>8/23/2019</a:t>
            </a:fld>
            <a:endParaRPr lang="en-US"/>
          </a:p>
        </p:txBody>
      </p:sp>
      <p:sp>
        <p:nvSpPr>
          <p:cNvPr id="14"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5"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2" name="Picture 11"/>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ternate Text Slide Re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566928"/>
            <a:ext cx="7987685" cy="443198"/>
          </a:xfrm>
        </p:spPr>
        <p:txBody>
          <a:bodyPr wrap="square" lIns="0" tIns="0" rIns="0" bIns="0" anchor="b" anchorCtr="0">
            <a:spAutoFit/>
          </a:bodyPr>
          <a:lstStyle>
            <a:lvl1pPr>
              <a:defRPr sz="3200" baseline="0">
                <a:solidFill>
                  <a:srgbClr val="231932"/>
                </a:solidFill>
              </a:defRPr>
            </a:lvl1pPr>
          </a:lstStyle>
          <a:p>
            <a:r>
              <a:rPr lang="en-US" dirty="0"/>
              <a:t>Title</a:t>
            </a:r>
          </a:p>
        </p:txBody>
      </p:sp>
      <p:sp>
        <p:nvSpPr>
          <p:cNvPr id="10" name="Content Placeholder 3"/>
          <p:cNvSpPr>
            <a:spLocks noGrp="1"/>
          </p:cNvSpPr>
          <p:nvPr>
            <p:ph sz="half" idx="14"/>
          </p:nvPr>
        </p:nvSpPr>
        <p:spPr>
          <a:xfrm>
            <a:off x="831850" y="1558987"/>
            <a:ext cx="10515597"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CC0C7915-318B-4C6A-B13D-FA09B45BBD44}" type="datetime1">
              <a:rPr lang="en-US" smtClean="0"/>
              <a:t>8/23/2019</a:t>
            </a:fld>
            <a:endParaRPr lang="en-US"/>
          </a:p>
        </p:txBody>
      </p:sp>
      <p:sp>
        <p:nvSpPr>
          <p:cNvPr id="14"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sp>
        <p:nvSpPr>
          <p:cNvPr id="11" name="Rectangle 10"/>
          <p:cNvSpPr/>
          <p:nvPr userDrawn="1"/>
        </p:nvSpPr>
        <p:spPr>
          <a:xfrm>
            <a:off x="0" y="0"/>
            <a:ext cx="12192000" cy="18288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ain Text Slide Blue">
    <p:bg>
      <p:bgPr>
        <a:solidFill>
          <a:schemeClr val="bg1"/>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1143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3"/>
          <p:cNvSpPr>
            <a:spLocks noGrp="1"/>
          </p:cNvSpPr>
          <p:nvPr>
            <p:ph sz="half" idx="14"/>
          </p:nvPr>
        </p:nvSpPr>
        <p:spPr>
          <a:xfrm>
            <a:off x="831850" y="1501727"/>
            <a:ext cx="10521950"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512C1FD2-8088-4468-9FF1-C14F8C669394}" type="datetime1">
              <a:rPr lang="en-US" smtClean="0"/>
              <a:t>8/23/2019</a:t>
            </a:fld>
            <a:endParaRPr lang="en-US"/>
          </a:p>
        </p:txBody>
      </p:sp>
      <p:sp>
        <p:nvSpPr>
          <p:cNvPr id="14"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6"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5" name="Picture 14"/>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ternate Text Slide Blu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567009"/>
            <a:ext cx="7987685" cy="444413"/>
          </a:xfrm>
        </p:spPr>
        <p:txBody>
          <a:bodyPr wrap="square" lIns="0" tIns="0" rIns="0" bIns="0" anchor="b" anchorCtr="0">
            <a:spAutoFit/>
          </a:bodyPr>
          <a:lstStyle>
            <a:lvl1pPr>
              <a:defRPr sz="3200" baseline="0">
                <a:solidFill>
                  <a:srgbClr val="AF0041"/>
                </a:solidFill>
              </a:defRPr>
            </a:lvl1pPr>
          </a:lstStyle>
          <a:p>
            <a:r>
              <a:rPr lang="en-US" dirty="0"/>
              <a:t>Title</a:t>
            </a:r>
          </a:p>
        </p:txBody>
      </p:sp>
      <p:sp>
        <p:nvSpPr>
          <p:cNvPr id="9" name="Content Placeholder 3"/>
          <p:cNvSpPr>
            <a:spLocks noGrp="1"/>
          </p:cNvSpPr>
          <p:nvPr>
            <p:ph sz="half" idx="14"/>
          </p:nvPr>
        </p:nvSpPr>
        <p:spPr>
          <a:xfrm>
            <a:off x="831850" y="1558985"/>
            <a:ext cx="10515597"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15747E30-8ED6-47B6-8D12-A654D4D4A2A3}" type="datetime1">
              <a:rPr lang="en-US" smtClean="0"/>
              <a:t>8/23/2019</a:t>
            </a:fld>
            <a:endParaRPr lang="en-US"/>
          </a:p>
        </p:txBody>
      </p:sp>
      <p:sp>
        <p:nvSpPr>
          <p:cNvPr id="14"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sp>
        <p:nvSpPr>
          <p:cNvPr id="11" name="Rectangle 10"/>
          <p:cNvSpPr/>
          <p:nvPr userDrawn="1"/>
        </p:nvSpPr>
        <p:spPr>
          <a:xfrm>
            <a:off x="0" y="0"/>
            <a:ext cx="12192000" cy="18288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ain 2 Column Slide Red">
    <p:bg>
      <p:bgPr>
        <a:solidFill>
          <a:schemeClr val="bg1"/>
        </a:solidFill>
        <a:effectLst/>
      </p:bgPr>
    </p:bg>
    <p:spTree>
      <p:nvGrpSpPr>
        <p:cNvPr id="1" name=""/>
        <p:cNvGrpSpPr/>
        <p:nvPr/>
      </p:nvGrpSpPr>
      <p:grpSpPr>
        <a:xfrm>
          <a:off x="0" y="0"/>
          <a:ext cx="0" cy="0"/>
          <a:chOff x="0" y="0"/>
          <a:chExt cx="0" cy="0"/>
        </a:xfrm>
      </p:grpSpPr>
      <p:sp>
        <p:nvSpPr>
          <p:cNvPr id="12" name="Rectangle 11"/>
          <p:cNvSpPr/>
          <p:nvPr userDrawn="1"/>
        </p:nvSpPr>
        <p:spPr>
          <a:xfrm>
            <a:off x="0" y="0"/>
            <a:ext cx="12192000" cy="1143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3"/>
          <p:cNvSpPr>
            <a:spLocks noGrp="1"/>
          </p:cNvSpPr>
          <p:nvPr>
            <p:ph sz="half" idx="14"/>
          </p:nvPr>
        </p:nvSpPr>
        <p:spPr>
          <a:xfrm>
            <a:off x="831850" y="1501727"/>
            <a:ext cx="5029200" cy="4624656"/>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sz="half" idx="15"/>
          </p:nvPr>
        </p:nvSpPr>
        <p:spPr>
          <a:xfrm>
            <a:off x="6324600" y="1501727"/>
            <a:ext cx="5029200" cy="4624656"/>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962B4E97-CFAA-42DD-9ECA-64601DF80142}" type="datetime1">
              <a:rPr lang="en-US" smtClean="0"/>
              <a:t>8/23/2019</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5"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7" name="Picture 16"/>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ternate 2 Column Slide Re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567009"/>
            <a:ext cx="7987685" cy="444413"/>
          </a:xfrm>
        </p:spPr>
        <p:txBody>
          <a:bodyPr wrap="square" lIns="0" tIns="0" rIns="0" bIns="0" anchor="b" anchorCtr="0">
            <a:spAutoFit/>
          </a:bodyPr>
          <a:lstStyle>
            <a:lvl1pPr>
              <a:defRPr sz="3200" baseline="0">
                <a:solidFill>
                  <a:srgbClr val="231932"/>
                </a:solidFill>
              </a:defRPr>
            </a:lvl1pPr>
          </a:lstStyle>
          <a:p>
            <a:r>
              <a:rPr lang="en-US" dirty="0"/>
              <a:t>Title</a:t>
            </a:r>
          </a:p>
        </p:txBody>
      </p:sp>
      <p:sp>
        <p:nvSpPr>
          <p:cNvPr id="10" name="Content Placeholder 3"/>
          <p:cNvSpPr>
            <a:spLocks noGrp="1"/>
          </p:cNvSpPr>
          <p:nvPr>
            <p:ph sz="half" idx="14"/>
          </p:nvPr>
        </p:nvSpPr>
        <p:spPr>
          <a:xfrm>
            <a:off x="831850" y="1554480"/>
            <a:ext cx="5029200"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sz="half" idx="15"/>
          </p:nvPr>
        </p:nvSpPr>
        <p:spPr>
          <a:xfrm>
            <a:off x="6324600" y="1554480"/>
            <a:ext cx="5029200"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0A0C39F4-658F-4964-A235-356E7A37CCA4}" type="datetime1">
              <a:rPr lang="en-US" smtClean="0"/>
              <a:t>8/23/2019</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5"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sp>
        <p:nvSpPr>
          <p:cNvPr id="12" name="Rectangle 11"/>
          <p:cNvSpPr/>
          <p:nvPr userDrawn="1"/>
        </p:nvSpPr>
        <p:spPr>
          <a:xfrm>
            <a:off x="0" y="0"/>
            <a:ext cx="12192000" cy="18288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in 2 Column Slide Blue">
    <p:bg>
      <p:bgPr>
        <a:solidFill>
          <a:schemeClr val="bg1"/>
        </a:solidFill>
        <a:effectLst/>
      </p:bgPr>
    </p:bg>
    <p:spTree>
      <p:nvGrpSpPr>
        <p:cNvPr id="1" name=""/>
        <p:cNvGrpSpPr/>
        <p:nvPr/>
      </p:nvGrpSpPr>
      <p:grpSpPr>
        <a:xfrm>
          <a:off x="0" y="0"/>
          <a:ext cx="0" cy="0"/>
          <a:chOff x="0" y="0"/>
          <a:chExt cx="0" cy="0"/>
        </a:xfrm>
      </p:grpSpPr>
      <p:sp>
        <p:nvSpPr>
          <p:cNvPr id="15" name="Rectangle 14"/>
          <p:cNvSpPr/>
          <p:nvPr userDrawn="1"/>
        </p:nvSpPr>
        <p:spPr>
          <a:xfrm>
            <a:off x="0" y="0"/>
            <a:ext cx="12192000" cy="1143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3"/>
          <p:cNvSpPr>
            <a:spLocks noGrp="1"/>
          </p:cNvSpPr>
          <p:nvPr>
            <p:ph sz="half" idx="14"/>
          </p:nvPr>
        </p:nvSpPr>
        <p:spPr>
          <a:xfrm>
            <a:off x="831850" y="1501727"/>
            <a:ext cx="5029200"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sz="half" idx="15"/>
          </p:nvPr>
        </p:nvSpPr>
        <p:spPr>
          <a:xfrm>
            <a:off x="6324600" y="1501727"/>
            <a:ext cx="5029200"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0CA6F417-8A2B-4AC5-97FA-FE377A74C9F8}" type="datetime1">
              <a:rPr lang="en-US" smtClean="0"/>
              <a:t>8/23/2019</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7" name="Picture 16"/>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lternate 2 Column Slide Blu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567009"/>
            <a:ext cx="7987685" cy="444413"/>
          </a:xfrm>
        </p:spPr>
        <p:txBody>
          <a:bodyPr wrap="square" lIns="0" tIns="0" rIns="0" bIns="0" anchor="b" anchorCtr="0">
            <a:spAutoFit/>
          </a:bodyPr>
          <a:lstStyle>
            <a:lvl1pPr>
              <a:defRPr sz="3200" baseline="0">
                <a:solidFill>
                  <a:srgbClr val="AF0041"/>
                </a:solidFill>
              </a:defRPr>
            </a:lvl1pPr>
          </a:lstStyle>
          <a:p>
            <a:r>
              <a:rPr lang="en-US" dirty="0"/>
              <a:t>Title</a:t>
            </a:r>
          </a:p>
        </p:txBody>
      </p:sp>
      <p:sp>
        <p:nvSpPr>
          <p:cNvPr id="10" name="Content Placeholder 3"/>
          <p:cNvSpPr>
            <a:spLocks noGrp="1"/>
          </p:cNvSpPr>
          <p:nvPr>
            <p:ph sz="half" idx="14"/>
          </p:nvPr>
        </p:nvSpPr>
        <p:spPr>
          <a:xfrm>
            <a:off x="831850" y="1554480"/>
            <a:ext cx="5029200"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sz="half" idx="15"/>
          </p:nvPr>
        </p:nvSpPr>
        <p:spPr>
          <a:xfrm>
            <a:off x="6324600" y="1554478"/>
            <a:ext cx="5029200"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40BFC126-A8B7-42E2-A765-5F45837A08BF}" type="datetime1">
              <a:rPr lang="en-US" smtClean="0"/>
              <a:t>8/23/2019</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5"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sp>
        <p:nvSpPr>
          <p:cNvPr id="12" name="Rectangle 11"/>
          <p:cNvSpPr/>
          <p:nvPr userDrawn="1"/>
        </p:nvSpPr>
        <p:spPr>
          <a:xfrm>
            <a:off x="0" y="0"/>
            <a:ext cx="12192000" cy="18288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ain Left Text Slide Red">
    <p:bg>
      <p:bgPr>
        <a:solidFill>
          <a:schemeClr val="bg1"/>
        </a:solidFill>
        <a:effectLst/>
      </p:bgPr>
    </p:bg>
    <p:spTree>
      <p:nvGrpSpPr>
        <p:cNvPr id="1" name=""/>
        <p:cNvGrpSpPr/>
        <p:nvPr/>
      </p:nvGrpSpPr>
      <p:grpSpPr>
        <a:xfrm>
          <a:off x="0" y="0"/>
          <a:ext cx="0" cy="0"/>
          <a:chOff x="0" y="0"/>
          <a:chExt cx="0" cy="0"/>
        </a:xfrm>
      </p:grpSpPr>
      <p:sp>
        <p:nvSpPr>
          <p:cNvPr id="17" name="Rectangle 16"/>
          <p:cNvSpPr/>
          <p:nvPr userDrawn="1"/>
        </p:nvSpPr>
        <p:spPr>
          <a:xfrm>
            <a:off x="0" y="0"/>
            <a:ext cx="12192000" cy="1143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3"/>
          <p:cNvSpPr>
            <a:spLocks noGrp="1"/>
          </p:cNvSpPr>
          <p:nvPr>
            <p:ph sz="half" idx="13"/>
          </p:nvPr>
        </p:nvSpPr>
        <p:spPr>
          <a:xfrm>
            <a:off x="8610600" y="1501727"/>
            <a:ext cx="2743200" cy="4610141"/>
          </a:xfrm>
        </p:spPr>
        <p:txBody>
          <a:bodyPr>
            <a:normAutofit/>
          </a:bodyPr>
          <a:lstStyle>
            <a:lvl1pPr marL="0" indent="0">
              <a:buNone/>
              <a:defRPr sz="2000" baseline="0">
                <a:solidFill>
                  <a:srgbClr val="231932"/>
                </a:solidFill>
              </a:defRPr>
            </a:lvl1pPr>
            <a:lvl2pPr>
              <a:defRPr sz="2000"/>
            </a:lvl2pPr>
            <a:lvl3pPr>
              <a:defRPr sz="1800"/>
            </a:lvl3pPr>
            <a:lvl4pPr>
              <a:defRPr sz="1600"/>
            </a:lvl4pPr>
            <a:lvl5pPr>
              <a:defRPr sz="1600"/>
            </a:lvl5pPr>
          </a:lstStyle>
          <a:p>
            <a:pPr lvl="0"/>
            <a:endParaRPr lang="en-US" dirty="0"/>
          </a:p>
        </p:txBody>
      </p:sp>
      <p:sp>
        <p:nvSpPr>
          <p:cNvPr id="10" name="Content Placeholder 3"/>
          <p:cNvSpPr>
            <a:spLocks noGrp="1"/>
          </p:cNvSpPr>
          <p:nvPr>
            <p:ph sz="half" idx="14"/>
          </p:nvPr>
        </p:nvSpPr>
        <p:spPr>
          <a:xfrm>
            <a:off x="831850" y="1501727"/>
            <a:ext cx="7321550" cy="4610141"/>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561B804C-2C02-4D01-9CED-096936E67E12}" type="datetime1">
              <a:rPr lang="en-US" smtClean="0"/>
              <a:t>8/23/2019</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5" name="Picture 14"/>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Left Text Slide Blue">
    <p:bg>
      <p:bgPr>
        <a:solidFill>
          <a:schemeClr val="bg1"/>
        </a:solidFill>
        <a:effectLst/>
      </p:bgPr>
    </p:bg>
    <p:spTree>
      <p:nvGrpSpPr>
        <p:cNvPr id="1" name=""/>
        <p:cNvGrpSpPr/>
        <p:nvPr/>
      </p:nvGrpSpPr>
      <p:grpSpPr>
        <a:xfrm>
          <a:off x="0" y="0"/>
          <a:ext cx="0" cy="0"/>
          <a:chOff x="0" y="0"/>
          <a:chExt cx="0" cy="0"/>
        </a:xfrm>
      </p:grpSpPr>
      <p:sp>
        <p:nvSpPr>
          <p:cNvPr id="15" name="Rectangle 14"/>
          <p:cNvSpPr/>
          <p:nvPr userDrawn="1"/>
        </p:nvSpPr>
        <p:spPr>
          <a:xfrm>
            <a:off x="0" y="0"/>
            <a:ext cx="12192000" cy="1143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3"/>
          <p:cNvSpPr>
            <a:spLocks noGrp="1"/>
          </p:cNvSpPr>
          <p:nvPr>
            <p:ph sz="half" idx="13"/>
          </p:nvPr>
        </p:nvSpPr>
        <p:spPr>
          <a:xfrm>
            <a:off x="8610600" y="1501727"/>
            <a:ext cx="2743200" cy="4610141"/>
          </a:xfrm>
        </p:spPr>
        <p:txBody>
          <a:bodyPr>
            <a:normAutofit/>
          </a:bodyPr>
          <a:lstStyle>
            <a:lvl1pPr marL="0" indent="0">
              <a:buNone/>
              <a:defRPr sz="2000" baseline="0">
                <a:solidFill>
                  <a:srgbClr val="231932"/>
                </a:solidFill>
              </a:defRPr>
            </a:lvl1pPr>
            <a:lvl2pPr>
              <a:defRPr sz="2000"/>
            </a:lvl2pPr>
            <a:lvl3pPr>
              <a:defRPr sz="1800"/>
            </a:lvl3pPr>
            <a:lvl4pPr>
              <a:defRPr sz="1600"/>
            </a:lvl4pPr>
            <a:lvl5pPr>
              <a:defRPr sz="1600"/>
            </a:lvl5pPr>
          </a:lstStyle>
          <a:p>
            <a:pPr lvl="0"/>
            <a:endParaRPr lang="en-US" dirty="0"/>
          </a:p>
        </p:txBody>
      </p:sp>
      <p:sp>
        <p:nvSpPr>
          <p:cNvPr id="10" name="Content Placeholder 3"/>
          <p:cNvSpPr>
            <a:spLocks noGrp="1"/>
          </p:cNvSpPr>
          <p:nvPr>
            <p:ph sz="half" idx="14"/>
          </p:nvPr>
        </p:nvSpPr>
        <p:spPr>
          <a:xfrm>
            <a:off x="831850" y="1501727"/>
            <a:ext cx="7321550" cy="4610141"/>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0AE72D74-0891-4F1C-BC32-4A5682C54C9D}" type="datetime1">
              <a:rPr lang="en-US" smtClean="0"/>
              <a:t>8/23/2019</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7" name="Picture 16"/>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ain Right Text Slide Red">
    <p:bg>
      <p:bgPr>
        <a:solidFill>
          <a:schemeClr val="bg1"/>
        </a:solidFill>
        <a:effectLst/>
      </p:bgPr>
    </p:bg>
    <p:spTree>
      <p:nvGrpSpPr>
        <p:cNvPr id="1" name=""/>
        <p:cNvGrpSpPr/>
        <p:nvPr/>
      </p:nvGrpSpPr>
      <p:grpSpPr>
        <a:xfrm>
          <a:off x="0" y="0"/>
          <a:ext cx="0" cy="0"/>
          <a:chOff x="0" y="0"/>
          <a:chExt cx="0" cy="0"/>
        </a:xfrm>
      </p:grpSpPr>
      <p:sp>
        <p:nvSpPr>
          <p:cNvPr id="17" name="Rectangle 16"/>
          <p:cNvSpPr/>
          <p:nvPr userDrawn="1"/>
        </p:nvSpPr>
        <p:spPr>
          <a:xfrm>
            <a:off x="0" y="0"/>
            <a:ext cx="12192000" cy="1143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3"/>
          <p:cNvSpPr>
            <a:spLocks noGrp="1"/>
          </p:cNvSpPr>
          <p:nvPr>
            <p:ph sz="half" idx="13"/>
          </p:nvPr>
        </p:nvSpPr>
        <p:spPr>
          <a:xfrm>
            <a:off x="838200" y="1501727"/>
            <a:ext cx="2743200" cy="4610141"/>
          </a:xfrm>
        </p:spPr>
        <p:txBody>
          <a:bodyPr>
            <a:normAutofit/>
          </a:bodyPr>
          <a:lstStyle>
            <a:lvl1pPr marL="0" indent="0">
              <a:buNone/>
              <a:defRPr sz="2000" baseline="0">
                <a:solidFill>
                  <a:srgbClr val="231932"/>
                </a:solidFill>
              </a:defRPr>
            </a:lvl1pPr>
            <a:lvl2pPr>
              <a:defRPr sz="2000"/>
            </a:lvl2pPr>
            <a:lvl3pPr>
              <a:defRPr sz="1800"/>
            </a:lvl3pPr>
            <a:lvl4pPr>
              <a:defRPr sz="1600"/>
            </a:lvl4pPr>
            <a:lvl5pPr>
              <a:defRPr sz="1600"/>
            </a:lvl5pPr>
          </a:lstStyle>
          <a:p>
            <a:pPr lvl="0"/>
            <a:endParaRPr lang="en-US" dirty="0"/>
          </a:p>
        </p:txBody>
      </p:sp>
      <p:sp>
        <p:nvSpPr>
          <p:cNvPr id="10" name="Content Placeholder 3"/>
          <p:cNvSpPr>
            <a:spLocks noGrp="1"/>
          </p:cNvSpPr>
          <p:nvPr>
            <p:ph sz="half" idx="14"/>
          </p:nvPr>
        </p:nvSpPr>
        <p:spPr>
          <a:xfrm>
            <a:off x="4038600" y="1501727"/>
            <a:ext cx="7163834"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E0305116-7C61-4E21-8C5C-5078E8593F53}" type="datetime1">
              <a:rPr lang="en-US" smtClean="0"/>
              <a:t>8/23/2019</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5" name="Picture 14"/>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in Right Text Slide Blue">
    <p:bg>
      <p:bgPr>
        <a:solidFill>
          <a:schemeClr val="bg1"/>
        </a:solidFill>
        <a:effectLst/>
      </p:bgPr>
    </p:bg>
    <p:spTree>
      <p:nvGrpSpPr>
        <p:cNvPr id="1" name=""/>
        <p:cNvGrpSpPr/>
        <p:nvPr/>
      </p:nvGrpSpPr>
      <p:grpSpPr>
        <a:xfrm>
          <a:off x="0" y="0"/>
          <a:ext cx="0" cy="0"/>
          <a:chOff x="0" y="0"/>
          <a:chExt cx="0" cy="0"/>
        </a:xfrm>
      </p:grpSpPr>
      <p:sp>
        <p:nvSpPr>
          <p:cNvPr id="15" name="Rectangle 14"/>
          <p:cNvSpPr/>
          <p:nvPr userDrawn="1"/>
        </p:nvSpPr>
        <p:spPr>
          <a:xfrm>
            <a:off x="0" y="0"/>
            <a:ext cx="12192000" cy="1143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3"/>
          <p:cNvSpPr>
            <a:spLocks noGrp="1"/>
          </p:cNvSpPr>
          <p:nvPr>
            <p:ph sz="half" idx="13"/>
          </p:nvPr>
        </p:nvSpPr>
        <p:spPr>
          <a:xfrm>
            <a:off x="838200" y="1501728"/>
            <a:ext cx="2743200" cy="4626550"/>
          </a:xfrm>
        </p:spPr>
        <p:txBody>
          <a:bodyPr>
            <a:normAutofit/>
          </a:bodyPr>
          <a:lstStyle>
            <a:lvl1pPr marL="0" indent="0">
              <a:buNone/>
              <a:defRPr sz="2000" baseline="0">
                <a:solidFill>
                  <a:srgbClr val="231932"/>
                </a:solidFill>
              </a:defRPr>
            </a:lvl1pPr>
            <a:lvl2pPr>
              <a:defRPr sz="2000"/>
            </a:lvl2pPr>
            <a:lvl3pPr>
              <a:defRPr sz="1800"/>
            </a:lvl3pPr>
            <a:lvl4pPr>
              <a:defRPr sz="1600"/>
            </a:lvl4pPr>
            <a:lvl5pPr>
              <a:defRPr sz="1600"/>
            </a:lvl5pPr>
          </a:lstStyle>
          <a:p>
            <a:pPr lvl="0"/>
            <a:endParaRPr lang="en-US" dirty="0"/>
          </a:p>
        </p:txBody>
      </p:sp>
      <p:sp>
        <p:nvSpPr>
          <p:cNvPr id="10" name="Content Placeholder 3"/>
          <p:cNvSpPr>
            <a:spLocks noGrp="1"/>
          </p:cNvSpPr>
          <p:nvPr>
            <p:ph sz="half" idx="14"/>
          </p:nvPr>
        </p:nvSpPr>
        <p:spPr>
          <a:xfrm>
            <a:off x="4038600" y="1501727"/>
            <a:ext cx="7163834"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39CDE717-247F-40B5-8A9B-B848D2257865}" type="datetime1">
              <a:rPr lang="en-US" smtClean="0"/>
              <a:t>8/23/2019</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7" name="Picture 16"/>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xtra Right Text Slide Red">
    <p:bg>
      <p:bgPr>
        <a:solidFill>
          <a:schemeClr val="bg1"/>
        </a:solidFill>
        <a:effectLst/>
      </p:bgPr>
    </p:bg>
    <p:spTree>
      <p:nvGrpSpPr>
        <p:cNvPr id="1" name=""/>
        <p:cNvGrpSpPr/>
        <p:nvPr/>
      </p:nvGrpSpPr>
      <p:grpSpPr>
        <a:xfrm>
          <a:off x="0" y="0"/>
          <a:ext cx="0" cy="0"/>
          <a:chOff x="0" y="0"/>
          <a:chExt cx="0" cy="0"/>
        </a:xfrm>
      </p:grpSpPr>
      <p:sp>
        <p:nvSpPr>
          <p:cNvPr id="14" name="Rectangle 13"/>
          <p:cNvSpPr/>
          <p:nvPr userDrawn="1"/>
        </p:nvSpPr>
        <p:spPr>
          <a:xfrm>
            <a:off x="0" y="0"/>
            <a:ext cx="4069080" cy="6858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15798" y="1839508"/>
            <a:ext cx="3241802" cy="443198"/>
          </a:xfrm>
        </p:spPr>
        <p:txBody>
          <a:bodyPr wrap="square" lIns="0" tIns="0" rIns="0" bIns="0" anchor="b" anchorCtr="0">
            <a:spAutoFit/>
          </a:bodyPr>
          <a:lstStyle>
            <a:lvl1pPr>
              <a:defRPr sz="3200">
                <a:solidFill>
                  <a:schemeClr val="bg1"/>
                </a:solidFill>
              </a:defRPr>
            </a:lvl1pPr>
          </a:lstStyle>
          <a:p>
            <a:r>
              <a:rPr lang="en-US" dirty="0"/>
              <a:t>Title</a:t>
            </a:r>
          </a:p>
        </p:txBody>
      </p:sp>
      <p:sp>
        <p:nvSpPr>
          <p:cNvPr id="20" name="Text Placeholder 19"/>
          <p:cNvSpPr>
            <a:spLocks noGrp="1"/>
          </p:cNvSpPr>
          <p:nvPr>
            <p:ph type="body" sz="quarter" idx="10" hasCustomPrompt="1"/>
          </p:nvPr>
        </p:nvSpPr>
        <p:spPr>
          <a:xfrm>
            <a:off x="415798" y="2694186"/>
            <a:ext cx="3241802" cy="1255614"/>
          </a:xfrm>
        </p:spPr>
        <p:txBody>
          <a:bodyPr>
            <a:normAutofit/>
          </a:bodyPr>
          <a:lstStyle>
            <a:lvl1pPr marL="0" indent="0">
              <a:buNone/>
              <a:defRPr sz="20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Subtitle</a:t>
            </a:r>
          </a:p>
        </p:txBody>
      </p:sp>
      <p:sp>
        <p:nvSpPr>
          <p:cNvPr id="10" name="Date Placeholder 5"/>
          <p:cNvSpPr>
            <a:spLocks noGrp="1"/>
          </p:cNvSpPr>
          <p:nvPr>
            <p:ph type="dt" sz="half" idx="12"/>
          </p:nvPr>
        </p:nvSpPr>
        <p:spPr>
          <a:xfrm>
            <a:off x="4480560" y="6469353"/>
            <a:ext cx="1372565" cy="365125"/>
          </a:xfrm>
        </p:spPr>
        <p:txBody>
          <a:bodyPr/>
          <a:lstStyle>
            <a:lvl1pPr>
              <a:defRPr>
                <a:solidFill>
                  <a:srgbClr val="241E29">
                    <a:alpha val="50000"/>
                  </a:srgbClr>
                </a:solidFill>
              </a:defRPr>
            </a:lvl1pPr>
          </a:lstStyle>
          <a:p>
            <a:fld id="{E4B63D0B-45CF-4CF1-A184-80B5CA2721E9}" type="datetime1">
              <a:rPr lang="en-US" smtClean="0"/>
              <a:t>8/23/2019</a:t>
            </a:fld>
            <a:endParaRPr lang="en-US"/>
          </a:p>
        </p:txBody>
      </p:sp>
      <p:sp>
        <p:nvSpPr>
          <p:cNvPr id="11" name="Footer Placeholder 11"/>
          <p:cNvSpPr>
            <a:spLocks noGrp="1"/>
          </p:cNvSpPr>
          <p:nvPr>
            <p:ph type="ftr" sz="quarter" idx="13"/>
          </p:nvPr>
        </p:nvSpPr>
        <p:spPr>
          <a:xfrm>
            <a:off x="6264605" y="6469353"/>
            <a:ext cx="3735343" cy="365125"/>
          </a:xfrm>
        </p:spPr>
        <p:txBody>
          <a:bodyPr/>
          <a:lstStyle>
            <a:lvl1pPr>
              <a:defRPr>
                <a:solidFill>
                  <a:srgbClr val="241E29">
                    <a:alpha val="50000"/>
                  </a:srgbClr>
                </a:solidFill>
              </a:defRPr>
            </a:lvl1pPr>
          </a:lstStyle>
          <a:p>
            <a:r>
              <a:rPr lang="en-US"/>
              <a:t>©Appriss Retail.  Proprietary and Confidential</a:t>
            </a:r>
            <a:endParaRPr lang="en-US" dirty="0"/>
          </a:p>
        </p:txBody>
      </p:sp>
      <p:sp>
        <p:nvSpPr>
          <p:cNvPr id="12" name="Slide Number Placeholder 12"/>
          <p:cNvSpPr>
            <a:spLocks noGrp="1"/>
          </p:cNvSpPr>
          <p:nvPr>
            <p:ph type="sldNum" sz="quarter" idx="14"/>
          </p:nvPr>
        </p:nvSpPr>
        <p:spPr>
          <a:xfrm>
            <a:off x="10411428" y="6469353"/>
            <a:ext cx="1369092"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3" name="Content Placeholder 3"/>
          <p:cNvSpPr>
            <a:spLocks noGrp="1"/>
          </p:cNvSpPr>
          <p:nvPr>
            <p:ph sz="half" idx="15"/>
          </p:nvPr>
        </p:nvSpPr>
        <p:spPr>
          <a:xfrm>
            <a:off x="4480560" y="1839507"/>
            <a:ext cx="7299960" cy="4300035"/>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xtra Right Text Slide Blue">
    <p:bg>
      <p:bgPr>
        <a:solidFill>
          <a:schemeClr val="bg1"/>
        </a:solidFill>
        <a:effectLst/>
      </p:bgPr>
    </p:bg>
    <p:spTree>
      <p:nvGrpSpPr>
        <p:cNvPr id="1" name=""/>
        <p:cNvGrpSpPr/>
        <p:nvPr/>
      </p:nvGrpSpPr>
      <p:grpSpPr>
        <a:xfrm>
          <a:off x="0" y="0"/>
          <a:ext cx="0" cy="0"/>
          <a:chOff x="0" y="0"/>
          <a:chExt cx="0" cy="0"/>
        </a:xfrm>
      </p:grpSpPr>
      <p:sp>
        <p:nvSpPr>
          <p:cNvPr id="10" name="Rectangle 9"/>
          <p:cNvSpPr/>
          <p:nvPr userDrawn="1"/>
        </p:nvSpPr>
        <p:spPr>
          <a:xfrm>
            <a:off x="0" y="0"/>
            <a:ext cx="4069080" cy="6858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15798" y="1839508"/>
            <a:ext cx="3241802" cy="443198"/>
          </a:xfrm>
        </p:spPr>
        <p:txBody>
          <a:bodyPr wrap="square" lIns="0" tIns="0" rIns="0" bIns="0" anchor="b" anchorCtr="0">
            <a:spAutoFit/>
          </a:bodyPr>
          <a:lstStyle>
            <a:lvl1pPr>
              <a:defRPr sz="3200">
                <a:solidFill>
                  <a:schemeClr val="bg1"/>
                </a:solidFill>
              </a:defRPr>
            </a:lvl1pPr>
          </a:lstStyle>
          <a:p>
            <a:r>
              <a:rPr lang="en-US" dirty="0"/>
              <a:t>Title</a:t>
            </a:r>
          </a:p>
        </p:txBody>
      </p:sp>
      <p:sp>
        <p:nvSpPr>
          <p:cNvPr id="20" name="Text Placeholder 19"/>
          <p:cNvSpPr>
            <a:spLocks noGrp="1"/>
          </p:cNvSpPr>
          <p:nvPr>
            <p:ph type="body" sz="quarter" idx="10" hasCustomPrompt="1"/>
          </p:nvPr>
        </p:nvSpPr>
        <p:spPr>
          <a:xfrm>
            <a:off x="415798" y="2694186"/>
            <a:ext cx="3241802" cy="1255614"/>
          </a:xfrm>
        </p:spPr>
        <p:txBody>
          <a:bodyPr>
            <a:normAutofit/>
          </a:bodyPr>
          <a:lstStyle>
            <a:lvl1pPr marL="0" indent="0">
              <a:buNone/>
              <a:defRPr sz="20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Subtitle</a:t>
            </a:r>
          </a:p>
        </p:txBody>
      </p:sp>
      <p:sp>
        <p:nvSpPr>
          <p:cNvPr id="24" name="Date Placeholder 5"/>
          <p:cNvSpPr>
            <a:spLocks noGrp="1"/>
          </p:cNvSpPr>
          <p:nvPr>
            <p:ph type="dt" sz="half" idx="12"/>
          </p:nvPr>
        </p:nvSpPr>
        <p:spPr>
          <a:xfrm>
            <a:off x="4480560" y="6469353"/>
            <a:ext cx="1372565" cy="365125"/>
          </a:xfrm>
        </p:spPr>
        <p:txBody>
          <a:bodyPr/>
          <a:lstStyle>
            <a:lvl1pPr>
              <a:defRPr>
                <a:solidFill>
                  <a:srgbClr val="241E29">
                    <a:alpha val="50000"/>
                  </a:srgbClr>
                </a:solidFill>
              </a:defRPr>
            </a:lvl1pPr>
          </a:lstStyle>
          <a:p>
            <a:fld id="{793F2AC7-A257-466A-85E4-5D119771D680}" type="datetime1">
              <a:rPr lang="en-US" smtClean="0"/>
              <a:t>8/23/2019</a:t>
            </a:fld>
            <a:endParaRPr lang="en-US"/>
          </a:p>
        </p:txBody>
      </p:sp>
      <p:sp>
        <p:nvSpPr>
          <p:cNvPr id="26" name="Slide Number Placeholder 12"/>
          <p:cNvSpPr>
            <a:spLocks noGrp="1"/>
          </p:cNvSpPr>
          <p:nvPr>
            <p:ph type="sldNum" sz="quarter" idx="14"/>
          </p:nvPr>
        </p:nvSpPr>
        <p:spPr>
          <a:xfrm>
            <a:off x="10411428" y="6469353"/>
            <a:ext cx="1369092"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2" name="Content Placeholder 3"/>
          <p:cNvSpPr>
            <a:spLocks noGrp="1"/>
          </p:cNvSpPr>
          <p:nvPr>
            <p:ph sz="half" idx="15"/>
          </p:nvPr>
        </p:nvSpPr>
        <p:spPr>
          <a:xfrm>
            <a:off x="4480560" y="1837944"/>
            <a:ext cx="7299960" cy="429768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1"/>
          <p:cNvSpPr>
            <a:spLocks noGrp="1"/>
          </p:cNvSpPr>
          <p:nvPr>
            <p:ph type="ftr" sz="quarter" idx="13"/>
          </p:nvPr>
        </p:nvSpPr>
        <p:spPr>
          <a:xfrm>
            <a:off x="6264605" y="6469353"/>
            <a:ext cx="3735343"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Extra Map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630685"/>
            <a:ext cx="3657600" cy="443198"/>
          </a:xfrm>
        </p:spPr>
        <p:txBody>
          <a:bodyPr wrap="square" lIns="0" tIns="0" rIns="0" bIns="0" anchor="b" anchorCtr="0">
            <a:spAutoFit/>
          </a:bodyPr>
          <a:lstStyle>
            <a:lvl1pPr>
              <a:defRPr sz="3200" baseline="0">
                <a:solidFill>
                  <a:srgbClr val="AF0041"/>
                </a:solidFill>
              </a:defRPr>
            </a:lvl1pPr>
          </a:lstStyle>
          <a:p>
            <a:r>
              <a:rPr lang="en-US" dirty="0"/>
              <a:t>Title</a:t>
            </a:r>
          </a:p>
        </p:txBody>
      </p:sp>
      <p:sp>
        <p:nvSpPr>
          <p:cNvPr id="3" name="Text Placeholder 2"/>
          <p:cNvSpPr>
            <a:spLocks noGrp="1"/>
          </p:cNvSpPr>
          <p:nvPr>
            <p:ph type="body" idx="1" hasCustomPrompt="1"/>
          </p:nvPr>
        </p:nvSpPr>
        <p:spPr>
          <a:xfrm>
            <a:off x="831850" y="3483398"/>
            <a:ext cx="3657600" cy="332399"/>
          </a:xfrm>
        </p:spPr>
        <p:txBody>
          <a:bodyPr wrap="square" lIns="0" tIns="0" rIns="0" bIns="0" anchor="t" anchorCtr="0">
            <a:spAutoFit/>
          </a:bodyPr>
          <a:lstStyle>
            <a:lvl1pPr marL="0" indent="0">
              <a:buNone/>
              <a:defRPr sz="2400" b="0" i="0" baseline="0">
                <a:solidFill>
                  <a:srgbClr val="231932"/>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sp>
        <p:nvSpPr>
          <p:cNvPr id="63"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0D2130AC-FD2E-4D36-ABB8-30EA95194D59}" type="datetime1">
              <a:rPr lang="en-US" smtClean="0"/>
              <a:t>8/23/2019</a:t>
            </a:fld>
            <a:endParaRPr lang="en-US"/>
          </a:p>
        </p:txBody>
      </p:sp>
      <p:sp>
        <p:nvSpPr>
          <p:cNvPr id="65"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68"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grpSp>
        <p:nvGrpSpPr>
          <p:cNvPr id="177" name="Group 11"/>
          <p:cNvGrpSpPr/>
          <p:nvPr userDrawn="1"/>
        </p:nvGrpSpPr>
        <p:grpSpPr>
          <a:xfrm>
            <a:off x="5751114" y="1333821"/>
            <a:ext cx="5586645" cy="3681413"/>
            <a:chOff x="5157992" y="1665629"/>
            <a:chExt cx="2936367" cy="1919171"/>
          </a:xfrm>
          <a:solidFill>
            <a:schemeClr val="bg2">
              <a:lumMod val="90000"/>
            </a:schemeClr>
          </a:solidFill>
        </p:grpSpPr>
        <p:sp>
          <p:nvSpPr>
            <p:cNvPr id="178" name="Freeform 5"/>
            <p:cNvSpPr>
              <a:spLocks/>
            </p:cNvSpPr>
            <p:nvPr/>
          </p:nvSpPr>
          <p:spPr bwMode="auto">
            <a:xfrm>
              <a:off x="5379188" y="1665629"/>
              <a:ext cx="365958" cy="271518"/>
            </a:xfrm>
            <a:custGeom>
              <a:avLst/>
              <a:gdLst>
                <a:gd name="T0" fmla="*/ 228 w 257"/>
                <a:gd name="T1" fmla="*/ 167 h 190"/>
                <a:gd name="T2" fmla="*/ 227 w 257"/>
                <a:gd name="T3" fmla="*/ 190 h 190"/>
                <a:gd name="T4" fmla="*/ 150 w 257"/>
                <a:gd name="T5" fmla="*/ 172 h 190"/>
                <a:gd name="T6" fmla="*/ 141 w 257"/>
                <a:gd name="T7" fmla="*/ 172 h 190"/>
                <a:gd name="T8" fmla="*/ 108 w 257"/>
                <a:gd name="T9" fmla="*/ 174 h 190"/>
                <a:gd name="T10" fmla="*/ 102 w 257"/>
                <a:gd name="T11" fmla="*/ 173 h 190"/>
                <a:gd name="T12" fmla="*/ 97 w 257"/>
                <a:gd name="T13" fmla="*/ 174 h 190"/>
                <a:gd name="T14" fmla="*/ 94 w 257"/>
                <a:gd name="T15" fmla="*/ 172 h 190"/>
                <a:gd name="T16" fmla="*/ 86 w 257"/>
                <a:gd name="T17" fmla="*/ 171 h 190"/>
                <a:gd name="T18" fmla="*/ 85 w 257"/>
                <a:gd name="T19" fmla="*/ 168 h 190"/>
                <a:gd name="T20" fmla="*/ 73 w 257"/>
                <a:gd name="T21" fmla="*/ 165 h 190"/>
                <a:gd name="T22" fmla="*/ 66 w 257"/>
                <a:gd name="T23" fmla="*/ 162 h 190"/>
                <a:gd name="T24" fmla="*/ 51 w 257"/>
                <a:gd name="T25" fmla="*/ 165 h 190"/>
                <a:gd name="T26" fmla="*/ 33 w 257"/>
                <a:gd name="T27" fmla="*/ 156 h 190"/>
                <a:gd name="T28" fmla="*/ 29 w 257"/>
                <a:gd name="T29" fmla="*/ 128 h 190"/>
                <a:gd name="T30" fmla="*/ 20 w 257"/>
                <a:gd name="T31" fmla="*/ 126 h 190"/>
                <a:gd name="T32" fmla="*/ 10 w 257"/>
                <a:gd name="T33" fmla="*/ 120 h 190"/>
                <a:gd name="T34" fmla="*/ 0 w 257"/>
                <a:gd name="T35" fmla="*/ 116 h 190"/>
                <a:gd name="T36" fmla="*/ 3 w 257"/>
                <a:gd name="T37" fmla="*/ 103 h 190"/>
                <a:gd name="T38" fmla="*/ 5 w 257"/>
                <a:gd name="T39" fmla="*/ 105 h 190"/>
                <a:gd name="T40" fmla="*/ 7 w 257"/>
                <a:gd name="T41" fmla="*/ 105 h 190"/>
                <a:gd name="T42" fmla="*/ 11 w 257"/>
                <a:gd name="T43" fmla="*/ 99 h 190"/>
                <a:gd name="T44" fmla="*/ 9 w 257"/>
                <a:gd name="T45" fmla="*/ 96 h 190"/>
                <a:gd name="T46" fmla="*/ 7 w 257"/>
                <a:gd name="T47" fmla="*/ 88 h 190"/>
                <a:gd name="T48" fmla="*/ 16 w 257"/>
                <a:gd name="T49" fmla="*/ 85 h 190"/>
                <a:gd name="T50" fmla="*/ 8 w 257"/>
                <a:gd name="T51" fmla="*/ 78 h 190"/>
                <a:gd name="T52" fmla="*/ 6 w 257"/>
                <a:gd name="T53" fmla="*/ 60 h 190"/>
                <a:gd name="T54" fmla="*/ 8 w 257"/>
                <a:gd name="T55" fmla="*/ 41 h 190"/>
                <a:gd name="T56" fmla="*/ 3 w 257"/>
                <a:gd name="T57" fmla="*/ 23 h 190"/>
                <a:gd name="T58" fmla="*/ 10 w 257"/>
                <a:gd name="T59" fmla="*/ 10 h 190"/>
                <a:gd name="T60" fmla="*/ 33 w 257"/>
                <a:gd name="T61" fmla="*/ 30 h 190"/>
                <a:gd name="T62" fmla="*/ 49 w 257"/>
                <a:gd name="T63" fmla="*/ 36 h 190"/>
                <a:gd name="T64" fmla="*/ 55 w 257"/>
                <a:gd name="T65" fmla="*/ 36 h 190"/>
                <a:gd name="T66" fmla="*/ 65 w 257"/>
                <a:gd name="T67" fmla="*/ 42 h 190"/>
                <a:gd name="T68" fmla="*/ 63 w 257"/>
                <a:gd name="T69" fmla="*/ 56 h 190"/>
                <a:gd name="T70" fmla="*/ 48 w 257"/>
                <a:gd name="T71" fmla="*/ 69 h 190"/>
                <a:gd name="T72" fmla="*/ 48 w 257"/>
                <a:gd name="T73" fmla="*/ 74 h 190"/>
                <a:gd name="T74" fmla="*/ 55 w 257"/>
                <a:gd name="T75" fmla="*/ 66 h 190"/>
                <a:gd name="T76" fmla="*/ 70 w 257"/>
                <a:gd name="T77" fmla="*/ 57 h 190"/>
                <a:gd name="T78" fmla="*/ 66 w 257"/>
                <a:gd name="T79" fmla="*/ 64 h 190"/>
                <a:gd name="T80" fmla="*/ 52 w 257"/>
                <a:gd name="T81" fmla="*/ 80 h 190"/>
                <a:gd name="T82" fmla="*/ 46 w 257"/>
                <a:gd name="T83" fmla="*/ 91 h 190"/>
                <a:gd name="T84" fmla="*/ 55 w 257"/>
                <a:gd name="T85" fmla="*/ 87 h 190"/>
                <a:gd name="T86" fmla="*/ 65 w 257"/>
                <a:gd name="T87" fmla="*/ 82 h 190"/>
                <a:gd name="T88" fmla="*/ 71 w 257"/>
                <a:gd name="T89" fmla="*/ 68 h 190"/>
                <a:gd name="T90" fmla="*/ 80 w 257"/>
                <a:gd name="T91" fmla="*/ 54 h 190"/>
                <a:gd name="T92" fmla="*/ 78 w 257"/>
                <a:gd name="T93" fmla="*/ 42 h 190"/>
                <a:gd name="T94" fmla="*/ 75 w 257"/>
                <a:gd name="T95" fmla="*/ 35 h 190"/>
                <a:gd name="T96" fmla="*/ 74 w 257"/>
                <a:gd name="T97" fmla="*/ 46 h 190"/>
                <a:gd name="T98" fmla="*/ 76 w 257"/>
                <a:gd name="T99" fmla="*/ 54 h 190"/>
                <a:gd name="T100" fmla="*/ 72 w 257"/>
                <a:gd name="T101" fmla="*/ 51 h 190"/>
                <a:gd name="T102" fmla="*/ 68 w 257"/>
                <a:gd name="T103" fmla="*/ 41 h 190"/>
                <a:gd name="T104" fmla="*/ 73 w 257"/>
                <a:gd name="T105" fmla="*/ 32 h 190"/>
                <a:gd name="T106" fmla="*/ 74 w 257"/>
                <a:gd name="T107" fmla="*/ 24 h 190"/>
                <a:gd name="T108" fmla="*/ 80 w 257"/>
                <a:gd name="T109" fmla="*/ 30 h 190"/>
                <a:gd name="T110" fmla="*/ 79 w 257"/>
                <a:gd name="T111" fmla="*/ 15 h 190"/>
                <a:gd name="T112" fmla="*/ 77 w 257"/>
                <a:gd name="T113" fmla="*/ 11 h 190"/>
                <a:gd name="T114" fmla="*/ 145 w 257"/>
                <a:gd name="T115" fmla="*/ 19 h 190"/>
                <a:gd name="T116" fmla="*/ 246 w 257"/>
                <a:gd name="T117" fmla="*/ 45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7" h="190">
                  <a:moveTo>
                    <a:pt x="257" y="47"/>
                  </a:moveTo>
                  <a:cubicBezTo>
                    <a:pt x="257" y="47"/>
                    <a:pt x="233" y="161"/>
                    <a:pt x="228" y="167"/>
                  </a:cubicBezTo>
                  <a:cubicBezTo>
                    <a:pt x="224" y="174"/>
                    <a:pt x="229" y="172"/>
                    <a:pt x="229" y="179"/>
                  </a:cubicBezTo>
                  <a:cubicBezTo>
                    <a:pt x="229" y="185"/>
                    <a:pt x="227" y="190"/>
                    <a:pt x="227" y="190"/>
                  </a:cubicBezTo>
                  <a:cubicBezTo>
                    <a:pt x="161" y="173"/>
                    <a:pt x="161" y="173"/>
                    <a:pt x="161" y="173"/>
                  </a:cubicBezTo>
                  <a:cubicBezTo>
                    <a:pt x="150" y="172"/>
                    <a:pt x="150" y="172"/>
                    <a:pt x="150" y="172"/>
                  </a:cubicBezTo>
                  <a:cubicBezTo>
                    <a:pt x="146" y="173"/>
                    <a:pt x="146" y="173"/>
                    <a:pt x="146" y="173"/>
                  </a:cubicBezTo>
                  <a:cubicBezTo>
                    <a:pt x="141" y="172"/>
                    <a:pt x="141" y="172"/>
                    <a:pt x="141" y="172"/>
                  </a:cubicBezTo>
                  <a:cubicBezTo>
                    <a:pt x="137" y="173"/>
                    <a:pt x="137" y="173"/>
                    <a:pt x="137" y="173"/>
                  </a:cubicBezTo>
                  <a:cubicBezTo>
                    <a:pt x="108" y="174"/>
                    <a:pt x="108" y="174"/>
                    <a:pt x="108" y="174"/>
                  </a:cubicBezTo>
                  <a:cubicBezTo>
                    <a:pt x="105" y="172"/>
                    <a:pt x="105" y="172"/>
                    <a:pt x="105" y="172"/>
                  </a:cubicBezTo>
                  <a:cubicBezTo>
                    <a:pt x="102" y="173"/>
                    <a:pt x="102" y="173"/>
                    <a:pt x="102" y="173"/>
                  </a:cubicBezTo>
                  <a:cubicBezTo>
                    <a:pt x="99" y="174"/>
                    <a:pt x="99" y="174"/>
                    <a:pt x="99" y="174"/>
                  </a:cubicBezTo>
                  <a:cubicBezTo>
                    <a:pt x="97" y="174"/>
                    <a:pt x="97" y="174"/>
                    <a:pt x="97" y="174"/>
                  </a:cubicBezTo>
                  <a:cubicBezTo>
                    <a:pt x="94" y="173"/>
                    <a:pt x="94" y="173"/>
                    <a:pt x="94" y="173"/>
                  </a:cubicBezTo>
                  <a:cubicBezTo>
                    <a:pt x="94" y="172"/>
                    <a:pt x="94" y="172"/>
                    <a:pt x="94" y="172"/>
                  </a:cubicBezTo>
                  <a:cubicBezTo>
                    <a:pt x="89" y="172"/>
                    <a:pt x="89" y="172"/>
                    <a:pt x="89" y="172"/>
                  </a:cubicBezTo>
                  <a:cubicBezTo>
                    <a:pt x="86" y="171"/>
                    <a:pt x="86" y="171"/>
                    <a:pt x="86" y="171"/>
                  </a:cubicBezTo>
                  <a:cubicBezTo>
                    <a:pt x="85" y="169"/>
                    <a:pt x="85" y="169"/>
                    <a:pt x="85" y="169"/>
                  </a:cubicBezTo>
                  <a:cubicBezTo>
                    <a:pt x="85" y="168"/>
                    <a:pt x="85" y="168"/>
                    <a:pt x="85" y="168"/>
                  </a:cubicBezTo>
                  <a:cubicBezTo>
                    <a:pt x="81" y="167"/>
                    <a:pt x="81" y="167"/>
                    <a:pt x="81" y="167"/>
                  </a:cubicBezTo>
                  <a:cubicBezTo>
                    <a:pt x="73" y="165"/>
                    <a:pt x="73" y="165"/>
                    <a:pt x="73" y="165"/>
                  </a:cubicBezTo>
                  <a:cubicBezTo>
                    <a:pt x="68" y="163"/>
                    <a:pt x="68" y="163"/>
                    <a:pt x="68" y="163"/>
                  </a:cubicBezTo>
                  <a:cubicBezTo>
                    <a:pt x="66" y="162"/>
                    <a:pt x="66" y="162"/>
                    <a:pt x="66" y="162"/>
                  </a:cubicBezTo>
                  <a:cubicBezTo>
                    <a:pt x="60" y="163"/>
                    <a:pt x="60" y="163"/>
                    <a:pt x="60" y="163"/>
                  </a:cubicBezTo>
                  <a:cubicBezTo>
                    <a:pt x="51" y="165"/>
                    <a:pt x="51" y="165"/>
                    <a:pt x="51" y="165"/>
                  </a:cubicBezTo>
                  <a:cubicBezTo>
                    <a:pt x="40" y="162"/>
                    <a:pt x="40" y="162"/>
                    <a:pt x="40" y="162"/>
                  </a:cubicBezTo>
                  <a:cubicBezTo>
                    <a:pt x="33" y="156"/>
                    <a:pt x="33" y="156"/>
                    <a:pt x="33" y="156"/>
                  </a:cubicBezTo>
                  <a:cubicBezTo>
                    <a:pt x="33" y="156"/>
                    <a:pt x="36" y="149"/>
                    <a:pt x="35" y="140"/>
                  </a:cubicBezTo>
                  <a:cubicBezTo>
                    <a:pt x="34" y="130"/>
                    <a:pt x="29" y="128"/>
                    <a:pt x="29" y="128"/>
                  </a:cubicBezTo>
                  <a:cubicBezTo>
                    <a:pt x="24" y="128"/>
                    <a:pt x="24" y="128"/>
                    <a:pt x="24" y="128"/>
                  </a:cubicBezTo>
                  <a:cubicBezTo>
                    <a:pt x="20" y="126"/>
                    <a:pt x="20" y="126"/>
                    <a:pt x="20" y="126"/>
                  </a:cubicBezTo>
                  <a:cubicBezTo>
                    <a:pt x="20" y="126"/>
                    <a:pt x="20" y="120"/>
                    <a:pt x="15" y="120"/>
                  </a:cubicBezTo>
                  <a:cubicBezTo>
                    <a:pt x="10" y="120"/>
                    <a:pt x="10" y="120"/>
                    <a:pt x="10" y="120"/>
                  </a:cubicBezTo>
                  <a:cubicBezTo>
                    <a:pt x="4" y="119"/>
                    <a:pt x="4" y="119"/>
                    <a:pt x="4" y="119"/>
                  </a:cubicBezTo>
                  <a:cubicBezTo>
                    <a:pt x="0" y="116"/>
                    <a:pt x="0" y="116"/>
                    <a:pt x="0" y="116"/>
                  </a:cubicBezTo>
                  <a:cubicBezTo>
                    <a:pt x="1" y="109"/>
                    <a:pt x="1" y="109"/>
                    <a:pt x="1" y="109"/>
                  </a:cubicBezTo>
                  <a:cubicBezTo>
                    <a:pt x="3" y="103"/>
                    <a:pt x="3" y="103"/>
                    <a:pt x="3" y="103"/>
                  </a:cubicBezTo>
                  <a:cubicBezTo>
                    <a:pt x="4" y="102"/>
                    <a:pt x="4" y="102"/>
                    <a:pt x="4" y="102"/>
                  </a:cubicBezTo>
                  <a:cubicBezTo>
                    <a:pt x="5" y="105"/>
                    <a:pt x="5" y="105"/>
                    <a:pt x="5" y="105"/>
                  </a:cubicBezTo>
                  <a:cubicBezTo>
                    <a:pt x="6" y="106"/>
                    <a:pt x="6" y="106"/>
                    <a:pt x="6" y="106"/>
                  </a:cubicBezTo>
                  <a:cubicBezTo>
                    <a:pt x="7" y="105"/>
                    <a:pt x="7" y="105"/>
                    <a:pt x="7" y="105"/>
                  </a:cubicBezTo>
                  <a:cubicBezTo>
                    <a:pt x="7" y="101"/>
                    <a:pt x="7" y="101"/>
                    <a:pt x="7" y="101"/>
                  </a:cubicBezTo>
                  <a:cubicBezTo>
                    <a:pt x="11" y="99"/>
                    <a:pt x="11" y="99"/>
                    <a:pt x="11" y="99"/>
                  </a:cubicBezTo>
                  <a:cubicBezTo>
                    <a:pt x="11" y="98"/>
                    <a:pt x="11" y="98"/>
                    <a:pt x="11" y="98"/>
                  </a:cubicBezTo>
                  <a:cubicBezTo>
                    <a:pt x="9" y="96"/>
                    <a:pt x="9" y="96"/>
                    <a:pt x="9" y="96"/>
                  </a:cubicBezTo>
                  <a:cubicBezTo>
                    <a:pt x="8" y="95"/>
                    <a:pt x="8" y="95"/>
                    <a:pt x="8" y="95"/>
                  </a:cubicBezTo>
                  <a:cubicBezTo>
                    <a:pt x="7" y="88"/>
                    <a:pt x="7" y="88"/>
                    <a:pt x="7" y="88"/>
                  </a:cubicBezTo>
                  <a:cubicBezTo>
                    <a:pt x="14" y="87"/>
                    <a:pt x="14" y="87"/>
                    <a:pt x="14" y="87"/>
                  </a:cubicBezTo>
                  <a:cubicBezTo>
                    <a:pt x="16" y="85"/>
                    <a:pt x="16" y="85"/>
                    <a:pt x="16" y="85"/>
                  </a:cubicBezTo>
                  <a:cubicBezTo>
                    <a:pt x="10" y="80"/>
                    <a:pt x="10" y="80"/>
                    <a:pt x="10" y="80"/>
                  </a:cubicBezTo>
                  <a:cubicBezTo>
                    <a:pt x="8" y="78"/>
                    <a:pt x="8" y="78"/>
                    <a:pt x="8" y="78"/>
                  </a:cubicBezTo>
                  <a:cubicBezTo>
                    <a:pt x="6" y="64"/>
                    <a:pt x="6" y="64"/>
                    <a:pt x="6" y="64"/>
                  </a:cubicBezTo>
                  <a:cubicBezTo>
                    <a:pt x="6" y="60"/>
                    <a:pt x="6" y="60"/>
                    <a:pt x="6" y="60"/>
                  </a:cubicBezTo>
                  <a:cubicBezTo>
                    <a:pt x="8" y="59"/>
                    <a:pt x="8" y="59"/>
                    <a:pt x="8" y="59"/>
                  </a:cubicBezTo>
                  <a:cubicBezTo>
                    <a:pt x="8" y="41"/>
                    <a:pt x="8" y="41"/>
                    <a:pt x="8" y="41"/>
                  </a:cubicBezTo>
                  <a:cubicBezTo>
                    <a:pt x="3" y="37"/>
                    <a:pt x="3" y="37"/>
                    <a:pt x="3" y="37"/>
                  </a:cubicBezTo>
                  <a:cubicBezTo>
                    <a:pt x="3" y="23"/>
                    <a:pt x="3" y="23"/>
                    <a:pt x="3" y="23"/>
                  </a:cubicBezTo>
                  <a:cubicBezTo>
                    <a:pt x="8" y="17"/>
                    <a:pt x="8" y="17"/>
                    <a:pt x="8" y="17"/>
                  </a:cubicBezTo>
                  <a:cubicBezTo>
                    <a:pt x="10" y="10"/>
                    <a:pt x="10" y="10"/>
                    <a:pt x="10" y="10"/>
                  </a:cubicBezTo>
                  <a:cubicBezTo>
                    <a:pt x="21" y="21"/>
                    <a:pt x="21" y="21"/>
                    <a:pt x="21" y="21"/>
                  </a:cubicBezTo>
                  <a:cubicBezTo>
                    <a:pt x="33" y="30"/>
                    <a:pt x="33" y="30"/>
                    <a:pt x="33" y="30"/>
                  </a:cubicBezTo>
                  <a:cubicBezTo>
                    <a:pt x="42" y="34"/>
                    <a:pt x="42" y="34"/>
                    <a:pt x="42" y="34"/>
                  </a:cubicBezTo>
                  <a:cubicBezTo>
                    <a:pt x="49" y="36"/>
                    <a:pt x="49" y="36"/>
                    <a:pt x="49" y="36"/>
                  </a:cubicBezTo>
                  <a:cubicBezTo>
                    <a:pt x="52" y="36"/>
                    <a:pt x="52" y="36"/>
                    <a:pt x="52" y="36"/>
                  </a:cubicBezTo>
                  <a:cubicBezTo>
                    <a:pt x="55" y="36"/>
                    <a:pt x="55" y="36"/>
                    <a:pt x="55" y="36"/>
                  </a:cubicBezTo>
                  <a:cubicBezTo>
                    <a:pt x="57" y="43"/>
                    <a:pt x="57" y="43"/>
                    <a:pt x="57" y="43"/>
                  </a:cubicBezTo>
                  <a:cubicBezTo>
                    <a:pt x="65" y="42"/>
                    <a:pt x="65" y="42"/>
                    <a:pt x="65" y="42"/>
                  </a:cubicBezTo>
                  <a:cubicBezTo>
                    <a:pt x="66" y="52"/>
                    <a:pt x="66" y="52"/>
                    <a:pt x="66" y="52"/>
                  </a:cubicBezTo>
                  <a:cubicBezTo>
                    <a:pt x="63" y="56"/>
                    <a:pt x="63" y="56"/>
                    <a:pt x="63" y="56"/>
                  </a:cubicBezTo>
                  <a:cubicBezTo>
                    <a:pt x="54" y="61"/>
                    <a:pt x="54" y="61"/>
                    <a:pt x="54" y="61"/>
                  </a:cubicBezTo>
                  <a:cubicBezTo>
                    <a:pt x="48" y="69"/>
                    <a:pt x="48" y="69"/>
                    <a:pt x="48" y="69"/>
                  </a:cubicBezTo>
                  <a:cubicBezTo>
                    <a:pt x="46" y="73"/>
                    <a:pt x="46" y="73"/>
                    <a:pt x="46" y="73"/>
                  </a:cubicBezTo>
                  <a:cubicBezTo>
                    <a:pt x="48" y="74"/>
                    <a:pt x="48" y="74"/>
                    <a:pt x="48" y="74"/>
                  </a:cubicBezTo>
                  <a:cubicBezTo>
                    <a:pt x="52" y="70"/>
                    <a:pt x="52" y="70"/>
                    <a:pt x="52" y="70"/>
                  </a:cubicBezTo>
                  <a:cubicBezTo>
                    <a:pt x="55" y="66"/>
                    <a:pt x="55" y="66"/>
                    <a:pt x="55" y="66"/>
                  </a:cubicBezTo>
                  <a:cubicBezTo>
                    <a:pt x="64" y="60"/>
                    <a:pt x="64" y="60"/>
                    <a:pt x="64" y="60"/>
                  </a:cubicBezTo>
                  <a:cubicBezTo>
                    <a:pt x="70" y="57"/>
                    <a:pt x="70" y="57"/>
                    <a:pt x="70" y="57"/>
                  </a:cubicBezTo>
                  <a:cubicBezTo>
                    <a:pt x="69" y="61"/>
                    <a:pt x="69" y="61"/>
                    <a:pt x="69" y="61"/>
                  </a:cubicBezTo>
                  <a:cubicBezTo>
                    <a:pt x="66" y="64"/>
                    <a:pt x="66" y="64"/>
                    <a:pt x="66" y="64"/>
                  </a:cubicBezTo>
                  <a:cubicBezTo>
                    <a:pt x="62" y="74"/>
                    <a:pt x="62" y="74"/>
                    <a:pt x="62" y="74"/>
                  </a:cubicBezTo>
                  <a:cubicBezTo>
                    <a:pt x="52" y="80"/>
                    <a:pt x="52" y="80"/>
                    <a:pt x="52" y="80"/>
                  </a:cubicBezTo>
                  <a:cubicBezTo>
                    <a:pt x="46" y="86"/>
                    <a:pt x="46" y="86"/>
                    <a:pt x="46" y="86"/>
                  </a:cubicBezTo>
                  <a:cubicBezTo>
                    <a:pt x="46" y="91"/>
                    <a:pt x="46" y="91"/>
                    <a:pt x="46" y="91"/>
                  </a:cubicBezTo>
                  <a:cubicBezTo>
                    <a:pt x="50" y="92"/>
                    <a:pt x="50" y="92"/>
                    <a:pt x="50" y="92"/>
                  </a:cubicBezTo>
                  <a:cubicBezTo>
                    <a:pt x="55" y="87"/>
                    <a:pt x="55" y="87"/>
                    <a:pt x="55" y="87"/>
                  </a:cubicBezTo>
                  <a:cubicBezTo>
                    <a:pt x="60" y="83"/>
                    <a:pt x="60" y="83"/>
                    <a:pt x="60" y="83"/>
                  </a:cubicBezTo>
                  <a:cubicBezTo>
                    <a:pt x="65" y="82"/>
                    <a:pt x="65" y="82"/>
                    <a:pt x="65" y="82"/>
                  </a:cubicBezTo>
                  <a:cubicBezTo>
                    <a:pt x="69" y="78"/>
                    <a:pt x="69" y="78"/>
                    <a:pt x="69" y="78"/>
                  </a:cubicBezTo>
                  <a:cubicBezTo>
                    <a:pt x="71" y="68"/>
                    <a:pt x="71" y="68"/>
                    <a:pt x="71" y="68"/>
                  </a:cubicBezTo>
                  <a:cubicBezTo>
                    <a:pt x="75" y="60"/>
                    <a:pt x="75" y="60"/>
                    <a:pt x="75" y="60"/>
                  </a:cubicBezTo>
                  <a:cubicBezTo>
                    <a:pt x="80" y="54"/>
                    <a:pt x="80" y="54"/>
                    <a:pt x="80" y="54"/>
                  </a:cubicBezTo>
                  <a:cubicBezTo>
                    <a:pt x="81" y="50"/>
                    <a:pt x="81" y="50"/>
                    <a:pt x="81" y="50"/>
                  </a:cubicBezTo>
                  <a:cubicBezTo>
                    <a:pt x="78" y="42"/>
                    <a:pt x="78" y="42"/>
                    <a:pt x="78" y="42"/>
                  </a:cubicBezTo>
                  <a:cubicBezTo>
                    <a:pt x="78" y="34"/>
                    <a:pt x="78" y="34"/>
                    <a:pt x="78" y="34"/>
                  </a:cubicBezTo>
                  <a:cubicBezTo>
                    <a:pt x="75" y="35"/>
                    <a:pt x="75" y="35"/>
                    <a:pt x="75" y="35"/>
                  </a:cubicBezTo>
                  <a:cubicBezTo>
                    <a:pt x="73" y="38"/>
                    <a:pt x="73" y="38"/>
                    <a:pt x="73" y="38"/>
                  </a:cubicBezTo>
                  <a:cubicBezTo>
                    <a:pt x="74" y="46"/>
                    <a:pt x="74" y="46"/>
                    <a:pt x="74" y="46"/>
                  </a:cubicBezTo>
                  <a:cubicBezTo>
                    <a:pt x="76" y="52"/>
                    <a:pt x="76" y="52"/>
                    <a:pt x="76" y="52"/>
                  </a:cubicBezTo>
                  <a:cubicBezTo>
                    <a:pt x="76" y="54"/>
                    <a:pt x="76" y="54"/>
                    <a:pt x="76" y="54"/>
                  </a:cubicBezTo>
                  <a:cubicBezTo>
                    <a:pt x="74" y="53"/>
                    <a:pt x="74" y="53"/>
                    <a:pt x="74" y="53"/>
                  </a:cubicBezTo>
                  <a:cubicBezTo>
                    <a:pt x="72" y="51"/>
                    <a:pt x="72" y="51"/>
                    <a:pt x="72" y="51"/>
                  </a:cubicBezTo>
                  <a:cubicBezTo>
                    <a:pt x="70" y="46"/>
                    <a:pt x="70" y="46"/>
                    <a:pt x="70" y="46"/>
                  </a:cubicBezTo>
                  <a:cubicBezTo>
                    <a:pt x="68" y="41"/>
                    <a:pt x="68" y="41"/>
                    <a:pt x="68" y="41"/>
                  </a:cubicBezTo>
                  <a:cubicBezTo>
                    <a:pt x="68" y="37"/>
                    <a:pt x="68" y="37"/>
                    <a:pt x="68" y="37"/>
                  </a:cubicBezTo>
                  <a:cubicBezTo>
                    <a:pt x="73" y="32"/>
                    <a:pt x="73" y="32"/>
                    <a:pt x="73" y="32"/>
                  </a:cubicBezTo>
                  <a:cubicBezTo>
                    <a:pt x="75" y="28"/>
                    <a:pt x="75" y="28"/>
                    <a:pt x="75" y="28"/>
                  </a:cubicBezTo>
                  <a:cubicBezTo>
                    <a:pt x="74" y="24"/>
                    <a:pt x="74" y="24"/>
                    <a:pt x="74" y="24"/>
                  </a:cubicBezTo>
                  <a:cubicBezTo>
                    <a:pt x="79" y="29"/>
                    <a:pt x="79" y="29"/>
                    <a:pt x="79" y="29"/>
                  </a:cubicBezTo>
                  <a:cubicBezTo>
                    <a:pt x="80" y="30"/>
                    <a:pt x="80" y="30"/>
                    <a:pt x="80" y="30"/>
                  </a:cubicBezTo>
                  <a:cubicBezTo>
                    <a:pt x="81" y="24"/>
                    <a:pt x="81" y="24"/>
                    <a:pt x="81" y="24"/>
                  </a:cubicBezTo>
                  <a:cubicBezTo>
                    <a:pt x="79" y="15"/>
                    <a:pt x="79" y="15"/>
                    <a:pt x="79" y="15"/>
                  </a:cubicBezTo>
                  <a:cubicBezTo>
                    <a:pt x="80" y="12"/>
                    <a:pt x="80" y="12"/>
                    <a:pt x="80" y="12"/>
                  </a:cubicBezTo>
                  <a:cubicBezTo>
                    <a:pt x="77" y="11"/>
                    <a:pt x="77" y="11"/>
                    <a:pt x="77" y="11"/>
                  </a:cubicBezTo>
                  <a:cubicBezTo>
                    <a:pt x="76" y="0"/>
                    <a:pt x="76" y="0"/>
                    <a:pt x="76" y="0"/>
                  </a:cubicBezTo>
                  <a:cubicBezTo>
                    <a:pt x="76" y="0"/>
                    <a:pt x="133" y="16"/>
                    <a:pt x="145" y="19"/>
                  </a:cubicBezTo>
                  <a:cubicBezTo>
                    <a:pt x="156" y="22"/>
                    <a:pt x="230" y="42"/>
                    <a:pt x="235" y="43"/>
                  </a:cubicBezTo>
                  <a:cubicBezTo>
                    <a:pt x="240" y="45"/>
                    <a:pt x="246" y="45"/>
                    <a:pt x="246" y="45"/>
                  </a:cubicBezTo>
                  <a:lnTo>
                    <a:pt x="257" y="47"/>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79" name="Freeform 6"/>
            <p:cNvSpPr>
              <a:spLocks/>
            </p:cNvSpPr>
            <p:nvPr/>
          </p:nvSpPr>
          <p:spPr bwMode="auto">
            <a:xfrm>
              <a:off x="5925595" y="2621841"/>
              <a:ext cx="384509" cy="394627"/>
            </a:xfrm>
            <a:custGeom>
              <a:avLst/>
              <a:gdLst>
                <a:gd name="T0" fmla="*/ 34 w 228"/>
                <a:gd name="T1" fmla="*/ 0 h 234"/>
                <a:gd name="T2" fmla="*/ 228 w 228"/>
                <a:gd name="T3" fmla="*/ 23 h 234"/>
                <a:gd name="T4" fmla="*/ 227 w 228"/>
                <a:gd name="T5" fmla="*/ 44 h 234"/>
                <a:gd name="T6" fmla="*/ 224 w 228"/>
                <a:gd name="T7" fmla="*/ 44 h 234"/>
                <a:gd name="T8" fmla="*/ 210 w 228"/>
                <a:gd name="T9" fmla="*/ 226 h 234"/>
                <a:gd name="T10" fmla="*/ 91 w 228"/>
                <a:gd name="T11" fmla="*/ 215 h 234"/>
                <a:gd name="T12" fmla="*/ 90 w 228"/>
                <a:gd name="T13" fmla="*/ 224 h 234"/>
                <a:gd name="T14" fmla="*/ 32 w 228"/>
                <a:gd name="T15" fmla="*/ 218 h 234"/>
                <a:gd name="T16" fmla="*/ 29 w 228"/>
                <a:gd name="T17" fmla="*/ 234 h 234"/>
                <a:gd name="T18" fmla="*/ 0 w 228"/>
                <a:gd name="T19" fmla="*/ 230 h 234"/>
                <a:gd name="T20" fmla="*/ 34 w 228"/>
                <a:gd name="T21" fmla="*/ 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8" h="234">
                  <a:moveTo>
                    <a:pt x="34" y="0"/>
                  </a:moveTo>
                  <a:lnTo>
                    <a:pt x="228" y="23"/>
                  </a:lnTo>
                  <a:lnTo>
                    <a:pt x="227" y="44"/>
                  </a:lnTo>
                  <a:lnTo>
                    <a:pt x="224" y="44"/>
                  </a:lnTo>
                  <a:lnTo>
                    <a:pt x="210" y="226"/>
                  </a:lnTo>
                  <a:lnTo>
                    <a:pt x="91" y="215"/>
                  </a:lnTo>
                  <a:lnTo>
                    <a:pt x="90" y="224"/>
                  </a:lnTo>
                  <a:lnTo>
                    <a:pt x="32" y="218"/>
                  </a:lnTo>
                  <a:lnTo>
                    <a:pt x="29" y="234"/>
                  </a:lnTo>
                  <a:lnTo>
                    <a:pt x="0" y="230"/>
                  </a:lnTo>
                  <a:lnTo>
                    <a:pt x="34" y="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0" name="Freeform 7"/>
            <p:cNvSpPr>
              <a:spLocks/>
            </p:cNvSpPr>
            <p:nvPr/>
          </p:nvSpPr>
          <p:spPr bwMode="auto">
            <a:xfrm>
              <a:off x="6068941" y="2696045"/>
              <a:ext cx="762272" cy="752153"/>
            </a:xfrm>
            <a:custGeom>
              <a:avLst/>
              <a:gdLst>
                <a:gd name="T0" fmla="*/ 450 w 452"/>
                <a:gd name="T1" fmla="*/ 234 h 446"/>
                <a:gd name="T2" fmla="*/ 446 w 452"/>
                <a:gd name="T3" fmla="*/ 215 h 446"/>
                <a:gd name="T4" fmla="*/ 435 w 452"/>
                <a:gd name="T5" fmla="*/ 131 h 446"/>
                <a:gd name="T6" fmla="*/ 417 w 452"/>
                <a:gd name="T7" fmla="*/ 128 h 446"/>
                <a:gd name="T8" fmla="*/ 398 w 452"/>
                <a:gd name="T9" fmla="*/ 117 h 446"/>
                <a:gd name="T10" fmla="*/ 378 w 452"/>
                <a:gd name="T11" fmla="*/ 116 h 446"/>
                <a:gd name="T12" fmla="*/ 365 w 452"/>
                <a:gd name="T13" fmla="*/ 118 h 446"/>
                <a:gd name="T14" fmla="*/ 352 w 452"/>
                <a:gd name="T15" fmla="*/ 122 h 446"/>
                <a:gd name="T16" fmla="*/ 332 w 452"/>
                <a:gd name="T17" fmla="*/ 118 h 446"/>
                <a:gd name="T18" fmla="*/ 325 w 452"/>
                <a:gd name="T19" fmla="*/ 116 h 446"/>
                <a:gd name="T20" fmla="*/ 310 w 452"/>
                <a:gd name="T21" fmla="*/ 112 h 446"/>
                <a:gd name="T22" fmla="*/ 301 w 452"/>
                <a:gd name="T23" fmla="*/ 111 h 446"/>
                <a:gd name="T24" fmla="*/ 284 w 452"/>
                <a:gd name="T25" fmla="*/ 107 h 446"/>
                <a:gd name="T26" fmla="*/ 269 w 452"/>
                <a:gd name="T27" fmla="*/ 101 h 446"/>
                <a:gd name="T28" fmla="*/ 253 w 452"/>
                <a:gd name="T29" fmla="*/ 93 h 446"/>
                <a:gd name="T30" fmla="*/ 242 w 452"/>
                <a:gd name="T31" fmla="*/ 90 h 446"/>
                <a:gd name="T32" fmla="*/ 125 w 452"/>
                <a:gd name="T33" fmla="*/ 182 h 446"/>
                <a:gd name="T34" fmla="*/ 2 w 452"/>
                <a:gd name="T35" fmla="*/ 183 h 446"/>
                <a:gd name="T36" fmla="*/ 13 w 452"/>
                <a:gd name="T37" fmla="*/ 197 h 446"/>
                <a:gd name="T38" fmla="*/ 22 w 452"/>
                <a:gd name="T39" fmla="*/ 205 h 446"/>
                <a:gd name="T40" fmla="*/ 41 w 452"/>
                <a:gd name="T41" fmla="*/ 224 h 446"/>
                <a:gd name="T42" fmla="*/ 55 w 452"/>
                <a:gd name="T43" fmla="*/ 238 h 446"/>
                <a:gd name="T44" fmla="*/ 59 w 452"/>
                <a:gd name="T45" fmla="*/ 259 h 446"/>
                <a:gd name="T46" fmla="*/ 66 w 452"/>
                <a:gd name="T47" fmla="*/ 278 h 446"/>
                <a:gd name="T48" fmla="*/ 74 w 452"/>
                <a:gd name="T49" fmla="*/ 286 h 446"/>
                <a:gd name="T50" fmla="*/ 88 w 452"/>
                <a:gd name="T51" fmla="*/ 296 h 446"/>
                <a:gd name="T52" fmla="*/ 109 w 452"/>
                <a:gd name="T53" fmla="*/ 307 h 446"/>
                <a:gd name="T54" fmla="*/ 120 w 452"/>
                <a:gd name="T55" fmla="*/ 298 h 446"/>
                <a:gd name="T56" fmla="*/ 127 w 452"/>
                <a:gd name="T57" fmla="*/ 283 h 446"/>
                <a:gd name="T58" fmla="*/ 148 w 452"/>
                <a:gd name="T59" fmla="*/ 275 h 446"/>
                <a:gd name="T60" fmla="*/ 170 w 452"/>
                <a:gd name="T61" fmla="*/ 279 h 446"/>
                <a:gd name="T62" fmla="*/ 183 w 452"/>
                <a:gd name="T63" fmla="*/ 292 h 446"/>
                <a:gd name="T64" fmla="*/ 200 w 452"/>
                <a:gd name="T65" fmla="*/ 320 h 446"/>
                <a:gd name="T66" fmla="*/ 210 w 452"/>
                <a:gd name="T67" fmla="*/ 343 h 446"/>
                <a:gd name="T68" fmla="*/ 235 w 452"/>
                <a:gd name="T69" fmla="*/ 372 h 446"/>
                <a:gd name="T70" fmla="*/ 237 w 452"/>
                <a:gd name="T71" fmla="*/ 388 h 446"/>
                <a:gd name="T72" fmla="*/ 249 w 452"/>
                <a:gd name="T73" fmla="*/ 416 h 446"/>
                <a:gd name="T74" fmla="*/ 273 w 452"/>
                <a:gd name="T75" fmla="*/ 427 h 446"/>
                <a:gd name="T76" fmla="*/ 291 w 452"/>
                <a:gd name="T77" fmla="*/ 438 h 446"/>
                <a:gd name="T78" fmla="*/ 305 w 452"/>
                <a:gd name="T79" fmla="*/ 442 h 446"/>
                <a:gd name="T80" fmla="*/ 321 w 452"/>
                <a:gd name="T81" fmla="*/ 441 h 446"/>
                <a:gd name="T82" fmla="*/ 317 w 452"/>
                <a:gd name="T83" fmla="*/ 425 h 446"/>
                <a:gd name="T84" fmla="*/ 308 w 452"/>
                <a:gd name="T85" fmla="*/ 404 h 446"/>
                <a:gd name="T86" fmla="*/ 318 w 452"/>
                <a:gd name="T87" fmla="*/ 370 h 446"/>
                <a:gd name="T88" fmla="*/ 311 w 452"/>
                <a:gd name="T89" fmla="*/ 361 h 446"/>
                <a:gd name="T90" fmla="*/ 326 w 452"/>
                <a:gd name="T91" fmla="*/ 355 h 446"/>
                <a:gd name="T92" fmla="*/ 324 w 452"/>
                <a:gd name="T93" fmla="*/ 350 h 446"/>
                <a:gd name="T94" fmla="*/ 338 w 452"/>
                <a:gd name="T95" fmla="*/ 350 h 446"/>
                <a:gd name="T96" fmla="*/ 336 w 452"/>
                <a:gd name="T97" fmla="*/ 345 h 446"/>
                <a:gd name="T98" fmla="*/ 347 w 452"/>
                <a:gd name="T99" fmla="*/ 342 h 446"/>
                <a:gd name="T100" fmla="*/ 346 w 452"/>
                <a:gd name="T101" fmla="*/ 331 h 446"/>
                <a:gd name="T102" fmla="*/ 357 w 452"/>
                <a:gd name="T103" fmla="*/ 329 h 446"/>
                <a:gd name="T104" fmla="*/ 367 w 452"/>
                <a:gd name="T105" fmla="*/ 329 h 446"/>
                <a:gd name="T106" fmla="*/ 395 w 452"/>
                <a:gd name="T107" fmla="*/ 314 h 446"/>
                <a:gd name="T108" fmla="*/ 403 w 452"/>
                <a:gd name="T109" fmla="*/ 305 h 446"/>
                <a:gd name="T110" fmla="*/ 403 w 452"/>
                <a:gd name="T111" fmla="*/ 296 h 446"/>
                <a:gd name="T112" fmla="*/ 410 w 452"/>
                <a:gd name="T113" fmla="*/ 286 h 446"/>
                <a:gd name="T114" fmla="*/ 412 w 452"/>
                <a:gd name="T115" fmla="*/ 299 h 446"/>
                <a:gd name="T116" fmla="*/ 439 w 452"/>
                <a:gd name="T117" fmla="*/ 288 h 446"/>
                <a:gd name="T118" fmla="*/ 447 w 452"/>
                <a:gd name="T119" fmla="*/ 268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52" h="446">
                  <a:moveTo>
                    <a:pt x="446" y="253"/>
                  </a:moveTo>
                  <a:lnTo>
                    <a:pt x="448" y="245"/>
                  </a:lnTo>
                  <a:lnTo>
                    <a:pt x="452" y="240"/>
                  </a:lnTo>
                  <a:lnTo>
                    <a:pt x="450" y="234"/>
                  </a:lnTo>
                  <a:lnTo>
                    <a:pt x="448" y="226"/>
                  </a:lnTo>
                  <a:lnTo>
                    <a:pt x="447" y="223"/>
                  </a:lnTo>
                  <a:lnTo>
                    <a:pt x="447" y="217"/>
                  </a:lnTo>
                  <a:lnTo>
                    <a:pt x="446" y="215"/>
                  </a:lnTo>
                  <a:lnTo>
                    <a:pt x="442" y="206"/>
                  </a:lnTo>
                  <a:lnTo>
                    <a:pt x="442" y="204"/>
                  </a:lnTo>
                  <a:lnTo>
                    <a:pt x="435" y="198"/>
                  </a:lnTo>
                  <a:lnTo>
                    <a:pt x="435" y="131"/>
                  </a:lnTo>
                  <a:lnTo>
                    <a:pt x="425" y="130"/>
                  </a:lnTo>
                  <a:lnTo>
                    <a:pt x="423" y="132"/>
                  </a:lnTo>
                  <a:lnTo>
                    <a:pt x="420" y="131"/>
                  </a:lnTo>
                  <a:lnTo>
                    <a:pt x="417" y="128"/>
                  </a:lnTo>
                  <a:lnTo>
                    <a:pt x="413" y="126"/>
                  </a:lnTo>
                  <a:lnTo>
                    <a:pt x="408" y="126"/>
                  </a:lnTo>
                  <a:lnTo>
                    <a:pt x="402" y="122"/>
                  </a:lnTo>
                  <a:lnTo>
                    <a:pt x="398" y="117"/>
                  </a:lnTo>
                  <a:lnTo>
                    <a:pt x="393" y="116"/>
                  </a:lnTo>
                  <a:lnTo>
                    <a:pt x="385" y="118"/>
                  </a:lnTo>
                  <a:lnTo>
                    <a:pt x="383" y="117"/>
                  </a:lnTo>
                  <a:lnTo>
                    <a:pt x="378" y="116"/>
                  </a:lnTo>
                  <a:lnTo>
                    <a:pt x="374" y="119"/>
                  </a:lnTo>
                  <a:lnTo>
                    <a:pt x="372" y="120"/>
                  </a:lnTo>
                  <a:lnTo>
                    <a:pt x="369" y="118"/>
                  </a:lnTo>
                  <a:lnTo>
                    <a:pt x="365" y="118"/>
                  </a:lnTo>
                  <a:lnTo>
                    <a:pt x="363" y="121"/>
                  </a:lnTo>
                  <a:lnTo>
                    <a:pt x="358" y="124"/>
                  </a:lnTo>
                  <a:lnTo>
                    <a:pt x="354" y="125"/>
                  </a:lnTo>
                  <a:lnTo>
                    <a:pt x="352" y="122"/>
                  </a:lnTo>
                  <a:lnTo>
                    <a:pt x="349" y="119"/>
                  </a:lnTo>
                  <a:lnTo>
                    <a:pt x="341" y="120"/>
                  </a:lnTo>
                  <a:lnTo>
                    <a:pt x="336" y="117"/>
                  </a:lnTo>
                  <a:lnTo>
                    <a:pt x="332" y="118"/>
                  </a:lnTo>
                  <a:lnTo>
                    <a:pt x="330" y="122"/>
                  </a:lnTo>
                  <a:lnTo>
                    <a:pt x="328" y="123"/>
                  </a:lnTo>
                  <a:lnTo>
                    <a:pt x="327" y="118"/>
                  </a:lnTo>
                  <a:lnTo>
                    <a:pt x="325" y="116"/>
                  </a:lnTo>
                  <a:lnTo>
                    <a:pt x="319" y="120"/>
                  </a:lnTo>
                  <a:lnTo>
                    <a:pt x="318" y="116"/>
                  </a:lnTo>
                  <a:lnTo>
                    <a:pt x="312" y="112"/>
                  </a:lnTo>
                  <a:lnTo>
                    <a:pt x="310" y="112"/>
                  </a:lnTo>
                  <a:lnTo>
                    <a:pt x="308" y="115"/>
                  </a:lnTo>
                  <a:lnTo>
                    <a:pt x="305" y="117"/>
                  </a:lnTo>
                  <a:lnTo>
                    <a:pt x="302" y="116"/>
                  </a:lnTo>
                  <a:lnTo>
                    <a:pt x="301" y="111"/>
                  </a:lnTo>
                  <a:lnTo>
                    <a:pt x="298" y="111"/>
                  </a:lnTo>
                  <a:lnTo>
                    <a:pt x="295" y="105"/>
                  </a:lnTo>
                  <a:lnTo>
                    <a:pt x="287" y="105"/>
                  </a:lnTo>
                  <a:lnTo>
                    <a:pt x="284" y="107"/>
                  </a:lnTo>
                  <a:lnTo>
                    <a:pt x="281" y="104"/>
                  </a:lnTo>
                  <a:lnTo>
                    <a:pt x="280" y="104"/>
                  </a:lnTo>
                  <a:lnTo>
                    <a:pt x="275" y="105"/>
                  </a:lnTo>
                  <a:lnTo>
                    <a:pt x="269" y="101"/>
                  </a:lnTo>
                  <a:lnTo>
                    <a:pt x="261" y="101"/>
                  </a:lnTo>
                  <a:lnTo>
                    <a:pt x="259" y="94"/>
                  </a:lnTo>
                  <a:lnTo>
                    <a:pt x="255" y="92"/>
                  </a:lnTo>
                  <a:lnTo>
                    <a:pt x="253" y="93"/>
                  </a:lnTo>
                  <a:lnTo>
                    <a:pt x="250" y="92"/>
                  </a:lnTo>
                  <a:lnTo>
                    <a:pt x="247" y="93"/>
                  </a:lnTo>
                  <a:lnTo>
                    <a:pt x="244" y="93"/>
                  </a:lnTo>
                  <a:lnTo>
                    <a:pt x="242" y="90"/>
                  </a:lnTo>
                  <a:lnTo>
                    <a:pt x="235" y="83"/>
                  </a:lnTo>
                  <a:lnTo>
                    <a:pt x="239" y="6"/>
                  </a:lnTo>
                  <a:lnTo>
                    <a:pt x="139" y="0"/>
                  </a:lnTo>
                  <a:lnTo>
                    <a:pt x="125" y="182"/>
                  </a:lnTo>
                  <a:lnTo>
                    <a:pt x="6" y="171"/>
                  </a:lnTo>
                  <a:lnTo>
                    <a:pt x="5" y="180"/>
                  </a:lnTo>
                  <a:lnTo>
                    <a:pt x="0" y="180"/>
                  </a:lnTo>
                  <a:lnTo>
                    <a:pt x="2" y="183"/>
                  </a:lnTo>
                  <a:lnTo>
                    <a:pt x="7" y="186"/>
                  </a:lnTo>
                  <a:lnTo>
                    <a:pt x="10" y="190"/>
                  </a:lnTo>
                  <a:lnTo>
                    <a:pt x="11" y="193"/>
                  </a:lnTo>
                  <a:lnTo>
                    <a:pt x="13" y="197"/>
                  </a:lnTo>
                  <a:lnTo>
                    <a:pt x="15" y="198"/>
                  </a:lnTo>
                  <a:lnTo>
                    <a:pt x="18" y="200"/>
                  </a:lnTo>
                  <a:lnTo>
                    <a:pt x="21" y="202"/>
                  </a:lnTo>
                  <a:lnTo>
                    <a:pt x="22" y="205"/>
                  </a:lnTo>
                  <a:lnTo>
                    <a:pt x="26" y="210"/>
                  </a:lnTo>
                  <a:lnTo>
                    <a:pt x="30" y="213"/>
                  </a:lnTo>
                  <a:lnTo>
                    <a:pt x="38" y="224"/>
                  </a:lnTo>
                  <a:lnTo>
                    <a:pt x="41" y="224"/>
                  </a:lnTo>
                  <a:lnTo>
                    <a:pt x="44" y="227"/>
                  </a:lnTo>
                  <a:lnTo>
                    <a:pt x="48" y="230"/>
                  </a:lnTo>
                  <a:lnTo>
                    <a:pt x="53" y="234"/>
                  </a:lnTo>
                  <a:lnTo>
                    <a:pt x="55" y="238"/>
                  </a:lnTo>
                  <a:lnTo>
                    <a:pt x="55" y="245"/>
                  </a:lnTo>
                  <a:lnTo>
                    <a:pt x="59" y="251"/>
                  </a:lnTo>
                  <a:lnTo>
                    <a:pt x="60" y="255"/>
                  </a:lnTo>
                  <a:lnTo>
                    <a:pt x="59" y="259"/>
                  </a:lnTo>
                  <a:lnTo>
                    <a:pt x="59" y="264"/>
                  </a:lnTo>
                  <a:lnTo>
                    <a:pt x="60" y="270"/>
                  </a:lnTo>
                  <a:lnTo>
                    <a:pt x="65" y="275"/>
                  </a:lnTo>
                  <a:lnTo>
                    <a:pt x="66" y="278"/>
                  </a:lnTo>
                  <a:lnTo>
                    <a:pt x="67" y="279"/>
                  </a:lnTo>
                  <a:lnTo>
                    <a:pt x="69" y="281"/>
                  </a:lnTo>
                  <a:lnTo>
                    <a:pt x="71" y="283"/>
                  </a:lnTo>
                  <a:lnTo>
                    <a:pt x="74" y="286"/>
                  </a:lnTo>
                  <a:lnTo>
                    <a:pt x="78" y="289"/>
                  </a:lnTo>
                  <a:lnTo>
                    <a:pt x="81" y="292"/>
                  </a:lnTo>
                  <a:lnTo>
                    <a:pt x="84" y="293"/>
                  </a:lnTo>
                  <a:lnTo>
                    <a:pt x="88" y="296"/>
                  </a:lnTo>
                  <a:lnTo>
                    <a:pt x="94" y="299"/>
                  </a:lnTo>
                  <a:lnTo>
                    <a:pt x="101" y="304"/>
                  </a:lnTo>
                  <a:lnTo>
                    <a:pt x="104" y="305"/>
                  </a:lnTo>
                  <a:lnTo>
                    <a:pt x="109" y="307"/>
                  </a:lnTo>
                  <a:lnTo>
                    <a:pt x="113" y="307"/>
                  </a:lnTo>
                  <a:lnTo>
                    <a:pt x="115" y="303"/>
                  </a:lnTo>
                  <a:lnTo>
                    <a:pt x="118" y="300"/>
                  </a:lnTo>
                  <a:lnTo>
                    <a:pt x="120" y="298"/>
                  </a:lnTo>
                  <a:lnTo>
                    <a:pt x="123" y="297"/>
                  </a:lnTo>
                  <a:lnTo>
                    <a:pt x="123" y="292"/>
                  </a:lnTo>
                  <a:lnTo>
                    <a:pt x="125" y="288"/>
                  </a:lnTo>
                  <a:lnTo>
                    <a:pt x="127" y="283"/>
                  </a:lnTo>
                  <a:lnTo>
                    <a:pt x="132" y="277"/>
                  </a:lnTo>
                  <a:lnTo>
                    <a:pt x="139" y="276"/>
                  </a:lnTo>
                  <a:lnTo>
                    <a:pt x="143" y="275"/>
                  </a:lnTo>
                  <a:lnTo>
                    <a:pt x="148" y="275"/>
                  </a:lnTo>
                  <a:lnTo>
                    <a:pt x="153" y="277"/>
                  </a:lnTo>
                  <a:lnTo>
                    <a:pt x="159" y="278"/>
                  </a:lnTo>
                  <a:lnTo>
                    <a:pt x="162" y="278"/>
                  </a:lnTo>
                  <a:lnTo>
                    <a:pt x="170" y="279"/>
                  </a:lnTo>
                  <a:lnTo>
                    <a:pt x="173" y="281"/>
                  </a:lnTo>
                  <a:lnTo>
                    <a:pt x="176" y="287"/>
                  </a:lnTo>
                  <a:lnTo>
                    <a:pt x="178" y="287"/>
                  </a:lnTo>
                  <a:lnTo>
                    <a:pt x="183" y="292"/>
                  </a:lnTo>
                  <a:lnTo>
                    <a:pt x="187" y="294"/>
                  </a:lnTo>
                  <a:lnTo>
                    <a:pt x="190" y="300"/>
                  </a:lnTo>
                  <a:lnTo>
                    <a:pt x="196" y="308"/>
                  </a:lnTo>
                  <a:lnTo>
                    <a:pt x="200" y="320"/>
                  </a:lnTo>
                  <a:lnTo>
                    <a:pt x="203" y="324"/>
                  </a:lnTo>
                  <a:lnTo>
                    <a:pt x="207" y="332"/>
                  </a:lnTo>
                  <a:lnTo>
                    <a:pt x="207" y="335"/>
                  </a:lnTo>
                  <a:lnTo>
                    <a:pt x="210" y="343"/>
                  </a:lnTo>
                  <a:lnTo>
                    <a:pt x="218" y="350"/>
                  </a:lnTo>
                  <a:lnTo>
                    <a:pt x="220" y="358"/>
                  </a:lnTo>
                  <a:lnTo>
                    <a:pt x="230" y="370"/>
                  </a:lnTo>
                  <a:lnTo>
                    <a:pt x="235" y="372"/>
                  </a:lnTo>
                  <a:lnTo>
                    <a:pt x="234" y="381"/>
                  </a:lnTo>
                  <a:lnTo>
                    <a:pt x="232" y="383"/>
                  </a:lnTo>
                  <a:lnTo>
                    <a:pt x="234" y="385"/>
                  </a:lnTo>
                  <a:lnTo>
                    <a:pt x="237" y="388"/>
                  </a:lnTo>
                  <a:lnTo>
                    <a:pt x="237" y="394"/>
                  </a:lnTo>
                  <a:lnTo>
                    <a:pt x="243" y="405"/>
                  </a:lnTo>
                  <a:lnTo>
                    <a:pt x="246" y="411"/>
                  </a:lnTo>
                  <a:lnTo>
                    <a:pt x="249" y="416"/>
                  </a:lnTo>
                  <a:lnTo>
                    <a:pt x="251" y="421"/>
                  </a:lnTo>
                  <a:lnTo>
                    <a:pt x="259" y="422"/>
                  </a:lnTo>
                  <a:lnTo>
                    <a:pt x="264" y="427"/>
                  </a:lnTo>
                  <a:lnTo>
                    <a:pt x="273" y="427"/>
                  </a:lnTo>
                  <a:lnTo>
                    <a:pt x="280" y="434"/>
                  </a:lnTo>
                  <a:lnTo>
                    <a:pt x="284" y="434"/>
                  </a:lnTo>
                  <a:lnTo>
                    <a:pt x="286" y="437"/>
                  </a:lnTo>
                  <a:lnTo>
                    <a:pt x="291" y="438"/>
                  </a:lnTo>
                  <a:lnTo>
                    <a:pt x="292" y="436"/>
                  </a:lnTo>
                  <a:lnTo>
                    <a:pt x="302" y="438"/>
                  </a:lnTo>
                  <a:lnTo>
                    <a:pt x="302" y="439"/>
                  </a:lnTo>
                  <a:lnTo>
                    <a:pt x="305" y="442"/>
                  </a:lnTo>
                  <a:lnTo>
                    <a:pt x="310" y="446"/>
                  </a:lnTo>
                  <a:lnTo>
                    <a:pt x="313" y="444"/>
                  </a:lnTo>
                  <a:lnTo>
                    <a:pt x="314" y="442"/>
                  </a:lnTo>
                  <a:lnTo>
                    <a:pt x="321" y="441"/>
                  </a:lnTo>
                  <a:lnTo>
                    <a:pt x="319" y="436"/>
                  </a:lnTo>
                  <a:lnTo>
                    <a:pt x="319" y="433"/>
                  </a:lnTo>
                  <a:lnTo>
                    <a:pt x="318" y="429"/>
                  </a:lnTo>
                  <a:lnTo>
                    <a:pt x="317" y="425"/>
                  </a:lnTo>
                  <a:lnTo>
                    <a:pt x="314" y="423"/>
                  </a:lnTo>
                  <a:lnTo>
                    <a:pt x="312" y="417"/>
                  </a:lnTo>
                  <a:lnTo>
                    <a:pt x="311" y="411"/>
                  </a:lnTo>
                  <a:lnTo>
                    <a:pt x="308" y="404"/>
                  </a:lnTo>
                  <a:lnTo>
                    <a:pt x="308" y="398"/>
                  </a:lnTo>
                  <a:lnTo>
                    <a:pt x="311" y="389"/>
                  </a:lnTo>
                  <a:lnTo>
                    <a:pt x="314" y="380"/>
                  </a:lnTo>
                  <a:lnTo>
                    <a:pt x="318" y="370"/>
                  </a:lnTo>
                  <a:lnTo>
                    <a:pt x="317" y="368"/>
                  </a:lnTo>
                  <a:lnTo>
                    <a:pt x="314" y="366"/>
                  </a:lnTo>
                  <a:lnTo>
                    <a:pt x="311" y="363"/>
                  </a:lnTo>
                  <a:lnTo>
                    <a:pt x="311" y="361"/>
                  </a:lnTo>
                  <a:lnTo>
                    <a:pt x="313" y="362"/>
                  </a:lnTo>
                  <a:lnTo>
                    <a:pt x="322" y="361"/>
                  </a:lnTo>
                  <a:lnTo>
                    <a:pt x="323" y="361"/>
                  </a:lnTo>
                  <a:lnTo>
                    <a:pt x="326" y="355"/>
                  </a:lnTo>
                  <a:lnTo>
                    <a:pt x="323" y="355"/>
                  </a:lnTo>
                  <a:lnTo>
                    <a:pt x="322" y="353"/>
                  </a:lnTo>
                  <a:lnTo>
                    <a:pt x="322" y="351"/>
                  </a:lnTo>
                  <a:lnTo>
                    <a:pt x="324" y="350"/>
                  </a:lnTo>
                  <a:lnTo>
                    <a:pt x="328" y="350"/>
                  </a:lnTo>
                  <a:lnTo>
                    <a:pt x="333" y="350"/>
                  </a:lnTo>
                  <a:lnTo>
                    <a:pt x="335" y="351"/>
                  </a:lnTo>
                  <a:lnTo>
                    <a:pt x="338" y="350"/>
                  </a:lnTo>
                  <a:lnTo>
                    <a:pt x="343" y="346"/>
                  </a:lnTo>
                  <a:lnTo>
                    <a:pt x="341" y="346"/>
                  </a:lnTo>
                  <a:lnTo>
                    <a:pt x="337" y="349"/>
                  </a:lnTo>
                  <a:lnTo>
                    <a:pt x="336" y="345"/>
                  </a:lnTo>
                  <a:lnTo>
                    <a:pt x="338" y="339"/>
                  </a:lnTo>
                  <a:lnTo>
                    <a:pt x="340" y="341"/>
                  </a:lnTo>
                  <a:lnTo>
                    <a:pt x="342" y="342"/>
                  </a:lnTo>
                  <a:lnTo>
                    <a:pt x="347" y="342"/>
                  </a:lnTo>
                  <a:lnTo>
                    <a:pt x="349" y="340"/>
                  </a:lnTo>
                  <a:lnTo>
                    <a:pt x="348" y="336"/>
                  </a:lnTo>
                  <a:lnTo>
                    <a:pt x="345" y="332"/>
                  </a:lnTo>
                  <a:lnTo>
                    <a:pt x="346" y="331"/>
                  </a:lnTo>
                  <a:lnTo>
                    <a:pt x="349" y="331"/>
                  </a:lnTo>
                  <a:lnTo>
                    <a:pt x="352" y="329"/>
                  </a:lnTo>
                  <a:lnTo>
                    <a:pt x="354" y="331"/>
                  </a:lnTo>
                  <a:lnTo>
                    <a:pt x="357" y="329"/>
                  </a:lnTo>
                  <a:lnTo>
                    <a:pt x="358" y="331"/>
                  </a:lnTo>
                  <a:lnTo>
                    <a:pt x="361" y="333"/>
                  </a:lnTo>
                  <a:lnTo>
                    <a:pt x="364" y="331"/>
                  </a:lnTo>
                  <a:lnTo>
                    <a:pt x="367" y="329"/>
                  </a:lnTo>
                  <a:lnTo>
                    <a:pt x="374" y="327"/>
                  </a:lnTo>
                  <a:lnTo>
                    <a:pt x="381" y="326"/>
                  </a:lnTo>
                  <a:lnTo>
                    <a:pt x="392" y="320"/>
                  </a:lnTo>
                  <a:lnTo>
                    <a:pt x="395" y="314"/>
                  </a:lnTo>
                  <a:lnTo>
                    <a:pt x="396" y="309"/>
                  </a:lnTo>
                  <a:lnTo>
                    <a:pt x="399" y="307"/>
                  </a:lnTo>
                  <a:lnTo>
                    <a:pt x="402" y="306"/>
                  </a:lnTo>
                  <a:lnTo>
                    <a:pt x="403" y="305"/>
                  </a:lnTo>
                  <a:lnTo>
                    <a:pt x="406" y="303"/>
                  </a:lnTo>
                  <a:lnTo>
                    <a:pt x="405" y="300"/>
                  </a:lnTo>
                  <a:lnTo>
                    <a:pt x="404" y="297"/>
                  </a:lnTo>
                  <a:lnTo>
                    <a:pt x="403" y="296"/>
                  </a:lnTo>
                  <a:lnTo>
                    <a:pt x="402" y="294"/>
                  </a:lnTo>
                  <a:lnTo>
                    <a:pt x="403" y="291"/>
                  </a:lnTo>
                  <a:lnTo>
                    <a:pt x="407" y="288"/>
                  </a:lnTo>
                  <a:lnTo>
                    <a:pt x="410" y="286"/>
                  </a:lnTo>
                  <a:lnTo>
                    <a:pt x="412" y="286"/>
                  </a:lnTo>
                  <a:lnTo>
                    <a:pt x="412" y="289"/>
                  </a:lnTo>
                  <a:lnTo>
                    <a:pt x="412" y="293"/>
                  </a:lnTo>
                  <a:lnTo>
                    <a:pt x="412" y="299"/>
                  </a:lnTo>
                  <a:lnTo>
                    <a:pt x="413" y="300"/>
                  </a:lnTo>
                  <a:lnTo>
                    <a:pt x="419" y="295"/>
                  </a:lnTo>
                  <a:lnTo>
                    <a:pt x="424" y="294"/>
                  </a:lnTo>
                  <a:lnTo>
                    <a:pt x="439" y="288"/>
                  </a:lnTo>
                  <a:lnTo>
                    <a:pt x="441" y="287"/>
                  </a:lnTo>
                  <a:lnTo>
                    <a:pt x="444" y="282"/>
                  </a:lnTo>
                  <a:lnTo>
                    <a:pt x="447" y="272"/>
                  </a:lnTo>
                  <a:lnTo>
                    <a:pt x="447" y="268"/>
                  </a:lnTo>
                  <a:lnTo>
                    <a:pt x="444" y="261"/>
                  </a:lnTo>
                  <a:lnTo>
                    <a:pt x="446" y="256"/>
                  </a:lnTo>
                  <a:lnTo>
                    <a:pt x="446" y="253"/>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1" name="Freeform 8"/>
            <p:cNvSpPr>
              <a:spLocks/>
            </p:cNvSpPr>
            <p:nvPr/>
          </p:nvSpPr>
          <p:spPr bwMode="auto">
            <a:xfrm>
              <a:off x="5613602" y="2574620"/>
              <a:ext cx="369330" cy="435102"/>
            </a:xfrm>
            <a:custGeom>
              <a:avLst/>
              <a:gdLst>
                <a:gd name="T0" fmla="*/ 73 w 259"/>
                <a:gd name="T1" fmla="*/ 0 h 304"/>
                <a:gd name="T2" fmla="*/ 68 w 259"/>
                <a:gd name="T3" fmla="*/ 25 h 304"/>
                <a:gd name="T4" fmla="*/ 62 w 259"/>
                <a:gd name="T5" fmla="*/ 43 h 304"/>
                <a:gd name="T6" fmla="*/ 59 w 259"/>
                <a:gd name="T7" fmla="*/ 45 h 304"/>
                <a:gd name="T8" fmla="*/ 56 w 259"/>
                <a:gd name="T9" fmla="*/ 43 h 304"/>
                <a:gd name="T10" fmla="*/ 51 w 259"/>
                <a:gd name="T11" fmla="*/ 39 h 304"/>
                <a:gd name="T12" fmla="*/ 47 w 259"/>
                <a:gd name="T13" fmla="*/ 41 h 304"/>
                <a:gd name="T14" fmla="*/ 45 w 259"/>
                <a:gd name="T15" fmla="*/ 37 h 304"/>
                <a:gd name="T16" fmla="*/ 38 w 259"/>
                <a:gd name="T17" fmla="*/ 39 h 304"/>
                <a:gd name="T18" fmla="*/ 35 w 259"/>
                <a:gd name="T19" fmla="*/ 42 h 304"/>
                <a:gd name="T20" fmla="*/ 35 w 259"/>
                <a:gd name="T21" fmla="*/ 53 h 304"/>
                <a:gd name="T22" fmla="*/ 35 w 259"/>
                <a:gd name="T23" fmla="*/ 67 h 304"/>
                <a:gd name="T24" fmla="*/ 35 w 259"/>
                <a:gd name="T25" fmla="*/ 80 h 304"/>
                <a:gd name="T26" fmla="*/ 34 w 259"/>
                <a:gd name="T27" fmla="*/ 84 h 304"/>
                <a:gd name="T28" fmla="*/ 31 w 259"/>
                <a:gd name="T29" fmla="*/ 89 h 304"/>
                <a:gd name="T30" fmla="*/ 30 w 259"/>
                <a:gd name="T31" fmla="*/ 94 h 304"/>
                <a:gd name="T32" fmla="*/ 30 w 259"/>
                <a:gd name="T33" fmla="*/ 101 h 304"/>
                <a:gd name="T34" fmla="*/ 34 w 259"/>
                <a:gd name="T35" fmla="*/ 110 h 304"/>
                <a:gd name="T36" fmla="*/ 35 w 259"/>
                <a:gd name="T37" fmla="*/ 119 h 304"/>
                <a:gd name="T38" fmla="*/ 37 w 259"/>
                <a:gd name="T39" fmla="*/ 122 h 304"/>
                <a:gd name="T40" fmla="*/ 42 w 259"/>
                <a:gd name="T41" fmla="*/ 128 h 304"/>
                <a:gd name="T42" fmla="*/ 39 w 259"/>
                <a:gd name="T43" fmla="*/ 130 h 304"/>
                <a:gd name="T44" fmla="*/ 34 w 259"/>
                <a:gd name="T45" fmla="*/ 134 h 304"/>
                <a:gd name="T46" fmla="*/ 24 w 259"/>
                <a:gd name="T47" fmla="*/ 141 h 304"/>
                <a:gd name="T48" fmla="*/ 21 w 259"/>
                <a:gd name="T49" fmla="*/ 154 h 304"/>
                <a:gd name="T50" fmla="*/ 17 w 259"/>
                <a:gd name="T51" fmla="*/ 162 h 304"/>
                <a:gd name="T52" fmla="*/ 13 w 259"/>
                <a:gd name="T53" fmla="*/ 166 h 304"/>
                <a:gd name="T54" fmla="*/ 11 w 259"/>
                <a:gd name="T55" fmla="*/ 167 h 304"/>
                <a:gd name="T56" fmla="*/ 9 w 259"/>
                <a:gd name="T57" fmla="*/ 171 h 304"/>
                <a:gd name="T58" fmla="*/ 10 w 259"/>
                <a:gd name="T59" fmla="*/ 178 h 304"/>
                <a:gd name="T60" fmla="*/ 9 w 259"/>
                <a:gd name="T61" fmla="*/ 183 h 304"/>
                <a:gd name="T62" fmla="*/ 15 w 259"/>
                <a:gd name="T63" fmla="*/ 188 h 304"/>
                <a:gd name="T64" fmla="*/ 13 w 259"/>
                <a:gd name="T65" fmla="*/ 192 h 304"/>
                <a:gd name="T66" fmla="*/ 5 w 259"/>
                <a:gd name="T67" fmla="*/ 196 h 304"/>
                <a:gd name="T68" fmla="*/ 3 w 259"/>
                <a:gd name="T69" fmla="*/ 200 h 304"/>
                <a:gd name="T70" fmla="*/ 0 w 259"/>
                <a:gd name="T71" fmla="*/ 206 h 304"/>
                <a:gd name="T72" fmla="*/ 139 w 259"/>
                <a:gd name="T73" fmla="*/ 291 h 304"/>
                <a:gd name="T74" fmla="*/ 182 w 259"/>
                <a:gd name="T75" fmla="*/ 299 h 304"/>
                <a:gd name="T76" fmla="*/ 218 w 259"/>
                <a:gd name="T77" fmla="*/ 304 h 304"/>
                <a:gd name="T78" fmla="*/ 219 w 259"/>
                <a:gd name="T79" fmla="*/ 304 h 304"/>
                <a:gd name="T80" fmla="*/ 259 w 259"/>
                <a:gd name="T81" fmla="*/ 33 h 304"/>
                <a:gd name="T82" fmla="*/ 73 w 259"/>
                <a:gd name="T83" fmla="*/ 0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9" h="304">
                  <a:moveTo>
                    <a:pt x="73" y="0"/>
                  </a:moveTo>
                  <a:cubicBezTo>
                    <a:pt x="73" y="0"/>
                    <a:pt x="69" y="19"/>
                    <a:pt x="68" y="25"/>
                  </a:cubicBezTo>
                  <a:cubicBezTo>
                    <a:pt x="66" y="29"/>
                    <a:pt x="62" y="43"/>
                    <a:pt x="62" y="43"/>
                  </a:cubicBezTo>
                  <a:cubicBezTo>
                    <a:pt x="59" y="45"/>
                    <a:pt x="59" y="45"/>
                    <a:pt x="59" y="45"/>
                  </a:cubicBezTo>
                  <a:cubicBezTo>
                    <a:pt x="56" y="43"/>
                    <a:pt x="56" y="43"/>
                    <a:pt x="56" y="43"/>
                  </a:cubicBezTo>
                  <a:cubicBezTo>
                    <a:pt x="51" y="39"/>
                    <a:pt x="51" y="39"/>
                    <a:pt x="51" y="39"/>
                  </a:cubicBezTo>
                  <a:cubicBezTo>
                    <a:pt x="47" y="41"/>
                    <a:pt x="47" y="41"/>
                    <a:pt x="47" y="41"/>
                  </a:cubicBezTo>
                  <a:cubicBezTo>
                    <a:pt x="45" y="37"/>
                    <a:pt x="45" y="37"/>
                    <a:pt x="45" y="37"/>
                  </a:cubicBezTo>
                  <a:cubicBezTo>
                    <a:pt x="38" y="39"/>
                    <a:pt x="38" y="39"/>
                    <a:pt x="38" y="39"/>
                  </a:cubicBezTo>
                  <a:cubicBezTo>
                    <a:pt x="35" y="42"/>
                    <a:pt x="35" y="42"/>
                    <a:pt x="35" y="42"/>
                  </a:cubicBezTo>
                  <a:cubicBezTo>
                    <a:pt x="35" y="53"/>
                    <a:pt x="35" y="53"/>
                    <a:pt x="35" y="53"/>
                  </a:cubicBezTo>
                  <a:cubicBezTo>
                    <a:pt x="35" y="67"/>
                    <a:pt x="35" y="67"/>
                    <a:pt x="35" y="67"/>
                  </a:cubicBezTo>
                  <a:cubicBezTo>
                    <a:pt x="35" y="80"/>
                    <a:pt x="35" y="80"/>
                    <a:pt x="35" y="80"/>
                  </a:cubicBezTo>
                  <a:cubicBezTo>
                    <a:pt x="34" y="84"/>
                    <a:pt x="34" y="84"/>
                    <a:pt x="34" y="84"/>
                  </a:cubicBezTo>
                  <a:cubicBezTo>
                    <a:pt x="31" y="89"/>
                    <a:pt x="31" y="89"/>
                    <a:pt x="31" y="89"/>
                  </a:cubicBezTo>
                  <a:cubicBezTo>
                    <a:pt x="30" y="94"/>
                    <a:pt x="30" y="94"/>
                    <a:pt x="30" y="94"/>
                  </a:cubicBezTo>
                  <a:cubicBezTo>
                    <a:pt x="30" y="101"/>
                    <a:pt x="30" y="101"/>
                    <a:pt x="30" y="101"/>
                  </a:cubicBezTo>
                  <a:cubicBezTo>
                    <a:pt x="34" y="110"/>
                    <a:pt x="34" y="110"/>
                    <a:pt x="34" y="110"/>
                  </a:cubicBezTo>
                  <a:cubicBezTo>
                    <a:pt x="35" y="119"/>
                    <a:pt x="35" y="119"/>
                    <a:pt x="35" y="119"/>
                  </a:cubicBezTo>
                  <a:cubicBezTo>
                    <a:pt x="37" y="122"/>
                    <a:pt x="37" y="122"/>
                    <a:pt x="37" y="122"/>
                  </a:cubicBezTo>
                  <a:cubicBezTo>
                    <a:pt x="42" y="128"/>
                    <a:pt x="42" y="128"/>
                    <a:pt x="42" y="128"/>
                  </a:cubicBezTo>
                  <a:cubicBezTo>
                    <a:pt x="39" y="130"/>
                    <a:pt x="39" y="130"/>
                    <a:pt x="39" y="130"/>
                  </a:cubicBezTo>
                  <a:cubicBezTo>
                    <a:pt x="34" y="134"/>
                    <a:pt x="34" y="134"/>
                    <a:pt x="34" y="134"/>
                  </a:cubicBezTo>
                  <a:cubicBezTo>
                    <a:pt x="24" y="141"/>
                    <a:pt x="24" y="141"/>
                    <a:pt x="24" y="141"/>
                  </a:cubicBezTo>
                  <a:cubicBezTo>
                    <a:pt x="21" y="154"/>
                    <a:pt x="21" y="154"/>
                    <a:pt x="21" y="154"/>
                  </a:cubicBezTo>
                  <a:cubicBezTo>
                    <a:pt x="17" y="162"/>
                    <a:pt x="17" y="162"/>
                    <a:pt x="17" y="162"/>
                  </a:cubicBezTo>
                  <a:cubicBezTo>
                    <a:pt x="13" y="166"/>
                    <a:pt x="13" y="166"/>
                    <a:pt x="13" y="166"/>
                  </a:cubicBezTo>
                  <a:cubicBezTo>
                    <a:pt x="11" y="167"/>
                    <a:pt x="11" y="167"/>
                    <a:pt x="11" y="167"/>
                  </a:cubicBezTo>
                  <a:cubicBezTo>
                    <a:pt x="9" y="171"/>
                    <a:pt x="9" y="171"/>
                    <a:pt x="9" y="171"/>
                  </a:cubicBezTo>
                  <a:cubicBezTo>
                    <a:pt x="10" y="178"/>
                    <a:pt x="10" y="178"/>
                    <a:pt x="10" y="178"/>
                  </a:cubicBezTo>
                  <a:cubicBezTo>
                    <a:pt x="9" y="183"/>
                    <a:pt x="9" y="183"/>
                    <a:pt x="9" y="183"/>
                  </a:cubicBezTo>
                  <a:cubicBezTo>
                    <a:pt x="15" y="188"/>
                    <a:pt x="15" y="188"/>
                    <a:pt x="15" y="188"/>
                  </a:cubicBezTo>
                  <a:cubicBezTo>
                    <a:pt x="13" y="192"/>
                    <a:pt x="13" y="192"/>
                    <a:pt x="13" y="192"/>
                  </a:cubicBezTo>
                  <a:cubicBezTo>
                    <a:pt x="5" y="196"/>
                    <a:pt x="5" y="196"/>
                    <a:pt x="5" y="196"/>
                  </a:cubicBezTo>
                  <a:cubicBezTo>
                    <a:pt x="3" y="200"/>
                    <a:pt x="3" y="200"/>
                    <a:pt x="3" y="200"/>
                  </a:cubicBezTo>
                  <a:cubicBezTo>
                    <a:pt x="0" y="206"/>
                    <a:pt x="0" y="206"/>
                    <a:pt x="0" y="206"/>
                  </a:cubicBezTo>
                  <a:cubicBezTo>
                    <a:pt x="139" y="291"/>
                    <a:pt x="139" y="291"/>
                    <a:pt x="139" y="291"/>
                  </a:cubicBezTo>
                  <a:cubicBezTo>
                    <a:pt x="182" y="299"/>
                    <a:pt x="182" y="299"/>
                    <a:pt x="182" y="299"/>
                  </a:cubicBezTo>
                  <a:cubicBezTo>
                    <a:pt x="218" y="304"/>
                    <a:pt x="218" y="304"/>
                    <a:pt x="218" y="304"/>
                  </a:cubicBezTo>
                  <a:cubicBezTo>
                    <a:pt x="219" y="304"/>
                    <a:pt x="219" y="304"/>
                    <a:pt x="219" y="304"/>
                  </a:cubicBezTo>
                  <a:cubicBezTo>
                    <a:pt x="259" y="33"/>
                    <a:pt x="259" y="33"/>
                    <a:pt x="259" y="33"/>
                  </a:cubicBezTo>
                  <a:lnTo>
                    <a:pt x="73" y="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2" name="Freeform 9"/>
            <p:cNvSpPr>
              <a:spLocks/>
            </p:cNvSpPr>
            <p:nvPr/>
          </p:nvSpPr>
          <p:spPr bwMode="auto">
            <a:xfrm>
              <a:off x="5239212" y="2105790"/>
              <a:ext cx="433415" cy="750467"/>
            </a:xfrm>
            <a:custGeom>
              <a:avLst/>
              <a:gdLst>
                <a:gd name="T0" fmla="*/ 229 w 257"/>
                <a:gd name="T1" fmla="*/ 433 h 445"/>
                <a:gd name="T2" fmla="*/ 231 w 257"/>
                <a:gd name="T3" fmla="*/ 420 h 445"/>
                <a:gd name="T4" fmla="*/ 239 w 257"/>
                <a:gd name="T5" fmla="*/ 409 h 445"/>
                <a:gd name="T6" fmla="*/ 255 w 257"/>
                <a:gd name="T7" fmla="*/ 388 h 445"/>
                <a:gd name="T8" fmla="*/ 251 w 257"/>
                <a:gd name="T9" fmla="*/ 379 h 445"/>
                <a:gd name="T10" fmla="*/ 247 w 257"/>
                <a:gd name="T11" fmla="*/ 358 h 445"/>
                <a:gd name="T12" fmla="*/ 118 w 257"/>
                <a:gd name="T13" fmla="*/ 158 h 445"/>
                <a:gd name="T14" fmla="*/ 113 w 257"/>
                <a:gd name="T15" fmla="*/ 153 h 445"/>
                <a:gd name="T16" fmla="*/ 117 w 257"/>
                <a:gd name="T17" fmla="*/ 146 h 445"/>
                <a:gd name="T18" fmla="*/ 26 w 257"/>
                <a:gd name="T19" fmla="*/ 0 h 445"/>
                <a:gd name="T20" fmla="*/ 23 w 257"/>
                <a:gd name="T21" fmla="*/ 9 h 445"/>
                <a:gd name="T22" fmla="*/ 22 w 257"/>
                <a:gd name="T23" fmla="*/ 25 h 445"/>
                <a:gd name="T24" fmla="*/ 17 w 257"/>
                <a:gd name="T25" fmla="*/ 34 h 445"/>
                <a:gd name="T26" fmla="*/ 7 w 257"/>
                <a:gd name="T27" fmla="*/ 50 h 445"/>
                <a:gd name="T28" fmla="*/ 0 w 257"/>
                <a:gd name="T29" fmla="*/ 62 h 445"/>
                <a:gd name="T30" fmla="*/ 3 w 257"/>
                <a:gd name="T31" fmla="*/ 75 h 445"/>
                <a:gd name="T32" fmla="*/ 9 w 257"/>
                <a:gd name="T33" fmla="*/ 90 h 445"/>
                <a:gd name="T34" fmla="*/ 5 w 257"/>
                <a:gd name="T35" fmla="*/ 110 h 445"/>
                <a:gd name="T36" fmla="*/ 2 w 257"/>
                <a:gd name="T37" fmla="*/ 122 h 445"/>
                <a:gd name="T38" fmla="*/ 11 w 257"/>
                <a:gd name="T39" fmla="*/ 145 h 445"/>
                <a:gd name="T40" fmla="*/ 17 w 257"/>
                <a:gd name="T41" fmla="*/ 161 h 445"/>
                <a:gd name="T42" fmla="*/ 14 w 257"/>
                <a:gd name="T43" fmla="*/ 169 h 445"/>
                <a:gd name="T44" fmla="*/ 23 w 257"/>
                <a:gd name="T45" fmla="*/ 176 h 445"/>
                <a:gd name="T46" fmla="*/ 29 w 257"/>
                <a:gd name="T47" fmla="*/ 175 h 445"/>
                <a:gd name="T48" fmla="*/ 37 w 257"/>
                <a:gd name="T49" fmla="*/ 172 h 445"/>
                <a:gd name="T50" fmla="*/ 51 w 257"/>
                <a:gd name="T51" fmla="*/ 177 h 445"/>
                <a:gd name="T52" fmla="*/ 49 w 257"/>
                <a:gd name="T53" fmla="*/ 179 h 445"/>
                <a:gd name="T54" fmla="*/ 40 w 257"/>
                <a:gd name="T55" fmla="*/ 176 h 445"/>
                <a:gd name="T56" fmla="*/ 33 w 257"/>
                <a:gd name="T57" fmla="*/ 175 h 445"/>
                <a:gd name="T58" fmla="*/ 35 w 257"/>
                <a:gd name="T59" fmla="*/ 187 h 445"/>
                <a:gd name="T60" fmla="*/ 30 w 257"/>
                <a:gd name="T61" fmla="*/ 192 h 445"/>
                <a:gd name="T62" fmla="*/ 29 w 257"/>
                <a:gd name="T63" fmla="*/ 185 h 445"/>
                <a:gd name="T64" fmla="*/ 24 w 257"/>
                <a:gd name="T65" fmla="*/ 187 h 445"/>
                <a:gd name="T66" fmla="*/ 23 w 257"/>
                <a:gd name="T67" fmla="*/ 204 h 445"/>
                <a:gd name="T68" fmla="*/ 30 w 257"/>
                <a:gd name="T69" fmla="*/ 217 h 445"/>
                <a:gd name="T70" fmla="*/ 35 w 257"/>
                <a:gd name="T71" fmla="*/ 229 h 445"/>
                <a:gd name="T72" fmla="*/ 28 w 257"/>
                <a:gd name="T73" fmla="*/ 234 h 445"/>
                <a:gd name="T74" fmla="*/ 34 w 257"/>
                <a:gd name="T75" fmla="*/ 255 h 445"/>
                <a:gd name="T76" fmla="*/ 42 w 257"/>
                <a:gd name="T77" fmla="*/ 275 h 445"/>
                <a:gd name="T78" fmla="*/ 50 w 257"/>
                <a:gd name="T79" fmla="*/ 288 h 445"/>
                <a:gd name="T80" fmla="*/ 50 w 257"/>
                <a:gd name="T81" fmla="*/ 298 h 445"/>
                <a:gd name="T82" fmla="*/ 53 w 257"/>
                <a:gd name="T83" fmla="*/ 307 h 445"/>
                <a:gd name="T84" fmla="*/ 50 w 257"/>
                <a:gd name="T85" fmla="*/ 327 h 445"/>
                <a:gd name="T86" fmla="*/ 73 w 257"/>
                <a:gd name="T87" fmla="*/ 339 h 445"/>
                <a:gd name="T88" fmla="*/ 91 w 257"/>
                <a:gd name="T89" fmla="*/ 355 h 445"/>
                <a:gd name="T90" fmla="*/ 112 w 257"/>
                <a:gd name="T91" fmla="*/ 374 h 445"/>
                <a:gd name="T92" fmla="*/ 128 w 257"/>
                <a:gd name="T93" fmla="*/ 388 h 445"/>
                <a:gd name="T94" fmla="*/ 143 w 257"/>
                <a:gd name="T95" fmla="*/ 414 h 445"/>
                <a:gd name="T96" fmla="*/ 143 w 257"/>
                <a:gd name="T97" fmla="*/ 434 h 445"/>
                <a:gd name="T98" fmla="*/ 226 w 257"/>
                <a:gd name="T99" fmla="*/ 444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7" h="445">
                  <a:moveTo>
                    <a:pt x="233" y="441"/>
                  </a:moveTo>
                  <a:lnTo>
                    <a:pt x="234" y="438"/>
                  </a:lnTo>
                  <a:lnTo>
                    <a:pt x="229" y="433"/>
                  </a:lnTo>
                  <a:lnTo>
                    <a:pt x="230" y="429"/>
                  </a:lnTo>
                  <a:lnTo>
                    <a:pt x="229" y="423"/>
                  </a:lnTo>
                  <a:lnTo>
                    <a:pt x="231" y="420"/>
                  </a:lnTo>
                  <a:lnTo>
                    <a:pt x="233" y="419"/>
                  </a:lnTo>
                  <a:lnTo>
                    <a:pt x="236" y="416"/>
                  </a:lnTo>
                  <a:lnTo>
                    <a:pt x="239" y="409"/>
                  </a:lnTo>
                  <a:lnTo>
                    <a:pt x="242" y="398"/>
                  </a:lnTo>
                  <a:lnTo>
                    <a:pt x="250" y="392"/>
                  </a:lnTo>
                  <a:lnTo>
                    <a:pt x="255" y="388"/>
                  </a:lnTo>
                  <a:lnTo>
                    <a:pt x="257" y="387"/>
                  </a:lnTo>
                  <a:lnTo>
                    <a:pt x="253" y="382"/>
                  </a:lnTo>
                  <a:lnTo>
                    <a:pt x="251" y="379"/>
                  </a:lnTo>
                  <a:lnTo>
                    <a:pt x="250" y="372"/>
                  </a:lnTo>
                  <a:lnTo>
                    <a:pt x="247" y="364"/>
                  </a:lnTo>
                  <a:lnTo>
                    <a:pt x="247" y="358"/>
                  </a:lnTo>
                  <a:lnTo>
                    <a:pt x="248" y="354"/>
                  </a:lnTo>
                  <a:lnTo>
                    <a:pt x="248" y="353"/>
                  </a:lnTo>
                  <a:lnTo>
                    <a:pt x="118" y="158"/>
                  </a:lnTo>
                  <a:lnTo>
                    <a:pt x="115" y="156"/>
                  </a:lnTo>
                  <a:lnTo>
                    <a:pt x="114" y="155"/>
                  </a:lnTo>
                  <a:lnTo>
                    <a:pt x="113" y="153"/>
                  </a:lnTo>
                  <a:lnTo>
                    <a:pt x="112" y="150"/>
                  </a:lnTo>
                  <a:lnTo>
                    <a:pt x="113" y="147"/>
                  </a:lnTo>
                  <a:lnTo>
                    <a:pt x="117" y="146"/>
                  </a:lnTo>
                  <a:lnTo>
                    <a:pt x="119" y="145"/>
                  </a:lnTo>
                  <a:lnTo>
                    <a:pt x="148" y="35"/>
                  </a:lnTo>
                  <a:lnTo>
                    <a:pt x="26" y="0"/>
                  </a:lnTo>
                  <a:lnTo>
                    <a:pt x="25" y="4"/>
                  </a:lnTo>
                  <a:lnTo>
                    <a:pt x="23" y="5"/>
                  </a:lnTo>
                  <a:lnTo>
                    <a:pt x="23" y="9"/>
                  </a:lnTo>
                  <a:lnTo>
                    <a:pt x="23" y="12"/>
                  </a:lnTo>
                  <a:lnTo>
                    <a:pt x="23" y="21"/>
                  </a:lnTo>
                  <a:lnTo>
                    <a:pt x="22" y="25"/>
                  </a:lnTo>
                  <a:lnTo>
                    <a:pt x="19" y="30"/>
                  </a:lnTo>
                  <a:lnTo>
                    <a:pt x="17" y="33"/>
                  </a:lnTo>
                  <a:lnTo>
                    <a:pt x="17" y="34"/>
                  </a:lnTo>
                  <a:lnTo>
                    <a:pt x="17" y="40"/>
                  </a:lnTo>
                  <a:lnTo>
                    <a:pt x="13" y="45"/>
                  </a:lnTo>
                  <a:lnTo>
                    <a:pt x="7" y="50"/>
                  </a:lnTo>
                  <a:lnTo>
                    <a:pt x="2" y="55"/>
                  </a:lnTo>
                  <a:lnTo>
                    <a:pt x="1" y="57"/>
                  </a:lnTo>
                  <a:lnTo>
                    <a:pt x="0" y="62"/>
                  </a:lnTo>
                  <a:lnTo>
                    <a:pt x="0" y="66"/>
                  </a:lnTo>
                  <a:lnTo>
                    <a:pt x="1" y="71"/>
                  </a:lnTo>
                  <a:lnTo>
                    <a:pt x="3" y="75"/>
                  </a:lnTo>
                  <a:lnTo>
                    <a:pt x="7" y="81"/>
                  </a:lnTo>
                  <a:lnTo>
                    <a:pt x="8" y="85"/>
                  </a:lnTo>
                  <a:lnTo>
                    <a:pt x="9" y="90"/>
                  </a:lnTo>
                  <a:lnTo>
                    <a:pt x="9" y="98"/>
                  </a:lnTo>
                  <a:lnTo>
                    <a:pt x="6" y="104"/>
                  </a:lnTo>
                  <a:lnTo>
                    <a:pt x="5" y="110"/>
                  </a:lnTo>
                  <a:lnTo>
                    <a:pt x="5" y="117"/>
                  </a:lnTo>
                  <a:lnTo>
                    <a:pt x="4" y="120"/>
                  </a:lnTo>
                  <a:lnTo>
                    <a:pt x="2" y="122"/>
                  </a:lnTo>
                  <a:lnTo>
                    <a:pt x="3" y="126"/>
                  </a:lnTo>
                  <a:lnTo>
                    <a:pt x="7" y="133"/>
                  </a:lnTo>
                  <a:lnTo>
                    <a:pt x="11" y="145"/>
                  </a:lnTo>
                  <a:lnTo>
                    <a:pt x="15" y="153"/>
                  </a:lnTo>
                  <a:lnTo>
                    <a:pt x="17" y="156"/>
                  </a:lnTo>
                  <a:lnTo>
                    <a:pt x="17" y="161"/>
                  </a:lnTo>
                  <a:lnTo>
                    <a:pt x="16" y="164"/>
                  </a:lnTo>
                  <a:lnTo>
                    <a:pt x="14" y="166"/>
                  </a:lnTo>
                  <a:lnTo>
                    <a:pt x="14" y="169"/>
                  </a:lnTo>
                  <a:lnTo>
                    <a:pt x="18" y="169"/>
                  </a:lnTo>
                  <a:lnTo>
                    <a:pt x="20" y="172"/>
                  </a:lnTo>
                  <a:lnTo>
                    <a:pt x="23" y="176"/>
                  </a:lnTo>
                  <a:lnTo>
                    <a:pt x="24" y="178"/>
                  </a:lnTo>
                  <a:lnTo>
                    <a:pt x="27" y="179"/>
                  </a:lnTo>
                  <a:lnTo>
                    <a:pt x="29" y="175"/>
                  </a:lnTo>
                  <a:lnTo>
                    <a:pt x="29" y="170"/>
                  </a:lnTo>
                  <a:lnTo>
                    <a:pt x="34" y="169"/>
                  </a:lnTo>
                  <a:lnTo>
                    <a:pt x="37" y="172"/>
                  </a:lnTo>
                  <a:lnTo>
                    <a:pt x="44" y="172"/>
                  </a:lnTo>
                  <a:lnTo>
                    <a:pt x="48" y="176"/>
                  </a:lnTo>
                  <a:lnTo>
                    <a:pt x="51" y="177"/>
                  </a:lnTo>
                  <a:lnTo>
                    <a:pt x="53" y="178"/>
                  </a:lnTo>
                  <a:lnTo>
                    <a:pt x="51" y="180"/>
                  </a:lnTo>
                  <a:lnTo>
                    <a:pt x="49" y="179"/>
                  </a:lnTo>
                  <a:lnTo>
                    <a:pt x="45" y="177"/>
                  </a:lnTo>
                  <a:lnTo>
                    <a:pt x="44" y="177"/>
                  </a:lnTo>
                  <a:lnTo>
                    <a:pt x="40" y="176"/>
                  </a:lnTo>
                  <a:lnTo>
                    <a:pt x="38" y="175"/>
                  </a:lnTo>
                  <a:lnTo>
                    <a:pt x="35" y="174"/>
                  </a:lnTo>
                  <a:lnTo>
                    <a:pt x="33" y="175"/>
                  </a:lnTo>
                  <a:lnTo>
                    <a:pt x="33" y="177"/>
                  </a:lnTo>
                  <a:lnTo>
                    <a:pt x="33" y="184"/>
                  </a:lnTo>
                  <a:lnTo>
                    <a:pt x="35" y="187"/>
                  </a:lnTo>
                  <a:lnTo>
                    <a:pt x="34" y="194"/>
                  </a:lnTo>
                  <a:lnTo>
                    <a:pt x="33" y="194"/>
                  </a:lnTo>
                  <a:lnTo>
                    <a:pt x="30" y="192"/>
                  </a:lnTo>
                  <a:lnTo>
                    <a:pt x="29" y="190"/>
                  </a:lnTo>
                  <a:lnTo>
                    <a:pt x="29" y="186"/>
                  </a:lnTo>
                  <a:lnTo>
                    <a:pt x="29" y="185"/>
                  </a:lnTo>
                  <a:lnTo>
                    <a:pt x="28" y="184"/>
                  </a:lnTo>
                  <a:lnTo>
                    <a:pt x="25" y="183"/>
                  </a:lnTo>
                  <a:lnTo>
                    <a:pt x="24" y="187"/>
                  </a:lnTo>
                  <a:lnTo>
                    <a:pt x="23" y="189"/>
                  </a:lnTo>
                  <a:lnTo>
                    <a:pt x="23" y="195"/>
                  </a:lnTo>
                  <a:lnTo>
                    <a:pt x="23" y="204"/>
                  </a:lnTo>
                  <a:lnTo>
                    <a:pt x="23" y="209"/>
                  </a:lnTo>
                  <a:lnTo>
                    <a:pt x="26" y="214"/>
                  </a:lnTo>
                  <a:lnTo>
                    <a:pt x="30" y="217"/>
                  </a:lnTo>
                  <a:lnTo>
                    <a:pt x="34" y="220"/>
                  </a:lnTo>
                  <a:lnTo>
                    <a:pt x="35" y="225"/>
                  </a:lnTo>
                  <a:lnTo>
                    <a:pt x="35" y="229"/>
                  </a:lnTo>
                  <a:lnTo>
                    <a:pt x="34" y="233"/>
                  </a:lnTo>
                  <a:lnTo>
                    <a:pt x="31" y="234"/>
                  </a:lnTo>
                  <a:lnTo>
                    <a:pt x="28" y="234"/>
                  </a:lnTo>
                  <a:lnTo>
                    <a:pt x="28" y="244"/>
                  </a:lnTo>
                  <a:lnTo>
                    <a:pt x="29" y="247"/>
                  </a:lnTo>
                  <a:lnTo>
                    <a:pt x="34" y="255"/>
                  </a:lnTo>
                  <a:lnTo>
                    <a:pt x="35" y="261"/>
                  </a:lnTo>
                  <a:lnTo>
                    <a:pt x="40" y="268"/>
                  </a:lnTo>
                  <a:lnTo>
                    <a:pt x="42" y="275"/>
                  </a:lnTo>
                  <a:lnTo>
                    <a:pt x="45" y="280"/>
                  </a:lnTo>
                  <a:lnTo>
                    <a:pt x="48" y="287"/>
                  </a:lnTo>
                  <a:lnTo>
                    <a:pt x="50" y="288"/>
                  </a:lnTo>
                  <a:lnTo>
                    <a:pt x="50" y="293"/>
                  </a:lnTo>
                  <a:lnTo>
                    <a:pt x="50" y="296"/>
                  </a:lnTo>
                  <a:lnTo>
                    <a:pt x="50" y="298"/>
                  </a:lnTo>
                  <a:lnTo>
                    <a:pt x="52" y="300"/>
                  </a:lnTo>
                  <a:lnTo>
                    <a:pt x="53" y="303"/>
                  </a:lnTo>
                  <a:lnTo>
                    <a:pt x="53" y="307"/>
                  </a:lnTo>
                  <a:lnTo>
                    <a:pt x="52" y="316"/>
                  </a:lnTo>
                  <a:lnTo>
                    <a:pt x="51" y="322"/>
                  </a:lnTo>
                  <a:lnTo>
                    <a:pt x="50" y="327"/>
                  </a:lnTo>
                  <a:lnTo>
                    <a:pt x="59" y="332"/>
                  </a:lnTo>
                  <a:lnTo>
                    <a:pt x="67" y="335"/>
                  </a:lnTo>
                  <a:lnTo>
                    <a:pt x="73" y="339"/>
                  </a:lnTo>
                  <a:lnTo>
                    <a:pt x="82" y="342"/>
                  </a:lnTo>
                  <a:lnTo>
                    <a:pt x="85" y="345"/>
                  </a:lnTo>
                  <a:lnTo>
                    <a:pt x="91" y="355"/>
                  </a:lnTo>
                  <a:lnTo>
                    <a:pt x="99" y="362"/>
                  </a:lnTo>
                  <a:lnTo>
                    <a:pt x="111" y="365"/>
                  </a:lnTo>
                  <a:lnTo>
                    <a:pt x="112" y="374"/>
                  </a:lnTo>
                  <a:lnTo>
                    <a:pt x="114" y="378"/>
                  </a:lnTo>
                  <a:lnTo>
                    <a:pt x="121" y="380"/>
                  </a:lnTo>
                  <a:lnTo>
                    <a:pt x="128" y="388"/>
                  </a:lnTo>
                  <a:lnTo>
                    <a:pt x="136" y="400"/>
                  </a:lnTo>
                  <a:lnTo>
                    <a:pt x="140" y="405"/>
                  </a:lnTo>
                  <a:lnTo>
                    <a:pt x="143" y="414"/>
                  </a:lnTo>
                  <a:lnTo>
                    <a:pt x="140" y="422"/>
                  </a:lnTo>
                  <a:lnTo>
                    <a:pt x="140" y="427"/>
                  </a:lnTo>
                  <a:lnTo>
                    <a:pt x="143" y="434"/>
                  </a:lnTo>
                  <a:lnTo>
                    <a:pt x="147" y="435"/>
                  </a:lnTo>
                  <a:lnTo>
                    <a:pt x="225" y="445"/>
                  </a:lnTo>
                  <a:lnTo>
                    <a:pt x="226" y="444"/>
                  </a:lnTo>
                  <a:lnTo>
                    <a:pt x="233" y="441"/>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3" name="Freeform 10"/>
            <p:cNvSpPr>
              <a:spLocks/>
            </p:cNvSpPr>
            <p:nvPr/>
          </p:nvSpPr>
          <p:spPr bwMode="auto">
            <a:xfrm>
              <a:off x="6303358" y="2660630"/>
              <a:ext cx="473890" cy="254654"/>
            </a:xfrm>
            <a:custGeom>
              <a:avLst/>
              <a:gdLst>
                <a:gd name="T0" fmla="*/ 0 w 332"/>
                <a:gd name="T1" fmla="*/ 25 h 178"/>
                <a:gd name="T2" fmla="*/ 0 w 332"/>
                <a:gd name="T3" fmla="*/ 28 h 178"/>
                <a:gd name="T4" fmla="*/ 0 w 332"/>
                <a:gd name="T5" fmla="*/ 25 h 178"/>
                <a:gd name="T6" fmla="*/ 118 w 332"/>
                <a:gd name="T7" fmla="*/ 32 h 178"/>
                <a:gd name="T8" fmla="*/ 113 w 332"/>
                <a:gd name="T9" fmla="*/ 123 h 178"/>
                <a:gd name="T10" fmla="*/ 121 w 332"/>
                <a:gd name="T11" fmla="*/ 131 h 178"/>
                <a:gd name="T12" fmla="*/ 124 w 332"/>
                <a:gd name="T13" fmla="*/ 134 h 178"/>
                <a:gd name="T14" fmla="*/ 127 w 332"/>
                <a:gd name="T15" fmla="*/ 134 h 178"/>
                <a:gd name="T16" fmla="*/ 131 w 332"/>
                <a:gd name="T17" fmla="*/ 133 h 178"/>
                <a:gd name="T18" fmla="*/ 134 w 332"/>
                <a:gd name="T19" fmla="*/ 134 h 178"/>
                <a:gd name="T20" fmla="*/ 137 w 332"/>
                <a:gd name="T21" fmla="*/ 133 h 178"/>
                <a:gd name="T22" fmla="*/ 141 w 332"/>
                <a:gd name="T23" fmla="*/ 135 h 178"/>
                <a:gd name="T24" fmla="*/ 144 w 332"/>
                <a:gd name="T25" fmla="*/ 144 h 178"/>
                <a:gd name="T26" fmla="*/ 153 w 332"/>
                <a:gd name="T27" fmla="*/ 144 h 178"/>
                <a:gd name="T28" fmla="*/ 160 w 332"/>
                <a:gd name="T29" fmla="*/ 148 h 178"/>
                <a:gd name="T30" fmla="*/ 166 w 332"/>
                <a:gd name="T31" fmla="*/ 147 h 178"/>
                <a:gd name="T32" fmla="*/ 167 w 332"/>
                <a:gd name="T33" fmla="*/ 147 h 178"/>
                <a:gd name="T34" fmla="*/ 171 w 332"/>
                <a:gd name="T35" fmla="*/ 151 h 178"/>
                <a:gd name="T36" fmla="*/ 175 w 332"/>
                <a:gd name="T37" fmla="*/ 148 h 178"/>
                <a:gd name="T38" fmla="*/ 184 w 332"/>
                <a:gd name="T39" fmla="*/ 149 h 178"/>
                <a:gd name="T40" fmla="*/ 188 w 332"/>
                <a:gd name="T41" fmla="*/ 156 h 178"/>
                <a:gd name="T42" fmla="*/ 191 w 332"/>
                <a:gd name="T43" fmla="*/ 156 h 178"/>
                <a:gd name="T44" fmla="*/ 192 w 332"/>
                <a:gd name="T45" fmla="*/ 162 h 178"/>
                <a:gd name="T46" fmla="*/ 196 w 332"/>
                <a:gd name="T47" fmla="*/ 163 h 178"/>
                <a:gd name="T48" fmla="*/ 200 w 332"/>
                <a:gd name="T49" fmla="*/ 160 h 178"/>
                <a:gd name="T50" fmla="*/ 202 w 332"/>
                <a:gd name="T51" fmla="*/ 157 h 178"/>
                <a:gd name="T52" fmla="*/ 204 w 332"/>
                <a:gd name="T53" fmla="*/ 157 h 178"/>
                <a:gd name="T54" fmla="*/ 211 w 332"/>
                <a:gd name="T55" fmla="*/ 162 h 178"/>
                <a:gd name="T56" fmla="*/ 213 w 332"/>
                <a:gd name="T57" fmla="*/ 166 h 178"/>
                <a:gd name="T58" fmla="*/ 220 w 332"/>
                <a:gd name="T59" fmla="*/ 162 h 178"/>
                <a:gd name="T60" fmla="*/ 222 w 332"/>
                <a:gd name="T61" fmla="*/ 164 h 178"/>
                <a:gd name="T62" fmla="*/ 223 w 332"/>
                <a:gd name="T63" fmla="*/ 170 h 178"/>
                <a:gd name="T64" fmla="*/ 225 w 332"/>
                <a:gd name="T65" fmla="*/ 169 h 178"/>
                <a:gd name="T66" fmla="*/ 228 w 332"/>
                <a:gd name="T67" fmla="*/ 164 h 178"/>
                <a:gd name="T68" fmla="*/ 233 w 332"/>
                <a:gd name="T69" fmla="*/ 163 h 178"/>
                <a:gd name="T70" fmla="*/ 239 w 332"/>
                <a:gd name="T71" fmla="*/ 166 h 178"/>
                <a:gd name="T72" fmla="*/ 248 w 332"/>
                <a:gd name="T73" fmla="*/ 165 h 178"/>
                <a:gd name="T74" fmla="*/ 252 w 332"/>
                <a:gd name="T75" fmla="*/ 169 h 178"/>
                <a:gd name="T76" fmla="*/ 254 w 332"/>
                <a:gd name="T77" fmla="*/ 172 h 178"/>
                <a:gd name="T78" fmla="*/ 259 w 332"/>
                <a:gd name="T79" fmla="*/ 171 h 178"/>
                <a:gd name="T80" fmla="*/ 264 w 332"/>
                <a:gd name="T81" fmla="*/ 167 h 178"/>
                <a:gd name="T82" fmla="*/ 267 w 332"/>
                <a:gd name="T83" fmla="*/ 164 h 178"/>
                <a:gd name="T84" fmla="*/ 271 w 332"/>
                <a:gd name="T85" fmla="*/ 164 h 178"/>
                <a:gd name="T86" fmla="*/ 275 w 332"/>
                <a:gd name="T87" fmla="*/ 166 h 178"/>
                <a:gd name="T88" fmla="*/ 278 w 332"/>
                <a:gd name="T89" fmla="*/ 165 h 178"/>
                <a:gd name="T90" fmla="*/ 282 w 332"/>
                <a:gd name="T91" fmla="*/ 162 h 178"/>
                <a:gd name="T92" fmla="*/ 288 w 332"/>
                <a:gd name="T93" fmla="*/ 163 h 178"/>
                <a:gd name="T94" fmla="*/ 291 w 332"/>
                <a:gd name="T95" fmla="*/ 164 h 178"/>
                <a:gd name="T96" fmla="*/ 300 w 332"/>
                <a:gd name="T97" fmla="*/ 161 h 178"/>
                <a:gd name="T98" fmla="*/ 306 w 332"/>
                <a:gd name="T99" fmla="*/ 163 h 178"/>
                <a:gd name="T100" fmla="*/ 311 w 332"/>
                <a:gd name="T101" fmla="*/ 168 h 178"/>
                <a:gd name="T102" fmla="*/ 318 w 332"/>
                <a:gd name="T103" fmla="*/ 173 h 178"/>
                <a:gd name="T104" fmla="*/ 324 w 332"/>
                <a:gd name="T105" fmla="*/ 173 h 178"/>
                <a:gd name="T106" fmla="*/ 328 w 332"/>
                <a:gd name="T107" fmla="*/ 176 h 178"/>
                <a:gd name="T108" fmla="*/ 331 w 332"/>
                <a:gd name="T109" fmla="*/ 178 h 178"/>
                <a:gd name="T110" fmla="*/ 332 w 332"/>
                <a:gd name="T111" fmla="*/ 88 h 178"/>
                <a:gd name="T112" fmla="*/ 324 w 332"/>
                <a:gd name="T113" fmla="*/ 37 h 178"/>
                <a:gd name="T114" fmla="*/ 324 w 332"/>
                <a:gd name="T115" fmla="*/ 12 h 178"/>
                <a:gd name="T116" fmla="*/ 175 w 332"/>
                <a:gd name="T117" fmla="*/ 9 h 178"/>
                <a:gd name="T118" fmla="*/ 4 w 332"/>
                <a:gd name="T119" fmla="*/ 0 h 178"/>
                <a:gd name="T120" fmla="*/ 3 w 332"/>
                <a:gd name="T121" fmla="*/ 25 h 178"/>
                <a:gd name="T122" fmla="*/ 0 w 332"/>
                <a:gd name="T123" fmla="*/ 25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32" h="178">
                  <a:moveTo>
                    <a:pt x="0" y="25"/>
                  </a:moveTo>
                  <a:cubicBezTo>
                    <a:pt x="0" y="28"/>
                    <a:pt x="0" y="28"/>
                    <a:pt x="0" y="28"/>
                  </a:cubicBezTo>
                  <a:cubicBezTo>
                    <a:pt x="0" y="25"/>
                    <a:pt x="0" y="25"/>
                    <a:pt x="0" y="25"/>
                  </a:cubicBezTo>
                  <a:cubicBezTo>
                    <a:pt x="118" y="32"/>
                    <a:pt x="118" y="32"/>
                    <a:pt x="118" y="32"/>
                  </a:cubicBezTo>
                  <a:cubicBezTo>
                    <a:pt x="113" y="123"/>
                    <a:pt x="113" y="123"/>
                    <a:pt x="113" y="123"/>
                  </a:cubicBezTo>
                  <a:cubicBezTo>
                    <a:pt x="121" y="131"/>
                    <a:pt x="121" y="131"/>
                    <a:pt x="121" y="131"/>
                  </a:cubicBezTo>
                  <a:cubicBezTo>
                    <a:pt x="124" y="134"/>
                    <a:pt x="124" y="134"/>
                    <a:pt x="124" y="134"/>
                  </a:cubicBezTo>
                  <a:cubicBezTo>
                    <a:pt x="127" y="134"/>
                    <a:pt x="127" y="134"/>
                    <a:pt x="127" y="134"/>
                  </a:cubicBezTo>
                  <a:cubicBezTo>
                    <a:pt x="131" y="133"/>
                    <a:pt x="131" y="133"/>
                    <a:pt x="131" y="133"/>
                  </a:cubicBezTo>
                  <a:cubicBezTo>
                    <a:pt x="134" y="134"/>
                    <a:pt x="134" y="134"/>
                    <a:pt x="134" y="134"/>
                  </a:cubicBezTo>
                  <a:cubicBezTo>
                    <a:pt x="137" y="133"/>
                    <a:pt x="137" y="133"/>
                    <a:pt x="137" y="133"/>
                  </a:cubicBezTo>
                  <a:cubicBezTo>
                    <a:pt x="141" y="135"/>
                    <a:pt x="141" y="135"/>
                    <a:pt x="141" y="135"/>
                  </a:cubicBezTo>
                  <a:cubicBezTo>
                    <a:pt x="144" y="144"/>
                    <a:pt x="144" y="144"/>
                    <a:pt x="144" y="144"/>
                  </a:cubicBezTo>
                  <a:cubicBezTo>
                    <a:pt x="153" y="144"/>
                    <a:pt x="153" y="144"/>
                    <a:pt x="153" y="144"/>
                  </a:cubicBezTo>
                  <a:cubicBezTo>
                    <a:pt x="160" y="148"/>
                    <a:pt x="160" y="148"/>
                    <a:pt x="160" y="148"/>
                  </a:cubicBezTo>
                  <a:cubicBezTo>
                    <a:pt x="166" y="147"/>
                    <a:pt x="166" y="147"/>
                    <a:pt x="166" y="147"/>
                  </a:cubicBezTo>
                  <a:cubicBezTo>
                    <a:pt x="167" y="147"/>
                    <a:pt x="167" y="147"/>
                    <a:pt x="167" y="147"/>
                  </a:cubicBezTo>
                  <a:cubicBezTo>
                    <a:pt x="171" y="151"/>
                    <a:pt x="171" y="151"/>
                    <a:pt x="171" y="151"/>
                  </a:cubicBezTo>
                  <a:cubicBezTo>
                    <a:pt x="175" y="148"/>
                    <a:pt x="175" y="148"/>
                    <a:pt x="175" y="148"/>
                  </a:cubicBezTo>
                  <a:cubicBezTo>
                    <a:pt x="184" y="149"/>
                    <a:pt x="184" y="149"/>
                    <a:pt x="184" y="149"/>
                  </a:cubicBezTo>
                  <a:cubicBezTo>
                    <a:pt x="188" y="156"/>
                    <a:pt x="188" y="156"/>
                    <a:pt x="188" y="156"/>
                  </a:cubicBezTo>
                  <a:cubicBezTo>
                    <a:pt x="191" y="156"/>
                    <a:pt x="191" y="156"/>
                    <a:pt x="191" y="156"/>
                  </a:cubicBezTo>
                  <a:cubicBezTo>
                    <a:pt x="192" y="162"/>
                    <a:pt x="192" y="162"/>
                    <a:pt x="192" y="162"/>
                  </a:cubicBezTo>
                  <a:cubicBezTo>
                    <a:pt x="196" y="163"/>
                    <a:pt x="196" y="163"/>
                    <a:pt x="196" y="163"/>
                  </a:cubicBezTo>
                  <a:cubicBezTo>
                    <a:pt x="200" y="160"/>
                    <a:pt x="200" y="160"/>
                    <a:pt x="200" y="160"/>
                  </a:cubicBezTo>
                  <a:cubicBezTo>
                    <a:pt x="202" y="157"/>
                    <a:pt x="202" y="157"/>
                    <a:pt x="202" y="157"/>
                  </a:cubicBezTo>
                  <a:cubicBezTo>
                    <a:pt x="204" y="157"/>
                    <a:pt x="204" y="157"/>
                    <a:pt x="204" y="157"/>
                  </a:cubicBezTo>
                  <a:cubicBezTo>
                    <a:pt x="211" y="162"/>
                    <a:pt x="211" y="162"/>
                    <a:pt x="211" y="162"/>
                  </a:cubicBezTo>
                  <a:cubicBezTo>
                    <a:pt x="213" y="166"/>
                    <a:pt x="213" y="166"/>
                    <a:pt x="213" y="166"/>
                  </a:cubicBezTo>
                  <a:cubicBezTo>
                    <a:pt x="220" y="162"/>
                    <a:pt x="220" y="162"/>
                    <a:pt x="220" y="162"/>
                  </a:cubicBezTo>
                  <a:cubicBezTo>
                    <a:pt x="222" y="164"/>
                    <a:pt x="222" y="164"/>
                    <a:pt x="222" y="164"/>
                  </a:cubicBezTo>
                  <a:cubicBezTo>
                    <a:pt x="223" y="170"/>
                    <a:pt x="223" y="170"/>
                    <a:pt x="223" y="170"/>
                  </a:cubicBezTo>
                  <a:cubicBezTo>
                    <a:pt x="225" y="169"/>
                    <a:pt x="225" y="169"/>
                    <a:pt x="225" y="169"/>
                  </a:cubicBezTo>
                  <a:cubicBezTo>
                    <a:pt x="228" y="164"/>
                    <a:pt x="228" y="164"/>
                    <a:pt x="228" y="164"/>
                  </a:cubicBezTo>
                  <a:cubicBezTo>
                    <a:pt x="233" y="163"/>
                    <a:pt x="233" y="163"/>
                    <a:pt x="233" y="163"/>
                  </a:cubicBezTo>
                  <a:cubicBezTo>
                    <a:pt x="239" y="166"/>
                    <a:pt x="239" y="166"/>
                    <a:pt x="239" y="166"/>
                  </a:cubicBezTo>
                  <a:cubicBezTo>
                    <a:pt x="248" y="165"/>
                    <a:pt x="248" y="165"/>
                    <a:pt x="248" y="165"/>
                  </a:cubicBezTo>
                  <a:cubicBezTo>
                    <a:pt x="252" y="169"/>
                    <a:pt x="252" y="169"/>
                    <a:pt x="252" y="169"/>
                  </a:cubicBezTo>
                  <a:cubicBezTo>
                    <a:pt x="254" y="172"/>
                    <a:pt x="254" y="172"/>
                    <a:pt x="254" y="172"/>
                  </a:cubicBezTo>
                  <a:cubicBezTo>
                    <a:pt x="259" y="171"/>
                    <a:pt x="259" y="171"/>
                    <a:pt x="259" y="171"/>
                  </a:cubicBezTo>
                  <a:cubicBezTo>
                    <a:pt x="264" y="167"/>
                    <a:pt x="264" y="167"/>
                    <a:pt x="264" y="167"/>
                  </a:cubicBezTo>
                  <a:cubicBezTo>
                    <a:pt x="267" y="164"/>
                    <a:pt x="267" y="164"/>
                    <a:pt x="267" y="164"/>
                  </a:cubicBezTo>
                  <a:cubicBezTo>
                    <a:pt x="271" y="164"/>
                    <a:pt x="271" y="164"/>
                    <a:pt x="271" y="164"/>
                  </a:cubicBezTo>
                  <a:cubicBezTo>
                    <a:pt x="275" y="166"/>
                    <a:pt x="275" y="166"/>
                    <a:pt x="275" y="166"/>
                  </a:cubicBezTo>
                  <a:cubicBezTo>
                    <a:pt x="278" y="165"/>
                    <a:pt x="278" y="165"/>
                    <a:pt x="278" y="165"/>
                  </a:cubicBezTo>
                  <a:cubicBezTo>
                    <a:pt x="282" y="162"/>
                    <a:pt x="282" y="162"/>
                    <a:pt x="282" y="162"/>
                  </a:cubicBezTo>
                  <a:cubicBezTo>
                    <a:pt x="288" y="163"/>
                    <a:pt x="288" y="163"/>
                    <a:pt x="288" y="163"/>
                  </a:cubicBezTo>
                  <a:cubicBezTo>
                    <a:pt x="291" y="164"/>
                    <a:pt x="291" y="164"/>
                    <a:pt x="291" y="164"/>
                  </a:cubicBezTo>
                  <a:cubicBezTo>
                    <a:pt x="300" y="161"/>
                    <a:pt x="300" y="161"/>
                    <a:pt x="300" y="161"/>
                  </a:cubicBezTo>
                  <a:cubicBezTo>
                    <a:pt x="306" y="163"/>
                    <a:pt x="306" y="163"/>
                    <a:pt x="306" y="163"/>
                  </a:cubicBezTo>
                  <a:cubicBezTo>
                    <a:pt x="311" y="168"/>
                    <a:pt x="311" y="168"/>
                    <a:pt x="311" y="168"/>
                  </a:cubicBezTo>
                  <a:cubicBezTo>
                    <a:pt x="318" y="173"/>
                    <a:pt x="318" y="173"/>
                    <a:pt x="318" y="173"/>
                  </a:cubicBezTo>
                  <a:cubicBezTo>
                    <a:pt x="324" y="173"/>
                    <a:pt x="324" y="173"/>
                    <a:pt x="324" y="173"/>
                  </a:cubicBezTo>
                  <a:cubicBezTo>
                    <a:pt x="328" y="176"/>
                    <a:pt x="328" y="176"/>
                    <a:pt x="328" y="176"/>
                  </a:cubicBezTo>
                  <a:cubicBezTo>
                    <a:pt x="331" y="178"/>
                    <a:pt x="331" y="178"/>
                    <a:pt x="331" y="178"/>
                  </a:cubicBezTo>
                  <a:cubicBezTo>
                    <a:pt x="332" y="88"/>
                    <a:pt x="332" y="88"/>
                    <a:pt x="332" y="88"/>
                  </a:cubicBezTo>
                  <a:cubicBezTo>
                    <a:pt x="324" y="37"/>
                    <a:pt x="324" y="37"/>
                    <a:pt x="324" y="37"/>
                  </a:cubicBezTo>
                  <a:cubicBezTo>
                    <a:pt x="324" y="12"/>
                    <a:pt x="324" y="12"/>
                    <a:pt x="324" y="12"/>
                  </a:cubicBezTo>
                  <a:cubicBezTo>
                    <a:pt x="324" y="12"/>
                    <a:pt x="211" y="10"/>
                    <a:pt x="175" y="9"/>
                  </a:cubicBezTo>
                  <a:cubicBezTo>
                    <a:pt x="131" y="7"/>
                    <a:pt x="4" y="0"/>
                    <a:pt x="4" y="0"/>
                  </a:cubicBezTo>
                  <a:cubicBezTo>
                    <a:pt x="3" y="25"/>
                    <a:pt x="3" y="25"/>
                    <a:pt x="3" y="25"/>
                  </a:cubicBezTo>
                  <a:lnTo>
                    <a:pt x="0" y="25"/>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4" name="Freeform 11"/>
            <p:cNvSpPr>
              <a:spLocks/>
            </p:cNvSpPr>
            <p:nvPr/>
          </p:nvSpPr>
          <p:spPr bwMode="auto">
            <a:xfrm>
              <a:off x="6364070" y="2454884"/>
              <a:ext cx="401373" cy="222611"/>
            </a:xfrm>
            <a:custGeom>
              <a:avLst/>
              <a:gdLst>
                <a:gd name="T0" fmla="*/ 282 w 282"/>
                <a:gd name="T1" fmla="*/ 156 h 156"/>
                <a:gd name="T2" fmla="*/ 282 w 282"/>
                <a:gd name="T3" fmla="*/ 52 h 156"/>
                <a:gd name="T4" fmla="*/ 276 w 282"/>
                <a:gd name="T5" fmla="*/ 49 h 156"/>
                <a:gd name="T6" fmla="*/ 273 w 282"/>
                <a:gd name="T7" fmla="*/ 47 h 156"/>
                <a:gd name="T8" fmla="*/ 271 w 282"/>
                <a:gd name="T9" fmla="*/ 41 h 156"/>
                <a:gd name="T10" fmla="*/ 265 w 282"/>
                <a:gd name="T11" fmla="*/ 35 h 156"/>
                <a:gd name="T12" fmla="*/ 268 w 282"/>
                <a:gd name="T13" fmla="*/ 30 h 156"/>
                <a:gd name="T14" fmla="*/ 271 w 282"/>
                <a:gd name="T15" fmla="*/ 24 h 156"/>
                <a:gd name="T16" fmla="*/ 271 w 282"/>
                <a:gd name="T17" fmla="*/ 19 h 156"/>
                <a:gd name="T18" fmla="*/ 269 w 282"/>
                <a:gd name="T19" fmla="*/ 19 h 156"/>
                <a:gd name="T20" fmla="*/ 260 w 282"/>
                <a:gd name="T21" fmla="*/ 19 h 156"/>
                <a:gd name="T22" fmla="*/ 258 w 282"/>
                <a:gd name="T23" fmla="*/ 15 h 156"/>
                <a:gd name="T24" fmla="*/ 254 w 282"/>
                <a:gd name="T25" fmla="*/ 9 h 156"/>
                <a:gd name="T26" fmla="*/ 165 w 282"/>
                <a:gd name="T27" fmla="*/ 6 h 156"/>
                <a:gd name="T28" fmla="*/ 10 w 282"/>
                <a:gd name="T29" fmla="*/ 0 h 156"/>
                <a:gd name="T30" fmla="*/ 0 w 282"/>
                <a:gd name="T31" fmla="*/ 146 h 156"/>
                <a:gd name="T32" fmla="*/ 133 w 282"/>
                <a:gd name="T33" fmla="*/ 153 h 156"/>
                <a:gd name="T34" fmla="*/ 282 w 282"/>
                <a:gd name="T35"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2" h="156">
                  <a:moveTo>
                    <a:pt x="282" y="156"/>
                  </a:moveTo>
                  <a:cubicBezTo>
                    <a:pt x="282" y="52"/>
                    <a:pt x="282" y="52"/>
                    <a:pt x="282" y="52"/>
                  </a:cubicBezTo>
                  <a:cubicBezTo>
                    <a:pt x="276" y="49"/>
                    <a:pt x="276" y="49"/>
                    <a:pt x="276" y="49"/>
                  </a:cubicBezTo>
                  <a:cubicBezTo>
                    <a:pt x="273" y="47"/>
                    <a:pt x="273" y="47"/>
                    <a:pt x="273" y="47"/>
                  </a:cubicBezTo>
                  <a:cubicBezTo>
                    <a:pt x="271" y="41"/>
                    <a:pt x="271" y="41"/>
                    <a:pt x="271" y="41"/>
                  </a:cubicBezTo>
                  <a:cubicBezTo>
                    <a:pt x="265" y="35"/>
                    <a:pt x="265" y="35"/>
                    <a:pt x="265" y="35"/>
                  </a:cubicBezTo>
                  <a:cubicBezTo>
                    <a:pt x="268" y="30"/>
                    <a:pt x="268" y="30"/>
                    <a:pt x="268" y="30"/>
                  </a:cubicBezTo>
                  <a:cubicBezTo>
                    <a:pt x="271" y="24"/>
                    <a:pt x="271" y="24"/>
                    <a:pt x="271" y="24"/>
                  </a:cubicBezTo>
                  <a:cubicBezTo>
                    <a:pt x="271" y="19"/>
                    <a:pt x="271" y="19"/>
                    <a:pt x="271" y="19"/>
                  </a:cubicBezTo>
                  <a:cubicBezTo>
                    <a:pt x="269" y="19"/>
                    <a:pt x="269" y="19"/>
                    <a:pt x="269" y="19"/>
                  </a:cubicBezTo>
                  <a:cubicBezTo>
                    <a:pt x="260" y="19"/>
                    <a:pt x="260" y="19"/>
                    <a:pt x="260" y="19"/>
                  </a:cubicBezTo>
                  <a:cubicBezTo>
                    <a:pt x="258" y="15"/>
                    <a:pt x="258" y="15"/>
                    <a:pt x="258" y="15"/>
                  </a:cubicBezTo>
                  <a:cubicBezTo>
                    <a:pt x="254" y="9"/>
                    <a:pt x="254" y="9"/>
                    <a:pt x="254" y="9"/>
                  </a:cubicBezTo>
                  <a:cubicBezTo>
                    <a:pt x="254" y="9"/>
                    <a:pt x="187" y="7"/>
                    <a:pt x="165" y="6"/>
                  </a:cubicBezTo>
                  <a:cubicBezTo>
                    <a:pt x="126" y="5"/>
                    <a:pt x="10" y="0"/>
                    <a:pt x="10" y="0"/>
                  </a:cubicBezTo>
                  <a:cubicBezTo>
                    <a:pt x="0" y="146"/>
                    <a:pt x="0" y="146"/>
                    <a:pt x="0" y="146"/>
                  </a:cubicBezTo>
                  <a:cubicBezTo>
                    <a:pt x="41" y="148"/>
                    <a:pt x="104" y="151"/>
                    <a:pt x="133" y="153"/>
                  </a:cubicBezTo>
                  <a:cubicBezTo>
                    <a:pt x="169" y="154"/>
                    <a:pt x="282" y="156"/>
                    <a:pt x="282" y="156"/>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5" name="Freeform 12"/>
            <p:cNvSpPr>
              <a:spLocks/>
            </p:cNvSpPr>
            <p:nvPr/>
          </p:nvSpPr>
          <p:spPr bwMode="auto">
            <a:xfrm>
              <a:off x="6279748" y="2242392"/>
              <a:ext cx="446907" cy="225984"/>
            </a:xfrm>
            <a:custGeom>
              <a:avLst/>
              <a:gdLst>
                <a:gd name="T0" fmla="*/ 313 w 313"/>
                <a:gd name="T1" fmla="*/ 158 h 158"/>
                <a:gd name="T2" fmla="*/ 313 w 313"/>
                <a:gd name="T3" fmla="*/ 158 h 158"/>
                <a:gd name="T4" fmla="*/ 313 w 313"/>
                <a:gd name="T5" fmla="*/ 158 h 158"/>
                <a:gd name="T6" fmla="*/ 311 w 313"/>
                <a:gd name="T7" fmla="*/ 154 h 158"/>
                <a:gd name="T8" fmla="*/ 310 w 313"/>
                <a:gd name="T9" fmla="*/ 148 h 158"/>
                <a:gd name="T10" fmla="*/ 304 w 313"/>
                <a:gd name="T11" fmla="*/ 146 h 158"/>
                <a:gd name="T12" fmla="*/ 304 w 313"/>
                <a:gd name="T13" fmla="*/ 145 h 158"/>
                <a:gd name="T14" fmla="*/ 302 w 313"/>
                <a:gd name="T15" fmla="*/ 142 h 158"/>
                <a:gd name="T16" fmla="*/ 304 w 313"/>
                <a:gd name="T17" fmla="*/ 140 h 158"/>
                <a:gd name="T18" fmla="*/ 303 w 313"/>
                <a:gd name="T19" fmla="*/ 135 h 158"/>
                <a:gd name="T20" fmla="*/ 300 w 313"/>
                <a:gd name="T21" fmla="*/ 133 h 158"/>
                <a:gd name="T22" fmla="*/ 299 w 313"/>
                <a:gd name="T23" fmla="*/ 130 h 158"/>
                <a:gd name="T24" fmla="*/ 297 w 313"/>
                <a:gd name="T25" fmla="*/ 123 h 158"/>
                <a:gd name="T26" fmla="*/ 297 w 313"/>
                <a:gd name="T27" fmla="*/ 113 h 158"/>
                <a:gd name="T28" fmla="*/ 296 w 313"/>
                <a:gd name="T29" fmla="*/ 111 h 158"/>
                <a:gd name="T30" fmla="*/ 294 w 313"/>
                <a:gd name="T31" fmla="*/ 108 h 158"/>
                <a:gd name="T32" fmla="*/ 295 w 313"/>
                <a:gd name="T33" fmla="*/ 104 h 158"/>
                <a:gd name="T34" fmla="*/ 295 w 313"/>
                <a:gd name="T35" fmla="*/ 94 h 158"/>
                <a:gd name="T36" fmla="*/ 293 w 313"/>
                <a:gd name="T37" fmla="*/ 87 h 158"/>
                <a:gd name="T38" fmla="*/ 291 w 313"/>
                <a:gd name="T39" fmla="*/ 85 h 158"/>
                <a:gd name="T40" fmla="*/ 289 w 313"/>
                <a:gd name="T41" fmla="*/ 85 h 158"/>
                <a:gd name="T42" fmla="*/ 288 w 313"/>
                <a:gd name="T43" fmla="*/ 83 h 158"/>
                <a:gd name="T44" fmla="*/ 287 w 313"/>
                <a:gd name="T45" fmla="*/ 78 h 158"/>
                <a:gd name="T46" fmla="*/ 286 w 313"/>
                <a:gd name="T47" fmla="*/ 74 h 158"/>
                <a:gd name="T48" fmla="*/ 289 w 313"/>
                <a:gd name="T49" fmla="*/ 73 h 158"/>
                <a:gd name="T50" fmla="*/ 289 w 313"/>
                <a:gd name="T51" fmla="*/ 72 h 158"/>
                <a:gd name="T52" fmla="*/ 288 w 313"/>
                <a:gd name="T53" fmla="*/ 71 h 158"/>
                <a:gd name="T54" fmla="*/ 287 w 313"/>
                <a:gd name="T55" fmla="*/ 68 h 158"/>
                <a:gd name="T56" fmla="*/ 285 w 313"/>
                <a:gd name="T57" fmla="*/ 65 h 158"/>
                <a:gd name="T58" fmla="*/ 283 w 313"/>
                <a:gd name="T59" fmla="*/ 60 h 158"/>
                <a:gd name="T60" fmla="*/ 281 w 313"/>
                <a:gd name="T61" fmla="*/ 54 h 158"/>
                <a:gd name="T62" fmla="*/ 278 w 313"/>
                <a:gd name="T63" fmla="*/ 49 h 158"/>
                <a:gd name="T64" fmla="*/ 275 w 313"/>
                <a:gd name="T65" fmla="*/ 40 h 158"/>
                <a:gd name="T66" fmla="*/ 272 w 313"/>
                <a:gd name="T67" fmla="*/ 36 h 158"/>
                <a:gd name="T68" fmla="*/ 271 w 313"/>
                <a:gd name="T69" fmla="*/ 35 h 158"/>
                <a:gd name="T70" fmla="*/ 267 w 313"/>
                <a:gd name="T71" fmla="*/ 32 h 158"/>
                <a:gd name="T72" fmla="*/ 260 w 313"/>
                <a:gd name="T73" fmla="*/ 27 h 158"/>
                <a:gd name="T74" fmla="*/ 255 w 313"/>
                <a:gd name="T75" fmla="*/ 25 h 158"/>
                <a:gd name="T76" fmla="*/ 250 w 313"/>
                <a:gd name="T77" fmla="*/ 23 h 158"/>
                <a:gd name="T78" fmla="*/ 246 w 313"/>
                <a:gd name="T79" fmla="*/ 19 h 158"/>
                <a:gd name="T80" fmla="*/ 239 w 313"/>
                <a:gd name="T81" fmla="*/ 18 h 158"/>
                <a:gd name="T82" fmla="*/ 230 w 313"/>
                <a:gd name="T83" fmla="*/ 19 h 158"/>
                <a:gd name="T84" fmla="*/ 227 w 313"/>
                <a:gd name="T85" fmla="*/ 19 h 158"/>
                <a:gd name="T86" fmla="*/ 224 w 313"/>
                <a:gd name="T87" fmla="*/ 20 h 158"/>
                <a:gd name="T88" fmla="*/ 222 w 313"/>
                <a:gd name="T89" fmla="*/ 22 h 158"/>
                <a:gd name="T90" fmla="*/ 219 w 313"/>
                <a:gd name="T91" fmla="*/ 21 h 158"/>
                <a:gd name="T92" fmla="*/ 216 w 313"/>
                <a:gd name="T93" fmla="*/ 19 h 158"/>
                <a:gd name="T94" fmla="*/ 210 w 313"/>
                <a:gd name="T95" fmla="*/ 16 h 158"/>
                <a:gd name="T96" fmla="*/ 202 w 313"/>
                <a:gd name="T97" fmla="*/ 12 h 158"/>
                <a:gd name="T98" fmla="*/ 10 w 313"/>
                <a:gd name="T99" fmla="*/ 0 h 158"/>
                <a:gd name="T100" fmla="*/ 0 w 313"/>
                <a:gd name="T101" fmla="*/ 95 h 158"/>
                <a:gd name="T102" fmla="*/ 73 w 313"/>
                <a:gd name="T103" fmla="*/ 102 h 158"/>
                <a:gd name="T104" fmla="*/ 69 w 313"/>
                <a:gd name="T105" fmla="*/ 149 h 158"/>
                <a:gd name="T106" fmla="*/ 69 w 313"/>
                <a:gd name="T107" fmla="*/ 149 h 158"/>
                <a:gd name="T108" fmla="*/ 224 w 313"/>
                <a:gd name="T109" fmla="*/ 155 h 158"/>
                <a:gd name="T110" fmla="*/ 313 w 313"/>
                <a:gd name="T111" fmla="*/ 15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13" h="158">
                  <a:moveTo>
                    <a:pt x="313" y="158"/>
                  </a:moveTo>
                  <a:cubicBezTo>
                    <a:pt x="313" y="158"/>
                    <a:pt x="313" y="158"/>
                    <a:pt x="313" y="158"/>
                  </a:cubicBezTo>
                  <a:cubicBezTo>
                    <a:pt x="313" y="158"/>
                    <a:pt x="313" y="158"/>
                    <a:pt x="313" y="158"/>
                  </a:cubicBezTo>
                  <a:cubicBezTo>
                    <a:pt x="311" y="154"/>
                    <a:pt x="311" y="154"/>
                    <a:pt x="311" y="154"/>
                  </a:cubicBezTo>
                  <a:cubicBezTo>
                    <a:pt x="310" y="148"/>
                    <a:pt x="310" y="148"/>
                    <a:pt x="310" y="148"/>
                  </a:cubicBezTo>
                  <a:cubicBezTo>
                    <a:pt x="310" y="148"/>
                    <a:pt x="305" y="147"/>
                    <a:pt x="304" y="146"/>
                  </a:cubicBezTo>
                  <a:cubicBezTo>
                    <a:pt x="303" y="145"/>
                    <a:pt x="304" y="145"/>
                    <a:pt x="304" y="145"/>
                  </a:cubicBezTo>
                  <a:cubicBezTo>
                    <a:pt x="302" y="142"/>
                    <a:pt x="302" y="142"/>
                    <a:pt x="302" y="142"/>
                  </a:cubicBezTo>
                  <a:cubicBezTo>
                    <a:pt x="304" y="140"/>
                    <a:pt x="304" y="140"/>
                    <a:pt x="304" y="140"/>
                  </a:cubicBezTo>
                  <a:cubicBezTo>
                    <a:pt x="303" y="135"/>
                    <a:pt x="303" y="135"/>
                    <a:pt x="303" y="135"/>
                  </a:cubicBezTo>
                  <a:cubicBezTo>
                    <a:pt x="300" y="133"/>
                    <a:pt x="300" y="133"/>
                    <a:pt x="300" y="133"/>
                  </a:cubicBezTo>
                  <a:cubicBezTo>
                    <a:pt x="299" y="130"/>
                    <a:pt x="299" y="130"/>
                    <a:pt x="299" y="130"/>
                  </a:cubicBezTo>
                  <a:cubicBezTo>
                    <a:pt x="297" y="123"/>
                    <a:pt x="297" y="123"/>
                    <a:pt x="297" y="123"/>
                  </a:cubicBezTo>
                  <a:cubicBezTo>
                    <a:pt x="297" y="113"/>
                    <a:pt x="297" y="113"/>
                    <a:pt x="297" y="113"/>
                  </a:cubicBezTo>
                  <a:cubicBezTo>
                    <a:pt x="296" y="111"/>
                    <a:pt x="296" y="111"/>
                    <a:pt x="296" y="111"/>
                  </a:cubicBezTo>
                  <a:cubicBezTo>
                    <a:pt x="294" y="108"/>
                    <a:pt x="294" y="108"/>
                    <a:pt x="294" y="108"/>
                  </a:cubicBezTo>
                  <a:cubicBezTo>
                    <a:pt x="295" y="104"/>
                    <a:pt x="295" y="104"/>
                    <a:pt x="295" y="104"/>
                  </a:cubicBezTo>
                  <a:cubicBezTo>
                    <a:pt x="295" y="94"/>
                    <a:pt x="295" y="94"/>
                    <a:pt x="295" y="94"/>
                  </a:cubicBezTo>
                  <a:cubicBezTo>
                    <a:pt x="293" y="87"/>
                    <a:pt x="293" y="87"/>
                    <a:pt x="293" y="87"/>
                  </a:cubicBezTo>
                  <a:cubicBezTo>
                    <a:pt x="291" y="85"/>
                    <a:pt x="291" y="85"/>
                    <a:pt x="291" y="85"/>
                  </a:cubicBezTo>
                  <a:cubicBezTo>
                    <a:pt x="289" y="85"/>
                    <a:pt x="289" y="85"/>
                    <a:pt x="289" y="85"/>
                  </a:cubicBezTo>
                  <a:cubicBezTo>
                    <a:pt x="288" y="83"/>
                    <a:pt x="288" y="83"/>
                    <a:pt x="288" y="83"/>
                  </a:cubicBezTo>
                  <a:cubicBezTo>
                    <a:pt x="287" y="78"/>
                    <a:pt x="287" y="78"/>
                    <a:pt x="287" y="78"/>
                  </a:cubicBezTo>
                  <a:cubicBezTo>
                    <a:pt x="286" y="74"/>
                    <a:pt x="286" y="74"/>
                    <a:pt x="286" y="74"/>
                  </a:cubicBezTo>
                  <a:cubicBezTo>
                    <a:pt x="289" y="73"/>
                    <a:pt x="289" y="73"/>
                    <a:pt x="289" y="73"/>
                  </a:cubicBezTo>
                  <a:cubicBezTo>
                    <a:pt x="289" y="72"/>
                    <a:pt x="289" y="72"/>
                    <a:pt x="289" y="72"/>
                  </a:cubicBezTo>
                  <a:cubicBezTo>
                    <a:pt x="288" y="71"/>
                    <a:pt x="288" y="71"/>
                    <a:pt x="288" y="71"/>
                  </a:cubicBezTo>
                  <a:cubicBezTo>
                    <a:pt x="287" y="68"/>
                    <a:pt x="287" y="68"/>
                    <a:pt x="287" y="68"/>
                  </a:cubicBezTo>
                  <a:cubicBezTo>
                    <a:pt x="285" y="65"/>
                    <a:pt x="285" y="65"/>
                    <a:pt x="285" y="65"/>
                  </a:cubicBezTo>
                  <a:cubicBezTo>
                    <a:pt x="283" y="60"/>
                    <a:pt x="283" y="60"/>
                    <a:pt x="283" y="60"/>
                  </a:cubicBezTo>
                  <a:cubicBezTo>
                    <a:pt x="281" y="54"/>
                    <a:pt x="281" y="54"/>
                    <a:pt x="281" y="54"/>
                  </a:cubicBezTo>
                  <a:cubicBezTo>
                    <a:pt x="278" y="49"/>
                    <a:pt x="278" y="49"/>
                    <a:pt x="278" y="49"/>
                  </a:cubicBezTo>
                  <a:cubicBezTo>
                    <a:pt x="275" y="40"/>
                    <a:pt x="275" y="40"/>
                    <a:pt x="275" y="40"/>
                  </a:cubicBezTo>
                  <a:cubicBezTo>
                    <a:pt x="272" y="36"/>
                    <a:pt x="272" y="36"/>
                    <a:pt x="272" y="36"/>
                  </a:cubicBezTo>
                  <a:cubicBezTo>
                    <a:pt x="271" y="35"/>
                    <a:pt x="271" y="35"/>
                    <a:pt x="271" y="35"/>
                  </a:cubicBezTo>
                  <a:cubicBezTo>
                    <a:pt x="267" y="32"/>
                    <a:pt x="267" y="32"/>
                    <a:pt x="267" y="32"/>
                  </a:cubicBezTo>
                  <a:cubicBezTo>
                    <a:pt x="260" y="27"/>
                    <a:pt x="260" y="27"/>
                    <a:pt x="260" y="27"/>
                  </a:cubicBezTo>
                  <a:cubicBezTo>
                    <a:pt x="255" y="25"/>
                    <a:pt x="255" y="25"/>
                    <a:pt x="255" y="25"/>
                  </a:cubicBezTo>
                  <a:cubicBezTo>
                    <a:pt x="250" y="23"/>
                    <a:pt x="250" y="23"/>
                    <a:pt x="250" y="23"/>
                  </a:cubicBezTo>
                  <a:cubicBezTo>
                    <a:pt x="246" y="19"/>
                    <a:pt x="246" y="19"/>
                    <a:pt x="246" y="19"/>
                  </a:cubicBezTo>
                  <a:cubicBezTo>
                    <a:pt x="239" y="18"/>
                    <a:pt x="239" y="18"/>
                    <a:pt x="239" y="18"/>
                  </a:cubicBezTo>
                  <a:cubicBezTo>
                    <a:pt x="230" y="19"/>
                    <a:pt x="230" y="19"/>
                    <a:pt x="230" y="19"/>
                  </a:cubicBezTo>
                  <a:cubicBezTo>
                    <a:pt x="227" y="19"/>
                    <a:pt x="227" y="19"/>
                    <a:pt x="227" y="19"/>
                  </a:cubicBezTo>
                  <a:cubicBezTo>
                    <a:pt x="224" y="20"/>
                    <a:pt x="224" y="20"/>
                    <a:pt x="224" y="20"/>
                  </a:cubicBezTo>
                  <a:cubicBezTo>
                    <a:pt x="222" y="22"/>
                    <a:pt x="222" y="22"/>
                    <a:pt x="222" y="22"/>
                  </a:cubicBezTo>
                  <a:cubicBezTo>
                    <a:pt x="219" y="21"/>
                    <a:pt x="219" y="21"/>
                    <a:pt x="219" y="21"/>
                  </a:cubicBezTo>
                  <a:cubicBezTo>
                    <a:pt x="216" y="19"/>
                    <a:pt x="216" y="19"/>
                    <a:pt x="216" y="19"/>
                  </a:cubicBezTo>
                  <a:cubicBezTo>
                    <a:pt x="210" y="16"/>
                    <a:pt x="210" y="16"/>
                    <a:pt x="210" y="16"/>
                  </a:cubicBezTo>
                  <a:cubicBezTo>
                    <a:pt x="202" y="12"/>
                    <a:pt x="202" y="12"/>
                    <a:pt x="202" y="12"/>
                  </a:cubicBezTo>
                  <a:cubicBezTo>
                    <a:pt x="10" y="0"/>
                    <a:pt x="10" y="0"/>
                    <a:pt x="10" y="0"/>
                  </a:cubicBezTo>
                  <a:cubicBezTo>
                    <a:pt x="0" y="95"/>
                    <a:pt x="0" y="95"/>
                    <a:pt x="0" y="95"/>
                  </a:cubicBezTo>
                  <a:cubicBezTo>
                    <a:pt x="73" y="102"/>
                    <a:pt x="73" y="102"/>
                    <a:pt x="73" y="102"/>
                  </a:cubicBezTo>
                  <a:cubicBezTo>
                    <a:pt x="69" y="149"/>
                    <a:pt x="69" y="149"/>
                    <a:pt x="69" y="149"/>
                  </a:cubicBezTo>
                  <a:cubicBezTo>
                    <a:pt x="69" y="149"/>
                    <a:pt x="69" y="149"/>
                    <a:pt x="69" y="149"/>
                  </a:cubicBezTo>
                  <a:cubicBezTo>
                    <a:pt x="75" y="149"/>
                    <a:pt x="186" y="154"/>
                    <a:pt x="224" y="155"/>
                  </a:cubicBezTo>
                  <a:cubicBezTo>
                    <a:pt x="246" y="156"/>
                    <a:pt x="313" y="158"/>
                    <a:pt x="313" y="158"/>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6" name="Freeform 13"/>
            <p:cNvSpPr>
              <a:spLocks/>
            </p:cNvSpPr>
            <p:nvPr/>
          </p:nvSpPr>
          <p:spPr bwMode="auto">
            <a:xfrm>
              <a:off x="6293239" y="2040019"/>
              <a:ext cx="384509" cy="256340"/>
            </a:xfrm>
            <a:custGeom>
              <a:avLst/>
              <a:gdLst>
                <a:gd name="T0" fmla="*/ 200 w 269"/>
                <a:gd name="T1" fmla="*/ 158 h 180"/>
                <a:gd name="T2" fmla="*/ 206 w 269"/>
                <a:gd name="T3" fmla="*/ 161 h 180"/>
                <a:gd name="T4" fmla="*/ 209 w 269"/>
                <a:gd name="T5" fmla="*/ 163 h 180"/>
                <a:gd name="T6" fmla="*/ 212 w 269"/>
                <a:gd name="T7" fmla="*/ 164 h 180"/>
                <a:gd name="T8" fmla="*/ 214 w 269"/>
                <a:gd name="T9" fmla="*/ 162 h 180"/>
                <a:gd name="T10" fmla="*/ 217 w 269"/>
                <a:gd name="T11" fmla="*/ 161 h 180"/>
                <a:gd name="T12" fmla="*/ 220 w 269"/>
                <a:gd name="T13" fmla="*/ 161 h 180"/>
                <a:gd name="T14" fmla="*/ 229 w 269"/>
                <a:gd name="T15" fmla="*/ 160 h 180"/>
                <a:gd name="T16" fmla="*/ 236 w 269"/>
                <a:gd name="T17" fmla="*/ 161 h 180"/>
                <a:gd name="T18" fmla="*/ 240 w 269"/>
                <a:gd name="T19" fmla="*/ 165 h 180"/>
                <a:gd name="T20" fmla="*/ 245 w 269"/>
                <a:gd name="T21" fmla="*/ 167 h 180"/>
                <a:gd name="T22" fmla="*/ 250 w 269"/>
                <a:gd name="T23" fmla="*/ 169 h 180"/>
                <a:gd name="T24" fmla="*/ 257 w 269"/>
                <a:gd name="T25" fmla="*/ 174 h 180"/>
                <a:gd name="T26" fmla="*/ 261 w 269"/>
                <a:gd name="T27" fmla="*/ 177 h 180"/>
                <a:gd name="T28" fmla="*/ 262 w 269"/>
                <a:gd name="T29" fmla="*/ 178 h 180"/>
                <a:gd name="T30" fmla="*/ 263 w 269"/>
                <a:gd name="T31" fmla="*/ 180 h 180"/>
                <a:gd name="T32" fmla="*/ 263 w 269"/>
                <a:gd name="T33" fmla="*/ 180 h 180"/>
                <a:gd name="T34" fmla="*/ 263 w 269"/>
                <a:gd name="T35" fmla="*/ 177 h 180"/>
                <a:gd name="T36" fmla="*/ 263 w 269"/>
                <a:gd name="T37" fmla="*/ 173 h 180"/>
                <a:gd name="T38" fmla="*/ 259 w 269"/>
                <a:gd name="T39" fmla="*/ 170 h 180"/>
                <a:gd name="T40" fmla="*/ 259 w 269"/>
                <a:gd name="T41" fmla="*/ 167 h 180"/>
                <a:gd name="T42" fmla="*/ 260 w 269"/>
                <a:gd name="T43" fmla="*/ 164 h 180"/>
                <a:gd name="T44" fmla="*/ 263 w 269"/>
                <a:gd name="T45" fmla="*/ 163 h 180"/>
                <a:gd name="T46" fmla="*/ 263 w 269"/>
                <a:gd name="T47" fmla="*/ 156 h 180"/>
                <a:gd name="T48" fmla="*/ 264 w 269"/>
                <a:gd name="T49" fmla="*/ 153 h 180"/>
                <a:gd name="T50" fmla="*/ 266 w 269"/>
                <a:gd name="T51" fmla="*/ 152 h 180"/>
                <a:gd name="T52" fmla="*/ 266 w 269"/>
                <a:gd name="T53" fmla="*/ 148 h 180"/>
                <a:gd name="T54" fmla="*/ 264 w 269"/>
                <a:gd name="T55" fmla="*/ 143 h 180"/>
                <a:gd name="T56" fmla="*/ 262 w 269"/>
                <a:gd name="T57" fmla="*/ 142 h 180"/>
                <a:gd name="T58" fmla="*/ 263 w 269"/>
                <a:gd name="T59" fmla="*/ 137 h 180"/>
                <a:gd name="T60" fmla="*/ 263 w 269"/>
                <a:gd name="T61" fmla="*/ 134 h 180"/>
                <a:gd name="T62" fmla="*/ 266 w 269"/>
                <a:gd name="T63" fmla="*/ 134 h 180"/>
                <a:gd name="T64" fmla="*/ 269 w 269"/>
                <a:gd name="T65" fmla="*/ 47 h 180"/>
                <a:gd name="T66" fmla="*/ 266 w 269"/>
                <a:gd name="T67" fmla="*/ 44 h 180"/>
                <a:gd name="T68" fmla="*/ 264 w 269"/>
                <a:gd name="T69" fmla="*/ 41 h 180"/>
                <a:gd name="T70" fmla="*/ 259 w 269"/>
                <a:gd name="T71" fmla="*/ 39 h 180"/>
                <a:gd name="T72" fmla="*/ 258 w 269"/>
                <a:gd name="T73" fmla="*/ 36 h 180"/>
                <a:gd name="T74" fmla="*/ 255 w 269"/>
                <a:gd name="T75" fmla="*/ 33 h 180"/>
                <a:gd name="T76" fmla="*/ 254 w 269"/>
                <a:gd name="T77" fmla="*/ 31 h 180"/>
                <a:gd name="T78" fmla="*/ 254 w 269"/>
                <a:gd name="T79" fmla="*/ 29 h 180"/>
                <a:gd name="T80" fmla="*/ 254 w 269"/>
                <a:gd name="T81" fmla="*/ 27 h 180"/>
                <a:gd name="T82" fmla="*/ 257 w 269"/>
                <a:gd name="T83" fmla="*/ 24 h 180"/>
                <a:gd name="T84" fmla="*/ 260 w 269"/>
                <a:gd name="T85" fmla="*/ 21 h 180"/>
                <a:gd name="T86" fmla="*/ 264 w 269"/>
                <a:gd name="T87" fmla="*/ 17 h 180"/>
                <a:gd name="T88" fmla="*/ 263 w 269"/>
                <a:gd name="T89" fmla="*/ 15 h 180"/>
                <a:gd name="T90" fmla="*/ 263 w 269"/>
                <a:gd name="T91" fmla="*/ 14 h 180"/>
                <a:gd name="T92" fmla="*/ 136 w 269"/>
                <a:gd name="T93" fmla="*/ 8 h 180"/>
                <a:gd name="T94" fmla="*/ 14 w 269"/>
                <a:gd name="T95" fmla="*/ 0 h 180"/>
                <a:gd name="T96" fmla="*/ 0 w 269"/>
                <a:gd name="T97" fmla="*/ 142 h 180"/>
                <a:gd name="T98" fmla="*/ 192 w 269"/>
                <a:gd name="T99" fmla="*/ 154 h 180"/>
                <a:gd name="T100" fmla="*/ 200 w 269"/>
                <a:gd name="T101" fmla="*/ 158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69" h="180">
                  <a:moveTo>
                    <a:pt x="200" y="158"/>
                  </a:moveTo>
                  <a:cubicBezTo>
                    <a:pt x="206" y="161"/>
                    <a:pt x="206" y="161"/>
                    <a:pt x="206" y="161"/>
                  </a:cubicBezTo>
                  <a:cubicBezTo>
                    <a:pt x="209" y="163"/>
                    <a:pt x="209" y="163"/>
                    <a:pt x="209" y="163"/>
                  </a:cubicBezTo>
                  <a:cubicBezTo>
                    <a:pt x="212" y="164"/>
                    <a:pt x="212" y="164"/>
                    <a:pt x="212" y="164"/>
                  </a:cubicBezTo>
                  <a:cubicBezTo>
                    <a:pt x="214" y="162"/>
                    <a:pt x="214" y="162"/>
                    <a:pt x="214" y="162"/>
                  </a:cubicBezTo>
                  <a:cubicBezTo>
                    <a:pt x="217" y="161"/>
                    <a:pt x="217" y="161"/>
                    <a:pt x="217" y="161"/>
                  </a:cubicBezTo>
                  <a:cubicBezTo>
                    <a:pt x="220" y="161"/>
                    <a:pt x="220" y="161"/>
                    <a:pt x="220" y="161"/>
                  </a:cubicBezTo>
                  <a:cubicBezTo>
                    <a:pt x="229" y="160"/>
                    <a:pt x="229" y="160"/>
                    <a:pt x="229" y="160"/>
                  </a:cubicBezTo>
                  <a:cubicBezTo>
                    <a:pt x="236" y="161"/>
                    <a:pt x="236" y="161"/>
                    <a:pt x="236" y="161"/>
                  </a:cubicBezTo>
                  <a:cubicBezTo>
                    <a:pt x="240" y="165"/>
                    <a:pt x="240" y="165"/>
                    <a:pt x="240" y="165"/>
                  </a:cubicBezTo>
                  <a:cubicBezTo>
                    <a:pt x="245" y="167"/>
                    <a:pt x="245" y="167"/>
                    <a:pt x="245" y="167"/>
                  </a:cubicBezTo>
                  <a:cubicBezTo>
                    <a:pt x="250" y="169"/>
                    <a:pt x="250" y="169"/>
                    <a:pt x="250" y="169"/>
                  </a:cubicBezTo>
                  <a:cubicBezTo>
                    <a:pt x="257" y="174"/>
                    <a:pt x="257" y="174"/>
                    <a:pt x="257" y="174"/>
                  </a:cubicBezTo>
                  <a:cubicBezTo>
                    <a:pt x="261" y="177"/>
                    <a:pt x="261" y="177"/>
                    <a:pt x="261" y="177"/>
                  </a:cubicBezTo>
                  <a:cubicBezTo>
                    <a:pt x="262" y="178"/>
                    <a:pt x="262" y="178"/>
                    <a:pt x="262" y="178"/>
                  </a:cubicBezTo>
                  <a:cubicBezTo>
                    <a:pt x="263" y="180"/>
                    <a:pt x="263" y="180"/>
                    <a:pt x="263" y="180"/>
                  </a:cubicBezTo>
                  <a:cubicBezTo>
                    <a:pt x="263" y="180"/>
                    <a:pt x="263" y="180"/>
                    <a:pt x="263" y="180"/>
                  </a:cubicBezTo>
                  <a:cubicBezTo>
                    <a:pt x="263" y="177"/>
                    <a:pt x="263" y="177"/>
                    <a:pt x="263" y="177"/>
                  </a:cubicBezTo>
                  <a:cubicBezTo>
                    <a:pt x="263" y="173"/>
                    <a:pt x="263" y="173"/>
                    <a:pt x="263" y="173"/>
                  </a:cubicBezTo>
                  <a:cubicBezTo>
                    <a:pt x="259" y="170"/>
                    <a:pt x="259" y="170"/>
                    <a:pt x="259" y="170"/>
                  </a:cubicBezTo>
                  <a:cubicBezTo>
                    <a:pt x="259" y="167"/>
                    <a:pt x="259" y="167"/>
                    <a:pt x="259" y="167"/>
                  </a:cubicBezTo>
                  <a:cubicBezTo>
                    <a:pt x="260" y="164"/>
                    <a:pt x="260" y="164"/>
                    <a:pt x="260" y="164"/>
                  </a:cubicBezTo>
                  <a:cubicBezTo>
                    <a:pt x="263" y="163"/>
                    <a:pt x="263" y="163"/>
                    <a:pt x="263" y="163"/>
                  </a:cubicBezTo>
                  <a:cubicBezTo>
                    <a:pt x="263" y="156"/>
                    <a:pt x="263" y="156"/>
                    <a:pt x="263" y="156"/>
                  </a:cubicBezTo>
                  <a:cubicBezTo>
                    <a:pt x="264" y="153"/>
                    <a:pt x="264" y="153"/>
                    <a:pt x="264" y="153"/>
                  </a:cubicBezTo>
                  <a:cubicBezTo>
                    <a:pt x="266" y="152"/>
                    <a:pt x="266" y="152"/>
                    <a:pt x="266" y="152"/>
                  </a:cubicBezTo>
                  <a:cubicBezTo>
                    <a:pt x="266" y="148"/>
                    <a:pt x="266" y="148"/>
                    <a:pt x="266" y="148"/>
                  </a:cubicBezTo>
                  <a:cubicBezTo>
                    <a:pt x="264" y="143"/>
                    <a:pt x="264" y="143"/>
                    <a:pt x="264" y="143"/>
                  </a:cubicBezTo>
                  <a:cubicBezTo>
                    <a:pt x="262" y="142"/>
                    <a:pt x="262" y="142"/>
                    <a:pt x="262" y="142"/>
                  </a:cubicBezTo>
                  <a:cubicBezTo>
                    <a:pt x="263" y="137"/>
                    <a:pt x="263" y="137"/>
                    <a:pt x="263" y="137"/>
                  </a:cubicBezTo>
                  <a:cubicBezTo>
                    <a:pt x="263" y="134"/>
                    <a:pt x="263" y="134"/>
                    <a:pt x="263" y="134"/>
                  </a:cubicBezTo>
                  <a:cubicBezTo>
                    <a:pt x="266" y="134"/>
                    <a:pt x="266" y="134"/>
                    <a:pt x="266" y="134"/>
                  </a:cubicBezTo>
                  <a:cubicBezTo>
                    <a:pt x="269" y="47"/>
                    <a:pt x="269" y="47"/>
                    <a:pt x="269" y="47"/>
                  </a:cubicBezTo>
                  <a:cubicBezTo>
                    <a:pt x="266" y="44"/>
                    <a:pt x="266" y="44"/>
                    <a:pt x="266" y="44"/>
                  </a:cubicBezTo>
                  <a:cubicBezTo>
                    <a:pt x="264" y="41"/>
                    <a:pt x="264" y="41"/>
                    <a:pt x="264" y="41"/>
                  </a:cubicBezTo>
                  <a:cubicBezTo>
                    <a:pt x="259" y="39"/>
                    <a:pt x="259" y="39"/>
                    <a:pt x="259" y="39"/>
                  </a:cubicBezTo>
                  <a:cubicBezTo>
                    <a:pt x="258" y="36"/>
                    <a:pt x="258" y="36"/>
                    <a:pt x="258" y="36"/>
                  </a:cubicBezTo>
                  <a:cubicBezTo>
                    <a:pt x="255" y="33"/>
                    <a:pt x="255" y="33"/>
                    <a:pt x="255" y="33"/>
                  </a:cubicBezTo>
                  <a:cubicBezTo>
                    <a:pt x="254" y="31"/>
                    <a:pt x="254" y="31"/>
                    <a:pt x="254" y="31"/>
                  </a:cubicBezTo>
                  <a:cubicBezTo>
                    <a:pt x="254" y="29"/>
                    <a:pt x="254" y="29"/>
                    <a:pt x="254" y="29"/>
                  </a:cubicBezTo>
                  <a:cubicBezTo>
                    <a:pt x="254" y="27"/>
                    <a:pt x="254" y="27"/>
                    <a:pt x="254" y="27"/>
                  </a:cubicBezTo>
                  <a:cubicBezTo>
                    <a:pt x="257" y="24"/>
                    <a:pt x="257" y="24"/>
                    <a:pt x="257" y="24"/>
                  </a:cubicBezTo>
                  <a:cubicBezTo>
                    <a:pt x="260" y="21"/>
                    <a:pt x="260" y="21"/>
                    <a:pt x="260" y="21"/>
                  </a:cubicBezTo>
                  <a:cubicBezTo>
                    <a:pt x="264" y="17"/>
                    <a:pt x="264" y="17"/>
                    <a:pt x="264" y="17"/>
                  </a:cubicBezTo>
                  <a:cubicBezTo>
                    <a:pt x="263" y="15"/>
                    <a:pt x="263" y="15"/>
                    <a:pt x="263" y="15"/>
                  </a:cubicBezTo>
                  <a:cubicBezTo>
                    <a:pt x="263" y="14"/>
                    <a:pt x="263" y="14"/>
                    <a:pt x="263" y="14"/>
                  </a:cubicBezTo>
                  <a:cubicBezTo>
                    <a:pt x="263" y="14"/>
                    <a:pt x="167" y="10"/>
                    <a:pt x="136" y="8"/>
                  </a:cubicBezTo>
                  <a:cubicBezTo>
                    <a:pt x="105" y="6"/>
                    <a:pt x="14" y="0"/>
                    <a:pt x="14" y="0"/>
                  </a:cubicBezTo>
                  <a:cubicBezTo>
                    <a:pt x="0" y="142"/>
                    <a:pt x="0" y="142"/>
                    <a:pt x="0" y="142"/>
                  </a:cubicBezTo>
                  <a:cubicBezTo>
                    <a:pt x="192" y="154"/>
                    <a:pt x="192" y="154"/>
                    <a:pt x="192" y="154"/>
                  </a:cubicBezTo>
                  <a:lnTo>
                    <a:pt x="200" y="158"/>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7" name="Freeform 14"/>
            <p:cNvSpPr>
              <a:spLocks/>
            </p:cNvSpPr>
            <p:nvPr/>
          </p:nvSpPr>
          <p:spPr bwMode="auto">
            <a:xfrm>
              <a:off x="5922222" y="2058569"/>
              <a:ext cx="386195" cy="318738"/>
            </a:xfrm>
            <a:custGeom>
              <a:avLst/>
              <a:gdLst>
                <a:gd name="T0" fmla="*/ 229 w 229"/>
                <a:gd name="T1" fmla="*/ 27 h 189"/>
                <a:gd name="T2" fmla="*/ 228 w 229"/>
                <a:gd name="T3" fmla="*/ 27 h 189"/>
                <a:gd name="T4" fmla="*/ 28 w 229"/>
                <a:gd name="T5" fmla="*/ 0 h 189"/>
                <a:gd name="T6" fmla="*/ 24 w 229"/>
                <a:gd name="T7" fmla="*/ 23 h 189"/>
                <a:gd name="T8" fmla="*/ 7 w 229"/>
                <a:gd name="T9" fmla="*/ 122 h 189"/>
                <a:gd name="T10" fmla="*/ 0 w 229"/>
                <a:gd name="T11" fmla="*/ 162 h 189"/>
                <a:gd name="T12" fmla="*/ 61 w 229"/>
                <a:gd name="T13" fmla="*/ 172 h 189"/>
                <a:gd name="T14" fmla="*/ 212 w 229"/>
                <a:gd name="T15" fmla="*/ 189 h 189"/>
                <a:gd name="T16" fmla="*/ 220 w 229"/>
                <a:gd name="T17" fmla="*/ 109 h 189"/>
                <a:gd name="T18" fmla="*/ 229 w 229"/>
                <a:gd name="T19" fmla="*/ 27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9" h="189">
                  <a:moveTo>
                    <a:pt x="229" y="27"/>
                  </a:moveTo>
                  <a:lnTo>
                    <a:pt x="228" y="27"/>
                  </a:lnTo>
                  <a:lnTo>
                    <a:pt x="28" y="0"/>
                  </a:lnTo>
                  <a:lnTo>
                    <a:pt x="24" y="23"/>
                  </a:lnTo>
                  <a:lnTo>
                    <a:pt x="7" y="122"/>
                  </a:lnTo>
                  <a:lnTo>
                    <a:pt x="0" y="162"/>
                  </a:lnTo>
                  <a:lnTo>
                    <a:pt x="61" y="172"/>
                  </a:lnTo>
                  <a:lnTo>
                    <a:pt x="212" y="189"/>
                  </a:lnTo>
                  <a:lnTo>
                    <a:pt x="220" y="109"/>
                  </a:lnTo>
                  <a:lnTo>
                    <a:pt x="229" y="27"/>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8" name="Freeform 15"/>
            <p:cNvSpPr>
              <a:spLocks/>
            </p:cNvSpPr>
            <p:nvPr/>
          </p:nvSpPr>
          <p:spPr bwMode="auto">
            <a:xfrm>
              <a:off x="6313477" y="1829213"/>
              <a:ext cx="359212" cy="231044"/>
            </a:xfrm>
            <a:custGeom>
              <a:avLst/>
              <a:gdLst>
                <a:gd name="T0" fmla="*/ 249 w 251"/>
                <a:gd name="T1" fmla="*/ 161 h 162"/>
                <a:gd name="T2" fmla="*/ 249 w 251"/>
                <a:gd name="T3" fmla="*/ 162 h 162"/>
                <a:gd name="T4" fmla="*/ 249 w 251"/>
                <a:gd name="T5" fmla="*/ 162 h 162"/>
                <a:gd name="T6" fmla="*/ 251 w 251"/>
                <a:gd name="T7" fmla="*/ 160 h 162"/>
                <a:gd name="T8" fmla="*/ 251 w 251"/>
                <a:gd name="T9" fmla="*/ 155 h 162"/>
                <a:gd name="T10" fmla="*/ 251 w 251"/>
                <a:gd name="T11" fmla="*/ 150 h 162"/>
                <a:gd name="T12" fmla="*/ 250 w 251"/>
                <a:gd name="T13" fmla="*/ 144 h 162"/>
                <a:gd name="T14" fmla="*/ 248 w 251"/>
                <a:gd name="T15" fmla="*/ 141 h 162"/>
                <a:gd name="T16" fmla="*/ 245 w 251"/>
                <a:gd name="T17" fmla="*/ 138 h 162"/>
                <a:gd name="T18" fmla="*/ 245 w 251"/>
                <a:gd name="T19" fmla="*/ 131 h 162"/>
                <a:gd name="T20" fmla="*/ 244 w 251"/>
                <a:gd name="T21" fmla="*/ 129 h 162"/>
                <a:gd name="T22" fmla="*/ 242 w 251"/>
                <a:gd name="T23" fmla="*/ 126 h 162"/>
                <a:gd name="T24" fmla="*/ 242 w 251"/>
                <a:gd name="T25" fmla="*/ 117 h 162"/>
                <a:gd name="T26" fmla="*/ 242 w 251"/>
                <a:gd name="T27" fmla="*/ 103 h 162"/>
                <a:gd name="T28" fmla="*/ 241 w 251"/>
                <a:gd name="T29" fmla="*/ 86 h 162"/>
                <a:gd name="T30" fmla="*/ 241 w 251"/>
                <a:gd name="T31" fmla="*/ 77 h 162"/>
                <a:gd name="T32" fmla="*/ 237 w 251"/>
                <a:gd name="T33" fmla="*/ 70 h 162"/>
                <a:gd name="T34" fmla="*/ 234 w 251"/>
                <a:gd name="T35" fmla="*/ 60 h 162"/>
                <a:gd name="T36" fmla="*/ 232 w 251"/>
                <a:gd name="T37" fmla="*/ 54 h 162"/>
                <a:gd name="T38" fmla="*/ 234 w 251"/>
                <a:gd name="T39" fmla="*/ 47 h 162"/>
                <a:gd name="T40" fmla="*/ 233 w 251"/>
                <a:gd name="T41" fmla="*/ 41 h 162"/>
                <a:gd name="T42" fmla="*/ 232 w 251"/>
                <a:gd name="T43" fmla="*/ 39 h 162"/>
                <a:gd name="T44" fmla="*/ 232 w 251"/>
                <a:gd name="T45" fmla="*/ 34 h 162"/>
                <a:gd name="T46" fmla="*/ 232 w 251"/>
                <a:gd name="T47" fmla="*/ 33 h 162"/>
                <a:gd name="T48" fmla="*/ 234 w 251"/>
                <a:gd name="T49" fmla="*/ 31 h 162"/>
                <a:gd name="T50" fmla="*/ 235 w 251"/>
                <a:gd name="T51" fmla="*/ 29 h 162"/>
                <a:gd name="T52" fmla="*/ 235 w 251"/>
                <a:gd name="T53" fmla="*/ 25 h 162"/>
                <a:gd name="T54" fmla="*/ 232 w 251"/>
                <a:gd name="T55" fmla="*/ 22 h 162"/>
                <a:gd name="T56" fmla="*/ 232 w 251"/>
                <a:gd name="T57" fmla="*/ 21 h 162"/>
                <a:gd name="T58" fmla="*/ 231 w 251"/>
                <a:gd name="T59" fmla="*/ 18 h 162"/>
                <a:gd name="T60" fmla="*/ 230 w 251"/>
                <a:gd name="T61" fmla="*/ 13 h 162"/>
                <a:gd name="T62" fmla="*/ 97 w 251"/>
                <a:gd name="T63" fmla="*/ 7 h 162"/>
                <a:gd name="T64" fmla="*/ 14 w 251"/>
                <a:gd name="T65" fmla="*/ 0 h 162"/>
                <a:gd name="T66" fmla="*/ 0 w 251"/>
                <a:gd name="T67" fmla="*/ 147 h 162"/>
                <a:gd name="T68" fmla="*/ 122 w 251"/>
                <a:gd name="T69" fmla="*/ 155 h 162"/>
                <a:gd name="T70" fmla="*/ 249 w 251"/>
                <a:gd name="T71" fmla="*/ 161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1" h="162">
                  <a:moveTo>
                    <a:pt x="249" y="161"/>
                  </a:moveTo>
                  <a:cubicBezTo>
                    <a:pt x="249" y="162"/>
                    <a:pt x="249" y="162"/>
                    <a:pt x="249" y="162"/>
                  </a:cubicBezTo>
                  <a:cubicBezTo>
                    <a:pt x="249" y="162"/>
                    <a:pt x="249" y="162"/>
                    <a:pt x="249" y="162"/>
                  </a:cubicBezTo>
                  <a:cubicBezTo>
                    <a:pt x="251" y="160"/>
                    <a:pt x="251" y="160"/>
                    <a:pt x="251" y="160"/>
                  </a:cubicBezTo>
                  <a:cubicBezTo>
                    <a:pt x="251" y="155"/>
                    <a:pt x="251" y="155"/>
                    <a:pt x="251" y="155"/>
                  </a:cubicBezTo>
                  <a:cubicBezTo>
                    <a:pt x="251" y="150"/>
                    <a:pt x="251" y="150"/>
                    <a:pt x="251" y="150"/>
                  </a:cubicBezTo>
                  <a:cubicBezTo>
                    <a:pt x="250" y="144"/>
                    <a:pt x="250" y="144"/>
                    <a:pt x="250" y="144"/>
                  </a:cubicBezTo>
                  <a:cubicBezTo>
                    <a:pt x="248" y="141"/>
                    <a:pt x="248" y="141"/>
                    <a:pt x="248" y="141"/>
                  </a:cubicBezTo>
                  <a:cubicBezTo>
                    <a:pt x="245" y="138"/>
                    <a:pt x="245" y="138"/>
                    <a:pt x="245" y="138"/>
                  </a:cubicBezTo>
                  <a:cubicBezTo>
                    <a:pt x="245" y="131"/>
                    <a:pt x="245" y="131"/>
                    <a:pt x="245" y="131"/>
                  </a:cubicBezTo>
                  <a:cubicBezTo>
                    <a:pt x="244" y="129"/>
                    <a:pt x="244" y="129"/>
                    <a:pt x="244" y="129"/>
                  </a:cubicBezTo>
                  <a:cubicBezTo>
                    <a:pt x="242" y="126"/>
                    <a:pt x="242" y="126"/>
                    <a:pt x="242" y="126"/>
                  </a:cubicBezTo>
                  <a:cubicBezTo>
                    <a:pt x="242" y="117"/>
                    <a:pt x="242" y="117"/>
                    <a:pt x="242" y="117"/>
                  </a:cubicBezTo>
                  <a:cubicBezTo>
                    <a:pt x="242" y="103"/>
                    <a:pt x="242" y="103"/>
                    <a:pt x="242" y="103"/>
                  </a:cubicBezTo>
                  <a:cubicBezTo>
                    <a:pt x="241" y="86"/>
                    <a:pt x="241" y="86"/>
                    <a:pt x="241" y="86"/>
                  </a:cubicBezTo>
                  <a:cubicBezTo>
                    <a:pt x="241" y="77"/>
                    <a:pt x="241" y="77"/>
                    <a:pt x="241" y="77"/>
                  </a:cubicBezTo>
                  <a:cubicBezTo>
                    <a:pt x="237" y="70"/>
                    <a:pt x="237" y="70"/>
                    <a:pt x="237" y="70"/>
                  </a:cubicBezTo>
                  <a:cubicBezTo>
                    <a:pt x="234" y="60"/>
                    <a:pt x="234" y="60"/>
                    <a:pt x="234" y="60"/>
                  </a:cubicBezTo>
                  <a:cubicBezTo>
                    <a:pt x="232" y="54"/>
                    <a:pt x="232" y="54"/>
                    <a:pt x="232" y="54"/>
                  </a:cubicBezTo>
                  <a:cubicBezTo>
                    <a:pt x="234" y="47"/>
                    <a:pt x="234" y="47"/>
                    <a:pt x="234" y="47"/>
                  </a:cubicBezTo>
                  <a:cubicBezTo>
                    <a:pt x="233" y="41"/>
                    <a:pt x="233" y="41"/>
                    <a:pt x="233" y="41"/>
                  </a:cubicBezTo>
                  <a:cubicBezTo>
                    <a:pt x="232" y="39"/>
                    <a:pt x="232" y="39"/>
                    <a:pt x="232" y="39"/>
                  </a:cubicBezTo>
                  <a:cubicBezTo>
                    <a:pt x="232" y="34"/>
                    <a:pt x="232" y="34"/>
                    <a:pt x="232" y="34"/>
                  </a:cubicBezTo>
                  <a:cubicBezTo>
                    <a:pt x="232" y="33"/>
                    <a:pt x="232" y="33"/>
                    <a:pt x="232" y="33"/>
                  </a:cubicBezTo>
                  <a:cubicBezTo>
                    <a:pt x="234" y="31"/>
                    <a:pt x="234" y="31"/>
                    <a:pt x="234" y="31"/>
                  </a:cubicBezTo>
                  <a:cubicBezTo>
                    <a:pt x="235" y="29"/>
                    <a:pt x="235" y="29"/>
                    <a:pt x="235" y="29"/>
                  </a:cubicBezTo>
                  <a:cubicBezTo>
                    <a:pt x="235" y="25"/>
                    <a:pt x="235" y="25"/>
                    <a:pt x="235" y="25"/>
                  </a:cubicBezTo>
                  <a:cubicBezTo>
                    <a:pt x="232" y="22"/>
                    <a:pt x="232" y="22"/>
                    <a:pt x="232" y="22"/>
                  </a:cubicBezTo>
                  <a:cubicBezTo>
                    <a:pt x="232" y="21"/>
                    <a:pt x="232" y="21"/>
                    <a:pt x="232" y="21"/>
                  </a:cubicBezTo>
                  <a:cubicBezTo>
                    <a:pt x="231" y="18"/>
                    <a:pt x="231" y="18"/>
                    <a:pt x="231" y="18"/>
                  </a:cubicBezTo>
                  <a:cubicBezTo>
                    <a:pt x="230" y="13"/>
                    <a:pt x="230" y="13"/>
                    <a:pt x="230" y="13"/>
                  </a:cubicBezTo>
                  <a:cubicBezTo>
                    <a:pt x="230" y="13"/>
                    <a:pt x="130" y="9"/>
                    <a:pt x="97" y="7"/>
                  </a:cubicBezTo>
                  <a:cubicBezTo>
                    <a:pt x="76" y="6"/>
                    <a:pt x="14" y="0"/>
                    <a:pt x="14" y="0"/>
                  </a:cubicBezTo>
                  <a:cubicBezTo>
                    <a:pt x="0" y="147"/>
                    <a:pt x="0" y="147"/>
                    <a:pt x="0" y="147"/>
                  </a:cubicBezTo>
                  <a:cubicBezTo>
                    <a:pt x="0" y="147"/>
                    <a:pt x="91" y="153"/>
                    <a:pt x="122" y="155"/>
                  </a:cubicBezTo>
                  <a:cubicBezTo>
                    <a:pt x="153" y="157"/>
                    <a:pt x="249" y="161"/>
                    <a:pt x="249" y="161"/>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9" name="Freeform 16"/>
            <p:cNvSpPr>
              <a:spLocks/>
            </p:cNvSpPr>
            <p:nvPr/>
          </p:nvSpPr>
          <p:spPr bwMode="auto">
            <a:xfrm>
              <a:off x="5982934" y="2348638"/>
              <a:ext cx="401373" cy="315365"/>
            </a:xfrm>
            <a:custGeom>
              <a:avLst/>
              <a:gdLst>
                <a:gd name="T0" fmla="*/ 267 w 281"/>
                <a:gd name="T1" fmla="*/ 221 h 221"/>
                <a:gd name="T2" fmla="*/ 277 w 281"/>
                <a:gd name="T3" fmla="*/ 75 h 221"/>
                <a:gd name="T4" fmla="*/ 277 w 281"/>
                <a:gd name="T5" fmla="*/ 75 h 221"/>
                <a:gd name="T6" fmla="*/ 277 w 281"/>
                <a:gd name="T7" fmla="*/ 75 h 221"/>
                <a:gd name="T8" fmla="*/ 281 w 281"/>
                <a:gd name="T9" fmla="*/ 28 h 221"/>
                <a:gd name="T10" fmla="*/ 208 w 281"/>
                <a:gd name="T11" fmla="*/ 21 h 221"/>
                <a:gd name="T12" fmla="*/ 30 w 281"/>
                <a:gd name="T13" fmla="*/ 0 h 221"/>
                <a:gd name="T14" fmla="*/ 0 w 281"/>
                <a:gd name="T15" fmla="*/ 192 h 221"/>
                <a:gd name="T16" fmla="*/ 229 w 281"/>
                <a:gd name="T17" fmla="*/ 219 h 221"/>
                <a:gd name="T18" fmla="*/ 267 w 281"/>
                <a:gd name="T19" fmla="*/ 22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221">
                  <a:moveTo>
                    <a:pt x="267" y="221"/>
                  </a:moveTo>
                  <a:cubicBezTo>
                    <a:pt x="277" y="75"/>
                    <a:pt x="277" y="75"/>
                    <a:pt x="277" y="75"/>
                  </a:cubicBezTo>
                  <a:cubicBezTo>
                    <a:pt x="277" y="75"/>
                    <a:pt x="277" y="75"/>
                    <a:pt x="277" y="75"/>
                  </a:cubicBezTo>
                  <a:cubicBezTo>
                    <a:pt x="277" y="75"/>
                    <a:pt x="277" y="75"/>
                    <a:pt x="277" y="75"/>
                  </a:cubicBezTo>
                  <a:cubicBezTo>
                    <a:pt x="281" y="28"/>
                    <a:pt x="281" y="28"/>
                    <a:pt x="281" y="28"/>
                  </a:cubicBezTo>
                  <a:cubicBezTo>
                    <a:pt x="208" y="21"/>
                    <a:pt x="208" y="21"/>
                    <a:pt x="208" y="21"/>
                  </a:cubicBezTo>
                  <a:cubicBezTo>
                    <a:pt x="30" y="0"/>
                    <a:pt x="30" y="0"/>
                    <a:pt x="30" y="0"/>
                  </a:cubicBezTo>
                  <a:cubicBezTo>
                    <a:pt x="0" y="192"/>
                    <a:pt x="0" y="192"/>
                    <a:pt x="0" y="192"/>
                  </a:cubicBezTo>
                  <a:cubicBezTo>
                    <a:pt x="229" y="219"/>
                    <a:pt x="229" y="219"/>
                    <a:pt x="229" y="219"/>
                  </a:cubicBezTo>
                  <a:cubicBezTo>
                    <a:pt x="229" y="219"/>
                    <a:pt x="245" y="220"/>
                    <a:pt x="267" y="221"/>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0" name="Freeform 17"/>
            <p:cNvSpPr>
              <a:spLocks/>
            </p:cNvSpPr>
            <p:nvPr/>
          </p:nvSpPr>
          <p:spPr bwMode="auto">
            <a:xfrm>
              <a:off x="5716476" y="2235646"/>
              <a:ext cx="308619" cy="386196"/>
            </a:xfrm>
            <a:custGeom>
              <a:avLst/>
              <a:gdLst>
                <a:gd name="T0" fmla="*/ 183 w 183"/>
                <a:gd name="T1" fmla="*/ 67 h 229"/>
                <a:gd name="T2" fmla="*/ 122 w 183"/>
                <a:gd name="T3" fmla="*/ 57 h 229"/>
                <a:gd name="T4" fmla="*/ 129 w 183"/>
                <a:gd name="T5" fmla="*/ 17 h 229"/>
                <a:gd name="T6" fmla="*/ 39 w 183"/>
                <a:gd name="T7" fmla="*/ 0 h 229"/>
                <a:gd name="T8" fmla="*/ 0 w 183"/>
                <a:gd name="T9" fmla="*/ 201 h 229"/>
                <a:gd name="T10" fmla="*/ 158 w 183"/>
                <a:gd name="T11" fmla="*/ 229 h 229"/>
                <a:gd name="T12" fmla="*/ 183 w 183"/>
                <a:gd name="T13" fmla="*/ 67 h 229"/>
              </a:gdLst>
              <a:ahLst/>
              <a:cxnLst>
                <a:cxn ang="0">
                  <a:pos x="T0" y="T1"/>
                </a:cxn>
                <a:cxn ang="0">
                  <a:pos x="T2" y="T3"/>
                </a:cxn>
                <a:cxn ang="0">
                  <a:pos x="T4" y="T5"/>
                </a:cxn>
                <a:cxn ang="0">
                  <a:pos x="T6" y="T7"/>
                </a:cxn>
                <a:cxn ang="0">
                  <a:pos x="T8" y="T9"/>
                </a:cxn>
                <a:cxn ang="0">
                  <a:pos x="T10" y="T11"/>
                </a:cxn>
                <a:cxn ang="0">
                  <a:pos x="T12" y="T13"/>
                </a:cxn>
              </a:cxnLst>
              <a:rect l="0" t="0" r="r" b="b"/>
              <a:pathLst>
                <a:path w="183" h="229">
                  <a:moveTo>
                    <a:pt x="183" y="67"/>
                  </a:moveTo>
                  <a:lnTo>
                    <a:pt x="122" y="57"/>
                  </a:lnTo>
                  <a:lnTo>
                    <a:pt x="129" y="17"/>
                  </a:lnTo>
                  <a:lnTo>
                    <a:pt x="39" y="0"/>
                  </a:lnTo>
                  <a:lnTo>
                    <a:pt x="0" y="201"/>
                  </a:lnTo>
                  <a:lnTo>
                    <a:pt x="158" y="229"/>
                  </a:lnTo>
                  <a:lnTo>
                    <a:pt x="183" y="67"/>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1" name="Freeform 18"/>
            <p:cNvSpPr>
              <a:spLocks/>
            </p:cNvSpPr>
            <p:nvPr/>
          </p:nvSpPr>
          <p:spPr bwMode="auto">
            <a:xfrm>
              <a:off x="5428094" y="2164816"/>
              <a:ext cx="354153" cy="536288"/>
            </a:xfrm>
            <a:custGeom>
              <a:avLst/>
              <a:gdLst>
                <a:gd name="T0" fmla="*/ 5 w 248"/>
                <a:gd name="T1" fmla="*/ 131 h 375"/>
                <a:gd name="T2" fmla="*/ 1 w 248"/>
                <a:gd name="T3" fmla="*/ 132 h 375"/>
                <a:gd name="T4" fmla="*/ 0 w 248"/>
                <a:gd name="T5" fmla="*/ 135 h 375"/>
                <a:gd name="T6" fmla="*/ 1 w 248"/>
                <a:gd name="T7" fmla="*/ 139 h 375"/>
                <a:gd name="T8" fmla="*/ 2 w 248"/>
                <a:gd name="T9" fmla="*/ 142 h 375"/>
                <a:gd name="T10" fmla="*/ 3 w 248"/>
                <a:gd name="T11" fmla="*/ 143 h 375"/>
                <a:gd name="T12" fmla="*/ 7 w 248"/>
                <a:gd name="T13" fmla="*/ 145 h 375"/>
                <a:gd name="T14" fmla="*/ 160 w 248"/>
                <a:gd name="T15" fmla="*/ 375 h 375"/>
                <a:gd name="T16" fmla="*/ 163 w 248"/>
                <a:gd name="T17" fmla="*/ 371 h 375"/>
                <a:gd name="T18" fmla="*/ 164 w 248"/>
                <a:gd name="T19" fmla="*/ 367 h 375"/>
                <a:gd name="T20" fmla="*/ 164 w 248"/>
                <a:gd name="T21" fmla="*/ 354 h 375"/>
                <a:gd name="T22" fmla="*/ 164 w 248"/>
                <a:gd name="T23" fmla="*/ 340 h 375"/>
                <a:gd name="T24" fmla="*/ 164 w 248"/>
                <a:gd name="T25" fmla="*/ 329 h 375"/>
                <a:gd name="T26" fmla="*/ 167 w 248"/>
                <a:gd name="T27" fmla="*/ 326 h 375"/>
                <a:gd name="T28" fmla="*/ 174 w 248"/>
                <a:gd name="T29" fmla="*/ 324 h 375"/>
                <a:gd name="T30" fmla="*/ 176 w 248"/>
                <a:gd name="T31" fmla="*/ 328 h 375"/>
                <a:gd name="T32" fmla="*/ 180 w 248"/>
                <a:gd name="T33" fmla="*/ 326 h 375"/>
                <a:gd name="T34" fmla="*/ 185 w 248"/>
                <a:gd name="T35" fmla="*/ 330 h 375"/>
                <a:gd name="T36" fmla="*/ 188 w 248"/>
                <a:gd name="T37" fmla="*/ 332 h 375"/>
                <a:gd name="T38" fmla="*/ 191 w 248"/>
                <a:gd name="T39" fmla="*/ 330 h 375"/>
                <a:gd name="T40" fmla="*/ 197 w 248"/>
                <a:gd name="T41" fmla="*/ 312 h 375"/>
                <a:gd name="T42" fmla="*/ 202 w 248"/>
                <a:gd name="T43" fmla="*/ 287 h 375"/>
                <a:gd name="T44" fmla="*/ 248 w 248"/>
                <a:gd name="T45" fmla="*/ 49 h 375"/>
                <a:gd name="T46" fmla="*/ 134 w 248"/>
                <a:gd name="T47" fmla="*/ 24 h 375"/>
                <a:gd name="T48" fmla="*/ 42 w 248"/>
                <a:gd name="T49" fmla="*/ 0 h 375"/>
                <a:gd name="T50" fmla="*/ 8 w 248"/>
                <a:gd name="T51" fmla="*/ 130 h 375"/>
                <a:gd name="T52" fmla="*/ 5 w 248"/>
                <a:gd name="T53" fmla="*/ 131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8" h="375">
                  <a:moveTo>
                    <a:pt x="5" y="131"/>
                  </a:moveTo>
                  <a:cubicBezTo>
                    <a:pt x="1" y="132"/>
                    <a:pt x="1" y="132"/>
                    <a:pt x="1" y="132"/>
                  </a:cubicBezTo>
                  <a:cubicBezTo>
                    <a:pt x="0" y="135"/>
                    <a:pt x="0" y="135"/>
                    <a:pt x="0" y="135"/>
                  </a:cubicBezTo>
                  <a:cubicBezTo>
                    <a:pt x="1" y="139"/>
                    <a:pt x="1" y="139"/>
                    <a:pt x="1" y="139"/>
                  </a:cubicBezTo>
                  <a:cubicBezTo>
                    <a:pt x="2" y="142"/>
                    <a:pt x="2" y="142"/>
                    <a:pt x="2" y="142"/>
                  </a:cubicBezTo>
                  <a:cubicBezTo>
                    <a:pt x="3" y="143"/>
                    <a:pt x="3" y="143"/>
                    <a:pt x="3" y="143"/>
                  </a:cubicBezTo>
                  <a:cubicBezTo>
                    <a:pt x="7" y="145"/>
                    <a:pt x="7" y="145"/>
                    <a:pt x="7" y="145"/>
                  </a:cubicBezTo>
                  <a:cubicBezTo>
                    <a:pt x="160" y="375"/>
                    <a:pt x="160" y="375"/>
                    <a:pt x="160" y="375"/>
                  </a:cubicBezTo>
                  <a:cubicBezTo>
                    <a:pt x="163" y="371"/>
                    <a:pt x="163" y="371"/>
                    <a:pt x="163" y="371"/>
                  </a:cubicBezTo>
                  <a:cubicBezTo>
                    <a:pt x="164" y="367"/>
                    <a:pt x="164" y="367"/>
                    <a:pt x="164" y="367"/>
                  </a:cubicBezTo>
                  <a:cubicBezTo>
                    <a:pt x="164" y="354"/>
                    <a:pt x="164" y="354"/>
                    <a:pt x="164" y="354"/>
                  </a:cubicBezTo>
                  <a:cubicBezTo>
                    <a:pt x="164" y="340"/>
                    <a:pt x="164" y="340"/>
                    <a:pt x="164" y="340"/>
                  </a:cubicBezTo>
                  <a:cubicBezTo>
                    <a:pt x="164" y="329"/>
                    <a:pt x="164" y="329"/>
                    <a:pt x="164" y="329"/>
                  </a:cubicBezTo>
                  <a:cubicBezTo>
                    <a:pt x="167" y="326"/>
                    <a:pt x="167" y="326"/>
                    <a:pt x="167" y="326"/>
                  </a:cubicBezTo>
                  <a:cubicBezTo>
                    <a:pt x="174" y="324"/>
                    <a:pt x="174" y="324"/>
                    <a:pt x="174" y="324"/>
                  </a:cubicBezTo>
                  <a:cubicBezTo>
                    <a:pt x="176" y="328"/>
                    <a:pt x="176" y="328"/>
                    <a:pt x="176" y="328"/>
                  </a:cubicBezTo>
                  <a:cubicBezTo>
                    <a:pt x="180" y="326"/>
                    <a:pt x="180" y="326"/>
                    <a:pt x="180" y="326"/>
                  </a:cubicBezTo>
                  <a:cubicBezTo>
                    <a:pt x="185" y="330"/>
                    <a:pt x="185" y="330"/>
                    <a:pt x="185" y="330"/>
                  </a:cubicBezTo>
                  <a:cubicBezTo>
                    <a:pt x="188" y="332"/>
                    <a:pt x="188" y="332"/>
                    <a:pt x="188" y="332"/>
                  </a:cubicBezTo>
                  <a:cubicBezTo>
                    <a:pt x="191" y="330"/>
                    <a:pt x="191" y="330"/>
                    <a:pt x="191" y="330"/>
                  </a:cubicBezTo>
                  <a:cubicBezTo>
                    <a:pt x="191" y="330"/>
                    <a:pt x="195" y="316"/>
                    <a:pt x="197" y="312"/>
                  </a:cubicBezTo>
                  <a:cubicBezTo>
                    <a:pt x="198" y="306"/>
                    <a:pt x="202" y="287"/>
                    <a:pt x="202" y="287"/>
                  </a:cubicBezTo>
                  <a:cubicBezTo>
                    <a:pt x="248" y="49"/>
                    <a:pt x="248" y="49"/>
                    <a:pt x="248" y="49"/>
                  </a:cubicBezTo>
                  <a:cubicBezTo>
                    <a:pt x="248" y="49"/>
                    <a:pt x="163" y="31"/>
                    <a:pt x="134" y="24"/>
                  </a:cubicBezTo>
                  <a:cubicBezTo>
                    <a:pt x="111" y="19"/>
                    <a:pt x="42" y="0"/>
                    <a:pt x="42" y="0"/>
                  </a:cubicBezTo>
                  <a:cubicBezTo>
                    <a:pt x="8" y="130"/>
                    <a:pt x="8" y="130"/>
                    <a:pt x="8" y="130"/>
                  </a:cubicBezTo>
                  <a:lnTo>
                    <a:pt x="5" y="131"/>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2" name="Freeform 19"/>
            <p:cNvSpPr>
              <a:spLocks/>
            </p:cNvSpPr>
            <p:nvPr/>
          </p:nvSpPr>
          <p:spPr bwMode="auto">
            <a:xfrm>
              <a:off x="5278001" y="1830900"/>
              <a:ext cx="440161" cy="372704"/>
            </a:xfrm>
            <a:custGeom>
              <a:avLst/>
              <a:gdLst>
                <a:gd name="T0" fmla="*/ 269 w 308"/>
                <a:gd name="T1" fmla="*/ 182 h 261"/>
                <a:gd name="T2" fmla="*/ 270 w 308"/>
                <a:gd name="T3" fmla="*/ 175 h 261"/>
                <a:gd name="T4" fmla="*/ 275 w 308"/>
                <a:gd name="T5" fmla="*/ 171 h 261"/>
                <a:gd name="T6" fmla="*/ 276 w 308"/>
                <a:gd name="T7" fmla="*/ 159 h 261"/>
                <a:gd name="T8" fmla="*/ 274 w 308"/>
                <a:gd name="T9" fmla="*/ 154 h 261"/>
                <a:gd name="T10" fmla="*/ 271 w 308"/>
                <a:gd name="T11" fmla="*/ 153 h 261"/>
                <a:gd name="T12" fmla="*/ 270 w 308"/>
                <a:gd name="T13" fmla="*/ 145 h 261"/>
                <a:gd name="T14" fmla="*/ 277 w 308"/>
                <a:gd name="T15" fmla="*/ 137 h 261"/>
                <a:gd name="T16" fmla="*/ 288 w 308"/>
                <a:gd name="T17" fmla="*/ 125 h 261"/>
                <a:gd name="T18" fmla="*/ 291 w 308"/>
                <a:gd name="T19" fmla="*/ 120 h 261"/>
                <a:gd name="T20" fmla="*/ 297 w 308"/>
                <a:gd name="T21" fmla="*/ 111 h 261"/>
                <a:gd name="T22" fmla="*/ 304 w 308"/>
                <a:gd name="T23" fmla="*/ 104 h 261"/>
                <a:gd name="T24" fmla="*/ 308 w 308"/>
                <a:gd name="T25" fmla="*/ 98 h 261"/>
                <a:gd name="T26" fmla="*/ 307 w 308"/>
                <a:gd name="T27" fmla="*/ 90 h 261"/>
                <a:gd name="T28" fmla="*/ 300 w 308"/>
                <a:gd name="T29" fmla="*/ 83 h 261"/>
                <a:gd name="T30" fmla="*/ 297 w 308"/>
                <a:gd name="T31" fmla="*/ 74 h 261"/>
                <a:gd name="T32" fmla="*/ 220 w 308"/>
                <a:gd name="T33" fmla="*/ 56 h 261"/>
                <a:gd name="T34" fmla="*/ 211 w 308"/>
                <a:gd name="T35" fmla="*/ 56 h 261"/>
                <a:gd name="T36" fmla="*/ 178 w 308"/>
                <a:gd name="T37" fmla="*/ 58 h 261"/>
                <a:gd name="T38" fmla="*/ 172 w 308"/>
                <a:gd name="T39" fmla="*/ 57 h 261"/>
                <a:gd name="T40" fmla="*/ 167 w 308"/>
                <a:gd name="T41" fmla="*/ 58 h 261"/>
                <a:gd name="T42" fmla="*/ 164 w 308"/>
                <a:gd name="T43" fmla="*/ 56 h 261"/>
                <a:gd name="T44" fmla="*/ 156 w 308"/>
                <a:gd name="T45" fmla="*/ 55 h 261"/>
                <a:gd name="T46" fmla="*/ 155 w 308"/>
                <a:gd name="T47" fmla="*/ 52 h 261"/>
                <a:gd name="T48" fmla="*/ 143 w 308"/>
                <a:gd name="T49" fmla="*/ 49 h 261"/>
                <a:gd name="T50" fmla="*/ 136 w 308"/>
                <a:gd name="T51" fmla="*/ 46 h 261"/>
                <a:gd name="T52" fmla="*/ 121 w 308"/>
                <a:gd name="T53" fmla="*/ 49 h 261"/>
                <a:gd name="T54" fmla="*/ 103 w 308"/>
                <a:gd name="T55" fmla="*/ 40 h 261"/>
                <a:gd name="T56" fmla="*/ 99 w 308"/>
                <a:gd name="T57" fmla="*/ 12 h 261"/>
                <a:gd name="T58" fmla="*/ 90 w 308"/>
                <a:gd name="T59" fmla="*/ 10 h 261"/>
                <a:gd name="T60" fmla="*/ 80 w 308"/>
                <a:gd name="T61" fmla="*/ 4 h 261"/>
                <a:gd name="T62" fmla="*/ 70 w 308"/>
                <a:gd name="T63" fmla="*/ 0 h 261"/>
                <a:gd name="T64" fmla="*/ 68 w 308"/>
                <a:gd name="T65" fmla="*/ 13 h 261"/>
                <a:gd name="T66" fmla="*/ 64 w 308"/>
                <a:gd name="T67" fmla="*/ 28 h 261"/>
                <a:gd name="T68" fmla="*/ 60 w 308"/>
                <a:gd name="T69" fmla="*/ 38 h 261"/>
                <a:gd name="T70" fmla="*/ 55 w 308"/>
                <a:gd name="T71" fmla="*/ 50 h 261"/>
                <a:gd name="T72" fmla="*/ 47 w 308"/>
                <a:gd name="T73" fmla="*/ 67 h 261"/>
                <a:gd name="T74" fmla="*/ 35 w 308"/>
                <a:gd name="T75" fmla="*/ 98 h 261"/>
                <a:gd name="T76" fmla="*/ 24 w 308"/>
                <a:gd name="T77" fmla="*/ 120 h 261"/>
                <a:gd name="T78" fmla="*/ 18 w 308"/>
                <a:gd name="T79" fmla="*/ 130 h 261"/>
                <a:gd name="T80" fmla="*/ 14 w 308"/>
                <a:gd name="T81" fmla="*/ 136 h 261"/>
                <a:gd name="T82" fmla="*/ 5 w 308"/>
                <a:gd name="T83" fmla="*/ 148 h 261"/>
                <a:gd name="T84" fmla="*/ 5 w 308"/>
                <a:gd name="T85" fmla="*/ 160 h 261"/>
                <a:gd name="T86" fmla="*/ 5 w 308"/>
                <a:gd name="T87" fmla="*/ 164 h 261"/>
                <a:gd name="T88" fmla="*/ 3 w 308"/>
                <a:gd name="T89" fmla="*/ 169 h 261"/>
                <a:gd name="T90" fmla="*/ 1 w 308"/>
                <a:gd name="T91" fmla="*/ 174 h 261"/>
                <a:gd name="T92" fmla="*/ 0 w 308"/>
                <a:gd name="T93" fmla="*/ 187 h 261"/>
                <a:gd name="T94" fmla="*/ 3 w 308"/>
                <a:gd name="T95" fmla="*/ 193 h 261"/>
                <a:gd name="T96" fmla="*/ 239 w 308"/>
                <a:gd name="T97" fmla="*/ 258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08" h="261">
                  <a:moveTo>
                    <a:pt x="251" y="261"/>
                  </a:moveTo>
                  <a:cubicBezTo>
                    <a:pt x="269" y="182"/>
                    <a:pt x="269" y="182"/>
                    <a:pt x="269" y="182"/>
                  </a:cubicBezTo>
                  <a:cubicBezTo>
                    <a:pt x="269" y="177"/>
                    <a:pt x="269" y="177"/>
                    <a:pt x="269" y="177"/>
                  </a:cubicBezTo>
                  <a:cubicBezTo>
                    <a:pt x="270" y="175"/>
                    <a:pt x="270" y="175"/>
                    <a:pt x="270" y="175"/>
                  </a:cubicBezTo>
                  <a:cubicBezTo>
                    <a:pt x="275" y="173"/>
                    <a:pt x="275" y="173"/>
                    <a:pt x="275" y="173"/>
                  </a:cubicBezTo>
                  <a:cubicBezTo>
                    <a:pt x="275" y="171"/>
                    <a:pt x="275" y="171"/>
                    <a:pt x="275" y="171"/>
                  </a:cubicBezTo>
                  <a:cubicBezTo>
                    <a:pt x="276" y="167"/>
                    <a:pt x="276" y="167"/>
                    <a:pt x="276" y="167"/>
                  </a:cubicBezTo>
                  <a:cubicBezTo>
                    <a:pt x="276" y="159"/>
                    <a:pt x="276" y="159"/>
                    <a:pt x="276" y="159"/>
                  </a:cubicBezTo>
                  <a:cubicBezTo>
                    <a:pt x="277" y="157"/>
                    <a:pt x="277" y="157"/>
                    <a:pt x="277" y="157"/>
                  </a:cubicBezTo>
                  <a:cubicBezTo>
                    <a:pt x="274" y="154"/>
                    <a:pt x="274" y="154"/>
                    <a:pt x="274" y="154"/>
                  </a:cubicBezTo>
                  <a:cubicBezTo>
                    <a:pt x="273" y="154"/>
                    <a:pt x="273" y="154"/>
                    <a:pt x="273" y="154"/>
                  </a:cubicBezTo>
                  <a:cubicBezTo>
                    <a:pt x="271" y="153"/>
                    <a:pt x="271" y="153"/>
                    <a:pt x="271" y="153"/>
                  </a:cubicBezTo>
                  <a:cubicBezTo>
                    <a:pt x="269" y="150"/>
                    <a:pt x="269" y="150"/>
                    <a:pt x="269" y="150"/>
                  </a:cubicBezTo>
                  <a:cubicBezTo>
                    <a:pt x="270" y="145"/>
                    <a:pt x="270" y="145"/>
                    <a:pt x="270" y="145"/>
                  </a:cubicBezTo>
                  <a:cubicBezTo>
                    <a:pt x="271" y="142"/>
                    <a:pt x="271" y="142"/>
                    <a:pt x="271" y="142"/>
                  </a:cubicBezTo>
                  <a:cubicBezTo>
                    <a:pt x="277" y="137"/>
                    <a:pt x="277" y="137"/>
                    <a:pt x="277" y="137"/>
                  </a:cubicBezTo>
                  <a:cubicBezTo>
                    <a:pt x="285" y="129"/>
                    <a:pt x="285" y="129"/>
                    <a:pt x="285" y="129"/>
                  </a:cubicBezTo>
                  <a:cubicBezTo>
                    <a:pt x="288" y="125"/>
                    <a:pt x="288" y="125"/>
                    <a:pt x="288" y="125"/>
                  </a:cubicBezTo>
                  <a:cubicBezTo>
                    <a:pt x="289" y="121"/>
                    <a:pt x="289" y="121"/>
                    <a:pt x="289" y="121"/>
                  </a:cubicBezTo>
                  <a:cubicBezTo>
                    <a:pt x="291" y="120"/>
                    <a:pt x="291" y="120"/>
                    <a:pt x="291" y="120"/>
                  </a:cubicBezTo>
                  <a:cubicBezTo>
                    <a:pt x="293" y="115"/>
                    <a:pt x="293" y="115"/>
                    <a:pt x="293" y="115"/>
                  </a:cubicBezTo>
                  <a:cubicBezTo>
                    <a:pt x="297" y="111"/>
                    <a:pt x="297" y="111"/>
                    <a:pt x="297" y="111"/>
                  </a:cubicBezTo>
                  <a:cubicBezTo>
                    <a:pt x="300" y="107"/>
                    <a:pt x="300" y="107"/>
                    <a:pt x="300" y="107"/>
                  </a:cubicBezTo>
                  <a:cubicBezTo>
                    <a:pt x="304" y="104"/>
                    <a:pt x="304" y="104"/>
                    <a:pt x="304" y="104"/>
                  </a:cubicBezTo>
                  <a:cubicBezTo>
                    <a:pt x="305" y="99"/>
                    <a:pt x="305" y="99"/>
                    <a:pt x="305" y="99"/>
                  </a:cubicBezTo>
                  <a:cubicBezTo>
                    <a:pt x="308" y="98"/>
                    <a:pt x="308" y="98"/>
                    <a:pt x="308" y="98"/>
                  </a:cubicBezTo>
                  <a:cubicBezTo>
                    <a:pt x="308" y="94"/>
                    <a:pt x="308" y="94"/>
                    <a:pt x="308" y="94"/>
                  </a:cubicBezTo>
                  <a:cubicBezTo>
                    <a:pt x="307" y="90"/>
                    <a:pt x="307" y="90"/>
                    <a:pt x="307" y="90"/>
                  </a:cubicBezTo>
                  <a:cubicBezTo>
                    <a:pt x="305" y="87"/>
                    <a:pt x="305" y="87"/>
                    <a:pt x="305" y="87"/>
                  </a:cubicBezTo>
                  <a:cubicBezTo>
                    <a:pt x="300" y="83"/>
                    <a:pt x="300" y="83"/>
                    <a:pt x="300" y="83"/>
                  </a:cubicBezTo>
                  <a:cubicBezTo>
                    <a:pt x="297" y="78"/>
                    <a:pt x="297" y="78"/>
                    <a:pt x="297" y="78"/>
                  </a:cubicBezTo>
                  <a:cubicBezTo>
                    <a:pt x="297" y="74"/>
                    <a:pt x="297" y="74"/>
                    <a:pt x="297" y="74"/>
                  </a:cubicBezTo>
                  <a:cubicBezTo>
                    <a:pt x="231" y="57"/>
                    <a:pt x="231" y="57"/>
                    <a:pt x="231" y="57"/>
                  </a:cubicBezTo>
                  <a:cubicBezTo>
                    <a:pt x="220" y="56"/>
                    <a:pt x="220" y="56"/>
                    <a:pt x="220" y="56"/>
                  </a:cubicBezTo>
                  <a:cubicBezTo>
                    <a:pt x="216" y="57"/>
                    <a:pt x="216" y="57"/>
                    <a:pt x="216" y="57"/>
                  </a:cubicBezTo>
                  <a:cubicBezTo>
                    <a:pt x="211" y="56"/>
                    <a:pt x="211" y="56"/>
                    <a:pt x="211" y="56"/>
                  </a:cubicBezTo>
                  <a:cubicBezTo>
                    <a:pt x="207" y="57"/>
                    <a:pt x="207" y="57"/>
                    <a:pt x="207" y="57"/>
                  </a:cubicBezTo>
                  <a:cubicBezTo>
                    <a:pt x="178" y="58"/>
                    <a:pt x="178" y="58"/>
                    <a:pt x="178" y="58"/>
                  </a:cubicBezTo>
                  <a:cubicBezTo>
                    <a:pt x="175" y="56"/>
                    <a:pt x="175" y="56"/>
                    <a:pt x="175" y="56"/>
                  </a:cubicBezTo>
                  <a:cubicBezTo>
                    <a:pt x="172" y="57"/>
                    <a:pt x="172" y="57"/>
                    <a:pt x="172" y="57"/>
                  </a:cubicBezTo>
                  <a:cubicBezTo>
                    <a:pt x="169" y="58"/>
                    <a:pt x="169" y="58"/>
                    <a:pt x="169" y="58"/>
                  </a:cubicBezTo>
                  <a:cubicBezTo>
                    <a:pt x="167" y="58"/>
                    <a:pt x="167" y="58"/>
                    <a:pt x="167" y="58"/>
                  </a:cubicBezTo>
                  <a:cubicBezTo>
                    <a:pt x="164" y="57"/>
                    <a:pt x="164" y="57"/>
                    <a:pt x="164" y="57"/>
                  </a:cubicBezTo>
                  <a:cubicBezTo>
                    <a:pt x="164" y="56"/>
                    <a:pt x="164" y="56"/>
                    <a:pt x="164" y="56"/>
                  </a:cubicBezTo>
                  <a:cubicBezTo>
                    <a:pt x="159" y="56"/>
                    <a:pt x="159" y="56"/>
                    <a:pt x="159" y="56"/>
                  </a:cubicBezTo>
                  <a:cubicBezTo>
                    <a:pt x="156" y="55"/>
                    <a:pt x="156" y="55"/>
                    <a:pt x="156" y="55"/>
                  </a:cubicBezTo>
                  <a:cubicBezTo>
                    <a:pt x="155" y="53"/>
                    <a:pt x="155" y="53"/>
                    <a:pt x="155" y="53"/>
                  </a:cubicBezTo>
                  <a:cubicBezTo>
                    <a:pt x="155" y="52"/>
                    <a:pt x="155" y="52"/>
                    <a:pt x="155" y="52"/>
                  </a:cubicBezTo>
                  <a:cubicBezTo>
                    <a:pt x="151" y="51"/>
                    <a:pt x="151" y="51"/>
                    <a:pt x="151" y="51"/>
                  </a:cubicBezTo>
                  <a:cubicBezTo>
                    <a:pt x="143" y="49"/>
                    <a:pt x="143" y="49"/>
                    <a:pt x="143" y="49"/>
                  </a:cubicBezTo>
                  <a:cubicBezTo>
                    <a:pt x="138" y="47"/>
                    <a:pt x="138" y="47"/>
                    <a:pt x="138" y="47"/>
                  </a:cubicBezTo>
                  <a:cubicBezTo>
                    <a:pt x="136" y="46"/>
                    <a:pt x="136" y="46"/>
                    <a:pt x="136" y="46"/>
                  </a:cubicBezTo>
                  <a:cubicBezTo>
                    <a:pt x="130" y="47"/>
                    <a:pt x="130" y="47"/>
                    <a:pt x="130" y="47"/>
                  </a:cubicBezTo>
                  <a:cubicBezTo>
                    <a:pt x="121" y="49"/>
                    <a:pt x="121" y="49"/>
                    <a:pt x="121" y="49"/>
                  </a:cubicBezTo>
                  <a:cubicBezTo>
                    <a:pt x="110" y="46"/>
                    <a:pt x="110" y="46"/>
                    <a:pt x="110" y="46"/>
                  </a:cubicBezTo>
                  <a:cubicBezTo>
                    <a:pt x="103" y="40"/>
                    <a:pt x="103" y="40"/>
                    <a:pt x="103" y="40"/>
                  </a:cubicBezTo>
                  <a:cubicBezTo>
                    <a:pt x="103" y="40"/>
                    <a:pt x="106" y="33"/>
                    <a:pt x="105" y="24"/>
                  </a:cubicBezTo>
                  <a:cubicBezTo>
                    <a:pt x="104" y="14"/>
                    <a:pt x="99" y="12"/>
                    <a:pt x="99" y="12"/>
                  </a:cubicBezTo>
                  <a:cubicBezTo>
                    <a:pt x="94" y="12"/>
                    <a:pt x="94" y="12"/>
                    <a:pt x="94" y="12"/>
                  </a:cubicBezTo>
                  <a:cubicBezTo>
                    <a:pt x="90" y="10"/>
                    <a:pt x="90" y="10"/>
                    <a:pt x="90" y="10"/>
                  </a:cubicBezTo>
                  <a:cubicBezTo>
                    <a:pt x="90" y="10"/>
                    <a:pt x="90" y="4"/>
                    <a:pt x="85" y="4"/>
                  </a:cubicBezTo>
                  <a:cubicBezTo>
                    <a:pt x="80" y="4"/>
                    <a:pt x="80" y="4"/>
                    <a:pt x="80" y="4"/>
                  </a:cubicBezTo>
                  <a:cubicBezTo>
                    <a:pt x="74" y="3"/>
                    <a:pt x="74" y="3"/>
                    <a:pt x="74" y="3"/>
                  </a:cubicBezTo>
                  <a:cubicBezTo>
                    <a:pt x="70" y="0"/>
                    <a:pt x="70" y="0"/>
                    <a:pt x="70" y="0"/>
                  </a:cubicBezTo>
                  <a:cubicBezTo>
                    <a:pt x="70" y="7"/>
                    <a:pt x="70" y="7"/>
                    <a:pt x="70" y="7"/>
                  </a:cubicBezTo>
                  <a:cubicBezTo>
                    <a:pt x="68" y="13"/>
                    <a:pt x="68" y="13"/>
                    <a:pt x="68" y="13"/>
                  </a:cubicBezTo>
                  <a:cubicBezTo>
                    <a:pt x="63" y="22"/>
                    <a:pt x="63" y="22"/>
                    <a:pt x="63" y="22"/>
                  </a:cubicBezTo>
                  <a:cubicBezTo>
                    <a:pt x="64" y="28"/>
                    <a:pt x="64" y="28"/>
                    <a:pt x="64" y="28"/>
                  </a:cubicBezTo>
                  <a:cubicBezTo>
                    <a:pt x="63" y="33"/>
                    <a:pt x="63" y="33"/>
                    <a:pt x="63" y="33"/>
                  </a:cubicBezTo>
                  <a:cubicBezTo>
                    <a:pt x="60" y="38"/>
                    <a:pt x="60" y="38"/>
                    <a:pt x="60" y="38"/>
                  </a:cubicBezTo>
                  <a:cubicBezTo>
                    <a:pt x="58" y="43"/>
                    <a:pt x="58" y="43"/>
                    <a:pt x="58" y="43"/>
                  </a:cubicBezTo>
                  <a:cubicBezTo>
                    <a:pt x="55" y="50"/>
                    <a:pt x="55" y="50"/>
                    <a:pt x="55" y="50"/>
                  </a:cubicBezTo>
                  <a:cubicBezTo>
                    <a:pt x="53" y="55"/>
                    <a:pt x="53" y="55"/>
                    <a:pt x="53" y="55"/>
                  </a:cubicBezTo>
                  <a:cubicBezTo>
                    <a:pt x="47" y="67"/>
                    <a:pt x="47" y="67"/>
                    <a:pt x="47" y="67"/>
                  </a:cubicBezTo>
                  <a:cubicBezTo>
                    <a:pt x="40" y="85"/>
                    <a:pt x="40" y="85"/>
                    <a:pt x="40" y="85"/>
                  </a:cubicBezTo>
                  <a:cubicBezTo>
                    <a:pt x="35" y="98"/>
                    <a:pt x="35" y="98"/>
                    <a:pt x="35" y="98"/>
                  </a:cubicBezTo>
                  <a:cubicBezTo>
                    <a:pt x="30" y="111"/>
                    <a:pt x="30" y="111"/>
                    <a:pt x="30" y="111"/>
                  </a:cubicBezTo>
                  <a:cubicBezTo>
                    <a:pt x="24" y="120"/>
                    <a:pt x="24" y="120"/>
                    <a:pt x="24" y="120"/>
                  </a:cubicBezTo>
                  <a:cubicBezTo>
                    <a:pt x="22" y="124"/>
                    <a:pt x="22" y="124"/>
                    <a:pt x="22" y="124"/>
                  </a:cubicBezTo>
                  <a:cubicBezTo>
                    <a:pt x="18" y="130"/>
                    <a:pt x="18" y="130"/>
                    <a:pt x="18" y="130"/>
                  </a:cubicBezTo>
                  <a:cubicBezTo>
                    <a:pt x="15" y="133"/>
                    <a:pt x="15" y="133"/>
                    <a:pt x="15" y="133"/>
                  </a:cubicBezTo>
                  <a:cubicBezTo>
                    <a:pt x="14" y="136"/>
                    <a:pt x="14" y="136"/>
                    <a:pt x="14" y="136"/>
                  </a:cubicBezTo>
                  <a:cubicBezTo>
                    <a:pt x="11" y="141"/>
                    <a:pt x="11" y="141"/>
                    <a:pt x="11" y="141"/>
                  </a:cubicBezTo>
                  <a:cubicBezTo>
                    <a:pt x="5" y="148"/>
                    <a:pt x="5" y="148"/>
                    <a:pt x="5" y="148"/>
                  </a:cubicBezTo>
                  <a:cubicBezTo>
                    <a:pt x="3" y="152"/>
                    <a:pt x="3" y="152"/>
                    <a:pt x="3" y="152"/>
                  </a:cubicBezTo>
                  <a:cubicBezTo>
                    <a:pt x="5" y="160"/>
                    <a:pt x="5" y="160"/>
                    <a:pt x="5" y="160"/>
                  </a:cubicBezTo>
                  <a:cubicBezTo>
                    <a:pt x="5" y="162"/>
                    <a:pt x="5" y="162"/>
                    <a:pt x="5" y="162"/>
                  </a:cubicBezTo>
                  <a:cubicBezTo>
                    <a:pt x="5" y="164"/>
                    <a:pt x="5" y="164"/>
                    <a:pt x="5" y="164"/>
                  </a:cubicBezTo>
                  <a:cubicBezTo>
                    <a:pt x="4" y="165"/>
                    <a:pt x="4" y="165"/>
                    <a:pt x="4" y="165"/>
                  </a:cubicBezTo>
                  <a:cubicBezTo>
                    <a:pt x="3" y="169"/>
                    <a:pt x="3" y="169"/>
                    <a:pt x="3" y="169"/>
                  </a:cubicBezTo>
                  <a:cubicBezTo>
                    <a:pt x="1" y="170"/>
                    <a:pt x="1" y="170"/>
                    <a:pt x="1" y="170"/>
                  </a:cubicBezTo>
                  <a:cubicBezTo>
                    <a:pt x="1" y="174"/>
                    <a:pt x="1" y="174"/>
                    <a:pt x="1" y="174"/>
                  </a:cubicBezTo>
                  <a:cubicBezTo>
                    <a:pt x="0" y="182"/>
                    <a:pt x="0" y="182"/>
                    <a:pt x="0" y="182"/>
                  </a:cubicBezTo>
                  <a:cubicBezTo>
                    <a:pt x="0" y="187"/>
                    <a:pt x="0" y="187"/>
                    <a:pt x="0" y="187"/>
                  </a:cubicBezTo>
                  <a:cubicBezTo>
                    <a:pt x="2" y="190"/>
                    <a:pt x="2" y="190"/>
                    <a:pt x="2" y="190"/>
                  </a:cubicBezTo>
                  <a:cubicBezTo>
                    <a:pt x="3" y="193"/>
                    <a:pt x="3" y="193"/>
                    <a:pt x="3" y="193"/>
                  </a:cubicBezTo>
                  <a:cubicBezTo>
                    <a:pt x="147" y="234"/>
                    <a:pt x="147" y="234"/>
                    <a:pt x="147" y="234"/>
                  </a:cubicBezTo>
                  <a:cubicBezTo>
                    <a:pt x="147" y="234"/>
                    <a:pt x="216" y="253"/>
                    <a:pt x="239" y="258"/>
                  </a:cubicBezTo>
                  <a:cubicBezTo>
                    <a:pt x="242" y="259"/>
                    <a:pt x="246" y="260"/>
                    <a:pt x="251" y="261"/>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3" name="Freeform 20"/>
            <p:cNvSpPr>
              <a:spLocks/>
            </p:cNvSpPr>
            <p:nvPr/>
          </p:nvSpPr>
          <p:spPr bwMode="auto">
            <a:xfrm>
              <a:off x="5637212" y="1731400"/>
              <a:ext cx="325483" cy="532915"/>
            </a:xfrm>
            <a:custGeom>
              <a:avLst/>
              <a:gdLst>
                <a:gd name="T0" fmla="*/ 46 w 228"/>
                <a:gd name="T1" fmla="*/ 143 h 373"/>
                <a:gd name="T2" fmla="*/ 49 w 228"/>
                <a:gd name="T3" fmla="*/ 152 h 373"/>
                <a:gd name="T4" fmla="*/ 56 w 228"/>
                <a:gd name="T5" fmla="*/ 159 h 373"/>
                <a:gd name="T6" fmla="*/ 57 w 228"/>
                <a:gd name="T7" fmla="*/ 167 h 373"/>
                <a:gd name="T8" fmla="*/ 53 w 228"/>
                <a:gd name="T9" fmla="*/ 173 h 373"/>
                <a:gd name="T10" fmla="*/ 46 w 228"/>
                <a:gd name="T11" fmla="*/ 180 h 373"/>
                <a:gd name="T12" fmla="*/ 40 w 228"/>
                <a:gd name="T13" fmla="*/ 189 h 373"/>
                <a:gd name="T14" fmla="*/ 37 w 228"/>
                <a:gd name="T15" fmla="*/ 194 h 373"/>
                <a:gd name="T16" fmla="*/ 26 w 228"/>
                <a:gd name="T17" fmla="*/ 206 h 373"/>
                <a:gd name="T18" fmla="*/ 19 w 228"/>
                <a:gd name="T19" fmla="*/ 214 h 373"/>
                <a:gd name="T20" fmla="*/ 20 w 228"/>
                <a:gd name="T21" fmla="*/ 222 h 373"/>
                <a:gd name="T22" fmla="*/ 23 w 228"/>
                <a:gd name="T23" fmla="*/ 223 h 373"/>
                <a:gd name="T24" fmla="*/ 25 w 228"/>
                <a:gd name="T25" fmla="*/ 228 h 373"/>
                <a:gd name="T26" fmla="*/ 24 w 228"/>
                <a:gd name="T27" fmla="*/ 240 h 373"/>
                <a:gd name="T28" fmla="*/ 19 w 228"/>
                <a:gd name="T29" fmla="*/ 244 h 373"/>
                <a:gd name="T30" fmla="*/ 18 w 228"/>
                <a:gd name="T31" fmla="*/ 251 h 373"/>
                <a:gd name="T32" fmla="*/ 102 w 228"/>
                <a:gd name="T33" fmla="*/ 352 h 373"/>
                <a:gd name="T34" fmla="*/ 228 w 228"/>
                <a:gd name="T35" fmla="*/ 256 h 373"/>
                <a:gd name="T36" fmla="*/ 224 w 228"/>
                <a:gd name="T37" fmla="*/ 252 h 373"/>
                <a:gd name="T38" fmla="*/ 223 w 228"/>
                <a:gd name="T39" fmla="*/ 247 h 373"/>
                <a:gd name="T40" fmla="*/ 218 w 228"/>
                <a:gd name="T41" fmla="*/ 241 h 373"/>
                <a:gd name="T42" fmla="*/ 213 w 228"/>
                <a:gd name="T43" fmla="*/ 246 h 373"/>
                <a:gd name="T44" fmla="*/ 202 w 228"/>
                <a:gd name="T45" fmla="*/ 248 h 373"/>
                <a:gd name="T46" fmla="*/ 189 w 228"/>
                <a:gd name="T47" fmla="*/ 245 h 373"/>
                <a:gd name="T48" fmla="*/ 184 w 228"/>
                <a:gd name="T49" fmla="*/ 247 h 373"/>
                <a:gd name="T50" fmla="*/ 179 w 228"/>
                <a:gd name="T51" fmla="*/ 247 h 373"/>
                <a:gd name="T52" fmla="*/ 171 w 228"/>
                <a:gd name="T53" fmla="*/ 244 h 373"/>
                <a:gd name="T54" fmla="*/ 168 w 228"/>
                <a:gd name="T55" fmla="*/ 247 h 373"/>
                <a:gd name="T56" fmla="*/ 164 w 228"/>
                <a:gd name="T57" fmla="*/ 249 h 373"/>
                <a:gd name="T58" fmla="*/ 162 w 228"/>
                <a:gd name="T59" fmla="*/ 242 h 373"/>
                <a:gd name="T60" fmla="*/ 160 w 228"/>
                <a:gd name="T61" fmla="*/ 232 h 373"/>
                <a:gd name="T62" fmla="*/ 156 w 228"/>
                <a:gd name="T63" fmla="*/ 226 h 373"/>
                <a:gd name="T64" fmla="*/ 149 w 228"/>
                <a:gd name="T65" fmla="*/ 220 h 373"/>
                <a:gd name="T66" fmla="*/ 149 w 228"/>
                <a:gd name="T67" fmla="*/ 213 h 373"/>
                <a:gd name="T68" fmla="*/ 145 w 228"/>
                <a:gd name="T69" fmla="*/ 204 h 373"/>
                <a:gd name="T70" fmla="*/ 145 w 228"/>
                <a:gd name="T71" fmla="*/ 195 h 373"/>
                <a:gd name="T72" fmla="*/ 142 w 228"/>
                <a:gd name="T73" fmla="*/ 183 h 373"/>
                <a:gd name="T74" fmla="*/ 139 w 228"/>
                <a:gd name="T75" fmla="*/ 179 h 373"/>
                <a:gd name="T76" fmla="*/ 133 w 228"/>
                <a:gd name="T77" fmla="*/ 182 h 373"/>
                <a:gd name="T78" fmla="*/ 127 w 228"/>
                <a:gd name="T79" fmla="*/ 186 h 373"/>
                <a:gd name="T80" fmla="*/ 125 w 228"/>
                <a:gd name="T81" fmla="*/ 183 h 373"/>
                <a:gd name="T82" fmla="*/ 119 w 228"/>
                <a:gd name="T83" fmla="*/ 179 h 373"/>
                <a:gd name="T84" fmla="*/ 125 w 228"/>
                <a:gd name="T85" fmla="*/ 168 h 373"/>
                <a:gd name="T86" fmla="*/ 129 w 228"/>
                <a:gd name="T87" fmla="*/ 166 h 373"/>
                <a:gd name="T88" fmla="*/ 128 w 228"/>
                <a:gd name="T89" fmla="*/ 154 h 373"/>
                <a:gd name="T90" fmla="*/ 134 w 228"/>
                <a:gd name="T91" fmla="*/ 141 h 373"/>
                <a:gd name="T92" fmla="*/ 137 w 228"/>
                <a:gd name="T93" fmla="*/ 131 h 373"/>
                <a:gd name="T94" fmla="*/ 128 w 228"/>
                <a:gd name="T95" fmla="*/ 128 h 373"/>
                <a:gd name="T96" fmla="*/ 123 w 228"/>
                <a:gd name="T97" fmla="*/ 118 h 373"/>
                <a:gd name="T98" fmla="*/ 119 w 228"/>
                <a:gd name="T99" fmla="*/ 106 h 373"/>
                <a:gd name="T100" fmla="*/ 109 w 228"/>
                <a:gd name="T101" fmla="*/ 93 h 373"/>
                <a:gd name="T102" fmla="*/ 104 w 228"/>
                <a:gd name="T103" fmla="*/ 82 h 373"/>
                <a:gd name="T104" fmla="*/ 101 w 228"/>
                <a:gd name="T105" fmla="*/ 76 h 373"/>
                <a:gd name="T106" fmla="*/ 101 w 228"/>
                <a:gd name="T107" fmla="*/ 69 h 373"/>
                <a:gd name="T108" fmla="*/ 97 w 228"/>
                <a:gd name="T109" fmla="*/ 62 h 373"/>
                <a:gd name="T110" fmla="*/ 98 w 228"/>
                <a:gd name="T111" fmla="*/ 48 h 373"/>
                <a:gd name="T112" fmla="*/ 104 w 228"/>
                <a:gd name="T113" fmla="*/ 25 h 373"/>
                <a:gd name="T114" fmla="*/ 108 w 228"/>
                <a:gd name="T115" fmla="*/ 8 h 373"/>
                <a:gd name="T116" fmla="*/ 47 w 228"/>
                <a:gd name="T117" fmla="*/ 120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 h="373">
                  <a:moveTo>
                    <a:pt x="48" y="132"/>
                  </a:moveTo>
                  <a:cubicBezTo>
                    <a:pt x="48" y="138"/>
                    <a:pt x="46" y="143"/>
                    <a:pt x="46" y="143"/>
                  </a:cubicBezTo>
                  <a:cubicBezTo>
                    <a:pt x="46" y="147"/>
                    <a:pt x="46" y="147"/>
                    <a:pt x="46" y="147"/>
                  </a:cubicBezTo>
                  <a:cubicBezTo>
                    <a:pt x="49" y="152"/>
                    <a:pt x="49" y="152"/>
                    <a:pt x="49" y="152"/>
                  </a:cubicBezTo>
                  <a:cubicBezTo>
                    <a:pt x="54" y="156"/>
                    <a:pt x="54" y="156"/>
                    <a:pt x="54" y="156"/>
                  </a:cubicBezTo>
                  <a:cubicBezTo>
                    <a:pt x="56" y="159"/>
                    <a:pt x="56" y="159"/>
                    <a:pt x="56" y="159"/>
                  </a:cubicBezTo>
                  <a:cubicBezTo>
                    <a:pt x="57" y="163"/>
                    <a:pt x="57" y="163"/>
                    <a:pt x="57" y="163"/>
                  </a:cubicBezTo>
                  <a:cubicBezTo>
                    <a:pt x="57" y="167"/>
                    <a:pt x="57" y="167"/>
                    <a:pt x="57" y="167"/>
                  </a:cubicBezTo>
                  <a:cubicBezTo>
                    <a:pt x="54" y="168"/>
                    <a:pt x="54" y="168"/>
                    <a:pt x="54" y="168"/>
                  </a:cubicBezTo>
                  <a:cubicBezTo>
                    <a:pt x="53" y="173"/>
                    <a:pt x="53" y="173"/>
                    <a:pt x="53" y="173"/>
                  </a:cubicBezTo>
                  <a:cubicBezTo>
                    <a:pt x="49" y="176"/>
                    <a:pt x="49" y="176"/>
                    <a:pt x="49" y="176"/>
                  </a:cubicBezTo>
                  <a:cubicBezTo>
                    <a:pt x="46" y="180"/>
                    <a:pt x="46" y="180"/>
                    <a:pt x="46" y="180"/>
                  </a:cubicBezTo>
                  <a:cubicBezTo>
                    <a:pt x="42" y="184"/>
                    <a:pt x="42" y="184"/>
                    <a:pt x="42" y="184"/>
                  </a:cubicBezTo>
                  <a:cubicBezTo>
                    <a:pt x="40" y="189"/>
                    <a:pt x="40" y="189"/>
                    <a:pt x="40" y="189"/>
                  </a:cubicBezTo>
                  <a:cubicBezTo>
                    <a:pt x="38" y="190"/>
                    <a:pt x="38" y="190"/>
                    <a:pt x="38" y="190"/>
                  </a:cubicBezTo>
                  <a:cubicBezTo>
                    <a:pt x="37" y="194"/>
                    <a:pt x="37" y="194"/>
                    <a:pt x="37" y="194"/>
                  </a:cubicBezTo>
                  <a:cubicBezTo>
                    <a:pt x="34" y="198"/>
                    <a:pt x="34" y="198"/>
                    <a:pt x="34" y="198"/>
                  </a:cubicBezTo>
                  <a:cubicBezTo>
                    <a:pt x="26" y="206"/>
                    <a:pt x="26" y="206"/>
                    <a:pt x="26" y="206"/>
                  </a:cubicBezTo>
                  <a:cubicBezTo>
                    <a:pt x="20" y="211"/>
                    <a:pt x="20" y="211"/>
                    <a:pt x="20" y="211"/>
                  </a:cubicBezTo>
                  <a:cubicBezTo>
                    <a:pt x="19" y="214"/>
                    <a:pt x="19" y="214"/>
                    <a:pt x="19" y="214"/>
                  </a:cubicBezTo>
                  <a:cubicBezTo>
                    <a:pt x="18" y="219"/>
                    <a:pt x="18" y="219"/>
                    <a:pt x="18" y="219"/>
                  </a:cubicBezTo>
                  <a:cubicBezTo>
                    <a:pt x="20" y="222"/>
                    <a:pt x="20" y="222"/>
                    <a:pt x="20" y="222"/>
                  </a:cubicBezTo>
                  <a:cubicBezTo>
                    <a:pt x="22" y="223"/>
                    <a:pt x="22" y="223"/>
                    <a:pt x="22" y="223"/>
                  </a:cubicBezTo>
                  <a:cubicBezTo>
                    <a:pt x="23" y="223"/>
                    <a:pt x="23" y="223"/>
                    <a:pt x="23" y="223"/>
                  </a:cubicBezTo>
                  <a:cubicBezTo>
                    <a:pt x="26" y="226"/>
                    <a:pt x="26" y="226"/>
                    <a:pt x="26" y="226"/>
                  </a:cubicBezTo>
                  <a:cubicBezTo>
                    <a:pt x="25" y="228"/>
                    <a:pt x="25" y="228"/>
                    <a:pt x="25" y="228"/>
                  </a:cubicBezTo>
                  <a:cubicBezTo>
                    <a:pt x="25" y="236"/>
                    <a:pt x="25" y="236"/>
                    <a:pt x="25" y="236"/>
                  </a:cubicBezTo>
                  <a:cubicBezTo>
                    <a:pt x="24" y="240"/>
                    <a:pt x="24" y="240"/>
                    <a:pt x="24" y="240"/>
                  </a:cubicBezTo>
                  <a:cubicBezTo>
                    <a:pt x="24" y="242"/>
                    <a:pt x="24" y="242"/>
                    <a:pt x="24" y="242"/>
                  </a:cubicBezTo>
                  <a:cubicBezTo>
                    <a:pt x="19" y="244"/>
                    <a:pt x="19" y="244"/>
                    <a:pt x="19" y="244"/>
                  </a:cubicBezTo>
                  <a:cubicBezTo>
                    <a:pt x="18" y="246"/>
                    <a:pt x="18" y="246"/>
                    <a:pt x="18" y="246"/>
                  </a:cubicBezTo>
                  <a:cubicBezTo>
                    <a:pt x="18" y="251"/>
                    <a:pt x="18" y="251"/>
                    <a:pt x="18" y="251"/>
                  </a:cubicBezTo>
                  <a:cubicBezTo>
                    <a:pt x="0" y="330"/>
                    <a:pt x="0" y="330"/>
                    <a:pt x="0" y="330"/>
                  </a:cubicBezTo>
                  <a:cubicBezTo>
                    <a:pt x="35" y="338"/>
                    <a:pt x="102" y="352"/>
                    <a:pt x="102" y="352"/>
                  </a:cubicBezTo>
                  <a:cubicBezTo>
                    <a:pt x="208" y="373"/>
                    <a:pt x="208" y="373"/>
                    <a:pt x="208" y="373"/>
                  </a:cubicBezTo>
                  <a:cubicBezTo>
                    <a:pt x="228" y="256"/>
                    <a:pt x="228" y="256"/>
                    <a:pt x="228" y="256"/>
                  </a:cubicBezTo>
                  <a:cubicBezTo>
                    <a:pt x="226" y="254"/>
                    <a:pt x="226" y="254"/>
                    <a:pt x="226" y="254"/>
                  </a:cubicBezTo>
                  <a:cubicBezTo>
                    <a:pt x="224" y="252"/>
                    <a:pt x="224" y="252"/>
                    <a:pt x="224" y="252"/>
                  </a:cubicBezTo>
                  <a:cubicBezTo>
                    <a:pt x="224" y="251"/>
                    <a:pt x="224" y="251"/>
                    <a:pt x="224" y="251"/>
                  </a:cubicBezTo>
                  <a:cubicBezTo>
                    <a:pt x="223" y="247"/>
                    <a:pt x="223" y="247"/>
                    <a:pt x="223" y="247"/>
                  </a:cubicBezTo>
                  <a:cubicBezTo>
                    <a:pt x="221" y="244"/>
                    <a:pt x="221" y="244"/>
                    <a:pt x="221" y="244"/>
                  </a:cubicBezTo>
                  <a:cubicBezTo>
                    <a:pt x="218" y="241"/>
                    <a:pt x="218" y="241"/>
                    <a:pt x="218" y="241"/>
                  </a:cubicBezTo>
                  <a:cubicBezTo>
                    <a:pt x="214" y="241"/>
                    <a:pt x="214" y="241"/>
                    <a:pt x="214" y="241"/>
                  </a:cubicBezTo>
                  <a:cubicBezTo>
                    <a:pt x="213" y="246"/>
                    <a:pt x="213" y="246"/>
                    <a:pt x="213" y="246"/>
                  </a:cubicBezTo>
                  <a:cubicBezTo>
                    <a:pt x="212" y="249"/>
                    <a:pt x="212" y="249"/>
                    <a:pt x="212" y="249"/>
                  </a:cubicBezTo>
                  <a:cubicBezTo>
                    <a:pt x="202" y="248"/>
                    <a:pt x="202" y="248"/>
                    <a:pt x="202" y="248"/>
                  </a:cubicBezTo>
                  <a:cubicBezTo>
                    <a:pt x="197" y="246"/>
                    <a:pt x="197" y="246"/>
                    <a:pt x="197" y="246"/>
                  </a:cubicBezTo>
                  <a:cubicBezTo>
                    <a:pt x="189" y="245"/>
                    <a:pt x="189" y="245"/>
                    <a:pt x="189" y="245"/>
                  </a:cubicBezTo>
                  <a:cubicBezTo>
                    <a:pt x="185" y="245"/>
                    <a:pt x="185" y="245"/>
                    <a:pt x="185" y="245"/>
                  </a:cubicBezTo>
                  <a:cubicBezTo>
                    <a:pt x="184" y="247"/>
                    <a:pt x="184" y="247"/>
                    <a:pt x="184" y="247"/>
                  </a:cubicBezTo>
                  <a:cubicBezTo>
                    <a:pt x="184" y="249"/>
                    <a:pt x="184" y="249"/>
                    <a:pt x="184" y="249"/>
                  </a:cubicBezTo>
                  <a:cubicBezTo>
                    <a:pt x="179" y="247"/>
                    <a:pt x="179" y="247"/>
                    <a:pt x="179" y="247"/>
                  </a:cubicBezTo>
                  <a:cubicBezTo>
                    <a:pt x="174" y="244"/>
                    <a:pt x="174" y="244"/>
                    <a:pt x="174" y="244"/>
                  </a:cubicBezTo>
                  <a:cubicBezTo>
                    <a:pt x="171" y="244"/>
                    <a:pt x="171" y="244"/>
                    <a:pt x="171" y="244"/>
                  </a:cubicBezTo>
                  <a:cubicBezTo>
                    <a:pt x="169" y="244"/>
                    <a:pt x="169" y="244"/>
                    <a:pt x="169" y="244"/>
                  </a:cubicBezTo>
                  <a:cubicBezTo>
                    <a:pt x="168" y="247"/>
                    <a:pt x="168" y="247"/>
                    <a:pt x="168" y="247"/>
                  </a:cubicBezTo>
                  <a:cubicBezTo>
                    <a:pt x="168" y="249"/>
                    <a:pt x="168" y="249"/>
                    <a:pt x="168" y="249"/>
                  </a:cubicBezTo>
                  <a:cubicBezTo>
                    <a:pt x="164" y="249"/>
                    <a:pt x="164" y="249"/>
                    <a:pt x="164" y="249"/>
                  </a:cubicBezTo>
                  <a:cubicBezTo>
                    <a:pt x="162" y="245"/>
                    <a:pt x="162" y="245"/>
                    <a:pt x="162" y="245"/>
                  </a:cubicBezTo>
                  <a:cubicBezTo>
                    <a:pt x="162" y="242"/>
                    <a:pt x="162" y="242"/>
                    <a:pt x="162" y="242"/>
                  </a:cubicBezTo>
                  <a:cubicBezTo>
                    <a:pt x="162" y="238"/>
                    <a:pt x="162" y="238"/>
                    <a:pt x="162" y="238"/>
                  </a:cubicBezTo>
                  <a:cubicBezTo>
                    <a:pt x="160" y="232"/>
                    <a:pt x="160" y="232"/>
                    <a:pt x="160" y="232"/>
                  </a:cubicBezTo>
                  <a:cubicBezTo>
                    <a:pt x="160" y="226"/>
                    <a:pt x="160" y="226"/>
                    <a:pt x="160" y="226"/>
                  </a:cubicBezTo>
                  <a:cubicBezTo>
                    <a:pt x="156" y="226"/>
                    <a:pt x="156" y="226"/>
                    <a:pt x="156" y="226"/>
                  </a:cubicBezTo>
                  <a:cubicBezTo>
                    <a:pt x="151" y="223"/>
                    <a:pt x="151" y="223"/>
                    <a:pt x="151" y="223"/>
                  </a:cubicBezTo>
                  <a:cubicBezTo>
                    <a:pt x="149" y="220"/>
                    <a:pt x="149" y="220"/>
                    <a:pt x="149" y="220"/>
                  </a:cubicBezTo>
                  <a:cubicBezTo>
                    <a:pt x="149" y="218"/>
                    <a:pt x="149" y="218"/>
                    <a:pt x="149" y="218"/>
                  </a:cubicBezTo>
                  <a:cubicBezTo>
                    <a:pt x="149" y="213"/>
                    <a:pt x="149" y="213"/>
                    <a:pt x="149" y="213"/>
                  </a:cubicBezTo>
                  <a:cubicBezTo>
                    <a:pt x="149" y="208"/>
                    <a:pt x="149" y="208"/>
                    <a:pt x="149" y="208"/>
                  </a:cubicBezTo>
                  <a:cubicBezTo>
                    <a:pt x="145" y="204"/>
                    <a:pt x="145" y="204"/>
                    <a:pt x="145" y="204"/>
                  </a:cubicBezTo>
                  <a:cubicBezTo>
                    <a:pt x="145" y="201"/>
                    <a:pt x="145" y="201"/>
                    <a:pt x="145" y="201"/>
                  </a:cubicBezTo>
                  <a:cubicBezTo>
                    <a:pt x="145" y="195"/>
                    <a:pt x="145" y="195"/>
                    <a:pt x="145" y="195"/>
                  </a:cubicBezTo>
                  <a:cubicBezTo>
                    <a:pt x="144" y="187"/>
                    <a:pt x="144" y="187"/>
                    <a:pt x="144" y="187"/>
                  </a:cubicBezTo>
                  <a:cubicBezTo>
                    <a:pt x="142" y="183"/>
                    <a:pt x="142" y="183"/>
                    <a:pt x="142" y="183"/>
                  </a:cubicBezTo>
                  <a:cubicBezTo>
                    <a:pt x="141" y="179"/>
                    <a:pt x="141" y="179"/>
                    <a:pt x="141" y="179"/>
                  </a:cubicBezTo>
                  <a:cubicBezTo>
                    <a:pt x="139" y="179"/>
                    <a:pt x="139" y="179"/>
                    <a:pt x="139" y="179"/>
                  </a:cubicBezTo>
                  <a:cubicBezTo>
                    <a:pt x="135" y="182"/>
                    <a:pt x="135" y="182"/>
                    <a:pt x="135" y="182"/>
                  </a:cubicBezTo>
                  <a:cubicBezTo>
                    <a:pt x="133" y="182"/>
                    <a:pt x="133" y="182"/>
                    <a:pt x="133" y="182"/>
                  </a:cubicBezTo>
                  <a:cubicBezTo>
                    <a:pt x="130" y="183"/>
                    <a:pt x="130" y="183"/>
                    <a:pt x="130" y="183"/>
                  </a:cubicBezTo>
                  <a:cubicBezTo>
                    <a:pt x="127" y="186"/>
                    <a:pt x="127" y="186"/>
                    <a:pt x="127" y="186"/>
                  </a:cubicBezTo>
                  <a:cubicBezTo>
                    <a:pt x="125" y="186"/>
                    <a:pt x="125" y="186"/>
                    <a:pt x="125" y="186"/>
                  </a:cubicBezTo>
                  <a:cubicBezTo>
                    <a:pt x="125" y="183"/>
                    <a:pt x="125" y="183"/>
                    <a:pt x="125" y="183"/>
                  </a:cubicBezTo>
                  <a:cubicBezTo>
                    <a:pt x="121" y="181"/>
                    <a:pt x="121" y="181"/>
                    <a:pt x="121" y="181"/>
                  </a:cubicBezTo>
                  <a:cubicBezTo>
                    <a:pt x="119" y="179"/>
                    <a:pt x="119" y="179"/>
                    <a:pt x="119" y="179"/>
                  </a:cubicBezTo>
                  <a:cubicBezTo>
                    <a:pt x="122" y="172"/>
                    <a:pt x="122" y="172"/>
                    <a:pt x="122" y="172"/>
                  </a:cubicBezTo>
                  <a:cubicBezTo>
                    <a:pt x="125" y="168"/>
                    <a:pt x="125" y="168"/>
                    <a:pt x="125" y="168"/>
                  </a:cubicBezTo>
                  <a:cubicBezTo>
                    <a:pt x="128" y="168"/>
                    <a:pt x="128" y="168"/>
                    <a:pt x="128" y="168"/>
                  </a:cubicBezTo>
                  <a:cubicBezTo>
                    <a:pt x="129" y="166"/>
                    <a:pt x="129" y="166"/>
                    <a:pt x="129" y="166"/>
                  </a:cubicBezTo>
                  <a:cubicBezTo>
                    <a:pt x="127" y="160"/>
                    <a:pt x="127" y="160"/>
                    <a:pt x="127" y="160"/>
                  </a:cubicBezTo>
                  <a:cubicBezTo>
                    <a:pt x="128" y="154"/>
                    <a:pt x="128" y="154"/>
                    <a:pt x="128" y="154"/>
                  </a:cubicBezTo>
                  <a:cubicBezTo>
                    <a:pt x="131" y="147"/>
                    <a:pt x="131" y="147"/>
                    <a:pt x="131" y="147"/>
                  </a:cubicBezTo>
                  <a:cubicBezTo>
                    <a:pt x="134" y="141"/>
                    <a:pt x="134" y="141"/>
                    <a:pt x="134" y="141"/>
                  </a:cubicBezTo>
                  <a:cubicBezTo>
                    <a:pt x="137" y="135"/>
                    <a:pt x="137" y="135"/>
                    <a:pt x="137" y="135"/>
                  </a:cubicBezTo>
                  <a:cubicBezTo>
                    <a:pt x="137" y="131"/>
                    <a:pt x="137" y="131"/>
                    <a:pt x="137" y="131"/>
                  </a:cubicBezTo>
                  <a:cubicBezTo>
                    <a:pt x="128" y="129"/>
                    <a:pt x="128" y="129"/>
                    <a:pt x="128" y="129"/>
                  </a:cubicBezTo>
                  <a:cubicBezTo>
                    <a:pt x="128" y="128"/>
                    <a:pt x="128" y="128"/>
                    <a:pt x="128" y="128"/>
                  </a:cubicBezTo>
                  <a:cubicBezTo>
                    <a:pt x="125" y="124"/>
                    <a:pt x="125" y="124"/>
                    <a:pt x="125" y="124"/>
                  </a:cubicBezTo>
                  <a:cubicBezTo>
                    <a:pt x="123" y="118"/>
                    <a:pt x="123" y="118"/>
                    <a:pt x="123" y="118"/>
                  </a:cubicBezTo>
                  <a:cubicBezTo>
                    <a:pt x="122" y="111"/>
                    <a:pt x="122" y="111"/>
                    <a:pt x="122" y="111"/>
                  </a:cubicBezTo>
                  <a:cubicBezTo>
                    <a:pt x="119" y="106"/>
                    <a:pt x="119" y="106"/>
                    <a:pt x="119" y="106"/>
                  </a:cubicBezTo>
                  <a:cubicBezTo>
                    <a:pt x="114" y="101"/>
                    <a:pt x="114" y="101"/>
                    <a:pt x="114" y="101"/>
                  </a:cubicBezTo>
                  <a:cubicBezTo>
                    <a:pt x="109" y="93"/>
                    <a:pt x="109" y="93"/>
                    <a:pt x="109" y="93"/>
                  </a:cubicBezTo>
                  <a:cubicBezTo>
                    <a:pt x="108" y="88"/>
                    <a:pt x="108" y="88"/>
                    <a:pt x="108" y="88"/>
                  </a:cubicBezTo>
                  <a:cubicBezTo>
                    <a:pt x="104" y="82"/>
                    <a:pt x="104" y="82"/>
                    <a:pt x="104" y="82"/>
                  </a:cubicBezTo>
                  <a:cubicBezTo>
                    <a:pt x="104" y="79"/>
                    <a:pt x="104" y="79"/>
                    <a:pt x="104" y="79"/>
                  </a:cubicBezTo>
                  <a:cubicBezTo>
                    <a:pt x="101" y="76"/>
                    <a:pt x="101" y="76"/>
                    <a:pt x="101" y="76"/>
                  </a:cubicBezTo>
                  <a:cubicBezTo>
                    <a:pt x="101" y="72"/>
                    <a:pt x="101" y="72"/>
                    <a:pt x="101" y="72"/>
                  </a:cubicBezTo>
                  <a:cubicBezTo>
                    <a:pt x="101" y="69"/>
                    <a:pt x="101" y="69"/>
                    <a:pt x="101" y="69"/>
                  </a:cubicBezTo>
                  <a:cubicBezTo>
                    <a:pt x="99" y="64"/>
                    <a:pt x="99" y="64"/>
                    <a:pt x="99" y="64"/>
                  </a:cubicBezTo>
                  <a:cubicBezTo>
                    <a:pt x="97" y="62"/>
                    <a:pt x="97" y="62"/>
                    <a:pt x="97" y="62"/>
                  </a:cubicBezTo>
                  <a:cubicBezTo>
                    <a:pt x="97" y="59"/>
                    <a:pt x="97" y="59"/>
                    <a:pt x="97" y="59"/>
                  </a:cubicBezTo>
                  <a:cubicBezTo>
                    <a:pt x="98" y="48"/>
                    <a:pt x="98" y="48"/>
                    <a:pt x="98" y="48"/>
                  </a:cubicBezTo>
                  <a:cubicBezTo>
                    <a:pt x="101" y="36"/>
                    <a:pt x="101" y="36"/>
                    <a:pt x="101" y="36"/>
                  </a:cubicBezTo>
                  <a:cubicBezTo>
                    <a:pt x="104" y="25"/>
                    <a:pt x="104" y="25"/>
                    <a:pt x="104" y="25"/>
                  </a:cubicBezTo>
                  <a:cubicBezTo>
                    <a:pt x="106" y="18"/>
                    <a:pt x="106" y="18"/>
                    <a:pt x="106" y="18"/>
                  </a:cubicBezTo>
                  <a:cubicBezTo>
                    <a:pt x="108" y="8"/>
                    <a:pt x="108" y="8"/>
                    <a:pt x="108" y="8"/>
                  </a:cubicBezTo>
                  <a:cubicBezTo>
                    <a:pt x="76" y="0"/>
                    <a:pt x="76" y="0"/>
                    <a:pt x="76" y="0"/>
                  </a:cubicBezTo>
                  <a:cubicBezTo>
                    <a:pt x="76" y="0"/>
                    <a:pt x="52" y="114"/>
                    <a:pt x="47" y="120"/>
                  </a:cubicBezTo>
                  <a:cubicBezTo>
                    <a:pt x="43" y="127"/>
                    <a:pt x="48" y="125"/>
                    <a:pt x="48" y="132"/>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4" name="Freeform 21"/>
            <p:cNvSpPr>
              <a:spLocks/>
            </p:cNvSpPr>
            <p:nvPr/>
          </p:nvSpPr>
          <p:spPr bwMode="auto">
            <a:xfrm>
              <a:off x="5775501" y="1743205"/>
              <a:ext cx="558212" cy="360899"/>
            </a:xfrm>
            <a:custGeom>
              <a:avLst/>
              <a:gdLst>
                <a:gd name="T0" fmla="*/ 184 w 391"/>
                <a:gd name="T1" fmla="*/ 33 h 252"/>
                <a:gd name="T2" fmla="*/ 9 w 391"/>
                <a:gd name="T3" fmla="*/ 10 h 252"/>
                <a:gd name="T4" fmla="*/ 4 w 391"/>
                <a:gd name="T5" fmla="*/ 28 h 252"/>
                <a:gd name="T6" fmla="*/ 0 w 391"/>
                <a:gd name="T7" fmla="*/ 51 h 252"/>
                <a:gd name="T8" fmla="*/ 2 w 391"/>
                <a:gd name="T9" fmla="*/ 56 h 252"/>
                <a:gd name="T10" fmla="*/ 4 w 391"/>
                <a:gd name="T11" fmla="*/ 64 h 252"/>
                <a:gd name="T12" fmla="*/ 7 w 391"/>
                <a:gd name="T13" fmla="*/ 71 h 252"/>
                <a:gd name="T14" fmla="*/ 11 w 391"/>
                <a:gd name="T15" fmla="*/ 80 h 252"/>
                <a:gd name="T16" fmla="*/ 17 w 391"/>
                <a:gd name="T17" fmla="*/ 93 h 252"/>
                <a:gd name="T18" fmla="*/ 25 w 391"/>
                <a:gd name="T19" fmla="*/ 103 h 252"/>
                <a:gd name="T20" fmla="*/ 28 w 391"/>
                <a:gd name="T21" fmla="*/ 116 h 252"/>
                <a:gd name="T22" fmla="*/ 31 w 391"/>
                <a:gd name="T23" fmla="*/ 121 h 252"/>
                <a:gd name="T24" fmla="*/ 40 w 391"/>
                <a:gd name="T25" fmla="*/ 127 h 252"/>
                <a:gd name="T26" fmla="*/ 34 w 391"/>
                <a:gd name="T27" fmla="*/ 139 h 252"/>
                <a:gd name="T28" fmla="*/ 30 w 391"/>
                <a:gd name="T29" fmla="*/ 152 h 252"/>
                <a:gd name="T30" fmla="*/ 31 w 391"/>
                <a:gd name="T31" fmla="*/ 160 h 252"/>
                <a:gd name="T32" fmla="*/ 25 w 391"/>
                <a:gd name="T33" fmla="*/ 164 h 252"/>
                <a:gd name="T34" fmla="*/ 24 w 391"/>
                <a:gd name="T35" fmla="*/ 173 h 252"/>
                <a:gd name="T36" fmla="*/ 28 w 391"/>
                <a:gd name="T37" fmla="*/ 178 h 252"/>
                <a:gd name="T38" fmla="*/ 33 w 391"/>
                <a:gd name="T39" fmla="*/ 175 h 252"/>
                <a:gd name="T40" fmla="*/ 38 w 391"/>
                <a:gd name="T41" fmla="*/ 174 h 252"/>
                <a:gd name="T42" fmla="*/ 44 w 391"/>
                <a:gd name="T43" fmla="*/ 171 h 252"/>
                <a:gd name="T44" fmla="*/ 47 w 391"/>
                <a:gd name="T45" fmla="*/ 179 h 252"/>
                <a:gd name="T46" fmla="*/ 48 w 391"/>
                <a:gd name="T47" fmla="*/ 193 h 252"/>
                <a:gd name="T48" fmla="*/ 52 w 391"/>
                <a:gd name="T49" fmla="*/ 200 h 252"/>
                <a:gd name="T50" fmla="*/ 52 w 391"/>
                <a:gd name="T51" fmla="*/ 210 h 252"/>
                <a:gd name="T52" fmla="*/ 54 w 391"/>
                <a:gd name="T53" fmla="*/ 215 h 252"/>
                <a:gd name="T54" fmla="*/ 63 w 391"/>
                <a:gd name="T55" fmla="*/ 218 h 252"/>
                <a:gd name="T56" fmla="*/ 65 w 391"/>
                <a:gd name="T57" fmla="*/ 230 h 252"/>
                <a:gd name="T58" fmla="*/ 65 w 391"/>
                <a:gd name="T59" fmla="*/ 237 h 252"/>
                <a:gd name="T60" fmla="*/ 71 w 391"/>
                <a:gd name="T61" fmla="*/ 241 h 252"/>
                <a:gd name="T62" fmla="*/ 72 w 391"/>
                <a:gd name="T63" fmla="*/ 236 h 252"/>
                <a:gd name="T64" fmla="*/ 77 w 391"/>
                <a:gd name="T65" fmla="*/ 236 h 252"/>
                <a:gd name="T66" fmla="*/ 87 w 391"/>
                <a:gd name="T67" fmla="*/ 241 h 252"/>
                <a:gd name="T68" fmla="*/ 88 w 391"/>
                <a:gd name="T69" fmla="*/ 237 h 252"/>
                <a:gd name="T70" fmla="*/ 100 w 391"/>
                <a:gd name="T71" fmla="*/ 238 h 252"/>
                <a:gd name="T72" fmla="*/ 115 w 391"/>
                <a:gd name="T73" fmla="*/ 241 h 252"/>
                <a:gd name="T74" fmla="*/ 117 w 391"/>
                <a:gd name="T75" fmla="*/ 233 h 252"/>
                <a:gd name="T76" fmla="*/ 124 w 391"/>
                <a:gd name="T77" fmla="*/ 236 h 252"/>
                <a:gd name="T78" fmla="*/ 127 w 391"/>
                <a:gd name="T79" fmla="*/ 243 h 252"/>
                <a:gd name="T80" fmla="*/ 129 w 391"/>
                <a:gd name="T81" fmla="*/ 246 h 252"/>
                <a:gd name="T82" fmla="*/ 136 w 391"/>
                <a:gd name="T83" fmla="*/ 221 h 252"/>
                <a:gd name="T84" fmla="*/ 373 w 391"/>
                <a:gd name="T85" fmla="*/ 252 h 252"/>
                <a:gd name="T86" fmla="*/ 391 w 391"/>
                <a:gd name="T87" fmla="*/ 6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1" h="252">
                  <a:moveTo>
                    <a:pt x="391" y="60"/>
                  </a:moveTo>
                  <a:cubicBezTo>
                    <a:pt x="391" y="60"/>
                    <a:pt x="243" y="42"/>
                    <a:pt x="184" y="33"/>
                  </a:cubicBezTo>
                  <a:cubicBezTo>
                    <a:pt x="112" y="22"/>
                    <a:pt x="11" y="0"/>
                    <a:pt x="11" y="0"/>
                  </a:cubicBezTo>
                  <a:cubicBezTo>
                    <a:pt x="9" y="10"/>
                    <a:pt x="9" y="10"/>
                    <a:pt x="9" y="10"/>
                  </a:cubicBezTo>
                  <a:cubicBezTo>
                    <a:pt x="7" y="17"/>
                    <a:pt x="7" y="17"/>
                    <a:pt x="7" y="17"/>
                  </a:cubicBezTo>
                  <a:cubicBezTo>
                    <a:pt x="4" y="28"/>
                    <a:pt x="4" y="28"/>
                    <a:pt x="4" y="28"/>
                  </a:cubicBezTo>
                  <a:cubicBezTo>
                    <a:pt x="1" y="40"/>
                    <a:pt x="1" y="40"/>
                    <a:pt x="1" y="40"/>
                  </a:cubicBezTo>
                  <a:cubicBezTo>
                    <a:pt x="0" y="51"/>
                    <a:pt x="0" y="51"/>
                    <a:pt x="0" y="51"/>
                  </a:cubicBezTo>
                  <a:cubicBezTo>
                    <a:pt x="0" y="54"/>
                    <a:pt x="0" y="54"/>
                    <a:pt x="0" y="54"/>
                  </a:cubicBezTo>
                  <a:cubicBezTo>
                    <a:pt x="2" y="56"/>
                    <a:pt x="2" y="56"/>
                    <a:pt x="2" y="56"/>
                  </a:cubicBezTo>
                  <a:cubicBezTo>
                    <a:pt x="4" y="61"/>
                    <a:pt x="4" y="61"/>
                    <a:pt x="4" y="61"/>
                  </a:cubicBezTo>
                  <a:cubicBezTo>
                    <a:pt x="4" y="64"/>
                    <a:pt x="4" y="64"/>
                    <a:pt x="4" y="64"/>
                  </a:cubicBezTo>
                  <a:cubicBezTo>
                    <a:pt x="4" y="68"/>
                    <a:pt x="4" y="68"/>
                    <a:pt x="4" y="68"/>
                  </a:cubicBezTo>
                  <a:cubicBezTo>
                    <a:pt x="7" y="71"/>
                    <a:pt x="7" y="71"/>
                    <a:pt x="7" y="71"/>
                  </a:cubicBezTo>
                  <a:cubicBezTo>
                    <a:pt x="7" y="74"/>
                    <a:pt x="7" y="74"/>
                    <a:pt x="7" y="74"/>
                  </a:cubicBezTo>
                  <a:cubicBezTo>
                    <a:pt x="11" y="80"/>
                    <a:pt x="11" y="80"/>
                    <a:pt x="11" y="80"/>
                  </a:cubicBezTo>
                  <a:cubicBezTo>
                    <a:pt x="12" y="85"/>
                    <a:pt x="12" y="85"/>
                    <a:pt x="12" y="85"/>
                  </a:cubicBezTo>
                  <a:cubicBezTo>
                    <a:pt x="17" y="93"/>
                    <a:pt x="17" y="93"/>
                    <a:pt x="17" y="93"/>
                  </a:cubicBezTo>
                  <a:cubicBezTo>
                    <a:pt x="22" y="98"/>
                    <a:pt x="22" y="98"/>
                    <a:pt x="22" y="98"/>
                  </a:cubicBezTo>
                  <a:cubicBezTo>
                    <a:pt x="25" y="103"/>
                    <a:pt x="25" y="103"/>
                    <a:pt x="25" y="103"/>
                  </a:cubicBezTo>
                  <a:cubicBezTo>
                    <a:pt x="26" y="110"/>
                    <a:pt x="26" y="110"/>
                    <a:pt x="26" y="110"/>
                  </a:cubicBezTo>
                  <a:cubicBezTo>
                    <a:pt x="28" y="116"/>
                    <a:pt x="28" y="116"/>
                    <a:pt x="28" y="116"/>
                  </a:cubicBezTo>
                  <a:cubicBezTo>
                    <a:pt x="31" y="120"/>
                    <a:pt x="31" y="120"/>
                    <a:pt x="31" y="120"/>
                  </a:cubicBezTo>
                  <a:cubicBezTo>
                    <a:pt x="31" y="121"/>
                    <a:pt x="31" y="121"/>
                    <a:pt x="31" y="121"/>
                  </a:cubicBezTo>
                  <a:cubicBezTo>
                    <a:pt x="40" y="123"/>
                    <a:pt x="40" y="123"/>
                    <a:pt x="40" y="123"/>
                  </a:cubicBezTo>
                  <a:cubicBezTo>
                    <a:pt x="40" y="127"/>
                    <a:pt x="40" y="127"/>
                    <a:pt x="40" y="127"/>
                  </a:cubicBezTo>
                  <a:cubicBezTo>
                    <a:pt x="37" y="133"/>
                    <a:pt x="37" y="133"/>
                    <a:pt x="37" y="133"/>
                  </a:cubicBezTo>
                  <a:cubicBezTo>
                    <a:pt x="34" y="139"/>
                    <a:pt x="34" y="139"/>
                    <a:pt x="34" y="139"/>
                  </a:cubicBezTo>
                  <a:cubicBezTo>
                    <a:pt x="31" y="146"/>
                    <a:pt x="31" y="146"/>
                    <a:pt x="31" y="146"/>
                  </a:cubicBezTo>
                  <a:cubicBezTo>
                    <a:pt x="30" y="152"/>
                    <a:pt x="30" y="152"/>
                    <a:pt x="30" y="152"/>
                  </a:cubicBezTo>
                  <a:cubicBezTo>
                    <a:pt x="32" y="158"/>
                    <a:pt x="32" y="158"/>
                    <a:pt x="32" y="158"/>
                  </a:cubicBezTo>
                  <a:cubicBezTo>
                    <a:pt x="31" y="160"/>
                    <a:pt x="31" y="160"/>
                    <a:pt x="31" y="160"/>
                  </a:cubicBezTo>
                  <a:cubicBezTo>
                    <a:pt x="28" y="160"/>
                    <a:pt x="28" y="160"/>
                    <a:pt x="28" y="160"/>
                  </a:cubicBezTo>
                  <a:cubicBezTo>
                    <a:pt x="25" y="164"/>
                    <a:pt x="25" y="164"/>
                    <a:pt x="25" y="164"/>
                  </a:cubicBezTo>
                  <a:cubicBezTo>
                    <a:pt x="22" y="171"/>
                    <a:pt x="22" y="171"/>
                    <a:pt x="22" y="171"/>
                  </a:cubicBezTo>
                  <a:cubicBezTo>
                    <a:pt x="24" y="173"/>
                    <a:pt x="24" y="173"/>
                    <a:pt x="24" y="173"/>
                  </a:cubicBezTo>
                  <a:cubicBezTo>
                    <a:pt x="28" y="175"/>
                    <a:pt x="28" y="175"/>
                    <a:pt x="28" y="175"/>
                  </a:cubicBezTo>
                  <a:cubicBezTo>
                    <a:pt x="28" y="178"/>
                    <a:pt x="28" y="178"/>
                    <a:pt x="28" y="178"/>
                  </a:cubicBezTo>
                  <a:cubicBezTo>
                    <a:pt x="30" y="178"/>
                    <a:pt x="30" y="178"/>
                    <a:pt x="30" y="178"/>
                  </a:cubicBezTo>
                  <a:cubicBezTo>
                    <a:pt x="33" y="175"/>
                    <a:pt x="33" y="175"/>
                    <a:pt x="33" y="175"/>
                  </a:cubicBezTo>
                  <a:cubicBezTo>
                    <a:pt x="36" y="174"/>
                    <a:pt x="36" y="174"/>
                    <a:pt x="36" y="174"/>
                  </a:cubicBezTo>
                  <a:cubicBezTo>
                    <a:pt x="38" y="174"/>
                    <a:pt x="38" y="174"/>
                    <a:pt x="38" y="174"/>
                  </a:cubicBezTo>
                  <a:cubicBezTo>
                    <a:pt x="42" y="171"/>
                    <a:pt x="42" y="171"/>
                    <a:pt x="42" y="171"/>
                  </a:cubicBezTo>
                  <a:cubicBezTo>
                    <a:pt x="44" y="171"/>
                    <a:pt x="44" y="171"/>
                    <a:pt x="44" y="171"/>
                  </a:cubicBezTo>
                  <a:cubicBezTo>
                    <a:pt x="45" y="175"/>
                    <a:pt x="45" y="175"/>
                    <a:pt x="45" y="175"/>
                  </a:cubicBezTo>
                  <a:cubicBezTo>
                    <a:pt x="47" y="179"/>
                    <a:pt x="47" y="179"/>
                    <a:pt x="47" y="179"/>
                  </a:cubicBezTo>
                  <a:cubicBezTo>
                    <a:pt x="48" y="187"/>
                    <a:pt x="48" y="187"/>
                    <a:pt x="48" y="187"/>
                  </a:cubicBezTo>
                  <a:cubicBezTo>
                    <a:pt x="48" y="193"/>
                    <a:pt x="48" y="193"/>
                    <a:pt x="48" y="193"/>
                  </a:cubicBezTo>
                  <a:cubicBezTo>
                    <a:pt x="48" y="196"/>
                    <a:pt x="48" y="196"/>
                    <a:pt x="48" y="196"/>
                  </a:cubicBezTo>
                  <a:cubicBezTo>
                    <a:pt x="52" y="200"/>
                    <a:pt x="52" y="200"/>
                    <a:pt x="52" y="200"/>
                  </a:cubicBezTo>
                  <a:cubicBezTo>
                    <a:pt x="52" y="205"/>
                    <a:pt x="52" y="205"/>
                    <a:pt x="52" y="205"/>
                  </a:cubicBezTo>
                  <a:cubicBezTo>
                    <a:pt x="52" y="210"/>
                    <a:pt x="52" y="210"/>
                    <a:pt x="52" y="210"/>
                  </a:cubicBezTo>
                  <a:cubicBezTo>
                    <a:pt x="52" y="212"/>
                    <a:pt x="52" y="212"/>
                    <a:pt x="52" y="212"/>
                  </a:cubicBezTo>
                  <a:cubicBezTo>
                    <a:pt x="54" y="215"/>
                    <a:pt x="54" y="215"/>
                    <a:pt x="54" y="215"/>
                  </a:cubicBezTo>
                  <a:cubicBezTo>
                    <a:pt x="59" y="218"/>
                    <a:pt x="59" y="218"/>
                    <a:pt x="59" y="218"/>
                  </a:cubicBezTo>
                  <a:cubicBezTo>
                    <a:pt x="63" y="218"/>
                    <a:pt x="63" y="218"/>
                    <a:pt x="63" y="218"/>
                  </a:cubicBezTo>
                  <a:cubicBezTo>
                    <a:pt x="63" y="224"/>
                    <a:pt x="63" y="224"/>
                    <a:pt x="63" y="224"/>
                  </a:cubicBezTo>
                  <a:cubicBezTo>
                    <a:pt x="65" y="230"/>
                    <a:pt x="65" y="230"/>
                    <a:pt x="65" y="230"/>
                  </a:cubicBezTo>
                  <a:cubicBezTo>
                    <a:pt x="65" y="234"/>
                    <a:pt x="65" y="234"/>
                    <a:pt x="65" y="234"/>
                  </a:cubicBezTo>
                  <a:cubicBezTo>
                    <a:pt x="65" y="237"/>
                    <a:pt x="65" y="237"/>
                    <a:pt x="65" y="237"/>
                  </a:cubicBezTo>
                  <a:cubicBezTo>
                    <a:pt x="67" y="241"/>
                    <a:pt x="67" y="241"/>
                    <a:pt x="67" y="241"/>
                  </a:cubicBezTo>
                  <a:cubicBezTo>
                    <a:pt x="71" y="241"/>
                    <a:pt x="71" y="241"/>
                    <a:pt x="71" y="241"/>
                  </a:cubicBezTo>
                  <a:cubicBezTo>
                    <a:pt x="71" y="239"/>
                    <a:pt x="71" y="239"/>
                    <a:pt x="71" y="239"/>
                  </a:cubicBezTo>
                  <a:cubicBezTo>
                    <a:pt x="72" y="236"/>
                    <a:pt x="72" y="236"/>
                    <a:pt x="72" y="236"/>
                  </a:cubicBezTo>
                  <a:cubicBezTo>
                    <a:pt x="74" y="236"/>
                    <a:pt x="74" y="236"/>
                    <a:pt x="74" y="236"/>
                  </a:cubicBezTo>
                  <a:cubicBezTo>
                    <a:pt x="77" y="236"/>
                    <a:pt x="77" y="236"/>
                    <a:pt x="77" y="236"/>
                  </a:cubicBezTo>
                  <a:cubicBezTo>
                    <a:pt x="82" y="239"/>
                    <a:pt x="82" y="239"/>
                    <a:pt x="82" y="239"/>
                  </a:cubicBezTo>
                  <a:cubicBezTo>
                    <a:pt x="87" y="241"/>
                    <a:pt x="87" y="241"/>
                    <a:pt x="87" y="241"/>
                  </a:cubicBezTo>
                  <a:cubicBezTo>
                    <a:pt x="87" y="239"/>
                    <a:pt x="87" y="239"/>
                    <a:pt x="87" y="239"/>
                  </a:cubicBezTo>
                  <a:cubicBezTo>
                    <a:pt x="88" y="237"/>
                    <a:pt x="88" y="237"/>
                    <a:pt x="88" y="237"/>
                  </a:cubicBezTo>
                  <a:cubicBezTo>
                    <a:pt x="92" y="237"/>
                    <a:pt x="92" y="237"/>
                    <a:pt x="92" y="237"/>
                  </a:cubicBezTo>
                  <a:cubicBezTo>
                    <a:pt x="100" y="238"/>
                    <a:pt x="100" y="238"/>
                    <a:pt x="100" y="238"/>
                  </a:cubicBezTo>
                  <a:cubicBezTo>
                    <a:pt x="105" y="240"/>
                    <a:pt x="105" y="240"/>
                    <a:pt x="105" y="240"/>
                  </a:cubicBezTo>
                  <a:cubicBezTo>
                    <a:pt x="115" y="241"/>
                    <a:pt x="115" y="241"/>
                    <a:pt x="115" y="241"/>
                  </a:cubicBezTo>
                  <a:cubicBezTo>
                    <a:pt x="116" y="238"/>
                    <a:pt x="116" y="238"/>
                    <a:pt x="116" y="238"/>
                  </a:cubicBezTo>
                  <a:cubicBezTo>
                    <a:pt x="117" y="233"/>
                    <a:pt x="117" y="233"/>
                    <a:pt x="117" y="233"/>
                  </a:cubicBezTo>
                  <a:cubicBezTo>
                    <a:pt x="121" y="233"/>
                    <a:pt x="121" y="233"/>
                    <a:pt x="121" y="233"/>
                  </a:cubicBezTo>
                  <a:cubicBezTo>
                    <a:pt x="124" y="236"/>
                    <a:pt x="124" y="236"/>
                    <a:pt x="124" y="236"/>
                  </a:cubicBezTo>
                  <a:cubicBezTo>
                    <a:pt x="126" y="239"/>
                    <a:pt x="126" y="239"/>
                    <a:pt x="126" y="239"/>
                  </a:cubicBezTo>
                  <a:cubicBezTo>
                    <a:pt x="127" y="243"/>
                    <a:pt x="127" y="243"/>
                    <a:pt x="127" y="243"/>
                  </a:cubicBezTo>
                  <a:cubicBezTo>
                    <a:pt x="127" y="244"/>
                    <a:pt x="127" y="244"/>
                    <a:pt x="127" y="244"/>
                  </a:cubicBezTo>
                  <a:cubicBezTo>
                    <a:pt x="129" y="246"/>
                    <a:pt x="129" y="246"/>
                    <a:pt x="129" y="246"/>
                  </a:cubicBezTo>
                  <a:cubicBezTo>
                    <a:pt x="131" y="248"/>
                    <a:pt x="131" y="248"/>
                    <a:pt x="131" y="248"/>
                  </a:cubicBezTo>
                  <a:cubicBezTo>
                    <a:pt x="136" y="221"/>
                    <a:pt x="136" y="221"/>
                    <a:pt x="136" y="221"/>
                  </a:cubicBezTo>
                  <a:cubicBezTo>
                    <a:pt x="372" y="252"/>
                    <a:pt x="372" y="252"/>
                    <a:pt x="372" y="252"/>
                  </a:cubicBezTo>
                  <a:cubicBezTo>
                    <a:pt x="373" y="252"/>
                    <a:pt x="373" y="252"/>
                    <a:pt x="373" y="252"/>
                  </a:cubicBezTo>
                  <a:cubicBezTo>
                    <a:pt x="377" y="207"/>
                    <a:pt x="377" y="207"/>
                    <a:pt x="377" y="207"/>
                  </a:cubicBezTo>
                  <a:lnTo>
                    <a:pt x="391" y="6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5" name="Freeform 22"/>
            <p:cNvSpPr>
              <a:spLocks/>
            </p:cNvSpPr>
            <p:nvPr/>
          </p:nvSpPr>
          <p:spPr bwMode="auto">
            <a:xfrm>
              <a:off x="7897045" y="1787053"/>
              <a:ext cx="197314" cy="315365"/>
            </a:xfrm>
            <a:custGeom>
              <a:avLst/>
              <a:gdLst>
                <a:gd name="T0" fmla="*/ 34 w 117"/>
                <a:gd name="T1" fmla="*/ 182 h 187"/>
                <a:gd name="T2" fmla="*/ 34 w 117"/>
                <a:gd name="T3" fmla="*/ 176 h 187"/>
                <a:gd name="T4" fmla="*/ 37 w 117"/>
                <a:gd name="T5" fmla="*/ 171 h 187"/>
                <a:gd name="T6" fmla="*/ 40 w 117"/>
                <a:gd name="T7" fmla="*/ 166 h 187"/>
                <a:gd name="T8" fmla="*/ 44 w 117"/>
                <a:gd name="T9" fmla="*/ 161 h 187"/>
                <a:gd name="T10" fmla="*/ 40 w 117"/>
                <a:gd name="T11" fmla="*/ 159 h 187"/>
                <a:gd name="T12" fmla="*/ 42 w 117"/>
                <a:gd name="T13" fmla="*/ 155 h 187"/>
                <a:gd name="T14" fmla="*/ 45 w 117"/>
                <a:gd name="T15" fmla="*/ 155 h 187"/>
                <a:gd name="T16" fmla="*/ 48 w 117"/>
                <a:gd name="T17" fmla="*/ 150 h 187"/>
                <a:gd name="T18" fmla="*/ 52 w 117"/>
                <a:gd name="T19" fmla="*/ 153 h 187"/>
                <a:gd name="T20" fmla="*/ 51 w 117"/>
                <a:gd name="T21" fmla="*/ 149 h 187"/>
                <a:gd name="T22" fmla="*/ 56 w 117"/>
                <a:gd name="T23" fmla="*/ 148 h 187"/>
                <a:gd name="T24" fmla="*/ 59 w 117"/>
                <a:gd name="T25" fmla="*/ 139 h 187"/>
                <a:gd name="T26" fmla="*/ 67 w 117"/>
                <a:gd name="T27" fmla="*/ 141 h 187"/>
                <a:gd name="T28" fmla="*/ 68 w 117"/>
                <a:gd name="T29" fmla="*/ 132 h 187"/>
                <a:gd name="T30" fmla="*/ 68 w 117"/>
                <a:gd name="T31" fmla="*/ 123 h 187"/>
                <a:gd name="T32" fmla="*/ 69 w 117"/>
                <a:gd name="T33" fmla="*/ 116 h 187"/>
                <a:gd name="T34" fmla="*/ 79 w 117"/>
                <a:gd name="T35" fmla="*/ 122 h 187"/>
                <a:gd name="T36" fmla="*/ 81 w 117"/>
                <a:gd name="T37" fmla="*/ 115 h 187"/>
                <a:gd name="T38" fmla="*/ 84 w 117"/>
                <a:gd name="T39" fmla="*/ 122 h 187"/>
                <a:gd name="T40" fmla="*/ 88 w 117"/>
                <a:gd name="T41" fmla="*/ 116 h 187"/>
                <a:gd name="T42" fmla="*/ 87 w 117"/>
                <a:gd name="T43" fmla="*/ 111 h 187"/>
                <a:gd name="T44" fmla="*/ 95 w 117"/>
                <a:gd name="T45" fmla="*/ 115 h 187"/>
                <a:gd name="T46" fmla="*/ 97 w 117"/>
                <a:gd name="T47" fmla="*/ 111 h 187"/>
                <a:gd name="T48" fmla="*/ 103 w 117"/>
                <a:gd name="T49" fmla="*/ 105 h 187"/>
                <a:gd name="T50" fmla="*/ 106 w 117"/>
                <a:gd name="T51" fmla="*/ 101 h 187"/>
                <a:gd name="T52" fmla="*/ 114 w 117"/>
                <a:gd name="T53" fmla="*/ 97 h 187"/>
                <a:gd name="T54" fmla="*/ 116 w 117"/>
                <a:gd name="T55" fmla="*/ 88 h 187"/>
                <a:gd name="T56" fmla="*/ 112 w 117"/>
                <a:gd name="T57" fmla="*/ 86 h 187"/>
                <a:gd name="T58" fmla="*/ 112 w 117"/>
                <a:gd name="T59" fmla="*/ 82 h 187"/>
                <a:gd name="T60" fmla="*/ 104 w 117"/>
                <a:gd name="T61" fmla="*/ 77 h 187"/>
                <a:gd name="T62" fmla="*/ 101 w 117"/>
                <a:gd name="T63" fmla="*/ 64 h 187"/>
                <a:gd name="T64" fmla="*/ 95 w 117"/>
                <a:gd name="T65" fmla="*/ 63 h 187"/>
                <a:gd name="T66" fmla="*/ 84 w 117"/>
                <a:gd name="T67" fmla="*/ 56 h 187"/>
                <a:gd name="T68" fmla="*/ 77 w 117"/>
                <a:gd name="T69" fmla="*/ 31 h 187"/>
                <a:gd name="T70" fmla="*/ 71 w 117"/>
                <a:gd name="T71" fmla="*/ 11 h 187"/>
                <a:gd name="T72" fmla="*/ 53 w 117"/>
                <a:gd name="T73" fmla="*/ 3 h 187"/>
                <a:gd name="T74" fmla="*/ 42 w 117"/>
                <a:gd name="T75" fmla="*/ 11 h 187"/>
                <a:gd name="T76" fmla="*/ 30 w 117"/>
                <a:gd name="T77" fmla="*/ 5 h 187"/>
                <a:gd name="T78" fmla="*/ 22 w 117"/>
                <a:gd name="T79" fmla="*/ 22 h 187"/>
                <a:gd name="T80" fmla="*/ 13 w 117"/>
                <a:gd name="T81" fmla="*/ 54 h 187"/>
                <a:gd name="T82" fmla="*/ 15 w 117"/>
                <a:gd name="T83" fmla="*/ 71 h 187"/>
                <a:gd name="T84" fmla="*/ 12 w 117"/>
                <a:gd name="T85" fmla="*/ 82 h 187"/>
                <a:gd name="T86" fmla="*/ 7 w 117"/>
                <a:gd name="T87" fmla="*/ 95 h 187"/>
                <a:gd name="T88" fmla="*/ 0 w 117"/>
                <a:gd name="T89" fmla="*/ 103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7" h="187">
                  <a:moveTo>
                    <a:pt x="33" y="187"/>
                  </a:moveTo>
                  <a:lnTo>
                    <a:pt x="33" y="185"/>
                  </a:lnTo>
                  <a:lnTo>
                    <a:pt x="34" y="182"/>
                  </a:lnTo>
                  <a:lnTo>
                    <a:pt x="34" y="181"/>
                  </a:lnTo>
                  <a:lnTo>
                    <a:pt x="34" y="178"/>
                  </a:lnTo>
                  <a:lnTo>
                    <a:pt x="34" y="176"/>
                  </a:lnTo>
                  <a:lnTo>
                    <a:pt x="35" y="174"/>
                  </a:lnTo>
                  <a:lnTo>
                    <a:pt x="37" y="174"/>
                  </a:lnTo>
                  <a:lnTo>
                    <a:pt x="37" y="171"/>
                  </a:lnTo>
                  <a:lnTo>
                    <a:pt x="38" y="169"/>
                  </a:lnTo>
                  <a:lnTo>
                    <a:pt x="38" y="166"/>
                  </a:lnTo>
                  <a:lnTo>
                    <a:pt x="40" y="166"/>
                  </a:lnTo>
                  <a:lnTo>
                    <a:pt x="41" y="166"/>
                  </a:lnTo>
                  <a:lnTo>
                    <a:pt x="44" y="166"/>
                  </a:lnTo>
                  <a:lnTo>
                    <a:pt x="44" y="161"/>
                  </a:lnTo>
                  <a:lnTo>
                    <a:pt x="41" y="161"/>
                  </a:lnTo>
                  <a:lnTo>
                    <a:pt x="40" y="161"/>
                  </a:lnTo>
                  <a:lnTo>
                    <a:pt x="40" y="159"/>
                  </a:lnTo>
                  <a:lnTo>
                    <a:pt x="40" y="158"/>
                  </a:lnTo>
                  <a:lnTo>
                    <a:pt x="42" y="156"/>
                  </a:lnTo>
                  <a:lnTo>
                    <a:pt x="42" y="155"/>
                  </a:lnTo>
                  <a:lnTo>
                    <a:pt x="44" y="153"/>
                  </a:lnTo>
                  <a:lnTo>
                    <a:pt x="45" y="154"/>
                  </a:lnTo>
                  <a:lnTo>
                    <a:pt x="45" y="155"/>
                  </a:lnTo>
                  <a:lnTo>
                    <a:pt x="47" y="154"/>
                  </a:lnTo>
                  <a:lnTo>
                    <a:pt x="48" y="153"/>
                  </a:lnTo>
                  <a:lnTo>
                    <a:pt x="48" y="150"/>
                  </a:lnTo>
                  <a:lnTo>
                    <a:pt x="50" y="152"/>
                  </a:lnTo>
                  <a:lnTo>
                    <a:pt x="51" y="153"/>
                  </a:lnTo>
                  <a:lnTo>
                    <a:pt x="52" y="153"/>
                  </a:lnTo>
                  <a:lnTo>
                    <a:pt x="52" y="150"/>
                  </a:lnTo>
                  <a:lnTo>
                    <a:pt x="52" y="149"/>
                  </a:lnTo>
                  <a:lnTo>
                    <a:pt x="51" y="149"/>
                  </a:lnTo>
                  <a:lnTo>
                    <a:pt x="50" y="147"/>
                  </a:lnTo>
                  <a:lnTo>
                    <a:pt x="54" y="147"/>
                  </a:lnTo>
                  <a:lnTo>
                    <a:pt x="56" y="148"/>
                  </a:lnTo>
                  <a:lnTo>
                    <a:pt x="59" y="147"/>
                  </a:lnTo>
                  <a:lnTo>
                    <a:pt x="60" y="144"/>
                  </a:lnTo>
                  <a:lnTo>
                    <a:pt x="59" y="139"/>
                  </a:lnTo>
                  <a:lnTo>
                    <a:pt x="61" y="139"/>
                  </a:lnTo>
                  <a:lnTo>
                    <a:pt x="64" y="142"/>
                  </a:lnTo>
                  <a:lnTo>
                    <a:pt x="67" y="141"/>
                  </a:lnTo>
                  <a:lnTo>
                    <a:pt x="68" y="139"/>
                  </a:lnTo>
                  <a:lnTo>
                    <a:pt x="69" y="135"/>
                  </a:lnTo>
                  <a:lnTo>
                    <a:pt x="68" y="132"/>
                  </a:lnTo>
                  <a:lnTo>
                    <a:pt x="69" y="128"/>
                  </a:lnTo>
                  <a:lnTo>
                    <a:pt x="69" y="126"/>
                  </a:lnTo>
                  <a:lnTo>
                    <a:pt x="68" y="123"/>
                  </a:lnTo>
                  <a:lnTo>
                    <a:pt x="68" y="121"/>
                  </a:lnTo>
                  <a:lnTo>
                    <a:pt x="69" y="118"/>
                  </a:lnTo>
                  <a:lnTo>
                    <a:pt x="69" y="116"/>
                  </a:lnTo>
                  <a:lnTo>
                    <a:pt x="73" y="120"/>
                  </a:lnTo>
                  <a:lnTo>
                    <a:pt x="74" y="122"/>
                  </a:lnTo>
                  <a:lnTo>
                    <a:pt x="79" y="122"/>
                  </a:lnTo>
                  <a:lnTo>
                    <a:pt x="79" y="120"/>
                  </a:lnTo>
                  <a:lnTo>
                    <a:pt x="79" y="116"/>
                  </a:lnTo>
                  <a:lnTo>
                    <a:pt x="81" y="115"/>
                  </a:lnTo>
                  <a:lnTo>
                    <a:pt x="84" y="116"/>
                  </a:lnTo>
                  <a:lnTo>
                    <a:pt x="84" y="118"/>
                  </a:lnTo>
                  <a:lnTo>
                    <a:pt x="84" y="122"/>
                  </a:lnTo>
                  <a:lnTo>
                    <a:pt x="87" y="121"/>
                  </a:lnTo>
                  <a:lnTo>
                    <a:pt x="90" y="118"/>
                  </a:lnTo>
                  <a:lnTo>
                    <a:pt x="88" y="116"/>
                  </a:lnTo>
                  <a:lnTo>
                    <a:pt x="86" y="114"/>
                  </a:lnTo>
                  <a:lnTo>
                    <a:pt x="86" y="112"/>
                  </a:lnTo>
                  <a:lnTo>
                    <a:pt x="87" y="111"/>
                  </a:lnTo>
                  <a:lnTo>
                    <a:pt x="90" y="114"/>
                  </a:lnTo>
                  <a:lnTo>
                    <a:pt x="93" y="116"/>
                  </a:lnTo>
                  <a:lnTo>
                    <a:pt x="95" y="115"/>
                  </a:lnTo>
                  <a:lnTo>
                    <a:pt x="94" y="111"/>
                  </a:lnTo>
                  <a:lnTo>
                    <a:pt x="95" y="111"/>
                  </a:lnTo>
                  <a:lnTo>
                    <a:pt x="97" y="111"/>
                  </a:lnTo>
                  <a:lnTo>
                    <a:pt x="97" y="105"/>
                  </a:lnTo>
                  <a:lnTo>
                    <a:pt x="101" y="105"/>
                  </a:lnTo>
                  <a:lnTo>
                    <a:pt x="103" y="105"/>
                  </a:lnTo>
                  <a:lnTo>
                    <a:pt x="104" y="104"/>
                  </a:lnTo>
                  <a:lnTo>
                    <a:pt x="104" y="101"/>
                  </a:lnTo>
                  <a:lnTo>
                    <a:pt x="106" y="101"/>
                  </a:lnTo>
                  <a:lnTo>
                    <a:pt x="107" y="100"/>
                  </a:lnTo>
                  <a:lnTo>
                    <a:pt x="110" y="97"/>
                  </a:lnTo>
                  <a:lnTo>
                    <a:pt x="114" y="97"/>
                  </a:lnTo>
                  <a:lnTo>
                    <a:pt x="116" y="95"/>
                  </a:lnTo>
                  <a:lnTo>
                    <a:pt x="117" y="89"/>
                  </a:lnTo>
                  <a:lnTo>
                    <a:pt x="116" y="88"/>
                  </a:lnTo>
                  <a:lnTo>
                    <a:pt x="115" y="88"/>
                  </a:lnTo>
                  <a:lnTo>
                    <a:pt x="113" y="88"/>
                  </a:lnTo>
                  <a:lnTo>
                    <a:pt x="112" y="86"/>
                  </a:lnTo>
                  <a:lnTo>
                    <a:pt x="114" y="84"/>
                  </a:lnTo>
                  <a:lnTo>
                    <a:pt x="114" y="83"/>
                  </a:lnTo>
                  <a:lnTo>
                    <a:pt x="112" y="82"/>
                  </a:lnTo>
                  <a:lnTo>
                    <a:pt x="110" y="77"/>
                  </a:lnTo>
                  <a:lnTo>
                    <a:pt x="106" y="77"/>
                  </a:lnTo>
                  <a:lnTo>
                    <a:pt x="104" y="77"/>
                  </a:lnTo>
                  <a:lnTo>
                    <a:pt x="102" y="73"/>
                  </a:lnTo>
                  <a:lnTo>
                    <a:pt x="101" y="68"/>
                  </a:lnTo>
                  <a:lnTo>
                    <a:pt x="101" y="64"/>
                  </a:lnTo>
                  <a:lnTo>
                    <a:pt x="100" y="61"/>
                  </a:lnTo>
                  <a:lnTo>
                    <a:pt x="97" y="62"/>
                  </a:lnTo>
                  <a:lnTo>
                    <a:pt x="95" y="63"/>
                  </a:lnTo>
                  <a:lnTo>
                    <a:pt x="91" y="63"/>
                  </a:lnTo>
                  <a:lnTo>
                    <a:pt x="87" y="61"/>
                  </a:lnTo>
                  <a:lnTo>
                    <a:pt x="84" y="56"/>
                  </a:lnTo>
                  <a:lnTo>
                    <a:pt x="83" y="49"/>
                  </a:lnTo>
                  <a:lnTo>
                    <a:pt x="79" y="40"/>
                  </a:lnTo>
                  <a:lnTo>
                    <a:pt x="77" y="31"/>
                  </a:lnTo>
                  <a:lnTo>
                    <a:pt x="75" y="26"/>
                  </a:lnTo>
                  <a:lnTo>
                    <a:pt x="73" y="18"/>
                  </a:lnTo>
                  <a:lnTo>
                    <a:pt x="71" y="11"/>
                  </a:lnTo>
                  <a:lnTo>
                    <a:pt x="69" y="8"/>
                  </a:lnTo>
                  <a:lnTo>
                    <a:pt x="56" y="0"/>
                  </a:lnTo>
                  <a:lnTo>
                    <a:pt x="53" y="3"/>
                  </a:lnTo>
                  <a:lnTo>
                    <a:pt x="50" y="7"/>
                  </a:lnTo>
                  <a:lnTo>
                    <a:pt x="45" y="11"/>
                  </a:lnTo>
                  <a:lnTo>
                    <a:pt x="42" y="11"/>
                  </a:lnTo>
                  <a:lnTo>
                    <a:pt x="39" y="9"/>
                  </a:lnTo>
                  <a:lnTo>
                    <a:pt x="34" y="6"/>
                  </a:lnTo>
                  <a:lnTo>
                    <a:pt x="30" y="5"/>
                  </a:lnTo>
                  <a:lnTo>
                    <a:pt x="29" y="5"/>
                  </a:lnTo>
                  <a:lnTo>
                    <a:pt x="27" y="7"/>
                  </a:lnTo>
                  <a:lnTo>
                    <a:pt x="22" y="22"/>
                  </a:lnTo>
                  <a:lnTo>
                    <a:pt x="20" y="33"/>
                  </a:lnTo>
                  <a:lnTo>
                    <a:pt x="15" y="45"/>
                  </a:lnTo>
                  <a:lnTo>
                    <a:pt x="13" y="54"/>
                  </a:lnTo>
                  <a:lnTo>
                    <a:pt x="12" y="64"/>
                  </a:lnTo>
                  <a:lnTo>
                    <a:pt x="13" y="69"/>
                  </a:lnTo>
                  <a:lnTo>
                    <a:pt x="15" y="71"/>
                  </a:lnTo>
                  <a:lnTo>
                    <a:pt x="14" y="73"/>
                  </a:lnTo>
                  <a:lnTo>
                    <a:pt x="12" y="76"/>
                  </a:lnTo>
                  <a:lnTo>
                    <a:pt x="12" y="82"/>
                  </a:lnTo>
                  <a:lnTo>
                    <a:pt x="10" y="87"/>
                  </a:lnTo>
                  <a:lnTo>
                    <a:pt x="10" y="94"/>
                  </a:lnTo>
                  <a:lnTo>
                    <a:pt x="7" y="95"/>
                  </a:lnTo>
                  <a:lnTo>
                    <a:pt x="7" y="100"/>
                  </a:lnTo>
                  <a:lnTo>
                    <a:pt x="1" y="100"/>
                  </a:lnTo>
                  <a:lnTo>
                    <a:pt x="0" y="103"/>
                  </a:lnTo>
                  <a:lnTo>
                    <a:pt x="23" y="178"/>
                  </a:lnTo>
                  <a:lnTo>
                    <a:pt x="33" y="187"/>
                  </a:lnTo>
                  <a:close/>
                </a:path>
              </a:pathLst>
            </a:custGeom>
            <a:solidFill>
              <a:srgbClr val="AF0041"/>
            </a:solidFill>
            <a:ln w="6350" cap="flat">
              <a:solidFill>
                <a:schemeClr val="bg1"/>
              </a:solidFill>
              <a:prstDash val="solid"/>
              <a:miter lim="800000"/>
              <a:headEnd/>
              <a:tailEnd/>
            </a:ln>
          </p:spPr>
          <p:txBody>
            <a:bodyPr/>
            <a:lstStyle/>
            <a:p>
              <a:pPr defTabSz="1828272">
                <a:defRPr/>
              </a:pPr>
              <a:endParaRPr lang="en-US"/>
            </a:p>
          </p:txBody>
        </p:sp>
        <p:sp>
          <p:nvSpPr>
            <p:cNvPr id="196" name="Freeform 23"/>
            <p:cNvSpPr>
              <a:spLocks/>
            </p:cNvSpPr>
            <p:nvPr/>
          </p:nvSpPr>
          <p:spPr bwMode="auto">
            <a:xfrm>
              <a:off x="7517596" y="2002918"/>
              <a:ext cx="408119" cy="300187"/>
            </a:xfrm>
            <a:custGeom>
              <a:avLst/>
              <a:gdLst>
                <a:gd name="T0" fmla="*/ 10 w 242"/>
                <a:gd name="T1" fmla="*/ 136 h 178"/>
                <a:gd name="T2" fmla="*/ 16 w 242"/>
                <a:gd name="T3" fmla="*/ 129 h 178"/>
                <a:gd name="T4" fmla="*/ 22 w 242"/>
                <a:gd name="T5" fmla="*/ 124 h 178"/>
                <a:gd name="T6" fmla="*/ 22 w 242"/>
                <a:gd name="T7" fmla="*/ 119 h 178"/>
                <a:gd name="T8" fmla="*/ 14 w 242"/>
                <a:gd name="T9" fmla="*/ 102 h 178"/>
                <a:gd name="T10" fmla="*/ 31 w 242"/>
                <a:gd name="T11" fmla="*/ 96 h 178"/>
                <a:gd name="T12" fmla="*/ 47 w 242"/>
                <a:gd name="T13" fmla="*/ 96 h 178"/>
                <a:gd name="T14" fmla="*/ 56 w 242"/>
                <a:gd name="T15" fmla="*/ 96 h 178"/>
                <a:gd name="T16" fmla="*/ 67 w 242"/>
                <a:gd name="T17" fmla="*/ 93 h 178"/>
                <a:gd name="T18" fmla="*/ 83 w 242"/>
                <a:gd name="T19" fmla="*/ 83 h 178"/>
                <a:gd name="T20" fmla="*/ 93 w 242"/>
                <a:gd name="T21" fmla="*/ 77 h 178"/>
                <a:gd name="T22" fmla="*/ 93 w 242"/>
                <a:gd name="T23" fmla="*/ 71 h 178"/>
                <a:gd name="T24" fmla="*/ 93 w 242"/>
                <a:gd name="T25" fmla="*/ 63 h 178"/>
                <a:gd name="T26" fmla="*/ 89 w 242"/>
                <a:gd name="T27" fmla="*/ 61 h 178"/>
                <a:gd name="T28" fmla="*/ 85 w 242"/>
                <a:gd name="T29" fmla="*/ 55 h 178"/>
                <a:gd name="T30" fmla="*/ 98 w 242"/>
                <a:gd name="T31" fmla="*/ 44 h 178"/>
                <a:gd name="T32" fmla="*/ 102 w 242"/>
                <a:gd name="T33" fmla="*/ 33 h 178"/>
                <a:gd name="T34" fmla="*/ 116 w 242"/>
                <a:gd name="T35" fmla="*/ 15 h 178"/>
                <a:gd name="T36" fmla="*/ 130 w 242"/>
                <a:gd name="T37" fmla="*/ 8 h 178"/>
                <a:gd name="T38" fmla="*/ 147 w 242"/>
                <a:gd name="T39" fmla="*/ 2 h 178"/>
                <a:gd name="T40" fmla="*/ 163 w 242"/>
                <a:gd name="T41" fmla="*/ 5 h 178"/>
                <a:gd name="T42" fmla="*/ 165 w 242"/>
                <a:gd name="T43" fmla="*/ 16 h 178"/>
                <a:gd name="T44" fmla="*/ 171 w 242"/>
                <a:gd name="T45" fmla="*/ 24 h 178"/>
                <a:gd name="T46" fmla="*/ 171 w 242"/>
                <a:gd name="T47" fmla="*/ 34 h 178"/>
                <a:gd name="T48" fmla="*/ 174 w 242"/>
                <a:gd name="T49" fmla="*/ 48 h 178"/>
                <a:gd name="T50" fmla="*/ 181 w 242"/>
                <a:gd name="T51" fmla="*/ 59 h 178"/>
                <a:gd name="T52" fmla="*/ 184 w 242"/>
                <a:gd name="T53" fmla="*/ 79 h 178"/>
                <a:gd name="T54" fmla="*/ 188 w 242"/>
                <a:gd name="T55" fmla="*/ 89 h 178"/>
                <a:gd name="T56" fmla="*/ 188 w 242"/>
                <a:gd name="T57" fmla="*/ 120 h 178"/>
                <a:gd name="T58" fmla="*/ 192 w 242"/>
                <a:gd name="T59" fmla="*/ 146 h 178"/>
                <a:gd name="T60" fmla="*/ 192 w 242"/>
                <a:gd name="T61" fmla="*/ 158 h 178"/>
                <a:gd name="T62" fmla="*/ 186 w 242"/>
                <a:gd name="T63" fmla="*/ 171 h 178"/>
                <a:gd name="T64" fmla="*/ 198 w 242"/>
                <a:gd name="T65" fmla="*/ 166 h 178"/>
                <a:gd name="T66" fmla="*/ 206 w 242"/>
                <a:gd name="T67" fmla="*/ 160 h 178"/>
                <a:gd name="T68" fmla="*/ 217 w 242"/>
                <a:gd name="T69" fmla="*/ 158 h 178"/>
                <a:gd name="T70" fmla="*/ 225 w 242"/>
                <a:gd name="T71" fmla="*/ 153 h 178"/>
                <a:gd name="T72" fmla="*/ 225 w 242"/>
                <a:gd name="T73" fmla="*/ 157 h 178"/>
                <a:gd name="T74" fmla="*/ 233 w 242"/>
                <a:gd name="T75" fmla="*/ 151 h 178"/>
                <a:gd name="T76" fmla="*/ 240 w 242"/>
                <a:gd name="T77" fmla="*/ 149 h 178"/>
                <a:gd name="T78" fmla="*/ 233 w 242"/>
                <a:gd name="T79" fmla="*/ 157 h 178"/>
                <a:gd name="T80" fmla="*/ 219 w 242"/>
                <a:gd name="T81" fmla="*/ 166 h 178"/>
                <a:gd name="T82" fmla="*/ 206 w 242"/>
                <a:gd name="T83" fmla="*/ 173 h 178"/>
                <a:gd name="T84" fmla="*/ 189 w 242"/>
                <a:gd name="T85" fmla="*/ 178 h 178"/>
                <a:gd name="T86" fmla="*/ 182 w 242"/>
                <a:gd name="T87" fmla="*/ 171 h 178"/>
                <a:gd name="T88" fmla="*/ 180 w 242"/>
                <a:gd name="T89" fmla="*/ 165 h 178"/>
                <a:gd name="T90" fmla="*/ 155 w 242"/>
                <a:gd name="T91" fmla="*/ 158 h 178"/>
                <a:gd name="T92" fmla="*/ 154 w 242"/>
                <a:gd name="T93" fmla="*/ 151 h 178"/>
                <a:gd name="T94" fmla="*/ 148 w 242"/>
                <a:gd name="T95" fmla="*/ 150 h 178"/>
                <a:gd name="T96" fmla="*/ 140 w 242"/>
                <a:gd name="T97" fmla="*/ 138 h 178"/>
                <a:gd name="T98" fmla="*/ 2 w 242"/>
                <a:gd name="T99" fmla="*/ 156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2" h="178">
                  <a:moveTo>
                    <a:pt x="0" y="146"/>
                  </a:moveTo>
                  <a:lnTo>
                    <a:pt x="10" y="136"/>
                  </a:lnTo>
                  <a:lnTo>
                    <a:pt x="12" y="133"/>
                  </a:lnTo>
                  <a:lnTo>
                    <a:pt x="16" y="129"/>
                  </a:lnTo>
                  <a:lnTo>
                    <a:pt x="18" y="127"/>
                  </a:lnTo>
                  <a:lnTo>
                    <a:pt x="22" y="124"/>
                  </a:lnTo>
                  <a:lnTo>
                    <a:pt x="22" y="121"/>
                  </a:lnTo>
                  <a:lnTo>
                    <a:pt x="22" y="119"/>
                  </a:lnTo>
                  <a:lnTo>
                    <a:pt x="17" y="109"/>
                  </a:lnTo>
                  <a:lnTo>
                    <a:pt x="14" y="102"/>
                  </a:lnTo>
                  <a:lnTo>
                    <a:pt x="18" y="99"/>
                  </a:lnTo>
                  <a:lnTo>
                    <a:pt x="31" y="96"/>
                  </a:lnTo>
                  <a:lnTo>
                    <a:pt x="38" y="96"/>
                  </a:lnTo>
                  <a:lnTo>
                    <a:pt x="47" y="96"/>
                  </a:lnTo>
                  <a:lnTo>
                    <a:pt x="53" y="96"/>
                  </a:lnTo>
                  <a:lnTo>
                    <a:pt x="56" y="96"/>
                  </a:lnTo>
                  <a:lnTo>
                    <a:pt x="63" y="93"/>
                  </a:lnTo>
                  <a:lnTo>
                    <a:pt x="67" y="93"/>
                  </a:lnTo>
                  <a:lnTo>
                    <a:pt x="77" y="90"/>
                  </a:lnTo>
                  <a:lnTo>
                    <a:pt x="83" y="83"/>
                  </a:lnTo>
                  <a:lnTo>
                    <a:pt x="89" y="80"/>
                  </a:lnTo>
                  <a:lnTo>
                    <a:pt x="93" y="77"/>
                  </a:lnTo>
                  <a:lnTo>
                    <a:pt x="93" y="75"/>
                  </a:lnTo>
                  <a:lnTo>
                    <a:pt x="93" y="71"/>
                  </a:lnTo>
                  <a:lnTo>
                    <a:pt x="89" y="66"/>
                  </a:lnTo>
                  <a:lnTo>
                    <a:pt x="93" y="63"/>
                  </a:lnTo>
                  <a:lnTo>
                    <a:pt x="94" y="59"/>
                  </a:lnTo>
                  <a:lnTo>
                    <a:pt x="89" y="61"/>
                  </a:lnTo>
                  <a:lnTo>
                    <a:pt x="87" y="59"/>
                  </a:lnTo>
                  <a:lnTo>
                    <a:pt x="85" y="55"/>
                  </a:lnTo>
                  <a:lnTo>
                    <a:pt x="90" y="51"/>
                  </a:lnTo>
                  <a:lnTo>
                    <a:pt x="98" y="44"/>
                  </a:lnTo>
                  <a:lnTo>
                    <a:pt x="101" y="38"/>
                  </a:lnTo>
                  <a:lnTo>
                    <a:pt x="102" y="33"/>
                  </a:lnTo>
                  <a:lnTo>
                    <a:pt x="110" y="23"/>
                  </a:lnTo>
                  <a:lnTo>
                    <a:pt x="116" y="15"/>
                  </a:lnTo>
                  <a:lnTo>
                    <a:pt x="123" y="10"/>
                  </a:lnTo>
                  <a:lnTo>
                    <a:pt x="130" y="8"/>
                  </a:lnTo>
                  <a:lnTo>
                    <a:pt x="141" y="5"/>
                  </a:lnTo>
                  <a:lnTo>
                    <a:pt x="147" y="2"/>
                  </a:lnTo>
                  <a:lnTo>
                    <a:pt x="163" y="0"/>
                  </a:lnTo>
                  <a:lnTo>
                    <a:pt x="163" y="5"/>
                  </a:lnTo>
                  <a:lnTo>
                    <a:pt x="163" y="11"/>
                  </a:lnTo>
                  <a:lnTo>
                    <a:pt x="165" y="16"/>
                  </a:lnTo>
                  <a:lnTo>
                    <a:pt x="168" y="23"/>
                  </a:lnTo>
                  <a:lnTo>
                    <a:pt x="171" y="24"/>
                  </a:lnTo>
                  <a:lnTo>
                    <a:pt x="174" y="32"/>
                  </a:lnTo>
                  <a:lnTo>
                    <a:pt x="171" y="34"/>
                  </a:lnTo>
                  <a:lnTo>
                    <a:pt x="170" y="41"/>
                  </a:lnTo>
                  <a:lnTo>
                    <a:pt x="174" y="48"/>
                  </a:lnTo>
                  <a:lnTo>
                    <a:pt x="177" y="56"/>
                  </a:lnTo>
                  <a:lnTo>
                    <a:pt x="181" y="59"/>
                  </a:lnTo>
                  <a:lnTo>
                    <a:pt x="182" y="70"/>
                  </a:lnTo>
                  <a:lnTo>
                    <a:pt x="184" y="79"/>
                  </a:lnTo>
                  <a:lnTo>
                    <a:pt x="188" y="88"/>
                  </a:lnTo>
                  <a:lnTo>
                    <a:pt x="188" y="89"/>
                  </a:lnTo>
                  <a:lnTo>
                    <a:pt x="188" y="102"/>
                  </a:lnTo>
                  <a:lnTo>
                    <a:pt x="188" y="120"/>
                  </a:lnTo>
                  <a:lnTo>
                    <a:pt x="192" y="139"/>
                  </a:lnTo>
                  <a:lnTo>
                    <a:pt x="192" y="146"/>
                  </a:lnTo>
                  <a:lnTo>
                    <a:pt x="196" y="152"/>
                  </a:lnTo>
                  <a:lnTo>
                    <a:pt x="192" y="158"/>
                  </a:lnTo>
                  <a:lnTo>
                    <a:pt x="193" y="161"/>
                  </a:lnTo>
                  <a:lnTo>
                    <a:pt x="186" y="171"/>
                  </a:lnTo>
                  <a:lnTo>
                    <a:pt x="193" y="168"/>
                  </a:lnTo>
                  <a:lnTo>
                    <a:pt x="198" y="166"/>
                  </a:lnTo>
                  <a:lnTo>
                    <a:pt x="204" y="162"/>
                  </a:lnTo>
                  <a:lnTo>
                    <a:pt x="206" y="160"/>
                  </a:lnTo>
                  <a:lnTo>
                    <a:pt x="212" y="159"/>
                  </a:lnTo>
                  <a:lnTo>
                    <a:pt x="217" y="158"/>
                  </a:lnTo>
                  <a:lnTo>
                    <a:pt x="219" y="156"/>
                  </a:lnTo>
                  <a:lnTo>
                    <a:pt x="225" y="153"/>
                  </a:lnTo>
                  <a:lnTo>
                    <a:pt x="230" y="147"/>
                  </a:lnTo>
                  <a:lnTo>
                    <a:pt x="225" y="157"/>
                  </a:lnTo>
                  <a:lnTo>
                    <a:pt x="230" y="155"/>
                  </a:lnTo>
                  <a:lnTo>
                    <a:pt x="233" y="151"/>
                  </a:lnTo>
                  <a:lnTo>
                    <a:pt x="236" y="150"/>
                  </a:lnTo>
                  <a:lnTo>
                    <a:pt x="240" y="149"/>
                  </a:lnTo>
                  <a:lnTo>
                    <a:pt x="242" y="149"/>
                  </a:lnTo>
                  <a:lnTo>
                    <a:pt x="233" y="157"/>
                  </a:lnTo>
                  <a:lnTo>
                    <a:pt x="225" y="163"/>
                  </a:lnTo>
                  <a:lnTo>
                    <a:pt x="219" y="166"/>
                  </a:lnTo>
                  <a:lnTo>
                    <a:pt x="214" y="171"/>
                  </a:lnTo>
                  <a:lnTo>
                    <a:pt x="206" y="173"/>
                  </a:lnTo>
                  <a:lnTo>
                    <a:pt x="197" y="176"/>
                  </a:lnTo>
                  <a:lnTo>
                    <a:pt x="189" y="178"/>
                  </a:lnTo>
                  <a:lnTo>
                    <a:pt x="184" y="175"/>
                  </a:lnTo>
                  <a:lnTo>
                    <a:pt x="182" y="171"/>
                  </a:lnTo>
                  <a:lnTo>
                    <a:pt x="182" y="167"/>
                  </a:lnTo>
                  <a:lnTo>
                    <a:pt x="180" y="165"/>
                  </a:lnTo>
                  <a:lnTo>
                    <a:pt x="167" y="161"/>
                  </a:lnTo>
                  <a:lnTo>
                    <a:pt x="155" y="158"/>
                  </a:lnTo>
                  <a:lnTo>
                    <a:pt x="157" y="153"/>
                  </a:lnTo>
                  <a:lnTo>
                    <a:pt x="154" y="151"/>
                  </a:lnTo>
                  <a:lnTo>
                    <a:pt x="151" y="151"/>
                  </a:lnTo>
                  <a:lnTo>
                    <a:pt x="148" y="150"/>
                  </a:lnTo>
                  <a:lnTo>
                    <a:pt x="144" y="143"/>
                  </a:lnTo>
                  <a:lnTo>
                    <a:pt x="140" y="138"/>
                  </a:lnTo>
                  <a:lnTo>
                    <a:pt x="132" y="133"/>
                  </a:lnTo>
                  <a:lnTo>
                    <a:pt x="2" y="156"/>
                  </a:lnTo>
                  <a:lnTo>
                    <a:pt x="0" y="146"/>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7" name="Freeform 24"/>
            <p:cNvSpPr>
              <a:spLocks/>
            </p:cNvSpPr>
            <p:nvPr/>
          </p:nvSpPr>
          <p:spPr bwMode="auto">
            <a:xfrm>
              <a:off x="7792486" y="1982680"/>
              <a:ext cx="94441" cy="170331"/>
            </a:xfrm>
            <a:custGeom>
              <a:avLst/>
              <a:gdLst>
                <a:gd name="T0" fmla="*/ 0 w 56"/>
                <a:gd name="T1" fmla="*/ 23 h 101"/>
                <a:gd name="T2" fmla="*/ 2 w 56"/>
                <a:gd name="T3" fmla="*/ 28 h 101"/>
                <a:gd name="T4" fmla="*/ 5 w 56"/>
                <a:gd name="T5" fmla="*/ 35 h 101"/>
                <a:gd name="T6" fmla="*/ 8 w 56"/>
                <a:gd name="T7" fmla="*/ 36 h 101"/>
                <a:gd name="T8" fmla="*/ 11 w 56"/>
                <a:gd name="T9" fmla="*/ 44 h 101"/>
                <a:gd name="T10" fmla="*/ 8 w 56"/>
                <a:gd name="T11" fmla="*/ 46 h 101"/>
                <a:gd name="T12" fmla="*/ 7 w 56"/>
                <a:gd name="T13" fmla="*/ 53 h 101"/>
                <a:gd name="T14" fmla="*/ 11 w 56"/>
                <a:gd name="T15" fmla="*/ 60 h 101"/>
                <a:gd name="T16" fmla="*/ 14 w 56"/>
                <a:gd name="T17" fmla="*/ 68 h 101"/>
                <a:gd name="T18" fmla="*/ 18 w 56"/>
                <a:gd name="T19" fmla="*/ 71 h 101"/>
                <a:gd name="T20" fmla="*/ 19 w 56"/>
                <a:gd name="T21" fmla="*/ 82 h 101"/>
                <a:gd name="T22" fmla="*/ 21 w 56"/>
                <a:gd name="T23" fmla="*/ 91 h 101"/>
                <a:gd name="T24" fmla="*/ 25 w 56"/>
                <a:gd name="T25" fmla="*/ 100 h 101"/>
                <a:gd name="T26" fmla="*/ 25 w 56"/>
                <a:gd name="T27" fmla="*/ 101 h 101"/>
                <a:gd name="T28" fmla="*/ 47 w 56"/>
                <a:gd name="T29" fmla="*/ 98 h 101"/>
                <a:gd name="T30" fmla="*/ 45 w 56"/>
                <a:gd name="T31" fmla="*/ 91 h 101"/>
                <a:gd name="T32" fmla="*/ 46 w 56"/>
                <a:gd name="T33" fmla="*/ 82 h 101"/>
                <a:gd name="T34" fmla="*/ 45 w 56"/>
                <a:gd name="T35" fmla="*/ 71 h 101"/>
                <a:gd name="T36" fmla="*/ 44 w 56"/>
                <a:gd name="T37" fmla="*/ 60 h 101"/>
                <a:gd name="T38" fmla="*/ 47 w 56"/>
                <a:gd name="T39" fmla="*/ 45 h 101"/>
                <a:gd name="T40" fmla="*/ 47 w 56"/>
                <a:gd name="T41" fmla="*/ 32 h 101"/>
                <a:gd name="T42" fmla="*/ 56 w 56"/>
                <a:gd name="T43" fmla="*/ 25 h 101"/>
                <a:gd name="T44" fmla="*/ 56 w 56"/>
                <a:gd name="T45" fmla="*/ 21 h 101"/>
                <a:gd name="T46" fmla="*/ 53 w 56"/>
                <a:gd name="T47" fmla="*/ 17 h 101"/>
                <a:gd name="T48" fmla="*/ 53 w 56"/>
                <a:gd name="T49" fmla="*/ 12 h 101"/>
                <a:gd name="T50" fmla="*/ 53 w 56"/>
                <a:gd name="T51" fmla="*/ 4 h 101"/>
                <a:gd name="T52" fmla="*/ 50 w 56"/>
                <a:gd name="T53" fmla="*/ 0 h 101"/>
                <a:gd name="T54" fmla="*/ 43 w 56"/>
                <a:gd name="T55" fmla="*/ 2 h 101"/>
                <a:gd name="T56" fmla="*/ 36 w 56"/>
                <a:gd name="T57" fmla="*/ 4 h 101"/>
                <a:gd name="T58" fmla="*/ 22 w 56"/>
                <a:gd name="T59" fmla="*/ 6 h 101"/>
                <a:gd name="T60" fmla="*/ 15 w 56"/>
                <a:gd name="T61" fmla="*/ 8 h 101"/>
                <a:gd name="T62" fmla="*/ 5 w 56"/>
                <a:gd name="T63" fmla="*/ 12 h 101"/>
                <a:gd name="T64" fmla="*/ 0 w 56"/>
                <a:gd name="T65" fmla="*/ 12 h 101"/>
                <a:gd name="T66" fmla="*/ 0 w 56"/>
                <a:gd name="T67" fmla="*/ 17 h 101"/>
                <a:gd name="T68" fmla="*/ 0 w 56"/>
                <a:gd name="T69" fmla="*/ 2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6" h="101">
                  <a:moveTo>
                    <a:pt x="0" y="23"/>
                  </a:moveTo>
                  <a:lnTo>
                    <a:pt x="2" y="28"/>
                  </a:lnTo>
                  <a:lnTo>
                    <a:pt x="5" y="35"/>
                  </a:lnTo>
                  <a:lnTo>
                    <a:pt x="8" y="36"/>
                  </a:lnTo>
                  <a:lnTo>
                    <a:pt x="11" y="44"/>
                  </a:lnTo>
                  <a:lnTo>
                    <a:pt x="8" y="46"/>
                  </a:lnTo>
                  <a:lnTo>
                    <a:pt x="7" y="53"/>
                  </a:lnTo>
                  <a:lnTo>
                    <a:pt x="11" y="60"/>
                  </a:lnTo>
                  <a:lnTo>
                    <a:pt x="14" y="68"/>
                  </a:lnTo>
                  <a:lnTo>
                    <a:pt x="18" y="71"/>
                  </a:lnTo>
                  <a:lnTo>
                    <a:pt x="19" y="82"/>
                  </a:lnTo>
                  <a:lnTo>
                    <a:pt x="21" y="91"/>
                  </a:lnTo>
                  <a:lnTo>
                    <a:pt x="25" y="100"/>
                  </a:lnTo>
                  <a:lnTo>
                    <a:pt x="25" y="101"/>
                  </a:lnTo>
                  <a:lnTo>
                    <a:pt x="47" y="98"/>
                  </a:lnTo>
                  <a:lnTo>
                    <a:pt x="45" y="91"/>
                  </a:lnTo>
                  <a:lnTo>
                    <a:pt x="46" y="82"/>
                  </a:lnTo>
                  <a:lnTo>
                    <a:pt x="45" y="71"/>
                  </a:lnTo>
                  <a:lnTo>
                    <a:pt x="44" y="60"/>
                  </a:lnTo>
                  <a:lnTo>
                    <a:pt x="47" y="45"/>
                  </a:lnTo>
                  <a:lnTo>
                    <a:pt x="47" y="32"/>
                  </a:lnTo>
                  <a:lnTo>
                    <a:pt x="56" y="25"/>
                  </a:lnTo>
                  <a:lnTo>
                    <a:pt x="56" y="21"/>
                  </a:lnTo>
                  <a:lnTo>
                    <a:pt x="53" y="17"/>
                  </a:lnTo>
                  <a:lnTo>
                    <a:pt x="53" y="12"/>
                  </a:lnTo>
                  <a:lnTo>
                    <a:pt x="53" y="4"/>
                  </a:lnTo>
                  <a:lnTo>
                    <a:pt x="50" y="0"/>
                  </a:lnTo>
                  <a:lnTo>
                    <a:pt x="43" y="2"/>
                  </a:lnTo>
                  <a:lnTo>
                    <a:pt x="36" y="4"/>
                  </a:lnTo>
                  <a:lnTo>
                    <a:pt x="22" y="6"/>
                  </a:lnTo>
                  <a:lnTo>
                    <a:pt x="15" y="8"/>
                  </a:lnTo>
                  <a:lnTo>
                    <a:pt x="5" y="12"/>
                  </a:lnTo>
                  <a:lnTo>
                    <a:pt x="0" y="12"/>
                  </a:lnTo>
                  <a:lnTo>
                    <a:pt x="0" y="17"/>
                  </a:lnTo>
                  <a:lnTo>
                    <a:pt x="0" y="23"/>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8" name="Freeform 25"/>
            <p:cNvSpPr>
              <a:spLocks/>
            </p:cNvSpPr>
            <p:nvPr/>
          </p:nvSpPr>
          <p:spPr bwMode="auto">
            <a:xfrm>
              <a:off x="7866689" y="1960756"/>
              <a:ext cx="84322" cy="187195"/>
            </a:xfrm>
            <a:custGeom>
              <a:avLst/>
              <a:gdLst>
                <a:gd name="T0" fmla="*/ 18 w 50"/>
                <a:gd name="T1" fmla="*/ 0 h 111"/>
                <a:gd name="T2" fmla="*/ 14 w 50"/>
                <a:gd name="T3" fmla="*/ 1 h 111"/>
                <a:gd name="T4" fmla="*/ 9 w 50"/>
                <a:gd name="T5" fmla="*/ 1 h 111"/>
                <a:gd name="T6" fmla="*/ 9 w 50"/>
                <a:gd name="T7" fmla="*/ 6 h 111"/>
                <a:gd name="T8" fmla="*/ 8 w 50"/>
                <a:gd name="T9" fmla="*/ 9 h 111"/>
                <a:gd name="T10" fmla="*/ 6 w 50"/>
                <a:gd name="T11" fmla="*/ 13 h 111"/>
                <a:gd name="T12" fmla="*/ 9 w 50"/>
                <a:gd name="T13" fmla="*/ 17 h 111"/>
                <a:gd name="T14" fmla="*/ 9 w 50"/>
                <a:gd name="T15" fmla="*/ 25 h 111"/>
                <a:gd name="T16" fmla="*/ 9 w 50"/>
                <a:gd name="T17" fmla="*/ 30 h 111"/>
                <a:gd name="T18" fmla="*/ 12 w 50"/>
                <a:gd name="T19" fmla="*/ 34 h 111"/>
                <a:gd name="T20" fmla="*/ 12 w 50"/>
                <a:gd name="T21" fmla="*/ 38 h 111"/>
                <a:gd name="T22" fmla="*/ 3 w 50"/>
                <a:gd name="T23" fmla="*/ 45 h 111"/>
                <a:gd name="T24" fmla="*/ 3 w 50"/>
                <a:gd name="T25" fmla="*/ 58 h 111"/>
                <a:gd name="T26" fmla="*/ 0 w 50"/>
                <a:gd name="T27" fmla="*/ 73 h 111"/>
                <a:gd name="T28" fmla="*/ 1 w 50"/>
                <a:gd name="T29" fmla="*/ 84 h 111"/>
                <a:gd name="T30" fmla="*/ 2 w 50"/>
                <a:gd name="T31" fmla="*/ 95 h 111"/>
                <a:gd name="T32" fmla="*/ 1 w 50"/>
                <a:gd name="T33" fmla="*/ 104 h 111"/>
                <a:gd name="T34" fmla="*/ 3 w 50"/>
                <a:gd name="T35" fmla="*/ 111 h 111"/>
                <a:gd name="T36" fmla="*/ 40 w 50"/>
                <a:gd name="T37" fmla="*/ 102 h 111"/>
                <a:gd name="T38" fmla="*/ 41 w 50"/>
                <a:gd name="T39" fmla="*/ 97 h 111"/>
                <a:gd name="T40" fmla="*/ 49 w 50"/>
                <a:gd name="T41" fmla="*/ 94 h 111"/>
                <a:gd name="T42" fmla="*/ 48 w 50"/>
                <a:gd name="T43" fmla="*/ 91 h 111"/>
                <a:gd name="T44" fmla="*/ 50 w 50"/>
                <a:gd name="T45" fmla="*/ 83 h 111"/>
                <a:gd name="T46" fmla="*/ 50 w 50"/>
                <a:gd name="T47" fmla="*/ 83 h 111"/>
                <a:gd name="T48" fmla="*/ 41 w 50"/>
                <a:gd name="T49" fmla="*/ 75 h 111"/>
                <a:gd name="T50" fmla="*/ 18 w 50"/>
                <a:gd name="T51"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111">
                  <a:moveTo>
                    <a:pt x="18" y="0"/>
                  </a:moveTo>
                  <a:lnTo>
                    <a:pt x="14" y="1"/>
                  </a:lnTo>
                  <a:lnTo>
                    <a:pt x="9" y="1"/>
                  </a:lnTo>
                  <a:lnTo>
                    <a:pt x="9" y="6"/>
                  </a:lnTo>
                  <a:lnTo>
                    <a:pt x="8" y="9"/>
                  </a:lnTo>
                  <a:lnTo>
                    <a:pt x="6" y="13"/>
                  </a:lnTo>
                  <a:lnTo>
                    <a:pt x="9" y="17"/>
                  </a:lnTo>
                  <a:lnTo>
                    <a:pt x="9" y="25"/>
                  </a:lnTo>
                  <a:lnTo>
                    <a:pt x="9" y="30"/>
                  </a:lnTo>
                  <a:lnTo>
                    <a:pt x="12" y="34"/>
                  </a:lnTo>
                  <a:lnTo>
                    <a:pt x="12" y="38"/>
                  </a:lnTo>
                  <a:lnTo>
                    <a:pt x="3" y="45"/>
                  </a:lnTo>
                  <a:lnTo>
                    <a:pt x="3" y="58"/>
                  </a:lnTo>
                  <a:lnTo>
                    <a:pt x="0" y="73"/>
                  </a:lnTo>
                  <a:lnTo>
                    <a:pt x="1" y="84"/>
                  </a:lnTo>
                  <a:lnTo>
                    <a:pt x="2" y="95"/>
                  </a:lnTo>
                  <a:lnTo>
                    <a:pt x="1" y="104"/>
                  </a:lnTo>
                  <a:lnTo>
                    <a:pt x="3" y="111"/>
                  </a:lnTo>
                  <a:lnTo>
                    <a:pt x="40" y="102"/>
                  </a:lnTo>
                  <a:lnTo>
                    <a:pt x="41" y="97"/>
                  </a:lnTo>
                  <a:lnTo>
                    <a:pt x="49" y="94"/>
                  </a:lnTo>
                  <a:lnTo>
                    <a:pt x="48" y="91"/>
                  </a:lnTo>
                  <a:lnTo>
                    <a:pt x="50" y="83"/>
                  </a:lnTo>
                  <a:lnTo>
                    <a:pt x="50" y="83"/>
                  </a:lnTo>
                  <a:lnTo>
                    <a:pt x="41" y="75"/>
                  </a:lnTo>
                  <a:lnTo>
                    <a:pt x="18" y="0"/>
                  </a:lnTo>
                  <a:close/>
                </a:path>
              </a:pathLst>
            </a:custGeom>
            <a:solidFill>
              <a:srgbClr val="AF0041"/>
            </a:solidFill>
            <a:ln w="6350" cap="flat">
              <a:solidFill>
                <a:schemeClr val="bg1"/>
              </a:solidFill>
              <a:prstDash val="solid"/>
              <a:miter lim="800000"/>
              <a:headEnd/>
              <a:tailEnd/>
            </a:ln>
          </p:spPr>
          <p:txBody>
            <a:bodyPr/>
            <a:lstStyle/>
            <a:p>
              <a:pPr defTabSz="1828272">
                <a:defRPr/>
              </a:pPr>
              <a:endParaRPr lang="en-US"/>
            </a:p>
          </p:txBody>
        </p:sp>
        <p:sp>
          <p:nvSpPr>
            <p:cNvPr id="199" name="Freeform 26"/>
            <p:cNvSpPr>
              <a:spLocks/>
            </p:cNvSpPr>
            <p:nvPr/>
          </p:nvSpPr>
          <p:spPr bwMode="auto">
            <a:xfrm>
              <a:off x="7834648" y="2188426"/>
              <a:ext cx="94441" cy="86009"/>
            </a:xfrm>
            <a:custGeom>
              <a:avLst/>
              <a:gdLst>
                <a:gd name="T0" fmla="*/ 4 w 56"/>
                <a:gd name="T1" fmla="*/ 29 h 51"/>
                <a:gd name="T2" fmla="*/ 4 w 56"/>
                <a:gd name="T3" fmla="*/ 36 h 51"/>
                <a:gd name="T4" fmla="*/ 8 w 56"/>
                <a:gd name="T5" fmla="*/ 42 h 51"/>
                <a:gd name="T6" fmla="*/ 4 w 56"/>
                <a:gd name="T7" fmla="*/ 48 h 51"/>
                <a:gd name="T8" fmla="*/ 5 w 56"/>
                <a:gd name="T9" fmla="*/ 51 h 51"/>
                <a:gd name="T10" fmla="*/ 9 w 56"/>
                <a:gd name="T11" fmla="*/ 50 h 51"/>
                <a:gd name="T12" fmla="*/ 13 w 56"/>
                <a:gd name="T13" fmla="*/ 45 h 51"/>
                <a:gd name="T14" fmla="*/ 15 w 56"/>
                <a:gd name="T15" fmla="*/ 44 h 51"/>
                <a:gd name="T16" fmla="*/ 20 w 56"/>
                <a:gd name="T17" fmla="*/ 39 h 51"/>
                <a:gd name="T18" fmla="*/ 25 w 56"/>
                <a:gd name="T19" fmla="*/ 36 h 51"/>
                <a:gd name="T20" fmla="*/ 33 w 56"/>
                <a:gd name="T21" fmla="*/ 36 h 51"/>
                <a:gd name="T22" fmla="*/ 37 w 56"/>
                <a:gd name="T23" fmla="*/ 34 h 51"/>
                <a:gd name="T24" fmla="*/ 39 w 56"/>
                <a:gd name="T25" fmla="*/ 32 h 51"/>
                <a:gd name="T26" fmla="*/ 44 w 56"/>
                <a:gd name="T27" fmla="*/ 30 h 51"/>
                <a:gd name="T28" fmla="*/ 49 w 56"/>
                <a:gd name="T29" fmla="*/ 28 h 51"/>
                <a:gd name="T30" fmla="*/ 55 w 56"/>
                <a:gd name="T31" fmla="*/ 28 h 51"/>
                <a:gd name="T32" fmla="*/ 56 w 56"/>
                <a:gd name="T33" fmla="*/ 26 h 51"/>
                <a:gd name="T34" fmla="*/ 50 w 56"/>
                <a:gd name="T35" fmla="*/ 0 h 51"/>
                <a:gd name="T36" fmla="*/ 24 w 56"/>
                <a:gd name="T37" fmla="*/ 5 h 51"/>
                <a:gd name="T38" fmla="*/ 0 w 56"/>
                <a:gd name="T39" fmla="*/ 9 h 51"/>
                <a:gd name="T40" fmla="*/ 0 w 56"/>
                <a:gd name="T41" fmla="*/ 10 h 51"/>
                <a:gd name="T42" fmla="*/ 4 w 56"/>
                <a:gd name="T43" fmla="*/ 2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51">
                  <a:moveTo>
                    <a:pt x="4" y="29"/>
                  </a:moveTo>
                  <a:lnTo>
                    <a:pt x="4" y="36"/>
                  </a:lnTo>
                  <a:lnTo>
                    <a:pt x="8" y="42"/>
                  </a:lnTo>
                  <a:lnTo>
                    <a:pt x="4" y="48"/>
                  </a:lnTo>
                  <a:lnTo>
                    <a:pt x="5" y="51"/>
                  </a:lnTo>
                  <a:lnTo>
                    <a:pt x="9" y="50"/>
                  </a:lnTo>
                  <a:lnTo>
                    <a:pt x="13" y="45"/>
                  </a:lnTo>
                  <a:lnTo>
                    <a:pt x="15" y="44"/>
                  </a:lnTo>
                  <a:lnTo>
                    <a:pt x="20" y="39"/>
                  </a:lnTo>
                  <a:lnTo>
                    <a:pt x="25" y="36"/>
                  </a:lnTo>
                  <a:lnTo>
                    <a:pt x="33" y="36"/>
                  </a:lnTo>
                  <a:lnTo>
                    <a:pt x="37" y="34"/>
                  </a:lnTo>
                  <a:lnTo>
                    <a:pt x="39" y="32"/>
                  </a:lnTo>
                  <a:lnTo>
                    <a:pt x="44" y="30"/>
                  </a:lnTo>
                  <a:lnTo>
                    <a:pt x="49" y="28"/>
                  </a:lnTo>
                  <a:lnTo>
                    <a:pt x="55" y="28"/>
                  </a:lnTo>
                  <a:lnTo>
                    <a:pt x="56" y="26"/>
                  </a:lnTo>
                  <a:lnTo>
                    <a:pt x="50" y="0"/>
                  </a:lnTo>
                  <a:lnTo>
                    <a:pt x="24" y="5"/>
                  </a:lnTo>
                  <a:lnTo>
                    <a:pt x="0" y="9"/>
                  </a:lnTo>
                  <a:lnTo>
                    <a:pt x="0" y="10"/>
                  </a:lnTo>
                  <a:lnTo>
                    <a:pt x="4" y="29"/>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0" name="Freeform 27"/>
            <p:cNvSpPr>
              <a:spLocks/>
            </p:cNvSpPr>
            <p:nvPr/>
          </p:nvSpPr>
          <p:spPr bwMode="auto">
            <a:xfrm>
              <a:off x="7918970" y="2179993"/>
              <a:ext cx="40475" cy="52280"/>
            </a:xfrm>
            <a:custGeom>
              <a:avLst/>
              <a:gdLst>
                <a:gd name="T0" fmla="*/ 23 w 24"/>
                <a:gd name="T1" fmla="*/ 15 h 31"/>
                <a:gd name="T2" fmla="*/ 21 w 24"/>
                <a:gd name="T3" fmla="*/ 13 h 31"/>
                <a:gd name="T4" fmla="*/ 21 w 24"/>
                <a:gd name="T5" fmla="*/ 12 h 31"/>
                <a:gd name="T6" fmla="*/ 18 w 24"/>
                <a:gd name="T7" fmla="*/ 11 h 31"/>
                <a:gd name="T8" fmla="*/ 16 w 24"/>
                <a:gd name="T9" fmla="*/ 10 h 31"/>
                <a:gd name="T10" fmla="*/ 16 w 24"/>
                <a:gd name="T11" fmla="*/ 7 h 31"/>
                <a:gd name="T12" fmla="*/ 13 w 24"/>
                <a:gd name="T13" fmla="*/ 5 h 31"/>
                <a:gd name="T14" fmla="*/ 10 w 24"/>
                <a:gd name="T15" fmla="*/ 0 h 31"/>
                <a:gd name="T16" fmla="*/ 0 w 24"/>
                <a:gd name="T17" fmla="*/ 5 h 31"/>
                <a:gd name="T18" fmla="*/ 6 w 24"/>
                <a:gd name="T19" fmla="*/ 31 h 31"/>
                <a:gd name="T20" fmla="*/ 8 w 24"/>
                <a:gd name="T21" fmla="*/ 29 h 31"/>
                <a:gd name="T22" fmla="*/ 10 w 24"/>
                <a:gd name="T23" fmla="*/ 28 h 31"/>
                <a:gd name="T24" fmla="*/ 14 w 24"/>
                <a:gd name="T25" fmla="*/ 26 h 31"/>
                <a:gd name="T26" fmla="*/ 14 w 24"/>
                <a:gd name="T27" fmla="*/ 23 h 31"/>
                <a:gd name="T28" fmla="*/ 14 w 24"/>
                <a:gd name="T29" fmla="*/ 22 h 31"/>
                <a:gd name="T30" fmla="*/ 14 w 24"/>
                <a:gd name="T31" fmla="*/ 20 h 31"/>
                <a:gd name="T32" fmla="*/ 14 w 24"/>
                <a:gd name="T33" fmla="*/ 17 h 31"/>
                <a:gd name="T34" fmla="*/ 14 w 24"/>
                <a:gd name="T35" fmla="*/ 15 h 31"/>
                <a:gd name="T36" fmla="*/ 14 w 24"/>
                <a:gd name="T37" fmla="*/ 14 h 31"/>
                <a:gd name="T38" fmla="*/ 15 w 24"/>
                <a:gd name="T39" fmla="*/ 13 h 31"/>
                <a:gd name="T40" fmla="*/ 16 w 24"/>
                <a:gd name="T41" fmla="*/ 13 h 31"/>
                <a:gd name="T42" fmla="*/ 19 w 24"/>
                <a:gd name="T43" fmla="*/ 14 h 31"/>
                <a:gd name="T44" fmla="*/ 19 w 24"/>
                <a:gd name="T45" fmla="*/ 16 h 31"/>
                <a:gd name="T46" fmla="*/ 21 w 24"/>
                <a:gd name="T47" fmla="*/ 20 h 31"/>
                <a:gd name="T48" fmla="*/ 21 w 24"/>
                <a:gd name="T49" fmla="*/ 21 h 31"/>
                <a:gd name="T50" fmla="*/ 22 w 24"/>
                <a:gd name="T51" fmla="*/ 22 h 31"/>
                <a:gd name="T52" fmla="*/ 24 w 24"/>
                <a:gd name="T53" fmla="*/ 21 h 31"/>
                <a:gd name="T54" fmla="*/ 24 w 24"/>
                <a:gd name="T55" fmla="*/ 20 h 31"/>
                <a:gd name="T56" fmla="*/ 24 w 24"/>
                <a:gd name="T57" fmla="*/ 19 h 31"/>
                <a:gd name="T58" fmla="*/ 23 w 24"/>
                <a:gd name="T5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4" h="31">
                  <a:moveTo>
                    <a:pt x="23" y="15"/>
                  </a:moveTo>
                  <a:lnTo>
                    <a:pt x="21" y="13"/>
                  </a:lnTo>
                  <a:lnTo>
                    <a:pt x="21" y="12"/>
                  </a:lnTo>
                  <a:lnTo>
                    <a:pt x="18" y="11"/>
                  </a:lnTo>
                  <a:lnTo>
                    <a:pt x="16" y="10"/>
                  </a:lnTo>
                  <a:lnTo>
                    <a:pt x="16" y="7"/>
                  </a:lnTo>
                  <a:lnTo>
                    <a:pt x="13" y="5"/>
                  </a:lnTo>
                  <a:lnTo>
                    <a:pt x="10" y="0"/>
                  </a:lnTo>
                  <a:lnTo>
                    <a:pt x="0" y="5"/>
                  </a:lnTo>
                  <a:lnTo>
                    <a:pt x="6" y="31"/>
                  </a:lnTo>
                  <a:lnTo>
                    <a:pt x="8" y="29"/>
                  </a:lnTo>
                  <a:lnTo>
                    <a:pt x="10" y="28"/>
                  </a:lnTo>
                  <a:lnTo>
                    <a:pt x="14" y="26"/>
                  </a:lnTo>
                  <a:lnTo>
                    <a:pt x="14" y="23"/>
                  </a:lnTo>
                  <a:lnTo>
                    <a:pt x="14" y="22"/>
                  </a:lnTo>
                  <a:lnTo>
                    <a:pt x="14" y="20"/>
                  </a:lnTo>
                  <a:lnTo>
                    <a:pt x="14" y="17"/>
                  </a:lnTo>
                  <a:lnTo>
                    <a:pt x="14" y="15"/>
                  </a:lnTo>
                  <a:lnTo>
                    <a:pt x="14" y="14"/>
                  </a:lnTo>
                  <a:lnTo>
                    <a:pt x="15" y="13"/>
                  </a:lnTo>
                  <a:lnTo>
                    <a:pt x="16" y="13"/>
                  </a:lnTo>
                  <a:lnTo>
                    <a:pt x="19" y="14"/>
                  </a:lnTo>
                  <a:lnTo>
                    <a:pt x="19" y="16"/>
                  </a:lnTo>
                  <a:lnTo>
                    <a:pt x="21" y="20"/>
                  </a:lnTo>
                  <a:lnTo>
                    <a:pt x="21" y="21"/>
                  </a:lnTo>
                  <a:lnTo>
                    <a:pt x="22" y="22"/>
                  </a:lnTo>
                  <a:lnTo>
                    <a:pt x="24" y="21"/>
                  </a:lnTo>
                  <a:lnTo>
                    <a:pt x="24" y="20"/>
                  </a:lnTo>
                  <a:lnTo>
                    <a:pt x="24" y="19"/>
                  </a:lnTo>
                  <a:lnTo>
                    <a:pt x="23" y="15"/>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1" name="Freeform 28"/>
            <p:cNvSpPr>
              <a:spLocks/>
            </p:cNvSpPr>
            <p:nvPr/>
          </p:nvSpPr>
          <p:spPr bwMode="auto">
            <a:xfrm>
              <a:off x="7834648" y="2119281"/>
              <a:ext cx="183822" cy="92755"/>
            </a:xfrm>
            <a:custGeom>
              <a:avLst/>
              <a:gdLst>
                <a:gd name="T0" fmla="*/ 105 w 109"/>
                <a:gd name="T1" fmla="*/ 32 h 55"/>
                <a:gd name="T2" fmla="*/ 101 w 109"/>
                <a:gd name="T3" fmla="*/ 29 h 55"/>
                <a:gd name="T4" fmla="*/ 97 w 109"/>
                <a:gd name="T5" fmla="*/ 25 h 55"/>
                <a:gd name="T6" fmla="*/ 97 w 109"/>
                <a:gd name="T7" fmla="*/ 29 h 55"/>
                <a:gd name="T8" fmla="*/ 102 w 109"/>
                <a:gd name="T9" fmla="*/ 35 h 55"/>
                <a:gd name="T10" fmla="*/ 95 w 109"/>
                <a:gd name="T11" fmla="*/ 36 h 55"/>
                <a:gd name="T12" fmla="*/ 88 w 109"/>
                <a:gd name="T13" fmla="*/ 37 h 55"/>
                <a:gd name="T14" fmla="*/ 85 w 109"/>
                <a:gd name="T15" fmla="*/ 35 h 55"/>
                <a:gd name="T16" fmla="*/ 81 w 109"/>
                <a:gd name="T17" fmla="*/ 32 h 55"/>
                <a:gd name="T18" fmla="*/ 81 w 109"/>
                <a:gd name="T19" fmla="*/ 27 h 55"/>
                <a:gd name="T20" fmla="*/ 73 w 109"/>
                <a:gd name="T21" fmla="*/ 22 h 55"/>
                <a:gd name="T22" fmla="*/ 69 w 109"/>
                <a:gd name="T23" fmla="*/ 22 h 55"/>
                <a:gd name="T24" fmla="*/ 68 w 109"/>
                <a:gd name="T25" fmla="*/ 16 h 55"/>
                <a:gd name="T26" fmla="*/ 71 w 109"/>
                <a:gd name="T27" fmla="*/ 13 h 55"/>
                <a:gd name="T28" fmla="*/ 77 w 109"/>
                <a:gd name="T29" fmla="*/ 9 h 55"/>
                <a:gd name="T30" fmla="*/ 76 w 109"/>
                <a:gd name="T31" fmla="*/ 6 h 55"/>
                <a:gd name="T32" fmla="*/ 71 w 109"/>
                <a:gd name="T33" fmla="*/ 6 h 55"/>
                <a:gd name="T34" fmla="*/ 68 w 109"/>
                <a:gd name="T35" fmla="*/ 0 h 55"/>
                <a:gd name="T36" fmla="*/ 59 w 109"/>
                <a:gd name="T37" fmla="*/ 8 h 55"/>
                <a:gd name="T38" fmla="*/ 0 w 109"/>
                <a:gd name="T39" fmla="*/ 20 h 55"/>
                <a:gd name="T40" fmla="*/ 0 w 109"/>
                <a:gd name="T41" fmla="*/ 50 h 55"/>
                <a:gd name="T42" fmla="*/ 50 w 109"/>
                <a:gd name="T43" fmla="*/ 41 h 55"/>
                <a:gd name="T44" fmla="*/ 63 w 109"/>
                <a:gd name="T45" fmla="*/ 41 h 55"/>
                <a:gd name="T46" fmla="*/ 66 w 109"/>
                <a:gd name="T47" fmla="*/ 46 h 55"/>
                <a:gd name="T48" fmla="*/ 71 w 109"/>
                <a:gd name="T49" fmla="*/ 48 h 55"/>
                <a:gd name="T50" fmla="*/ 73 w 109"/>
                <a:gd name="T51" fmla="*/ 51 h 55"/>
                <a:gd name="T52" fmla="*/ 74 w 109"/>
                <a:gd name="T53" fmla="*/ 55 h 55"/>
                <a:gd name="T54" fmla="*/ 77 w 109"/>
                <a:gd name="T55" fmla="*/ 55 h 55"/>
                <a:gd name="T56" fmla="*/ 79 w 109"/>
                <a:gd name="T57" fmla="*/ 49 h 55"/>
                <a:gd name="T58" fmla="*/ 82 w 109"/>
                <a:gd name="T59" fmla="*/ 45 h 55"/>
                <a:gd name="T60" fmla="*/ 86 w 109"/>
                <a:gd name="T61" fmla="*/ 46 h 55"/>
                <a:gd name="T62" fmla="*/ 87 w 109"/>
                <a:gd name="T63" fmla="*/ 51 h 55"/>
                <a:gd name="T64" fmla="*/ 92 w 109"/>
                <a:gd name="T65" fmla="*/ 47 h 55"/>
                <a:gd name="T66" fmla="*/ 94 w 109"/>
                <a:gd name="T67" fmla="*/ 45 h 55"/>
                <a:gd name="T68" fmla="*/ 101 w 109"/>
                <a:gd name="T69" fmla="*/ 43 h 55"/>
                <a:gd name="T70" fmla="*/ 106 w 109"/>
                <a:gd name="T71" fmla="*/ 40 h 55"/>
                <a:gd name="T72" fmla="*/ 109 w 109"/>
                <a:gd name="T73" fmla="*/ 3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9" h="55">
                  <a:moveTo>
                    <a:pt x="107" y="35"/>
                  </a:moveTo>
                  <a:lnTo>
                    <a:pt x="105" y="32"/>
                  </a:lnTo>
                  <a:lnTo>
                    <a:pt x="104" y="31"/>
                  </a:lnTo>
                  <a:lnTo>
                    <a:pt x="101" y="29"/>
                  </a:lnTo>
                  <a:lnTo>
                    <a:pt x="98" y="27"/>
                  </a:lnTo>
                  <a:lnTo>
                    <a:pt x="97" y="25"/>
                  </a:lnTo>
                  <a:lnTo>
                    <a:pt x="96" y="27"/>
                  </a:lnTo>
                  <a:lnTo>
                    <a:pt x="97" y="29"/>
                  </a:lnTo>
                  <a:lnTo>
                    <a:pt x="100" y="32"/>
                  </a:lnTo>
                  <a:lnTo>
                    <a:pt x="102" y="35"/>
                  </a:lnTo>
                  <a:lnTo>
                    <a:pt x="99" y="36"/>
                  </a:lnTo>
                  <a:lnTo>
                    <a:pt x="95" y="36"/>
                  </a:lnTo>
                  <a:lnTo>
                    <a:pt x="89" y="39"/>
                  </a:lnTo>
                  <a:lnTo>
                    <a:pt x="88" y="37"/>
                  </a:lnTo>
                  <a:lnTo>
                    <a:pt x="87" y="36"/>
                  </a:lnTo>
                  <a:lnTo>
                    <a:pt x="85" y="35"/>
                  </a:lnTo>
                  <a:lnTo>
                    <a:pt x="82" y="33"/>
                  </a:lnTo>
                  <a:lnTo>
                    <a:pt x="81" y="32"/>
                  </a:lnTo>
                  <a:lnTo>
                    <a:pt x="82" y="30"/>
                  </a:lnTo>
                  <a:lnTo>
                    <a:pt x="81" y="27"/>
                  </a:lnTo>
                  <a:lnTo>
                    <a:pt x="77" y="24"/>
                  </a:lnTo>
                  <a:lnTo>
                    <a:pt x="73" y="22"/>
                  </a:lnTo>
                  <a:lnTo>
                    <a:pt x="71" y="22"/>
                  </a:lnTo>
                  <a:lnTo>
                    <a:pt x="69" y="22"/>
                  </a:lnTo>
                  <a:lnTo>
                    <a:pt x="68" y="20"/>
                  </a:lnTo>
                  <a:lnTo>
                    <a:pt x="68" y="16"/>
                  </a:lnTo>
                  <a:lnTo>
                    <a:pt x="70" y="14"/>
                  </a:lnTo>
                  <a:lnTo>
                    <a:pt x="71" y="13"/>
                  </a:lnTo>
                  <a:lnTo>
                    <a:pt x="73" y="11"/>
                  </a:lnTo>
                  <a:lnTo>
                    <a:pt x="77" y="9"/>
                  </a:lnTo>
                  <a:lnTo>
                    <a:pt x="77" y="8"/>
                  </a:lnTo>
                  <a:lnTo>
                    <a:pt x="76" y="6"/>
                  </a:lnTo>
                  <a:lnTo>
                    <a:pt x="73" y="6"/>
                  </a:lnTo>
                  <a:lnTo>
                    <a:pt x="71" y="6"/>
                  </a:lnTo>
                  <a:lnTo>
                    <a:pt x="70" y="3"/>
                  </a:lnTo>
                  <a:lnTo>
                    <a:pt x="68" y="0"/>
                  </a:lnTo>
                  <a:lnTo>
                    <a:pt x="60" y="3"/>
                  </a:lnTo>
                  <a:lnTo>
                    <a:pt x="59" y="8"/>
                  </a:lnTo>
                  <a:lnTo>
                    <a:pt x="22" y="17"/>
                  </a:lnTo>
                  <a:lnTo>
                    <a:pt x="0" y="20"/>
                  </a:lnTo>
                  <a:lnTo>
                    <a:pt x="0" y="33"/>
                  </a:lnTo>
                  <a:lnTo>
                    <a:pt x="0" y="50"/>
                  </a:lnTo>
                  <a:lnTo>
                    <a:pt x="24" y="46"/>
                  </a:lnTo>
                  <a:lnTo>
                    <a:pt x="50" y="41"/>
                  </a:lnTo>
                  <a:lnTo>
                    <a:pt x="60" y="36"/>
                  </a:lnTo>
                  <a:lnTo>
                    <a:pt x="63" y="41"/>
                  </a:lnTo>
                  <a:lnTo>
                    <a:pt x="66" y="43"/>
                  </a:lnTo>
                  <a:lnTo>
                    <a:pt x="66" y="46"/>
                  </a:lnTo>
                  <a:lnTo>
                    <a:pt x="68" y="47"/>
                  </a:lnTo>
                  <a:lnTo>
                    <a:pt x="71" y="48"/>
                  </a:lnTo>
                  <a:lnTo>
                    <a:pt x="71" y="49"/>
                  </a:lnTo>
                  <a:lnTo>
                    <a:pt x="73" y="51"/>
                  </a:lnTo>
                  <a:lnTo>
                    <a:pt x="74" y="55"/>
                  </a:lnTo>
                  <a:lnTo>
                    <a:pt x="74" y="55"/>
                  </a:lnTo>
                  <a:lnTo>
                    <a:pt x="76" y="55"/>
                  </a:lnTo>
                  <a:lnTo>
                    <a:pt x="77" y="55"/>
                  </a:lnTo>
                  <a:lnTo>
                    <a:pt x="79" y="53"/>
                  </a:lnTo>
                  <a:lnTo>
                    <a:pt x="79" y="49"/>
                  </a:lnTo>
                  <a:lnTo>
                    <a:pt x="82" y="47"/>
                  </a:lnTo>
                  <a:lnTo>
                    <a:pt x="82" y="45"/>
                  </a:lnTo>
                  <a:lnTo>
                    <a:pt x="85" y="43"/>
                  </a:lnTo>
                  <a:lnTo>
                    <a:pt x="86" y="46"/>
                  </a:lnTo>
                  <a:lnTo>
                    <a:pt x="87" y="49"/>
                  </a:lnTo>
                  <a:lnTo>
                    <a:pt x="87" y="51"/>
                  </a:lnTo>
                  <a:lnTo>
                    <a:pt x="90" y="49"/>
                  </a:lnTo>
                  <a:lnTo>
                    <a:pt x="92" y="47"/>
                  </a:lnTo>
                  <a:lnTo>
                    <a:pt x="92" y="45"/>
                  </a:lnTo>
                  <a:lnTo>
                    <a:pt x="94" y="45"/>
                  </a:lnTo>
                  <a:lnTo>
                    <a:pt x="97" y="43"/>
                  </a:lnTo>
                  <a:lnTo>
                    <a:pt x="101" y="43"/>
                  </a:lnTo>
                  <a:lnTo>
                    <a:pt x="103" y="41"/>
                  </a:lnTo>
                  <a:lnTo>
                    <a:pt x="106" y="40"/>
                  </a:lnTo>
                  <a:lnTo>
                    <a:pt x="108" y="38"/>
                  </a:lnTo>
                  <a:lnTo>
                    <a:pt x="109" y="36"/>
                  </a:lnTo>
                  <a:lnTo>
                    <a:pt x="107" y="35"/>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2" name="Freeform 29"/>
            <p:cNvSpPr>
              <a:spLocks/>
            </p:cNvSpPr>
            <p:nvPr/>
          </p:nvSpPr>
          <p:spPr bwMode="auto">
            <a:xfrm>
              <a:off x="7976309" y="2205290"/>
              <a:ext cx="16864" cy="11806"/>
            </a:xfrm>
            <a:custGeom>
              <a:avLst/>
              <a:gdLst>
                <a:gd name="T0" fmla="*/ 3 w 12"/>
                <a:gd name="T1" fmla="*/ 9 h 9"/>
                <a:gd name="T2" fmla="*/ 7 w 12"/>
                <a:gd name="T3" fmla="*/ 9 h 9"/>
                <a:gd name="T4" fmla="*/ 10 w 12"/>
                <a:gd name="T5" fmla="*/ 6 h 9"/>
                <a:gd name="T6" fmla="*/ 12 w 12"/>
                <a:gd name="T7" fmla="*/ 4 h 9"/>
                <a:gd name="T8" fmla="*/ 8 w 12"/>
                <a:gd name="T9" fmla="*/ 2 h 9"/>
                <a:gd name="T10" fmla="*/ 4 w 12"/>
                <a:gd name="T11" fmla="*/ 1 h 9"/>
                <a:gd name="T12" fmla="*/ 0 w 12"/>
                <a:gd name="T13" fmla="*/ 7 h 9"/>
                <a:gd name="T14" fmla="*/ 3 w 12"/>
                <a:gd name="T15" fmla="*/ 9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9">
                  <a:moveTo>
                    <a:pt x="3" y="9"/>
                  </a:moveTo>
                  <a:cubicBezTo>
                    <a:pt x="7" y="9"/>
                    <a:pt x="7" y="9"/>
                    <a:pt x="7" y="9"/>
                  </a:cubicBezTo>
                  <a:cubicBezTo>
                    <a:pt x="10" y="6"/>
                    <a:pt x="10" y="6"/>
                    <a:pt x="10" y="6"/>
                  </a:cubicBezTo>
                  <a:cubicBezTo>
                    <a:pt x="12" y="4"/>
                    <a:pt x="12" y="4"/>
                    <a:pt x="12" y="4"/>
                  </a:cubicBezTo>
                  <a:cubicBezTo>
                    <a:pt x="8" y="2"/>
                    <a:pt x="8" y="2"/>
                    <a:pt x="8" y="2"/>
                  </a:cubicBezTo>
                  <a:cubicBezTo>
                    <a:pt x="8" y="2"/>
                    <a:pt x="5" y="0"/>
                    <a:pt x="4" y="1"/>
                  </a:cubicBezTo>
                  <a:cubicBezTo>
                    <a:pt x="4" y="2"/>
                    <a:pt x="0" y="7"/>
                    <a:pt x="0" y="7"/>
                  </a:cubicBezTo>
                  <a:lnTo>
                    <a:pt x="3" y="9"/>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3" name="Freeform 30"/>
            <p:cNvSpPr>
              <a:spLocks/>
            </p:cNvSpPr>
            <p:nvPr/>
          </p:nvSpPr>
          <p:spPr bwMode="auto">
            <a:xfrm>
              <a:off x="7763817" y="2269376"/>
              <a:ext cx="70830" cy="158525"/>
            </a:xfrm>
            <a:custGeom>
              <a:avLst/>
              <a:gdLst>
                <a:gd name="T0" fmla="*/ 36 w 42"/>
                <a:gd name="T1" fmla="*/ 13 h 94"/>
                <a:gd name="T2" fmla="*/ 36 w 42"/>
                <a:gd name="T3" fmla="*/ 9 h 94"/>
                <a:gd name="T4" fmla="*/ 34 w 42"/>
                <a:gd name="T5" fmla="*/ 7 h 94"/>
                <a:gd name="T6" fmla="*/ 21 w 42"/>
                <a:gd name="T7" fmla="*/ 3 h 94"/>
                <a:gd name="T8" fmla="*/ 9 w 42"/>
                <a:gd name="T9" fmla="*/ 0 h 94"/>
                <a:gd name="T10" fmla="*/ 8 w 42"/>
                <a:gd name="T11" fmla="*/ 3 h 94"/>
                <a:gd name="T12" fmla="*/ 6 w 42"/>
                <a:gd name="T13" fmla="*/ 7 h 94"/>
                <a:gd name="T14" fmla="*/ 3 w 42"/>
                <a:gd name="T15" fmla="*/ 9 h 94"/>
                <a:gd name="T16" fmla="*/ 2 w 42"/>
                <a:gd name="T17" fmla="*/ 14 h 94"/>
                <a:gd name="T18" fmla="*/ 3 w 42"/>
                <a:gd name="T19" fmla="*/ 20 h 94"/>
                <a:gd name="T20" fmla="*/ 3 w 42"/>
                <a:gd name="T21" fmla="*/ 25 h 94"/>
                <a:gd name="T22" fmla="*/ 2 w 42"/>
                <a:gd name="T23" fmla="*/ 30 h 94"/>
                <a:gd name="T24" fmla="*/ 5 w 42"/>
                <a:gd name="T25" fmla="*/ 32 h 94"/>
                <a:gd name="T26" fmla="*/ 9 w 42"/>
                <a:gd name="T27" fmla="*/ 34 h 94"/>
                <a:gd name="T28" fmla="*/ 11 w 42"/>
                <a:gd name="T29" fmla="*/ 38 h 94"/>
                <a:gd name="T30" fmla="*/ 15 w 42"/>
                <a:gd name="T31" fmla="*/ 42 h 94"/>
                <a:gd name="T32" fmla="*/ 20 w 42"/>
                <a:gd name="T33" fmla="*/ 46 h 94"/>
                <a:gd name="T34" fmla="*/ 20 w 42"/>
                <a:gd name="T35" fmla="*/ 47 h 94"/>
                <a:gd name="T36" fmla="*/ 18 w 42"/>
                <a:gd name="T37" fmla="*/ 53 h 94"/>
                <a:gd name="T38" fmla="*/ 10 w 42"/>
                <a:gd name="T39" fmla="*/ 58 h 94"/>
                <a:gd name="T40" fmla="*/ 3 w 42"/>
                <a:gd name="T41" fmla="*/ 64 h 94"/>
                <a:gd name="T42" fmla="*/ 2 w 42"/>
                <a:gd name="T43" fmla="*/ 67 h 94"/>
                <a:gd name="T44" fmla="*/ 0 w 42"/>
                <a:gd name="T45" fmla="*/ 72 h 94"/>
                <a:gd name="T46" fmla="*/ 1 w 42"/>
                <a:gd name="T47" fmla="*/ 75 h 94"/>
                <a:gd name="T48" fmla="*/ 3 w 42"/>
                <a:gd name="T49" fmla="*/ 79 h 94"/>
                <a:gd name="T50" fmla="*/ 8 w 42"/>
                <a:gd name="T51" fmla="*/ 83 h 94"/>
                <a:gd name="T52" fmla="*/ 12 w 42"/>
                <a:gd name="T53" fmla="*/ 85 h 94"/>
                <a:gd name="T54" fmla="*/ 15 w 42"/>
                <a:gd name="T55" fmla="*/ 86 h 94"/>
                <a:gd name="T56" fmla="*/ 20 w 42"/>
                <a:gd name="T57" fmla="*/ 86 h 94"/>
                <a:gd name="T58" fmla="*/ 24 w 42"/>
                <a:gd name="T59" fmla="*/ 86 h 94"/>
                <a:gd name="T60" fmla="*/ 25 w 42"/>
                <a:gd name="T61" fmla="*/ 86 h 94"/>
                <a:gd name="T62" fmla="*/ 24 w 42"/>
                <a:gd name="T63" fmla="*/ 90 h 94"/>
                <a:gd name="T64" fmla="*/ 24 w 42"/>
                <a:gd name="T65" fmla="*/ 93 h 94"/>
                <a:gd name="T66" fmla="*/ 25 w 42"/>
                <a:gd name="T67" fmla="*/ 94 h 94"/>
                <a:gd name="T68" fmla="*/ 26 w 42"/>
                <a:gd name="T69" fmla="*/ 94 h 94"/>
                <a:gd name="T70" fmla="*/ 27 w 42"/>
                <a:gd name="T71" fmla="*/ 87 h 94"/>
                <a:gd name="T72" fmla="*/ 28 w 42"/>
                <a:gd name="T73" fmla="*/ 86 h 94"/>
                <a:gd name="T74" fmla="*/ 31 w 42"/>
                <a:gd name="T75" fmla="*/ 82 h 94"/>
                <a:gd name="T76" fmla="*/ 36 w 42"/>
                <a:gd name="T77" fmla="*/ 78 h 94"/>
                <a:gd name="T78" fmla="*/ 36 w 42"/>
                <a:gd name="T79" fmla="*/ 69 h 94"/>
                <a:gd name="T80" fmla="*/ 36 w 42"/>
                <a:gd name="T81" fmla="*/ 65 h 94"/>
                <a:gd name="T82" fmla="*/ 40 w 42"/>
                <a:gd name="T83" fmla="*/ 61 h 94"/>
                <a:gd name="T84" fmla="*/ 41 w 42"/>
                <a:gd name="T85" fmla="*/ 53 h 94"/>
                <a:gd name="T86" fmla="*/ 42 w 42"/>
                <a:gd name="T87" fmla="*/ 48 h 94"/>
                <a:gd name="T88" fmla="*/ 42 w 42"/>
                <a:gd name="T89" fmla="*/ 40 h 94"/>
                <a:gd name="T90" fmla="*/ 42 w 42"/>
                <a:gd name="T91" fmla="*/ 36 h 94"/>
                <a:gd name="T92" fmla="*/ 40 w 42"/>
                <a:gd name="T93" fmla="*/ 30 h 94"/>
                <a:gd name="T94" fmla="*/ 36 w 42"/>
                <a:gd name="T95" fmla="*/ 30 h 94"/>
                <a:gd name="T96" fmla="*/ 34 w 42"/>
                <a:gd name="T97" fmla="*/ 30 h 94"/>
                <a:gd name="T98" fmla="*/ 35 w 42"/>
                <a:gd name="T99" fmla="*/ 25 h 94"/>
                <a:gd name="T100" fmla="*/ 37 w 42"/>
                <a:gd name="T101" fmla="*/ 20 h 94"/>
                <a:gd name="T102" fmla="*/ 39 w 42"/>
                <a:gd name="T103" fmla="*/ 18 h 94"/>
                <a:gd name="T104" fmla="*/ 38 w 42"/>
                <a:gd name="T105" fmla="*/ 17 h 94"/>
                <a:gd name="T106" fmla="*/ 36 w 42"/>
                <a:gd name="T107" fmla="*/ 13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94">
                  <a:moveTo>
                    <a:pt x="36" y="13"/>
                  </a:moveTo>
                  <a:lnTo>
                    <a:pt x="36" y="9"/>
                  </a:lnTo>
                  <a:lnTo>
                    <a:pt x="34" y="7"/>
                  </a:lnTo>
                  <a:lnTo>
                    <a:pt x="21" y="3"/>
                  </a:lnTo>
                  <a:lnTo>
                    <a:pt x="9" y="0"/>
                  </a:lnTo>
                  <a:lnTo>
                    <a:pt x="8" y="3"/>
                  </a:lnTo>
                  <a:lnTo>
                    <a:pt x="6" y="7"/>
                  </a:lnTo>
                  <a:lnTo>
                    <a:pt x="3" y="9"/>
                  </a:lnTo>
                  <a:lnTo>
                    <a:pt x="2" y="14"/>
                  </a:lnTo>
                  <a:lnTo>
                    <a:pt x="3" y="20"/>
                  </a:lnTo>
                  <a:lnTo>
                    <a:pt x="3" y="25"/>
                  </a:lnTo>
                  <a:lnTo>
                    <a:pt x="2" y="30"/>
                  </a:lnTo>
                  <a:lnTo>
                    <a:pt x="5" y="32"/>
                  </a:lnTo>
                  <a:lnTo>
                    <a:pt x="9" y="34"/>
                  </a:lnTo>
                  <a:lnTo>
                    <a:pt x="11" y="38"/>
                  </a:lnTo>
                  <a:lnTo>
                    <a:pt x="15" y="42"/>
                  </a:lnTo>
                  <a:lnTo>
                    <a:pt x="20" y="46"/>
                  </a:lnTo>
                  <a:lnTo>
                    <a:pt x="20" y="47"/>
                  </a:lnTo>
                  <a:lnTo>
                    <a:pt x="18" y="53"/>
                  </a:lnTo>
                  <a:lnTo>
                    <a:pt x="10" y="58"/>
                  </a:lnTo>
                  <a:lnTo>
                    <a:pt x="3" y="64"/>
                  </a:lnTo>
                  <a:lnTo>
                    <a:pt x="2" y="67"/>
                  </a:lnTo>
                  <a:lnTo>
                    <a:pt x="0" y="72"/>
                  </a:lnTo>
                  <a:lnTo>
                    <a:pt x="1" y="75"/>
                  </a:lnTo>
                  <a:lnTo>
                    <a:pt x="3" y="79"/>
                  </a:lnTo>
                  <a:lnTo>
                    <a:pt x="8" y="83"/>
                  </a:lnTo>
                  <a:lnTo>
                    <a:pt x="12" y="85"/>
                  </a:lnTo>
                  <a:lnTo>
                    <a:pt x="15" y="86"/>
                  </a:lnTo>
                  <a:lnTo>
                    <a:pt x="20" y="86"/>
                  </a:lnTo>
                  <a:lnTo>
                    <a:pt x="24" y="86"/>
                  </a:lnTo>
                  <a:lnTo>
                    <a:pt x="25" y="86"/>
                  </a:lnTo>
                  <a:lnTo>
                    <a:pt x="24" y="90"/>
                  </a:lnTo>
                  <a:lnTo>
                    <a:pt x="24" y="93"/>
                  </a:lnTo>
                  <a:lnTo>
                    <a:pt x="25" y="94"/>
                  </a:lnTo>
                  <a:lnTo>
                    <a:pt x="26" y="94"/>
                  </a:lnTo>
                  <a:lnTo>
                    <a:pt x="27" y="87"/>
                  </a:lnTo>
                  <a:lnTo>
                    <a:pt x="28" y="86"/>
                  </a:lnTo>
                  <a:lnTo>
                    <a:pt x="31" y="82"/>
                  </a:lnTo>
                  <a:lnTo>
                    <a:pt x="36" y="78"/>
                  </a:lnTo>
                  <a:lnTo>
                    <a:pt x="36" y="69"/>
                  </a:lnTo>
                  <a:lnTo>
                    <a:pt x="36" y="65"/>
                  </a:lnTo>
                  <a:lnTo>
                    <a:pt x="40" y="61"/>
                  </a:lnTo>
                  <a:lnTo>
                    <a:pt x="41" y="53"/>
                  </a:lnTo>
                  <a:lnTo>
                    <a:pt x="42" y="48"/>
                  </a:lnTo>
                  <a:lnTo>
                    <a:pt x="42" y="40"/>
                  </a:lnTo>
                  <a:lnTo>
                    <a:pt x="42" y="36"/>
                  </a:lnTo>
                  <a:lnTo>
                    <a:pt x="40" y="30"/>
                  </a:lnTo>
                  <a:lnTo>
                    <a:pt x="36" y="30"/>
                  </a:lnTo>
                  <a:lnTo>
                    <a:pt x="34" y="30"/>
                  </a:lnTo>
                  <a:lnTo>
                    <a:pt x="35" y="25"/>
                  </a:lnTo>
                  <a:lnTo>
                    <a:pt x="37" y="20"/>
                  </a:lnTo>
                  <a:lnTo>
                    <a:pt x="39" y="18"/>
                  </a:lnTo>
                  <a:lnTo>
                    <a:pt x="38" y="17"/>
                  </a:lnTo>
                  <a:lnTo>
                    <a:pt x="36" y="13"/>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4" name="Freeform 31"/>
            <p:cNvSpPr>
              <a:spLocks/>
            </p:cNvSpPr>
            <p:nvPr/>
          </p:nvSpPr>
          <p:spPr bwMode="auto">
            <a:xfrm>
              <a:off x="7750326" y="2378994"/>
              <a:ext cx="55652" cy="91068"/>
            </a:xfrm>
            <a:custGeom>
              <a:avLst/>
              <a:gdLst>
                <a:gd name="T0" fmla="*/ 9 w 33"/>
                <a:gd name="T1" fmla="*/ 10 h 54"/>
                <a:gd name="T2" fmla="*/ 8 w 33"/>
                <a:gd name="T3" fmla="*/ 7 h 54"/>
                <a:gd name="T4" fmla="*/ 10 w 33"/>
                <a:gd name="T5" fmla="*/ 2 h 54"/>
                <a:gd name="T6" fmla="*/ 11 w 33"/>
                <a:gd name="T7" fmla="*/ 1 h 54"/>
                <a:gd name="T8" fmla="*/ 9 w 33"/>
                <a:gd name="T9" fmla="*/ 0 h 54"/>
                <a:gd name="T10" fmla="*/ 6 w 33"/>
                <a:gd name="T11" fmla="*/ 0 h 54"/>
                <a:gd name="T12" fmla="*/ 5 w 33"/>
                <a:gd name="T13" fmla="*/ 0 h 54"/>
                <a:gd name="T14" fmla="*/ 2 w 33"/>
                <a:gd name="T15" fmla="*/ 2 h 54"/>
                <a:gd name="T16" fmla="*/ 0 w 33"/>
                <a:gd name="T17" fmla="*/ 5 h 54"/>
                <a:gd name="T18" fmla="*/ 12 w 33"/>
                <a:gd name="T19" fmla="*/ 54 h 54"/>
                <a:gd name="T20" fmla="*/ 33 w 33"/>
                <a:gd name="T21" fmla="*/ 51 h 54"/>
                <a:gd name="T22" fmla="*/ 32 w 33"/>
                <a:gd name="T23" fmla="*/ 43 h 54"/>
                <a:gd name="T24" fmla="*/ 29 w 33"/>
                <a:gd name="T25" fmla="*/ 40 h 54"/>
                <a:gd name="T26" fmla="*/ 28 w 33"/>
                <a:gd name="T27" fmla="*/ 38 h 54"/>
                <a:gd name="T28" fmla="*/ 26 w 33"/>
                <a:gd name="T29" fmla="*/ 37 h 54"/>
                <a:gd name="T30" fmla="*/ 23 w 33"/>
                <a:gd name="T31" fmla="*/ 34 h 54"/>
                <a:gd name="T32" fmla="*/ 20 w 33"/>
                <a:gd name="T33" fmla="*/ 32 h 54"/>
                <a:gd name="T34" fmla="*/ 18 w 33"/>
                <a:gd name="T35" fmla="*/ 28 h 54"/>
                <a:gd name="T36" fmla="*/ 16 w 33"/>
                <a:gd name="T37" fmla="*/ 24 h 54"/>
                <a:gd name="T38" fmla="*/ 14 w 33"/>
                <a:gd name="T39" fmla="*/ 20 h 54"/>
                <a:gd name="T40" fmla="*/ 16 w 33"/>
                <a:gd name="T41" fmla="*/ 17 h 54"/>
                <a:gd name="T42" fmla="*/ 11 w 33"/>
                <a:gd name="T43" fmla="*/ 14 h 54"/>
                <a:gd name="T44" fmla="*/ 9 w 33"/>
                <a:gd name="T45" fmla="*/ 1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3" h="54">
                  <a:moveTo>
                    <a:pt x="9" y="10"/>
                  </a:moveTo>
                  <a:lnTo>
                    <a:pt x="8" y="7"/>
                  </a:lnTo>
                  <a:lnTo>
                    <a:pt x="10" y="2"/>
                  </a:lnTo>
                  <a:lnTo>
                    <a:pt x="11" y="1"/>
                  </a:lnTo>
                  <a:lnTo>
                    <a:pt x="9" y="0"/>
                  </a:lnTo>
                  <a:lnTo>
                    <a:pt x="6" y="0"/>
                  </a:lnTo>
                  <a:lnTo>
                    <a:pt x="5" y="0"/>
                  </a:lnTo>
                  <a:lnTo>
                    <a:pt x="2" y="2"/>
                  </a:lnTo>
                  <a:lnTo>
                    <a:pt x="0" y="5"/>
                  </a:lnTo>
                  <a:lnTo>
                    <a:pt x="12" y="54"/>
                  </a:lnTo>
                  <a:lnTo>
                    <a:pt x="33" y="51"/>
                  </a:lnTo>
                  <a:lnTo>
                    <a:pt x="32" y="43"/>
                  </a:lnTo>
                  <a:lnTo>
                    <a:pt x="29" y="40"/>
                  </a:lnTo>
                  <a:lnTo>
                    <a:pt x="28" y="38"/>
                  </a:lnTo>
                  <a:lnTo>
                    <a:pt x="26" y="37"/>
                  </a:lnTo>
                  <a:lnTo>
                    <a:pt x="23" y="34"/>
                  </a:lnTo>
                  <a:lnTo>
                    <a:pt x="20" y="32"/>
                  </a:lnTo>
                  <a:lnTo>
                    <a:pt x="18" y="28"/>
                  </a:lnTo>
                  <a:lnTo>
                    <a:pt x="16" y="24"/>
                  </a:lnTo>
                  <a:lnTo>
                    <a:pt x="14" y="20"/>
                  </a:lnTo>
                  <a:lnTo>
                    <a:pt x="16" y="17"/>
                  </a:lnTo>
                  <a:lnTo>
                    <a:pt x="11" y="14"/>
                  </a:lnTo>
                  <a:lnTo>
                    <a:pt x="9" y="1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5" name="Freeform 32"/>
            <p:cNvSpPr>
              <a:spLocks/>
            </p:cNvSpPr>
            <p:nvPr/>
          </p:nvSpPr>
          <p:spPr bwMode="auto">
            <a:xfrm>
              <a:off x="7480495" y="2227213"/>
              <a:ext cx="317051" cy="205746"/>
            </a:xfrm>
            <a:custGeom>
              <a:avLst/>
              <a:gdLst>
                <a:gd name="T0" fmla="*/ 165 w 188"/>
                <a:gd name="T1" fmla="*/ 90 h 122"/>
                <a:gd name="T2" fmla="*/ 166 w 188"/>
                <a:gd name="T3" fmla="*/ 90 h 122"/>
                <a:gd name="T4" fmla="*/ 169 w 188"/>
                <a:gd name="T5" fmla="*/ 90 h 122"/>
                <a:gd name="T6" fmla="*/ 171 w 188"/>
                <a:gd name="T7" fmla="*/ 91 h 122"/>
                <a:gd name="T8" fmla="*/ 171 w 188"/>
                <a:gd name="T9" fmla="*/ 89 h 122"/>
                <a:gd name="T10" fmla="*/ 178 w 188"/>
                <a:gd name="T11" fmla="*/ 83 h 122"/>
                <a:gd name="T12" fmla="*/ 186 w 188"/>
                <a:gd name="T13" fmla="*/ 78 h 122"/>
                <a:gd name="T14" fmla="*/ 188 w 188"/>
                <a:gd name="T15" fmla="*/ 72 h 122"/>
                <a:gd name="T16" fmla="*/ 188 w 188"/>
                <a:gd name="T17" fmla="*/ 71 h 122"/>
                <a:gd name="T18" fmla="*/ 183 w 188"/>
                <a:gd name="T19" fmla="*/ 67 h 122"/>
                <a:gd name="T20" fmla="*/ 179 w 188"/>
                <a:gd name="T21" fmla="*/ 63 h 122"/>
                <a:gd name="T22" fmla="*/ 177 w 188"/>
                <a:gd name="T23" fmla="*/ 59 h 122"/>
                <a:gd name="T24" fmla="*/ 173 w 188"/>
                <a:gd name="T25" fmla="*/ 57 h 122"/>
                <a:gd name="T26" fmla="*/ 170 w 188"/>
                <a:gd name="T27" fmla="*/ 55 h 122"/>
                <a:gd name="T28" fmla="*/ 171 w 188"/>
                <a:gd name="T29" fmla="*/ 50 h 122"/>
                <a:gd name="T30" fmla="*/ 171 w 188"/>
                <a:gd name="T31" fmla="*/ 45 h 122"/>
                <a:gd name="T32" fmla="*/ 170 w 188"/>
                <a:gd name="T33" fmla="*/ 39 h 122"/>
                <a:gd name="T34" fmla="*/ 171 w 188"/>
                <a:gd name="T35" fmla="*/ 34 h 122"/>
                <a:gd name="T36" fmla="*/ 174 w 188"/>
                <a:gd name="T37" fmla="*/ 32 h 122"/>
                <a:gd name="T38" fmla="*/ 176 w 188"/>
                <a:gd name="T39" fmla="*/ 28 h 122"/>
                <a:gd name="T40" fmla="*/ 177 w 188"/>
                <a:gd name="T41" fmla="*/ 25 h 122"/>
                <a:gd name="T42" fmla="*/ 179 w 188"/>
                <a:gd name="T43" fmla="*/ 20 h 122"/>
                <a:gd name="T44" fmla="*/ 176 w 188"/>
                <a:gd name="T45" fmla="*/ 18 h 122"/>
                <a:gd name="T46" fmla="*/ 173 w 188"/>
                <a:gd name="T47" fmla="*/ 18 h 122"/>
                <a:gd name="T48" fmla="*/ 170 w 188"/>
                <a:gd name="T49" fmla="*/ 17 h 122"/>
                <a:gd name="T50" fmla="*/ 166 w 188"/>
                <a:gd name="T51" fmla="*/ 10 h 122"/>
                <a:gd name="T52" fmla="*/ 162 w 188"/>
                <a:gd name="T53" fmla="*/ 5 h 122"/>
                <a:gd name="T54" fmla="*/ 154 w 188"/>
                <a:gd name="T55" fmla="*/ 0 h 122"/>
                <a:gd name="T56" fmla="*/ 24 w 188"/>
                <a:gd name="T57" fmla="*/ 23 h 122"/>
                <a:gd name="T58" fmla="*/ 22 w 188"/>
                <a:gd name="T59" fmla="*/ 13 h 122"/>
                <a:gd name="T60" fmla="*/ 16 w 188"/>
                <a:gd name="T61" fmla="*/ 17 h 122"/>
                <a:gd name="T62" fmla="*/ 11 w 188"/>
                <a:gd name="T63" fmla="*/ 21 h 122"/>
                <a:gd name="T64" fmla="*/ 6 w 188"/>
                <a:gd name="T65" fmla="*/ 24 h 122"/>
                <a:gd name="T66" fmla="*/ 0 w 188"/>
                <a:gd name="T67" fmla="*/ 28 h 122"/>
                <a:gd name="T68" fmla="*/ 16 w 188"/>
                <a:gd name="T69" fmla="*/ 122 h 122"/>
                <a:gd name="T70" fmla="*/ 160 w 188"/>
                <a:gd name="T71" fmla="*/ 95 h 122"/>
                <a:gd name="T72" fmla="*/ 162 w 188"/>
                <a:gd name="T73" fmla="*/ 92 h 122"/>
                <a:gd name="T74" fmla="*/ 165 w 188"/>
                <a:gd name="T75" fmla="*/ 9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8" h="122">
                  <a:moveTo>
                    <a:pt x="165" y="90"/>
                  </a:moveTo>
                  <a:lnTo>
                    <a:pt x="166" y="90"/>
                  </a:lnTo>
                  <a:lnTo>
                    <a:pt x="169" y="90"/>
                  </a:lnTo>
                  <a:lnTo>
                    <a:pt x="171" y="91"/>
                  </a:lnTo>
                  <a:lnTo>
                    <a:pt x="171" y="89"/>
                  </a:lnTo>
                  <a:lnTo>
                    <a:pt x="178" y="83"/>
                  </a:lnTo>
                  <a:lnTo>
                    <a:pt x="186" y="78"/>
                  </a:lnTo>
                  <a:lnTo>
                    <a:pt x="188" y="72"/>
                  </a:lnTo>
                  <a:lnTo>
                    <a:pt x="188" y="71"/>
                  </a:lnTo>
                  <a:lnTo>
                    <a:pt x="183" y="67"/>
                  </a:lnTo>
                  <a:lnTo>
                    <a:pt x="179" y="63"/>
                  </a:lnTo>
                  <a:lnTo>
                    <a:pt x="177" y="59"/>
                  </a:lnTo>
                  <a:lnTo>
                    <a:pt x="173" y="57"/>
                  </a:lnTo>
                  <a:lnTo>
                    <a:pt x="170" y="55"/>
                  </a:lnTo>
                  <a:lnTo>
                    <a:pt x="171" y="50"/>
                  </a:lnTo>
                  <a:lnTo>
                    <a:pt x="171" y="45"/>
                  </a:lnTo>
                  <a:lnTo>
                    <a:pt x="170" y="39"/>
                  </a:lnTo>
                  <a:lnTo>
                    <a:pt x="171" y="34"/>
                  </a:lnTo>
                  <a:lnTo>
                    <a:pt x="174" y="32"/>
                  </a:lnTo>
                  <a:lnTo>
                    <a:pt x="176" y="28"/>
                  </a:lnTo>
                  <a:lnTo>
                    <a:pt x="177" y="25"/>
                  </a:lnTo>
                  <a:lnTo>
                    <a:pt x="179" y="20"/>
                  </a:lnTo>
                  <a:lnTo>
                    <a:pt x="176" y="18"/>
                  </a:lnTo>
                  <a:lnTo>
                    <a:pt x="173" y="18"/>
                  </a:lnTo>
                  <a:lnTo>
                    <a:pt x="170" y="17"/>
                  </a:lnTo>
                  <a:lnTo>
                    <a:pt x="166" y="10"/>
                  </a:lnTo>
                  <a:lnTo>
                    <a:pt x="162" y="5"/>
                  </a:lnTo>
                  <a:lnTo>
                    <a:pt x="154" y="0"/>
                  </a:lnTo>
                  <a:lnTo>
                    <a:pt x="24" y="23"/>
                  </a:lnTo>
                  <a:lnTo>
                    <a:pt x="22" y="13"/>
                  </a:lnTo>
                  <a:lnTo>
                    <a:pt x="16" y="17"/>
                  </a:lnTo>
                  <a:lnTo>
                    <a:pt x="11" y="21"/>
                  </a:lnTo>
                  <a:lnTo>
                    <a:pt x="6" y="24"/>
                  </a:lnTo>
                  <a:lnTo>
                    <a:pt x="0" y="28"/>
                  </a:lnTo>
                  <a:lnTo>
                    <a:pt x="16" y="122"/>
                  </a:lnTo>
                  <a:lnTo>
                    <a:pt x="160" y="95"/>
                  </a:lnTo>
                  <a:lnTo>
                    <a:pt x="162" y="92"/>
                  </a:lnTo>
                  <a:lnTo>
                    <a:pt x="165" y="9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6" name="Freeform 33"/>
            <p:cNvSpPr>
              <a:spLocks/>
            </p:cNvSpPr>
            <p:nvPr/>
          </p:nvSpPr>
          <p:spPr bwMode="auto">
            <a:xfrm>
              <a:off x="7183681" y="3051885"/>
              <a:ext cx="490754" cy="384509"/>
            </a:xfrm>
            <a:custGeom>
              <a:avLst/>
              <a:gdLst>
                <a:gd name="T0" fmla="*/ 200 w 291"/>
                <a:gd name="T1" fmla="*/ 0 h 228"/>
                <a:gd name="T2" fmla="*/ 211 w 291"/>
                <a:gd name="T3" fmla="*/ 10 h 228"/>
                <a:gd name="T4" fmla="*/ 223 w 291"/>
                <a:gd name="T5" fmla="*/ 30 h 228"/>
                <a:gd name="T6" fmla="*/ 241 w 291"/>
                <a:gd name="T7" fmla="*/ 62 h 228"/>
                <a:gd name="T8" fmla="*/ 259 w 291"/>
                <a:gd name="T9" fmla="*/ 84 h 228"/>
                <a:gd name="T10" fmla="*/ 256 w 291"/>
                <a:gd name="T11" fmla="*/ 86 h 228"/>
                <a:gd name="T12" fmla="*/ 268 w 291"/>
                <a:gd name="T13" fmla="*/ 116 h 228"/>
                <a:gd name="T14" fmla="*/ 286 w 291"/>
                <a:gd name="T15" fmla="*/ 144 h 228"/>
                <a:gd name="T16" fmla="*/ 291 w 291"/>
                <a:gd name="T17" fmla="*/ 176 h 228"/>
                <a:gd name="T18" fmla="*/ 288 w 291"/>
                <a:gd name="T19" fmla="*/ 196 h 228"/>
                <a:gd name="T20" fmla="*/ 287 w 291"/>
                <a:gd name="T21" fmla="*/ 211 h 228"/>
                <a:gd name="T22" fmla="*/ 280 w 291"/>
                <a:gd name="T23" fmla="*/ 227 h 228"/>
                <a:gd name="T24" fmla="*/ 281 w 291"/>
                <a:gd name="T25" fmla="*/ 222 h 228"/>
                <a:gd name="T26" fmla="*/ 274 w 291"/>
                <a:gd name="T27" fmla="*/ 221 h 228"/>
                <a:gd name="T28" fmla="*/ 264 w 291"/>
                <a:gd name="T29" fmla="*/ 222 h 228"/>
                <a:gd name="T30" fmla="*/ 255 w 291"/>
                <a:gd name="T31" fmla="*/ 222 h 228"/>
                <a:gd name="T32" fmla="*/ 255 w 291"/>
                <a:gd name="T33" fmla="*/ 217 h 228"/>
                <a:gd name="T34" fmla="*/ 263 w 291"/>
                <a:gd name="T35" fmla="*/ 216 h 228"/>
                <a:gd name="T36" fmla="*/ 253 w 291"/>
                <a:gd name="T37" fmla="*/ 212 h 228"/>
                <a:gd name="T38" fmla="*/ 245 w 291"/>
                <a:gd name="T39" fmla="*/ 200 h 228"/>
                <a:gd name="T40" fmla="*/ 233 w 291"/>
                <a:gd name="T41" fmla="*/ 193 h 228"/>
                <a:gd name="T42" fmla="*/ 223 w 291"/>
                <a:gd name="T43" fmla="*/ 177 h 228"/>
                <a:gd name="T44" fmla="*/ 216 w 291"/>
                <a:gd name="T45" fmla="*/ 169 h 228"/>
                <a:gd name="T46" fmla="*/ 215 w 291"/>
                <a:gd name="T47" fmla="*/ 161 h 228"/>
                <a:gd name="T48" fmla="*/ 209 w 291"/>
                <a:gd name="T49" fmla="*/ 158 h 228"/>
                <a:gd name="T50" fmla="*/ 205 w 291"/>
                <a:gd name="T51" fmla="*/ 161 h 228"/>
                <a:gd name="T52" fmla="*/ 194 w 291"/>
                <a:gd name="T53" fmla="*/ 147 h 228"/>
                <a:gd name="T54" fmla="*/ 192 w 291"/>
                <a:gd name="T55" fmla="*/ 140 h 228"/>
                <a:gd name="T56" fmla="*/ 194 w 291"/>
                <a:gd name="T57" fmla="*/ 130 h 228"/>
                <a:gd name="T58" fmla="*/ 194 w 291"/>
                <a:gd name="T59" fmla="*/ 121 h 228"/>
                <a:gd name="T60" fmla="*/ 191 w 291"/>
                <a:gd name="T61" fmla="*/ 122 h 228"/>
                <a:gd name="T62" fmla="*/ 187 w 291"/>
                <a:gd name="T63" fmla="*/ 119 h 228"/>
                <a:gd name="T64" fmla="*/ 189 w 291"/>
                <a:gd name="T65" fmla="*/ 127 h 228"/>
                <a:gd name="T66" fmla="*/ 186 w 291"/>
                <a:gd name="T67" fmla="*/ 129 h 228"/>
                <a:gd name="T68" fmla="*/ 180 w 291"/>
                <a:gd name="T69" fmla="*/ 120 h 228"/>
                <a:gd name="T70" fmla="*/ 182 w 291"/>
                <a:gd name="T71" fmla="*/ 106 h 228"/>
                <a:gd name="T72" fmla="*/ 182 w 291"/>
                <a:gd name="T73" fmla="*/ 86 h 228"/>
                <a:gd name="T74" fmla="*/ 174 w 291"/>
                <a:gd name="T75" fmla="*/ 72 h 228"/>
                <a:gd name="T76" fmla="*/ 163 w 291"/>
                <a:gd name="T77" fmla="*/ 67 h 228"/>
                <a:gd name="T78" fmla="*/ 152 w 291"/>
                <a:gd name="T79" fmla="*/ 60 h 228"/>
                <a:gd name="T80" fmla="*/ 143 w 291"/>
                <a:gd name="T81" fmla="*/ 48 h 228"/>
                <a:gd name="T82" fmla="*/ 130 w 291"/>
                <a:gd name="T83" fmla="*/ 39 h 228"/>
                <a:gd name="T84" fmla="*/ 117 w 291"/>
                <a:gd name="T85" fmla="*/ 39 h 228"/>
                <a:gd name="T86" fmla="*/ 116 w 291"/>
                <a:gd name="T87" fmla="*/ 47 h 228"/>
                <a:gd name="T88" fmla="*/ 107 w 291"/>
                <a:gd name="T89" fmla="*/ 49 h 228"/>
                <a:gd name="T90" fmla="*/ 83 w 291"/>
                <a:gd name="T91" fmla="*/ 59 h 228"/>
                <a:gd name="T92" fmla="*/ 77 w 291"/>
                <a:gd name="T93" fmla="*/ 49 h 228"/>
                <a:gd name="T94" fmla="*/ 77 w 291"/>
                <a:gd name="T95" fmla="*/ 43 h 228"/>
                <a:gd name="T96" fmla="*/ 72 w 291"/>
                <a:gd name="T97" fmla="*/ 39 h 228"/>
                <a:gd name="T98" fmla="*/ 72 w 291"/>
                <a:gd name="T99" fmla="*/ 35 h 228"/>
                <a:gd name="T100" fmla="*/ 69 w 291"/>
                <a:gd name="T101" fmla="*/ 38 h 228"/>
                <a:gd name="T102" fmla="*/ 64 w 291"/>
                <a:gd name="T103" fmla="*/ 39 h 228"/>
                <a:gd name="T104" fmla="*/ 65 w 291"/>
                <a:gd name="T105" fmla="*/ 43 h 228"/>
                <a:gd name="T106" fmla="*/ 53 w 291"/>
                <a:gd name="T107" fmla="*/ 37 h 228"/>
                <a:gd name="T108" fmla="*/ 39 w 291"/>
                <a:gd name="T109" fmla="*/ 33 h 228"/>
                <a:gd name="T110" fmla="*/ 19 w 291"/>
                <a:gd name="T111" fmla="*/ 35 h 228"/>
                <a:gd name="T112" fmla="*/ 7 w 291"/>
                <a:gd name="T113" fmla="*/ 32 h 228"/>
                <a:gd name="T114" fmla="*/ 0 w 291"/>
                <a:gd name="T115" fmla="*/ 20 h 228"/>
                <a:gd name="T116" fmla="*/ 10 w 291"/>
                <a:gd name="T117" fmla="*/ 14 h 228"/>
                <a:gd name="T118" fmla="*/ 98 w 291"/>
                <a:gd name="T119" fmla="*/ 16 h 228"/>
                <a:gd name="T120" fmla="*/ 197 w 291"/>
                <a:gd name="T121" fmla="*/ 1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1" h="228">
                  <a:moveTo>
                    <a:pt x="194" y="0"/>
                  </a:moveTo>
                  <a:lnTo>
                    <a:pt x="194" y="0"/>
                  </a:lnTo>
                  <a:lnTo>
                    <a:pt x="200" y="0"/>
                  </a:lnTo>
                  <a:lnTo>
                    <a:pt x="209" y="2"/>
                  </a:lnTo>
                  <a:lnTo>
                    <a:pt x="210" y="7"/>
                  </a:lnTo>
                  <a:lnTo>
                    <a:pt x="211" y="10"/>
                  </a:lnTo>
                  <a:lnTo>
                    <a:pt x="215" y="12"/>
                  </a:lnTo>
                  <a:lnTo>
                    <a:pt x="218" y="17"/>
                  </a:lnTo>
                  <a:lnTo>
                    <a:pt x="223" y="30"/>
                  </a:lnTo>
                  <a:lnTo>
                    <a:pt x="229" y="40"/>
                  </a:lnTo>
                  <a:lnTo>
                    <a:pt x="237" y="55"/>
                  </a:lnTo>
                  <a:lnTo>
                    <a:pt x="241" y="62"/>
                  </a:lnTo>
                  <a:lnTo>
                    <a:pt x="251" y="77"/>
                  </a:lnTo>
                  <a:lnTo>
                    <a:pt x="256" y="81"/>
                  </a:lnTo>
                  <a:lnTo>
                    <a:pt x="259" y="84"/>
                  </a:lnTo>
                  <a:lnTo>
                    <a:pt x="259" y="87"/>
                  </a:lnTo>
                  <a:lnTo>
                    <a:pt x="259" y="96"/>
                  </a:lnTo>
                  <a:lnTo>
                    <a:pt x="256" y="86"/>
                  </a:lnTo>
                  <a:lnTo>
                    <a:pt x="255" y="96"/>
                  </a:lnTo>
                  <a:lnTo>
                    <a:pt x="261" y="106"/>
                  </a:lnTo>
                  <a:lnTo>
                    <a:pt x="268" y="116"/>
                  </a:lnTo>
                  <a:lnTo>
                    <a:pt x="275" y="129"/>
                  </a:lnTo>
                  <a:lnTo>
                    <a:pt x="280" y="137"/>
                  </a:lnTo>
                  <a:lnTo>
                    <a:pt x="286" y="144"/>
                  </a:lnTo>
                  <a:lnTo>
                    <a:pt x="289" y="153"/>
                  </a:lnTo>
                  <a:lnTo>
                    <a:pt x="291" y="168"/>
                  </a:lnTo>
                  <a:lnTo>
                    <a:pt x="291" y="176"/>
                  </a:lnTo>
                  <a:lnTo>
                    <a:pt x="291" y="185"/>
                  </a:lnTo>
                  <a:lnTo>
                    <a:pt x="291" y="193"/>
                  </a:lnTo>
                  <a:lnTo>
                    <a:pt x="288" y="196"/>
                  </a:lnTo>
                  <a:lnTo>
                    <a:pt x="286" y="200"/>
                  </a:lnTo>
                  <a:lnTo>
                    <a:pt x="286" y="205"/>
                  </a:lnTo>
                  <a:lnTo>
                    <a:pt x="287" y="211"/>
                  </a:lnTo>
                  <a:lnTo>
                    <a:pt x="286" y="218"/>
                  </a:lnTo>
                  <a:lnTo>
                    <a:pt x="283" y="225"/>
                  </a:lnTo>
                  <a:lnTo>
                    <a:pt x="280" y="227"/>
                  </a:lnTo>
                  <a:lnTo>
                    <a:pt x="277" y="228"/>
                  </a:lnTo>
                  <a:lnTo>
                    <a:pt x="279" y="224"/>
                  </a:lnTo>
                  <a:lnTo>
                    <a:pt x="281" y="222"/>
                  </a:lnTo>
                  <a:lnTo>
                    <a:pt x="281" y="217"/>
                  </a:lnTo>
                  <a:lnTo>
                    <a:pt x="280" y="217"/>
                  </a:lnTo>
                  <a:lnTo>
                    <a:pt x="274" y="221"/>
                  </a:lnTo>
                  <a:lnTo>
                    <a:pt x="270" y="222"/>
                  </a:lnTo>
                  <a:lnTo>
                    <a:pt x="267" y="221"/>
                  </a:lnTo>
                  <a:lnTo>
                    <a:pt x="264" y="222"/>
                  </a:lnTo>
                  <a:lnTo>
                    <a:pt x="261" y="224"/>
                  </a:lnTo>
                  <a:lnTo>
                    <a:pt x="259" y="223"/>
                  </a:lnTo>
                  <a:lnTo>
                    <a:pt x="255" y="222"/>
                  </a:lnTo>
                  <a:lnTo>
                    <a:pt x="253" y="219"/>
                  </a:lnTo>
                  <a:lnTo>
                    <a:pt x="254" y="217"/>
                  </a:lnTo>
                  <a:lnTo>
                    <a:pt x="255" y="217"/>
                  </a:lnTo>
                  <a:lnTo>
                    <a:pt x="262" y="218"/>
                  </a:lnTo>
                  <a:lnTo>
                    <a:pt x="264" y="217"/>
                  </a:lnTo>
                  <a:lnTo>
                    <a:pt x="263" y="216"/>
                  </a:lnTo>
                  <a:lnTo>
                    <a:pt x="260" y="214"/>
                  </a:lnTo>
                  <a:lnTo>
                    <a:pt x="256" y="215"/>
                  </a:lnTo>
                  <a:lnTo>
                    <a:pt x="253" y="212"/>
                  </a:lnTo>
                  <a:lnTo>
                    <a:pt x="250" y="207"/>
                  </a:lnTo>
                  <a:lnTo>
                    <a:pt x="246" y="203"/>
                  </a:lnTo>
                  <a:lnTo>
                    <a:pt x="245" y="200"/>
                  </a:lnTo>
                  <a:lnTo>
                    <a:pt x="242" y="196"/>
                  </a:lnTo>
                  <a:lnTo>
                    <a:pt x="237" y="195"/>
                  </a:lnTo>
                  <a:lnTo>
                    <a:pt x="233" y="193"/>
                  </a:lnTo>
                  <a:lnTo>
                    <a:pt x="229" y="192"/>
                  </a:lnTo>
                  <a:lnTo>
                    <a:pt x="225" y="181"/>
                  </a:lnTo>
                  <a:lnTo>
                    <a:pt x="223" y="177"/>
                  </a:lnTo>
                  <a:lnTo>
                    <a:pt x="220" y="174"/>
                  </a:lnTo>
                  <a:lnTo>
                    <a:pt x="219" y="172"/>
                  </a:lnTo>
                  <a:lnTo>
                    <a:pt x="216" y="169"/>
                  </a:lnTo>
                  <a:lnTo>
                    <a:pt x="213" y="167"/>
                  </a:lnTo>
                  <a:lnTo>
                    <a:pt x="214" y="163"/>
                  </a:lnTo>
                  <a:lnTo>
                    <a:pt x="215" y="161"/>
                  </a:lnTo>
                  <a:lnTo>
                    <a:pt x="212" y="155"/>
                  </a:lnTo>
                  <a:lnTo>
                    <a:pt x="209" y="156"/>
                  </a:lnTo>
                  <a:lnTo>
                    <a:pt x="209" y="158"/>
                  </a:lnTo>
                  <a:lnTo>
                    <a:pt x="209" y="163"/>
                  </a:lnTo>
                  <a:lnTo>
                    <a:pt x="207" y="163"/>
                  </a:lnTo>
                  <a:lnTo>
                    <a:pt x="205" y="161"/>
                  </a:lnTo>
                  <a:lnTo>
                    <a:pt x="202" y="158"/>
                  </a:lnTo>
                  <a:lnTo>
                    <a:pt x="197" y="150"/>
                  </a:lnTo>
                  <a:lnTo>
                    <a:pt x="194" y="147"/>
                  </a:lnTo>
                  <a:lnTo>
                    <a:pt x="193" y="146"/>
                  </a:lnTo>
                  <a:lnTo>
                    <a:pt x="194" y="144"/>
                  </a:lnTo>
                  <a:lnTo>
                    <a:pt x="192" y="140"/>
                  </a:lnTo>
                  <a:lnTo>
                    <a:pt x="189" y="139"/>
                  </a:lnTo>
                  <a:lnTo>
                    <a:pt x="192" y="133"/>
                  </a:lnTo>
                  <a:lnTo>
                    <a:pt x="194" y="130"/>
                  </a:lnTo>
                  <a:lnTo>
                    <a:pt x="195" y="127"/>
                  </a:lnTo>
                  <a:lnTo>
                    <a:pt x="196" y="124"/>
                  </a:lnTo>
                  <a:lnTo>
                    <a:pt x="194" y="121"/>
                  </a:lnTo>
                  <a:lnTo>
                    <a:pt x="193" y="125"/>
                  </a:lnTo>
                  <a:lnTo>
                    <a:pt x="191" y="124"/>
                  </a:lnTo>
                  <a:lnTo>
                    <a:pt x="191" y="122"/>
                  </a:lnTo>
                  <a:lnTo>
                    <a:pt x="188" y="118"/>
                  </a:lnTo>
                  <a:lnTo>
                    <a:pt x="187" y="118"/>
                  </a:lnTo>
                  <a:lnTo>
                    <a:pt x="187" y="119"/>
                  </a:lnTo>
                  <a:lnTo>
                    <a:pt x="188" y="121"/>
                  </a:lnTo>
                  <a:lnTo>
                    <a:pt x="189" y="124"/>
                  </a:lnTo>
                  <a:lnTo>
                    <a:pt x="189" y="127"/>
                  </a:lnTo>
                  <a:lnTo>
                    <a:pt x="189" y="128"/>
                  </a:lnTo>
                  <a:lnTo>
                    <a:pt x="187" y="130"/>
                  </a:lnTo>
                  <a:lnTo>
                    <a:pt x="186" y="129"/>
                  </a:lnTo>
                  <a:lnTo>
                    <a:pt x="184" y="127"/>
                  </a:lnTo>
                  <a:lnTo>
                    <a:pt x="181" y="122"/>
                  </a:lnTo>
                  <a:lnTo>
                    <a:pt x="180" y="120"/>
                  </a:lnTo>
                  <a:lnTo>
                    <a:pt x="180" y="116"/>
                  </a:lnTo>
                  <a:lnTo>
                    <a:pt x="180" y="110"/>
                  </a:lnTo>
                  <a:lnTo>
                    <a:pt x="182" y="106"/>
                  </a:lnTo>
                  <a:lnTo>
                    <a:pt x="183" y="98"/>
                  </a:lnTo>
                  <a:lnTo>
                    <a:pt x="183" y="93"/>
                  </a:lnTo>
                  <a:lnTo>
                    <a:pt x="182" y="86"/>
                  </a:lnTo>
                  <a:lnTo>
                    <a:pt x="180" y="79"/>
                  </a:lnTo>
                  <a:lnTo>
                    <a:pt x="177" y="77"/>
                  </a:lnTo>
                  <a:lnTo>
                    <a:pt x="174" y="72"/>
                  </a:lnTo>
                  <a:lnTo>
                    <a:pt x="168" y="71"/>
                  </a:lnTo>
                  <a:lnTo>
                    <a:pt x="165" y="71"/>
                  </a:lnTo>
                  <a:lnTo>
                    <a:pt x="163" y="67"/>
                  </a:lnTo>
                  <a:lnTo>
                    <a:pt x="160" y="66"/>
                  </a:lnTo>
                  <a:lnTo>
                    <a:pt x="156" y="61"/>
                  </a:lnTo>
                  <a:lnTo>
                    <a:pt x="152" y="60"/>
                  </a:lnTo>
                  <a:lnTo>
                    <a:pt x="151" y="55"/>
                  </a:lnTo>
                  <a:lnTo>
                    <a:pt x="149" y="53"/>
                  </a:lnTo>
                  <a:lnTo>
                    <a:pt x="143" y="48"/>
                  </a:lnTo>
                  <a:lnTo>
                    <a:pt x="138" y="44"/>
                  </a:lnTo>
                  <a:lnTo>
                    <a:pt x="134" y="42"/>
                  </a:lnTo>
                  <a:lnTo>
                    <a:pt x="130" y="39"/>
                  </a:lnTo>
                  <a:lnTo>
                    <a:pt x="127" y="38"/>
                  </a:lnTo>
                  <a:lnTo>
                    <a:pt x="122" y="38"/>
                  </a:lnTo>
                  <a:lnTo>
                    <a:pt x="117" y="39"/>
                  </a:lnTo>
                  <a:lnTo>
                    <a:pt x="116" y="42"/>
                  </a:lnTo>
                  <a:lnTo>
                    <a:pt x="117" y="45"/>
                  </a:lnTo>
                  <a:lnTo>
                    <a:pt x="116" y="47"/>
                  </a:lnTo>
                  <a:lnTo>
                    <a:pt x="114" y="47"/>
                  </a:lnTo>
                  <a:lnTo>
                    <a:pt x="112" y="45"/>
                  </a:lnTo>
                  <a:lnTo>
                    <a:pt x="107" y="49"/>
                  </a:lnTo>
                  <a:lnTo>
                    <a:pt x="101" y="54"/>
                  </a:lnTo>
                  <a:lnTo>
                    <a:pt x="94" y="56"/>
                  </a:lnTo>
                  <a:lnTo>
                    <a:pt x="83" y="59"/>
                  </a:lnTo>
                  <a:lnTo>
                    <a:pt x="83" y="53"/>
                  </a:lnTo>
                  <a:lnTo>
                    <a:pt x="80" y="50"/>
                  </a:lnTo>
                  <a:lnTo>
                    <a:pt x="77" y="49"/>
                  </a:lnTo>
                  <a:lnTo>
                    <a:pt x="72" y="46"/>
                  </a:lnTo>
                  <a:lnTo>
                    <a:pt x="76" y="44"/>
                  </a:lnTo>
                  <a:lnTo>
                    <a:pt x="77" y="43"/>
                  </a:lnTo>
                  <a:lnTo>
                    <a:pt x="70" y="42"/>
                  </a:lnTo>
                  <a:lnTo>
                    <a:pt x="70" y="39"/>
                  </a:lnTo>
                  <a:lnTo>
                    <a:pt x="72" y="39"/>
                  </a:lnTo>
                  <a:lnTo>
                    <a:pt x="73" y="37"/>
                  </a:lnTo>
                  <a:lnTo>
                    <a:pt x="73" y="35"/>
                  </a:lnTo>
                  <a:lnTo>
                    <a:pt x="72" y="35"/>
                  </a:lnTo>
                  <a:lnTo>
                    <a:pt x="70" y="36"/>
                  </a:lnTo>
                  <a:lnTo>
                    <a:pt x="70" y="37"/>
                  </a:lnTo>
                  <a:lnTo>
                    <a:pt x="69" y="38"/>
                  </a:lnTo>
                  <a:lnTo>
                    <a:pt x="67" y="36"/>
                  </a:lnTo>
                  <a:lnTo>
                    <a:pt x="62" y="36"/>
                  </a:lnTo>
                  <a:lnTo>
                    <a:pt x="64" y="39"/>
                  </a:lnTo>
                  <a:lnTo>
                    <a:pt x="65" y="39"/>
                  </a:lnTo>
                  <a:lnTo>
                    <a:pt x="66" y="43"/>
                  </a:lnTo>
                  <a:lnTo>
                    <a:pt x="65" y="43"/>
                  </a:lnTo>
                  <a:lnTo>
                    <a:pt x="61" y="41"/>
                  </a:lnTo>
                  <a:lnTo>
                    <a:pt x="57" y="38"/>
                  </a:lnTo>
                  <a:lnTo>
                    <a:pt x="53" y="37"/>
                  </a:lnTo>
                  <a:lnTo>
                    <a:pt x="44" y="37"/>
                  </a:lnTo>
                  <a:lnTo>
                    <a:pt x="41" y="35"/>
                  </a:lnTo>
                  <a:lnTo>
                    <a:pt x="39" y="33"/>
                  </a:lnTo>
                  <a:lnTo>
                    <a:pt x="36" y="33"/>
                  </a:lnTo>
                  <a:lnTo>
                    <a:pt x="26" y="35"/>
                  </a:lnTo>
                  <a:lnTo>
                    <a:pt x="19" y="35"/>
                  </a:lnTo>
                  <a:lnTo>
                    <a:pt x="14" y="38"/>
                  </a:lnTo>
                  <a:lnTo>
                    <a:pt x="11" y="39"/>
                  </a:lnTo>
                  <a:lnTo>
                    <a:pt x="7" y="32"/>
                  </a:lnTo>
                  <a:lnTo>
                    <a:pt x="6" y="27"/>
                  </a:lnTo>
                  <a:lnTo>
                    <a:pt x="2" y="22"/>
                  </a:lnTo>
                  <a:lnTo>
                    <a:pt x="0" y="20"/>
                  </a:lnTo>
                  <a:lnTo>
                    <a:pt x="0" y="17"/>
                  </a:lnTo>
                  <a:lnTo>
                    <a:pt x="3" y="16"/>
                  </a:lnTo>
                  <a:lnTo>
                    <a:pt x="10" y="14"/>
                  </a:lnTo>
                  <a:lnTo>
                    <a:pt x="18" y="12"/>
                  </a:lnTo>
                  <a:lnTo>
                    <a:pt x="93" y="6"/>
                  </a:lnTo>
                  <a:lnTo>
                    <a:pt x="98" y="16"/>
                  </a:lnTo>
                  <a:lnTo>
                    <a:pt x="189" y="11"/>
                  </a:lnTo>
                  <a:lnTo>
                    <a:pt x="190" y="19"/>
                  </a:lnTo>
                  <a:lnTo>
                    <a:pt x="197" y="19"/>
                  </a:lnTo>
                  <a:lnTo>
                    <a:pt x="194" y="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7" name="Freeform 34"/>
            <p:cNvSpPr>
              <a:spLocks/>
            </p:cNvSpPr>
            <p:nvPr/>
          </p:nvSpPr>
          <p:spPr bwMode="auto">
            <a:xfrm>
              <a:off x="6802545" y="2950697"/>
              <a:ext cx="306933" cy="271518"/>
            </a:xfrm>
            <a:custGeom>
              <a:avLst/>
              <a:gdLst>
                <a:gd name="T0" fmla="*/ 176 w 182"/>
                <a:gd name="T1" fmla="*/ 147 h 161"/>
                <a:gd name="T2" fmla="*/ 171 w 182"/>
                <a:gd name="T3" fmla="*/ 146 h 161"/>
                <a:gd name="T4" fmla="*/ 160 w 182"/>
                <a:gd name="T5" fmla="*/ 139 h 161"/>
                <a:gd name="T6" fmla="*/ 152 w 182"/>
                <a:gd name="T7" fmla="*/ 134 h 161"/>
                <a:gd name="T8" fmla="*/ 155 w 182"/>
                <a:gd name="T9" fmla="*/ 130 h 161"/>
                <a:gd name="T10" fmla="*/ 166 w 182"/>
                <a:gd name="T11" fmla="*/ 128 h 161"/>
                <a:gd name="T12" fmla="*/ 162 w 182"/>
                <a:gd name="T13" fmla="*/ 118 h 161"/>
                <a:gd name="T14" fmla="*/ 148 w 182"/>
                <a:gd name="T15" fmla="*/ 122 h 161"/>
                <a:gd name="T16" fmla="*/ 148 w 182"/>
                <a:gd name="T17" fmla="*/ 119 h 161"/>
                <a:gd name="T18" fmla="*/ 154 w 182"/>
                <a:gd name="T19" fmla="*/ 114 h 161"/>
                <a:gd name="T20" fmla="*/ 150 w 182"/>
                <a:gd name="T21" fmla="*/ 99 h 161"/>
                <a:gd name="T22" fmla="*/ 84 w 182"/>
                <a:gd name="T23" fmla="*/ 82 h 161"/>
                <a:gd name="T24" fmla="*/ 84 w 182"/>
                <a:gd name="T25" fmla="*/ 73 h 161"/>
                <a:gd name="T26" fmla="*/ 87 w 182"/>
                <a:gd name="T27" fmla="*/ 64 h 161"/>
                <a:gd name="T28" fmla="*/ 90 w 182"/>
                <a:gd name="T29" fmla="*/ 58 h 161"/>
                <a:gd name="T30" fmla="*/ 97 w 182"/>
                <a:gd name="T31" fmla="*/ 43 h 161"/>
                <a:gd name="T32" fmla="*/ 99 w 182"/>
                <a:gd name="T33" fmla="*/ 37 h 161"/>
                <a:gd name="T34" fmla="*/ 102 w 182"/>
                <a:gd name="T35" fmla="*/ 23 h 161"/>
                <a:gd name="T36" fmla="*/ 98 w 182"/>
                <a:gd name="T37" fmla="*/ 14 h 161"/>
                <a:gd name="T38" fmla="*/ 94 w 182"/>
                <a:gd name="T39" fmla="*/ 9 h 161"/>
                <a:gd name="T40" fmla="*/ 97 w 182"/>
                <a:gd name="T41" fmla="*/ 2 h 161"/>
                <a:gd name="T42" fmla="*/ 0 w 182"/>
                <a:gd name="T43" fmla="*/ 47 h 161"/>
                <a:gd name="T44" fmla="*/ 11 w 182"/>
                <a:gd name="T45" fmla="*/ 64 h 161"/>
                <a:gd name="T46" fmla="*/ 13 w 182"/>
                <a:gd name="T47" fmla="*/ 75 h 161"/>
                <a:gd name="T48" fmla="*/ 13 w 182"/>
                <a:gd name="T49" fmla="*/ 94 h 161"/>
                <a:gd name="T50" fmla="*/ 9 w 182"/>
                <a:gd name="T51" fmla="*/ 110 h 161"/>
                <a:gd name="T52" fmla="*/ 9 w 182"/>
                <a:gd name="T53" fmla="*/ 131 h 161"/>
                <a:gd name="T54" fmla="*/ 15 w 182"/>
                <a:gd name="T55" fmla="*/ 136 h 161"/>
                <a:gd name="T56" fmla="*/ 25 w 182"/>
                <a:gd name="T57" fmla="*/ 134 h 161"/>
                <a:gd name="T58" fmla="*/ 44 w 182"/>
                <a:gd name="T59" fmla="*/ 139 h 161"/>
                <a:gd name="T60" fmla="*/ 72 w 182"/>
                <a:gd name="T61" fmla="*/ 142 h 161"/>
                <a:gd name="T62" fmla="*/ 78 w 182"/>
                <a:gd name="T63" fmla="*/ 138 h 161"/>
                <a:gd name="T64" fmla="*/ 70 w 182"/>
                <a:gd name="T65" fmla="*/ 137 h 161"/>
                <a:gd name="T66" fmla="*/ 77 w 182"/>
                <a:gd name="T67" fmla="*/ 132 h 161"/>
                <a:gd name="T68" fmla="*/ 97 w 182"/>
                <a:gd name="T69" fmla="*/ 142 h 161"/>
                <a:gd name="T70" fmla="*/ 98 w 182"/>
                <a:gd name="T71" fmla="*/ 150 h 161"/>
                <a:gd name="T72" fmla="*/ 111 w 182"/>
                <a:gd name="T73" fmla="*/ 155 h 161"/>
                <a:gd name="T74" fmla="*/ 121 w 182"/>
                <a:gd name="T75" fmla="*/ 154 h 161"/>
                <a:gd name="T76" fmla="*/ 132 w 182"/>
                <a:gd name="T77" fmla="*/ 150 h 161"/>
                <a:gd name="T78" fmla="*/ 142 w 182"/>
                <a:gd name="T79" fmla="*/ 153 h 161"/>
                <a:gd name="T80" fmla="*/ 142 w 182"/>
                <a:gd name="T81" fmla="*/ 141 h 161"/>
                <a:gd name="T82" fmla="*/ 150 w 182"/>
                <a:gd name="T83" fmla="*/ 147 h 161"/>
                <a:gd name="T84" fmla="*/ 168 w 182"/>
                <a:gd name="T85" fmla="*/ 154 h 161"/>
                <a:gd name="T86" fmla="*/ 169 w 182"/>
                <a:gd name="T87" fmla="*/ 161 h 161"/>
                <a:gd name="T88" fmla="*/ 176 w 182"/>
                <a:gd name="T89" fmla="*/ 158 h 161"/>
                <a:gd name="T90" fmla="*/ 181 w 182"/>
                <a:gd name="T91" fmla="*/ 15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2" h="161">
                  <a:moveTo>
                    <a:pt x="181" y="149"/>
                  </a:moveTo>
                  <a:lnTo>
                    <a:pt x="179" y="149"/>
                  </a:lnTo>
                  <a:lnTo>
                    <a:pt x="176" y="147"/>
                  </a:lnTo>
                  <a:lnTo>
                    <a:pt x="175" y="147"/>
                  </a:lnTo>
                  <a:lnTo>
                    <a:pt x="173" y="147"/>
                  </a:lnTo>
                  <a:lnTo>
                    <a:pt x="171" y="146"/>
                  </a:lnTo>
                  <a:lnTo>
                    <a:pt x="166" y="143"/>
                  </a:lnTo>
                  <a:lnTo>
                    <a:pt x="165" y="143"/>
                  </a:lnTo>
                  <a:lnTo>
                    <a:pt x="160" y="139"/>
                  </a:lnTo>
                  <a:lnTo>
                    <a:pt x="158" y="137"/>
                  </a:lnTo>
                  <a:lnTo>
                    <a:pt x="155" y="136"/>
                  </a:lnTo>
                  <a:lnTo>
                    <a:pt x="152" y="134"/>
                  </a:lnTo>
                  <a:lnTo>
                    <a:pt x="150" y="132"/>
                  </a:lnTo>
                  <a:lnTo>
                    <a:pt x="153" y="132"/>
                  </a:lnTo>
                  <a:lnTo>
                    <a:pt x="155" y="130"/>
                  </a:lnTo>
                  <a:lnTo>
                    <a:pt x="160" y="130"/>
                  </a:lnTo>
                  <a:lnTo>
                    <a:pt x="161" y="128"/>
                  </a:lnTo>
                  <a:lnTo>
                    <a:pt x="166" y="128"/>
                  </a:lnTo>
                  <a:lnTo>
                    <a:pt x="168" y="126"/>
                  </a:lnTo>
                  <a:lnTo>
                    <a:pt x="165" y="121"/>
                  </a:lnTo>
                  <a:lnTo>
                    <a:pt x="162" y="118"/>
                  </a:lnTo>
                  <a:lnTo>
                    <a:pt x="161" y="118"/>
                  </a:lnTo>
                  <a:lnTo>
                    <a:pt x="151" y="121"/>
                  </a:lnTo>
                  <a:lnTo>
                    <a:pt x="148" y="122"/>
                  </a:lnTo>
                  <a:lnTo>
                    <a:pt x="145" y="122"/>
                  </a:lnTo>
                  <a:lnTo>
                    <a:pt x="145" y="121"/>
                  </a:lnTo>
                  <a:lnTo>
                    <a:pt x="148" y="119"/>
                  </a:lnTo>
                  <a:lnTo>
                    <a:pt x="151" y="118"/>
                  </a:lnTo>
                  <a:lnTo>
                    <a:pt x="154" y="116"/>
                  </a:lnTo>
                  <a:lnTo>
                    <a:pt x="154" y="114"/>
                  </a:lnTo>
                  <a:lnTo>
                    <a:pt x="154" y="110"/>
                  </a:lnTo>
                  <a:lnTo>
                    <a:pt x="153" y="103"/>
                  </a:lnTo>
                  <a:lnTo>
                    <a:pt x="150" y="99"/>
                  </a:lnTo>
                  <a:lnTo>
                    <a:pt x="148" y="95"/>
                  </a:lnTo>
                  <a:lnTo>
                    <a:pt x="149" y="79"/>
                  </a:lnTo>
                  <a:lnTo>
                    <a:pt x="84" y="82"/>
                  </a:lnTo>
                  <a:lnTo>
                    <a:pt x="83" y="78"/>
                  </a:lnTo>
                  <a:lnTo>
                    <a:pt x="83" y="75"/>
                  </a:lnTo>
                  <a:lnTo>
                    <a:pt x="84" y="73"/>
                  </a:lnTo>
                  <a:lnTo>
                    <a:pt x="87" y="71"/>
                  </a:lnTo>
                  <a:lnTo>
                    <a:pt x="87" y="66"/>
                  </a:lnTo>
                  <a:lnTo>
                    <a:pt x="87" y="64"/>
                  </a:lnTo>
                  <a:lnTo>
                    <a:pt x="88" y="61"/>
                  </a:lnTo>
                  <a:lnTo>
                    <a:pt x="89" y="60"/>
                  </a:lnTo>
                  <a:lnTo>
                    <a:pt x="90" y="58"/>
                  </a:lnTo>
                  <a:lnTo>
                    <a:pt x="91" y="51"/>
                  </a:lnTo>
                  <a:lnTo>
                    <a:pt x="93" y="49"/>
                  </a:lnTo>
                  <a:lnTo>
                    <a:pt x="97" y="43"/>
                  </a:lnTo>
                  <a:lnTo>
                    <a:pt x="98" y="41"/>
                  </a:lnTo>
                  <a:lnTo>
                    <a:pt x="98" y="37"/>
                  </a:lnTo>
                  <a:lnTo>
                    <a:pt x="99" y="37"/>
                  </a:lnTo>
                  <a:lnTo>
                    <a:pt x="102" y="34"/>
                  </a:lnTo>
                  <a:lnTo>
                    <a:pt x="103" y="26"/>
                  </a:lnTo>
                  <a:lnTo>
                    <a:pt x="102" y="23"/>
                  </a:lnTo>
                  <a:lnTo>
                    <a:pt x="99" y="21"/>
                  </a:lnTo>
                  <a:lnTo>
                    <a:pt x="99" y="19"/>
                  </a:lnTo>
                  <a:lnTo>
                    <a:pt x="98" y="14"/>
                  </a:lnTo>
                  <a:lnTo>
                    <a:pt x="98" y="13"/>
                  </a:lnTo>
                  <a:lnTo>
                    <a:pt x="97" y="11"/>
                  </a:lnTo>
                  <a:lnTo>
                    <a:pt x="94" y="9"/>
                  </a:lnTo>
                  <a:lnTo>
                    <a:pt x="98" y="7"/>
                  </a:lnTo>
                  <a:lnTo>
                    <a:pt x="98" y="5"/>
                  </a:lnTo>
                  <a:lnTo>
                    <a:pt x="97" y="2"/>
                  </a:lnTo>
                  <a:lnTo>
                    <a:pt x="94" y="0"/>
                  </a:lnTo>
                  <a:lnTo>
                    <a:pt x="0" y="3"/>
                  </a:lnTo>
                  <a:lnTo>
                    <a:pt x="0" y="47"/>
                  </a:lnTo>
                  <a:lnTo>
                    <a:pt x="7" y="53"/>
                  </a:lnTo>
                  <a:lnTo>
                    <a:pt x="7" y="55"/>
                  </a:lnTo>
                  <a:lnTo>
                    <a:pt x="11" y="64"/>
                  </a:lnTo>
                  <a:lnTo>
                    <a:pt x="12" y="66"/>
                  </a:lnTo>
                  <a:lnTo>
                    <a:pt x="12" y="72"/>
                  </a:lnTo>
                  <a:lnTo>
                    <a:pt x="13" y="75"/>
                  </a:lnTo>
                  <a:lnTo>
                    <a:pt x="15" y="83"/>
                  </a:lnTo>
                  <a:lnTo>
                    <a:pt x="17" y="89"/>
                  </a:lnTo>
                  <a:lnTo>
                    <a:pt x="13" y="94"/>
                  </a:lnTo>
                  <a:lnTo>
                    <a:pt x="11" y="102"/>
                  </a:lnTo>
                  <a:lnTo>
                    <a:pt x="11" y="105"/>
                  </a:lnTo>
                  <a:lnTo>
                    <a:pt x="9" y="110"/>
                  </a:lnTo>
                  <a:lnTo>
                    <a:pt x="12" y="117"/>
                  </a:lnTo>
                  <a:lnTo>
                    <a:pt x="12" y="121"/>
                  </a:lnTo>
                  <a:lnTo>
                    <a:pt x="9" y="131"/>
                  </a:lnTo>
                  <a:lnTo>
                    <a:pt x="6" y="136"/>
                  </a:lnTo>
                  <a:lnTo>
                    <a:pt x="10" y="136"/>
                  </a:lnTo>
                  <a:lnTo>
                    <a:pt x="15" y="136"/>
                  </a:lnTo>
                  <a:lnTo>
                    <a:pt x="18" y="134"/>
                  </a:lnTo>
                  <a:lnTo>
                    <a:pt x="22" y="134"/>
                  </a:lnTo>
                  <a:lnTo>
                    <a:pt x="25" y="134"/>
                  </a:lnTo>
                  <a:lnTo>
                    <a:pt x="34" y="136"/>
                  </a:lnTo>
                  <a:lnTo>
                    <a:pt x="39" y="137"/>
                  </a:lnTo>
                  <a:lnTo>
                    <a:pt x="44" y="139"/>
                  </a:lnTo>
                  <a:lnTo>
                    <a:pt x="51" y="142"/>
                  </a:lnTo>
                  <a:lnTo>
                    <a:pt x="64" y="142"/>
                  </a:lnTo>
                  <a:lnTo>
                    <a:pt x="72" y="142"/>
                  </a:lnTo>
                  <a:lnTo>
                    <a:pt x="79" y="142"/>
                  </a:lnTo>
                  <a:lnTo>
                    <a:pt x="80" y="141"/>
                  </a:lnTo>
                  <a:lnTo>
                    <a:pt x="78" y="138"/>
                  </a:lnTo>
                  <a:lnTo>
                    <a:pt x="73" y="138"/>
                  </a:lnTo>
                  <a:lnTo>
                    <a:pt x="72" y="138"/>
                  </a:lnTo>
                  <a:lnTo>
                    <a:pt x="70" y="137"/>
                  </a:lnTo>
                  <a:lnTo>
                    <a:pt x="71" y="134"/>
                  </a:lnTo>
                  <a:lnTo>
                    <a:pt x="72" y="132"/>
                  </a:lnTo>
                  <a:lnTo>
                    <a:pt x="77" y="132"/>
                  </a:lnTo>
                  <a:lnTo>
                    <a:pt x="84" y="135"/>
                  </a:lnTo>
                  <a:lnTo>
                    <a:pt x="91" y="141"/>
                  </a:lnTo>
                  <a:lnTo>
                    <a:pt x="97" y="142"/>
                  </a:lnTo>
                  <a:lnTo>
                    <a:pt x="101" y="140"/>
                  </a:lnTo>
                  <a:lnTo>
                    <a:pt x="100" y="144"/>
                  </a:lnTo>
                  <a:lnTo>
                    <a:pt x="98" y="150"/>
                  </a:lnTo>
                  <a:lnTo>
                    <a:pt x="100" y="153"/>
                  </a:lnTo>
                  <a:lnTo>
                    <a:pt x="106" y="155"/>
                  </a:lnTo>
                  <a:lnTo>
                    <a:pt x="111" y="155"/>
                  </a:lnTo>
                  <a:lnTo>
                    <a:pt x="115" y="158"/>
                  </a:lnTo>
                  <a:lnTo>
                    <a:pt x="119" y="158"/>
                  </a:lnTo>
                  <a:lnTo>
                    <a:pt x="121" y="154"/>
                  </a:lnTo>
                  <a:lnTo>
                    <a:pt x="125" y="150"/>
                  </a:lnTo>
                  <a:lnTo>
                    <a:pt x="128" y="149"/>
                  </a:lnTo>
                  <a:lnTo>
                    <a:pt x="132" y="150"/>
                  </a:lnTo>
                  <a:lnTo>
                    <a:pt x="136" y="155"/>
                  </a:lnTo>
                  <a:lnTo>
                    <a:pt x="140" y="155"/>
                  </a:lnTo>
                  <a:lnTo>
                    <a:pt x="142" y="153"/>
                  </a:lnTo>
                  <a:lnTo>
                    <a:pt x="140" y="145"/>
                  </a:lnTo>
                  <a:lnTo>
                    <a:pt x="140" y="143"/>
                  </a:lnTo>
                  <a:lnTo>
                    <a:pt x="142" y="141"/>
                  </a:lnTo>
                  <a:lnTo>
                    <a:pt x="146" y="141"/>
                  </a:lnTo>
                  <a:lnTo>
                    <a:pt x="150" y="143"/>
                  </a:lnTo>
                  <a:lnTo>
                    <a:pt x="150" y="147"/>
                  </a:lnTo>
                  <a:lnTo>
                    <a:pt x="158" y="148"/>
                  </a:lnTo>
                  <a:lnTo>
                    <a:pt x="165" y="151"/>
                  </a:lnTo>
                  <a:lnTo>
                    <a:pt x="168" y="154"/>
                  </a:lnTo>
                  <a:lnTo>
                    <a:pt x="166" y="157"/>
                  </a:lnTo>
                  <a:lnTo>
                    <a:pt x="165" y="161"/>
                  </a:lnTo>
                  <a:lnTo>
                    <a:pt x="169" y="161"/>
                  </a:lnTo>
                  <a:lnTo>
                    <a:pt x="171" y="158"/>
                  </a:lnTo>
                  <a:lnTo>
                    <a:pt x="173" y="156"/>
                  </a:lnTo>
                  <a:lnTo>
                    <a:pt x="176" y="158"/>
                  </a:lnTo>
                  <a:lnTo>
                    <a:pt x="176" y="160"/>
                  </a:lnTo>
                  <a:lnTo>
                    <a:pt x="178" y="157"/>
                  </a:lnTo>
                  <a:lnTo>
                    <a:pt x="181" y="154"/>
                  </a:lnTo>
                  <a:lnTo>
                    <a:pt x="182" y="153"/>
                  </a:lnTo>
                  <a:lnTo>
                    <a:pt x="181" y="149"/>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8" name="Freeform 35"/>
            <p:cNvSpPr>
              <a:spLocks/>
            </p:cNvSpPr>
            <p:nvPr/>
          </p:nvSpPr>
          <p:spPr bwMode="auto">
            <a:xfrm>
              <a:off x="6765443" y="2707850"/>
              <a:ext cx="274890" cy="247908"/>
            </a:xfrm>
            <a:custGeom>
              <a:avLst/>
              <a:gdLst>
                <a:gd name="T0" fmla="*/ 6 w 163"/>
                <a:gd name="T1" fmla="*/ 123 h 147"/>
                <a:gd name="T2" fmla="*/ 4 w 163"/>
                <a:gd name="T3" fmla="*/ 121 h 147"/>
                <a:gd name="T4" fmla="*/ 7 w 163"/>
                <a:gd name="T5" fmla="*/ 124 h 147"/>
                <a:gd name="T6" fmla="*/ 10 w 163"/>
                <a:gd name="T7" fmla="*/ 125 h 147"/>
                <a:gd name="T8" fmla="*/ 12 w 163"/>
                <a:gd name="T9" fmla="*/ 123 h 147"/>
                <a:gd name="T10" fmla="*/ 22 w 163"/>
                <a:gd name="T11" fmla="*/ 124 h 147"/>
                <a:gd name="T12" fmla="*/ 22 w 163"/>
                <a:gd name="T13" fmla="*/ 147 h 147"/>
                <a:gd name="T14" fmla="*/ 116 w 163"/>
                <a:gd name="T15" fmla="*/ 144 h 147"/>
                <a:gd name="T16" fmla="*/ 117 w 163"/>
                <a:gd name="T17" fmla="*/ 144 h 147"/>
                <a:gd name="T18" fmla="*/ 119 w 163"/>
                <a:gd name="T19" fmla="*/ 139 h 147"/>
                <a:gd name="T20" fmla="*/ 120 w 163"/>
                <a:gd name="T21" fmla="*/ 136 h 147"/>
                <a:gd name="T22" fmla="*/ 119 w 163"/>
                <a:gd name="T23" fmla="*/ 133 h 147"/>
                <a:gd name="T24" fmla="*/ 119 w 163"/>
                <a:gd name="T25" fmla="*/ 127 h 147"/>
                <a:gd name="T26" fmla="*/ 119 w 163"/>
                <a:gd name="T27" fmla="*/ 125 h 147"/>
                <a:gd name="T28" fmla="*/ 117 w 163"/>
                <a:gd name="T29" fmla="*/ 122 h 147"/>
                <a:gd name="T30" fmla="*/ 116 w 163"/>
                <a:gd name="T31" fmla="*/ 121 h 147"/>
                <a:gd name="T32" fmla="*/ 116 w 163"/>
                <a:gd name="T33" fmla="*/ 119 h 147"/>
                <a:gd name="T34" fmla="*/ 117 w 163"/>
                <a:gd name="T35" fmla="*/ 117 h 147"/>
                <a:gd name="T36" fmla="*/ 116 w 163"/>
                <a:gd name="T37" fmla="*/ 116 h 147"/>
                <a:gd name="T38" fmla="*/ 118 w 163"/>
                <a:gd name="T39" fmla="*/ 113 h 147"/>
                <a:gd name="T40" fmla="*/ 121 w 163"/>
                <a:gd name="T41" fmla="*/ 109 h 147"/>
                <a:gd name="T42" fmla="*/ 122 w 163"/>
                <a:gd name="T43" fmla="*/ 109 h 147"/>
                <a:gd name="T44" fmla="*/ 121 w 163"/>
                <a:gd name="T45" fmla="*/ 107 h 147"/>
                <a:gd name="T46" fmla="*/ 123 w 163"/>
                <a:gd name="T47" fmla="*/ 103 h 147"/>
                <a:gd name="T48" fmla="*/ 125 w 163"/>
                <a:gd name="T49" fmla="*/ 100 h 147"/>
                <a:gd name="T50" fmla="*/ 123 w 163"/>
                <a:gd name="T51" fmla="*/ 99 h 147"/>
                <a:gd name="T52" fmla="*/ 124 w 163"/>
                <a:gd name="T53" fmla="*/ 95 h 147"/>
                <a:gd name="T54" fmla="*/ 127 w 163"/>
                <a:gd name="T55" fmla="*/ 92 h 147"/>
                <a:gd name="T56" fmla="*/ 132 w 163"/>
                <a:gd name="T57" fmla="*/ 86 h 147"/>
                <a:gd name="T58" fmla="*/ 135 w 163"/>
                <a:gd name="T59" fmla="*/ 81 h 147"/>
                <a:gd name="T60" fmla="*/ 135 w 163"/>
                <a:gd name="T61" fmla="*/ 77 h 147"/>
                <a:gd name="T62" fmla="*/ 137 w 163"/>
                <a:gd name="T63" fmla="*/ 72 h 147"/>
                <a:gd name="T64" fmla="*/ 138 w 163"/>
                <a:gd name="T65" fmla="*/ 72 h 147"/>
                <a:gd name="T66" fmla="*/ 140 w 163"/>
                <a:gd name="T67" fmla="*/ 70 h 147"/>
                <a:gd name="T68" fmla="*/ 141 w 163"/>
                <a:gd name="T69" fmla="*/ 67 h 147"/>
                <a:gd name="T70" fmla="*/ 143 w 163"/>
                <a:gd name="T71" fmla="*/ 65 h 147"/>
                <a:gd name="T72" fmla="*/ 147 w 163"/>
                <a:gd name="T73" fmla="*/ 63 h 147"/>
                <a:gd name="T74" fmla="*/ 146 w 163"/>
                <a:gd name="T75" fmla="*/ 60 h 147"/>
                <a:gd name="T76" fmla="*/ 148 w 163"/>
                <a:gd name="T77" fmla="*/ 58 h 147"/>
                <a:gd name="T78" fmla="*/ 150 w 163"/>
                <a:gd name="T79" fmla="*/ 54 h 147"/>
                <a:gd name="T80" fmla="*/ 150 w 163"/>
                <a:gd name="T81" fmla="*/ 48 h 147"/>
                <a:gd name="T82" fmla="*/ 150 w 163"/>
                <a:gd name="T83" fmla="*/ 43 h 147"/>
                <a:gd name="T84" fmla="*/ 153 w 163"/>
                <a:gd name="T85" fmla="*/ 39 h 147"/>
                <a:gd name="T86" fmla="*/ 156 w 163"/>
                <a:gd name="T87" fmla="*/ 37 h 147"/>
                <a:gd name="T88" fmla="*/ 156 w 163"/>
                <a:gd name="T89" fmla="*/ 35 h 147"/>
                <a:gd name="T90" fmla="*/ 157 w 163"/>
                <a:gd name="T91" fmla="*/ 33 h 147"/>
                <a:gd name="T92" fmla="*/ 157 w 163"/>
                <a:gd name="T93" fmla="*/ 29 h 147"/>
                <a:gd name="T94" fmla="*/ 160 w 163"/>
                <a:gd name="T95" fmla="*/ 28 h 147"/>
                <a:gd name="T96" fmla="*/ 161 w 163"/>
                <a:gd name="T97" fmla="*/ 26 h 147"/>
                <a:gd name="T98" fmla="*/ 162 w 163"/>
                <a:gd name="T99" fmla="*/ 24 h 147"/>
                <a:gd name="T100" fmla="*/ 163 w 163"/>
                <a:gd name="T101" fmla="*/ 22 h 147"/>
                <a:gd name="T102" fmla="*/ 163 w 163"/>
                <a:gd name="T103" fmla="*/ 19 h 147"/>
                <a:gd name="T104" fmla="*/ 138 w 163"/>
                <a:gd name="T105" fmla="*/ 20 h 147"/>
                <a:gd name="T106" fmla="*/ 148 w 163"/>
                <a:gd name="T107" fmla="*/ 5 h 147"/>
                <a:gd name="T108" fmla="*/ 147 w 163"/>
                <a:gd name="T109" fmla="*/ 0 h 147"/>
                <a:gd name="T110" fmla="*/ 0 w 163"/>
                <a:gd name="T111" fmla="*/ 4 h 147"/>
                <a:gd name="T112" fmla="*/ 7 w 163"/>
                <a:gd name="T113" fmla="*/ 47 h 147"/>
                <a:gd name="T114" fmla="*/ 6 w 163"/>
                <a:gd name="T115" fmla="*/ 123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63" h="147">
                  <a:moveTo>
                    <a:pt x="6" y="123"/>
                  </a:moveTo>
                  <a:lnTo>
                    <a:pt x="4" y="121"/>
                  </a:lnTo>
                  <a:lnTo>
                    <a:pt x="7" y="124"/>
                  </a:lnTo>
                  <a:lnTo>
                    <a:pt x="10" y="125"/>
                  </a:lnTo>
                  <a:lnTo>
                    <a:pt x="12" y="123"/>
                  </a:lnTo>
                  <a:lnTo>
                    <a:pt x="22" y="124"/>
                  </a:lnTo>
                  <a:lnTo>
                    <a:pt x="22" y="147"/>
                  </a:lnTo>
                  <a:lnTo>
                    <a:pt x="116" y="144"/>
                  </a:lnTo>
                  <a:lnTo>
                    <a:pt x="117" y="144"/>
                  </a:lnTo>
                  <a:lnTo>
                    <a:pt x="119" y="139"/>
                  </a:lnTo>
                  <a:lnTo>
                    <a:pt x="120" y="136"/>
                  </a:lnTo>
                  <a:lnTo>
                    <a:pt x="119" y="133"/>
                  </a:lnTo>
                  <a:lnTo>
                    <a:pt x="119" y="127"/>
                  </a:lnTo>
                  <a:lnTo>
                    <a:pt x="119" y="125"/>
                  </a:lnTo>
                  <a:lnTo>
                    <a:pt x="117" y="122"/>
                  </a:lnTo>
                  <a:lnTo>
                    <a:pt x="116" y="121"/>
                  </a:lnTo>
                  <a:lnTo>
                    <a:pt x="116" y="119"/>
                  </a:lnTo>
                  <a:lnTo>
                    <a:pt x="117" y="117"/>
                  </a:lnTo>
                  <a:lnTo>
                    <a:pt x="116" y="116"/>
                  </a:lnTo>
                  <a:lnTo>
                    <a:pt x="118" y="113"/>
                  </a:lnTo>
                  <a:lnTo>
                    <a:pt x="121" y="109"/>
                  </a:lnTo>
                  <a:lnTo>
                    <a:pt x="122" y="109"/>
                  </a:lnTo>
                  <a:lnTo>
                    <a:pt x="121" y="107"/>
                  </a:lnTo>
                  <a:lnTo>
                    <a:pt x="123" y="103"/>
                  </a:lnTo>
                  <a:lnTo>
                    <a:pt x="125" y="100"/>
                  </a:lnTo>
                  <a:lnTo>
                    <a:pt x="123" y="99"/>
                  </a:lnTo>
                  <a:lnTo>
                    <a:pt x="124" y="95"/>
                  </a:lnTo>
                  <a:lnTo>
                    <a:pt x="127" y="92"/>
                  </a:lnTo>
                  <a:lnTo>
                    <a:pt x="132" y="86"/>
                  </a:lnTo>
                  <a:lnTo>
                    <a:pt x="135" y="81"/>
                  </a:lnTo>
                  <a:lnTo>
                    <a:pt x="135" y="77"/>
                  </a:lnTo>
                  <a:lnTo>
                    <a:pt x="137" y="72"/>
                  </a:lnTo>
                  <a:lnTo>
                    <a:pt x="138" y="72"/>
                  </a:lnTo>
                  <a:lnTo>
                    <a:pt x="140" y="70"/>
                  </a:lnTo>
                  <a:lnTo>
                    <a:pt x="141" y="67"/>
                  </a:lnTo>
                  <a:lnTo>
                    <a:pt x="143" y="65"/>
                  </a:lnTo>
                  <a:lnTo>
                    <a:pt x="147" y="63"/>
                  </a:lnTo>
                  <a:lnTo>
                    <a:pt x="146" y="60"/>
                  </a:lnTo>
                  <a:lnTo>
                    <a:pt x="148" y="58"/>
                  </a:lnTo>
                  <a:lnTo>
                    <a:pt x="150" y="54"/>
                  </a:lnTo>
                  <a:lnTo>
                    <a:pt x="150" y="48"/>
                  </a:lnTo>
                  <a:lnTo>
                    <a:pt x="150" y="43"/>
                  </a:lnTo>
                  <a:lnTo>
                    <a:pt x="153" y="39"/>
                  </a:lnTo>
                  <a:lnTo>
                    <a:pt x="156" y="37"/>
                  </a:lnTo>
                  <a:lnTo>
                    <a:pt x="156" y="35"/>
                  </a:lnTo>
                  <a:lnTo>
                    <a:pt x="157" y="33"/>
                  </a:lnTo>
                  <a:lnTo>
                    <a:pt x="157" y="29"/>
                  </a:lnTo>
                  <a:lnTo>
                    <a:pt x="160" y="28"/>
                  </a:lnTo>
                  <a:lnTo>
                    <a:pt x="161" y="26"/>
                  </a:lnTo>
                  <a:lnTo>
                    <a:pt x="162" y="24"/>
                  </a:lnTo>
                  <a:lnTo>
                    <a:pt x="163" y="22"/>
                  </a:lnTo>
                  <a:lnTo>
                    <a:pt x="163" y="19"/>
                  </a:lnTo>
                  <a:lnTo>
                    <a:pt x="138" y="20"/>
                  </a:lnTo>
                  <a:lnTo>
                    <a:pt x="148" y="5"/>
                  </a:lnTo>
                  <a:lnTo>
                    <a:pt x="147" y="0"/>
                  </a:lnTo>
                  <a:lnTo>
                    <a:pt x="0" y="4"/>
                  </a:lnTo>
                  <a:lnTo>
                    <a:pt x="7" y="47"/>
                  </a:lnTo>
                  <a:lnTo>
                    <a:pt x="6" y="123"/>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9" name="Freeform 36"/>
            <p:cNvSpPr>
              <a:spLocks/>
            </p:cNvSpPr>
            <p:nvPr/>
          </p:nvSpPr>
          <p:spPr bwMode="auto">
            <a:xfrm>
              <a:off x="7011664" y="2657257"/>
              <a:ext cx="465458" cy="151779"/>
            </a:xfrm>
            <a:custGeom>
              <a:avLst/>
              <a:gdLst>
                <a:gd name="T0" fmla="*/ 193 w 326"/>
                <a:gd name="T1" fmla="*/ 14 h 107"/>
                <a:gd name="T2" fmla="*/ 83 w 326"/>
                <a:gd name="T3" fmla="*/ 21 h 107"/>
                <a:gd name="T4" fmla="*/ 85 w 326"/>
                <a:gd name="T5" fmla="*/ 31 h 107"/>
                <a:gd name="T6" fmla="*/ 26 w 326"/>
                <a:gd name="T7" fmla="*/ 32 h 107"/>
                <a:gd name="T8" fmla="*/ 24 w 326"/>
                <a:gd name="T9" fmla="*/ 33 h 107"/>
                <a:gd name="T10" fmla="*/ 24 w 326"/>
                <a:gd name="T11" fmla="*/ 36 h 107"/>
                <a:gd name="T12" fmla="*/ 24 w 326"/>
                <a:gd name="T13" fmla="*/ 39 h 107"/>
                <a:gd name="T14" fmla="*/ 23 w 326"/>
                <a:gd name="T15" fmla="*/ 42 h 107"/>
                <a:gd name="T16" fmla="*/ 21 w 326"/>
                <a:gd name="T17" fmla="*/ 43 h 107"/>
                <a:gd name="T18" fmla="*/ 20 w 326"/>
                <a:gd name="T19" fmla="*/ 45 h 107"/>
                <a:gd name="T20" fmla="*/ 21 w 326"/>
                <a:gd name="T21" fmla="*/ 46 h 107"/>
                <a:gd name="T22" fmla="*/ 23 w 326"/>
                <a:gd name="T23" fmla="*/ 50 h 107"/>
                <a:gd name="T24" fmla="*/ 22 w 326"/>
                <a:gd name="T25" fmla="*/ 52 h 107"/>
                <a:gd name="T26" fmla="*/ 20 w 326"/>
                <a:gd name="T27" fmla="*/ 55 h 107"/>
                <a:gd name="T28" fmla="*/ 19 w 326"/>
                <a:gd name="T29" fmla="*/ 58 h 107"/>
                <a:gd name="T30" fmla="*/ 20 w 326"/>
                <a:gd name="T31" fmla="*/ 58 h 107"/>
                <a:gd name="T32" fmla="*/ 20 w 326"/>
                <a:gd name="T33" fmla="*/ 62 h 107"/>
                <a:gd name="T34" fmla="*/ 19 w 326"/>
                <a:gd name="T35" fmla="*/ 64 h 107"/>
                <a:gd name="T36" fmla="*/ 18 w 326"/>
                <a:gd name="T37" fmla="*/ 66 h 107"/>
                <a:gd name="T38" fmla="*/ 16 w 326"/>
                <a:gd name="T39" fmla="*/ 69 h 107"/>
                <a:gd name="T40" fmla="*/ 13 w 326"/>
                <a:gd name="T41" fmla="*/ 70 h 107"/>
                <a:gd name="T42" fmla="*/ 13 w 326"/>
                <a:gd name="T43" fmla="*/ 75 h 107"/>
                <a:gd name="T44" fmla="*/ 12 w 326"/>
                <a:gd name="T45" fmla="*/ 77 h 107"/>
                <a:gd name="T46" fmla="*/ 12 w 326"/>
                <a:gd name="T47" fmla="*/ 79 h 107"/>
                <a:gd name="T48" fmla="*/ 8 w 326"/>
                <a:gd name="T49" fmla="*/ 82 h 107"/>
                <a:gd name="T50" fmla="*/ 5 w 326"/>
                <a:gd name="T51" fmla="*/ 87 h 107"/>
                <a:gd name="T52" fmla="*/ 5 w 326"/>
                <a:gd name="T53" fmla="*/ 92 h 107"/>
                <a:gd name="T54" fmla="*/ 5 w 326"/>
                <a:gd name="T55" fmla="*/ 99 h 107"/>
                <a:gd name="T56" fmla="*/ 2 w 326"/>
                <a:gd name="T57" fmla="*/ 104 h 107"/>
                <a:gd name="T58" fmla="*/ 0 w 326"/>
                <a:gd name="T59" fmla="*/ 107 h 107"/>
                <a:gd name="T60" fmla="*/ 0 w 326"/>
                <a:gd name="T61" fmla="*/ 107 h 107"/>
                <a:gd name="T62" fmla="*/ 232 w 326"/>
                <a:gd name="T63" fmla="*/ 89 h 107"/>
                <a:gd name="T64" fmla="*/ 232 w 326"/>
                <a:gd name="T65" fmla="*/ 89 h 107"/>
                <a:gd name="T66" fmla="*/ 232 w 326"/>
                <a:gd name="T67" fmla="*/ 88 h 107"/>
                <a:gd name="T68" fmla="*/ 233 w 326"/>
                <a:gd name="T69" fmla="*/ 82 h 107"/>
                <a:gd name="T70" fmla="*/ 233 w 326"/>
                <a:gd name="T71" fmla="*/ 79 h 107"/>
                <a:gd name="T72" fmla="*/ 237 w 326"/>
                <a:gd name="T73" fmla="*/ 75 h 107"/>
                <a:gd name="T74" fmla="*/ 240 w 326"/>
                <a:gd name="T75" fmla="*/ 75 h 107"/>
                <a:gd name="T76" fmla="*/ 244 w 326"/>
                <a:gd name="T77" fmla="*/ 72 h 107"/>
                <a:gd name="T78" fmla="*/ 243 w 326"/>
                <a:gd name="T79" fmla="*/ 68 h 107"/>
                <a:gd name="T80" fmla="*/ 246 w 326"/>
                <a:gd name="T81" fmla="*/ 64 h 107"/>
                <a:gd name="T82" fmla="*/ 280 w 326"/>
                <a:gd name="T83" fmla="*/ 44 h 107"/>
                <a:gd name="T84" fmla="*/ 285 w 326"/>
                <a:gd name="T85" fmla="*/ 41 h 107"/>
                <a:gd name="T86" fmla="*/ 287 w 326"/>
                <a:gd name="T87" fmla="*/ 37 h 107"/>
                <a:gd name="T88" fmla="*/ 291 w 326"/>
                <a:gd name="T89" fmla="*/ 31 h 107"/>
                <a:gd name="T90" fmla="*/ 294 w 326"/>
                <a:gd name="T91" fmla="*/ 31 h 107"/>
                <a:gd name="T92" fmla="*/ 297 w 326"/>
                <a:gd name="T93" fmla="*/ 35 h 107"/>
                <a:gd name="T94" fmla="*/ 301 w 326"/>
                <a:gd name="T95" fmla="*/ 31 h 107"/>
                <a:gd name="T96" fmla="*/ 306 w 326"/>
                <a:gd name="T97" fmla="*/ 25 h 107"/>
                <a:gd name="T98" fmla="*/ 317 w 326"/>
                <a:gd name="T99" fmla="*/ 23 h 107"/>
                <a:gd name="T100" fmla="*/ 318 w 326"/>
                <a:gd name="T101" fmla="*/ 19 h 107"/>
                <a:gd name="T102" fmla="*/ 321 w 326"/>
                <a:gd name="T103" fmla="*/ 14 h 107"/>
                <a:gd name="T104" fmla="*/ 325 w 326"/>
                <a:gd name="T105" fmla="*/ 12 h 107"/>
                <a:gd name="T106" fmla="*/ 326 w 326"/>
                <a:gd name="T107" fmla="*/ 12 h 107"/>
                <a:gd name="T108" fmla="*/ 326 w 326"/>
                <a:gd name="T109" fmla="*/ 0 h 107"/>
                <a:gd name="T110" fmla="*/ 193 w 326"/>
                <a:gd name="T111" fmla="*/ 1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26" h="107">
                  <a:moveTo>
                    <a:pt x="193" y="14"/>
                  </a:moveTo>
                  <a:cubicBezTo>
                    <a:pt x="83" y="21"/>
                    <a:pt x="83" y="21"/>
                    <a:pt x="83" y="21"/>
                  </a:cubicBezTo>
                  <a:cubicBezTo>
                    <a:pt x="85" y="31"/>
                    <a:pt x="85" y="31"/>
                    <a:pt x="85" y="31"/>
                  </a:cubicBezTo>
                  <a:cubicBezTo>
                    <a:pt x="26" y="32"/>
                    <a:pt x="26" y="32"/>
                    <a:pt x="26" y="32"/>
                  </a:cubicBezTo>
                  <a:cubicBezTo>
                    <a:pt x="24" y="33"/>
                    <a:pt x="24" y="33"/>
                    <a:pt x="24" y="33"/>
                  </a:cubicBezTo>
                  <a:cubicBezTo>
                    <a:pt x="24" y="36"/>
                    <a:pt x="24" y="36"/>
                    <a:pt x="24" y="36"/>
                  </a:cubicBezTo>
                  <a:cubicBezTo>
                    <a:pt x="24" y="39"/>
                    <a:pt x="24" y="39"/>
                    <a:pt x="24" y="39"/>
                  </a:cubicBezTo>
                  <a:cubicBezTo>
                    <a:pt x="23" y="42"/>
                    <a:pt x="23" y="42"/>
                    <a:pt x="23" y="42"/>
                  </a:cubicBezTo>
                  <a:cubicBezTo>
                    <a:pt x="21" y="43"/>
                    <a:pt x="21" y="43"/>
                    <a:pt x="21" y="43"/>
                  </a:cubicBezTo>
                  <a:cubicBezTo>
                    <a:pt x="20" y="45"/>
                    <a:pt x="20" y="45"/>
                    <a:pt x="20" y="45"/>
                  </a:cubicBezTo>
                  <a:cubicBezTo>
                    <a:pt x="21" y="46"/>
                    <a:pt x="21" y="46"/>
                    <a:pt x="21" y="46"/>
                  </a:cubicBezTo>
                  <a:cubicBezTo>
                    <a:pt x="21" y="46"/>
                    <a:pt x="23" y="49"/>
                    <a:pt x="23" y="50"/>
                  </a:cubicBezTo>
                  <a:cubicBezTo>
                    <a:pt x="24" y="51"/>
                    <a:pt x="22" y="52"/>
                    <a:pt x="22" y="52"/>
                  </a:cubicBezTo>
                  <a:cubicBezTo>
                    <a:pt x="20" y="55"/>
                    <a:pt x="20" y="55"/>
                    <a:pt x="20" y="55"/>
                  </a:cubicBezTo>
                  <a:cubicBezTo>
                    <a:pt x="19" y="58"/>
                    <a:pt x="19" y="58"/>
                    <a:pt x="19" y="58"/>
                  </a:cubicBezTo>
                  <a:cubicBezTo>
                    <a:pt x="20" y="58"/>
                    <a:pt x="20" y="58"/>
                    <a:pt x="20" y="58"/>
                  </a:cubicBezTo>
                  <a:cubicBezTo>
                    <a:pt x="20" y="62"/>
                    <a:pt x="20" y="62"/>
                    <a:pt x="20" y="62"/>
                  </a:cubicBezTo>
                  <a:cubicBezTo>
                    <a:pt x="19" y="64"/>
                    <a:pt x="19" y="64"/>
                    <a:pt x="19" y="64"/>
                  </a:cubicBezTo>
                  <a:cubicBezTo>
                    <a:pt x="18" y="66"/>
                    <a:pt x="18" y="66"/>
                    <a:pt x="18" y="66"/>
                  </a:cubicBezTo>
                  <a:cubicBezTo>
                    <a:pt x="16" y="69"/>
                    <a:pt x="16" y="69"/>
                    <a:pt x="16" y="69"/>
                  </a:cubicBezTo>
                  <a:cubicBezTo>
                    <a:pt x="13" y="70"/>
                    <a:pt x="13" y="70"/>
                    <a:pt x="13" y="70"/>
                  </a:cubicBezTo>
                  <a:cubicBezTo>
                    <a:pt x="13" y="75"/>
                    <a:pt x="13" y="75"/>
                    <a:pt x="13" y="75"/>
                  </a:cubicBezTo>
                  <a:cubicBezTo>
                    <a:pt x="12" y="77"/>
                    <a:pt x="12" y="77"/>
                    <a:pt x="12" y="77"/>
                  </a:cubicBezTo>
                  <a:cubicBezTo>
                    <a:pt x="12" y="79"/>
                    <a:pt x="12" y="79"/>
                    <a:pt x="12" y="79"/>
                  </a:cubicBezTo>
                  <a:cubicBezTo>
                    <a:pt x="8" y="82"/>
                    <a:pt x="8" y="82"/>
                    <a:pt x="8" y="82"/>
                  </a:cubicBezTo>
                  <a:cubicBezTo>
                    <a:pt x="5" y="87"/>
                    <a:pt x="5" y="87"/>
                    <a:pt x="5" y="87"/>
                  </a:cubicBezTo>
                  <a:cubicBezTo>
                    <a:pt x="5" y="92"/>
                    <a:pt x="5" y="92"/>
                    <a:pt x="5" y="92"/>
                  </a:cubicBezTo>
                  <a:cubicBezTo>
                    <a:pt x="5" y="99"/>
                    <a:pt x="5" y="99"/>
                    <a:pt x="5" y="99"/>
                  </a:cubicBezTo>
                  <a:cubicBezTo>
                    <a:pt x="2" y="104"/>
                    <a:pt x="2" y="104"/>
                    <a:pt x="2" y="104"/>
                  </a:cubicBezTo>
                  <a:cubicBezTo>
                    <a:pt x="0" y="107"/>
                    <a:pt x="0" y="107"/>
                    <a:pt x="0" y="107"/>
                  </a:cubicBezTo>
                  <a:cubicBezTo>
                    <a:pt x="0" y="107"/>
                    <a:pt x="0" y="107"/>
                    <a:pt x="0" y="107"/>
                  </a:cubicBezTo>
                  <a:cubicBezTo>
                    <a:pt x="232" y="89"/>
                    <a:pt x="232" y="89"/>
                    <a:pt x="232" y="89"/>
                  </a:cubicBezTo>
                  <a:cubicBezTo>
                    <a:pt x="232" y="89"/>
                    <a:pt x="232" y="89"/>
                    <a:pt x="232" y="89"/>
                  </a:cubicBezTo>
                  <a:cubicBezTo>
                    <a:pt x="232" y="88"/>
                    <a:pt x="232" y="88"/>
                    <a:pt x="232" y="88"/>
                  </a:cubicBezTo>
                  <a:cubicBezTo>
                    <a:pt x="233" y="82"/>
                    <a:pt x="233" y="82"/>
                    <a:pt x="233" y="82"/>
                  </a:cubicBezTo>
                  <a:cubicBezTo>
                    <a:pt x="233" y="79"/>
                    <a:pt x="233" y="79"/>
                    <a:pt x="233" y="79"/>
                  </a:cubicBezTo>
                  <a:cubicBezTo>
                    <a:pt x="237" y="75"/>
                    <a:pt x="237" y="75"/>
                    <a:pt x="237" y="75"/>
                  </a:cubicBezTo>
                  <a:cubicBezTo>
                    <a:pt x="240" y="75"/>
                    <a:pt x="240" y="75"/>
                    <a:pt x="240" y="75"/>
                  </a:cubicBezTo>
                  <a:cubicBezTo>
                    <a:pt x="244" y="72"/>
                    <a:pt x="244" y="72"/>
                    <a:pt x="244" y="72"/>
                  </a:cubicBezTo>
                  <a:cubicBezTo>
                    <a:pt x="243" y="68"/>
                    <a:pt x="243" y="68"/>
                    <a:pt x="243" y="68"/>
                  </a:cubicBezTo>
                  <a:cubicBezTo>
                    <a:pt x="246" y="64"/>
                    <a:pt x="246" y="64"/>
                    <a:pt x="246" y="64"/>
                  </a:cubicBezTo>
                  <a:cubicBezTo>
                    <a:pt x="280" y="44"/>
                    <a:pt x="280" y="44"/>
                    <a:pt x="280" y="44"/>
                  </a:cubicBezTo>
                  <a:cubicBezTo>
                    <a:pt x="285" y="41"/>
                    <a:pt x="285" y="41"/>
                    <a:pt x="285" y="41"/>
                  </a:cubicBezTo>
                  <a:cubicBezTo>
                    <a:pt x="287" y="37"/>
                    <a:pt x="287" y="37"/>
                    <a:pt x="287" y="37"/>
                  </a:cubicBezTo>
                  <a:cubicBezTo>
                    <a:pt x="291" y="31"/>
                    <a:pt x="291" y="31"/>
                    <a:pt x="291" y="31"/>
                  </a:cubicBezTo>
                  <a:cubicBezTo>
                    <a:pt x="294" y="31"/>
                    <a:pt x="294" y="31"/>
                    <a:pt x="294" y="31"/>
                  </a:cubicBezTo>
                  <a:cubicBezTo>
                    <a:pt x="297" y="35"/>
                    <a:pt x="297" y="35"/>
                    <a:pt x="297" y="35"/>
                  </a:cubicBezTo>
                  <a:cubicBezTo>
                    <a:pt x="301" y="31"/>
                    <a:pt x="301" y="31"/>
                    <a:pt x="301" y="31"/>
                  </a:cubicBezTo>
                  <a:cubicBezTo>
                    <a:pt x="306" y="25"/>
                    <a:pt x="306" y="25"/>
                    <a:pt x="306" y="25"/>
                  </a:cubicBezTo>
                  <a:cubicBezTo>
                    <a:pt x="317" y="23"/>
                    <a:pt x="317" y="23"/>
                    <a:pt x="317" y="23"/>
                  </a:cubicBezTo>
                  <a:cubicBezTo>
                    <a:pt x="318" y="19"/>
                    <a:pt x="318" y="19"/>
                    <a:pt x="318" y="19"/>
                  </a:cubicBezTo>
                  <a:cubicBezTo>
                    <a:pt x="321" y="14"/>
                    <a:pt x="321" y="14"/>
                    <a:pt x="321" y="14"/>
                  </a:cubicBezTo>
                  <a:cubicBezTo>
                    <a:pt x="325" y="12"/>
                    <a:pt x="325" y="12"/>
                    <a:pt x="325" y="12"/>
                  </a:cubicBezTo>
                  <a:cubicBezTo>
                    <a:pt x="326" y="12"/>
                    <a:pt x="326" y="12"/>
                    <a:pt x="326" y="12"/>
                  </a:cubicBezTo>
                  <a:cubicBezTo>
                    <a:pt x="326" y="0"/>
                    <a:pt x="326" y="0"/>
                    <a:pt x="326" y="0"/>
                  </a:cubicBezTo>
                  <a:lnTo>
                    <a:pt x="193" y="14"/>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0" name="Freeform 37"/>
            <p:cNvSpPr>
              <a:spLocks/>
            </p:cNvSpPr>
            <p:nvPr/>
          </p:nvSpPr>
          <p:spPr bwMode="auto">
            <a:xfrm>
              <a:off x="7342207" y="2606663"/>
              <a:ext cx="465458" cy="205746"/>
            </a:xfrm>
            <a:custGeom>
              <a:avLst/>
              <a:gdLst>
                <a:gd name="T0" fmla="*/ 320 w 326"/>
                <a:gd name="T1" fmla="*/ 28 h 144"/>
                <a:gd name="T2" fmla="*/ 315 w 326"/>
                <a:gd name="T3" fmla="*/ 38 h 144"/>
                <a:gd name="T4" fmla="*/ 311 w 326"/>
                <a:gd name="T5" fmla="*/ 32 h 144"/>
                <a:gd name="T6" fmla="*/ 300 w 326"/>
                <a:gd name="T7" fmla="*/ 30 h 144"/>
                <a:gd name="T8" fmla="*/ 289 w 326"/>
                <a:gd name="T9" fmla="*/ 35 h 144"/>
                <a:gd name="T10" fmla="*/ 285 w 326"/>
                <a:gd name="T11" fmla="*/ 32 h 144"/>
                <a:gd name="T12" fmla="*/ 282 w 326"/>
                <a:gd name="T13" fmla="*/ 25 h 144"/>
                <a:gd name="T14" fmla="*/ 281 w 326"/>
                <a:gd name="T15" fmla="*/ 18 h 144"/>
                <a:gd name="T16" fmla="*/ 284 w 326"/>
                <a:gd name="T17" fmla="*/ 20 h 144"/>
                <a:gd name="T18" fmla="*/ 290 w 326"/>
                <a:gd name="T19" fmla="*/ 29 h 144"/>
                <a:gd name="T20" fmla="*/ 295 w 326"/>
                <a:gd name="T21" fmla="*/ 26 h 144"/>
                <a:gd name="T22" fmla="*/ 305 w 326"/>
                <a:gd name="T23" fmla="*/ 22 h 144"/>
                <a:gd name="T24" fmla="*/ 306 w 326"/>
                <a:gd name="T25" fmla="*/ 16 h 144"/>
                <a:gd name="T26" fmla="*/ 303 w 326"/>
                <a:gd name="T27" fmla="*/ 12 h 144"/>
                <a:gd name="T28" fmla="*/ 312 w 326"/>
                <a:gd name="T29" fmla="*/ 14 h 144"/>
                <a:gd name="T30" fmla="*/ 308 w 326"/>
                <a:gd name="T31" fmla="*/ 4 h 144"/>
                <a:gd name="T32" fmla="*/ 155 w 326"/>
                <a:gd name="T33" fmla="*/ 28 h 144"/>
                <a:gd name="T34" fmla="*/ 93 w 326"/>
                <a:gd name="T35" fmla="*/ 47 h 144"/>
                <a:gd name="T36" fmla="*/ 85 w 326"/>
                <a:gd name="T37" fmla="*/ 58 h 144"/>
                <a:gd name="T38" fmla="*/ 65 w 326"/>
                <a:gd name="T39" fmla="*/ 70 h 144"/>
                <a:gd name="T40" fmla="*/ 55 w 326"/>
                <a:gd name="T41" fmla="*/ 72 h 144"/>
                <a:gd name="T42" fmla="*/ 14 w 326"/>
                <a:gd name="T43" fmla="*/ 99 h 144"/>
                <a:gd name="T44" fmla="*/ 8 w 326"/>
                <a:gd name="T45" fmla="*/ 110 h 144"/>
                <a:gd name="T46" fmla="*/ 1 w 326"/>
                <a:gd name="T47" fmla="*/ 117 h 144"/>
                <a:gd name="T48" fmla="*/ 0 w 326"/>
                <a:gd name="T49" fmla="*/ 124 h 144"/>
                <a:gd name="T50" fmla="*/ 83 w 326"/>
                <a:gd name="T51" fmla="*/ 104 h 144"/>
                <a:gd name="T52" fmla="*/ 108 w 326"/>
                <a:gd name="T53" fmla="*/ 105 h 144"/>
                <a:gd name="T54" fmla="*/ 123 w 326"/>
                <a:gd name="T55" fmla="*/ 100 h 144"/>
                <a:gd name="T56" fmla="*/ 142 w 326"/>
                <a:gd name="T57" fmla="*/ 114 h 144"/>
                <a:gd name="T58" fmla="*/ 243 w 326"/>
                <a:gd name="T59" fmla="*/ 140 h 144"/>
                <a:gd name="T60" fmla="*/ 256 w 326"/>
                <a:gd name="T61" fmla="*/ 136 h 144"/>
                <a:gd name="T62" fmla="*/ 263 w 326"/>
                <a:gd name="T63" fmla="*/ 117 h 144"/>
                <a:gd name="T64" fmla="*/ 271 w 326"/>
                <a:gd name="T65" fmla="*/ 106 h 144"/>
                <a:gd name="T66" fmla="*/ 270 w 326"/>
                <a:gd name="T67" fmla="*/ 100 h 144"/>
                <a:gd name="T68" fmla="*/ 272 w 326"/>
                <a:gd name="T69" fmla="*/ 97 h 144"/>
                <a:gd name="T70" fmla="*/ 278 w 326"/>
                <a:gd name="T71" fmla="*/ 100 h 144"/>
                <a:gd name="T72" fmla="*/ 281 w 326"/>
                <a:gd name="T73" fmla="*/ 95 h 144"/>
                <a:gd name="T74" fmla="*/ 285 w 326"/>
                <a:gd name="T75" fmla="*/ 95 h 144"/>
                <a:gd name="T76" fmla="*/ 296 w 326"/>
                <a:gd name="T77" fmla="*/ 91 h 144"/>
                <a:gd name="T78" fmla="*/ 301 w 326"/>
                <a:gd name="T79" fmla="*/ 87 h 144"/>
                <a:gd name="T80" fmla="*/ 308 w 326"/>
                <a:gd name="T81" fmla="*/ 81 h 144"/>
                <a:gd name="T82" fmla="*/ 308 w 326"/>
                <a:gd name="T83" fmla="*/ 75 h 144"/>
                <a:gd name="T84" fmla="*/ 301 w 326"/>
                <a:gd name="T85" fmla="*/ 78 h 144"/>
                <a:gd name="T86" fmla="*/ 291 w 326"/>
                <a:gd name="T87" fmla="*/ 83 h 144"/>
                <a:gd name="T88" fmla="*/ 283 w 326"/>
                <a:gd name="T89" fmla="*/ 77 h 144"/>
                <a:gd name="T90" fmla="*/ 288 w 326"/>
                <a:gd name="T91" fmla="*/ 77 h 144"/>
                <a:gd name="T92" fmla="*/ 296 w 326"/>
                <a:gd name="T93" fmla="*/ 73 h 144"/>
                <a:gd name="T94" fmla="*/ 297 w 326"/>
                <a:gd name="T95" fmla="*/ 68 h 144"/>
                <a:gd name="T96" fmla="*/ 296 w 326"/>
                <a:gd name="T97" fmla="*/ 64 h 144"/>
                <a:gd name="T98" fmla="*/ 280 w 326"/>
                <a:gd name="T99" fmla="*/ 58 h 144"/>
                <a:gd name="T100" fmla="*/ 290 w 326"/>
                <a:gd name="T101" fmla="*/ 57 h 144"/>
                <a:gd name="T102" fmla="*/ 294 w 326"/>
                <a:gd name="T103" fmla="*/ 55 h 144"/>
                <a:gd name="T104" fmla="*/ 294 w 326"/>
                <a:gd name="T105" fmla="*/ 51 h 144"/>
                <a:gd name="T106" fmla="*/ 300 w 326"/>
                <a:gd name="T107" fmla="*/ 58 h 144"/>
                <a:gd name="T108" fmla="*/ 306 w 326"/>
                <a:gd name="T109" fmla="*/ 58 h 144"/>
                <a:gd name="T110" fmla="*/ 317 w 326"/>
                <a:gd name="T111" fmla="*/ 57 h 144"/>
                <a:gd name="T112" fmla="*/ 319 w 326"/>
                <a:gd name="T113" fmla="*/ 48 h 144"/>
                <a:gd name="T114" fmla="*/ 322 w 326"/>
                <a:gd name="T115" fmla="*/ 42 h 144"/>
                <a:gd name="T116" fmla="*/ 325 w 326"/>
                <a:gd name="T117" fmla="*/ 3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26" h="144">
                  <a:moveTo>
                    <a:pt x="324" y="34"/>
                  </a:moveTo>
                  <a:cubicBezTo>
                    <a:pt x="322" y="31"/>
                    <a:pt x="322" y="31"/>
                    <a:pt x="322" y="31"/>
                  </a:cubicBezTo>
                  <a:cubicBezTo>
                    <a:pt x="320" y="28"/>
                    <a:pt x="320" y="28"/>
                    <a:pt x="320" y="28"/>
                  </a:cubicBezTo>
                  <a:cubicBezTo>
                    <a:pt x="317" y="28"/>
                    <a:pt x="317" y="28"/>
                    <a:pt x="317" y="28"/>
                  </a:cubicBezTo>
                  <a:cubicBezTo>
                    <a:pt x="316" y="29"/>
                    <a:pt x="316" y="29"/>
                    <a:pt x="316" y="29"/>
                  </a:cubicBezTo>
                  <a:cubicBezTo>
                    <a:pt x="315" y="38"/>
                    <a:pt x="315" y="38"/>
                    <a:pt x="315" y="38"/>
                  </a:cubicBezTo>
                  <a:cubicBezTo>
                    <a:pt x="315" y="40"/>
                    <a:pt x="315" y="40"/>
                    <a:pt x="315" y="40"/>
                  </a:cubicBezTo>
                  <a:cubicBezTo>
                    <a:pt x="312" y="38"/>
                    <a:pt x="312" y="38"/>
                    <a:pt x="312" y="38"/>
                  </a:cubicBezTo>
                  <a:cubicBezTo>
                    <a:pt x="311" y="32"/>
                    <a:pt x="311" y="32"/>
                    <a:pt x="311" y="32"/>
                  </a:cubicBezTo>
                  <a:cubicBezTo>
                    <a:pt x="309" y="28"/>
                    <a:pt x="309" y="28"/>
                    <a:pt x="309" y="28"/>
                  </a:cubicBezTo>
                  <a:cubicBezTo>
                    <a:pt x="306" y="27"/>
                    <a:pt x="306" y="27"/>
                    <a:pt x="306" y="27"/>
                  </a:cubicBezTo>
                  <a:cubicBezTo>
                    <a:pt x="300" y="30"/>
                    <a:pt x="300" y="30"/>
                    <a:pt x="300" y="30"/>
                  </a:cubicBezTo>
                  <a:cubicBezTo>
                    <a:pt x="298" y="30"/>
                    <a:pt x="298" y="30"/>
                    <a:pt x="298" y="30"/>
                  </a:cubicBezTo>
                  <a:cubicBezTo>
                    <a:pt x="292" y="32"/>
                    <a:pt x="292" y="32"/>
                    <a:pt x="292" y="32"/>
                  </a:cubicBezTo>
                  <a:cubicBezTo>
                    <a:pt x="289" y="35"/>
                    <a:pt x="289" y="35"/>
                    <a:pt x="289" y="35"/>
                  </a:cubicBezTo>
                  <a:cubicBezTo>
                    <a:pt x="286" y="39"/>
                    <a:pt x="286" y="39"/>
                    <a:pt x="286" y="39"/>
                  </a:cubicBezTo>
                  <a:cubicBezTo>
                    <a:pt x="285" y="37"/>
                    <a:pt x="285" y="37"/>
                    <a:pt x="285" y="37"/>
                  </a:cubicBezTo>
                  <a:cubicBezTo>
                    <a:pt x="285" y="32"/>
                    <a:pt x="285" y="32"/>
                    <a:pt x="285" y="32"/>
                  </a:cubicBezTo>
                  <a:cubicBezTo>
                    <a:pt x="285" y="30"/>
                    <a:pt x="285" y="30"/>
                    <a:pt x="285" y="30"/>
                  </a:cubicBezTo>
                  <a:cubicBezTo>
                    <a:pt x="283" y="27"/>
                    <a:pt x="283" y="27"/>
                    <a:pt x="283" y="27"/>
                  </a:cubicBezTo>
                  <a:cubicBezTo>
                    <a:pt x="282" y="25"/>
                    <a:pt x="282" y="25"/>
                    <a:pt x="282" y="25"/>
                  </a:cubicBezTo>
                  <a:cubicBezTo>
                    <a:pt x="281" y="23"/>
                    <a:pt x="281" y="23"/>
                    <a:pt x="281" y="23"/>
                  </a:cubicBezTo>
                  <a:cubicBezTo>
                    <a:pt x="281" y="20"/>
                    <a:pt x="281" y="20"/>
                    <a:pt x="281" y="20"/>
                  </a:cubicBezTo>
                  <a:cubicBezTo>
                    <a:pt x="281" y="18"/>
                    <a:pt x="281" y="18"/>
                    <a:pt x="281" y="18"/>
                  </a:cubicBezTo>
                  <a:cubicBezTo>
                    <a:pt x="283" y="16"/>
                    <a:pt x="283" y="16"/>
                    <a:pt x="283" y="16"/>
                  </a:cubicBezTo>
                  <a:cubicBezTo>
                    <a:pt x="283" y="16"/>
                    <a:pt x="283" y="16"/>
                    <a:pt x="283" y="16"/>
                  </a:cubicBezTo>
                  <a:cubicBezTo>
                    <a:pt x="284" y="20"/>
                    <a:pt x="284" y="20"/>
                    <a:pt x="284" y="20"/>
                  </a:cubicBezTo>
                  <a:cubicBezTo>
                    <a:pt x="285" y="26"/>
                    <a:pt x="285" y="26"/>
                    <a:pt x="285" y="26"/>
                  </a:cubicBezTo>
                  <a:cubicBezTo>
                    <a:pt x="287" y="31"/>
                    <a:pt x="287" y="31"/>
                    <a:pt x="287" y="31"/>
                  </a:cubicBezTo>
                  <a:cubicBezTo>
                    <a:pt x="290" y="29"/>
                    <a:pt x="290" y="29"/>
                    <a:pt x="290" y="29"/>
                  </a:cubicBezTo>
                  <a:cubicBezTo>
                    <a:pt x="291" y="28"/>
                    <a:pt x="291" y="28"/>
                    <a:pt x="291" y="28"/>
                  </a:cubicBezTo>
                  <a:cubicBezTo>
                    <a:pt x="294" y="26"/>
                    <a:pt x="294" y="26"/>
                    <a:pt x="294" y="26"/>
                  </a:cubicBezTo>
                  <a:cubicBezTo>
                    <a:pt x="295" y="26"/>
                    <a:pt x="295" y="26"/>
                    <a:pt x="295" y="26"/>
                  </a:cubicBezTo>
                  <a:cubicBezTo>
                    <a:pt x="299" y="24"/>
                    <a:pt x="299" y="24"/>
                    <a:pt x="299" y="24"/>
                  </a:cubicBezTo>
                  <a:cubicBezTo>
                    <a:pt x="300" y="22"/>
                    <a:pt x="300" y="22"/>
                    <a:pt x="300" y="22"/>
                  </a:cubicBezTo>
                  <a:cubicBezTo>
                    <a:pt x="305" y="22"/>
                    <a:pt x="305" y="22"/>
                    <a:pt x="305" y="22"/>
                  </a:cubicBezTo>
                  <a:cubicBezTo>
                    <a:pt x="306" y="19"/>
                    <a:pt x="306" y="19"/>
                    <a:pt x="306" y="19"/>
                  </a:cubicBezTo>
                  <a:cubicBezTo>
                    <a:pt x="307" y="18"/>
                    <a:pt x="307" y="18"/>
                    <a:pt x="307" y="18"/>
                  </a:cubicBezTo>
                  <a:cubicBezTo>
                    <a:pt x="307" y="18"/>
                    <a:pt x="306" y="17"/>
                    <a:pt x="306" y="16"/>
                  </a:cubicBezTo>
                  <a:cubicBezTo>
                    <a:pt x="305" y="16"/>
                    <a:pt x="305" y="16"/>
                    <a:pt x="305" y="16"/>
                  </a:cubicBezTo>
                  <a:cubicBezTo>
                    <a:pt x="303" y="13"/>
                    <a:pt x="303" y="13"/>
                    <a:pt x="303" y="13"/>
                  </a:cubicBezTo>
                  <a:cubicBezTo>
                    <a:pt x="303" y="12"/>
                    <a:pt x="303" y="12"/>
                    <a:pt x="303" y="12"/>
                  </a:cubicBezTo>
                  <a:cubicBezTo>
                    <a:pt x="304" y="12"/>
                    <a:pt x="304" y="12"/>
                    <a:pt x="304" y="12"/>
                  </a:cubicBezTo>
                  <a:cubicBezTo>
                    <a:pt x="309" y="14"/>
                    <a:pt x="309" y="14"/>
                    <a:pt x="309" y="14"/>
                  </a:cubicBezTo>
                  <a:cubicBezTo>
                    <a:pt x="312" y="14"/>
                    <a:pt x="312" y="14"/>
                    <a:pt x="312" y="14"/>
                  </a:cubicBezTo>
                  <a:cubicBezTo>
                    <a:pt x="312" y="11"/>
                    <a:pt x="312" y="11"/>
                    <a:pt x="312" y="11"/>
                  </a:cubicBezTo>
                  <a:cubicBezTo>
                    <a:pt x="309" y="7"/>
                    <a:pt x="309" y="7"/>
                    <a:pt x="309" y="7"/>
                  </a:cubicBezTo>
                  <a:cubicBezTo>
                    <a:pt x="308" y="4"/>
                    <a:pt x="308" y="4"/>
                    <a:pt x="308" y="4"/>
                  </a:cubicBezTo>
                  <a:cubicBezTo>
                    <a:pt x="305" y="0"/>
                    <a:pt x="305" y="0"/>
                    <a:pt x="305" y="0"/>
                  </a:cubicBezTo>
                  <a:cubicBezTo>
                    <a:pt x="218" y="18"/>
                    <a:pt x="218" y="18"/>
                    <a:pt x="218" y="18"/>
                  </a:cubicBezTo>
                  <a:cubicBezTo>
                    <a:pt x="155" y="28"/>
                    <a:pt x="155" y="28"/>
                    <a:pt x="155" y="28"/>
                  </a:cubicBezTo>
                  <a:cubicBezTo>
                    <a:pt x="94" y="35"/>
                    <a:pt x="94" y="35"/>
                    <a:pt x="94" y="35"/>
                  </a:cubicBezTo>
                  <a:cubicBezTo>
                    <a:pt x="94" y="47"/>
                    <a:pt x="94" y="47"/>
                    <a:pt x="94" y="47"/>
                  </a:cubicBezTo>
                  <a:cubicBezTo>
                    <a:pt x="93" y="47"/>
                    <a:pt x="93" y="47"/>
                    <a:pt x="93" y="47"/>
                  </a:cubicBezTo>
                  <a:cubicBezTo>
                    <a:pt x="89" y="49"/>
                    <a:pt x="89" y="49"/>
                    <a:pt x="89" y="49"/>
                  </a:cubicBezTo>
                  <a:cubicBezTo>
                    <a:pt x="86" y="54"/>
                    <a:pt x="86" y="54"/>
                    <a:pt x="86" y="54"/>
                  </a:cubicBezTo>
                  <a:cubicBezTo>
                    <a:pt x="85" y="58"/>
                    <a:pt x="85" y="58"/>
                    <a:pt x="85" y="58"/>
                  </a:cubicBezTo>
                  <a:cubicBezTo>
                    <a:pt x="74" y="60"/>
                    <a:pt x="74" y="60"/>
                    <a:pt x="74" y="60"/>
                  </a:cubicBezTo>
                  <a:cubicBezTo>
                    <a:pt x="69" y="66"/>
                    <a:pt x="69" y="66"/>
                    <a:pt x="69" y="66"/>
                  </a:cubicBezTo>
                  <a:cubicBezTo>
                    <a:pt x="65" y="70"/>
                    <a:pt x="65" y="70"/>
                    <a:pt x="65" y="70"/>
                  </a:cubicBezTo>
                  <a:cubicBezTo>
                    <a:pt x="62" y="66"/>
                    <a:pt x="62" y="66"/>
                    <a:pt x="62" y="66"/>
                  </a:cubicBezTo>
                  <a:cubicBezTo>
                    <a:pt x="59" y="66"/>
                    <a:pt x="59" y="66"/>
                    <a:pt x="59" y="66"/>
                  </a:cubicBezTo>
                  <a:cubicBezTo>
                    <a:pt x="55" y="72"/>
                    <a:pt x="55" y="72"/>
                    <a:pt x="55" y="72"/>
                  </a:cubicBezTo>
                  <a:cubicBezTo>
                    <a:pt x="53" y="76"/>
                    <a:pt x="53" y="76"/>
                    <a:pt x="53" y="76"/>
                  </a:cubicBezTo>
                  <a:cubicBezTo>
                    <a:pt x="48" y="79"/>
                    <a:pt x="48" y="79"/>
                    <a:pt x="48" y="79"/>
                  </a:cubicBezTo>
                  <a:cubicBezTo>
                    <a:pt x="14" y="99"/>
                    <a:pt x="14" y="99"/>
                    <a:pt x="14" y="99"/>
                  </a:cubicBezTo>
                  <a:cubicBezTo>
                    <a:pt x="11" y="103"/>
                    <a:pt x="11" y="103"/>
                    <a:pt x="11" y="103"/>
                  </a:cubicBezTo>
                  <a:cubicBezTo>
                    <a:pt x="12" y="107"/>
                    <a:pt x="12" y="107"/>
                    <a:pt x="12" y="107"/>
                  </a:cubicBezTo>
                  <a:cubicBezTo>
                    <a:pt x="8" y="110"/>
                    <a:pt x="8" y="110"/>
                    <a:pt x="8" y="110"/>
                  </a:cubicBezTo>
                  <a:cubicBezTo>
                    <a:pt x="5" y="110"/>
                    <a:pt x="5" y="110"/>
                    <a:pt x="5" y="110"/>
                  </a:cubicBezTo>
                  <a:cubicBezTo>
                    <a:pt x="1" y="114"/>
                    <a:pt x="1" y="114"/>
                    <a:pt x="1" y="114"/>
                  </a:cubicBezTo>
                  <a:cubicBezTo>
                    <a:pt x="1" y="117"/>
                    <a:pt x="1" y="117"/>
                    <a:pt x="1" y="117"/>
                  </a:cubicBezTo>
                  <a:cubicBezTo>
                    <a:pt x="0" y="123"/>
                    <a:pt x="0" y="123"/>
                    <a:pt x="0" y="123"/>
                  </a:cubicBezTo>
                  <a:cubicBezTo>
                    <a:pt x="0" y="124"/>
                    <a:pt x="0" y="124"/>
                    <a:pt x="0" y="124"/>
                  </a:cubicBezTo>
                  <a:cubicBezTo>
                    <a:pt x="0" y="124"/>
                    <a:pt x="0" y="124"/>
                    <a:pt x="0" y="124"/>
                  </a:cubicBezTo>
                  <a:cubicBezTo>
                    <a:pt x="56" y="118"/>
                    <a:pt x="56" y="118"/>
                    <a:pt x="56" y="118"/>
                  </a:cubicBezTo>
                  <a:cubicBezTo>
                    <a:pt x="73" y="105"/>
                    <a:pt x="73" y="105"/>
                    <a:pt x="73" y="105"/>
                  </a:cubicBezTo>
                  <a:cubicBezTo>
                    <a:pt x="83" y="104"/>
                    <a:pt x="83" y="104"/>
                    <a:pt x="83" y="104"/>
                  </a:cubicBezTo>
                  <a:cubicBezTo>
                    <a:pt x="90" y="104"/>
                    <a:pt x="90" y="104"/>
                    <a:pt x="90" y="104"/>
                  </a:cubicBezTo>
                  <a:cubicBezTo>
                    <a:pt x="102" y="106"/>
                    <a:pt x="102" y="106"/>
                    <a:pt x="102" y="106"/>
                  </a:cubicBezTo>
                  <a:cubicBezTo>
                    <a:pt x="108" y="105"/>
                    <a:pt x="108" y="105"/>
                    <a:pt x="108" y="105"/>
                  </a:cubicBezTo>
                  <a:cubicBezTo>
                    <a:pt x="111" y="104"/>
                    <a:pt x="111" y="104"/>
                    <a:pt x="111" y="104"/>
                  </a:cubicBezTo>
                  <a:cubicBezTo>
                    <a:pt x="116" y="101"/>
                    <a:pt x="116" y="101"/>
                    <a:pt x="116" y="101"/>
                  </a:cubicBezTo>
                  <a:cubicBezTo>
                    <a:pt x="123" y="100"/>
                    <a:pt x="123" y="100"/>
                    <a:pt x="123" y="100"/>
                  </a:cubicBezTo>
                  <a:cubicBezTo>
                    <a:pt x="132" y="101"/>
                    <a:pt x="132" y="101"/>
                    <a:pt x="132" y="101"/>
                  </a:cubicBezTo>
                  <a:cubicBezTo>
                    <a:pt x="138" y="104"/>
                    <a:pt x="138" y="104"/>
                    <a:pt x="138" y="104"/>
                  </a:cubicBezTo>
                  <a:cubicBezTo>
                    <a:pt x="142" y="114"/>
                    <a:pt x="142" y="114"/>
                    <a:pt x="142" y="114"/>
                  </a:cubicBezTo>
                  <a:cubicBezTo>
                    <a:pt x="182" y="106"/>
                    <a:pt x="182" y="106"/>
                    <a:pt x="182" y="106"/>
                  </a:cubicBezTo>
                  <a:cubicBezTo>
                    <a:pt x="234" y="144"/>
                    <a:pt x="234" y="144"/>
                    <a:pt x="234" y="144"/>
                  </a:cubicBezTo>
                  <a:cubicBezTo>
                    <a:pt x="243" y="140"/>
                    <a:pt x="243" y="140"/>
                    <a:pt x="243" y="140"/>
                  </a:cubicBezTo>
                  <a:cubicBezTo>
                    <a:pt x="245" y="140"/>
                    <a:pt x="245" y="140"/>
                    <a:pt x="245" y="140"/>
                  </a:cubicBezTo>
                  <a:cubicBezTo>
                    <a:pt x="254" y="139"/>
                    <a:pt x="254" y="139"/>
                    <a:pt x="254" y="139"/>
                  </a:cubicBezTo>
                  <a:cubicBezTo>
                    <a:pt x="256" y="136"/>
                    <a:pt x="256" y="136"/>
                    <a:pt x="256" y="136"/>
                  </a:cubicBezTo>
                  <a:cubicBezTo>
                    <a:pt x="259" y="133"/>
                    <a:pt x="259" y="133"/>
                    <a:pt x="259" y="133"/>
                  </a:cubicBezTo>
                  <a:cubicBezTo>
                    <a:pt x="260" y="124"/>
                    <a:pt x="260" y="124"/>
                    <a:pt x="260" y="124"/>
                  </a:cubicBezTo>
                  <a:cubicBezTo>
                    <a:pt x="263" y="117"/>
                    <a:pt x="263" y="117"/>
                    <a:pt x="263" y="117"/>
                  </a:cubicBezTo>
                  <a:cubicBezTo>
                    <a:pt x="267" y="111"/>
                    <a:pt x="267" y="111"/>
                    <a:pt x="267" y="111"/>
                  </a:cubicBezTo>
                  <a:cubicBezTo>
                    <a:pt x="271" y="108"/>
                    <a:pt x="271" y="108"/>
                    <a:pt x="271" y="108"/>
                  </a:cubicBezTo>
                  <a:cubicBezTo>
                    <a:pt x="271" y="106"/>
                    <a:pt x="271" y="106"/>
                    <a:pt x="271" y="106"/>
                  </a:cubicBezTo>
                  <a:cubicBezTo>
                    <a:pt x="270" y="103"/>
                    <a:pt x="270" y="103"/>
                    <a:pt x="270" y="103"/>
                  </a:cubicBezTo>
                  <a:cubicBezTo>
                    <a:pt x="269" y="101"/>
                    <a:pt x="269" y="101"/>
                    <a:pt x="269" y="101"/>
                  </a:cubicBezTo>
                  <a:cubicBezTo>
                    <a:pt x="270" y="100"/>
                    <a:pt x="270" y="100"/>
                    <a:pt x="270" y="100"/>
                  </a:cubicBezTo>
                  <a:cubicBezTo>
                    <a:pt x="270" y="98"/>
                    <a:pt x="270" y="98"/>
                    <a:pt x="270" y="98"/>
                  </a:cubicBezTo>
                  <a:cubicBezTo>
                    <a:pt x="271" y="97"/>
                    <a:pt x="271" y="97"/>
                    <a:pt x="271" y="97"/>
                  </a:cubicBezTo>
                  <a:cubicBezTo>
                    <a:pt x="272" y="97"/>
                    <a:pt x="272" y="97"/>
                    <a:pt x="272" y="97"/>
                  </a:cubicBezTo>
                  <a:cubicBezTo>
                    <a:pt x="273" y="98"/>
                    <a:pt x="273" y="98"/>
                    <a:pt x="273" y="98"/>
                  </a:cubicBezTo>
                  <a:cubicBezTo>
                    <a:pt x="274" y="102"/>
                    <a:pt x="274" y="102"/>
                    <a:pt x="274" y="102"/>
                  </a:cubicBezTo>
                  <a:cubicBezTo>
                    <a:pt x="278" y="100"/>
                    <a:pt x="278" y="100"/>
                    <a:pt x="278" y="100"/>
                  </a:cubicBezTo>
                  <a:cubicBezTo>
                    <a:pt x="281" y="99"/>
                    <a:pt x="281" y="99"/>
                    <a:pt x="281" y="99"/>
                  </a:cubicBezTo>
                  <a:cubicBezTo>
                    <a:pt x="281" y="97"/>
                    <a:pt x="281" y="97"/>
                    <a:pt x="281" y="97"/>
                  </a:cubicBezTo>
                  <a:cubicBezTo>
                    <a:pt x="281" y="95"/>
                    <a:pt x="281" y="95"/>
                    <a:pt x="281" y="95"/>
                  </a:cubicBezTo>
                  <a:cubicBezTo>
                    <a:pt x="283" y="94"/>
                    <a:pt x="283" y="94"/>
                    <a:pt x="283" y="94"/>
                  </a:cubicBezTo>
                  <a:cubicBezTo>
                    <a:pt x="283" y="93"/>
                    <a:pt x="283" y="93"/>
                    <a:pt x="283" y="93"/>
                  </a:cubicBezTo>
                  <a:cubicBezTo>
                    <a:pt x="285" y="95"/>
                    <a:pt x="285" y="95"/>
                    <a:pt x="285" y="95"/>
                  </a:cubicBezTo>
                  <a:cubicBezTo>
                    <a:pt x="290" y="93"/>
                    <a:pt x="290" y="93"/>
                    <a:pt x="290" y="93"/>
                  </a:cubicBezTo>
                  <a:cubicBezTo>
                    <a:pt x="294" y="91"/>
                    <a:pt x="294" y="91"/>
                    <a:pt x="294" y="91"/>
                  </a:cubicBezTo>
                  <a:cubicBezTo>
                    <a:pt x="296" y="91"/>
                    <a:pt x="296" y="91"/>
                    <a:pt x="296" y="91"/>
                  </a:cubicBezTo>
                  <a:cubicBezTo>
                    <a:pt x="299" y="89"/>
                    <a:pt x="299" y="89"/>
                    <a:pt x="299" y="89"/>
                  </a:cubicBezTo>
                  <a:cubicBezTo>
                    <a:pt x="301" y="88"/>
                    <a:pt x="301" y="88"/>
                    <a:pt x="301" y="88"/>
                  </a:cubicBezTo>
                  <a:cubicBezTo>
                    <a:pt x="301" y="87"/>
                    <a:pt x="301" y="87"/>
                    <a:pt x="301" y="87"/>
                  </a:cubicBezTo>
                  <a:cubicBezTo>
                    <a:pt x="305" y="90"/>
                    <a:pt x="305" y="90"/>
                    <a:pt x="305" y="90"/>
                  </a:cubicBezTo>
                  <a:cubicBezTo>
                    <a:pt x="307" y="86"/>
                    <a:pt x="307" y="86"/>
                    <a:pt x="307" y="86"/>
                  </a:cubicBezTo>
                  <a:cubicBezTo>
                    <a:pt x="308" y="81"/>
                    <a:pt x="308" y="81"/>
                    <a:pt x="308" y="81"/>
                  </a:cubicBezTo>
                  <a:cubicBezTo>
                    <a:pt x="309" y="79"/>
                    <a:pt x="309" y="79"/>
                    <a:pt x="309" y="79"/>
                  </a:cubicBezTo>
                  <a:cubicBezTo>
                    <a:pt x="310" y="77"/>
                    <a:pt x="310" y="77"/>
                    <a:pt x="310" y="77"/>
                  </a:cubicBezTo>
                  <a:cubicBezTo>
                    <a:pt x="310" y="77"/>
                    <a:pt x="309" y="74"/>
                    <a:pt x="308" y="75"/>
                  </a:cubicBezTo>
                  <a:cubicBezTo>
                    <a:pt x="307" y="75"/>
                    <a:pt x="304" y="76"/>
                    <a:pt x="304" y="76"/>
                  </a:cubicBezTo>
                  <a:cubicBezTo>
                    <a:pt x="303" y="78"/>
                    <a:pt x="303" y="78"/>
                    <a:pt x="303" y="78"/>
                  </a:cubicBezTo>
                  <a:cubicBezTo>
                    <a:pt x="301" y="78"/>
                    <a:pt x="301" y="78"/>
                    <a:pt x="301" y="78"/>
                  </a:cubicBezTo>
                  <a:cubicBezTo>
                    <a:pt x="299" y="80"/>
                    <a:pt x="299" y="80"/>
                    <a:pt x="299" y="80"/>
                  </a:cubicBezTo>
                  <a:cubicBezTo>
                    <a:pt x="294" y="83"/>
                    <a:pt x="294" y="83"/>
                    <a:pt x="294" y="83"/>
                  </a:cubicBezTo>
                  <a:cubicBezTo>
                    <a:pt x="291" y="83"/>
                    <a:pt x="291" y="83"/>
                    <a:pt x="291" y="83"/>
                  </a:cubicBezTo>
                  <a:cubicBezTo>
                    <a:pt x="283" y="81"/>
                    <a:pt x="283" y="81"/>
                    <a:pt x="283" y="81"/>
                  </a:cubicBezTo>
                  <a:cubicBezTo>
                    <a:pt x="283" y="79"/>
                    <a:pt x="283" y="79"/>
                    <a:pt x="283" y="79"/>
                  </a:cubicBezTo>
                  <a:cubicBezTo>
                    <a:pt x="283" y="77"/>
                    <a:pt x="283" y="77"/>
                    <a:pt x="283" y="77"/>
                  </a:cubicBezTo>
                  <a:cubicBezTo>
                    <a:pt x="284" y="76"/>
                    <a:pt x="284" y="76"/>
                    <a:pt x="284" y="76"/>
                  </a:cubicBezTo>
                  <a:cubicBezTo>
                    <a:pt x="286" y="76"/>
                    <a:pt x="286" y="76"/>
                    <a:pt x="286" y="76"/>
                  </a:cubicBezTo>
                  <a:cubicBezTo>
                    <a:pt x="288" y="77"/>
                    <a:pt x="288" y="77"/>
                    <a:pt x="288" y="77"/>
                  </a:cubicBezTo>
                  <a:cubicBezTo>
                    <a:pt x="293" y="77"/>
                    <a:pt x="293" y="77"/>
                    <a:pt x="293" y="77"/>
                  </a:cubicBezTo>
                  <a:cubicBezTo>
                    <a:pt x="296" y="75"/>
                    <a:pt x="296" y="75"/>
                    <a:pt x="296" y="75"/>
                  </a:cubicBezTo>
                  <a:cubicBezTo>
                    <a:pt x="296" y="73"/>
                    <a:pt x="296" y="73"/>
                    <a:pt x="296" y="73"/>
                  </a:cubicBezTo>
                  <a:cubicBezTo>
                    <a:pt x="295" y="71"/>
                    <a:pt x="295" y="71"/>
                    <a:pt x="295" y="71"/>
                  </a:cubicBezTo>
                  <a:cubicBezTo>
                    <a:pt x="296" y="68"/>
                    <a:pt x="296" y="68"/>
                    <a:pt x="296" y="68"/>
                  </a:cubicBezTo>
                  <a:cubicBezTo>
                    <a:pt x="297" y="68"/>
                    <a:pt x="297" y="68"/>
                    <a:pt x="297" y="68"/>
                  </a:cubicBezTo>
                  <a:cubicBezTo>
                    <a:pt x="299" y="66"/>
                    <a:pt x="299" y="66"/>
                    <a:pt x="299" y="66"/>
                  </a:cubicBezTo>
                  <a:cubicBezTo>
                    <a:pt x="299" y="64"/>
                    <a:pt x="299" y="64"/>
                    <a:pt x="299" y="64"/>
                  </a:cubicBezTo>
                  <a:cubicBezTo>
                    <a:pt x="296" y="64"/>
                    <a:pt x="296" y="64"/>
                    <a:pt x="296" y="64"/>
                  </a:cubicBezTo>
                  <a:cubicBezTo>
                    <a:pt x="290" y="61"/>
                    <a:pt x="290" y="61"/>
                    <a:pt x="290" y="61"/>
                  </a:cubicBezTo>
                  <a:cubicBezTo>
                    <a:pt x="283" y="60"/>
                    <a:pt x="283" y="60"/>
                    <a:pt x="283" y="60"/>
                  </a:cubicBezTo>
                  <a:cubicBezTo>
                    <a:pt x="280" y="58"/>
                    <a:pt x="280" y="58"/>
                    <a:pt x="280" y="58"/>
                  </a:cubicBezTo>
                  <a:cubicBezTo>
                    <a:pt x="280" y="57"/>
                    <a:pt x="280" y="57"/>
                    <a:pt x="280" y="57"/>
                  </a:cubicBezTo>
                  <a:cubicBezTo>
                    <a:pt x="284" y="57"/>
                    <a:pt x="284" y="57"/>
                    <a:pt x="284" y="57"/>
                  </a:cubicBezTo>
                  <a:cubicBezTo>
                    <a:pt x="290" y="57"/>
                    <a:pt x="290" y="57"/>
                    <a:pt x="290" y="57"/>
                  </a:cubicBezTo>
                  <a:cubicBezTo>
                    <a:pt x="294" y="59"/>
                    <a:pt x="294" y="59"/>
                    <a:pt x="294" y="59"/>
                  </a:cubicBezTo>
                  <a:cubicBezTo>
                    <a:pt x="295" y="57"/>
                    <a:pt x="295" y="57"/>
                    <a:pt x="295" y="57"/>
                  </a:cubicBezTo>
                  <a:cubicBezTo>
                    <a:pt x="294" y="55"/>
                    <a:pt x="294" y="55"/>
                    <a:pt x="294" y="55"/>
                  </a:cubicBezTo>
                  <a:cubicBezTo>
                    <a:pt x="293" y="54"/>
                    <a:pt x="293" y="54"/>
                    <a:pt x="293" y="54"/>
                  </a:cubicBezTo>
                  <a:cubicBezTo>
                    <a:pt x="292" y="52"/>
                    <a:pt x="292" y="52"/>
                    <a:pt x="292" y="52"/>
                  </a:cubicBezTo>
                  <a:cubicBezTo>
                    <a:pt x="294" y="51"/>
                    <a:pt x="294" y="51"/>
                    <a:pt x="294" y="51"/>
                  </a:cubicBezTo>
                  <a:cubicBezTo>
                    <a:pt x="297" y="51"/>
                    <a:pt x="297" y="51"/>
                    <a:pt x="297" y="51"/>
                  </a:cubicBezTo>
                  <a:cubicBezTo>
                    <a:pt x="298" y="56"/>
                    <a:pt x="298" y="56"/>
                    <a:pt x="298" y="56"/>
                  </a:cubicBezTo>
                  <a:cubicBezTo>
                    <a:pt x="300" y="58"/>
                    <a:pt x="300" y="58"/>
                    <a:pt x="300" y="58"/>
                  </a:cubicBezTo>
                  <a:cubicBezTo>
                    <a:pt x="303" y="58"/>
                    <a:pt x="303" y="58"/>
                    <a:pt x="303" y="58"/>
                  </a:cubicBezTo>
                  <a:cubicBezTo>
                    <a:pt x="304" y="57"/>
                    <a:pt x="304" y="57"/>
                    <a:pt x="304" y="57"/>
                  </a:cubicBezTo>
                  <a:cubicBezTo>
                    <a:pt x="306" y="58"/>
                    <a:pt x="306" y="58"/>
                    <a:pt x="306" y="58"/>
                  </a:cubicBezTo>
                  <a:cubicBezTo>
                    <a:pt x="310" y="58"/>
                    <a:pt x="310" y="58"/>
                    <a:pt x="310" y="58"/>
                  </a:cubicBezTo>
                  <a:cubicBezTo>
                    <a:pt x="316" y="58"/>
                    <a:pt x="316" y="58"/>
                    <a:pt x="316" y="58"/>
                  </a:cubicBezTo>
                  <a:cubicBezTo>
                    <a:pt x="317" y="57"/>
                    <a:pt x="317" y="57"/>
                    <a:pt x="317" y="57"/>
                  </a:cubicBezTo>
                  <a:cubicBezTo>
                    <a:pt x="317" y="53"/>
                    <a:pt x="317" y="53"/>
                    <a:pt x="317" y="53"/>
                  </a:cubicBezTo>
                  <a:cubicBezTo>
                    <a:pt x="318" y="51"/>
                    <a:pt x="318" y="51"/>
                    <a:pt x="318" y="51"/>
                  </a:cubicBezTo>
                  <a:cubicBezTo>
                    <a:pt x="319" y="48"/>
                    <a:pt x="319" y="48"/>
                    <a:pt x="319" y="48"/>
                  </a:cubicBezTo>
                  <a:cubicBezTo>
                    <a:pt x="319" y="46"/>
                    <a:pt x="319" y="46"/>
                    <a:pt x="319" y="46"/>
                  </a:cubicBezTo>
                  <a:cubicBezTo>
                    <a:pt x="320" y="42"/>
                    <a:pt x="320" y="42"/>
                    <a:pt x="320" y="42"/>
                  </a:cubicBezTo>
                  <a:cubicBezTo>
                    <a:pt x="322" y="42"/>
                    <a:pt x="322" y="42"/>
                    <a:pt x="322" y="42"/>
                  </a:cubicBezTo>
                  <a:cubicBezTo>
                    <a:pt x="323" y="44"/>
                    <a:pt x="323" y="44"/>
                    <a:pt x="323" y="44"/>
                  </a:cubicBezTo>
                  <a:cubicBezTo>
                    <a:pt x="325" y="42"/>
                    <a:pt x="325" y="42"/>
                    <a:pt x="325" y="42"/>
                  </a:cubicBezTo>
                  <a:cubicBezTo>
                    <a:pt x="325" y="39"/>
                    <a:pt x="325" y="39"/>
                    <a:pt x="325" y="39"/>
                  </a:cubicBezTo>
                  <a:cubicBezTo>
                    <a:pt x="326" y="37"/>
                    <a:pt x="326" y="37"/>
                    <a:pt x="326" y="37"/>
                  </a:cubicBezTo>
                  <a:lnTo>
                    <a:pt x="324" y="34"/>
                  </a:lnTo>
                  <a:close/>
                </a:path>
              </a:pathLst>
            </a:custGeom>
            <a:solidFill>
              <a:srgbClr val="AF0041"/>
            </a:solidFill>
            <a:ln w="6350" cap="flat">
              <a:solidFill>
                <a:schemeClr val="bg1"/>
              </a:solidFill>
              <a:prstDash val="solid"/>
              <a:miter lim="800000"/>
              <a:headEnd/>
              <a:tailEnd/>
            </a:ln>
          </p:spPr>
          <p:txBody>
            <a:bodyPr/>
            <a:lstStyle/>
            <a:p>
              <a:pPr defTabSz="1828272">
                <a:defRPr/>
              </a:pPr>
              <a:endParaRPr lang="en-US"/>
            </a:p>
          </p:txBody>
        </p:sp>
        <p:sp>
          <p:nvSpPr>
            <p:cNvPr id="211" name="Freeform 38"/>
            <p:cNvSpPr>
              <a:spLocks/>
            </p:cNvSpPr>
            <p:nvPr/>
          </p:nvSpPr>
          <p:spPr bwMode="auto">
            <a:xfrm>
              <a:off x="7274749" y="2775308"/>
              <a:ext cx="286695" cy="308620"/>
            </a:xfrm>
            <a:custGeom>
              <a:avLst/>
              <a:gdLst>
                <a:gd name="T0" fmla="*/ 196 w 201"/>
                <a:gd name="T1" fmla="*/ 127 h 216"/>
                <a:gd name="T2" fmla="*/ 195 w 201"/>
                <a:gd name="T3" fmla="*/ 120 h 216"/>
                <a:gd name="T4" fmla="*/ 191 w 201"/>
                <a:gd name="T5" fmla="*/ 115 h 216"/>
                <a:gd name="T6" fmla="*/ 190 w 201"/>
                <a:gd name="T7" fmla="*/ 110 h 216"/>
                <a:gd name="T8" fmla="*/ 187 w 201"/>
                <a:gd name="T9" fmla="*/ 107 h 216"/>
                <a:gd name="T10" fmla="*/ 183 w 201"/>
                <a:gd name="T11" fmla="*/ 106 h 216"/>
                <a:gd name="T12" fmla="*/ 181 w 201"/>
                <a:gd name="T13" fmla="*/ 101 h 216"/>
                <a:gd name="T14" fmla="*/ 179 w 201"/>
                <a:gd name="T15" fmla="*/ 96 h 216"/>
                <a:gd name="T16" fmla="*/ 174 w 201"/>
                <a:gd name="T17" fmla="*/ 89 h 216"/>
                <a:gd name="T18" fmla="*/ 168 w 201"/>
                <a:gd name="T19" fmla="*/ 84 h 216"/>
                <a:gd name="T20" fmla="*/ 158 w 201"/>
                <a:gd name="T21" fmla="*/ 78 h 216"/>
                <a:gd name="T22" fmla="*/ 147 w 201"/>
                <a:gd name="T23" fmla="*/ 63 h 216"/>
                <a:gd name="T24" fmla="*/ 126 w 201"/>
                <a:gd name="T25" fmla="*/ 46 h 216"/>
                <a:gd name="T26" fmla="*/ 116 w 201"/>
                <a:gd name="T27" fmla="*/ 35 h 216"/>
                <a:gd name="T28" fmla="*/ 111 w 201"/>
                <a:gd name="T29" fmla="*/ 27 h 216"/>
                <a:gd name="T30" fmla="*/ 96 w 201"/>
                <a:gd name="T31" fmla="*/ 19 h 216"/>
                <a:gd name="T32" fmla="*/ 92 w 201"/>
                <a:gd name="T33" fmla="*/ 14 h 216"/>
                <a:gd name="T34" fmla="*/ 97 w 201"/>
                <a:gd name="T35" fmla="*/ 8 h 216"/>
                <a:gd name="T36" fmla="*/ 103 w 201"/>
                <a:gd name="T37" fmla="*/ 4 h 216"/>
                <a:gd name="T38" fmla="*/ 104 w 201"/>
                <a:gd name="T39" fmla="*/ 0 h 216"/>
                <a:gd name="T40" fmla="*/ 48 w 201"/>
                <a:gd name="T41" fmla="*/ 6 h 216"/>
                <a:gd name="T42" fmla="*/ 0 w 201"/>
                <a:gd name="T43" fmla="*/ 10 h 216"/>
                <a:gd name="T44" fmla="*/ 11 w 201"/>
                <a:gd name="T45" fmla="*/ 58 h 216"/>
                <a:gd name="T46" fmla="*/ 25 w 201"/>
                <a:gd name="T47" fmla="*/ 107 h 216"/>
                <a:gd name="T48" fmla="*/ 38 w 201"/>
                <a:gd name="T49" fmla="*/ 128 h 216"/>
                <a:gd name="T50" fmla="*/ 39 w 201"/>
                <a:gd name="T51" fmla="*/ 137 h 216"/>
                <a:gd name="T52" fmla="*/ 40 w 201"/>
                <a:gd name="T53" fmla="*/ 144 h 216"/>
                <a:gd name="T54" fmla="*/ 39 w 201"/>
                <a:gd name="T55" fmla="*/ 150 h 216"/>
                <a:gd name="T56" fmla="*/ 35 w 201"/>
                <a:gd name="T57" fmla="*/ 157 h 216"/>
                <a:gd name="T58" fmla="*/ 37 w 201"/>
                <a:gd name="T59" fmla="*/ 172 h 216"/>
                <a:gd name="T60" fmla="*/ 40 w 201"/>
                <a:gd name="T61" fmla="*/ 182 h 216"/>
                <a:gd name="T62" fmla="*/ 37 w 201"/>
                <a:gd name="T63" fmla="*/ 186 h 216"/>
                <a:gd name="T64" fmla="*/ 41 w 201"/>
                <a:gd name="T65" fmla="*/ 193 h 216"/>
                <a:gd name="T66" fmla="*/ 46 w 201"/>
                <a:gd name="T67" fmla="*/ 201 h 216"/>
                <a:gd name="T68" fmla="*/ 160 w 201"/>
                <a:gd name="T69" fmla="*/ 207 h 216"/>
                <a:gd name="T70" fmla="*/ 169 w 201"/>
                <a:gd name="T71" fmla="*/ 216 h 216"/>
                <a:gd name="T72" fmla="*/ 166 w 201"/>
                <a:gd name="T73" fmla="*/ 193 h 216"/>
                <a:gd name="T74" fmla="*/ 183 w 201"/>
                <a:gd name="T75" fmla="*/ 196 h 216"/>
                <a:gd name="T76" fmla="*/ 185 w 201"/>
                <a:gd name="T77" fmla="*/ 189 h 216"/>
                <a:gd name="T78" fmla="*/ 182 w 201"/>
                <a:gd name="T79" fmla="*/ 187 h 216"/>
                <a:gd name="T80" fmla="*/ 180 w 201"/>
                <a:gd name="T81" fmla="*/ 183 h 216"/>
                <a:gd name="T82" fmla="*/ 185 w 201"/>
                <a:gd name="T83" fmla="*/ 183 h 216"/>
                <a:gd name="T84" fmla="*/ 183 w 201"/>
                <a:gd name="T85" fmla="*/ 177 h 216"/>
                <a:gd name="T86" fmla="*/ 188 w 201"/>
                <a:gd name="T87" fmla="*/ 174 h 216"/>
                <a:gd name="T88" fmla="*/ 187 w 201"/>
                <a:gd name="T89" fmla="*/ 168 h 216"/>
                <a:gd name="T90" fmla="*/ 188 w 201"/>
                <a:gd name="T91" fmla="*/ 165 h 216"/>
                <a:gd name="T92" fmla="*/ 189 w 201"/>
                <a:gd name="T93" fmla="*/ 161 h 216"/>
                <a:gd name="T94" fmla="*/ 189 w 201"/>
                <a:gd name="T95" fmla="*/ 151 h 216"/>
                <a:gd name="T96" fmla="*/ 194 w 201"/>
                <a:gd name="T97" fmla="*/ 152 h 216"/>
                <a:gd name="T98" fmla="*/ 193 w 201"/>
                <a:gd name="T99" fmla="*/ 149 h 216"/>
                <a:gd name="T100" fmla="*/ 189 w 201"/>
                <a:gd name="T101" fmla="*/ 144 h 216"/>
                <a:gd name="T102" fmla="*/ 196 w 201"/>
                <a:gd name="T103" fmla="*/ 144 h 216"/>
                <a:gd name="T104" fmla="*/ 193 w 201"/>
                <a:gd name="T105" fmla="*/ 141 h 216"/>
                <a:gd name="T106" fmla="*/ 192 w 201"/>
                <a:gd name="T107" fmla="*/ 137 h 216"/>
                <a:gd name="T108" fmla="*/ 197 w 201"/>
                <a:gd name="T109" fmla="*/ 138 h 216"/>
                <a:gd name="T110" fmla="*/ 199 w 201"/>
                <a:gd name="T111" fmla="*/ 134 h 216"/>
                <a:gd name="T112" fmla="*/ 201 w 201"/>
                <a:gd name="T113" fmla="*/ 130 h 216"/>
                <a:gd name="T114" fmla="*/ 198 w 201"/>
                <a:gd name="T115" fmla="*/ 128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01" h="216">
                  <a:moveTo>
                    <a:pt x="198" y="128"/>
                  </a:moveTo>
                  <a:cubicBezTo>
                    <a:pt x="196" y="127"/>
                    <a:pt x="196" y="127"/>
                    <a:pt x="196" y="127"/>
                  </a:cubicBezTo>
                  <a:cubicBezTo>
                    <a:pt x="195" y="124"/>
                    <a:pt x="195" y="124"/>
                    <a:pt x="195" y="124"/>
                  </a:cubicBezTo>
                  <a:cubicBezTo>
                    <a:pt x="195" y="120"/>
                    <a:pt x="195" y="120"/>
                    <a:pt x="195" y="120"/>
                  </a:cubicBezTo>
                  <a:cubicBezTo>
                    <a:pt x="195" y="119"/>
                    <a:pt x="195" y="119"/>
                    <a:pt x="195" y="119"/>
                  </a:cubicBezTo>
                  <a:cubicBezTo>
                    <a:pt x="191" y="115"/>
                    <a:pt x="191" y="115"/>
                    <a:pt x="191" y="115"/>
                  </a:cubicBezTo>
                  <a:cubicBezTo>
                    <a:pt x="190" y="112"/>
                    <a:pt x="190" y="112"/>
                    <a:pt x="190" y="112"/>
                  </a:cubicBezTo>
                  <a:cubicBezTo>
                    <a:pt x="190" y="110"/>
                    <a:pt x="190" y="110"/>
                    <a:pt x="190" y="110"/>
                  </a:cubicBezTo>
                  <a:cubicBezTo>
                    <a:pt x="190" y="109"/>
                    <a:pt x="190" y="109"/>
                    <a:pt x="190" y="109"/>
                  </a:cubicBezTo>
                  <a:cubicBezTo>
                    <a:pt x="187" y="107"/>
                    <a:pt x="187" y="107"/>
                    <a:pt x="187" y="107"/>
                  </a:cubicBezTo>
                  <a:cubicBezTo>
                    <a:pt x="184" y="106"/>
                    <a:pt x="184" y="106"/>
                    <a:pt x="184" y="106"/>
                  </a:cubicBezTo>
                  <a:cubicBezTo>
                    <a:pt x="183" y="106"/>
                    <a:pt x="183" y="106"/>
                    <a:pt x="183" y="106"/>
                  </a:cubicBezTo>
                  <a:cubicBezTo>
                    <a:pt x="182" y="104"/>
                    <a:pt x="182" y="104"/>
                    <a:pt x="182" y="104"/>
                  </a:cubicBezTo>
                  <a:cubicBezTo>
                    <a:pt x="181" y="101"/>
                    <a:pt x="181" y="101"/>
                    <a:pt x="181" y="101"/>
                  </a:cubicBezTo>
                  <a:cubicBezTo>
                    <a:pt x="181" y="99"/>
                    <a:pt x="181" y="99"/>
                    <a:pt x="181" y="99"/>
                  </a:cubicBezTo>
                  <a:cubicBezTo>
                    <a:pt x="179" y="96"/>
                    <a:pt x="179" y="96"/>
                    <a:pt x="179" y="96"/>
                  </a:cubicBezTo>
                  <a:cubicBezTo>
                    <a:pt x="176" y="91"/>
                    <a:pt x="176" y="91"/>
                    <a:pt x="176" y="91"/>
                  </a:cubicBezTo>
                  <a:cubicBezTo>
                    <a:pt x="174" y="89"/>
                    <a:pt x="174" y="89"/>
                    <a:pt x="174" y="89"/>
                  </a:cubicBezTo>
                  <a:cubicBezTo>
                    <a:pt x="171" y="87"/>
                    <a:pt x="171" y="87"/>
                    <a:pt x="171" y="87"/>
                  </a:cubicBezTo>
                  <a:cubicBezTo>
                    <a:pt x="168" y="84"/>
                    <a:pt x="168" y="84"/>
                    <a:pt x="168" y="84"/>
                  </a:cubicBezTo>
                  <a:cubicBezTo>
                    <a:pt x="165" y="81"/>
                    <a:pt x="165" y="81"/>
                    <a:pt x="165" y="81"/>
                  </a:cubicBezTo>
                  <a:cubicBezTo>
                    <a:pt x="158" y="78"/>
                    <a:pt x="158" y="78"/>
                    <a:pt x="158" y="78"/>
                  </a:cubicBezTo>
                  <a:cubicBezTo>
                    <a:pt x="153" y="71"/>
                    <a:pt x="153" y="71"/>
                    <a:pt x="153" y="71"/>
                  </a:cubicBezTo>
                  <a:cubicBezTo>
                    <a:pt x="147" y="63"/>
                    <a:pt x="147" y="63"/>
                    <a:pt x="147" y="63"/>
                  </a:cubicBezTo>
                  <a:cubicBezTo>
                    <a:pt x="142" y="59"/>
                    <a:pt x="142" y="59"/>
                    <a:pt x="142" y="59"/>
                  </a:cubicBezTo>
                  <a:cubicBezTo>
                    <a:pt x="126" y="46"/>
                    <a:pt x="126" y="46"/>
                    <a:pt x="126" y="46"/>
                  </a:cubicBezTo>
                  <a:cubicBezTo>
                    <a:pt x="121" y="40"/>
                    <a:pt x="121" y="40"/>
                    <a:pt x="121" y="40"/>
                  </a:cubicBezTo>
                  <a:cubicBezTo>
                    <a:pt x="116" y="35"/>
                    <a:pt x="116" y="35"/>
                    <a:pt x="116" y="35"/>
                  </a:cubicBezTo>
                  <a:cubicBezTo>
                    <a:pt x="114" y="31"/>
                    <a:pt x="114" y="31"/>
                    <a:pt x="114" y="31"/>
                  </a:cubicBezTo>
                  <a:cubicBezTo>
                    <a:pt x="111" y="27"/>
                    <a:pt x="111" y="27"/>
                    <a:pt x="111" y="27"/>
                  </a:cubicBezTo>
                  <a:cubicBezTo>
                    <a:pt x="108" y="24"/>
                    <a:pt x="108" y="24"/>
                    <a:pt x="108" y="24"/>
                  </a:cubicBezTo>
                  <a:cubicBezTo>
                    <a:pt x="96" y="19"/>
                    <a:pt x="96" y="19"/>
                    <a:pt x="96" y="19"/>
                  </a:cubicBezTo>
                  <a:cubicBezTo>
                    <a:pt x="94" y="16"/>
                    <a:pt x="94" y="16"/>
                    <a:pt x="94" y="16"/>
                  </a:cubicBezTo>
                  <a:cubicBezTo>
                    <a:pt x="92" y="14"/>
                    <a:pt x="92" y="14"/>
                    <a:pt x="92" y="14"/>
                  </a:cubicBezTo>
                  <a:cubicBezTo>
                    <a:pt x="92" y="11"/>
                    <a:pt x="92" y="11"/>
                    <a:pt x="92" y="11"/>
                  </a:cubicBezTo>
                  <a:cubicBezTo>
                    <a:pt x="97" y="8"/>
                    <a:pt x="97" y="8"/>
                    <a:pt x="97" y="8"/>
                  </a:cubicBezTo>
                  <a:cubicBezTo>
                    <a:pt x="101" y="5"/>
                    <a:pt x="101" y="5"/>
                    <a:pt x="101" y="5"/>
                  </a:cubicBezTo>
                  <a:cubicBezTo>
                    <a:pt x="103" y="4"/>
                    <a:pt x="103" y="4"/>
                    <a:pt x="103" y="4"/>
                  </a:cubicBezTo>
                  <a:cubicBezTo>
                    <a:pt x="103" y="2"/>
                    <a:pt x="103" y="2"/>
                    <a:pt x="103" y="2"/>
                  </a:cubicBezTo>
                  <a:cubicBezTo>
                    <a:pt x="104" y="0"/>
                    <a:pt x="104" y="0"/>
                    <a:pt x="104" y="0"/>
                  </a:cubicBezTo>
                  <a:cubicBezTo>
                    <a:pt x="104" y="0"/>
                    <a:pt x="104" y="0"/>
                    <a:pt x="104" y="0"/>
                  </a:cubicBezTo>
                  <a:cubicBezTo>
                    <a:pt x="48" y="6"/>
                    <a:pt x="48" y="6"/>
                    <a:pt x="48" y="6"/>
                  </a:cubicBezTo>
                  <a:cubicBezTo>
                    <a:pt x="48" y="6"/>
                    <a:pt x="48" y="6"/>
                    <a:pt x="48" y="6"/>
                  </a:cubicBezTo>
                  <a:cubicBezTo>
                    <a:pt x="0" y="10"/>
                    <a:pt x="0" y="10"/>
                    <a:pt x="0" y="10"/>
                  </a:cubicBezTo>
                  <a:cubicBezTo>
                    <a:pt x="3" y="24"/>
                    <a:pt x="3" y="24"/>
                    <a:pt x="3" y="24"/>
                  </a:cubicBezTo>
                  <a:cubicBezTo>
                    <a:pt x="11" y="58"/>
                    <a:pt x="11" y="58"/>
                    <a:pt x="11" y="58"/>
                  </a:cubicBezTo>
                  <a:cubicBezTo>
                    <a:pt x="23" y="98"/>
                    <a:pt x="23" y="98"/>
                    <a:pt x="23" y="98"/>
                  </a:cubicBezTo>
                  <a:cubicBezTo>
                    <a:pt x="25" y="107"/>
                    <a:pt x="25" y="107"/>
                    <a:pt x="25" y="107"/>
                  </a:cubicBezTo>
                  <a:cubicBezTo>
                    <a:pt x="33" y="122"/>
                    <a:pt x="33" y="122"/>
                    <a:pt x="33" y="122"/>
                  </a:cubicBezTo>
                  <a:cubicBezTo>
                    <a:pt x="38" y="128"/>
                    <a:pt x="38" y="128"/>
                    <a:pt x="38" y="128"/>
                  </a:cubicBezTo>
                  <a:cubicBezTo>
                    <a:pt x="38" y="132"/>
                    <a:pt x="38" y="132"/>
                    <a:pt x="38" y="132"/>
                  </a:cubicBezTo>
                  <a:cubicBezTo>
                    <a:pt x="39" y="137"/>
                    <a:pt x="39" y="137"/>
                    <a:pt x="39" y="137"/>
                  </a:cubicBezTo>
                  <a:cubicBezTo>
                    <a:pt x="42" y="139"/>
                    <a:pt x="42" y="139"/>
                    <a:pt x="42" y="139"/>
                  </a:cubicBezTo>
                  <a:cubicBezTo>
                    <a:pt x="40" y="144"/>
                    <a:pt x="40" y="144"/>
                    <a:pt x="40" y="144"/>
                  </a:cubicBezTo>
                  <a:cubicBezTo>
                    <a:pt x="35" y="147"/>
                    <a:pt x="35" y="147"/>
                    <a:pt x="35" y="147"/>
                  </a:cubicBezTo>
                  <a:cubicBezTo>
                    <a:pt x="39" y="150"/>
                    <a:pt x="39" y="150"/>
                    <a:pt x="39" y="150"/>
                  </a:cubicBezTo>
                  <a:cubicBezTo>
                    <a:pt x="38" y="155"/>
                    <a:pt x="38" y="155"/>
                    <a:pt x="38" y="155"/>
                  </a:cubicBezTo>
                  <a:cubicBezTo>
                    <a:pt x="35" y="157"/>
                    <a:pt x="35" y="157"/>
                    <a:pt x="35" y="157"/>
                  </a:cubicBezTo>
                  <a:cubicBezTo>
                    <a:pt x="35" y="163"/>
                    <a:pt x="35" y="163"/>
                    <a:pt x="35" y="163"/>
                  </a:cubicBezTo>
                  <a:cubicBezTo>
                    <a:pt x="37" y="172"/>
                    <a:pt x="37" y="172"/>
                    <a:pt x="37" y="172"/>
                  </a:cubicBezTo>
                  <a:cubicBezTo>
                    <a:pt x="39" y="176"/>
                    <a:pt x="39" y="176"/>
                    <a:pt x="39" y="176"/>
                  </a:cubicBezTo>
                  <a:cubicBezTo>
                    <a:pt x="40" y="182"/>
                    <a:pt x="40" y="182"/>
                    <a:pt x="40" y="182"/>
                  </a:cubicBezTo>
                  <a:cubicBezTo>
                    <a:pt x="38" y="184"/>
                    <a:pt x="38" y="184"/>
                    <a:pt x="38" y="184"/>
                  </a:cubicBezTo>
                  <a:cubicBezTo>
                    <a:pt x="37" y="186"/>
                    <a:pt x="37" y="186"/>
                    <a:pt x="37" y="186"/>
                  </a:cubicBezTo>
                  <a:cubicBezTo>
                    <a:pt x="39" y="190"/>
                    <a:pt x="39" y="190"/>
                    <a:pt x="39" y="190"/>
                  </a:cubicBezTo>
                  <a:cubicBezTo>
                    <a:pt x="41" y="193"/>
                    <a:pt x="41" y="193"/>
                    <a:pt x="41" y="193"/>
                  </a:cubicBezTo>
                  <a:cubicBezTo>
                    <a:pt x="45" y="199"/>
                    <a:pt x="45" y="199"/>
                    <a:pt x="45" y="199"/>
                  </a:cubicBezTo>
                  <a:cubicBezTo>
                    <a:pt x="46" y="201"/>
                    <a:pt x="46" y="201"/>
                    <a:pt x="46" y="201"/>
                  </a:cubicBezTo>
                  <a:cubicBezTo>
                    <a:pt x="52" y="213"/>
                    <a:pt x="52" y="213"/>
                    <a:pt x="52" y="213"/>
                  </a:cubicBezTo>
                  <a:cubicBezTo>
                    <a:pt x="160" y="207"/>
                    <a:pt x="160" y="207"/>
                    <a:pt x="160" y="207"/>
                  </a:cubicBezTo>
                  <a:cubicBezTo>
                    <a:pt x="161" y="216"/>
                    <a:pt x="161" y="216"/>
                    <a:pt x="161" y="216"/>
                  </a:cubicBezTo>
                  <a:cubicBezTo>
                    <a:pt x="169" y="216"/>
                    <a:pt x="169" y="216"/>
                    <a:pt x="169" y="216"/>
                  </a:cubicBezTo>
                  <a:cubicBezTo>
                    <a:pt x="166" y="193"/>
                    <a:pt x="166" y="193"/>
                    <a:pt x="166" y="193"/>
                  </a:cubicBezTo>
                  <a:cubicBezTo>
                    <a:pt x="166" y="193"/>
                    <a:pt x="166" y="193"/>
                    <a:pt x="166" y="193"/>
                  </a:cubicBezTo>
                  <a:cubicBezTo>
                    <a:pt x="173" y="194"/>
                    <a:pt x="173" y="194"/>
                    <a:pt x="173" y="194"/>
                  </a:cubicBezTo>
                  <a:cubicBezTo>
                    <a:pt x="183" y="196"/>
                    <a:pt x="183" y="196"/>
                    <a:pt x="183" y="196"/>
                  </a:cubicBezTo>
                  <a:cubicBezTo>
                    <a:pt x="184" y="193"/>
                    <a:pt x="184" y="193"/>
                    <a:pt x="184" y="193"/>
                  </a:cubicBezTo>
                  <a:cubicBezTo>
                    <a:pt x="184" y="193"/>
                    <a:pt x="185" y="189"/>
                    <a:pt x="185" y="189"/>
                  </a:cubicBezTo>
                  <a:cubicBezTo>
                    <a:pt x="185" y="188"/>
                    <a:pt x="184" y="188"/>
                    <a:pt x="184" y="188"/>
                  </a:cubicBezTo>
                  <a:cubicBezTo>
                    <a:pt x="184" y="188"/>
                    <a:pt x="183" y="187"/>
                    <a:pt x="182" y="187"/>
                  </a:cubicBezTo>
                  <a:cubicBezTo>
                    <a:pt x="181" y="186"/>
                    <a:pt x="181" y="185"/>
                    <a:pt x="180" y="184"/>
                  </a:cubicBezTo>
                  <a:cubicBezTo>
                    <a:pt x="179" y="183"/>
                    <a:pt x="180" y="183"/>
                    <a:pt x="180" y="183"/>
                  </a:cubicBezTo>
                  <a:cubicBezTo>
                    <a:pt x="182" y="183"/>
                    <a:pt x="182" y="183"/>
                    <a:pt x="182" y="183"/>
                  </a:cubicBezTo>
                  <a:cubicBezTo>
                    <a:pt x="185" y="183"/>
                    <a:pt x="185" y="183"/>
                    <a:pt x="185" y="183"/>
                  </a:cubicBezTo>
                  <a:cubicBezTo>
                    <a:pt x="185" y="183"/>
                    <a:pt x="184" y="181"/>
                    <a:pt x="184" y="179"/>
                  </a:cubicBezTo>
                  <a:cubicBezTo>
                    <a:pt x="183" y="177"/>
                    <a:pt x="183" y="177"/>
                    <a:pt x="183" y="177"/>
                  </a:cubicBezTo>
                  <a:cubicBezTo>
                    <a:pt x="186" y="176"/>
                    <a:pt x="186" y="176"/>
                    <a:pt x="186" y="176"/>
                  </a:cubicBezTo>
                  <a:cubicBezTo>
                    <a:pt x="188" y="174"/>
                    <a:pt x="188" y="174"/>
                    <a:pt x="188" y="174"/>
                  </a:cubicBezTo>
                  <a:cubicBezTo>
                    <a:pt x="190" y="169"/>
                    <a:pt x="190" y="169"/>
                    <a:pt x="190" y="169"/>
                  </a:cubicBezTo>
                  <a:cubicBezTo>
                    <a:pt x="187" y="168"/>
                    <a:pt x="187" y="168"/>
                    <a:pt x="187" y="168"/>
                  </a:cubicBezTo>
                  <a:cubicBezTo>
                    <a:pt x="187" y="168"/>
                    <a:pt x="187" y="167"/>
                    <a:pt x="187" y="167"/>
                  </a:cubicBezTo>
                  <a:cubicBezTo>
                    <a:pt x="187" y="166"/>
                    <a:pt x="188" y="166"/>
                    <a:pt x="188" y="165"/>
                  </a:cubicBezTo>
                  <a:cubicBezTo>
                    <a:pt x="188" y="165"/>
                    <a:pt x="189" y="164"/>
                    <a:pt x="189" y="164"/>
                  </a:cubicBezTo>
                  <a:cubicBezTo>
                    <a:pt x="189" y="161"/>
                    <a:pt x="189" y="161"/>
                    <a:pt x="189" y="161"/>
                  </a:cubicBezTo>
                  <a:cubicBezTo>
                    <a:pt x="189" y="154"/>
                    <a:pt x="189" y="154"/>
                    <a:pt x="189" y="154"/>
                  </a:cubicBezTo>
                  <a:cubicBezTo>
                    <a:pt x="189" y="151"/>
                    <a:pt x="189" y="151"/>
                    <a:pt x="189" y="151"/>
                  </a:cubicBezTo>
                  <a:cubicBezTo>
                    <a:pt x="189" y="151"/>
                    <a:pt x="191" y="151"/>
                    <a:pt x="192" y="151"/>
                  </a:cubicBezTo>
                  <a:cubicBezTo>
                    <a:pt x="192" y="151"/>
                    <a:pt x="194" y="152"/>
                    <a:pt x="194" y="152"/>
                  </a:cubicBezTo>
                  <a:cubicBezTo>
                    <a:pt x="194" y="152"/>
                    <a:pt x="195" y="151"/>
                    <a:pt x="195" y="150"/>
                  </a:cubicBezTo>
                  <a:cubicBezTo>
                    <a:pt x="195" y="150"/>
                    <a:pt x="195" y="150"/>
                    <a:pt x="193" y="149"/>
                  </a:cubicBezTo>
                  <a:cubicBezTo>
                    <a:pt x="192" y="148"/>
                    <a:pt x="190" y="147"/>
                    <a:pt x="190" y="147"/>
                  </a:cubicBezTo>
                  <a:cubicBezTo>
                    <a:pt x="190" y="146"/>
                    <a:pt x="189" y="144"/>
                    <a:pt x="189" y="144"/>
                  </a:cubicBezTo>
                  <a:cubicBezTo>
                    <a:pt x="191" y="144"/>
                    <a:pt x="191" y="144"/>
                    <a:pt x="191" y="144"/>
                  </a:cubicBezTo>
                  <a:cubicBezTo>
                    <a:pt x="196" y="144"/>
                    <a:pt x="196" y="144"/>
                    <a:pt x="196" y="144"/>
                  </a:cubicBezTo>
                  <a:cubicBezTo>
                    <a:pt x="197" y="141"/>
                    <a:pt x="197" y="141"/>
                    <a:pt x="197" y="141"/>
                  </a:cubicBezTo>
                  <a:cubicBezTo>
                    <a:pt x="197" y="141"/>
                    <a:pt x="193" y="141"/>
                    <a:pt x="193" y="141"/>
                  </a:cubicBezTo>
                  <a:cubicBezTo>
                    <a:pt x="193" y="141"/>
                    <a:pt x="191" y="139"/>
                    <a:pt x="191" y="139"/>
                  </a:cubicBezTo>
                  <a:cubicBezTo>
                    <a:pt x="192" y="137"/>
                    <a:pt x="192" y="137"/>
                    <a:pt x="192" y="137"/>
                  </a:cubicBezTo>
                  <a:cubicBezTo>
                    <a:pt x="193" y="138"/>
                    <a:pt x="193" y="138"/>
                    <a:pt x="193" y="138"/>
                  </a:cubicBezTo>
                  <a:cubicBezTo>
                    <a:pt x="197" y="138"/>
                    <a:pt x="197" y="138"/>
                    <a:pt x="197" y="138"/>
                  </a:cubicBezTo>
                  <a:cubicBezTo>
                    <a:pt x="199" y="137"/>
                    <a:pt x="199" y="137"/>
                    <a:pt x="199" y="137"/>
                  </a:cubicBezTo>
                  <a:cubicBezTo>
                    <a:pt x="199" y="134"/>
                    <a:pt x="199" y="134"/>
                    <a:pt x="199" y="134"/>
                  </a:cubicBezTo>
                  <a:cubicBezTo>
                    <a:pt x="199" y="132"/>
                    <a:pt x="199" y="132"/>
                    <a:pt x="199" y="132"/>
                  </a:cubicBezTo>
                  <a:cubicBezTo>
                    <a:pt x="201" y="130"/>
                    <a:pt x="201" y="130"/>
                    <a:pt x="201" y="130"/>
                  </a:cubicBezTo>
                  <a:cubicBezTo>
                    <a:pt x="200" y="129"/>
                    <a:pt x="200" y="129"/>
                    <a:pt x="200" y="129"/>
                  </a:cubicBezTo>
                  <a:lnTo>
                    <a:pt x="198" y="128"/>
                  </a:lnTo>
                  <a:close/>
                </a:path>
              </a:pathLst>
            </a:custGeom>
            <a:grpFill/>
            <a:ln w="6350" cap="flat">
              <a:solidFill>
                <a:schemeClr val="bg1"/>
              </a:solidFill>
              <a:prstDash val="solid"/>
              <a:miter lim="800000"/>
              <a:headEnd/>
              <a:tailEnd/>
            </a:ln>
          </p:spPr>
          <p:txBody>
            <a:bodyPr/>
            <a:lstStyle/>
            <a:p>
              <a:pPr defTabSz="1828272">
                <a:defRPr/>
              </a:pPr>
              <a:endParaRPr lang="en-US">
                <a:solidFill>
                  <a:schemeClr val="accent6"/>
                </a:solidFill>
              </a:endParaRPr>
            </a:p>
          </p:txBody>
        </p:sp>
        <p:sp>
          <p:nvSpPr>
            <p:cNvPr id="212" name="Freeform 39"/>
            <p:cNvSpPr>
              <a:spLocks/>
            </p:cNvSpPr>
            <p:nvPr/>
          </p:nvSpPr>
          <p:spPr bwMode="auto">
            <a:xfrm>
              <a:off x="7369190" y="2432960"/>
              <a:ext cx="418238" cy="234416"/>
            </a:xfrm>
            <a:custGeom>
              <a:avLst/>
              <a:gdLst>
                <a:gd name="T0" fmla="*/ 169 w 248"/>
                <a:gd name="T1" fmla="*/ 118 h 139"/>
                <a:gd name="T2" fmla="*/ 248 w 248"/>
                <a:gd name="T3" fmla="*/ 101 h 139"/>
                <a:gd name="T4" fmla="*/ 246 w 248"/>
                <a:gd name="T5" fmla="*/ 93 h 139"/>
                <a:gd name="T6" fmla="*/ 239 w 248"/>
                <a:gd name="T7" fmla="*/ 86 h 139"/>
                <a:gd name="T8" fmla="*/ 232 w 248"/>
                <a:gd name="T9" fmla="*/ 83 h 139"/>
                <a:gd name="T10" fmla="*/ 228 w 248"/>
                <a:gd name="T11" fmla="*/ 78 h 139"/>
                <a:gd name="T12" fmla="*/ 224 w 248"/>
                <a:gd name="T13" fmla="*/ 72 h 139"/>
                <a:gd name="T14" fmla="*/ 226 w 248"/>
                <a:gd name="T15" fmla="*/ 68 h 139"/>
                <a:gd name="T16" fmla="*/ 228 w 248"/>
                <a:gd name="T17" fmla="*/ 67 h 139"/>
                <a:gd name="T18" fmla="*/ 224 w 248"/>
                <a:gd name="T19" fmla="*/ 63 h 139"/>
                <a:gd name="T20" fmla="*/ 211 w 248"/>
                <a:gd name="T21" fmla="*/ 54 h 139"/>
                <a:gd name="T22" fmla="*/ 215 w 248"/>
                <a:gd name="T23" fmla="*/ 55 h 139"/>
                <a:gd name="T24" fmla="*/ 221 w 248"/>
                <a:gd name="T25" fmla="*/ 59 h 139"/>
                <a:gd name="T26" fmla="*/ 225 w 248"/>
                <a:gd name="T27" fmla="*/ 56 h 139"/>
                <a:gd name="T28" fmla="*/ 225 w 248"/>
                <a:gd name="T29" fmla="*/ 48 h 139"/>
                <a:gd name="T30" fmla="*/ 215 w 248"/>
                <a:gd name="T31" fmla="*/ 45 h 139"/>
                <a:gd name="T32" fmla="*/ 211 w 248"/>
                <a:gd name="T33" fmla="*/ 41 h 139"/>
                <a:gd name="T34" fmla="*/ 207 w 248"/>
                <a:gd name="T35" fmla="*/ 43 h 139"/>
                <a:gd name="T36" fmla="*/ 199 w 248"/>
                <a:gd name="T37" fmla="*/ 37 h 139"/>
                <a:gd name="T38" fmla="*/ 193 w 248"/>
                <a:gd name="T39" fmla="*/ 37 h 139"/>
                <a:gd name="T40" fmla="*/ 188 w 248"/>
                <a:gd name="T41" fmla="*/ 36 h 139"/>
                <a:gd name="T42" fmla="*/ 191 w 248"/>
                <a:gd name="T43" fmla="*/ 24 h 139"/>
                <a:gd name="T44" fmla="*/ 192 w 248"/>
                <a:gd name="T45" fmla="*/ 17 h 139"/>
                <a:gd name="T46" fmla="*/ 183 w 248"/>
                <a:gd name="T47" fmla="*/ 10 h 139"/>
                <a:gd name="T48" fmla="*/ 171 w 248"/>
                <a:gd name="T49" fmla="*/ 5 h 139"/>
                <a:gd name="T50" fmla="*/ 166 w 248"/>
                <a:gd name="T51" fmla="*/ 8 h 139"/>
                <a:gd name="T52" fmla="*/ 151 w 248"/>
                <a:gd name="T53" fmla="*/ 0 h 139"/>
                <a:gd name="T54" fmla="*/ 149 w 248"/>
                <a:gd name="T55" fmla="*/ 15 h 139"/>
                <a:gd name="T56" fmla="*/ 144 w 248"/>
                <a:gd name="T57" fmla="*/ 21 h 139"/>
                <a:gd name="T58" fmla="*/ 138 w 248"/>
                <a:gd name="T59" fmla="*/ 28 h 139"/>
                <a:gd name="T60" fmla="*/ 134 w 248"/>
                <a:gd name="T61" fmla="*/ 28 h 139"/>
                <a:gd name="T62" fmla="*/ 131 w 248"/>
                <a:gd name="T63" fmla="*/ 36 h 139"/>
                <a:gd name="T64" fmla="*/ 127 w 248"/>
                <a:gd name="T65" fmla="*/ 46 h 139"/>
                <a:gd name="T66" fmla="*/ 120 w 248"/>
                <a:gd name="T67" fmla="*/ 43 h 139"/>
                <a:gd name="T68" fmla="*/ 115 w 248"/>
                <a:gd name="T69" fmla="*/ 48 h 139"/>
                <a:gd name="T70" fmla="*/ 109 w 248"/>
                <a:gd name="T71" fmla="*/ 68 h 139"/>
                <a:gd name="T72" fmla="*/ 103 w 248"/>
                <a:gd name="T73" fmla="*/ 78 h 139"/>
                <a:gd name="T74" fmla="*/ 100 w 248"/>
                <a:gd name="T75" fmla="*/ 89 h 139"/>
                <a:gd name="T76" fmla="*/ 82 w 248"/>
                <a:gd name="T77" fmla="*/ 101 h 139"/>
                <a:gd name="T78" fmla="*/ 69 w 248"/>
                <a:gd name="T79" fmla="*/ 100 h 139"/>
                <a:gd name="T80" fmla="*/ 61 w 248"/>
                <a:gd name="T81" fmla="*/ 107 h 139"/>
                <a:gd name="T82" fmla="*/ 50 w 248"/>
                <a:gd name="T83" fmla="*/ 100 h 139"/>
                <a:gd name="T84" fmla="*/ 46 w 248"/>
                <a:gd name="T85" fmla="*/ 97 h 139"/>
                <a:gd name="T86" fmla="*/ 43 w 248"/>
                <a:gd name="T87" fmla="*/ 103 h 139"/>
                <a:gd name="T88" fmla="*/ 28 w 248"/>
                <a:gd name="T89" fmla="*/ 113 h 139"/>
                <a:gd name="T90" fmla="*/ 22 w 248"/>
                <a:gd name="T91" fmla="*/ 127 h 139"/>
                <a:gd name="T92" fmla="*/ 15 w 248"/>
                <a:gd name="T93" fmla="*/ 130 h 139"/>
                <a:gd name="T94" fmla="*/ 6 w 248"/>
                <a:gd name="T95" fmla="*/ 136 h 139"/>
                <a:gd name="T96" fmla="*/ 64 w 248"/>
                <a:gd name="T97" fmla="*/ 133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48" h="139">
                  <a:moveTo>
                    <a:pt x="116" y="127"/>
                  </a:moveTo>
                  <a:lnTo>
                    <a:pt x="169" y="118"/>
                  </a:lnTo>
                  <a:lnTo>
                    <a:pt x="243" y="103"/>
                  </a:lnTo>
                  <a:lnTo>
                    <a:pt x="248" y="101"/>
                  </a:lnTo>
                  <a:lnTo>
                    <a:pt x="248" y="98"/>
                  </a:lnTo>
                  <a:lnTo>
                    <a:pt x="246" y="93"/>
                  </a:lnTo>
                  <a:lnTo>
                    <a:pt x="243" y="89"/>
                  </a:lnTo>
                  <a:lnTo>
                    <a:pt x="239" y="86"/>
                  </a:lnTo>
                  <a:lnTo>
                    <a:pt x="237" y="86"/>
                  </a:lnTo>
                  <a:lnTo>
                    <a:pt x="232" y="83"/>
                  </a:lnTo>
                  <a:lnTo>
                    <a:pt x="231" y="80"/>
                  </a:lnTo>
                  <a:lnTo>
                    <a:pt x="228" y="78"/>
                  </a:lnTo>
                  <a:lnTo>
                    <a:pt x="226" y="74"/>
                  </a:lnTo>
                  <a:lnTo>
                    <a:pt x="224" y="72"/>
                  </a:lnTo>
                  <a:lnTo>
                    <a:pt x="224" y="70"/>
                  </a:lnTo>
                  <a:lnTo>
                    <a:pt x="226" y="68"/>
                  </a:lnTo>
                  <a:lnTo>
                    <a:pt x="230" y="70"/>
                  </a:lnTo>
                  <a:lnTo>
                    <a:pt x="228" y="67"/>
                  </a:lnTo>
                  <a:lnTo>
                    <a:pt x="226" y="64"/>
                  </a:lnTo>
                  <a:lnTo>
                    <a:pt x="224" y="63"/>
                  </a:lnTo>
                  <a:lnTo>
                    <a:pt x="215" y="60"/>
                  </a:lnTo>
                  <a:lnTo>
                    <a:pt x="211" y="54"/>
                  </a:lnTo>
                  <a:lnTo>
                    <a:pt x="211" y="53"/>
                  </a:lnTo>
                  <a:lnTo>
                    <a:pt x="215" y="55"/>
                  </a:lnTo>
                  <a:lnTo>
                    <a:pt x="220" y="56"/>
                  </a:lnTo>
                  <a:lnTo>
                    <a:pt x="221" y="59"/>
                  </a:lnTo>
                  <a:lnTo>
                    <a:pt x="227" y="60"/>
                  </a:lnTo>
                  <a:lnTo>
                    <a:pt x="225" y="56"/>
                  </a:lnTo>
                  <a:lnTo>
                    <a:pt x="225" y="51"/>
                  </a:lnTo>
                  <a:lnTo>
                    <a:pt x="225" y="48"/>
                  </a:lnTo>
                  <a:lnTo>
                    <a:pt x="221" y="49"/>
                  </a:lnTo>
                  <a:lnTo>
                    <a:pt x="215" y="45"/>
                  </a:lnTo>
                  <a:lnTo>
                    <a:pt x="212" y="41"/>
                  </a:lnTo>
                  <a:lnTo>
                    <a:pt x="211" y="41"/>
                  </a:lnTo>
                  <a:lnTo>
                    <a:pt x="210" y="43"/>
                  </a:lnTo>
                  <a:lnTo>
                    <a:pt x="207" y="43"/>
                  </a:lnTo>
                  <a:lnTo>
                    <a:pt x="203" y="39"/>
                  </a:lnTo>
                  <a:lnTo>
                    <a:pt x="199" y="37"/>
                  </a:lnTo>
                  <a:lnTo>
                    <a:pt x="195" y="36"/>
                  </a:lnTo>
                  <a:lnTo>
                    <a:pt x="193" y="37"/>
                  </a:lnTo>
                  <a:lnTo>
                    <a:pt x="190" y="38"/>
                  </a:lnTo>
                  <a:lnTo>
                    <a:pt x="188" y="36"/>
                  </a:lnTo>
                  <a:lnTo>
                    <a:pt x="188" y="25"/>
                  </a:lnTo>
                  <a:lnTo>
                    <a:pt x="191" y="24"/>
                  </a:lnTo>
                  <a:lnTo>
                    <a:pt x="193" y="21"/>
                  </a:lnTo>
                  <a:lnTo>
                    <a:pt x="192" y="17"/>
                  </a:lnTo>
                  <a:lnTo>
                    <a:pt x="188" y="14"/>
                  </a:lnTo>
                  <a:lnTo>
                    <a:pt x="183" y="10"/>
                  </a:lnTo>
                  <a:lnTo>
                    <a:pt x="173" y="4"/>
                  </a:lnTo>
                  <a:lnTo>
                    <a:pt x="171" y="5"/>
                  </a:lnTo>
                  <a:lnTo>
                    <a:pt x="168" y="8"/>
                  </a:lnTo>
                  <a:lnTo>
                    <a:pt x="166" y="8"/>
                  </a:lnTo>
                  <a:lnTo>
                    <a:pt x="160" y="5"/>
                  </a:lnTo>
                  <a:lnTo>
                    <a:pt x="151" y="0"/>
                  </a:lnTo>
                  <a:lnTo>
                    <a:pt x="151" y="8"/>
                  </a:lnTo>
                  <a:lnTo>
                    <a:pt x="149" y="15"/>
                  </a:lnTo>
                  <a:lnTo>
                    <a:pt x="147" y="18"/>
                  </a:lnTo>
                  <a:lnTo>
                    <a:pt x="144" y="21"/>
                  </a:lnTo>
                  <a:lnTo>
                    <a:pt x="139" y="30"/>
                  </a:lnTo>
                  <a:lnTo>
                    <a:pt x="138" y="28"/>
                  </a:lnTo>
                  <a:lnTo>
                    <a:pt x="135" y="28"/>
                  </a:lnTo>
                  <a:lnTo>
                    <a:pt x="134" y="28"/>
                  </a:lnTo>
                  <a:lnTo>
                    <a:pt x="133" y="32"/>
                  </a:lnTo>
                  <a:lnTo>
                    <a:pt x="131" y="36"/>
                  </a:lnTo>
                  <a:lnTo>
                    <a:pt x="128" y="44"/>
                  </a:lnTo>
                  <a:lnTo>
                    <a:pt x="127" y="46"/>
                  </a:lnTo>
                  <a:lnTo>
                    <a:pt x="125" y="45"/>
                  </a:lnTo>
                  <a:lnTo>
                    <a:pt x="120" y="43"/>
                  </a:lnTo>
                  <a:lnTo>
                    <a:pt x="116" y="41"/>
                  </a:lnTo>
                  <a:lnTo>
                    <a:pt x="115" y="48"/>
                  </a:lnTo>
                  <a:lnTo>
                    <a:pt x="112" y="60"/>
                  </a:lnTo>
                  <a:lnTo>
                    <a:pt x="109" y="68"/>
                  </a:lnTo>
                  <a:lnTo>
                    <a:pt x="104" y="73"/>
                  </a:lnTo>
                  <a:lnTo>
                    <a:pt x="103" y="78"/>
                  </a:lnTo>
                  <a:lnTo>
                    <a:pt x="104" y="86"/>
                  </a:lnTo>
                  <a:lnTo>
                    <a:pt x="100" y="89"/>
                  </a:lnTo>
                  <a:lnTo>
                    <a:pt x="89" y="95"/>
                  </a:lnTo>
                  <a:lnTo>
                    <a:pt x="82" y="101"/>
                  </a:lnTo>
                  <a:lnTo>
                    <a:pt x="73" y="103"/>
                  </a:lnTo>
                  <a:lnTo>
                    <a:pt x="69" y="100"/>
                  </a:lnTo>
                  <a:lnTo>
                    <a:pt x="63" y="107"/>
                  </a:lnTo>
                  <a:lnTo>
                    <a:pt x="61" y="107"/>
                  </a:lnTo>
                  <a:lnTo>
                    <a:pt x="56" y="105"/>
                  </a:lnTo>
                  <a:lnTo>
                    <a:pt x="50" y="100"/>
                  </a:lnTo>
                  <a:lnTo>
                    <a:pt x="49" y="97"/>
                  </a:lnTo>
                  <a:lnTo>
                    <a:pt x="46" y="97"/>
                  </a:lnTo>
                  <a:lnTo>
                    <a:pt x="45" y="99"/>
                  </a:lnTo>
                  <a:lnTo>
                    <a:pt x="43" y="103"/>
                  </a:lnTo>
                  <a:lnTo>
                    <a:pt x="39" y="109"/>
                  </a:lnTo>
                  <a:lnTo>
                    <a:pt x="28" y="113"/>
                  </a:lnTo>
                  <a:lnTo>
                    <a:pt x="25" y="118"/>
                  </a:lnTo>
                  <a:lnTo>
                    <a:pt x="22" y="127"/>
                  </a:lnTo>
                  <a:lnTo>
                    <a:pt x="18" y="128"/>
                  </a:lnTo>
                  <a:lnTo>
                    <a:pt x="15" y="130"/>
                  </a:lnTo>
                  <a:lnTo>
                    <a:pt x="10" y="133"/>
                  </a:lnTo>
                  <a:lnTo>
                    <a:pt x="6" y="136"/>
                  </a:lnTo>
                  <a:lnTo>
                    <a:pt x="0" y="139"/>
                  </a:lnTo>
                  <a:lnTo>
                    <a:pt x="64" y="133"/>
                  </a:lnTo>
                  <a:lnTo>
                    <a:pt x="116" y="127"/>
                  </a:lnTo>
                  <a:close/>
                </a:path>
              </a:pathLst>
            </a:custGeom>
            <a:solidFill>
              <a:srgbClr val="AF0041"/>
            </a:solidFill>
            <a:ln w="6350" cap="flat">
              <a:solidFill>
                <a:schemeClr val="bg1"/>
              </a:solidFill>
              <a:prstDash val="solid"/>
              <a:miter lim="800000"/>
              <a:headEnd/>
              <a:tailEnd/>
            </a:ln>
          </p:spPr>
          <p:txBody>
            <a:bodyPr/>
            <a:lstStyle/>
            <a:p>
              <a:pPr defTabSz="1828272">
                <a:defRPr/>
              </a:pPr>
              <a:endParaRPr lang="en-US"/>
            </a:p>
          </p:txBody>
        </p:sp>
        <p:sp>
          <p:nvSpPr>
            <p:cNvPr id="213" name="Freeform 40"/>
            <p:cNvSpPr>
              <a:spLocks/>
            </p:cNvSpPr>
            <p:nvPr/>
          </p:nvSpPr>
          <p:spPr bwMode="auto">
            <a:xfrm>
              <a:off x="7406291" y="2750011"/>
              <a:ext cx="269831" cy="209119"/>
            </a:xfrm>
            <a:custGeom>
              <a:avLst/>
              <a:gdLst>
                <a:gd name="T0" fmla="*/ 94 w 189"/>
                <a:gd name="T1" fmla="*/ 4 h 147"/>
                <a:gd name="T2" fmla="*/ 79 w 189"/>
                <a:gd name="T3" fmla="*/ 0 h 147"/>
                <a:gd name="T4" fmla="*/ 67 w 189"/>
                <a:gd name="T5" fmla="*/ 4 h 147"/>
                <a:gd name="T6" fmla="*/ 58 w 189"/>
                <a:gd name="T7" fmla="*/ 6 h 147"/>
                <a:gd name="T8" fmla="*/ 39 w 189"/>
                <a:gd name="T9" fmla="*/ 4 h 147"/>
                <a:gd name="T10" fmla="*/ 26 w 189"/>
                <a:gd name="T11" fmla="*/ 7 h 147"/>
                <a:gd name="T12" fmla="*/ 12 w 189"/>
                <a:gd name="T13" fmla="*/ 18 h 147"/>
                <a:gd name="T14" fmla="*/ 11 w 189"/>
                <a:gd name="T15" fmla="*/ 22 h 147"/>
                <a:gd name="T16" fmla="*/ 5 w 189"/>
                <a:gd name="T17" fmla="*/ 26 h 147"/>
                <a:gd name="T18" fmla="*/ 0 w 189"/>
                <a:gd name="T19" fmla="*/ 32 h 147"/>
                <a:gd name="T20" fmla="*/ 4 w 189"/>
                <a:gd name="T21" fmla="*/ 37 h 147"/>
                <a:gd name="T22" fmla="*/ 19 w 189"/>
                <a:gd name="T23" fmla="*/ 45 h 147"/>
                <a:gd name="T24" fmla="*/ 24 w 189"/>
                <a:gd name="T25" fmla="*/ 53 h 147"/>
                <a:gd name="T26" fmla="*/ 34 w 189"/>
                <a:gd name="T27" fmla="*/ 64 h 147"/>
                <a:gd name="T28" fmla="*/ 55 w 189"/>
                <a:gd name="T29" fmla="*/ 81 h 147"/>
                <a:gd name="T30" fmla="*/ 66 w 189"/>
                <a:gd name="T31" fmla="*/ 96 h 147"/>
                <a:gd name="T32" fmla="*/ 76 w 189"/>
                <a:gd name="T33" fmla="*/ 102 h 147"/>
                <a:gd name="T34" fmla="*/ 82 w 189"/>
                <a:gd name="T35" fmla="*/ 107 h 147"/>
                <a:gd name="T36" fmla="*/ 87 w 189"/>
                <a:gd name="T37" fmla="*/ 114 h 147"/>
                <a:gd name="T38" fmla="*/ 89 w 189"/>
                <a:gd name="T39" fmla="*/ 119 h 147"/>
                <a:gd name="T40" fmla="*/ 91 w 189"/>
                <a:gd name="T41" fmla="*/ 124 h 147"/>
                <a:gd name="T42" fmla="*/ 95 w 189"/>
                <a:gd name="T43" fmla="*/ 125 h 147"/>
                <a:gd name="T44" fmla="*/ 98 w 189"/>
                <a:gd name="T45" fmla="*/ 128 h 147"/>
                <a:gd name="T46" fmla="*/ 99 w 189"/>
                <a:gd name="T47" fmla="*/ 133 h 147"/>
                <a:gd name="T48" fmla="*/ 103 w 189"/>
                <a:gd name="T49" fmla="*/ 138 h 147"/>
                <a:gd name="T50" fmla="*/ 104 w 189"/>
                <a:gd name="T51" fmla="*/ 145 h 147"/>
                <a:gd name="T52" fmla="*/ 108 w 189"/>
                <a:gd name="T53" fmla="*/ 147 h 147"/>
                <a:gd name="T54" fmla="*/ 110 w 189"/>
                <a:gd name="T55" fmla="*/ 140 h 147"/>
                <a:gd name="T56" fmla="*/ 116 w 189"/>
                <a:gd name="T57" fmla="*/ 140 h 147"/>
                <a:gd name="T58" fmla="*/ 117 w 189"/>
                <a:gd name="T59" fmla="*/ 137 h 147"/>
                <a:gd name="T60" fmla="*/ 112 w 189"/>
                <a:gd name="T61" fmla="*/ 136 h 147"/>
                <a:gd name="T62" fmla="*/ 110 w 189"/>
                <a:gd name="T63" fmla="*/ 133 h 147"/>
                <a:gd name="T64" fmla="*/ 115 w 189"/>
                <a:gd name="T65" fmla="*/ 132 h 147"/>
                <a:gd name="T66" fmla="*/ 119 w 189"/>
                <a:gd name="T67" fmla="*/ 135 h 147"/>
                <a:gd name="T68" fmla="*/ 124 w 189"/>
                <a:gd name="T69" fmla="*/ 128 h 147"/>
                <a:gd name="T70" fmla="*/ 123 w 189"/>
                <a:gd name="T71" fmla="*/ 123 h 147"/>
                <a:gd name="T72" fmla="*/ 130 w 189"/>
                <a:gd name="T73" fmla="*/ 123 h 147"/>
                <a:gd name="T74" fmla="*/ 135 w 189"/>
                <a:gd name="T75" fmla="*/ 119 h 147"/>
                <a:gd name="T76" fmla="*/ 131 w 189"/>
                <a:gd name="T77" fmla="*/ 118 h 147"/>
                <a:gd name="T78" fmla="*/ 129 w 189"/>
                <a:gd name="T79" fmla="*/ 115 h 147"/>
                <a:gd name="T80" fmla="*/ 133 w 189"/>
                <a:gd name="T81" fmla="*/ 115 h 147"/>
                <a:gd name="T82" fmla="*/ 138 w 189"/>
                <a:gd name="T83" fmla="*/ 117 h 147"/>
                <a:gd name="T84" fmla="*/ 145 w 189"/>
                <a:gd name="T85" fmla="*/ 110 h 147"/>
                <a:gd name="T86" fmla="*/ 141 w 189"/>
                <a:gd name="T87" fmla="*/ 105 h 147"/>
                <a:gd name="T88" fmla="*/ 143 w 189"/>
                <a:gd name="T89" fmla="*/ 103 h 147"/>
                <a:gd name="T90" fmla="*/ 149 w 189"/>
                <a:gd name="T91" fmla="*/ 103 h 147"/>
                <a:gd name="T92" fmla="*/ 155 w 189"/>
                <a:gd name="T93" fmla="*/ 93 h 147"/>
                <a:gd name="T94" fmla="*/ 164 w 189"/>
                <a:gd name="T95" fmla="*/ 89 h 147"/>
                <a:gd name="T96" fmla="*/ 169 w 189"/>
                <a:gd name="T97" fmla="*/ 81 h 147"/>
                <a:gd name="T98" fmla="*/ 165 w 189"/>
                <a:gd name="T99" fmla="*/ 75 h 147"/>
                <a:gd name="T100" fmla="*/ 169 w 189"/>
                <a:gd name="T101" fmla="*/ 75 h 147"/>
                <a:gd name="T102" fmla="*/ 170 w 189"/>
                <a:gd name="T103" fmla="*/ 70 h 147"/>
                <a:gd name="T104" fmla="*/ 175 w 189"/>
                <a:gd name="T105" fmla="*/ 60 h 147"/>
                <a:gd name="T106" fmla="*/ 178 w 189"/>
                <a:gd name="T107" fmla="*/ 54 h 147"/>
                <a:gd name="T108" fmla="*/ 187 w 189"/>
                <a:gd name="T109" fmla="*/ 46 h 147"/>
                <a:gd name="T110" fmla="*/ 138 w 189"/>
                <a:gd name="T111" fmla="*/ 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9" h="147">
                  <a:moveTo>
                    <a:pt x="98" y="14"/>
                  </a:moveTo>
                  <a:cubicBezTo>
                    <a:pt x="94" y="4"/>
                    <a:pt x="94" y="4"/>
                    <a:pt x="94" y="4"/>
                  </a:cubicBezTo>
                  <a:cubicBezTo>
                    <a:pt x="88" y="1"/>
                    <a:pt x="88" y="1"/>
                    <a:pt x="88" y="1"/>
                  </a:cubicBezTo>
                  <a:cubicBezTo>
                    <a:pt x="79" y="0"/>
                    <a:pt x="79" y="0"/>
                    <a:pt x="79" y="0"/>
                  </a:cubicBezTo>
                  <a:cubicBezTo>
                    <a:pt x="72" y="1"/>
                    <a:pt x="72" y="1"/>
                    <a:pt x="72" y="1"/>
                  </a:cubicBezTo>
                  <a:cubicBezTo>
                    <a:pt x="67" y="4"/>
                    <a:pt x="67" y="4"/>
                    <a:pt x="67" y="4"/>
                  </a:cubicBezTo>
                  <a:cubicBezTo>
                    <a:pt x="64" y="5"/>
                    <a:pt x="64" y="5"/>
                    <a:pt x="64" y="5"/>
                  </a:cubicBezTo>
                  <a:cubicBezTo>
                    <a:pt x="58" y="6"/>
                    <a:pt x="58" y="6"/>
                    <a:pt x="58" y="6"/>
                  </a:cubicBezTo>
                  <a:cubicBezTo>
                    <a:pt x="46" y="4"/>
                    <a:pt x="46" y="4"/>
                    <a:pt x="46" y="4"/>
                  </a:cubicBezTo>
                  <a:cubicBezTo>
                    <a:pt x="39" y="4"/>
                    <a:pt x="39" y="4"/>
                    <a:pt x="39" y="4"/>
                  </a:cubicBezTo>
                  <a:cubicBezTo>
                    <a:pt x="31" y="5"/>
                    <a:pt x="31" y="5"/>
                    <a:pt x="31" y="5"/>
                  </a:cubicBezTo>
                  <a:cubicBezTo>
                    <a:pt x="26" y="7"/>
                    <a:pt x="26" y="7"/>
                    <a:pt x="26" y="7"/>
                  </a:cubicBezTo>
                  <a:cubicBezTo>
                    <a:pt x="12" y="18"/>
                    <a:pt x="12" y="18"/>
                    <a:pt x="12" y="18"/>
                  </a:cubicBezTo>
                  <a:cubicBezTo>
                    <a:pt x="12" y="18"/>
                    <a:pt x="12" y="18"/>
                    <a:pt x="12" y="18"/>
                  </a:cubicBezTo>
                  <a:cubicBezTo>
                    <a:pt x="11" y="20"/>
                    <a:pt x="11" y="20"/>
                    <a:pt x="11" y="20"/>
                  </a:cubicBezTo>
                  <a:cubicBezTo>
                    <a:pt x="11" y="22"/>
                    <a:pt x="11" y="22"/>
                    <a:pt x="11" y="22"/>
                  </a:cubicBezTo>
                  <a:cubicBezTo>
                    <a:pt x="9" y="23"/>
                    <a:pt x="9" y="23"/>
                    <a:pt x="9" y="23"/>
                  </a:cubicBezTo>
                  <a:cubicBezTo>
                    <a:pt x="5" y="26"/>
                    <a:pt x="5" y="26"/>
                    <a:pt x="5" y="26"/>
                  </a:cubicBezTo>
                  <a:cubicBezTo>
                    <a:pt x="0" y="29"/>
                    <a:pt x="0" y="29"/>
                    <a:pt x="0" y="29"/>
                  </a:cubicBezTo>
                  <a:cubicBezTo>
                    <a:pt x="0" y="32"/>
                    <a:pt x="0" y="32"/>
                    <a:pt x="0" y="32"/>
                  </a:cubicBezTo>
                  <a:cubicBezTo>
                    <a:pt x="2" y="34"/>
                    <a:pt x="2" y="34"/>
                    <a:pt x="2" y="34"/>
                  </a:cubicBezTo>
                  <a:cubicBezTo>
                    <a:pt x="4" y="37"/>
                    <a:pt x="4" y="37"/>
                    <a:pt x="4" y="37"/>
                  </a:cubicBezTo>
                  <a:cubicBezTo>
                    <a:pt x="16" y="42"/>
                    <a:pt x="16" y="42"/>
                    <a:pt x="16" y="42"/>
                  </a:cubicBezTo>
                  <a:cubicBezTo>
                    <a:pt x="19" y="45"/>
                    <a:pt x="19" y="45"/>
                    <a:pt x="19" y="45"/>
                  </a:cubicBezTo>
                  <a:cubicBezTo>
                    <a:pt x="22" y="49"/>
                    <a:pt x="22" y="49"/>
                    <a:pt x="22" y="49"/>
                  </a:cubicBezTo>
                  <a:cubicBezTo>
                    <a:pt x="24" y="53"/>
                    <a:pt x="24" y="53"/>
                    <a:pt x="24" y="53"/>
                  </a:cubicBezTo>
                  <a:cubicBezTo>
                    <a:pt x="29" y="58"/>
                    <a:pt x="29" y="58"/>
                    <a:pt x="29" y="58"/>
                  </a:cubicBezTo>
                  <a:cubicBezTo>
                    <a:pt x="34" y="64"/>
                    <a:pt x="34" y="64"/>
                    <a:pt x="34" y="64"/>
                  </a:cubicBezTo>
                  <a:cubicBezTo>
                    <a:pt x="50" y="77"/>
                    <a:pt x="50" y="77"/>
                    <a:pt x="50" y="77"/>
                  </a:cubicBezTo>
                  <a:cubicBezTo>
                    <a:pt x="55" y="81"/>
                    <a:pt x="55" y="81"/>
                    <a:pt x="55" y="81"/>
                  </a:cubicBezTo>
                  <a:cubicBezTo>
                    <a:pt x="61" y="89"/>
                    <a:pt x="61" y="89"/>
                    <a:pt x="61" y="89"/>
                  </a:cubicBezTo>
                  <a:cubicBezTo>
                    <a:pt x="66" y="96"/>
                    <a:pt x="66" y="96"/>
                    <a:pt x="66" y="96"/>
                  </a:cubicBezTo>
                  <a:cubicBezTo>
                    <a:pt x="73" y="99"/>
                    <a:pt x="73" y="99"/>
                    <a:pt x="73" y="99"/>
                  </a:cubicBezTo>
                  <a:cubicBezTo>
                    <a:pt x="76" y="102"/>
                    <a:pt x="76" y="102"/>
                    <a:pt x="76" y="102"/>
                  </a:cubicBezTo>
                  <a:cubicBezTo>
                    <a:pt x="79" y="105"/>
                    <a:pt x="79" y="105"/>
                    <a:pt x="79" y="105"/>
                  </a:cubicBezTo>
                  <a:cubicBezTo>
                    <a:pt x="82" y="107"/>
                    <a:pt x="82" y="107"/>
                    <a:pt x="82" y="107"/>
                  </a:cubicBezTo>
                  <a:cubicBezTo>
                    <a:pt x="84" y="109"/>
                    <a:pt x="84" y="109"/>
                    <a:pt x="84" y="109"/>
                  </a:cubicBezTo>
                  <a:cubicBezTo>
                    <a:pt x="87" y="114"/>
                    <a:pt x="87" y="114"/>
                    <a:pt x="87" y="114"/>
                  </a:cubicBezTo>
                  <a:cubicBezTo>
                    <a:pt x="89" y="117"/>
                    <a:pt x="89" y="117"/>
                    <a:pt x="89" y="117"/>
                  </a:cubicBezTo>
                  <a:cubicBezTo>
                    <a:pt x="89" y="119"/>
                    <a:pt x="89" y="119"/>
                    <a:pt x="89" y="119"/>
                  </a:cubicBezTo>
                  <a:cubicBezTo>
                    <a:pt x="90" y="122"/>
                    <a:pt x="90" y="122"/>
                    <a:pt x="90" y="122"/>
                  </a:cubicBezTo>
                  <a:cubicBezTo>
                    <a:pt x="91" y="124"/>
                    <a:pt x="91" y="124"/>
                    <a:pt x="91" y="124"/>
                  </a:cubicBezTo>
                  <a:cubicBezTo>
                    <a:pt x="92" y="124"/>
                    <a:pt x="92" y="124"/>
                    <a:pt x="92" y="124"/>
                  </a:cubicBezTo>
                  <a:cubicBezTo>
                    <a:pt x="95" y="125"/>
                    <a:pt x="95" y="125"/>
                    <a:pt x="95" y="125"/>
                  </a:cubicBezTo>
                  <a:cubicBezTo>
                    <a:pt x="98" y="127"/>
                    <a:pt x="98" y="127"/>
                    <a:pt x="98" y="127"/>
                  </a:cubicBezTo>
                  <a:cubicBezTo>
                    <a:pt x="98" y="128"/>
                    <a:pt x="98" y="128"/>
                    <a:pt x="98" y="128"/>
                  </a:cubicBezTo>
                  <a:cubicBezTo>
                    <a:pt x="98" y="130"/>
                    <a:pt x="98" y="130"/>
                    <a:pt x="98" y="130"/>
                  </a:cubicBezTo>
                  <a:cubicBezTo>
                    <a:pt x="99" y="133"/>
                    <a:pt x="99" y="133"/>
                    <a:pt x="99" y="133"/>
                  </a:cubicBezTo>
                  <a:cubicBezTo>
                    <a:pt x="103" y="137"/>
                    <a:pt x="103" y="137"/>
                    <a:pt x="103" y="137"/>
                  </a:cubicBezTo>
                  <a:cubicBezTo>
                    <a:pt x="103" y="138"/>
                    <a:pt x="103" y="138"/>
                    <a:pt x="103" y="138"/>
                  </a:cubicBezTo>
                  <a:cubicBezTo>
                    <a:pt x="103" y="142"/>
                    <a:pt x="103" y="142"/>
                    <a:pt x="103" y="142"/>
                  </a:cubicBezTo>
                  <a:cubicBezTo>
                    <a:pt x="104" y="145"/>
                    <a:pt x="104" y="145"/>
                    <a:pt x="104" y="145"/>
                  </a:cubicBezTo>
                  <a:cubicBezTo>
                    <a:pt x="106" y="146"/>
                    <a:pt x="106" y="146"/>
                    <a:pt x="106" y="146"/>
                  </a:cubicBezTo>
                  <a:cubicBezTo>
                    <a:pt x="108" y="147"/>
                    <a:pt x="108" y="147"/>
                    <a:pt x="108" y="147"/>
                  </a:cubicBezTo>
                  <a:cubicBezTo>
                    <a:pt x="108" y="141"/>
                    <a:pt x="108" y="141"/>
                    <a:pt x="108" y="141"/>
                  </a:cubicBezTo>
                  <a:cubicBezTo>
                    <a:pt x="110" y="140"/>
                    <a:pt x="110" y="140"/>
                    <a:pt x="110" y="140"/>
                  </a:cubicBezTo>
                  <a:cubicBezTo>
                    <a:pt x="115" y="140"/>
                    <a:pt x="115" y="140"/>
                    <a:pt x="115" y="140"/>
                  </a:cubicBezTo>
                  <a:cubicBezTo>
                    <a:pt x="116" y="140"/>
                    <a:pt x="116" y="140"/>
                    <a:pt x="116" y="140"/>
                  </a:cubicBezTo>
                  <a:cubicBezTo>
                    <a:pt x="116" y="140"/>
                    <a:pt x="118" y="139"/>
                    <a:pt x="118" y="139"/>
                  </a:cubicBezTo>
                  <a:cubicBezTo>
                    <a:pt x="118" y="138"/>
                    <a:pt x="117" y="137"/>
                    <a:pt x="117" y="137"/>
                  </a:cubicBezTo>
                  <a:cubicBezTo>
                    <a:pt x="116" y="137"/>
                    <a:pt x="116" y="137"/>
                    <a:pt x="116" y="137"/>
                  </a:cubicBezTo>
                  <a:cubicBezTo>
                    <a:pt x="116" y="137"/>
                    <a:pt x="112" y="136"/>
                    <a:pt x="112" y="136"/>
                  </a:cubicBezTo>
                  <a:cubicBezTo>
                    <a:pt x="111" y="136"/>
                    <a:pt x="110" y="134"/>
                    <a:pt x="110" y="134"/>
                  </a:cubicBezTo>
                  <a:cubicBezTo>
                    <a:pt x="110" y="133"/>
                    <a:pt x="110" y="133"/>
                    <a:pt x="110" y="133"/>
                  </a:cubicBezTo>
                  <a:cubicBezTo>
                    <a:pt x="111" y="129"/>
                    <a:pt x="111" y="129"/>
                    <a:pt x="111" y="129"/>
                  </a:cubicBezTo>
                  <a:cubicBezTo>
                    <a:pt x="115" y="132"/>
                    <a:pt x="115" y="132"/>
                    <a:pt x="115" y="132"/>
                  </a:cubicBezTo>
                  <a:cubicBezTo>
                    <a:pt x="116" y="133"/>
                    <a:pt x="116" y="133"/>
                    <a:pt x="116" y="133"/>
                  </a:cubicBezTo>
                  <a:cubicBezTo>
                    <a:pt x="119" y="135"/>
                    <a:pt x="119" y="135"/>
                    <a:pt x="119" y="135"/>
                  </a:cubicBezTo>
                  <a:cubicBezTo>
                    <a:pt x="123" y="134"/>
                    <a:pt x="123" y="134"/>
                    <a:pt x="123" y="134"/>
                  </a:cubicBezTo>
                  <a:cubicBezTo>
                    <a:pt x="124" y="128"/>
                    <a:pt x="124" y="128"/>
                    <a:pt x="124" y="128"/>
                  </a:cubicBezTo>
                  <a:cubicBezTo>
                    <a:pt x="124" y="127"/>
                    <a:pt x="124" y="127"/>
                    <a:pt x="124" y="127"/>
                  </a:cubicBezTo>
                  <a:cubicBezTo>
                    <a:pt x="123" y="123"/>
                    <a:pt x="123" y="123"/>
                    <a:pt x="123" y="123"/>
                  </a:cubicBezTo>
                  <a:cubicBezTo>
                    <a:pt x="126" y="123"/>
                    <a:pt x="126" y="123"/>
                    <a:pt x="126" y="123"/>
                  </a:cubicBezTo>
                  <a:cubicBezTo>
                    <a:pt x="130" y="123"/>
                    <a:pt x="130" y="123"/>
                    <a:pt x="130" y="123"/>
                  </a:cubicBezTo>
                  <a:cubicBezTo>
                    <a:pt x="135" y="120"/>
                    <a:pt x="135" y="120"/>
                    <a:pt x="135" y="120"/>
                  </a:cubicBezTo>
                  <a:cubicBezTo>
                    <a:pt x="135" y="119"/>
                    <a:pt x="135" y="119"/>
                    <a:pt x="135" y="119"/>
                  </a:cubicBezTo>
                  <a:cubicBezTo>
                    <a:pt x="133" y="118"/>
                    <a:pt x="133" y="118"/>
                    <a:pt x="133" y="118"/>
                  </a:cubicBezTo>
                  <a:cubicBezTo>
                    <a:pt x="131" y="118"/>
                    <a:pt x="131" y="118"/>
                    <a:pt x="131" y="118"/>
                  </a:cubicBezTo>
                  <a:cubicBezTo>
                    <a:pt x="129" y="117"/>
                    <a:pt x="129" y="117"/>
                    <a:pt x="129" y="117"/>
                  </a:cubicBezTo>
                  <a:cubicBezTo>
                    <a:pt x="129" y="115"/>
                    <a:pt x="129" y="115"/>
                    <a:pt x="129" y="115"/>
                  </a:cubicBezTo>
                  <a:cubicBezTo>
                    <a:pt x="132" y="114"/>
                    <a:pt x="132" y="114"/>
                    <a:pt x="132" y="114"/>
                  </a:cubicBezTo>
                  <a:cubicBezTo>
                    <a:pt x="133" y="115"/>
                    <a:pt x="133" y="115"/>
                    <a:pt x="133" y="115"/>
                  </a:cubicBezTo>
                  <a:cubicBezTo>
                    <a:pt x="136" y="117"/>
                    <a:pt x="136" y="117"/>
                    <a:pt x="136" y="117"/>
                  </a:cubicBezTo>
                  <a:cubicBezTo>
                    <a:pt x="138" y="117"/>
                    <a:pt x="138" y="117"/>
                    <a:pt x="138" y="117"/>
                  </a:cubicBezTo>
                  <a:cubicBezTo>
                    <a:pt x="142" y="114"/>
                    <a:pt x="142" y="114"/>
                    <a:pt x="142" y="114"/>
                  </a:cubicBezTo>
                  <a:cubicBezTo>
                    <a:pt x="145" y="110"/>
                    <a:pt x="145" y="110"/>
                    <a:pt x="145" y="110"/>
                  </a:cubicBezTo>
                  <a:cubicBezTo>
                    <a:pt x="144" y="107"/>
                    <a:pt x="144" y="107"/>
                    <a:pt x="144" y="107"/>
                  </a:cubicBezTo>
                  <a:cubicBezTo>
                    <a:pt x="141" y="105"/>
                    <a:pt x="141" y="105"/>
                    <a:pt x="141" y="105"/>
                  </a:cubicBezTo>
                  <a:cubicBezTo>
                    <a:pt x="141" y="104"/>
                    <a:pt x="141" y="104"/>
                    <a:pt x="141" y="104"/>
                  </a:cubicBezTo>
                  <a:cubicBezTo>
                    <a:pt x="143" y="103"/>
                    <a:pt x="143" y="103"/>
                    <a:pt x="143" y="103"/>
                  </a:cubicBezTo>
                  <a:cubicBezTo>
                    <a:pt x="147" y="105"/>
                    <a:pt x="147" y="105"/>
                    <a:pt x="147" y="105"/>
                  </a:cubicBezTo>
                  <a:cubicBezTo>
                    <a:pt x="149" y="103"/>
                    <a:pt x="149" y="103"/>
                    <a:pt x="149" y="103"/>
                  </a:cubicBezTo>
                  <a:cubicBezTo>
                    <a:pt x="151" y="100"/>
                    <a:pt x="151" y="100"/>
                    <a:pt x="151" y="100"/>
                  </a:cubicBezTo>
                  <a:cubicBezTo>
                    <a:pt x="155" y="93"/>
                    <a:pt x="155" y="93"/>
                    <a:pt x="155" y="93"/>
                  </a:cubicBezTo>
                  <a:cubicBezTo>
                    <a:pt x="159" y="90"/>
                    <a:pt x="159" y="90"/>
                    <a:pt x="159" y="90"/>
                  </a:cubicBezTo>
                  <a:cubicBezTo>
                    <a:pt x="164" y="89"/>
                    <a:pt x="164" y="89"/>
                    <a:pt x="164" y="89"/>
                  </a:cubicBezTo>
                  <a:cubicBezTo>
                    <a:pt x="167" y="84"/>
                    <a:pt x="167" y="84"/>
                    <a:pt x="167" y="84"/>
                  </a:cubicBezTo>
                  <a:cubicBezTo>
                    <a:pt x="169" y="81"/>
                    <a:pt x="169" y="81"/>
                    <a:pt x="169" y="81"/>
                  </a:cubicBezTo>
                  <a:cubicBezTo>
                    <a:pt x="167" y="79"/>
                    <a:pt x="167" y="79"/>
                    <a:pt x="167" y="79"/>
                  </a:cubicBezTo>
                  <a:cubicBezTo>
                    <a:pt x="165" y="75"/>
                    <a:pt x="165" y="75"/>
                    <a:pt x="165" y="75"/>
                  </a:cubicBezTo>
                  <a:cubicBezTo>
                    <a:pt x="167" y="75"/>
                    <a:pt x="167" y="75"/>
                    <a:pt x="167" y="75"/>
                  </a:cubicBezTo>
                  <a:cubicBezTo>
                    <a:pt x="169" y="75"/>
                    <a:pt x="169" y="75"/>
                    <a:pt x="169" y="75"/>
                  </a:cubicBezTo>
                  <a:cubicBezTo>
                    <a:pt x="169" y="72"/>
                    <a:pt x="169" y="72"/>
                    <a:pt x="169" y="72"/>
                  </a:cubicBezTo>
                  <a:cubicBezTo>
                    <a:pt x="170" y="70"/>
                    <a:pt x="170" y="70"/>
                    <a:pt x="170" y="70"/>
                  </a:cubicBezTo>
                  <a:cubicBezTo>
                    <a:pt x="173" y="66"/>
                    <a:pt x="173" y="66"/>
                    <a:pt x="173" y="66"/>
                  </a:cubicBezTo>
                  <a:cubicBezTo>
                    <a:pt x="175" y="60"/>
                    <a:pt x="175" y="60"/>
                    <a:pt x="175" y="60"/>
                  </a:cubicBezTo>
                  <a:cubicBezTo>
                    <a:pt x="177" y="56"/>
                    <a:pt x="177" y="56"/>
                    <a:pt x="177" y="56"/>
                  </a:cubicBezTo>
                  <a:cubicBezTo>
                    <a:pt x="178" y="54"/>
                    <a:pt x="178" y="54"/>
                    <a:pt x="178" y="54"/>
                  </a:cubicBezTo>
                  <a:cubicBezTo>
                    <a:pt x="180" y="52"/>
                    <a:pt x="180" y="52"/>
                    <a:pt x="180" y="52"/>
                  </a:cubicBezTo>
                  <a:cubicBezTo>
                    <a:pt x="187" y="46"/>
                    <a:pt x="187" y="46"/>
                    <a:pt x="187" y="46"/>
                  </a:cubicBezTo>
                  <a:cubicBezTo>
                    <a:pt x="189" y="44"/>
                    <a:pt x="189" y="44"/>
                    <a:pt x="189" y="44"/>
                  </a:cubicBezTo>
                  <a:cubicBezTo>
                    <a:pt x="138" y="6"/>
                    <a:pt x="138" y="6"/>
                    <a:pt x="138" y="6"/>
                  </a:cubicBezTo>
                  <a:lnTo>
                    <a:pt x="98" y="14"/>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4" name="Freeform 41"/>
            <p:cNvSpPr>
              <a:spLocks/>
            </p:cNvSpPr>
            <p:nvPr/>
          </p:nvSpPr>
          <p:spPr bwMode="auto">
            <a:xfrm>
              <a:off x="7128028" y="2788799"/>
              <a:ext cx="212492" cy="340661"/>
            </a:xfrm>
            <a:custGeom>
              <a:avLst/>
              <a:gdLst>
                <a:gd name="T0" fmla="*/ 39 w 126"/>
                <a:gd name="T1" fmla="*/ 183 h 202"/>
                <a:gd name="T2" fmla="*/ 33 w 126"/>
                <a:gd name="T3" fmla="*/ 176 h 202"/>
                <a:gd name="T4" fmla="*/ 36 w 126"/>
                <a:gd name="T5" fmla="*/ 172 h 202"/>
                <a:gd name="T6" fmla="*/ 51 w 126"/>
                <a:gd name="T7" fmla="*/ 168 h 202"/>
                <a:gd name="T8" fmla="*/ 125 w 126"/>
                <a:gd name="T9" fmla="*/ 161 h 202"/>
                <a:gd name="T10" fmla="*/ 120 w 126"/>
                <a:gd name="T11" fmla="*/ 153 h 202"/>
                <a:gd name="T12" fmla="*/ 119 w 126"/>
                <a:gd name="T13" fmla="*/ 148 h 202"/>
                <a:gd name="T14" fmla="*/ 120 w 126"/>
                <a:gd name="T15" fmla="*/ 141 h 202"/>
                <a:gd name="T16" fmla="*/ 116 w 126"/>
                <a:gd name="T17" fmla="*/ 130 h 202"/>
                <a:gd name="T18" fmla="*/ 119 w 126"/>
                <a:gd name="T19" fmla="*/ 123 h 202"/>
                <a:gd name="T20" fmla="*/ 116 w 126"/>
                <a:gd name="T21" fmla="*/ 117 h 202"/>
                <a:gd name="T22" fmla="*/ 122 w 126"/>
                <a:gd name="T23" fmla="*/ 110 h 202"/>
                <a:gd name="T24" fmla="*/ 119 w 126"/>
                <a:gd name="T25" fmla="*/ 104 h 202"/>
                <a:gd name="T26" fmla="*/ 115 w 126"/>
                <a:gd name="T27" fmla="*/ 95 h 202"/>
                <a:gd name="T28" fmla="*/ 106 w 126"/>
                <a:gd name="T29" fmla="*/ 75 h 202"/>
                <a:gd name="T30" fmla="*/ 89 w 126"/>
                <a:gd name="T31" fmla="*/ 12 h 202"/>
                <a:gd name="T32" fmla="*/ 94 w 126"/>
                <a:gd name="T33" fmla="*/ 0 h 202"/>
                <a:gd name="T34" fmla="*/ 1 w 126"/>
                <a:gd name="T35" fmla="*/ 7 h 202"/>
                <a:gd name="T36" fmla="*/ 0 w 126"/>
                <a:gd name="T37" fmla="*/ 106 h 202"/>
                <a:gd name="T38" fmla="*/ 6 w 126"/>
                <a:gd name="T39" fmla="*/ 196 h 202"/>
                <a:gd name="T40" fmla="*/ 11 w 126"/>
                <a:gd name="T41" fmla="*/ 197 h 202"/>
                <a:gd name="T42" fmla="*/ 16 w 126"/>
                <a:gd name="T43" fmla="*/ 195 h 202"/>
                <a:gd name="T44" fmla="*/ 16 w 126"/>
                <a:gd name="T45" fmla="*/ 187 h 202"/>
                <a:gd name="T46" fmla="*/ 21 w 126"/>
                <a:gd name="T47" fmla="*/ 184 h 202"/>
                <a:gd name="T48" fmla="*/ 22 w 126"/>
                <a:gd name="T49" fmla="*/ 189 h 202"/>
                <a:gd name="T50" fmla="*/ 22 w 126"/>
                <a:gd name="T51" fmla="*/ 193 h 202"/>
                <a:gd name="T52" fmla="*/ 25 w 126"/>
                <a:gd name="T53" fmla="*/ 195 h 202"/>
                <a:gd name="T54" fmla="*/ 27 w 126"/>
                <a:gd name="T55" fmla="*/ 199 h 202"/>
                <a:gd name="T56" fmla="*/ 25 w 126"/>
                <a:gd name="T57" fmla="*/ 202 h 202"/>
                <a:gd name="T58" fmla="*/ 31 w 126"/>
                <a:gd name="T59" fmla="*/ 200 h 202"/>
                <a:gd name="T60" fmla="*/ 38 w 126"/>
                <a:gd name="T61" fmla="*/ 197 h 202"/>
                <a:gd name="T62" fmla="*/ 43 w 126"/>
                <a:gd name="T63" fmla="*/ 196 h 202"/>
                <a:gd name="T64" fmla="*/ 44 w 126"/>
                <a:gd name="T65" fmla="*/ 195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6" h="202">
                  <a:moveTo>
                    <a:pt x="40" y="188"/>
                  </a:moveTo>
                  <a:lnTo>
                    <a:pt x="39" y="183"/>
                  </a:lnTo>
                  <a:lnTo>
                    <a:pt x="35" y="178"/>
                  </a:lnTo>
                  <a:lnTo>
                    <a:pt x="33" y="176"/>
                  </a:lnTo>
                  <a:lnTo>
                    <a:pt x="33" y="173"/>
                  </a:lnTo>
                  <a:lnTo>
                    <a:pt x="36" y="172"/>
                  </a:lnTo>
                  <a:lnTo>
                    <a:pt x="43" y="170"/>
                  </a:lnTo>
                  <a:lnTo>
                    <a:pt x="51" y="168"/>
                  </a:lnTo>
                  <a:lnTo>
                    <a:pt x="126" y="162"/>
                  </a:lnTo>
                  <a:lnTo>
                    <a:pt x="125" y="161"/>
                  </a:lnTo>
                  <a:lnTo>
                    <a:pt x="121" y="156"/>
                  </a:lnTo>
                  <a:lnTo>
                    <a:pt x="120" y="153"/>
                  </a:lnTo>
                  <a:lnTo>
                    <a:pt x="118" y="150"/>
                  </a:lnTo>
                  <a:lnTo>
                    <a:pt x="119" y="148"/>
                  </a:lnTo>
                  <a:lnTo>
                    <a:pt x="121" y="146"/>
                  </a:lnTo>
                  <a:lnTo>
                    <a:pt x="120" y="141"/>
                  </a:lnTo>
                  <a:lnTo>
                    <a:pt x="118" y="138"/>
                  </a:lnTo>
                  <a:lnTo>
                    <a:pt x="116" y="130"/>
                  </a:lnTo>
                  <a:lnTo>
                    <a:pt x="116" y="125"/>
                  </a:lnTo>
                  <a:lnTo>
                    <a:pt x="119" y="123"/>
                  </a:lnTo>
                  <a:lnTo>
                    <a:pt x="120" y="119"/>
                  </a:lnTo>
                  <a:lnTo>
                    <a:pt x="116" y="117"/>
                  </a:lnTo>
                  <a:lnTo>
                    <a:pt x="121" y="114"/>
                  </a:lnTo>
                  <a:lnTo>
                    <a:pt x="122" y="110"/>
                  </a:lnTo>
                  <a:lnTo>
                    <a:pt x="120" y="108"/>
                  </a:lnTo>
                  <a:lnTo>
                    <a:pt x="119" y="104"/>
                  </a:lnTo>
                  <a:lnTo>
                    <a:pt x="119" y="100"/>
                  </a:lnTo>
                  <a:lnTo>
                    <a:pt x="115" y="95"/>
                  </a:lnTo>
                  <a:lnTo>
                    <a:pt x="108" y="83"/>
                  </a:lnTo>
                  <a:lnTo>
                    <a:pt x="106" y="75"/>
                  </a:lnTo>
                  <a:lnTo>
                    <a:pt x="96" y="41"/>
                  </a:lnTo>
                  <a:lnTo>
                    <a:pt x="89" y="12"/>
                  </a:lnTo>
                  <a:lnTo>
                    <a:pt x="87" y="0"/>
                  </a:lnTo>
                  <a:lnTo>
                    <a:pt x="94" y="0"/>
                  </a:lnTo>
                  <a:lnTo>
                    <a:pt x="94" y="0"/>
                  </a:lnTo>
                  <a:lnTo>
                    <a:pt x="1" y="7"/>
                  </a:lnTo>
                  <a:lnTo>
                    <a:pt x="1" y="14"/>
                  </a:lnTo>
                  <a:lnTo>
                    <a:pt x="0" y="106"/>
                  </a:lnTo>
                  <a:lnTo>
                    <a:pt x="0" y="155"/>
                  </a:lnTo>
                  <a:lnTo>
                    <a:pt x="6" y="196"/>
                  </a:lnTo>
                  <a:lnTo>
                    <a:pt x="8" y="196"/>
                  </a:lnTo>
                  <a:lnTo>
                    <a:pt x="11" y="197"/>
                  </a:lnTo>
                  <a:lnTo>
                    <a:pt x="15" y="198"/>
                  </a:lnTo>
                  <a:lnTo>
                    <a:pt x="16" y="195"/>
                  </a:lnTo>
                  <a:lnTo>
                    <a:pt x="15" y="191"/>
                  </a:lnTo>
                  <a:lnTo>
                    <a:pt x="16" y="187"/>
                  </a:lnTo>
                  <a:lnTo>
                    <a:pt x="18" y="185"/>
                  </a:lnTo>
                  <a:lnTo>
                    <a:pt x="21" y="184"/>
                  </a:lnTo>
                  <a:lnTo>
                    <a:pt x="22" y="186"/>
                  </a:lnTo>
                  <a:lnTo>
                    <a:pt x="22" y="189"/>
                  </a:lnTo>
                  <a:lnTo>
                    <a:pt x="21" y="191"/>
                  </a:lnTo>
                  <a:lnTo>
                    <a:pt x="22" y="193"/>
                  </a:lnTo>
                  <a:lnTo>
                    <a:pt x="23" y="194"/>
                  </a:lnTo>
                  <a:lnTo>
                    <a:pt x="25" y="195"/>
                  </a:lnTo>
                  <a:lnTo>
                    <a:pt x="27" y="197"/>
                  </a:lnTo>
                  <a:lnTo>
                    <a:pt x="27" y="199"/>
                  </a:lnTo>
                  <a:lnTo>
                    <a:pt x="27" y="200"/>
                  </a:lnTo>
                  <a:lnTo>
                    <a:pt x="25" y="202"/>
                  </a:lnTo>
                  <a:lnTo>
                    <a:pt x="27" y="201"/>
                  </a:lnTo>
                  <a:lnTo>
                    <a:pt x="31" y="200"/>
                  </a:lnTo>
                  <a:lnTo>
                    <a:pt x="36" y="199"/>
                  </a:lnTo>
                  <a:lnTo>
                    <a:pt x="38" y="197"/>
                  </a:lnTo>
                  <a:lnTo>
                    <a:pt x="39" y="197"/>
                  </a:lnTo>
                  <a:lnTo>
                    <a:pt x="43" y="196"/>
                  </a:lnTo>
                  <a:lnTo>
                    <a:pt x="44" y="195"/>
                  </a:lnTo>
                  <a:lnTo>
                    <a:pt x="44" y="195"/>
                  </a:lnTo>
                  <a:lnTo>
                    <a:pt x="40" y="188"/>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5" name="Freeform 42"/>
            <p:cNvSpPr>
              <a:spLocks/>
            </p:cNvSpPr>
            <p:nvPr/>
          </p:nvSpPr>
          <p:spPr bwMode="auto">
            <a:xfrm>
              <a:off x="6942519" y="2800604"/>
              <a:ext cx="195628" cy="342348"/>
            </a:xfrm>
            <a:custGeom>
              <a:avLst/>
              <a:gdLst>
                <a:gd name="T0" fmla="*/ 110 w 116"/>
                <a:gd name="T1" fmla="*/ 99 h 203"/>
                <a:gd name="T2" fmla="*/ 111 w 116"/>
                <a:gd name="T3" fmla="*/ 0 h 203"/>
                <a:gd name="T4" fmla="*/ 41 w 116"/>
                <a:gd name="T5" fmla="*/ 5 h 203"/>
                <a:gd name="T6" fmla="*/ 38 w 116"/>
                <a:gd name="T7" fmla="*/ 10 h 203"/>
                <a:gd name="T8" fmla="*/ 35 w 116"/>
                <a:gd name="T9" fmla="*/ 15 h 203"/>
                <a:gd name="T10" fmla="*/ 32 w 116"/>
                <a:gd name="T11" fmla="*/ 17 h 203"/>
                <a:gd name="T12" fmla="*/ 30 w 116"/>
                <a:gd name="T13" fmla="*/ 26 h 203"/>
                <a:gd name="T14" fmla="*/ 22 w 116"/>
                <a:gd name="T15" fmla="*/ 37 h 203"/>
                <a:gd name="T16" fmla="*/ 18 w 116"/>
                <a:gd name="T17" fmla="*/ 44 h 203"/>
                <a:gd name="T18" fmla="*/ 18 w 116"/>
                <a:gd name="T19" fmla="*/ 48 h 203"/>
                <a:gd name="T20" fmla="*/ 17 w 116"/>
                <a:gd name="T21" fmla="*/ 54 h 203"/>
                <a:gd name="T22" fmla="*/ 13 w 116"/>
                <a:gd name="T23" fmla="*/ 58 h 203"/>
                <a:gd name="T24" fmla="*/ 12 w 116"/>
                <a:gd name="T25" fmla="*/ 62 h 203"/>
                <a:gd name="T26" fmla="*/ 11 w 116"/>
                <a:gd name="T27" fmla="*/ 66 h 203"/>
                <a:gd name="T28" fmla="*/ 14 w 116"/>
                <a:gd name="T29" fmla="*/ 70 h 203"/>
                <a:gd name="T30" fmla="*/ 14 w 116"/>
                <a:gd name="T31" fmla="*/ 78 h 203"/>
                <a:gd name="T32" fmla="*/ 14 w 116"/>
                <a:gd name="T33" fmla="*/ 84 h 203"/>
                <a:gd name="T34" fmla="*/ 11 w 116"/>
                <a:gd name="T35" fmla="*/ 89 h 203"/>
                <a:gd name="T36" fmla="*/ 15 w 116"/>
                <a:gd name="T37" fmla="*/ 94 h 203"/>
                <a:gd name="T38" fmla="*/ 11 w 116"/>
                <a:gd name="T39" fmla="*/ 98 h 203"/>
                <a:gd name="T40" fmla="*/ 15 w 116"/>
                <a:gd name="T41" fmla="*/ 102 h 203"/>
                <a:gd name="T42" fmla="*/ 16 w 116"/>
                <a:gd name="T43" fmla="*/ 108 h 203"/>
                <a:gd name="T44" fmla="*/ 19 w 116"/>
                <a:gd name="T45" fmla="*/ 112 h 203"/>
                <a:gd name="T46" fmla="*/ 19 w 116"/>
                <a:gd name="T47" fmla="*/ 123 h 203"/>
                <a:gd name="T48" fmla="*/ 15 w 116"/>
                <a:gd name="T49" fmla="*/ 126 h 203"/>
                <a:gd name="T50" fmla="*/ 14 w 116"/>
                <a:gd name="T51" fmla="*/ 132 h 203"/>
                <a:gd name="T52" fmla="*/ 8 w 116"/>
                <a:gd name="T53" fmla="*/ 140 h 203"/>
                <a:gd name="T54" fmla="*/ 6 w 116"/>
                <a:gd name="T55" fmla="*/ 149 h 203"/>
                <a:gd name="T56" fmla="*/ 4 w 116"/>
                <a:gd name="T57" fmla="*/ 153 h 203"/>
                <a:gd name="T58" fmla="*/ 4 w 116"/>
                <a:gd name="T59" fmla="*/ 160 h 203"/>
                <a:gd name="T60" fmla="*/ 0 w 116"/>
                <a:gd name="T61" fmla="*/ 164 h 203"/>
                <a:gd name="T62" fmla="*/ 1 w 116"/>
                <a:gd name="T63" fmla="*/ 171 h 203"/>
                <a:gd name="T64" fmla="*/ 65 w 116"/>
                <a:gd name="T65" fmla="*/ 184 h 203"/>
                <a:gd name="T66" fmla="*/ 70 w 116"/>
                <a:gd name="T67" fmla="*/ 192 h 203"/>
                <a:gd name="T68" fmla="*/ 71 w 116"/>
                <a:gd name="T69" fmla="*/ 203 h 203"/>
                <a:gd name="T70" fmla="*/ 72 w 116"/>
                <a:gd name="T71" fmla="*/ 203 h 203"/>
                <a:gd name="T72" fmla="*/ 79 w 116"/>
                <a:gd name="T73" fmla="*/ 199 h 203"/>
                <a:gd name="T74" fmla="*/ 82 w 116"/>
                <a:gd name="T75" fmla="*/ 193 h 203"/>
                <a:gd name="T76" fmla="*/ 89 w 116"/>
                <a:gd name="T77" fmla="*/ 193 h 203"/>
                <a:gd name="T78" fmla="*/ 98 w 116"/>
                <a:gd name="T79" fmla="*/ 190 h 203"/>
                <a:gd name="T80" fmla="*/ 104 w 116"/>
                <a:gd name="T81" fmla="*/ 190 h 203"/>
                <a:gd name="T82" fmla="*/ 109 w 116"/>
                <a:gd name="T83" fmla="*/ 190 h 203"/>
                <a:gd name="T84" fmla="*/ 115 w 116"/>
                <a:gd name="T85" fmla="*/ 190 h 203"/>
                <a:gd name="T86" fmla="*/ 116 w 116"/>
                <a:gd name="T87" fmla="*/ 189 h 203"/>
                <a:gd name="T88" fmla="*/ 110 w 116"/>
                <a:gd name="T89" fmla="*/ 14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6" h="203">
                  <a:moveTo>
                    <a:pt x="110" y="148"/>
                  </a:moveTo>
                  <a:lnTo>
                    <a:pt x="110" y="99"/>
                  </a:lnTo>
                  <a:lnTo>
                    <a:pt x="111" y="7"/>
                  </a:lnTo>
                  <a:lnTo>
                    <a:pt x="111" y="0"/>
                  </a:lnTo>
                  <a:lnTo>
                    <a:pt x="41" y="5"/>
                  </a:lnTo>
                  <a:lnTo>
                    <a:pt x="41" y="5"/>
                  </a:lnTo>
                  <a:lnTo>
                    <a:pt x="42" y="8"/>
                  </a:lnTo>
                  <a:lnTo>
                    <a:pt x="38" y="10"/>
                  </a:lnTo>
                  <a:lnTo>
                    <a:pt x="36" y="12"/>
                  </a:lnTo>
                  <a:lnTo>
                    <a:pt x="35" y="15"/>
                  </a:lnTo>
                  <a:lnTo>
                    <a:pt x="33" y="17"/>
                  </a:lnTo>
                  <a:lnTo>
                    <a:pt x="32" y="17"/>
                  </a:lnTo>
                  <a:lnTo>
                    <a:pt x="30" y="22"/>
                  </a:lnTo>
                  <a:lnTo>
                    <a:pt x="30" y="26"/>
                  </a:lnTo>
                  <a:lnTo>
                    <a:pt x="27" y="31"/>
                  </a:lnTo>
                  <a:lnTo>
                    <a:pt x="22" y="37"/>
                  </a:lnTo>
                  <a:lnTo>
                    <a:pt x="19" y="40"/>
                  </a:lnTo>
                  <a:lnTo>
                    <a:pt x="18" y="44"/>
                  </a:lnTo>
                  <a:lnTo>
                    <a:pt x="20" y="45"/>
                  </a:lnTo>
                  <a:lnTo>
                    <a:pt x="18" y="48"/>
                  </a:lnTo>
                  <a:lnTo>
                    <a:pt x="16" y="52"/>
                  </a:lnTo>
                  <a:lnTo>
                    <a:pt x="17" y="54"/>
                  </a:lnTo>
                  <a:lnTo>
                    <a:pt x="16" y="54"/>
                  </a:lnTo>
                  <a:lnTo>
                    <a:pt x="13" y="58"/>
                  </a:lnTo>
                  <a:lnTo>
                    <a:pt x="11" y="61"/>
                  </a:lnTo>
                  <a:lnTo>
                    <a:pt x="12" y="62"/>
                  </a:lnTo>
                  <a:lnTo>
                    <a:pt x="11" y="64"/>
                  </a:lnTo>
                  <a:lnTo>
                    <a:pt x="11" y="66"/>
                  </a:lnTo>
                  <a:lnTo>
                    <a:pt x="12" y="67"/>
                  </a:lnTo>
                  <a:lnTo>
                    <a:pt x="14" y="70"/>
                  </a:lnTo>
                  <a:lnTo>
                    <a:pt x="14" y="72"/>
                  </a:lnTo>
                  <a:lnTo>
                    <a:pt x="14" y="78"/>
                  </a:lnTo>
                  <a:lnTo>
                    <a:pt x="15" y="81"/>
                  </a:lnTo>
                  <a:lnTo>
                    <a:pt x="14" y="84"/>
                  </a:lnTo>
                  <a:lnTo>
                    <a:pt x="12" y="89"/>
                  </a:lnTo>
                  <a:lnTo>
                    <a:pt x="11" y="89"/>
                  </a:lnTo>
                  <a:lnTo>
                    <a:pt x="14" y="91"/>
                  </a:lnTo>
                  <a:lnTo>
                    <a:pt x="15" y="94"/>
                  </a:lnTo>
                  <a:lnTo>
                    <a:pt x="15" y="96"/>
                  </a:lnTo>
                  <a:lnTo>
                    <a:pt x="11" y="98"/>
                  </a:lnTo>
                  <a:lnTo>
                    <a:pt x="14" y="100"/>
                  </a:lnTo>
                  <a:lnTo>
                    <a:pt x="15" y="102"/>
                  </a:lnTo>
                  <a:lnTo>
                    <a:pt x="15" y="103"/>
                  </a:lnTo>
                  <a:lnTo>
                    <a:pt x="16" y="108"/>
                  </a:lnTo>
                  <a:lnTo>
                    <a:pt x="16" y="110"/>
                  </a:lnTo>
                  <a:lnTo>
                    <a:pt x="19" y="112"/>
                  </a:lnTo>
                  <a:lnTo>
                    <a:pt x="20" y="115"/>
                  </a:lnTo>
                  <a:lnTo>
                    <a:pt x="19" y="123"/>
                  </a:lnTo>
                  <a:lnTo>
                    <a:pt x="16" y="126"/>
                  </a:lnTo>
                  <a:lnTo>
                    <a:pt x="15" y="126"/>
                  </a:lnTo>
                  <a:lnTo>
                    <a:pt x="15" y="130"/>
                  </a:lnTo>
                  <a:lnTo>
                    <a:pt x="14" y="132"/>
                  </a:lnTo>
                  <a:lnTo>
                    <a:pt x="10" y="138"/>
                  </a:lnTo>
                  <a:lnTo>
                    <a:pt x="8" y="140"/>
                  </a:lnTo>
                  <a:lnTo>
                    <a:pt x="7" y="147"/>
                  </a:lnTo>
                  <a:lnTo>
                    <a:pt x="6" y="149"/>
                  </a:lnTo>
                  <a:lnTo>
                    <a:pt x="5" y="150"/>
                  </a:lnTo>
                  <a:lnTo>
                    <a:pt x="4" y="153"/>
                  </a:lnTo>
                  <a:lnTo>
                    <a:pt x="4" y="155"/>
                  </a:lnTo>
                  <a:lnTo>
                    <a:pt x="4" y="160"/>
                  </a:lnTo>
                  <a:lnTo>
                    <a:pt x="1" y="162"/>
                  </a:lnTo>
                  <a:lnTo>
                    <a:pt x="0" y="164"/>
                  </a:lnTo>
                  <a:lnTo>
                    <a:pt x="0" y="167"/>
                  </a:lnTo>
                  <a:lnTo>
                    <a:pt x="1" y="171"/>
                  </a:lnTo>
                  <a:lnTo>
                    <a:pt x="66" y="168"/>
                  </a:lnTo>
                  <a:lnTo>
                    <a:pt x="65" y="184"/>
                  </a:lnTo>
                  <a:lnTo>
                    <a:pt x="67" y="188"/>
                  </a:lnTo>
                  <a:lnTo>
                    <a:pt x="70" y="192"/>
                  </a:lnTo>
                  <a:lnTo>
                    <a:pt x="71" y="199"/>
                  </a:lnTo>
                  <a:lnTo>
                    <a:pt x="71" y="203"/>
                  </a:lnTo>
                  <a:lnTo>
                    <a:pt x="71" y="203"/>
                  </a:lnTo>
                  <a:lnTo>
                    <a:pt x="72" y="203"/>
                  </a:lnTo>
                  <a:lnTo>
                    <a:pt x="77" y="200"/>
                  </a:lnTo>
                  <a:lnTo>
                    <a:pt x="79" y="199"/>
                  </a:lnTo>
                  <a:lnTo>
                    <a:pt x="82" y="197"/>
                  </a:lnTo>
                  <a:lnTo>
                    <a:pt x="82" y="193"/>
                  </a:lnTo>
                  <a:lnTo>
                    <a:pt x="86" y="193"/>
                  </a:lnTo>
                  <a:lnTo>
                    <a:pt x="89" y="193"/>
                  </a:lnTo>
                  <a:lnTo>
                    <a:pt x="93" y="192"/>
                  </a:lnTo>
                  <a:lnTo>
                    <a:pt x="98" y="190"/>
                  </a:lnTo>
                  <a:lnTo>
                    <a:pt x="102" y="190"/>
                  </a:lnTo>
                  <a:lnTo>
                    <a:pt x="104" y="190"/>
                  </a:lnTo>
                  <a:lnTo>
                    <a:pt x="107" y="190"/>
                  </a:lnTo>
                  <a:lnTo>
                    <a:pt x="109" y="190"/>
                  </a:lnTo>
                  <a:lnTo>
                    <a:pt x="113" y="192"/>
                  </a:lnTo>
                  <a:lnTo>
                    <a:pt x="115" y="190"/>
                  </a:lnTo>
                  <a:lnTo>
                    <a:pt x="116" y="189"/>
                  </a:lnTo>
                  <a:lnTo>
                    <a:pt x="116" y="189"/>
                  </a:lnTo>
                  <a:lnTo>
                    <a:pt x="116" y="189"/>
                  </a:lnTo>
                  <a:lnTo>
                    <a:pt x="110" y="148"/>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6" name="Freeform 43"/>
            <p:cNvSpPr>
              <a:spLocks/>
            </p:cNvSpPr>
            <p:nvPr/>
          </p:nvSpPr>
          <p:spPr bwMode="auto">
            <a:xfrm>
              <a:off x="7559758" y="2387426"/>
              <a:ext cx="242848" cy="177077"/>
            </a:xfrm>
            <a:custGeom>
              <a:avLst/>
              <a:gdLst>
                <a:gd name="T0" fmla="*/ 0 w 170"/>
                <a:gd name="T1" fmla="*/ 24 h 123"/>
                <a:gd name="T2" fmla="*/ 3 w 170"/>
                <a:gd name="T3" fmla="*/ 44 h 123"/>
                <a:gd name="T4" fmla="*/ 16 w 170"/>
                <a:gd name="T5" fmla="*/ 33 h 123"/>
                <a:gd name="T6" fmla="*/ 28 w 170"/>
                <a:gd name="T7" fmla="*/ 25 h 123"/>
                <a:gd name="T8" fmla="*/ 31 w 170"/>
                <a:gd name="T9" fmla="*/ 27 h 123"/>
                <a:gd name="T10" fmla="*/ 41 w 170"/>
                <a:gd name="T11" fmla="*/ 22 h 123"/>
                <a:gd name="T12" fmla="*/ 63 w 170"/>
                <a:gd name="T13" fmla="*/ 22 h 123"/>
                <a:gd name="T14" fmla="*/ 70 w 170"/>
                <a:gd name="T15" fmla="*/ 36 h 123"/>
                <a:gd name="T16" fmla="*/ 83 w 170"/>
                <a:gd name="T17" fmla="*/ 43 h 123"/>
                <a:gd name="T18" fmla="*/ 93 w 170"/>
                <a:gd name="T19" fmla="*/ 51 h 123"/>
                <a:gd name="T20" fmla="*/ 92 w 170"/>
                <a:gd name="T21" fmla="*/ 60 h 123"/>
                <a:gd name="T22" fmla="*/ 89 w 170"/>
                <a:gd name="T23" fmla="*/ 74 h 123"/>
                <a:gd name="T24" fmla="*/ 94 w 170"/>
                <a:gd name="T25" fmla="*/ 75 h 123"/>
                <a:gd name="T26" fmla="*/ 101 w 170"/>
                <a:gd name="T27" fmla="*/ 75 h 123"/>
                <a:gd name="T28" fmla="*/ 106 w 170"/>
                <a:gd name="T29" fmla="*/ 75 h 123"/>
                <a:gd name="T30" fmla="*/ 122 w 170"/>
                <a:gd name="T31" fmla="*/ 78 h 123"/>
                <a:gd name="T32" fmla="*/ 129 w 170"/>
                <a:gd name="T33" fmla="*/ 79 h 123"/>
                <a:gd name="T34" fmla="*/ 124 w 170"/>
                <a:gd name="T35" fmla="*/ 72 h 123"/>
                <a:gd name="T36" fmla="*/ 124 w 170"/>
                <a:gd name="T37" fmla="*/ 68 h 123"/>
                <a:gd name="T38" fmla="*/ 116 w 170"/>
                <a:gd name="T39" fmla="*/ 57 h 123"/>
                <a:gd name="T40" fmla="*/ 115 w 170"/>
                <a:gd name="T41" fmla="*/ 43 h 123"/>
                <a:gd name="T42" fmla="*/ 113 w 170"/>
                <a:gd name="T43" fmla="*/ 31 h 123"/>
                <a:gd name="T44" fmla="*/ 115 w 170"/>
                <a:gd name="T45" fmla="*/ 28 h 123"/>
                <a:gd name="T46" fmla="*/ 124 w 170"/>
                <a:gd name="T47" fmla="*/ 18 h 123"/>
                <a:gd name="T48" fmla="*/ 129 w 170"/>
                <a:gd name="T49" fmla="*/ 13 h 123"/>
                <a:gd name="T50" fmla="*/ 125 w 170"/>
                <a:gd name="T51" fmla="*/ 21 h 123"/>
                <a:gd name="T52" fmla="*/ 123 w 170"/>
                <a:gd name="T53" fmla="*/ 31 h 123"/>
                <a:gd name="T54" fmla="*/ 122 w 170"/>
                <a:gd name="T55" fmla="*/ 36 h 123"/>
                <a:gd name="T56" fmla="*/ 126 w 170"/>
                <a:gd name="T57" fmla="*/ 41 h 123"/>
                <a:gd name="T58" fmla="*/ 131 w 170"/>
                <a:gd name="T59" fmla="*/ 46 h 123"/>
                <a:gd name="T60" fmla="*/ 134 w 170"/>
                <a:gd name="T61" fmla="*/ 51 h 123"/>
                <a:gd name="T62" fmla="*/ 130 w 170"/>
                <a:gd name="T63" fmla="*/ 57 h 123"/>
                <a:gd name="T64" fmla="*/ 128 w 170"/>
                <a:gd name="T65" fmla="*/ 61 h 123"/>
                <a:gd name="T66" fmla="*/ 129 w 170"/>
                <a:gd name="T67" fmla="*/ 65 h 123"/>
                <a:gd name="T68" fmla="*/ 139 w 170"/>
                <a:gd name="T69" fmla="*/ 66 h 123"/>
                <a:gd name="T70" fmla="*/ 146 w 170"/>
                <a:gd name="T71" fmla="*/ 75 h 123"/>
                <a:gd name="T72" fmla="*/ 147 w 170"/>
                <a:gd name="T73" fmla="*/ 81 h 123"/>
                <a:gd name="T74" fmla="*/ 152 w 170"/>
                <a:gd name="T75" fmla="*/ 89 h 123"/>
                <a:gd name="T76" fmla="*/ 148 w 170"/>
                <a:gd name="T77" fmla="*/ 104 h 123"/>
                <a:gd name="T78" fmla="*/ 149 w 170"/>
                <a:gd name="T79" fmla="*/ 120 h 123"/>
                <a:gd name="T80" fmla="*/ 153 w 170"/>
                <a:gd name="T81" fmla="*/ 116 h 123"/>
                <a:gd name="T82" fmla="*/ 157 w 170"/>
                <a:gd name="T83" fmla="*/ 102 h 123"/>
                <a:gd name="T84" fmla="*/ 157 w 170"/>
                <a:gd name="T85" fmla="*/ 97 h 123"/>
                <a:gd name="T86" fmla="*/ 163 w 170"/>
                <a:gd name="T87" fmla="*/ 91 h 123"/>
                <a:gd name="T88" fmla="*/ 163 w 170"/>
                <a:gd name="T89" fmla="*/ 79 h 123"/>
                <a:gd name="T90" fmla="*/ 167 w 170"/>
                <a:gd name="T91" fmla="*/ 71 h 123"/>
                <a:gd name="T92" fmla="*/ 167 w 170"/>
                <a:gd name="T93" fmla="*/ 77 h 123"/>
                <a:gd name="T94" fmla="*/ 168 w 170"/>
                <a:gd name="T95" fmla="*/ 82 h 123"/>
                <a:gd name="T96" fmla="*/ 170 w 170"/>
                <a:gd name="T97" fmla="*/ 68 h 123"/>
                <a:gd name="T98" fmla="*/ 169 w 170"/>
                <a:gd name="T99" fmla="*/ 54 h 123"/>
                <a:gd name="T100" fmla="*/ 134 w 170"/>
                <a:gd name="T101"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0" h="123">
                  <a:moveTo>
                    <a:pt x="134" y="0"/>
                  </a:moveTo>
                  <a:cubicBezTo>
                    <a:pt x="0" y="24"/>
                    <a:pt x="0" y="24"/>
                    <a:pt x="0" y="24"/>
                  </a:cubicBezTo>
                  <a:cubicBezTo>
                    <a:pt x="0" y="24"/>
                    <a:pt x="0" y="24"/>
                    <a:pt x="0" y="24"/>
                  </a:cubicBezTo>
                  <a:cubicBezTo>
                    <a:pt x="3" y="44"/>
                    <a:pt x="3" y="44"/>
                    <a:pt x="3" y="44"/>
                  </a:cubicBezTo>
                  <a:cubicBezTo>
                    <a:pt x="7" y="44"/>
                    <a:pt x="7" y="44"/>
                    <a:pt x="7" y="44"/>
                  </a:cubicBezTo>
                  <a:cubicBezTo>
                    <a:pt x="16" y="33"/>
                    <a:pt x="16" y="33"/>
                    <a:pt x="16" y="33"/>
                  </a:cubicBezTo>
                  <a:cubicBezTo>
                    <a:pt x="22" y="33"/>
                    <a:pt x="22" y="33"/>
                    <a:pt x="22" y="33"/>
                  </a:cubicBezTo>
                  <a:cubicBezTo>
                    <a:pt x="28" y="25"/>
                    <a:pt x="28" y="25"/>
                    <a:pt x="28" y="25"/>
                  </a:cubicBezTo>
                  <a:cubicBezTo>
                    <a:pt x="30" y="25"/>
                    <a:pt x="30" y="25"/>
                    <a:pt x="30" y="25"/>
                  </a:cubicBezTo>
                  <a:cubicBezTo>
                    <a:pt x="31" y="27"/>
                    <a:pt x="31" y="27"/>
                    <a:pt x="31" y="27"/>
                  </a:cubicBezTo>
                  <a:cubicBezTo>
                    <a:pt x="38" y="22"/>
                    <a:pt x="38" y="22"/>
                    <a:pt x="38" y="22"/>
                  </a:cubicBezTo>
                  <a:cubicBezTo>
                    <a:pt x="41" y="22"/>
                    <a:pt x="41" y="22"/>
                    <a:pt x="41" y="22"/>
                  </a:cubicBezTo>
                  <a:cubicBezTo>
                    <a:pt x="49" y="18"/>
                    <a:pt x="49" y="18"/>
                    <a:pt x="49" y="18"/>
                  </a:cubicBezTo>
                  <a:cubicBezTo>
                    <a:pt x="63" y="22"/>
                    <a:pt x="63" y="22"/>
                    <a:pt x="63" y="22"/>
                  </a:cubicBezTo>
                  <a:cubicBezTo>
                    <a:pt x="67" y="28"/>
                    <a:pt x="67" y="28"/>
                    <a:pt x="67" y="28"/>
                  </a:cubicBezTo>
                  <a:cubicBezTo>
                    <a:pt x="70" y="36"/>
                    <a:pt x="70" y="36"/>
                    <a:pt x="70" y="36"/>
                  </a:cubicBezTo>
                  <a:cubicBezTo>
                    <a:pt x="71" y="36"/>
                    <a:pt x="71" y="36"/>
                    <a:pt x="71" y="36"/>
                  </a:cubicBezTo>
                  <a:cubicBezTo>
                    <a:pt x="83" y="43"/>
                    <a:pt x="83" y="43"/>
                    <a:pt x="83" y="43"/>
                  </a:cubicBezTo>
                  <a:cubicBezTo>
                    <a:pt x="88" y="48"/>
                    <a:pt x="88" y="48"/>
                    <a:pt x="88" y="48"/>
                  </a:cubicBezTo>
                  <a:cubicBezTo>
                    <a:pt x="93" y="51"/>
                    <a:pt x="93" y="51"/>
                    <a:pt x="93" y="51"/>
                  </a:cubicBezTo>
                  <a:cubicBezTo>
                    <a:pt x="94" y="56"/>
                    <a:pt x="94" y="56"/>
                    <a:pt x="94" y="56"/>
                  </a:cubicBezTo>
                  <a:cubicBezTo>
                    <a:pt x="92" y="60"/>
                    <a:pt x="92" y="60"/>
                    <a:pt x="92" y="60"/>
                  </a:cubicBezTo>
                  <a:cubicBezTo>
                    <a:pt x="88" y="61"/>
                    <a:pt x="88" y="61"/>
                    <a:pt x="88" y="61"/>
                  </a:cubicBezTo>
                  <a:cubicBezTo>
                    <a:pt x="89" y="74"/>
                    <a:pt x="89" y="74"/>
                    <a:pt x="89" y="74"/>
                  </a:cubicBezTo>
                  <a:cubicBezTo>
                    <a:pt x="91" y="76"/>
                    <a:pt x="91" y="76"/>
                    <a:pt x="91" y="76"/>
                  </a:cubicBezTo>
                  <a:cubicBezTo>
                    <a:pt x="94" y="75"/>
                    <a:pt x="94" y="75"/>
                    <a:pt x="94" y="75"/>
                  </a:cubicBezTo>
                  <a:cubicBezTo>
                    <a:pt x="97" y="74"/>
                    <a:pt x="97" y="74"/>
                    <a:pt x="97" y="74"/>
                  </a:cubicBezTo>
                  <a:cubicBezTo>
                    <a:pt x="101" y="75"/>
                    <a:pt x="101" y="75"/>
                    <a:pt x="101" y="75"/>
                  </a:cubicBezTo>
                  <a:cubicBezTo>
                    <a:pt x="102" y="76"/>
                    <a:pt x="102" y="76"/>
                    <a:pt x="102" y="76"/>
                  </a:cubicBezTo>
                  <a:cubicBezTo>
                    <a:pt x="106" y="75"/>
                    <a:pt x="106" y="75"/>
                    <a:pt x="106" y="75"/>
                  </a:cubicBezTo>
                  <a:cubicBezTo>
                    <a:pt x="119" y="76"/>
                    <a:pt x="119" y="76"/>
                    <a:pt x="119" y="76"/>
                  </a:cubicBezTo>
                  <a:cubicBezTo>
                    <a:pt x="122" y="78"/>
                    <a:pt x="122" y="78"/>
                    <a:pt x="122" y="78"/>
                  </a:cubicBezTo>
                  <a:cubicBezTo>
                    <a:pt x="126" y="80"/>
                    <a:pt x="126" y="80"/>
                    <a:pt x="126" y="80"/>
                  </a:cubicBezTo>
                  <a:cubicBezTo>
                    <a:pt x="129" y="79"/>
                    <a:pt x="129" y="79"/>
                    <a:pt x="129" y="79"/>
                  </a:cubicBezTo>
                  <a:cubicBezTo>
                    <a:pt x="127" y="75"/>
                    <a:pt x="127" y="75"/>
                    <a:pt x="127" y="75"/>
                  </a:cubicBezTo>
                  <a:cubicBezTo>
                    <a:pt x="124" y="72"/>
                    <a:pt x="124" y="72"/>
                    <a:pt x="124" y="72"/>
                  </a:cubicBezTo>
                  <a:cubicBezTo>
                    <a:pt x="124" y="69"/>
                    <a:pt x="124" y="69"/>
                    <a:pt x="124" y="69"/>
                  </a:cubicBezTo>
                  <a:cubicBezTo>
                    <a:pt x="124" y="68"/>
                    <a:pt x="124" y="68"/>
                    <a:pt x="124" y="68"/>
                  </a:cubicBezTo>
                  <a:cubicBezTo>
                    <a:pt x="118" y="60"/>
                    <a:pt x="118" y="60"/>
                    <a:pt x="118" y="60"/>
                  </a:cubicBezTo>
                  <a:cubicBezTo>
                    <a:pt x="116" y="57"/>
                    <a:pt x="116" y="57"/>
                    <a:pt x="116" y="57"/>
                  </a:cubicBezTo>
                  <a:cubicBezTo>
                    <a:pt x="116" y="50"/>
                    <a:pt x="116" y="50"/>
                    <a:pt x="116" y="50"/>
                  </a:cubicBezTo>
                  <a:cubicBezTo>
                    <a:pt x="115" y="43"/>
                    <a:pt x="115" y="43"/>
                    <a:pt x="115" y="43"/>
                  </a:cubicBezTo>
                  <a:cubicBezTo>
                    <a:pt x="116" y="36"/>
                    <a:pt x="116" y="36"/>
                    <a:pt x="116" y="36"/>
                  </a:cubicBezTo>
                  <a:cubicBezTo>
                    <a:pt x="113" y="31"/>
                    <a:pt x="113" y="31"/>
                    <a:pt x="113" y="31"/>
                  </a:cubicBezTo>
                  <a:cubicBezTo>
                    <a:pt x="111" y="28"/>
                    <a:pt x="111" y="28"/>
                    <a:pt x="111" y="28"/>
                  </a:cubicBezTo>
                  <a:cubicBezTo>
                    <a:pt x="115" y="28"/>
                    <a:pt x="115" y="28"/>
                    <a:pt x="115" y="28"/>
                  </a:cubicBezTo>
                  <a:cubicBezTo>
                    <a:pt x="118" y="22"/>
                    <a:pt x="118" y="22"/>
                    <a:pt x="118" y="22"/>
                  </a:cubicBezTo>
                  <a:cubicBezTo>
                    <a:pt x="124" y="18"/>
                    <a:pt x="124" y="18"/>
                    <a:pt x="124" y="18"/>
                  </a:cubicBezTo>
                  <a:cubicBezTo>
                    <a:pt x="127" y="12"/>
                    <a:pt x="127" y="12"/>
                    <a:pt x="127" y="12"/>
                  </a:cubicBezTo>
                  <a:cubicBezTo>
                    <a:pt x="129" y="13"/>
                    <a:pt x="129" y="13"/>
                    <a:pt x="129" y="13"/>
                  </a:cubicBezTo>
                  <a:cubicBezTo>
                    <a:pt x="128" y="20"/>
                    <a:pt x="128" y="20"/>
                    <a:pt x="128" y="20"/>
                  </a:cubicBezTo>
                  <a:cubicBezTo>
                    <a:pt x="125" y="21"/>
                    <a:pt x="125" y="21"/>
                    <a:pt x="125" y="21"/>
                  </a:cubicBezTo>
                  <a:cubicBezTo>
                    <a:pt x="123" y="27"/>
                    <a:pt x="123" y="27"/>
                    <a:pt x="123" y="27"/>
                  </a:cubicBezTo>
                  <a:cubicBezTo>
                    <a:pt x="123" y="31"/>
                    <a:pt x="123" y="31"/>
                    <a:pt x="123" y="31"/>
                  </a:cubicBezTo>
                  <a:cubicBezTo>
                    <a:pt x="127" y="31"/>
                    <a:pt x="127" y="31"/>
                    <a:pt x="127" y="31"/>
                  </a:cubicBezTo>
                  <a:cubicBezTo>
                    <a:pt x="122" y="36"/>
                    <a:pt x="122" y="36"/>
                    <a:pt x="122" y="36"/>
                  </a:cubicBezTo>
                  <a:cubicBezTo>
                    <a:pt x="120" y="39"/>
                    <a:pt x="120" y="39"/>
                    <a:pt x="120" y="39"/>
                  </a:cubicBezTo>
                  <a:cubicBezTo>
                    <a:pt x="126" y="41"/>
                    <a:pt x="126" y="41"/>
                    <a:pt x="126" y="41"/>
                  </a:cubicBezTo>
                  <a:cubicBezTo>
                    <a:pt x="128" y="42"/>
                    <a:pt x="128" y="42"/>
                    <a:pt x="128" y="42"/>
                  </a:cubicBezTo>
                  <a:cubicBezTo>
                    <a:pt x="131" y="46"/>
                    <a:pt x="131" y="46"/>
                    <a:pt x="131" y="46"/>
                  </a:cubicBezTo>
                  <a:cubicBezTo>
                    <a:pt x="130" y="47"/>
                    <a:pt x="130" y="47"/>
                    <a:pt x="130" y="47"/>
                  </a:cubicBezTo>
                  <a:cubicBezTo>
                    <a:pt x="134" y="51"/>
                    <a:pt x="134" y="51"/>
                    <a:pt x="134" y="51"/>
                  </a:cubicBezTo>
                  <a:cubicBezTo>
                    <a:pt x="134" y="53"/>
                    <a:pt x="134" y="53"/>
                    <a:pt x="134" y="53"/>
                  </a:cubicBezTo>
                  <a:cubicBezTo>
                    <a:pt x="130" y="57"/>
                    <a:pt x="130" y="57"/>
                    <a:pt x="130" y="57"/>
                  </a:cubicBezTo>
                  <a:cubicBezTo>
                    <a:pt x="127" y="57"/>
                    <a:pt x="127" y="57"/>
                    <a:pt x="127" y="57"/>
                  </a:cubicBezTo>
                  <a:cubicBezTo>
                    <a:pt x="128" y="61"/>
                    <a:pt x="128" y="61"/>
                    <a:pt x="128" y="61"/>
                  </a:cubicBezTo>
                  <a:cubicBezTo>
                    <a:pt x="127" y="63"/>
                    <a:pt x="127" y="63"/>
                    <a:pt x="127" y="63"/>
                  </a:cubicBezTo>
                  <a:cubicBezTo>
                    <a:pt x="129" y="65"/>
                    <a:pt x="129" y="65"/>
                    <a:pt x="129" y="65"/>
                  </a:cubicBezTo>
                  <a:cubicBezTo>
                    <a:pt x="133" y="66"/>
                    <a:pt x="133" y="66"/>
                    <a:pt x="133" y="66"/>
                  </a:cubicBezTo>
                  <a:cubicBezTo>
                    <a:pt x="139" y="66"/>
                    <a:pt x="139" y="66"/>
                    <a:pt x="139" y="66"/>
                  </a:cubicBezTo>
                  <a:cubicBezTo>
                    <a:pt x="143" y="69"/>
                    <a:pt x="143" y="69"/>
                    <a:pt x="143" y="69"/>
                  </a:cubicBezTo>
                  <a:cubicBezTo>
                    <a:pt x="146" y="75"/>
                    <a:pt x="146" y="75"/>
                    <a:pt x="146" y="75"/>
                  </a:cubicBezTo>
                  <a:cubicBezTo>
                    <a:pt x="148" y="80"/>
                    <a:pt x="148" y="80"/>
                    <a:pt x="148" y="80"/>
                  </a:cubicBezTo>
                  <a:cubicBezTo>
                    <a:pt x="147" y="81"/>
                    <a:pt x="147" y="81"/>
                    <a:pt x="147" y="81"/>
                  </a:cubicBezTo>
                  <a:cubicBezTo>
                    <a:pt x="150" y="84"/>
                    <a:pt x="150" y="84"/>
                    <a:pt x="150" y="84"/>
                  </a:cubicBezTo>
                  <a:cubicBezTo>
                    <a:pt x="152" y="89"/>
                    <a:pt x="152" y="89"/>
                    <a:pt x="152" y="89"/>
                  </a:cubicBezTo>
                  <a:cubicBezTo>
                    <a:pt x="149" y="98"/>
                    <a:pt x="149" y="98"/>
                    <a:pt x="149" y="98"/>
                  </a:cubicBezTo>
                  <a:cubicBezTo>
                    <a:pt x="148" y="104"/>
                    <a:pt x="148" y="104"/>
                    <a:pt x="148" y="104"/>
                  </a:cubicBezTo>
                  <a:cubicBezTo>
                    <a:pt x="148" y="114"/>
                    <a:pt x="148" y="114"/>
                    <a:pt x="148" y="114"/>
                  </a:cubicBezTo>
                  <a:cubicBezTo>
                    <a:pt x="149" y="120"/>
                    <a:pt x="149" y="120"/>
                    <a:pt x="149" y="120"/>
                  </a:cubicBezTo>
                  <a:cubicBezTo>
                    <a:pt x="151" y="123"/>
                    <a:pt x="151" y="123"/>
                    <a:pt x="151" y="123"/>
                  </a:cubicBezTo>
                  <a:cubicBezTo>
                    <a:pt x="153" y="116"/>
                    <a:pt x="153" y="116"/>
                    <a:pt x="153" y="116"/>
                  </a:cubicBezTo>
                  <a:cubicBezTo>
                    <a:pt x="154" y="105"/>
                    <a:pt x="154" y="105"/>
                    <a:pt x="154" y="105"/>
                  </a:cubicBezTo>
                  <a:cubicBezTo>
                    <a:pt x="157" y="102"/>
                    <a:pt x="157" y="102"/>
                    <a:pt x="157" y="102"/>
                  </a:cubicBezTo>
                  <a:cubicBezTo>
                    <a:pt x="157" y="99"/>
                    <a:pt x="157" y="99"/>
                    <a:pt x="157" y="99"/>
                  </a:cubicBezTo>
                  <a:cubicBezTo>
                    <a:pt x="157" y="97"/>
                    <a:pt x="157" y="97"/>
                    <a:pt x="157" y="97"/>
                  </a:cubicBezTo>
                  <a:cubicBezTo>
                    <a:pt x="160" y="95"/>
                    <a:pt x="160" y="95"/>
                    <a:pt x="160" y="95"/>
                  </a:cubicBezTo>
                  <a:cubicBezTo>
                    <a:pt x="163" y="91"/>
                    <a:pt x="163" y="91"/>
                    <a:pt x="163" y="91"/>
                  </a:cubicBezTo>
                  <a:cubicBezTo>
                    <a:pt x="163" y="82"/>
                    <a:pt x="163" y="82"/>
                    <a:pt x="163" y="82"/>
                  </a:cubicBezTo>
                  <a:cubicBezTo>
                    <a:pt x="163" y="79"/>
                    <a:pt x="163" y="79"/>
                    <a:pt x="163" y="79"/>
                  </a:cubicBezTo>
                  <a:cubicBezTo>
                    <a:pt x="163" y="75"/>
                    <a:pt x="163" y="75"/>
                    <a:pt x="163" y="75"/>
                  </a:cubicBezTo>
                  <a:cubicBezTo>
                    <a:pt x="167" y="71"/>
                    <a:pt x="167" y="71"/>
                    <a:pt x="167" y="71"/>
                  </a:cubicBezTo>
                  <a:cubicBezTo>
                    <a:pt x="168" y="74"/>
                    <a:pt x="168" y="74"/>
                    <a:pt x="168" y="74"/>
                  </a:cubicBezTo>
                  <a:cubicBezTo>
                    <a:pt x="167" y="77"/>
                    <a:pt x="167" y="77"/>
                    <a:pt x="167" y="77"/>
                  </a:cubicBezTo>
                  <a:cubicBezTo>
                    <a:pt x="167" y="77"/>
                    <a:pt x="165" y="80"/>
                    <a:pt x="165" y="80"/>
                  </a:cubicBezTo>
                  <a:cubicBezTo>
                    <a:pt x="166" y="81"/>
                    <a:pt x="168" y="82"/>
                    <a:pt x="168" y="82"/>
                  </a:cubicBezTo>
                  <a:cubicBezTo>
                    <a:pt x="170" y="77"/>
                    <a:pt x="170" y="77"/>
                    <a:pt x="170" y="77"/>
                  </a:cubicBezTo>
                  <a:cubicBezTo>
                    <a:pt x="170" y="68"/>
                    <a:pt x="170" y="68"/>
                    <a:pt x="170" y="68"/>
                  </a:cubicBezTo>
                  <a:cubicBezTo>
                    <a:pt x="169" y="54"/>
                    <a:pt x="169" y="54"/>
                    <a:pt x="169" y="54"/>
                  </a:cubicBezTo>
                  <a:cubicBezTo>
                    <a:pt x="169" y="54"/>
                    <a:pt x="169" y="54"/>
                    <a:pt x="169" y="54"/>
                  </a:cubicBezTo>
                  <a:cubicBezTo>
                    <a:pt x="148" y="57"/>
                    <a:pt x="148" y="57"/>
                    <a:pt x="148" y="57"/>
                  </a:cubicBezTo>
                  <a:lnTo>
                    <a:pt x="134" y="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7" name="Freeform 44"/>
            <p:cNvSpPr>
              <a:spLocks/>
            </p:cNvSpPr>
            <p:nvPr/>
          </p:nvSpPr>
          <p:spPr bwMode="auto">
            <a:xfrm>
              <a:off x="7411350" y="2367189"/>
              <a:ext cx="249594" cy="246221"/>
            </a:xfrm>
            <a:custGeom>
              <a:avLst/>
              <a:gdLst>
                <a:gd name="T0" fmla="*/ 24 w 148"/>
                <a:gd name="T1" fmla="*/ 136 h 146"/>
                <a:gd name="T2" fmla="*/ 31 w 148"/>
                <a:gd name="T3" fmla="*/ 144 h 146"/>
                <a:gd name="T4" fmla="*/ 38 w 148"/>
                <a:gd name="T5" fmla="*/ 146 h 146"/>
                <a:gd name="T6" fmla="*/ 48 w 148"/>
                <a:gd name="T7" fmla="*/ 142 h 146"/>
                <a:gd name="T8" fmla="*/ 64 w 148"/>
                <a:gd name="T9" fmla="*/ 134 h 146"/>
                <a:gd name="T10" fmla="*/ 79 w 148"/>
                <a:gd name="T11" fmla="*/ 125 h 146"/>
                <a:gd name="T12" fmla="*/ 79 w 148"/>
                <a:gd name="T13" fmla="*/ 112 h 146"/>
                <a:gd name="T14" fmla="*/ 87 w 148"/>
                <a:gd name="T15" fmla="*/ 99 h 146"/>
                <a:gd name="T16" fmla="*/ 91 w 148"/>
                <a:gd name="T17" fmla="*/ 80 h 146"/>
                <a:gd name="T18" fmla="*/ 100 w 148"/>
                <a:gd name="T19" fmla="*/ 84 h 146"/>
                <a:gd name="T20" fmla="*/ 103 w 148"/>
                <a:gd name="T21" fmla="*/ 83 h 146"/>
                <a:gd name="T22" fmla="*/ 108 w 148"/>
                <a:gd name="T23" fmla="*/ 71 h 146"/>
                <a:gd name="T24" fmla="*/ 110 w 148"/>
                <a:gd name="T25" fmla="*/ 67 h 146"/>
                <a:gd name="T26" fmla="*/ 114 w 148"/>
                <a:gd name="T27" fmla="*/ 69 h 146"/>
                <a:gd name="T28" fmla="*/ 122 w 148"/>
                <a:gd name="T29" fmla="*/ 57 h 146"/>
                <a:gd name="T30" fmla="*/ 126 w 148"/>
                <a:gd name="T31" fmla="*/ 47 h 146"/>
                <a:gd name="T32" fmla="*/ 135 w 148"/>
                <a:gd name="T33" fmla="*/ 44 h 146"/>
                <a:gd name="T34" fmla="*/ 143 w 148"/>
                <a:gd name="T35" fmla="*/ 47 h 146"/>
                <a:gd name="T36" fmla="*/ 148 w 148"/>
                <a:gd name="T37" fmla="*/ 43 h 146"/>
                <a:gd name="T38" fmla="*/ 145 w 148"/>
                <a:gd name="T39" fmla="*/ 36 h 146"/>
                <a:gd name="T40" fmla="*/ 130 w 148"/>
                <a:gd name="T41" fmla="*/ 28 h 146"/>
                <a:gd name="T42" fmla="*/ 120 w 148"/>
                <a:gd name="T43" fmla="*/ 31 h 146"/>
                <a:gd name="T44" fmla="*/ 113 w 148"/>
                <a:gd name="T45" fmla="*/ 34 h 146"/>
                <a:gd name="T46" fmla="*/ 107 w 148"/>
                <a:gd name="T47" fmla="*/ 40 h 146"/>
                <a:gd name="T48" fmla="*/ 94 w 148"/>
                <a:gd name="T49" fmla="*/ 50 h 146"/>
                <a:gd name="T50" fmla="*/ 88 w 148"/>
                <a:gd name="T51" fmla="*/ 33 h 146"/>
                <a:gd name="T52" fmla="*/ 51 w 148"/>
                <a:gd name="T53" fmla="*/ 0 h 146"/>
                <a:gd name="T54" fmla="*/ 47 w 148"/>
                <a:gd name="T55" fmla="*/ 3 h 146"/>
                <a:gd name="T56" fmla="*/ 48 w 148"/>
                <a:gd name="T57" fmla="*/ 7 h 146"/>
                <a:gd name="T58" fmla="*/ 48 w 148"/>
                <a:gd name="T59" fmla="*/ 19 h 146"/>
                <a:gd name="T60" fmla="*/ 47 w 148"/>
                <a:gd name="T61" fmla="*/ 28 h 146"/>
                <a:gd name="T62" fmla="*/ 46 w 148"/>
                <a:gd name="T63" fmla="*/ 39 h 146"/>
                <a:gd name="T64" fmla="*/ 36 w 148"/>
                <a:gd name="T65" fmla="*/ 51 h 146"/>
                <a:gd name="T66" fmla="*/ 28 w 148"/>
                <a:gd name="T67" fmla="*/ 55 h 146"/>
                <a:gd name="T68" fmla="*/ 21 w 148"/>
                <a:gd name="T69" fmla="*/ 65 h 146"/>
                <a:gd name="T70" fmla="*/ 19 w 148"/>
                <a:gd name="T71" fmla="*/ 76 h 146"/>
                <a:gd name="T72" fmla="*/ 12 w 148"/>
                <a:gd name="T73" fmla="*/ 76 h 146"/>
                <a:gd name="T74" fmla="*/ 9 w 148"/>
                <a:gd name="T75" fmla="*/ 91 h 146"/>
                <a:gd name="T76" fmla="*/ 3 w 148"/>
                <a:gd name="T77" fmla="*/ 98 h 146"/>
                <a:gd name="T78" fmla="*/ 3 w 148"/>
                <a:gd name="T79" fmla="*/ 114 h 146"/>
                <a:gd name="T80" fmla="*/ 10 w 148"/>
                <a:gd name="T81" fmla="*/ 127 h 146"/>
                <a:gd name="T82" fmla="*/ 19 w 148"/>
                <a:gd name="T83" fmla="*/ 138 h 146"/>
                <a:gd name="T84" fmla="*/ 21 w 148"/>
                <a:gd name="T85" fmla="*/ 136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8" h="146">
                  <a:moveTo>
                    <a:pt x="21" y="136"/>
                  </a:moveTo>
                  <a:lnTo>
                    <a:pt x="24" y="136"/>
                  </a:lnTo>
                  <a:lnTo>
                    <a:pt x="25" y="139"/>
                  </a:lnTo>
                  <a:lnTo>
                    <a:pt x="31" y="144"/>
                  </a:lnTo>
                  <a:lnTo>
                    <a:pt x="36" y="146"/>
                  </a:lnTo>
                  <a:lnTo>
                    <a:pt x="38" y="146"/>
                  </a:lnTo>
                  <a:lnTo>
                    <a:pt x="44" y="139"/>
                  </a:lnTo>
                  <a:lnTo>
                    <a:pt x="48" y="142"/>
                  </a:lnTo>
                  <a:lnTo>
                    <a:pt x="57" y="140"/>
                  </a:lnTo>
                  <a:lnTo>
                    <a:pt x="64" y="134"/>
                  </a:lnTo>
                  <a:lnTo>
                    <a:pt x="75" y="128"/>
                  </a:lnTo>
                  <a:lnTo>
                    <a:pt x="79" y="125"/>
                  </a:lnTo>
                  <a:lnTo>
                    <a:pt x="78" y="117"/>
                  </a:lnTo>
                  <a:lnTo>
                    <a:pt x="79" y="112"/>
                  </a:lnTo>
                  <a:lnTo>
                    <a:pt x="84" y="107"/>
                  </a:lnTo>
                  <a:lnTo>
                    <a:pt x="87" y="99"/>
                  </a:lnTo>
                  <a:lnTo>
                    <a:pt x="90" y="87"/>
                  </a:lnTo>
                  <a:lnTo>
                    <a:pt x="91" y="80"/>
                  </a:lnTo>
                  <a:lnTo>
                    <a:pt x="95" y="82"/>
                  </a:lnTo>
                  <a:lnTo>
                    <a:pt x="100" y="84"/>
                  </a:lnTo>
                  <a:lnTo>
                    <a:pt x="102" y="85"/>
                  </a:lnTo>
                  <a:lnTo>
                    <a:pt x="103" y="83"/>
                  </a:lnTo>
                  <a:lnTo>
                    <a:pt x="106" y="75"/>
                  </a:lnTo>
                  <a:lnTo>
                    <a:pt x="108" y="71"/>
                  </a:lnTo>
                  <a:lnTo>
                    <a:pt x="109" y="67"/>
                  </a:lnTo>
                  <a:lnTo>
                    <a:pt x="110" y="67"/>
                  </a:lnTo>
                  <a:lnTo>
                    <a:pt x="113" y="67"/>
                  </a:lnTo>
                  <a:lnTo>
                    <a:pt x="114" y="69"/>
                  </a:lnTo>
                  <a:lnTo>
                    <a:pt x="119" y="60"/>
                  </a:lnTo>
                  <a:lnTo>
                    <a:pt x="122" y="57"/>
                  </a:lnTo>
                  <a:lnTo>
                    <a:pt x="124" y="54"/>
                  </a:lnTo>
                  <a:lnTo>
                    <a:pt x="126" y="47"/>
                  </a:lnTo>
                  <a:lnTo>
                    <a:pt x="126" y="39"/>
                  </a:lnTo>
                  <a:lnTo>
                    <a:pt x="135" y="44"/>
                  </a:lnTo>
                  <a:lnTo>
                    <a:pt x="141" y="47"/>
                  </a:lnTo>
                  <a:lnTo>
                    <a:pt x="143" y="47"/>
                  </a:lnTo>
                  <a:lnTo>
                    <a:pt x="146" y="44"/>
                  </a:lnTo>
                  <a:lnTo>
                    <a:pt x="148" y="43"/>
                  </a:lnTo>
                  <a:lnTo>
                    <a:pt x="147" y="43"/>
                  </a:lnTo>
                  <a:lnTo>
                    <a:pt x="145" y="36"/>
                  </a:lnTo>
                  <a:lnTo>
                    <a:pt x="141" y="31"/>
                  </a:lnTo>
                  <a:lnTo>
                    <a:pt x="130" y="28"/>
                  </a:lnTo>
                  <a:lnTo>
                    <a:pt x="123" y="31"/>
                  </a:lnTo>
                  <a:lnTo>
                    <a:pt x="120" y="31"/>
                  </a:lnTo>
                  <a:lnTo>
                    <a:pt x="114" y="35"/>
                  </a:lnTo>
                  <a:lnTo>
                    <a:pt x="113" y="34"/>
                  </a:lnTo>
                  <a:lnTo>
                    <a:pt x="112" y="34"/>
                  </a:lnTo>
                  <a:lnTo>
                    <a:pt x="107" y="40"/>
                  </a:lnTo>
                  <a:lnTo>
                    <a:pt x="102" y="40"/>
                  </a:lnTo>
                  <a:lnTo>
                    <a:pt x="94" y="50"/>
                  </a:lnTo>
                  <a:lnTo>
                    <a:pt x="91" y="50"/>
                  </a:lnTo>
                  <a:lnTo>
                    <a:pt x="88" y="33"/>
                  </a:lnTo>
                  <a:lnTo>
                    <a:pt x="57" y="39"/>
                  </a:lnTo>
                  <a:lnTo>
                    <a:pt x="51" y="0"/>
                  </a:lnTo>
                  <a:lnTo>
                    <a:pt x="48" y="0"/>
                  </a:lnTo>
                  <a:lnTo>
                    <a:pt x="47" y="3"/>
                  </a:lnTo>
                  <a:lnTo>
                    <a:pt x="48" y="6"/>
                  </a:lnTo>
                  <a:lnTo>
                    <a:pt x="48" y="7"/>
                  </a:lnTo>
                  <a:lnTo>
                    <a:pt x="48" y="15"/>
                  </a:lnTo>
                  <a:lnTo>
                    <a:pt x="48" y="19"/>
                  </a:lnTo>
                  <a:lnTo>
                    <a:pt x="47" y="22"/>
                  </a:lnTo>
                  <a:lnTo>
                    <a:pt x="47" y="28"/>
                  </a:lnTo>
                  <a:lnTo>
                    <a:pt x="46" y="36"/>
                  </a:lnTo>
                  <a:lnTo>
                    <a:pt x="46" y="39"/>
                  </a:lnTo>
                  <a:lnTo>
                    <a:pt x="44" y="44"/>
                  </a:lnTo>
                  <a:lnTo>
                    <a:pt x="36" y="51"/>
                  </a:lnTo>
                  <a:lnTo>
                    <a:pt x="33" y="55"/>
                  </a:lnTo>
                  <a:lnTo>
                    <a:pt x="28" y="55"/>
                  </a:lnTo>
                  <a:lnTo>
                    <a:pt x="24" y="61"/>
                  </a:lnTo>
                  <a:lnTo>
                    <a:pt x="21" y="65"/>
                  </a:lnTo>
                  <a:lnTo>
                    <a:pt x="20" y="75"/>
                  </a:lnTo>
                  <a:lnTo>
                    <a:pt x="19" y="76"/>
                  </a:lnTo>
                  <a:lnTo>
                    <a:pt x="15" y="73"/>
                  </a:lnTo>
                  <a:lnTo>
                    <a:pt x="12" y="76"/>
                  </a:lnTo>
                  <a:lnTo>
                    <a:pt x="9" y="87"/>
                  </a:lnTo>
                  <a:lnTo>
                    <a:pt x="9" y="91"/>
                  </a:lnTo>
                  <a:lnTo>
                    <a:pt x="7" y="94"/>
                  </a:lnTo>
                  <a:lnTo>
                    <a:pt x="3" y="98"/>
                  </a:lnTo>
                  <a:lnTo>
                    <a:pt x="0" y="101"/>
                  </a:lnTo>
                  <a:lnTo>
                    <a:pt x="3" y="114"/>
                  </a:lnTo>
                  <a:lnTo>
                    <a:pt x="5" y="120"/>
                  </a:lnTo>
                  <a:lnTo>
                    <a:pt x="10" y="127"/>
                  </a:lnTo>
                  <a:lnTo>
                    <a:pt x="15" y="132"/>
                  </a:lnTo>
                  <a:lnTo>
                    <a:pt x="19" y="138"/>
                  </a:lnTo>
                  <a:lnTo>
                    <a:pt x="20" y="138"/>
                  </a:lnTo>
                  <a:lnTo>
                    <a:pt x="21" y="136"/>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8" name="Freeform 45"/>
            <p:cNvSpPr>
              <a:spLocks/>
            </p:cNvSpPr>
            <p:nvPr/>
          </p:nvSpPr>
          <p:spPr bwMode="auto">
            <a:xfrm>
              <a:off x="7045393" y="2498731"/>
              <a:ext cx="398000" cy="205746"/>
            </a:xfrm>
            <a:custGeom>
              <a:avLst/>
              <a:gdLst>
                <a:gd name="T0" fmla="*/ 207 w 236"/>
                <a:gd name="T1" fmla="*/ 91 h 122"/>
                <a:gd name="T2" fmla="*/ 214 w 236"/>
                <a:gd name="T3" fmla="*/ 88 h 122"/>
                <a:gd name="T4" fmla="*/ 220 w 236"/>
                <a:gd name="T5" fmla="*/ 74 h 122"/>
                <a:gd name="T6" fmla="*/ 235 w 236"/>
                <a:gd name="T7" fmla="*/ 64 h 122"/>
                <a:gd name="T8" fmla="*/ 232 w 236"/>
                <a:gd name="T9" fmla="*/ 54 h 122"/>
                <a:gd name="T10" fmla="*/ 222 w 236"/>
                <a:gd name="T11" fmla="*/ 42 h 122"/>
                <a:gd name="T12" fmla="*/ 217 w 236"/>
                <a:gd name="T13" fmla="*/ 23 h 122"/>
                <a:gd name="T14" fmla="*/ 215 w 236"/>
                <a:gd name="T15" fmla="*/ 22 h 122"/>
                <a:gd name="T16" fmla="*/ 207 w 236"/>
                <a:gd name="T17" fmla="*/ 13 h 122"/>
                <a:gd name="T18" fmla="*/ 203 w 236"/>
                <a:gd name="T19" fmla="*/ 11 h 122"/>
                <a:gd name="T20" fmla="*/ 199 w 236"/>
                <a:gd name="T21" fmla="*/ 15 h 122"/>
                <a:gd name="T22" fmla="*/ 192 w 236"/>
                <a:gd name="T23" fmla="*/ 17 h 122"/>
                <a:gd name="T24" fmla="*/ 184 w 236"/>
                <a:gd name="T25" fmla="*/ 13 h 122"/>
                <a:gd name="T26" fmla="*/ 181 w 236"/>
                <a:gd name="T27" fmla="*/ 16 h 122"/>
                <a:gd name="T28" fmla="*/ 178 w 236"/>
                <a:gd name="T29" fmla="*/ 18 h 122"/>
                <a:gd name="T30" fmla="*/ 174 w 236"/>
                <a:gd name="T31" fmla="*/ 15 h 122"/>
                <a:gd name="T32" fmla="*/ 166 w 236"/>
                <a:gd name="T33" fmla="*/ 13 h 122"/>
                <a:gd name="T34" fmla="*/ 163 w 236"/>
                <a:gd name="T35" fmla="*/ 7 h 122"/>
                <a:gd name="T36" fmla="*/ 154 w 236"/>
                <a:gd name="T37" fmla="*/ 0 h 122"/>
                <a:gd name="T38" fmla="*/ 148 w 236"/>
                <a:gd name="T39" fmla="*/ 3 h 122"/>
                <a:gd name="T40" fmla="*/ 141 w 236"/>
                <a:gd name="T41" fmla="*/ 2 h 122"/>
                <a:gd name="T42" fmla="*/ 144 w 236"/>
                <a:gd name="T43" fmla="*/ 7 h 122"/>
                <a:gd name="T44" fmla="*/ 144 w 236"/>
                <a:gd name="T45" fmla="*/ 15 h 122"/>
                <a:gd name="T46" fmla="*/ 138 w 236"/>
                <a:gd name="T47" fmla="*/ 17 h 122"/>
                <a:gd name="T48" fmla="*/ 126 w 236"/>
                <a:gd name="T49" fmla="*/ 20 h 122"/>
                <a:gd name="T50" fmla="*/ 125 w 236"/>
                <a:gd name="T51" fmla="*/ 23 h 122"/>
                <a:gd name="T52" fmla="*/ 124 w 236"/>
                <a:gd name="T53" fmla="*/ 29 h 122"/>
                <a:gd name="T54" fmla="*/ 120 w 236"/>
                <a:gd name="T55" fmla="*/ 37 h 122"/>
                <a:gd name="T56" fmla="*/ 115 w 236"/>
                <a:gd name="T57" fmla="*/ 39 h 122"/>
                <a:gd name="T58" fmla="*/ 112 w 236"/>
                <a:gd name="T59" fmla="*/ 47 h 122"/>
                <a:gd name="T60" fmla="*/ 104 w 236"/>
                <a:gd name="T61" fmla="*/ 52 h 122"/>
                <a:gd name="T62" fmla="*/ 100 w 236"/>
                <a:gd name="T63" fmla="*/ 48 h 122"/>
                <a:gd name="T64" fmla="*/ 97 w 236"/>
                <a:gd name="T65" fmla="*/ 44 h 122"/>
                <a:gd name="T66" fmla="*/ 93 w 236"/>
                <a:gd name="T67" fmla="*/ 51 h 122"/>
                <a:gd name="T68" fmla="*/ 92 w 236"/>
                <a:gd name="T69" fmla="*/ 58 h 122"/>
                <a:gd name="T70" fmla="*/ 86 w 236"/>
                <a:gd name="T71" fmla="*/ 55 h 122"/>
                <a:gd name="T72" fmla="*/ 80 w 236"/>
                <a:gd name="T73" fmla="*/ 56 h 122"/>
                <a:gd name="T74" fmla="*/ 76 w 236"/>
                <a:gd name="T75" fmla="*/ 61 h 122"/>
                <a:gd name="T76" fmla="*/ 71 w 236"/>
                <a:gd name="T77" fmla="*/ 60 h 122"/>
                <a:gd name="T78" fmla="*/ 63 w 236"/>
                <a:gd name="T79" fmla="*/ 57 h 122"/>
                <a:gd name="T80" fmla="*/ 57 w 236"/>
                <a:gd name="T81" fmla="*/ 61 h 122"/>
                <a:gd name="T82" fmla="*/ 49 w 236"/>
                <a:gd name="T83" fmla="*/ 66 h 122"/>
                <a:gd name="T84" fmla="*/ 43 w 236"/>
                <a:gd name="T85" fmla="*/ 67 h 122"/>
                <a:gd name="T86" fmla="*/ 43 w 236"/>
                <a:gd name="T87" fmla="*/ 72 h 122"/>
                <a:gd name="T88" fmla="*/ 44 w 236"/>
                <a:gd name="T89" fmla="*/ 78 h 122"/>
                <a:gd name="T90" fmla="*/ 36 w 236"/>
                <a:gd name="T91" fmla="*/ 81 h 122"/>
                <a:gd name="T92" fmla="*/ 33 w 236"/>
                <a:gd name="T93" fmla="*/ 88 h 122"/>
                <a:gd name="T94" fmla="*/ 33 w 236"/>
                <a:gd name="T95" fmla="*/ 94 h 122"/>
                <a:gd name="T96" fmla="*/ 27 w 236"/>
                <a:gd name="T97" fmla="*/ 94 h 122"/>
                <a:gd name="T98" fmla="*/ 19 w 236"/>
                <a:gd name="T99" fmla="*/ 89 h 122"/>
                <a:gd name="T100" fmla="*/ 14 w 236"/>
                <a:gd name="T101" fmla="*/ 93 h 122"/>
                <a:gd name="T102" fmla="*/ 10 w 236"/>
                <a:gd name="T103" fmla="*/ 97 h 122"/>
                <a:gd name="T104" fmla="*/ 14 w 236"/>
                <a:gd name="T105" fmla="*/ 102 h 122"/>
                <a:gd name="T106" fmla="*/ 14 w 236"/>
                <a:gd name="T107" fmla="*/ 107 h 122"/>
                <a:gd name="T108" fmla="*/ 12 w 236"/>
                <a:gd name="T109" fmla="*/ 115 h 122"/>
                <a:gd name="T110" fmla="*/ 7 w 236"/>
                <a:gd name="T111" fmla="*/ 116 h 122"/>
                <a:gd name="T112" fmla="*/ 5 w 236"/>
                <a:gd name="T113" fmla="*/ 117 h 122"/>
                <a:gd name="T114" fmla="*/ 0 w 236"/>
                <a:gd name="T115" fmla="*/ 117 h 122"/>
                <a:gd name="T116" fmla="*/ 0 w 236"/>
                <a:gd name="T117" fmla="*/ 121 h 122"/>
                <a:gd name="T118" fmla="*/ 2 w 236"/>
                <a:gd name="T119" fmla="*/ 121 h 122"/>
                <a:gd name="T120" fmla="*/ 50 w 236"/>
                <a:gd name="T121" fmla="*/ 111 h 122"/>
                <a:gd name="T122" fmla="*/ 192 w 236"/>
                <a:gd name="T123" fmla="*/ 100 h 122"/>
                <a:gd name="T124" fmla="*/ 202 w 236"/>
                <a:gd name="T125" fmla="*/ 94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6" h="122">
                  <a:moveTo>
                    <a:pt x="202" y="94"/>
                  </a:moveTo>
                  <a:lnTo>
                    <a:pt x="207" y="91"/>
                  </a:lnTo>
                  <a:lnTo>
                    <a:pt x="210" y="89"/>
                  </a:lnTo>
                  <a:lnTo>
                    <a:pt x="214" y="88"/>
                  </a:lnTo>
                  <a:lnTo>
                    <a:pt x="217" y="79"/>
                  </a:lnTo>
                  <a:lnTo>
                    <a:pt x="220" y="74"/>
                  </a:lnTo>
                  <a:lnTo>
                    <a:pt x="231" y="70"/>
                  </a:lnTo>
                  <a:lnTo>
                    <a:pt x="235" y="64"/>
                  </a:lnTo>
                  <a:lnTo>
                    <a:pt x="236" y="60"/>
                  </a:lnTo>
                  <a:lnTo>
                    <a:pt x="232" y="54"/>
                  </a:lnTo>
                  <a:lnTo>
                    <a:pt x="227" y="49"/>
                  </a:lnTo>
                  <a:lnTo>
                    <a:pt x="222" y="42"/>
                  </a:lnTo>
                  <a:lnTo>
                    <a:pt x="220" y="36"/>
                  </a:lnTo>
                  <a:lnTo>
                    <a:pt x="217" y="23"/>
                  </a:lnTo>
                  <a:lnTo>
                    <a:pt x="218" y="22"/>
                  </a:lnTo>
                  <a:lnTo>
                    <a:pt x="215" y="22"/>
                  </a:lnTo>
                  <a:lnTo>
                    <a:pt x="211" y="18"/>
                  </a:lnTo>
                  <a:lnTo>
                    <a:pt x="207" y="13"/>
                  </a:lnTo>
                  <a:lnTo>
                    <a:pt x="204" y="10"/>
                  </a:lnTo>
                  <a:lnTo>
                    <a:pt x="203" y="11"/>
                  </a:lnTo>
                  <a:lnTo>
                    <a:pt x="201" y="12"/>
                  </a:lnTo>
                  <a:lnTo>
                    <a:pt x="199" y="15"/>
                  </a:lnTo>
                  <a:lnTo>
                    <a:pt x="198" y="16"/>
                  </a:lnTo>
                  <a:lnTo>
                    <a:pt x="192" y="17"/>
                  </a:lnTo>
                  <a:lnTo>
                    <a:pt x="187" y="15"/>
                  </a:lnTo>
                  <a:lnTo>
                    <a:pt x="184" y="13"/>
                  </a:lnTo>
                  <a:lnTo>
                    <a:pt x="183" y="14"/>
                  </a:lnTo>
                  <a:lnTo>
                    <a:pt x="181" y="16"/>
                  </a:lnTo>
                  <a:lnTo>
                    <a:pt x="181" y="17"/>
                  </a:lnTo>
                  <a:lnTo>
                    <a:pt x="178" y="18"/>
                  </a:lnTo>
                  <a:lnTo>
                    <a:pt x="176" y="16"/>
                  </a:lnTo>
                  <a:lnTo>
                    <a:pt x="174" y="15"/>
                  </a:lnTo>
                  <a:lnTo>
                    <a:pt x="171" y="14"/>
                  </a:lnTo>
                  <a:lnTo>
                    <a:pt x="166" y="13"/>
                  </a:lnTo>
                  <a:lnTo>
                    <a:pt x="165" y="11"/>
                  </a:lnTo>
                  <a:lnTo>
                    <a:pt x="163" y="7"/>
                  </a:lnTo>
                  <a:lnTo>
                    <a:pt x="159" y="4"/>
                  </a:lnTo>
                  <a:lnTo>
                    <a:pt x="154" y="0"/>
                  </a:lnTo>
                  <a:lnTo>
                    <a:pt x="153" y="1"/>
                  </a:lnTo>
                  <a:lnTo>
                    <a:pt x="148" y="3"/>
                  </a:lnTo>
                  <a:lnTo>
                    <a:pt x="143" y="1"/>
                  </a:lnTo>
                  <a:lnTo>
                    <a:pt x="141" y="2"/>
                  </a:lnTo>
                  <a:lnTo>
                    <a:pt x="142" y="6"/>
                  </a:lnTo>
                  <a:lnTo>
                    <a:pt x="144" y="7"/>
                  </a:lnTo>
                  <a:lnTo>
                    <a:pt x="143" y="9"/>
                  </a:lnTo>
                  <a:lnTo>
                    <a:pt x="144" y="15"/>
                  </a:lnTo>
                  <a:lnTo>
                    <a:pt x="142" y="17"/>
                  </a:lnTo>
                  <a:lnTo>
                    <a:pt x="138" y="17"/>
                  </a:lnTo>
                  <a:lnTo>
                    <a:pt x="134" y="19"/>
                  </a:lnTo>
                  <a:lnTo>
                    <a:pt x="126" y="20"/>
                  </a:lnTo>
                  <a:lnTo>
                    <a:pt x="125" y="21"/>
                  </a:lnTo>
                  <a:lnTo>
                    <a:pt x="125" y="23"/>
                  </a:lnTo>
                  <a:lnTo>
                    <a:pt x="124" y="25"/>
                  </a:lnTo>
                  <a:lnTo>
                    <a:pt x="124" y="29"/>
                  </a:lnTo>
                  <a:lnTo>
                    <a:pt x="122" y="33"/>
                  </a:lnTo>
                  <a:lnTo>
                    <a:pt x="120" y="37"/>
                  </a:lnTo>
                  <a:lnTo>
                    <a:pt x="118" y="39"/>
                  </a:lnTo>
                  <a:lnTo>
                    <a:pt x="115" y="39"/>
                  </a:lnTo>
                  <a:lnTo>
                    <a:pt x="112" y="44"/>
                  </a:lnTo>
                  <a:lnTo>
                    <a:pt x="112" y="47"/>
                  </a:lnTo>
                  <a:lnTo>
                    <a:pt x="110" y="51"/>
                  </a:lnTo>
                  <a:lnTo>
                    <a:pt x="104" y="52"/>
                  </a:lnTo>
                  <a:lnTo>
                    <a:pt x="103" y="51"/>
                  </a:lnTo>
                  <a:lnTo>
                    <a:pt x="100" y="48"/>
                  </a:lnTo>
                  <a:lnTo>
                    <a:pt x="99" y="44"/>
                  </a:lnTo>
                  <a:lnTo>
                    <a:pt x="97" y="44"/>
                  </a:lnTo>
                  <a:lnTo>
                    <a:pt x="96" y="48"/>
                  </a:lnTo>
                  <a:lnTo>
                    <a:pt x="93" y="51"/>
                  </a:lnTo>
                  <a:lnTo>
                    <a:pt x="93" y="55"/>
                  </a:lnTo>
                  <a:lnTo>
                    <a:pt x="92" y="58"/>
                  </a:lnTo>
                  <a:lnTo>
                    <a:pt x="88" y="57"/>
                  </a:lnTo>
                  <a:lnTo>
                    <a:pt x="86" y="55"/>
                  </a:lnTo>
                  <a:lnTo>
                    <a:pt x="82" y="55"/>
                  </a:lnTo>
                  <a:lnTo>
                    <a:pt x="80" y="56"/>
                  </a:lnTo>
                  <a:lnTo>
                    <a:pt x="76" y="57"/>
                  </a:lnTo>
                  <a:lnTo>
                    <a:pt x="76" y="61"/>
                  </a:lnTo>
                  <a:lnTo>
                    <a:pt x="75" y="62"/>
                  </a:lnTo>
                  <a:lnTo>
                    <a:pt x="71" y="60"/>
                  </a:lnTo>
                  <a:lnTo>
                    <a:pt x="68" y="57"/>
                  </a:lnTo>
                  <a:lnTo>
                    <a:pt x="63" y="57"/>
                  </a:lnTo>
                  <a:lnTo>
                    <a:pt x="60" y="57"/>
                  </a:lnTo>
                  <a:lnTo>
                    <a:pt x="57" y="61"/>
                  </a:lnTo>
                  <a:lnTo>
                    <a:pt x="49" y="61"/>
                  </a:lnTo>
                  <a:lnTo>
                    <a:pt x="49" y="66"/>
                  </a:lnTo>
                  <a:lnTo>
                    <a:pt x="46" y="66"/>
                  </a:lnTo>
                  <a:lnTo>
                    <a:pt x="43" y="67"/>
                  </a:lnTo>
                  <a:lnTo>
                    <a:pt x="43" y="71"/>
                  </a:lnTo>
                  <a:lnTo>
                    <a:pt x="43" y="72"/>
                  </a:lnTo>
                  <a:lnTo>
                    <a:pt x="43" y="75"/>
                  </a:lnTo>
                  <a:lnTo>
                    <a:pt x="44" y="78"/>
                  </a:lnTo>
                  <a:lnTo>
                    <a:pt x="42" y="79"/>
                  </a:lnTo>
                  <a:lnTo>
                    <a:pt x="36" y="81"/>
                  </a:lnTo>
                  <a:lnTo>
                    <a:pt x="33" y="83"/>
                  </a:lnTo>
                  <a:lnTo>
                    <a:pt x="33" y="88"/>
                  </a:lnTo>
                  <a:lnTo>
                    <a:pt x="35" y="93"/>
                  </a:lnTo>
                  <a:lnTo>
                    <a:pt x="33" y="94"/>
                  </a:lnTo>
                  <a:lnTo>
                    <a:pt x="30" y="94"/>
                  </a:lnTo>
                  <a:lnTo>
                    <a:pt x="27" y="94"/>
                  </a:lnTo>
                  <a:lnTo>
                    <a:pt x="23" y="91"/>
                  </a:lnTo>
                  <a:lnTo>
                    <a:pt x="19" y="89"/>
                  </a:lnTo>
                  <a:lnTo>
                    <a:pt x="17" y="90"/>
                  </a:lnTo>
                  <a:lnTo>
                    <a:pt x="14" y="93"/>
                  </a:lnTo>
                  <a:lnTo>
                    <a:pt x="11" y="94"/>
                  </a:lnTo>
                  <a:lnTo>
                    <a:pt x="10" y="97"/>
                  </a:lnTo>
                  <a:lnTo>
                    <a:pt x="10" y="100"/>
                  </a:lnTo>
                  <a:lnTo>
                    <a:pt x="14" y="102"/>
                  </a:lnTo>
                  <a:lnTo>
                    <a:pt x="14" y="104"/>
                  </a:lnTo>
                  <a:lnTo>
                    <a:pt x="14" y="107"/>
                  </a:lnTo>
                  <a:lnTo>
                    <a:pt x="14" y="112"/>
                  </a:lnTo>
                  <a:lnTo>
                    <a:pt x="12" y="115"/>
                  </a:lnTo>
                  <a:lnTo>
                    <a:pt x="10" y="116"/>
                  </a:lnTo>
                  <a:lnTo>
                    <a:pt x="7" y="116"/>
                  </a:lnTo>
                  <a:lnTo>
                    <a:pt x="5" y="117"/>
                  </a:lnTo>
                  <a:lnTo>
                    <a:pt x="5" y="117"/>
                  </a:lnTo>
                  <a:lnTo>
                    <a:pt x="4" y="117"/>
                  </a:lnTo>
                  <a:lnTo>
                    <a:pt x="0" y="117"/>
                  </a:lnTo>
                  <a:lnTo>
                    <a:pt x="0" y="118"/>
                  </a:lnTo>
                  <a:lnTo>
                    <a:pt x="0" y="121"/>
                  </a:lnTo>
                  <a:lnTo>
                    <a:pt x="0" y="122"/>
                  </a:lnTo>
                  <a:lnTo>
                    <a:pt x="2" y="121"/>
                  </a:lnTo>
                  <a:lnTo>
                    <a:pt x="52" y="120"/>
                  </a:lnTo>
                  <a:lnTo>
                    <a:pt x="50" y="111"/>
                  </a:lnTo>
                  <a:lnTo>
                    <a:pt x="143" y="105"/>
                  </a:lnTo>
                  <a:lnTo>
                    <a:pt x="192" y="100"/>
                  </a:lnTo>
                  <a:lnTo>
                    <a:pt x="198" y="97"/>
                  </a:lnTo>
                  <a:lnTo>
                    <a:pt x="202" y="94"/>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9" name="Freeform 46"/>
            <p:cNvSpPr>
              <a:spLocks/>
            </p:cNvSpPr>
            <p:nvPr/>
          </p:nvSpPr>
          <p:spPr bwMode="auto">
            <a:xfrm>
              <a:off x="6706417" y="2426214"/>
              <a:ext cx="362585" cy="315365"/>
            </a:xfrm>
            <a:custGeom>
              <a:avLst/>
              <a:gdLst>
                <a:gd name="T0" fmla="*/ 238 w 254"/>
                <a:gd name="T1" fmla="*/ 190 h 221"/>
                <a:gd name="T2" fmla="*/ 242 w 254"/>
                <a:gd name="T3" fmla="*/ 189 h 221"/>
                <a:gd name="T4" fmla="*/ 244 w 254"/>
                <a:gd name="T5" fmla="*/ 188 h 221"/>
                <a:gd name="T6" fmla="*/ 249 w 254"/>
                <a:gd name="T7" fmla="*/ 187 h 221"/>
                <a:gd name="T8" fmla="*/ 254 w 254"/>
                <a:gd name="T9" fmla="*/ 183 h 221"/>
                <a:gd name="T10" fmla="*/ 254 w 254"/>
                <a:gd name="T11" fmla="*/ 173 h 221"/>
                <a:gd name="T12" fmla="*/ 250 w 254"/>
                <a:gd name="T13" fmla="*/ 168 h 221"/>
                <a:gd name="T14" fmla="*/ 251 w 254"/>
                <a:gd name="T15" fmla="*/ 161 h 221"/>
                <a:gd name="T16" fmla="*/ 243 w 254"/>
                <a:gd name="T17" fmla="*/ 166 h 221"/>
                <a:gd name="T18" fmla="*/ 238 w 254"/>
                <a:gd name="T19" fmla="*/ 156 h 221"/>
                <a:gd name="T20" fmla="*/ 240 w 254"/>
                <a:gd name="T21" fmla="*/ 146 h 221"/>
                <a:gd name="T22" fmla="*/ 232 w 254"/>
                <a:gd name="T23" fmla="*/ 131 h 221"/>
                <a:gd name="T24" fmla="*/ 216 w 254"/>
                <a:gd name="T25" fmla="*/ 124 h 221"/>
                <a:gd name="T26" fmla="*/ 202 w 254"/>
                <a:gd name="T27" fmla="*/ 112 h 221"/>
                <a:gd name="T28" fmla="*/ 204 w 254"/>
                <a:gd name="T29" fmla="*/ 100 h 221"/>
                <a:gd name="T30" fmla="*/ 206 w 254"/>
                <a:gd name="T31" fmla="*/ 91 h 221"/>
                <a:gd name="T32" fmla="*/ 206 w 254"/>
                <a:gd name="T33" fmla="*/ 80 h 221"/>
                <a:gd name="T34" fmla="*/ 196 w 254"/>
                <a:gd name="T35" fmla="*/ 76 h 221"/>
                <a:gd name="T36" fmla="*/ 191 w 254"/>
                <a:gd name="T37" fmla="*/ 81 h 221"/>
                <a:gd name="T38" fmla="*/ 186 w 254"/>
                <a:gd name="T39" fmla="*/ 67 h 221"/>
                <a:gd name="T40" fmla="*/ 163 w 254"/>
                <a:gd name="T41" fmla="*/ 45 h 221"/>
                <a:gd name="T42" fmla="*/ 156 w 254"/>
                <a:gd name="T43" fmla="*/ 22 h 221"/>
                <a:gd name="T44" fmla="*/ 158 w 254"/>
                <a:gd name="T45" fmla="*/ 10 h 221"/>
                <a:gd name="T46" fmla="*/ 0 w 254"/>
                <a:gd name="T47" fmla="*/ 2 h 221"/>
                <a:gd name="T48" fmla="*/ 4 w 254"/>
                <a:gd name="T49" fmla="*/ 6 h 221"/>
                <a:gd name="T50" fmla="*/ 3 w 254"/>
                <a:gd name="T51" fmla="*/ 13 h 221"/>
                <a:gd name="T52" fmla="*/ 5 w 254"/>
                <a:gd name="T53" fmla="*/ 17 h 221"/>
                <a:gd name="T54" fmla="*/ 12 w 254"/>
                <a:gd name="T55" fmla="*/ 25 h 221"/>
                <a:gd name="T56" fmla="*/ 14 w 254"/>
                <a:gd name="T57" fmla="*/ 29 h 221"/>
                <a:gd name="T58" fmla="*/ 20 w 254"/>
                <a:gd name="T59" fmla="*/ 39 h 221"/>
                <a:gd name="T60" fmla="*/ 31 w 254"/>
                <a:gd name="T61" fmla="*/ 39 h 221"/>
                <a:gd name="T62" fmla="*/ 28 w 254"/>
                <a:gd name="T63" fmla="*/ 50 h 221"/>
                <a:gd name="T64" fmla="*/ 31 w 254"/>
                <a:gd name="T65" fmla="*/ 61 h 221"/>
                <a:gd name="T66" fmla="*/ 36 w 254"/>
                <a:gd name="T67" fmla="*/ 69 h 221"/>
                <a:gd name="T68" fmla="*/ 42 w 254"/>
                <a:gd name="T69" fmla="*/ 176 h 221"/>
                <a:gd name="T70" fmla="*/ 215 w 254"/>
                <a:gd name="T71" fmla="*/ 197 h 221"/>
                <a:gd name="T72" fmla="*/ 205 w 254"/>
                <a:gd name="T73" fmla="*/ 221 h 221"/>
                <a:gd name="T74" fmla="*/ 234 w 254"/>
                <a:gd name="T75" fmla="*/ 216 h 221"/>
                <a:gd name="T76" fmla="*/ 237 w 254"/>
                <a:gd name="T77" fmla="*/ 211 h 221"/>
                <a:gd name="T78" fmla="*/ 234 w 254"/>
                <a:gd name="T79" fmla="*/ 206 h 221"/>
                <a:gd name="T80" fmla="*/ 237 w 254"/>
                <a:gd name="T81" fmla="*/ 203 h 221"/>
                <a:gd name="T82" fmla="*/ 238 w 254"/>
                <a:gd name="T83" fmla="*/ 197 h 221"/>
                <a:gd name="T84" fmla="*/ 238 w 254"/>
                <a:gd name="T85" fmla="*/ 193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4" h="221">
                  <a:moveTo>
                    <a:pt x="238" y="193"/>
                  </a:moveTo>
                  <a:cubicBezTo>
                    <a:pt x="238" y="190"/>
                    <a:pt x="238" y="190"/>
                    <a:pt x="238" y="190"/>
                  </a:cubicBezTo>
                  <a:cubicBezTo>
                    <a:pt x="238" y="189"/>
                    <a:pt x="238" y="189"/>
                    <a:pt x="238" y="189"/>
                  </a:cubicBezTo>
                  <a:cubicBezTo>
                    <a:pt x="242" y="189"/>
                    <a:pt x="242" y="189"/>
                    <a:pt x="242" y="189"/>
                  </a:cubicBezTo>
                  <a:cubicBezTo>
                    <a:pt x="243" y="189"/>
                    <a:pt x="243" y="189"/>
                    <a:pt x="243" y="189"/>
                  </a:cubicBezTo>
                  <a:cubicBezTo>
                    <a:pt x="244" y="188"/>
                    <a:pt x="244" y="188"/>
                    <a:pt x="244" y="188"/>
                  </a:cubicBezTo>
                  <a:cubicBezTo>
                    <a:pt x="246" y="187"/>
                    <a:pt x="246" y="187"/>
                    <a:pt x="246" y="187"/>
                  </a:cubicBezTo>
                  <a:cubicBezTo>
                    <a:pt x="249" y="187"/>
                    <a:pt x="249" y="187"/>
                    <a:pt x="249" y="187"/>
                  </a:cubicBezTo>
                  <a:cubicBezTo>
                    <a:pt x="252" y="186"/>
                    <a:pt x="252" y="186"/>
                    <a:pt x="252" y="186"/>
                  </a:cubicBezTo>
                  <a:cubicBezTo>
                    <a:pt x="254" y="183"/>
                    <a:pt x="254" y="183"/>
                    <a:pt x="254" y="183"/>
                  </a:cubicBezTo>
                  <a:cubicBezTo>
                    <a:pt x="254" y="177"/>
                    <a:pt x="254" y="177"/>
                    <a:pt x="254" y="177"/>
                  </a:cubicBezTo>
                  <a:cubicBezTo>
                    <a:pt x="254" y="173"/>
                    <a:pt x="254" y="173"/>
                    <a:pt x="254" y="173"/>
                  </a:cubicBezTo>
                  <a:cubicBezTo>
                    <a:pt x="254" y="171"/>
                    <a:pt x="254" y="171"/>
                    <a:pt x="254" y="171"/>
                  </a:cubicBezTo>
                  <a:cubicBezTo>
                    <a:pt x="250" y="168"/>
                    <a:pt x="250" y="168"/>
                    <a:pt x="250" y="168"/>
                  </a:cubicBezTo>
                  <a:cubicBezTo>
                    <a:pt x="250" y="165"/>
                    <a:pt x="250" y="165"/>
                    <a:pt x="250" y="165"/>
                  </a:cubicBezTo>
                  <a:cubicBezTo>
                    <a:pt x="251" y="161"/>
                    <a:pt x="251" y="161"/>
                    <a:pt x="251" y="161"/>
                  </a:cubicBezTo>
                  <a:cubicBezTo>
                    <a:pt x="246" y="161"/>
                    <a:pt x="246" y="161"/>
                    <a:pt x="246" y="161"/>
                  </a:cubicBezTo>
                  <a:cubicBezTo>
                    <a:pt x="243" y="166"/>
                    <a:pt x="243" y="166"/>
                    <a:pt x="243" y="166"/>
                  </a:cubicBezTo>
                  <a:cubicBezTo>
                    <a:pt x="243" y="161"/>
                    <a:pt x="243" y="161"/>
                    <a:pt x="243" y="161"/>
                  </a:cubicBezTo>
                  <a:cubicBezTo>
                    <a:pt x="238" y="156"/>
                    <a:pt x="238" y="156"/>
                    <a:pt x="238" y="156"/>
                  </a:cubicBezTo>
                  <a:cubicBezTo>
                    <a:pt x="239" y="152"/>
                    <a:pt x="239" y="152"/>
                    <a:pt x="239" y="152"/>
                  </a:cubicBezTo>
                  <a:cubicBezTo>
                    <a:pt x="240" y="146"/>
                    <a:pt x="240" y="146"/>
                    <a:pt x="240" y="146"/>
                  </a:cubicBezTo>
                  <a:cubicBezTo>
                    <a:pt x="236" y="135"/>
                    <a:pt x="236" y="135"/>
                    <a:pt x="236" y="135"/>
                  </a:cubicBezTo>
                  <a:cubicBezTo>
                    <a:pt x="232" y="131"/>
                    <a:pt x="232" y="131"/>
                    <a:pt x="232" y="131"/>
                  </a:cubicBezTo>
                  <a:cubicBezTo>
                    <a:pt x="219" y="122"/>
                    <a:pt x="219" y="122"/>
                    <a:pt x="219" y="122"/>
                  </a:cubicBezTo>
                  <a:cubicBezTo>
                    <a:pt x="216" y="124"/>
                    <a:pt x="216" y="124"/>
                    <a:pt x="216" y="124"/>
                  </a:cubicBezTo>
                  <a:cubicBezTo>
                    <a:pt x="208" y="118"/>
                    <a:pt x="208" y="118"/>
                    <a:pt x="208" y="118"/>
                  </a:cubicBezTo>
                  <a:cubicBezTo>
                    <a:pt x="202" y="112"/>
                    <a:pt x="202" y="112"/>
                    <a:pt x="202" y="112"/>
                  </a:cubicBezTo>
                  <a:cubicBezTo>
                    <a:pt x="202" y="106"/>
                    <a:pt x="202" y="106"/>
                    <a:pt x="202" y="106"/>
                  </a:cubicBezTo>
                  <a:cubicBezTo>
                    <a:pt x="204" y="100"/>
                    <a:pt x="204" y="100"/>
                    <a:pt x="204" y="100"/>
                  </a:cubicBezTo>
                  <a:cubicBezTo>
                    <a:pt x="205" y="96"/>
                    <a:pt x="205" y="96"/>
                    <a:pt x="205" y="96"/>
                  </a:cubicBezTo>
                  <a:cubicBezTo>
                    <a:pt x="206" y="91"/>
                    <a:pt x="206" y="91"/>
                    <a:pt x="206" y="91"/>
                  </a:cubicBezTo>
                  <a:cubicBezTo>
                    <a:pt x="209" y="84"/>
                    <a:pt x="209" y="84"/>
                    <a:pt x="209" y="84"/>
                  </a:cubicBezTo>
                  <a:cubicBezTo>
                    <a:pt x="206" y="80"/>
                    <a:pt x="206" y="80"/>
                    <a:pt x="206" y="80"/>
                  </a:cubicBezTo>
                  <a:cubicBezTo>
                    <a:pt x="202" y="76"/>
                    <a:pt x="202" y="76"/>
                    <a:pt x="202" y="76"/>
                  </a:cubicBezTo>
                  <a:cubicBezTo>
                    <a:pt x="196" y="76"/>
                    <a:pt x="196" y="76"/>
                    <a:pt x="196" y="76"/>
                  </a:cubicBezTo>
                  <a:cubicBezTo>
                    <a:pt x="193" y="78"/>
                    <a:pt x="193" y="78"/>
                    <a:pt x="193" y="78"/>
                  </a:cubicBezTo>
                  <a:cubicBezTo>
                    <a:pt x="191" y="81"/>
                    <a:pt x="191" y="81"/>
                    <a:pt x="191" y="81"/>
                  </a:cubicBezTo>
                  <a:cubicBezTo>
                    <a:pt x="186" y="76"/>
                    <a:pt x="186" y="76"/>
                    <a:pt x="186" y="76"/>
                  </a:cubicBezTo>
                  <a:cubicBezTo>
                    <a:pt x="186" y="67"/>
                    <a:pt x="186" y="67"/>
                    <a:pt x="186" y="67"/>
                  </a:cubicBezTo>
                  <a:cubicBezTo>
                    <a:pt x="181" y="60"/>
                    <a:pt x="181" y="60"/>
                    <a:pt x="181" y="60"/>
                  </a:cubicBezTo>
                  <a:cubicBezTo>
                    <a:pt x="163" y="45"/>
                    <a:pt x="163" y="45"/>
                    <a:pt x="163" y="45"/>
                  </a:cubicBezTo>
                  <a:cubicBezTo>
                    <a:pt x="156" y="33"/>
                    <a:pt x="156" y="33"/>
                    <a:pt x="156" y="33"/>
                  </a:cubicBezTo>
                  <a:cubicBezTo>
                    <a:pt x="156" y="22"/>
                    <a:pt x="156" y="22"/>
                    <a:pt x="156" y="22"/>
                  </a:cubicBezTo>
                  <a:cubicBezTo>
                    <a:pt x="156" y="11"/>
                    <a:pt x="156" y="11"/>
                    <a:pt x="156" y="11"/>
                  </a:cubicBezTo>
                  <a:cubicBezTo>
                    <a:pt x="158" y="10"/>
                    <a:pt x="158" y="10"/>
                    <a:pt x="158" y="10"/>
                  </a:cubicBezTo>
                  <a:cubicBezTo>
                    <a:pt x="146" y="0"/>
                    <a:pt x="146" y="0"/>
                    <a:pt x="146" y="0"/>
                  </a:cubicBezTo>
                  <a:cubicBezTo>
                    <a:pt x="0" y="2"/>
                    <a:pt x="0" y="2"/>
                    <a:pt x="0" y="2"/>
                  </a:cubicBezTo>
                  <a:cubicBezTo>
                    <a:pt x="1" y="4"/>
                    <a:pt x="1" y="4"/>
                    <a:pt x="1" y="4"/>
                  </a:cubicBezTo>
                  <a:cubicBezTo>
                    <a:pt x="4" y="6"/>
                    <a:pt x="4" y="6"/>
                    <a:pt x="4" y="6"/>
                  </a:cubicBezTo>
                  <a:cubicBezTo>
                    <a:pt x="5" y="11"/>
                    <a:pt x="5" y="11"/>
                    <a:pt x="5" y="11"/>
                  </a:cubicBezTo>
                  <a:cubicBezTo>
                    <a:pt x="3" y="13"/>
                    <a:pt x="3" y="13"/>
                    <a:pt x="3" y="13"/>
                  </a:cubicBezTo>
                  <a:cubicBezTo>
                    <a:pt x="5" y="16"/>
                    <a:pt x="5" y="16"/>
                    <a:pt x="5" y="16"/>
                  </a:cubicBezTo>
                  <a:cubicBezTo>
                    <a:pt x="5" y="16"/>
                    <a:pt x="4" y="16"/>
                    <a:pt x="5" y="17"/>
                  </a:cubicBezTo>
                  <a:cubicBezTo>
                    <a:pt x="6" y="18"/>
                    <a:pt x="11" y="19"/>
                    <a:pt x="11" y="19"/>
                  </a:cubicBezTo>
                  <a:cubicBezTo>
                    <a:pt x="12" y="25"/>
                    <a:pt x="12" y="25"/>
                    <a:pt x="12" y="25"/>
                  </a:cubicBezTo>
                  <a:cubicBezTo>
                    <a:pt x="14" y="29"/>
                    <a:pt x="14" y="29"/>
                    <a:pt x="14" y="29"/>
                  </a:cubicBezTo>
                  <a:cubicBezTo>
                    <a:pt x="14" y="29"/>
                    <a:pt x="14" y="29"/>
                    <a:pt x="14" y="29"/>
                  </a:cubicBezTo>
                  <a:cubicBezTo>
                    <a:pt x="18" y="35"/>
                    <a:pt x="18" y="35"/>
                    <a:pt x="18" y="35"/>
                  </a:cubicBezTo>
                  <a:cubicBezTo>
                    <a:pt x="20" y="39"/>
                    <a:pt x="20" y="39"/>
                    <a:pt x="20" y="39"/>
                  </a:cubicBezTo>
                  <a:cubicBezTo>
                    <a:pt x="29" y="39"/>
                    <a:pt x="29" y="39"/>
                    <a:pt x="29" y="39"/>
                  </a:cubicBezTo>
                  <a:cubicBezTo>
                    <a:pt x="31" y="39"/>
                    <a:pt x="31" y="39"/>
                    <a:pt x="31" y="39"/>
                  </a:cubicBezTo>
                  <a:cubicBezTo>
                    <a:pt x="31" y="44"/>
                    <a:pt x="31" y="44"/>
                    <a:pt x="31" y="44"/>
                  </a:cubicBezTo>
                  <a:cubicBezTo>
                    <a:pt x="28" y="50"/>
                    <a:pt x="28" y="50"/>
                    <a:pt x="28" y="50"/>
                  </a:cubicBezTo>
                  <a:cubicBezTo>
                    <a:pt x="25" y="55"/>
                    <a:pt x="25" y="55"/>
                    <a:pt x="25" y="55"/>
                  </a:cubicBezTo>
                  <a:cubicBezTo>
                    <a:pt x="31" y="61"/>
                    <a:pt x="31" y="61"/>
                    <a:pt x="31" y="61"/>
                  </a:cubicBezTo>
                  <a:cubicBezTo>
                    <a:pt x="33" y="67"/>
                    <a:pt x="33" y="67"/>
                    <a:pt x="33" y="67"/>
                  </a:cubicBezTo>
                  <a:cubicBezTo>
                    <a:pt x="36" y="69"/>
                    <a:pt x="36" y="69"/>
                    <a:pt x="36" y="69"/>
                  </a:cubicBezTo>
                  <a:cubicBezTo>
                    <a:pt x="42" y="72"/>
                    <a:pt x="42" y="72"/>
                    <a:pt x="42" y="72"/>
                  </a:cubicBezTo>
                  <a:cubicBezTo>
                    <a:pt x="42" y="176"/>
                    <a:pt x="42" y="176"/>
                    <a:pt x="42" y="176"/>
                  </a:cubicBezTo>
                  <a:cubicBezTo>
                    <a:pt x="42" y="201"/>
                    <a:pt x="42" y="201"/>
                    <a:pt x="42" y="201"/>
                  </a:cubicBezTo>
                  <a:cubicBezTo>
                    <a:pt x="215" y="197"/>
                    <a:pt x="215" y="197"/>
                    <a:pt x="215" y="197"/>
                  </a:cubicBezTo>
                  <a:cubicBezTo>
                    <a:pt x="216" y="203"/>
                    <a:pt x="216" y="203"/>
                    <a:pt x="216" y="203"/>
                  </a:cubicBezTo>
                  <a:cubicBezTo>
                    <a:pt x="205" y="221"/>
                    <a:pt x="205" y="221"/>
                    <a:pt x="205" y="221"/>
                  </a:cubicBezTo>
                  <a:cubicBezTo>
                    <a:pt x="233" y="219"/>
                    <a:pt x="233" y="219"/>
                    <a:pt x="233" y="219"/>
                  </a:cubicBezTo>
                  <a:cubicBezTo>
                    <a:pt x="234" y="216"/>
                    <a:pt x="234" y="216"/>
                    <a:pt x="234" y="216"/>
                  </a:cubicBezTo>
                  <a:cubicBezTo>
                    <a:pt x="236" y="213"/>
                    <a:pt x="236" y="213"/>
                    <a:pt x="236" y="213"/>
                  </a:cubicBezTo>
                  <a:cubicBezTo>
                    <a:pt x="236" y="213"/>
                    <a:pt x="238" y="212"/>
                    <a:pt x="237" y="211"/>
                  </a:cubicBezTo>
                  <a:cubicBezTo>
                    <a:pt x="237" y="210"/>
                    <a:pt x="235" y="207"/>
                    <a:pt x="235" y="207"/>
                  </a:cubicBezTo>
                  <a:cubicBezTo>
                    <a:pt x="234" y="206"/>
                    <a:pt x="234" y="206"/>
                    <a:pt x="234" y="206"/>
                  </a:cubicBezTo>
                  <a:cubicBezTo>
                    <a:pt x="235" y="204"/>
                    <a:pt x="235" y="204"/>
                    <a:pt x="235" y="204"/>
                  </a:cubicBezTo>
                  <a:cubicBezTo>
                    <a:pt x="237" y="203"/>
                    <a:pt x="237" y="203"/>
                    <a:pt x="237" y="203"/>
                  </a:cubicBezTo>
                  <a:cubicBezTo>
                    <a:pt x="238" y="200"/>
                    <a:pt x="238" y="200"/>
                    <a:pt x="238" y="200"/>
                  </a:cubicBezTo>
                  <a:cubicBezTo>
                    <a:pt x="238" y="197"/>
                    <a:pt x="238" y="197"/>
                    <a:pt x="238" y="197"/>
                  </a:cubicBezTo>
                  <a:cubicBezTo>
                    <a:pt x="238" y="194"/>
                    <a:pt x="238" y="194"/>
                    <a:pt x="238" y="194"/>
                  </a:cubicBezTo>
                  <a:lnTo>
                    <a:pt x="238" y="193"/>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0" name="Freeform 47"/>
            <p:cNvSpPr>
              <a:spLocks/>
            </p:cNvSpPr>
            <p:nvPr/>
          </p:nvSpPr>
          <p:spPr bwMode="auto">
            <a:xfrm>
              <a:off x="6642332" y="1820781"/>
              <a:ext cx="350780" cy="408119"/>
            </a:xfrm>
            <a:custGeom>
              <a:avLst/>
              <a:gdLst>
                <a:gd name="T0" fmla="*/ 139 w 208"/>
                <a:gd name="T1" fmla="*/ 135 h 242"/>
                <a:gd name="T2" fmla="*/ 144 w 208"/>
                <a:gd name="T3" fmla="*/ 107 h 242"/>
                <a:gd name="T4" fmla="*/ 169 w 208"/>
                <a:gd name="T5" fmla="*/ 80 h 242"/>
                <a:gd name="T6" fmla="*/ 208 w 208"/>
                <a:gd name="T7" fmla="*/ 55 h 242"/>
                <a:gd name="T8" fmla="*/ 183 w 208"/>
                <a:gd name="T9" fmla="*/ 52 h 242"/>
                <a:gd name="T10" fmla="*/ 166 w 208"/>
                <a:gd name="T11" fmla="*/ 52 h 242"/>
                <a:gd name="T12" fmla="*/ 154 w 208"/>
                <a:gd name="T13" fmla="*/ 55 h 242"/>
                <a:gd name="T14" fmla="*/ 147 w 208"/>
                <a:gd name="T15" fmla="*/ 48 h 242"/>
                <a:gd name="T16" fmla="*/ 133 w 208"/>
                <a:gd name="T17" fmla="*/ 45 h 242"/>
                <a:gd name="T18" fmla="*/ 128 w 208"/>
                <a:gd name="T19" fmla="*/ 42 h 242"/>
                <a:gd name="T20" fmla="*/ 114 w 208"/>
                <a:gd name="T21" fmla="*/ 36 h 242"/>
                <a:gd name="T22" fmla="*/ 123 w 208"/>
                <a:gd name="T23" fmla="*/ 36 h 242"/>
                <a:gd name="T24" fmla="*/ 114 w 208"/>
                <a:gd name="T25" fmla="*/ 35 h 242"/>
                <a:gd name="T26" fmla="*/ 105 w 208"/>
                <a:gd name="T27" fmla="*/ 35 h 242"/>
                <a:gd name="T28" fmla="*/ 97 w 208"/>
                <a:gd name="T29" fmla="*/ 39 h 242"/>
                <a:gd name="T30" fmla="*/ 87 w 208"/>
                <a:gd name="T31" fmla="*/ 34 h 242"/>
                <a:gd name="T32" fmla="*/ 80 w 208"/>
                <a:gd name="T33" fmla="*/ 34 h 242"/>
                <a:gd name="T34" fmla="*/ 68 w 208"/>
                <a:gd name="T35" fmla="*/ 24 h 242"/>
                <a:gd name="T36" fmla="*/ 66 w 208"/>
                <a:gd name="T37" fmla="*/ 20 h 242"/>
                <a:gd name="T38" fmla="*/ 58 w 208"/>
                <a:gd name="T39" fmla="*/ 20 h 242"/>
                <a:gd name="T40" fmla="*/ 54 w 208"/>
                <a:gd name="T41" fmla="*/ 16 h 242"/>
                <a:gd name="T42" fmla="*/ 58 w 208"/>
                <a:gd name="T43" fmla="*/ 8 h 242"/>
                <a:gd name="T44" fmla="*/ 60 w 208"/>
                <a:gd name="T45" fmla="*/ 2 h 242"/>
                <a:gd name="T46" fmla="*/ 56 w 208"/>
                <a:gd name="T47" fmla="*/ 0 h 242"/>
                <a:gd name="T48" fmla="*/ 54 w 208"/>
                <a:gd name="T49" fmla="*/ 12 h 242"/>
                <a:gd name="T50" fmla="*/ 0 w 208"/>
                <a:gd name="T51" fmla="*/ 16 h 242"/>
                <a:gd name="T52" fmla="*/ 1 w 208"/>
                <a:gd name="T53" fmla="*/ 23 h 242"/>
                <a:gd name="T54" fmla="*/ 4 w 208"/>
                <a:gd name="T55" fmla="*/ 26 h 242"/>
                <a:gd name="T56" fmla="*/ 3 w 208"/>
                <a:gd name="T57" fmla="*/ 31 h 242"/>
                <a:gd name="T58" fmla="*/ 1 w 208"/>
                <a:gd name="T59" fmla="*/ 34 h 242"/>
                <a:gd name="T60" fmla="*/ 2 w 208"/>
                <a:gd name="T61" fmla="*/ 40 h 242"/>
                <a:gd name="T62" fmla="*/ 1 w 208"/>
                <a:gd name="T63" fmla="*/ 51 h 242"/>
                <a:gd name="T64" fmla="*/ 6 w 208"/>
                <a:gd name="T65" fmla="*/ 64 h 242"/>
                <a:gd name="T66" fmla="*/ 9 w 208"/>
                <a:gd name="T67" fmla="*/ 78 h 242"/>
                <a:gd name="T68" fmla="*/ 10 w 208"/>
                <a:gd name="T69" fmla="*/ 104 h 242"/>
                <a:gd name="T70" fmla="*/ 12 w 208"/>
                <a:gd name="T71" fmla="*/ 114 h 242"/>
                <a:gd name="T72" fmla="*/ 12 w 208"/>
                <a:gd name="T73" fmla="*/ 122 h 242"/>
                <a:gd name="T74" fmla="*/ 17 w 208"/>
                <a:gd name="T75" fmla="*/ 127 h 242"/>
                <a:gd name="T76" fmla="*/ 18 w 208"/>
                <a:gd name="T77" fmla="*/ 136 h 242"/>
                <a:gd name="T78" fmla="*/ 16 w 208"/>
                <a:gd name="T79" fmla="*/ 142 h 242"/>
                <a:gd name="T80" fmla="*/ 17 w 208"/>
                <a:gd name="T81" fmla="*/ 144 h 242"/>
                <a:gd name="T82" fmla="*/ 11 w 208"/>
                <a:gd name="T83" fmla="*/ 150 h 242"/>
                <a:gd name="T84" fmla="*/ 8 w 208"/>
                <a:gd name="T85" fmla="*/ 154 h 242"/>
                <a:gd name="T86" fmla="*/ 9 w 208"/>
                <a:gd name="T87" fmla="*/ 158 h 242"/>
                <a:gd name="T88" fmla="*/ 12 w 208"/>
                <a:gd name="T89" fmla="*/ 163 h 242"/>
                <a:gd name="T90" fmla="*/ 18 w 208"/>
                <a:gd name="T91" fmla="*/ 167 h 242"/>
                <a:gd name="T92" fmla="*/ 18 w 208"/>
                <a:gd name="T93" fmla="*/ 242 h 242"/>
                <a:gd name="T94" fmla="*/ 173 w 208"/>
                <a:gd name="T95" fmla="*/ 233 h 242"/>
                <a:gd name="T96" fmla="*/ 166 w 208"/>
                <a:gd name="T97" fmla="*/ 220 h 242"/>
                <a:gd name="T98" fmla="*/ 157 w 208"/>
                <a:gd name="T99" fmla="*/ 213 h 242"/>
                <a:gd name="T100" fmla="*/ 138 w 208"/>
                <a:gd name="T101" fmla="*/ 197 h 242"/>
                <a:gd name="T102" fmla="*/ 125 w 208"/>
                <a:gd name="T103" fmla="*/ 189 h 242"/>
                <a:gd name="T104" fmla="*/ 128 w 208"/>
                <a:gd name="T105" fmla="*/ 159 h 242"/>
                <a:gd name="T106" fmla="*/ 122 w 208"/>
                <a:gd name="T107" fmla="*/ 154 h 242"/>
                <a:gd name="T108" fmla="*/ 128 w 208"/>
                <a:gd name="T109" fmla="*/ 14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8" h="242">
                  <a:moveTo>
                    <a:pt x="128" y="141"/>
                  </a:moveTo>
                  <a:lnTo>
                    <a:pt x="139" y="135"/>
                  </a:lnTo>
                  <a:lnTo>
                    <a:pt x="139" y="111"/>
                  </a:lnTo>
                  <a:lnTo>
                    <a:pt x="144" y="107"/>
                  </a:lnTo>
                  <a:lnTo>
                    <a:pt x="161" y="91"/>
                  </a:lnTo>
                  <a:lnTo>
                    <a:pt x="169" y="80"/>
                  </a:lnTo>
                  <a:lnTo>
                    <a:pt x="185" y="69"/>
                  </a:lnTo>
                  <a:lnTo>
                    <a:pt x="208" y="55"/>
                  </a:lnTo>
                  <a:lnTo>
                    <a:pt x="200" y="53"/>
                  </a:lnTo>
                  <a:lnTo>
                    <a:pt x="183" y="52"/>
                  </a:lnTo>
                  <a:lnTo>
                    <a:pt x="169" y="49"/>
                  </a:lnTo>
                  <a:lnTo>
                    <a:pt x="166" y="52"/>
                  </a:lnTo>
                  <a:lnTo>
                    <a:pt x="162" y="55"/>
                  </a:lnTo>
                  <a:lnTo>
                    <a:pt x="154" y="55"/>
                  </a:lnTo>
                  <a:lnTo>
                    <a:pt x="151" y="51"/>
                  </a:lnTo>
                  <a:lnTo>
                    <a:pt x="147" y="48"/>
                  </a:lnTo>
                  <a:lnTo>
                    <a:pt x="136" y="45"/>
                  </a:lnTo>
                  <a:lnTo>
                    <a:pt x="133" y="45"/>
                  </a:lnTo>
                  <a:lnTo>
                    <a:pt x="129" y="43"/>
                  </a:lnTo>
                  <a:lnTo>
                    <a:pt x="128" y="42"/>
                  </a:lnTo>
                  <a:lnTo>
                    <a:pt x="119" y="41"/>
                  </a:lnTo>
                  <a:lnTo>
                    <a:pt x="114" y="36"/>
                  </a:lnTo>
                  <a:lnTo>
                    <a:pt x="120" y="39"/>
                  </a:lnTo>
                  <a:lnTo>
                    <a:pt x="123" y="36"/>
                  </a:lnTo>
                  <a:lnTo>
                    <a:pt x="119" y="35"/>
                  </a:lnTo>
                  <a:lnTo>
                    <a:pt x="114" y="35"/>
                  </a:lnTo>
                  <a:lnTo>
                    <a:pt x="109" y="35"/>
                  </a:lnTo>
                  <a:lnTo>
                    <a:pt x="105" y="35"/>
                  </a:lnTo>
                  <a:lnTo>
                    <a:pt x="100" y="35"/>
                  </a:lnTo>
                  <a:lnTo>
                    <a:pt x="97" y="39"/>
                  </a:lnTo>
                  <a:lnTo>
                    <a:pt x="93" y="39"/>
                  </a:lnTo>
                  <a:lnTo>
                    <a:pt x="87" y="34"/>
                  </a:lnTo>
                  <a:lnTo>
                    <a:pt x="84" y="34"/>
                  </a:lnTo>
                  <a:lnTo>
                    <a:pt x="80" y="34"/>
                  </a:lnTo>
                  <a:lnTo>
                    <a:pt x="73" y="32"/>
                  </a:lnTo>
                  <a:lnTo>
                    <a:pt x="68" y="24"/>
                  </a:lnTo>
                  <a:lnTo>
                    <a:pt x="68" y="24"/>
                  </a:lnTo>
                  <a:lnTo>
                    <a:pt x="66" y="20"/>
                  </a:lnTo>
                  <a:lnTo>
                    <a:pt x="62" y="20"/>
                  </a:lnTo>
                  <a:lnTo>
                    <a:pt x="58" y="20"/>
                  </a:lnTo>
                  <a:lnTo>
                    <a:pt x="55" y="20"/>
                  </a:lnTo>
                  <a:lnTo>
                    <a:pt x="54" y="16"/>
                  </a:lnTo>
                  <a:lnTo>
                    <a:pt x="57" y="12"/>
                  </a:lnTo>
                  <a:lnTo>
                    <a:pt x="58" y="8"/>
                  </a:lnTo>
                  <a:lnTo>
                    <a:pt x="62" y="5"/>
                  </a:lnTo>
                  <a:lnTo>
                    <a:pt x="60" y="2"/>
                  </a:lnTo>
                  <a:lnTo>
                    <a:pt x="60" y="2"/>
                  </a:lnTo>
                  <a:lnTo>
                    <a:pt x="56" y="0"/>
                  </a:lnTo>
                  <a:lnTo>
                    <a:pt x="56" y="10"/>
                  </a:lnTo>
                  <a:lnTo>
                    <a:pt x="54" y="12"/>
                  </a:lnTo>
                  <a:lnTo>
                    <a:pt x="52" y="16"/>
                  </a:lnTo>
                  <a:lnTo>
                    <a:pt x="0" y="16"/>
                  </a:lnTo>
                  <a:lnTo>
                    <a:pt x="1" y="20"/>
                  </a:lnTo>
                  <a:lnTo>
                    <a:pt x="1" y="23"/>
                  </a:lnTo>
                  <a:lnTo>
                    <a:pt x="1" y="24"/>
                  </a:lnTo>
                  <a:lnTo>
                    <a:pt x="4" y="26"/>
                  </a:lnTo>
                  <a:lnTo>
                    <a:pt x="4" y="30"/>
                  </a:lnTo>
                  <a:lnTo>
                    <a:pt x="3" y="31"/>
                  </a:lnTo>
                  <a:lnTo>
                    <a:pt x="1" y="33"/>
                  </a:lnTo>
                  <a:lnTo>
                    <a:pt x="1" y="34"/>
                  </a:lnTo>
                  <a:lnTo>
                    <a:pt x="1" y="38"/>
                  </a:lnTo>
                  <a:lnTo>
                    <a:pt x="2" y="40"/>
                  </a:lnTo>
                  <a:lnTo>
                    <a:pt x="3" y="45"/>
                  </a:lnTo>
                  <a:lnTo>
                    <a:pt x="1" y="51"/>
                  </a:lnTo>
                  <a:lnTo>
                    <a:pt x="3" y="56"/>
                  </a:lnTo>
                  <a:lnTo>
                    <a:pt x="6" y="64"/>
                  </a:lnTo>
                  <a:lnTo>
                    <a:pt x="9" y="70"/>
                  </a:lnTo>
                  <a:lnTo>
                    <a:pt x="9" y="78"/>
                  </a:lnTo>
                  <a:lnTo>
                    <a:pt x="10" y="92"/>
                  </a:lnTo>
                  <a:lnTo>
                    <a:pt x="10" y="104"/>
                  </a:lnTo>
                  <a:lnTo>
                    <a:pt x="10" y="112"/>
                  </a:lnTo>
                  <a:lnTo>
                    <a:pt x="12" y="114"/>
                  </a:lnTo>
                  <a:lnTo>
                    <a:pt x="12" y="116"/>
                  </a:lnTo>
                  <a:lnTo>
                    <a:pt x="12" y="122"/>
                  </a:lnTo>
                  <a:lnTo>
                    <a:pt x="15" y="124"/>
                  </a:lnTo>
                  <a:lnTo>
                    <a:pt x="17" y="127"/>
                  </a:lnTo>
                  <a:lnTo>
                    <a:pt x="18" y="132"/>
                  </a:lnTo>
                  <a:lnTo>
                    <a:pt x="18" y="136"/>
                  </a:lnTo>
                  <a:lnTo>
                    <a:pt x="18" y="141"/>
                  </a:lnTo>
                  <a:lnTo>
                    <a:pt x="16" y="142"/>
                  </a:lnTo>
                  <a:lnTo>
                    <a:pt x="16" y="142"/>
                  </a:lnTo>
                  <a:lnTo>
                    <a:pt x="17" y="144"/>
                  </a:lnTo>
                  <a:lnTo>
                    <a:pt x="13" y="147"/>
                  </a:lnTo>
                  <a:lnTo>
                    <a:pt x="11" y="150"/>
                  </a:lnTo>
                  <a:lnTo>
                    <a:pt x="8" y="152"/>
                  </a:lnTo>
                  <a:lnTo>
                    <a:pt x="8" y="154"/>
                  </a:lnTo>
                  <a:lnTo>
                    <a:pt x="8" y="156"/>
                  </a:lnTo>
                  <a:lnTo>
                    <a:pt x="9" y="158"/>
                  </a:lnTo>
                  <a:lnTo>
                    <a:pt x="12" y="160"/>
                  </a:lnTo>
                  <a:lnTo>
                    <a:pt x="12" y="163"/>
                  </a:lnTo>
                  <a:lnTo>
                    <a:pt x="17" y="164"/>
                  </a:lnTo>
                  <a:lnTo>
                    <a:pt x="18" y="167"/>
                  </a:lnTo>
                  <a:lnTo>
                    <a:pt x="21" y="169"/>
                  </a:lnTo>
                  <a:lnTo>
                    <a:pt x="18" y="242"/>
                  </a:lnTo>
                  <a:lnTo>
                    <a:pt x="172" y="239"/>
                  </a:lnTo>
                  <a:lnTo>
                    <a:pt x="173" y="233"/>
                  </a:lnTo>
                  <a:lnTo>
                    <a:pt x="172" y="227"/>
                  </a:lnTo>
                  <a:lnTo>
                    <a:pt x="166" y="220"/>
                  </a:lnTo>
                  <a:lnTo>
                    <a:pt x="160" y="216"/>
                  </a:lnTo>
                  <a:lnTo>
                    <a:pt x="157" y="213"/>
                  </a:lnTo>
                  <a:lnTo>
                    <a:pt x="150" y="204"/>
                  </a:lnTo>
                  <a:lnTo>
                    <a:pt x="138" y="197"/>
                  </a:lnTo>
                  <a:lnTo>
                    <a:pt x="130" y="193"/>
                  </a:lnTo>
                  <a:lnTo>
                    <a:pt x="125" y="189"/>
                  </a:lnTo>
                  <a:lnTo>
                    <a:pt x="126" y="174"/>
                  </a:lnTo>
                  <a:lnTo>
                    <a:pt x="128" y="159"/>
                  </a:lnTo>
                  <a:lnTo>
                    <a:pt x="126" y="159"/>
                  </a:lnTo>
                  <a:lnTo>
                    <a:pt x="122" y="154"/>
                  </a:lnTo>
                  <a:lnTo>
                    <a:pt x="126" y="145"/>
                  </a:lnTo>
                  <a:lnTo>
                    <a:pt x="128" y="141"/>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1" name="Line 48"/>
            <p:cNvSpPr>
              <a:spLocks noChangeShapeType="1"/>
            </p:cNvSpPr>
            <p:nvPr/>
          </p:nvSpPr>
          <p:spPr bwMode="auto">
            <a:xfrm>
              <a:off x="6881808" y="2014722"/>
              <a:ext cx="0" cy="0"/>
            </a:xfrm>
            <a:prstGeom prst="line">
              <a:avLst/>
            </a:prstGeom>
            <a:grpFill/>
            <a:ln w="6350">
              <a:solidFill>
                <a:schemeClr val="bg1"/>
              </a:solidFill>
              <a:round/>
              <a:headEnd/>
              <a:tailEnd/>
            </a:ln>
          </p:spPr>
          <p:txBody>
            <a:bodyPr/>
            <a:lstStyle/>
            <a:p>
              <a:pPr defTabSz="1828272">
                <a:defRPr/>
              </a:pPr>
              <a:endParaRPr lang="en-US"/>
            </a:p>
          </p:txBody>
        </p:sp>
        <p:sp>
          <p:nvSpPr>
            <p:cNvPr id="222" name="Line 49"/>
            <p:cNvSpPr>
              <a:spLocks noChangeShapeType="1"/>
            </p:cNvSpPr>
            <p:nvPr/>
          </p:nvSpPr>
          <p:spPr bwMode="auto">
            <a:xfrm>
              <a:off x="6881808" y="2014722"/>
              <a:ext cx="0" cy="0"/>
            </a:xfrm>
            <a:prstGeom prst="line">
              <a:avLst/>
            </a:prstGeom>
            <a:grpFill/>
            <a:ln w="6350" cap="flat">
              <a:solidFill>
                <a:schemeClr val="bg1"/>
              </a:solidFill>
              <a:prstDash val="solid"/>
              <a:miter lim="800000"/>
              <a:headEnd/>
              <a:tailEnd/>
            </a:ln>
          </p:spPr>
          <p:txBody>
            <a:bodyPr/>
            <a:lstStyle/>
            <a:p>
              <a:pPr defTabSz="1828272">
                <a:defRPr/>
              </a:pPr>
              <a:endParaRPr lang="en-US"/>
            </a:p>
          </p:txBody>
        </p:sp>
        <p:sp>
          <p:nvSpPr>
            <p:cNvPr id="223" name="Freeform 50"/>
            <p:cNvSpPr>
              <a:spLocks/>
            </p:cNvSpPr>
            <p:nvPr/>
          </p:nvSpPr>
          <p:spPr bwMode="auto">
            <a:xfrm>
              <a:off x="6964444" y="1940519"/>
              <a:ext cx="409805" cy="386196"/>
            </a:xfrm>
            <a:custGeom>
              <a:avLst/>
              <a:gdLst>
                <a:gd name="T0" fmla="*/ 12 w 287"/>
                <a:gd name="T1" fmla="*/ 44 h 270"/>
                <a:gd name="T2" fmla="*/ 29 w 287"/>
                <a:gd name="T3" fmla="*/ 36 h 270"/>
                <a:gd name="T4" fmla="*/ 52 w 287"/>
                <a:gd name="T5" fmla="*/ 17 h 270"/>
                <a:gd name="T6" fmla="*/ 77 w 287"/>
                <a:gd name="T7" fmla="*/ 0 h 270"/>
                <a:gd name="T8" fmla="*/ 75 w 287"/>
                <a:gd name="T9" fmla="*/ 6 h 270"/>
                <a:gd name="T10" fmla="*/ 65 w 287"/>
                <a:gd name="T11" fmla="*/ 19 h 270"/>
                <a:gd name="T12" fmla="*/ 67 w 287"/>
                <a:gd name="T13" fmla="*/ 29 h 270"/>
                <a:gd name="T14" fmla="*/ 77 w 287"/>
                <a:gd name="T15" fmla="*/ 28 h 270"/>
                <a:gd name="T16" fmla="*/ 111 w 287"/>
                <a:gd name="T17" fmla="*/ 45 h 270"/>
                <a:gd name="T18" fmla="*/ 135 w 287"/>
                <a:gd name="T19" fmla="*/ 39 h 270"/>
                <a:gd name="T20" fmla="*/ 169 w 287"/>
                <a:gd name="T21" fmla="*/ 28 h 270"/>
                <a:gd name="T22" fmla="*/ 198 w 287"/>
                <a:gd name="T23" fmla="*/ 38 h 270"/>
                <a:gd name="T24" fmla="*/ 217 w 287"/>
                <a:gd name="T25" fmla="*/ 55 h 270"/>
                <a:gd name="T26" fmla="*/ 232 w 287"/>
                <a:gd name="T27" fmla="*/ 56 h 270"/>
                <a:gd name="T28" fmla="*/ 219 w 287"/>
                <a:gd name="T29" fmla="*/ 62 h 270"/>
                <a:gd name="T30" fmla="*/ 193 w 287"/>
                <a:gd name="T31" fmla="*/ 64 h 270"/>
                <a:gd name="T32" fmla="*/ 201 w 287"/>
                <a:gd name="T33" fmla="*/ 74 h 270"/>
                <a:gd name="T34" fmla="*/ 204 w 287"/>
                <a:gd name="T35" fmla="*/ 75 h 270"/>
                <a:gd name="T36" fmla="*/ 234 w 287"/>
                <a:gd name="T37" fmla="*/ 88 h 270"/>
                <a:gd name="T38" fmla="*/ 246 w 287"/>
                <a:gd name="T39" fmla="*/ 109 h 270"/>
                <a:gd name="T40" fmla="*/ 245 w 287"/>
                <a:gd name="T41" fmla="*/ 141 h 270"/>
                <a:gd name="T42" fmla="*/ 233 w 287"/>
                <a:gd name="T43" fmla="*/ 168 h 270"/>
                <a:gd name="T44" fmla="*/ 246 w 287"/>
                <a:gd name="T45" fmla="*/ 166 h 270"/>
                <a:gd name="T46" fmla="*/ 255 w 287"/>
                <a:gd name="T47" fmla="*/ 153 h 270"/>
                <a:gd name="T48" fmla="*/ 275 w 287"/>
                <a:gd name="T49" fmla="*/ 154 h 270"/>
                <a:gd name="T50" fmla="*/ 287 w 287"/>
                <a:gd name="T51" fmla="*/ 197 h 270"/>
                <a:gd name="T52" fmla="*/ 275 w 287"/>
                <a:gd name="T53" fmla="*/ 220 h 270"/>
                <a:gd name="T54" fmla="*/ 266 w 287"/>
                <a:gd name="T55" fmla="*/ 249 h 270"/>
                <a:gd name="T56" fmla="*/ 141 w 287"/>
                <a:gd name="T57" fmla="*/ 270 h 270"/>
                <a:gd name="T58" fmla="*/ 158 w 287"/>
                <a:gd name="T59" fmla="*/ 235 h 270"/>
                <a:gd name="T60" fmla="*/ 145 w 287"/>
                <a:gd name="T61" fmla="*/ 191 h 270"/>
                <a:gd name="T62" fmla="*/ 144 w 287"/>
                <a:gd name="T63" fmla="*/ 165 h 270"/>
                <a:gd name="T64" fmla="*/ 148 w 287"/>
                <a:gd name="T65" fmla="*/ 147 h 270"/>
                <a:gd name="T66" fmla="*/ 153 w 287"/>
                <a:gd name="T67" fmla="*/ 122 h 270"/>
                <a:gd name="T68" fmla="*/ 166 w 287"/>
                <a:gd name="T69" fmla="*/ 106 h 270"/>
                <a:gd name="T70" fmla="*/ 169 w 287"/>
                <a:gd name="T71" fmla="*/ 122 h 270"/>
                <a:gd name="T72" fmla="*/ 175 w 287"/>
                <a:gd name="T73" fmla="*/ 111 h 270"/>
                <a:gd name="T74" fmla="*/ 180 w 287"/>
                <a:gd name="T75" fmla="*/ 94 h 270"/>
                <a:gd name="T76" fmla="*/ 184 w 287"/>
                <a:gd name="T77" fmla="*/ 81 h 270"/>
                <a:gd name="T78" fmla="*/ 189 w 287"/>
                <a:gd name="T79" fmla="*/ 74 h 270"/>
                <a:gd name="T80" fmla="*/ 187 w 287"/>
                <a:gd name="T81" fmla="*/ 65 h 270"/>
                <a:gd name="T82" fmla="*/ 159 w 287"/>
                <a:gd name="T83" fmla="*/ 68 h 270"/>
                <a:gd name="T84" fmla="*/ 129 w 287"/>
                <a:gd name="T85" fmla="*/ 85 h 270"/>
                <a:gd name="T86" fmla="*/ 127 w 287"/>
                <a:gd name="T87" fmla="*/ 76 h 270"/>
                <a:gd name="T88" fmla="*/ 118 w 287"/>
                <a:gd name="T89" fmla="*/ 75 h 270"/>
                <a:gd name="T90" fmla="*/ 107 w 287"/>
                <a:gd name="T91" fmla="*/ 101 h 270"/>
                <a:gd name="T92" fmla="*/ 95 w 287"/>
                <a:gd name="T93" fmla="*/ 100 h 270"/>
                <a:gd name="T94" fmla="*/ 84 w 287"/>
                <a:gd name="T95" fmla="*/ 81 h 270"/>
                <a:gd name="T96" fmla="*/ 58 w 287"/>
                <a:gd name="T97" fmla="*/ 74 h 270"/>
                <a:gd name="T98" fmla="*/ 29 w 287"/>
                <a:gd name="T99" fmla="*/ 65 h 270"/>
                <a:gd name="T100" fmla="*/ 9 w 287"/>
                <a:gd name="T101" fmla="*/ 57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87" h="270">
                  <a:moveTo>
                    <a:pt x="0" y="51"/>
                  </a:moveTo>
                  <a:cubicBezTo>
                    <a:pt x="2" y="49"/>
                    <a:pt x="2" y="49"/>
                    <a:pt x="2" y="49"/>
                  </a:cubicBezTo>
                  <a:cubicBezTo>
                    <a:pt x="6" y="49"/>
                    <a:pt x="6" y="49"/>
                    <a:pt x="6" y="49"/>
                  </a:cubicBezTo>
                  <a:cubicBezTo>
                    <a:pt x="11" y="46"/>
                    <a:pt x="11" y="46"/>
                    <a:pt x="11" y="46"/>
                  </a:cubicBezTo>
                  <a:cubicBezTo>
                    <a:pt x="12" y="44"/>
                    <a:pt x="12" y="44"/>
                    <a:pt x="12" y="44"/>
                  </a:cubicBezTo>
                  <a:cubicBezTo>
                    <a:pt x="14" y="40"/>
                    <a:pt x="14" y="40"/>
                    <a:pt x="14" y="40"/>
                  </a:cubicBezTo>
                  <a:cubicBezTo>
                    <a:pt x="17" y="37"/>
                    <a:pt x="17" y="37"/>
                    <a:pt x="17" y="37"/>
                  </a:cubicBezTo>
                  <a:cubicBezTo>
                    <a:pt x="20" y="36"/>
                    <a:pt x="20" y="36"/>
                    <a:pt x="20" y="36"/>
                  </a:cubicBezTo>
                  <a:cubicBezTo>
                    <a:pt x="23" y="36"/>
                    <a:pt x="23" y="36"/>
                    <a:pt x="23" y="36"/>
                  </a:cubicBezTo>
                  <a:cubicBezTo>
                    <a:pt x="29" y="36"/>
                    <a:pt x="29" y="36"/>
                    <a:pt x="29" y="36"/>
                  </a:cubicBezTo>
                  <a:cubicBezTo>
                    <a:pt x="32" y="34"/>
                    <a:pt x="32" y="34"/>
                    <a:pt x="32" y="34"/>
                  </a:cubicBezTo>
                  <a:cubicBezTo>
                    <a:pt x="42" y="27"/>
                    <a:pt x="42" y="27"/>
                    <a:pt x="42" y="27"/>
                  </a:cubicBezTo>
                  <a:cubicBezTo>
                    <a:pt x="45" y="26"/>
                    <a:pt x="45" y="26"/>
                    <a:pt x="45" y="26"/>
                  </a:cubicBezTo>
                  <a:cubicBezTo>
                    <a:pt x="49" y="22"/>
                    <a:pt x="49" y="22"/>
                    <a:pt x="49" y="22"/>
                  </a:cubicBezTo>
                  <a:cubicBezTo>
                    <a:pt x="52" y="17"/>
                    <a:pt x="52" y="17"/>
                    <a:pt x="52" y="17"/>
                  </a:cubicBezTo>
                  <a:cubicBezTo>
                    <a:pt x="56" y="14"/>
                    <a:pt x="56" y="14"/>
                    <a:pt x="56" y="14"/>
                  </a:cubicBezTo>
                  <a:cubicBezTo>
                    <a:pt x="61" y="9"/>
                    <a:pt x="61" y="9"/>
                    <a:pt x="61" y="9"/>
                  </a:cubicBezTo>
                  <a:cubicBezTo>
                    <a:pt x="65" y="4"/>
                    <a:pt x="65" y="4"/>
                    <a:pt x="65" y="4"/>
                  </a:cubicBezTo>
                  <a:cubicBezTo>
                    <a:pt x="70" y="1"/>
                    <a:pt x="70" y="1"/>
                    <a:pt x="70" y="1"/>
                  </a:cubicBezTo>
                  <a:cubicBezTo>
                    <a:pt x="77" y="0"/>
                    <a:pt x="77" y="0"/>
                    <a:pt x="77" y="0"/>
                  </a:cubicBezTo>
                  <a:cubicBezTo>
                    <a:pt x="80" y="0"/>
                    <a:pt x="80" y="0"/>
                    <a:pt x="80" y="0"/>
                  </a:cubicBezTo>
                  <a:cubicBezTo>
                    <a:pt x="85" y="2"/>
                    <a:pt x="85" y="2"/>
                    <a:pt x="85" y="2"/>
                  </a:cubicBezTo>
                  <a:cubicBezTo>
                    <a:pt x="83" y="3"/>
                    <a:pt x="83" y="3"/>
                    <a:pt x="83" y="3"/>
                  </a:cubicBezTo>
                  <a:cubicBezTo>
                    <a:pt x="79" y="5"/>
                    <a:pt x="79" y="5"/>
                    <a:pt x="79" y="5"/>
                  </a:cubicBezTo>
                  <a:cubicBezTo>
                    <a:pt x="75" y="6"/>
                    <a:pt x="75" y="6"/>
                    <a:pt x="75" y="6"/>
                  </a:cubicBezTo>
                  <a:cubicBezTo>
                    <a:pt x="76" y="8"/>
                    <a:pt x="76" y="8"/>
                    <a:pt x="76" y="8"/>
                  </a:cubicBezTo>
                  <a:cubicBezTo>
                    <a:pt x="70" y="14"/>
                    <a:pt x="70" y="14"/>
                    <a:pt x="70" y="14"/>
                  </a:cubicBezTo>
                  <a:cubicBezTo>
                    <a:pt x="70" y="14"/>
                    <a:pt x="68" y="14"/>
                    <a:pt x="68" y="15"/>
                  </a:cubicBezTo>
                  <a:cubicBezTo>
                    <a:pt x="68" y="16"/>
                    <a:pt x="65" y="23"/>
                    <a:pt x="65" y="23"/>
                  </a:cubicBezTo>
                  <a:cubicBezTo>
                    <a:pt x="65" y="19"/>
                    <a:pt x="65" y="19"/>
                    <a:pt x="65" y="19"/>
                  </a:cubicBezTo>
                  <a:cubicBezTo>
                    <a:pt x="63" y="17"/>
                    <a:pt x="63" y="17"/>
                    <a:pt x="63" y="17"/>
                  </a:cubicBezTo>
                  <a:cubicBezTo>
                    <a:pt x="62" y="27"/>
                    <a:pt x="62" y="27"/>
                    <a:pt x="62" y="27"/>
                  </a:cubicBezTo>
                  <a:cubicBezTo>
                    <a:pt x="62" y="33"/>
                    <a:pt x="62" y="33"/>
                    <a:pt x="62" y="33"/>
                  </a:cubicBezTo>
                  <a:cubicBezTo>
                    <a:pt x="65" y="31"/>
                    <a:pt x="65" y="31"/>
                    <a:pt x="65" y="31"/>
                  </a:cubicBezTo>
                  <a:cubicBezTo>
                    <a:pt x="67" y="29"/>
                    <a:pt x="67" y="29"/>
                    <a:pt x="67" y="29"/>
                  </a:cubicBezTo>
                  <a:cubicBezTo>
                    <a:pt x="68" y="29"/>
                    <a:pt x="68" y="29"/>
                    <a:pt x="68" y="29"/>
                  </a:cubicBezTo>
                  <a:cubicBezTo>
                    <a:pt x="69" y="31"/>
                    <a:pt x="69" y="31"/>
                    <a:pt x="69" y="31"/>
                  </a:cubicBezTo>
                  <a:cubicBezTo>
                    <a:pt x="72" y="31"/>
                    <a:pt x="72" y="31"/>
                    <a:pt x="72" y="31"/>
                  </a:cubicBezTo>
                  <a:cubicBezTo>
                    <a:pt x="74" y="30"/>
                    <a:pt x="74" y="30"/>
                    <a:pt x="74" y="30"/>
                  </a:cubicBezTo>
                  <a:cubicBezTo>
                    <a:pt x="77" y="28"/>
                    <a:pt x="77" y="28"/>
                    <a:pt x="77" y="28"/>
                  </a:cubicBezTo>
                  <a:cubicBezTo>
                    <a:pt x="82" y="29"/>
                    <a:pt x="82" y="29"/>
                    <a:pt x="82" y="29"/>
                  </a:cubicBezTo>
                  <a:cubicBezTo>
                    <a:pt x="92" y="34"/>
                    <a:pt x="92" y="34"/>
                    <a:pt x="92" y="34"/>
                  </a:cubicBezTo>
                  <a:cubicBezTo>
                    <a:pt x="98" y="41"/>
                    <a:pt x="98" y="41"/>
                    <a:pt x="98" y="41"/>
                  </a:cubicBezTo>
                  <a:cubicBezTo>
                    <a:pt x="102" y="44"/>
                    <a:pt x="102" y="44"/>
                    <a:pt x="102" y="44"/>
                  </a:cubicBezTo>
                  <a:cubicBezTo>
                    <a:pt x="111" y="45"/>
                    <a:pt x="111" y="45"/>
                    <a:pt x="111" y="45"/>
                  </a:cubicBezTo>
                  <a:cubicBezTo>
                    <a:pt x="114" y="44"/>
                    <a:pt x="114" y="44"/>
                    <a:pt x="114" y="44"/>
                  </a:cubicBezTo>
                  <a:cubicBezTo>
                    <a:pt x="121" y="46"/>
                    <a:pt x="121" y="46"/>
                    <a:pt x="121" y="46"/>
                  </a:cubicBezTo>
                  <a:cubicBezTo>
                    <a:pt x="127" y="48"/>
                    <a:pt x="127" y="48"/>
                    <a:pt x="127" y="48"/>
                  </a:cubicBezTo>
                  <a:cubicBezTo>
                    <a:pt x="130" y="44"/>
                    <a:pt x="130" y="44"/>
                    <a:pt x="130" y="44"/>
                  </a:cubicBezTo>
                  <a:cubicBezTo>
                    <a:pt x="135" y="39"/>
                    <a:pt x="135" y="39"/>
                    <a:pt x="135" y="39"/>
                  </a:cubicBezTo>
                  <a:cubicBezTo>
                    <a:pt x="139" y="35"/>
                    <a:pt x="139" y="35"/>
                    <a:pt x="139" y="35"/>
                  </a:cubicBezTo>
                  <a:cubicBezTo>
                    <a:pt x="148" y="33"/>
                    <a:pt x="148" y="33"/>
                    <a:pt x="148" y="33"/>
                  </a:cubicBezTo>
                  <a:cubicBezTo>
                    <a:pt x="154" y="31"/>
                    <a:pt x="154" y="31"/>
                    <a:pt x="154" y="31"/>
                  </a:cubicBezTo>
                  <a:cubicBezTo>
                    <a:pt x="160" y="31"/>
                    <a:pt x="160" y="31"/>
                    <a:pt x="160" y="31"/>
                  </a:cubicBezTo>
                  <a:cubicBezTo>
                    <a:pt x="169" y="28"/>
                    <a:pt x="169" y="28"/>
                    <a:pt x="169" y="28"/>
                  </a:cubicBezTo>
                  <a:cubicBezTo>
                    <a:pt x="175" y="26"/>
                    <a:pt x="175" y="26"/>
                    <a:pt x="175" y="26"/>
                  </a:cubicBezTo>
                  <a:cubicBezTo>
                    <a:pt x="178" y="28"/>
                    <a:pt x="178" y="28"/>
                    <a:pt x="178" y="28"/>
                  </a:cubicBezTo>
                  <a:cubicBezTo>
                    <a:pt x="180" y="36"/>
                    <a:pt x="180" y="36"/>
                    <a:pt x="180" y="36"/>
                  </a:cubicBezTo>
                  <a:cubicBezTo>
                    <a:pt x="191" y="38"/>
                    <a:pt x="191" y="38"/>
                    <a:pt x="191" y="38"/>
                  </a:cubicBezTo>
                  <a:cubicBezTo>
                    <a:pt x="198" y="38"/>
                    <a:pt x="198" y="38"/>
                    <a:pt x="198" y="38"/>
                  </a:cubicBezTo>
                  <a:cubicBezTo>
                    <a:pt x="203" y="39"/>
                    <a:pt x="203" y="39"/>
                    <a:pt x="203" y="39"/>
                  </a:cubicBezTo>
                  <a:cubicBezTo>
                    <a:pt x="207" y="44"/>
                    <a:pt x="207" y="44"/>
                    <a:pt x="207" y="44"/>
                  </a:cubicBezTo>
                  <a:cubicBezTo>
                    <a:pt x="213" y="51"/>
                    <a:pt x="213" y="51"/>
                    <a:pt x="213" y="51"/>
                  </a:cubicBezTo>
                  <a:cubicBezTo>
                    <a:pt x="215" y="53"/>
                    <a:pt x="215" y="53"/>
                    <a:pt x="215" y="53"/>
                  </a:cubicBezTo>
                  <a:cubicBezTo>
                    <a:pt x="215" y="53"/>
                    <a:pt x="216" y="54"/>
                    <a:pt x="217" y="55"/>
                  </a:cubicBezTo>
                  <a:cubicBezTo>
                    <a:pt x="218" y="56"/>
                    <a:pt x="219" y="58"/>
                    <a:pt x="219" y="58"/>
                  </a:cubicBezTo>
                  <a:cubicBezTo>
                    <a:pt x="224" y="59"/>
                    <a:pt x="224" y="59"/>
                    <a:pt x="224" y="59"/>
                  </a:cubicBezTo>
                  <a:cubicBezTo>
                    <a:pt x="224" y="59"/>
                    <a:pt x="226" y="57"/>
                    <a:pt x="226" y="57"/>
                  </a:cubicBezTo>
                  <a:cubicBezTo>
                    <a:pt x="226" y="56"/>
                    <a:pt x="230" y="54"/>
                    <a:pt x="230" y="54"/>
                  </a:cubicBezTo>
                  <a:cubicBezTo>
                    <a:pt x="232" y="56"/>
                    <a:pt x="232" y="56"/>
                    <a:pt x="232" y="56"/>
                  </a:cubicBezTo>
                  <a:cubicBezTo>
                    <a:pt x="232" y="56"/>
                    <a:pt x="234" y="57"/>
                    <a:pt x="232" y="58"/>
                  </a:cubicBezTo>
                  <a:cubicBezTo>
                    <a:pt x="231" y="58"/>
                    <a:pt x="230" y="60"/>
                    <a:pt x="229" y="60"/>
                  </a:cubicBezTo>
                  <a:cubicBezTo>
                    <a:pt x="227" y="60"/>
                    <a:pt x="225" y="60"/>
                    <a:pt x="225" y="60"/>
                  </a:cubicBezTo>
                  <a:cubicBezTo>
                    <a:pt x="221" y="60"/>
                    <a:pt x="221" y="60"/>
                    <a:pt x="221" y="60"/>
                  </a:cubicBezTo>
                  <a:cubicBezTo>
                    <a:pt x="219" y="62"/>
                    <a:pt x="219" y="62"/>
                    <a:pt x="219" y="62"/>
                  </a:cubicBezTo>
                  <a:cubicBezTo>
                    <a:pt x="208" y="62"/>
                    <a:pt x="208" y="62"/>
                    <a:pt x="208" y="62"/>
                  </a:cubicBezTo>
                  <a:cubicBezTo>
                    <a:pt x="205" y="63"/>
                    <a:pt x="205" y="63"/>
                    <a:pt x="205" y="63"/>
                  </a:cubicBezTo>
                  <a:cubicBezTo>
                    <a:pt x="201" y="61"/>
                    <a:pt x="201" y="61"/>
                    <a:pt x="201" y="61"/>
                  </a:cubicBezTo>
                  <a:cubicBezTo>
                    <a:pt x="197" y="59"/>
                    <a:pt x="197" y="59"/>
                    <a:pt x="197" y="59"/>
                  </a:cubicBezTo>
                  <a:cubicBezTo>
                    <a:pt x="193" y="64"/>
                    <a:pt x="193" y="64"/>
                    <a:pt x="193" y="64"/>
                  </a:cubicBezTo>
                  <a:cubicBezTo>
                    <a:pt x="194" y="67"/>
                    <a:pt x="194" y="67"/>
                    <a:pt x="194" y="67"/>
                  </a:cubicBezTo>
                  <a:cubicBezTo>
                    <a:pt x="194" y="69"/>
                    <a:pt x="194" y="69"/>
                    <a:pt x="194" y="69"/>
                  </a:cubicBezTo>
                  <a:cubicBezTo>
                    <a:pt x="194" y="69"/>
                    <a:pt x="194" y="71"/>
                    <a:pt x="195" y="71"/>
                  </a:cubicBezTo>
                  <a:cubicBezTo>
                    <a:pt x="195" y="71"/>
                    <a:pt x="196" y="72"/>
                    <a:pt x="196" y="72"/>
                  </a:cubicBezTo>
                  <a:cubicBezTo>
                    <a:pt x="201" y="74"/>
                    <a:pt x="201" y="74"/>
                    <a:pt x="201" y="74"/>
                  </a:cubicBezTo>
                  <a:cubicBezTo>
                    <a:pt x="203" y="72"/>
                    <a:pt x="203" y="72"/>
                    <a:pt x="203" y="72"/>
                  </a:cubicBezTo>
                  <a:cubicBezTo>
                    <a:pt x="203" y="72"/>
                    <a:pt x="200" y="70"/>
                    <a:pt x="201" y="70"/>
                  </a:cubicBezTo>
                  <a:cubicBezTo>
                    <a:pt x="202" y="70"/>
                    <a:pt x="206" y="72"/>
                    <a:pt x="206" y="72"/>
                  </a:cubicBezTo>
                  <a:cubicBezTo>
                    <a:pt x="206" y="72"/>
                    <a:pt x="205" y="74"/>
                    <a:pt x="205" y="74"/>
                  </a:cubicBezTo>
                  <a:cubicBezTo>
                    <a:pt x="204" y="75"/>
                    <a:pt x="204" y="75"/>
                    <a:pt x="204" y="75"/>
                  </a:cubicBezTo>
                  <a:cubicBezTo>
                    <a:pt x="205" y="76"/>
                    <a:pt x="210" y="77"/>
                    <a:pt x="210" y="77"/>
                  </a:cubicBezTo>
                  <a:cubicBezTo>
                    <a:pt x="211" y="77"/>
                    <a:pt x="214" y="79"/>
                    <a:pt x="214" y="79"/>
                  </a:cubicBezTo>
                  <a:cubicBezTo>
                    <a:pt x="219" y="82"/>
                    <a:pt x="219" y="82"/>
                    <a:pt x="219" y="82"/>
                  </a:cubicBezTo>
                  <a:cubicBezTo>
                    <a:pt x="226" y="85"/>
                    <a:pt x="226" y="85"/>
                    <a:pt x="226" y="85"/>
                  </a:cubicBezTo>
                  <a:cubicBezTo>
                    <a:pt x="234" y="88"/>
                    <a:pt x="234" y="88"/>
                    <a:pt x="234" y="88"/>
                  </a:cubicBezTo>
                  <a:cubicBezTo>
                    <a:pt x="242" y="96"/>
                    <a:pt x="242" y="96"/>
                    <a:pt x="242" y="96"/>
                  </a:cubicBezTo>
                  <a:cubicBezTo>
                    <a:pt x="246" y="101"/>
                    <a:pt x="246" y="101"/>
                    <a:pt x="246" y="101"/>
                  </a:cubicBezTo>
                  <a:cubicBezTo>
                    <a:pt x="244" y="103"/>
                    <a:pt x="244" y="103"/>
                    <a:pt x="244" y="103"/>
                  </a:cubicBezTo>
                  <a:cubicBezTo>
                    <a:pt x="244" y="103"/>
                    <a:pt x="243" y="103"/>
                    <a:pt x="243" y="104"/>
                  </a:cubicBezTo>
                  <a:cubicBezTo>
                    <a:pt x="244" y="105"/>
                    <a:pt x="246" y="109"/>
                    <a:pt x="246" y="109"/>
                  </a:cubicBezTo>
                  <a:cubicBezTo>
                    <a:pt x="245" y="110"/>
                    <a:pt x="247" y="113"/>
                    <a:pt x="247" y="113"/>
                  </a:cubicBezTo>
                  <a:cubicBezTo>
                    <a:pt x="249" y="124"/>
                    <a:pt x="249" y="124"/>
                    <a:pt x="249" y="124"/>
                  </a:cubicBezTo>
                  <a:cubicBezTo>
                    <a:pt x="250" y="130"/>
                    <a:pt x="250" y="130"/>
                    <a:pt x="250" y="130"/>
                  </a:cubicBezTo>
                  <a:cubicBezTo>
                    <a:pt x="249" y="136"/>
                    <a:pt x="249" y="136"/>
                    <a:pt x="249" y="136"/>
                  </a:cubicBezTo>
                  <a:cubicBezTo>
                    <a:pt x="245" y="141"/>
                    <a:pt x="245" y="141"/>
                    <a:pt x="245" y="141"/>
                  </a:cubicBezTo>
                  <a:cubicBezTo>
                    <a:pt x="242" y="147"/>
                    <a:pt x="242" y="147"/>
                    <a:pt x="242" y="147"/>
                  </a:cubicBezTo>
                  <a:cubicBezTo>
                    <a:pt x="242" y="147"/>
                    <a:pt x="240" y="151"/>
                    <a:pt x="239" y="152"/>
                  </a:cubicBezTo>
                  <a:cubicBezTo>
                    <a:pt x="239" y="152"/>
                    <a:pt x="235" y="155"/>
                    <a:pt x="235" y="156"/>
                  </a:cubicBezTo>
                  <a:cubicBezTo>
                    <a:pt x="235" y="156"/>
                    <a:pt x="233" y="160"/>
                    <a:pt x="233" y="160"/>
                  </a:cubicBezTo>
                  <a:cubicBezTo>
                    <a:pt x="233" y="168"/>
                    <a:pt x="233" y="168"/>
                    <a:pt x="233" y="168"/>
                  </a:cubicBezTo>
                  <a:cubicBezTo>
                    <a:pt x="235" y="170"/>
                    <a:pt x="235" y="170"/>
                    <a:pt x="235" y="170"/>
                  </a:cubicBezTo>
                  <a:cubicBezTo>
                    <a:pt x="240" y="172"/>
                    <a:pt x="240" y="172"/>
                    <a:pt x="240" y="172"/>
                  </a:cubicBezTo>
                  <a:cubicBezTo>
                    <a:pt x="242" y="170"/>
                    <a:pt x="242" y="170"/>
                    <a:pt x="242" y="170"/>
                  </a:cubicBezTo>
                  <a:cubicBezTo>
                    <a:pt x="242" y="170"/>
                    <a:pt x="244" y="169"/>
                    <a:pt x="244" y="168"/>
                  </a:cubicBezTo>
                  <a:cubicBezTo>
                    <a:pt x="245" y="168"/>
                    <a:pt x="246" y="166"/>
                    <a:pt x="246" y="166"/>
                  </a:cubicBezTo>
                  <a:cubicBezTo>
                    <a:pt x="246" y="166"/>
                    <a:pt x="249" y="164"/>
                    <a:pt x="249" y="164"/>
                  </a:cubicBezTo>
                  <a:cubicBezTo>
                    <a:pt x="249" y="164"/>
                    <a:pt x="249" y="161"/>
                    <a:pt x="249" y="161"/>
                  </a:cubicBezTo>
                  <a:cubicBezTo>
                    <a:pt x="249" y="161"/>
                    <a:pt x="250" y="157"/>
                    <a:pt x="250" y="157"/>
                  </a:cubicBezTo>
                  <a:cubicBezTo>
                    <a:pt x="250" y="157"/>
                    <a:pt x="252" y="156"/>
                    <a:pt x="252" y="156"/>
                  </a:cubicBezTo>
                  <a:cubicBezTo>
                    <a:pt x="252" y="155"/>
                    <a:pt x="255" y="153"/>
                    <a:pt x="255" y="153"/>
                  </a:cubicBezTo>
                  <a:cubicBezTo>
                    <a:pt x="255" y="153"/>
                    <a:pt x="259" y="150"/>
                    <a:pt x="259" y="150"/>
                  </a:cubicBezTo>
                  <a:cubicBezTo>
                    <a:pt x="260" y="150"/>
                    <a:pt x="262" y="147"/>
                    <a:pt x="262" y="147"/>
                  </a:cubicBezTo>
                  <a:cubicBezTo>
                    <a:pt x="265" y="147"/>
                    <a:pt x="265" y="147"/>
                    <a:pt x="265" y="147"/>
                  </a:cubicBezTo>
                  <a:cubicBezTo>
                    <a:pt x="269" y="148"/>
                    <a:pt x="269" y="148"/>
                    <a:pt x="269" y="148"/>
                  </a:cubicBezTo>
                  <a:cubicBezTo>
                    <a:pt x="275" y="154"/>
                    <a:pt x="275" y="154"/>
                    <a:pt x="275" y="154"/>
                  </a:cubicBezTo>
                  <a:cubicBezTo>
                    <a:pt x="279" y="162"/>
                    <a:pt x="279" y="162"/>
                    <a:pt x="279" y="162"/>
                  </a:cubicBezTo>
                  <a:cubicBezTo>
                    <a:pt x="283" y="184"/>
                    <a:pt x="283" y="184"/>
                    <a:pt x="283" y="184"/>
                  </a:cubicBezTo>
                  <a:cubicBezTo>
                    <a:pt x="286" y="189"/>
                    <a:pt x="286" y="189"/>
                    <a:pt x="286" y="189"/>
                  </a:cubicBezTo>
                  <a:cubicBezTo>
                    <a:pt x="286" y="193"/>
                    <a:pt x="286" y="193"/>
                    <a:pt x="286" y="193"/>
                  </a:cubicBezTo>
                  <a:cubicBezTo>
                    <a:pt x="286" y="193"/>
                    <a:pt x="287" y="196"/>
                    <a:pt x="287" y="197"/>
                  </a:cubicBezTo>
                  <a:cubicBezTo>
                    <a:pt x="287" y="198"/>
                    <a:pt x="287" y="213"/>
                    <a:pt x="287" y="213"/>
                  </a:cubicBezTo>
                  <a:cubicBezTo>
                    <a:pt x="280" y="213"/>
                    <a:pt x="280" y="213"/>
                    <a:pt x="280" y="213"/>
                  </a:cubicBezTo>
                  <a:cubicBezTo>
                    <a:pt x="278" y="213"/>
                    <a:pt x="278" y="213"/>
                    <a:pt x="278" y="213"/>
                  </a:cubicBezTo>
                  <a:cubicBezTo>
                    <a:pt x="278" y="216"/>
                    <a:pt x="278" y="216"/>
                    <a:pt x="278" y="216"/>
                  </a:cubicBezTo>
                  <a:cubicBezTo>
                    <a:pt x="275" y="220"/>
                    <a:pt x="275" y="220"/>
                    <a:pt x="275" y="220"/>
                  </a:cubicBezTo>
                  <a:cubicBezTo>
                    <a:pt x="274" y="225"/>
                    <a:pt x="274" y="225"/>
                    <a:pt x="274" y="225"/>
                  </a:cubicBezTo>
                  <a:cubicBezTo>
                    <a:pt x="272" y="229"/>
                    <a:pt x="272" y="229"/>
                    <a:pt x="272" y="229"/>
                  </a:cubicBezTo>
                  <a:cubicBezTo>
                    <a:pt x="269" y="233"/>
                    <a:pt x="269" y="233"/>
                    <a:pt x="269" y="233"/>
                  </a:cubicBezTo>
                  <a:cubicBezTo>
                    <a:pt x="266" y="243"/>
                    <a:pt x="266" y="243"/>
                    <a:pt x="266" y="243"/>
                  </a:cubicBezTo>
                  <a:cubicBezTo>
                    <a:pt x="266" y="249"/>
                    <a:pt x="266" y="249"/>
                    <a:pt x="266" y="249"/>
                  </a:cubicBezTo>
                  <a:cubicBezTo>
                    <a:pt x="262" y="254"/>
                    <a:pt x="262" y="254"/>
                    <a:pt x="262" y="254"/>
                  </a:cubicBezTo>
                  <a:cubicBezTo>
                    <a:pt x="259" y="259"/>
                    <a:pt x="259" y="259"/>
                    <a:pt x="259" y="259"/>
                  </a:cubicBezTo>
                  <a:cubicBezTo>
                    <a:pt x="213" y="267"/>
                    <a:pt x="213" y="267"/>
                    <a:pt x="213" y="267"/>
                  </a:cubicBezTo>
                  <a:cubicBezTo>
                    <a:pt x="212" y="265"/>
                    <a:pt x="212" y="265"/>
                    <a:pt x="212" y="265"/>
                  </a:cubicBezTo>
                  <a:cubicBezTo>
                    <a:pt x="141" y="270"/>
                    <a:pt x="141" y="270"/>
                    <a:pt x="141" y="270"/>
                  </a:cubicBezTo>
                  <a:cubicBezTo>
                    <a:pt x="146" y="265"/>
                    <a:pt x="146" y="265"/>
                    <a:pt x="146" y="265"/>
                  </a:cubicBezTo>
                  <a:cubicBezTo>
                    <a:pt x="148" y="261"/>
                    <a:pt x="148" y="261"/>
                    <a:pt x="148" y="261"/>
                  </a:cubicBezTo>
                  <a:cubicBezTo>
                    <a:pt x="152" y="254"/>
                    <a:pt x="152" y="254"/>
                    <a:pt x="152" y="254"/>
                  </a:cubicBezTo>
                  <a:cubicBezTo>
                    <a:pt x="156" y="245"/>
                    <a:pt x="156" y="245"/>
                    <a:pt x="156" y="245"/>
                  </a:cubicBezTo>
                  <a:cubicBezTo>
                    <a:pt x="158" y="235"/>
                    <a:pt x="158" y="235"/>
                    <a:pt x="158" y="235"/>
                  </a:cubicBezTo>
                  <a:cubicBezTo>
                    <a:pt x="157" y="217"/>
                    <a:pt x="157" y="217"/>
                    <a:pt x="157" y="217"/>
                  </a:cubicBezTo>
                  <a:cubicBezTo>
                    <a:pt x="157" y="209"/>
                    <a:pt x="157" y="209"/>
                    <a:pt x="157" y="209"/>
                  </a:cubicBezTo>
                  <a:cubicBezTo>
                    <a:pt x="153" y="203"/>
                    <a:pt x="153" y="203"/>
                    <a:pt x="153" y="203"/>
                  </a:cubicBezTo>
                  <a:cubicBezTo>
                    <a:pt x="149" y="195"/>
                    <a:pt x="149" y="195"/>
                    <a:pt x="149" y="195"/>
                  </a:cubicBezTo>
                  <a:cubicBezTo>
                    <a:pt x="145" y="191"/>
                    <a:pt x="145" y="191"/>
                    <a:pt x="145" y="191"/>
                  </a:cubicBezTo>
                  <a:cubicBezTo>
                    <a:pt x="142" y="184"/>
                    <a:pt x="142" y="184"/>
                    <a:pt x="142" y="184"/>
                  </a:cubicBezTo>
                  <a:cubicBezTo>
                    <a:pt x="144" y="179"/>
                    <a:pt x="144" y="179"/>
                    <a:pt x="144" y="179"/>
                  </a:cubicBezTo>
                  <a:cubicBezTo>
                    <a:pt x="146" y="177"/>
                    <a:pt x="146" y="177"/>
                    <a:pt x="146" y="177"/>
                  </a:cubicBezTo>
                  <a:cubicBezTo>
                    <a:pt x="146" y="173"/>
                    <a:pt x="146" y="173"/>
                    <a:pt x="146" y="173"/>
                  </a:cubicBezTo>
                  <a:cubicBezTo>
                    <a:pt x="144" y="165"/>
                    <a:pt x="144" y="165"/>
                    <a:pt x="144" y="165"/>
                  </a:cubicBezTo>
                  <a:cubicBezTo>
                    <a:pt x="141" y="162"/>
                    <a:pt x="141" y="162"/>
                    <a:pt x="141" y="162"/>
                  </a:cubicBezTo>
                  <a:cubicBezTo>
                    <a:pt x="144" y="160"/>
                    <a:pt x="144" y="160"/>
                    <a:pt x="144" y="160"/>
                  </a:cubicBezTo>
                  <a:cubicBezTo>
                    <a:pt x="145" y="155"/>
                    <a:pt x="145" y="155"/>
                    <a:pt x="145" y="155"/>
                  </a:cubicBezTo>
                  <a:cubicBezTo>
                    <a:pt x="146" y="150"/>
                    <a:pt x="146" y="150"/>
                    <a:pt x="146" y="150"/>
                  </a:cubicBezTo>
                  <a:cubicBezTo>
                    <a:pt x="148" y="147"/>
                    <a:pt x="148" y="147"/>
                    <a:pt x="148" y="147"/>
                  </a:cubicBezTo>
                  <a:cubicBezTo>
                    <a:pt x="148" y="139"/>
                    <a:pt x="148" y="139"/>
                    <a:pt x="148" y="139"/>
                  </a:cubicBezTo>
                  <a:cubicBezTo>
                    <a:pt x="147" y="135"/>
                    <a:pt x="147" y="135"/>
                    <a:pt x="147" y="135"/>
                  </a:cubicBezTo>
                  <a:cubicBezTo>
                    <a:pt x="148" y="130"/>
                    <a:pt x="148" y="130"/>
                    <a:pt x="148" y="130"/>
                  </a:cubicBezTo>
                  <a:cubicBezTo>
                    <a:pt x="151" y="126"/>
                    <a:pt x="151" y="126"/>
                    <a:pt x="151" y="126"/>
                  </a:cubicBezTo>
                  <a:cubicBezTo>
                    <a:pt x="153" y="122"/>
                    <a:pt x="153" y="122"/>
                    <a:pt x="153" y="122"/>
                  </a:cubicBezTo>
                  <a:cubicBezTo>
                    <a:pt x="153" y="117"/>
                    <a:pt x="153" y="117"/>
                    <a:pt x="153" y="117"/>
                  </a:cubicBezTo>
                  <a:cubicBezTo>
                    <a:pt x="157" y="116"/>
                    <a:pt x="157" y="116"/>
                    <a:pt x="157" y="116"/>
                  </a:cubicBezTo>
                  <a:cubicBezTo>
                    <a:pt x="163" y="116"/>
                    <a:pt x="163" y="116"/>
                    <a:pt x="163" y="116"/>
                  </a:cubicBezTo>
                  <a:cubicBezTo>
                    <a:pt x="165" y="108"/>
                    <a:pt x="165" y="108"/>
                    <a:pt x="165" y="108"/>
                  </a:cubicBezTo>
                  <a:cubicBezTo>
                    <a:pt x="166" y="106"/>
                    <a:pt x="166" y="106"/>
                    <a:pt x="166" y="106"/>
                  </a:cubicBezTo>
                  <a:cubicBezTo>
                    <a:pt x="168" y="105"/>
                    <a:pt x="168" y="105"/>
                    <a:pt x="168" y="105"/>
                  </a:cubicBezTo>
                  <a:cubicBezTo>
                    <a:pt x="171" y="114"/>
                    <a:pt x="171" y="114"/>
                    <a:pt x="171" y="114"/>
                  </a:cubicBezTo>
                  <a:cubicBezTo>
                    <a:pt x="167" y="119"/>
                    <a:pt x="167" y="119"/>
                    <a:pt x="167" y="119"/>
                  </a:cubicBezTo>
                  <a:cubicBezTo>
                    <a:pt x="167" y="121"/>
                    <a:pt x="167" y="121"/>
                    <a:pt x="167" y="121"/>
                  </a:cubicBezTo>
                  <a:cubicBezTo>
                    <a:pt x="167" y="121"/>
                    <a:pt x="168" y="122"/>
                    <a:pt x="169" y="122"/>
                  </a:cubicBezTo>
                  <a:cubicBezTo>
                    <a:pt x="170" y="122"/>
                    <a:pt x="170" y="122"/>
                    <a:pt x="170" y="122"/>
                  </a:cubicBezTo>
                  <a:cubicBezTo>
                    <a:pt x="170" y="122"/>
                    <a:pt x="172" y="121"/>
                    <a:pt x="172" y="121"/>
                  </a:cubicBezTo>
                  <a:cubicBezTo>
                    <a:pt x="172" y="120"/>
                    <a:pt x="173" y="117"/>
                    <a:pt x="173" y="117"/>
                  </a:cubicBezTo>
                  <a:cubicBezTo>
                    <a:pt x="174" y="116"/>
                    <a:pt x="174" y="116"/>
                    <a:pt x="174" y="116"/>
                  </a:cubicBezTo>
                  <a:cubicBezTo>
                    <a:pt x="175" y="111"/>
                    <a:pt x="175" y="111"/>
                    <a:pt x="175" y="111"/>
                  </a:cubicBezTo>
                  <a:cubicBezTo>
                    <a:pt x="175" y="108"/>
                    <a:pt x="175" y="108"/>
                    <a:pt x="175" y="108"/>
                  </a:cubicBezTo>
                  <a:cubicBezTo>
                    <a:pt x="175" y="104"/>
                    <a:pt x="175" y="104"/>
                    <a:pt x="175" y="104"/>
                  </a:cubicBezTo>
                  <a:cubicBezTo>
                    <a:pt x="175" y="100"/>
                    <a:pt x="175" y="100"/>
                    <a:pt x="175" y="100"/>
                  </a:cubicBezTo>
                  <a:cubicBezTo>
                    <a:pt x="178" y="96"/>
                    <a:pt x="178" y="96"/>
                    <a:pt x="178" y="96"/>
                  </a:cubicBezTo>
                  <a:cubicBezTo>
                    <a:pt x="180" y="94"/>
                    <a:pt x="180" y="94"/>
                    <a:pt x="180" y="94"/>
                  </a:cubicBezTo>
                  <a:cubicBezTo>
                    <a:pt x="185" y="93"/>
                    <a:pt x="185" y="93"/>
                    <a:pt x="185" y="93"/>
                  </a:cubicBezTo>
                  <a:cubicBezTo>
                    <a:pt x="187" y="91"/>
                    <a:pt x="187" y="91"/>
                    <a:pt x="187" y="91"/>
                  </a:cubicBezTo>
                  <a:cubicBezTo>
                    <a:pt x="183" y="87"/>
                    <a:pt x="183" y="87"/>
                    <a:pt x="183" y="87"/>
                  </a:cubicBezTo>
                  <a:cubicBezTo>
                    <a:pt x="182" y="84"/>
                    <a:pt x="182" y="84"/>
                    <a:pt x="182" y="84"/>
                  </a:cubicBezTo>
                  <a:cubicBezTo>
                    <a:pt x="184" y="81"/>
                    <a:pt x="184" y="81"/>
                    <a:pt x="184" y="81"/>
                  </a:cubicBezTo>
                  <a:cubicBezTo>
                    <a:pt x="186" y="78"/>
                    <a:pt x="186" y="78"/>
                    <a:pt x="186" y="78"/>
                  </a:cubicBezTo>
                  <a:cubicBezTo>
                    <a:pt x="187" y="77"/>
                    <a:pt x="187" y="77"/>
                    <a:pt x="187" y="77"/>
                  </a:cubicBezTo>
                  <a:cubicBezTo>
                    <a:pt x="187" y="75"/>
                    <a:pt x="187" y="75"/>
                    <a:pt x="187" y="75"/>
                  </a:cubicBezTo>
                  <a:cubicBezTo>
                    <a:pt x="188" y="74"/>
                    <a:pt x="188" y="74"/>
                    <a:pt x="188" y="74"/>
                  </a:cubicBezTo>
                  <a:cubicBezTo>
                    <a:pt x="188" y="74"/>
                    <a:pt x="188" y="74"/>
                    <a:pt x="189" y="74"/>
                  </a:cubicBezTo>
                  <a:cubicBezTo>
                    <a:pt x="189" y="74"/>
                    <a:pt x="193" y="73"/>
                    <a:pt x="193" y="73"/>
                  </a:cubicBezTo>
                  <a:cubicBezTo>
                    <a:pt x="195" y="73"/>
                    <a:pt x="195" y="73"/>
                    <a:pt x="195" y="73"/>
                  </a:cubicBezTo>
                  <a:cubicBezTo>
                    <a:pt x="193" y="70"/>
                    <a:pt x="193" y="70"/>
                    <a:pt x="193" y="70"/>
                  </a:cubicBezTo>
                  <a:cubicBezTo>
                    <a:pt x="189" y="67"/>
                    <a:pt x="189" y="67"/>
                    <a:pt x="189" y="67"/>
                  </a:cubicBezTo>
                  <a:cubicBezTo>
                    <a:pt x="187" y="65"/>
                    <a:pt x="187" y="65"/>
                    <a:pt x="187" y="65"/>
                  </a:cubicBezTo>
                  <a:cubicBezTo>
                    <a:pt x="184" y="63"/>
                    <a:pt x="184" y="63"/>
                    <a:pt x="184" y="63"/>
                  </a:cubicBezTo>
                  <a:cubicBezTo>
                    <a:pt x="179" y="61"/>
                    <a:pt x="179" y="61"/>
                    <a:pt x="179" y="61"/>
                  </a:cubicBezTo>
                  <a:cubicBezTo>
                    <a:pt x="170" y="60"/>
                    <a:pt x="170" y="60"/>
                    <a:pt x="170" y="60"/>
                  </a:cubicBezTo>
                  <a:cubicBezTo>
                    <a:pt x="163" y="64"/>
                    <a:pt x="163" y="64"/>
                    <a:pt x="163" y="64"/>
                  </a:cubicBezTo>
                  <a:cubicBezTo>
                    <a:pt x="159" y="68"/>
                    <a:pt x="159" y="68"/>
                    <a:pt x="159" y="68"/>
                  </a:cubicBezTo>
                  <a:cubicBezTo>
                    <a:pt x="152" y="69"/>
                    <a:pt x="152" y="69"/>
                    <a:pt x="152" y="69"/>
                  </a:cubicBezTo>
                  <a:cubicBezTo>
                    <a:pt x="144" y="69"/>
                    <a:pt x="144" y="69"/>
                    <a:pt x="144" y="69"/>
                  </a:cubicBezTo>
                  <a:cubicBezTo>
                    <a:pt x="140" y="72"/>
                    <a:pt x="140" y="72"/>
                    <a:pt x="140" y="72"/>
                  </a:cubicBezTo>
                  <a:cubicBezTo>
                    <a:pt x="135" y="81"/>
                    <a:pt x="135" y="81"/>
                    <a:pt x="135" y="81"/>
                  </a:cubicBezTo>
                  <a:cubicBezTo>
                    <a:pt x="129" y="85"/>
                    <a:pt x="129" y="85"/>
                    <a:pt x="129" y="85"/>
                  </a:cubicBezTo>
                  <a:cubicBezTo>
                    <a:pt x="128" y="84"/>
                    <a:pt x="128" y="84"/>
                    <a:pt x="128" y="84"/>
                  </a:cubicBezTo>
                  <a:cubicBezTo>
                    <a:pt x="130" y="80"/>
                    <a:pt x="130" y="80"/>
                    <a:pt x="130" y="80"/>
                  </a:cubicBezTo>
                  <a:cubicBezTo>
                    <a:pt x="133" y="77"/>
                    <a:pt x="133" y="77"/>
                    <a:pt x="133" y="77"/>
                  </a:cubicBezTo>
                  <a:cubicBezTo>
                    <a:pt x="131" y="74"/>
                    <a:pt x="131" y="74"/>
                    <a:pt x="131" y="74"/>
                  </a:cubicBezTo>
                  <a:cubicBezTo>
                    <a:pt x="127" y="76"/>
                    <a:pt x="127" y="76"/>
                    <a:pt x="127" y="76"/>
                  </a:cubicBezTo>
                  <a:cubicBezTo>
                    <a:pt x="125" y="77"/>
                    <a:pt x="125" y="77"/>
                    <a:pt x="125" y="77"/>
                  </a:cubicBezTo>
                  <a:cubicBezTo>
                    <a:pt x="123" y="81"/>
                    <a:pt x="123" y="81"/>
                    <a:pt x="123" y="81"/>
                  </a:cubicBezTo>
                  <a:cubicBezTo>
                    <a:pt x="121" y="82"/>
                    <a:pt x="121" y="82"/>
                    <a:pt x="121" y="82"/>
                  </a:cubicBezTo>
                  <a:cubicBezTo>
                    <a:pt x="120" y="82"/>
                    <a:pt x="120" y="82"/>
                    <a:pt x="120" y="82"/>
                  </a:cubicBezTo>
                  <a:cubicBezTo>
                    <a:pt x="118" y="75"/>
                    <a:pt x="118" y="75"/>
                    <a:pt x="118" y="75"/>
                  </a:cubicBezTo>
                  <a:cubicBezTo>
                    <a:pt x="117" y="75"/>
                    <a:pt x="117" y="75"/>
                    <a:pt x="117" y="75"/>
                  </a:cubicBezTo>
                  <a:cubicBezTo>
                    <a:pt x="115" y="81"/>
                    <a:pt x="115" y="81"/>
                    <a:pt x="115" y="81"/>
                  </a:cubicBezTo>
                  <a:cubicBezTo>
                    <a:pt x="114" y="85"/>
                    <a:pt x="114" y="85"/>
                    <a:pt x="114" y="85"/>
                  </a:cubicBezTo>
                  <a:cubicBezTo>
                    <a:pt x="110" y="90"/>
                    <a:pt x="110" y="90"/>
                    <a:pt x="110" y="90"/>
                  </a:cubicBezTo>
                  <a:cubicBezTo>
                    <a:pt x="107" y="101"/>
                    <a:pt x="107" y="101"/>
                    <a:pt x="107" y="101"/>
                  </a:cubicBezTo>
                  <a:cubicBezTo>
                    <a:pt x="105" y="107"/>
                    <a:pt x="105" y="107"/>
                    <a:pt x="105" y="107"/>
                  </a:cubicBezTo>
                  <a:cubicBezTo>
                    <a:pt x="99" y="112"/>
                    <a:pt x="99" y="112"/>
                    <a:pt x="99" y="112"/>
                  </a:cubicBezTo>
                  <a:cubicBezTo>
                    <a:pt x="97" y="108"/>
                    <a:pt x="97" y="108"/>
                    <a:pt x="97" y="108"/>
                  </a:cubicBezTo>
                  <a:cubicBezTo>
                    <a:pt x="96" y="101"/>
                    <a:pt x="96" y="101"/>
                    <a:pt x="96" y="101"/>
                  </a:cubicBezTo>
                  <a:cubicBezTo>
                    <a:pt x="95" y="100"/>
                    <a:pt x="95" y="100"/>
                    <a:pt x="95" y="100"/>
                  </a:cubicBezTo>
                  <a:cubicBezTo>
                    <a:pt x="93" y="97"/>
                    <a:pt x="93" y="97"/>
                    <a:pt x="93" y="97"/>
                  </a:cubicBezTo>
                  <a:cubicBezTo>
                    <a:pt x="94" y="94"/>
                    <a:pt x="94" y="94"/>
                    <a:pt x="94" y="94"/>
                  </a:cubicBezTo>
                  <a:cubicBezTo>
                    <a:pt x="93" y="88"/>
                    <a:pt x="93" y="88"/>
                    <a:pt x="93" y="88"/>
                  </a:cubicBezTo>
                  <a:cubicBezTo>
                    <a:pt x="90" y="85"/>
                    <a:pt x="90" y="85"/>
                    <a:pt x="90" y="85"/>
                  </a:cubicBezTo>
                  <a:cubicBezTo>
                    <a:pt x="84" y="81"/>
                    <a:pt x="84" y="81"/>
                    <a:pt x="84" y="81"/>
                  </a:cubicBezTo>
                  <a:cubicBezTo>
                    <a:pt x="82" y="77"/>
                    <a:pt x="82" y="77"/>
                    <a:pt x="82" y="77"/>
                  </a:cubicBezTo>
                  <a:cubicBezTo>
                    <a:pt x="75" y="76"/>
                    <a:pt x="75" y="76"/>
                    <a:pt x="75" y="76"/>
                  </a:cubicBezTo>
                  <a:cubicBezTo>
                    <a:pt x="66" y="76"/>
                    <a:pt x="66" y="76"/>
                    <a:pt x="66" y="76"/>
                  </a:cubicBezTo>
                  <a:cubicBezTo>
                    <a:pt x="64" y="74"/>
                    <a:pt x="64" y="74"/>
                    <a:pt x="64" y="74"/>
                  </a:cubicBezTo>
                  <a:cubicBezTo>
                    <a:pt x="58" y="74"/>
                    <a:pt x="58" y="74"/>
                    <a:pt x="58" y="74"/>
                  </a:cubicBezTo>
                  <a:cubicBezTo>
                    <a:pt x="50" y="73"/>
                    <a:pt x="50" y="73"/>
                    <a:pt x="50" y="73"/>
                  </a:cubicBezTo>
                  <a:cubicBezTo>
                    <a:pt x="49" y="71"/>
                    <a:pt x="49" y="71"/>
                    <a:pt x="49" y="71"/>
                  </a:cubicBezTo>
                  <a:cubicBezTo>
                    <a:pt x="43" y="68"/>
                    <a:pt x="43" y="68"/>
                    <a:pt x="43" y="68"/>
                  </a:cubicBezTo>
                  <a:cubicBezTo>
                    <a:pt x="36" y="67"/>
                    <a:pt x="36" y="67"/>
                    <a:pt x="36" y="67"/>
                  </a:cubicBezTo>
                  <a:cubicBezTo>
                    <a:pt x="29" y="65"/>
                    <a:pt x="29" y="65"/>
                    <a:pt x="29" y="65"/>
                  </a:cubicBezTo>
                  <a:cubicBezTo>
                    <a:pt x="21" y="62"/>
                    <a:pt x="21" y="62"/>
                    <a:pt x="21" y="62"/>
                  </a:cubicBezTo>
                  <a:cubicBezTo>
                    <a:pt x="16" y="59"/>
                    <a:pt x="16" y="59"/>
                    <a:pt x="16" y="59"/>
                  </a:cubicBezTo>
                  <a:cubicBezTo>
                    <a:pt x="12" y="59"/>
                    <a:pt x="12" y="59"/>
                    <a:pt x="12" y="59"/>
                  </a:cubicBezTo>
                  <a:cubicBezTo>
                    <a:pt x="11" y="59"/>
                    <a:pt x="11" y="59"/>
                    <a:pt x="11" y="59"/>
                  </a:cubicBezTo>
                  <a:cubicBezTo>
                    <a:pt x="9" y="57"/>
                    <a:pt x="9" y="57"/>
                    <a:pt x="9" y="57"/>
                  </a:cubicBezTo>
                  <a:cubicBezTo>
                    <a:pt x="7" y="54"/>
                    <a:pt x="7" y="54"/>
                    <a:pt x="7" y="54"/>
                  </a:cubicBezTo>
                  <a:cubicBezTo>
                    <a:pt x="0" y="52"/>
                    <a:pt x="0" y="52"/>
                    <a:pt x="0" y="52"/>
                  </a:cubicBezTo>
                  <a:lnTo>
                    <a:pt x="0" y="51"/>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4" name="Freeform 51"/>
            <p:cNvSpPr>
              <a:spLocks/>
            </p:cNvSpPr>
            <p:nvPr/>
          </p:nvSpPr>
          <p:spPr bwMode="auto">
            <a:xfrm>
              <a:off x="6848079" y="1986053"/>
              <a:ext cx="286695" cy="305247"/>
            </a:xfrm>
            <a:custGeom>
              <a:avLst/>
              <a:gdLst>
                <a:gd name="T0" fmla="*/ 175 w 201"/>
                <a:gd name="T1" fmla="*/ 65 h 213"/>
                <a:gd name="T2" fmla="*/ 172 w 201"/>
                <a:gd name="T3" fmla="*/ 53 h 213"/>
                <a:gd name="T4" fmla="*/ 157 w 201"/>
                <a:gd name="T5" fmla="*/ 44 h 213"/>
                <a:gd name="T6" fmla="*/ 140 w 201"/>
                <a:gd name="T7" fmla="*/ 42 h 213"/>
                <a:gd name="T8" fmla="*/ 125 w 201"/>
                <a:gd name="T9" fmla="*/ 36 h 213"/>
                <a:gd name="T10" fmla="*/ 103 w 201"/>
                <a:gd name="T11" fmla="*/ 30 h 213"/>
                <a:gd name="T12" fmla="*/ 93 w 201"/>
                <a:gd name="T13" fmla="*/ 27 h 213"/>
                <a:gd name="T14" fmla="*/ 82 w 201"/>
                <a:gd name="T15" fmla="*/ 20 h 213"/>
                <a:gd name="T16" fmla="*/ 78 w 201"/>
                <a:gd name="T17" fmla="*/ 18 h 213"/>
                <a:gd name="T18" fmla="*/ 70 w 201"/>
                <a:gd name="T19" fmla="*/ 17 h 213"/>
                <a:gd name="T20" fmla="*/ 67 w 201"/>
                <a:gd name="T21" fmla="*/ 15 h 213"/>
                <a:gd name="T22" fmla="*/ 70 w 201"/>
                <a:gd name="T23" fmla="*/ 2 h 213"/>
                <a:gd name="T24" fmla="*/ 61 w 201"/>
                <a:gd name="T25" fmla="*/ 3 h 213"/>
                <a:gd name="T26" fmla="*/ 47 w 201"/>
                <a:gd name="T27" fmla="*/ 9 h 213"/>
                <a:gd name="T28" fmla="*/ 33 w 201"/>
                <a:gd name="T29" fmla="*/ 16 h 213"/>
                <a:gd name="T30" fmla="*/ 21 w 201"/>
                <a:gd name="T31" fmla="*/ 15 h 213"/>
                <a:gd name="T32" fmla="*/ 5 w 201"/>
                <a:gd name="T33" fmla="*/ 55 h 213"/>
                <a:gd name="T34" fmla="*/ 7 w 201"/>
                <a:gd name="T35" fmla="*/ 72 h 213"/>
                <a:gd name="T36" fmla="*/ 10 w 201"/>
                <a:gd name="T37" fmla="*/ 112 h 213"/>
                <a:gd name="T38" fmla="*/ 42 w 201"/>
                <a:gd name="T39" fmla="*/ 135 h 213"/>
                <a:gd name="T40" fmla="*/ 60 w 201"/>
                <a:gd name="T41" fmla="*/ 152 h 213"/>
                <a:gd name="T42" fmla="*/ 63 w 201"/>
                <a:gd name="T43" fmla="*/ 173 h 213"/>
                <a:gd name="T44" fmla="*/ 65 w 201"/>
                <a:gd name="T45" fmla="*/ 187 h 213"/>
                <a:gd name="T46" fmla="*/ 67 w 201"/>
                <a:gd name="T47" fmla="*/ 203 h 213"/>
                <a:gd name="T48" fmla="*/ 82 w 201"/>
                <a:gd name="T49" fmla="*/ 209 h 213"/>
                <a:gd name="T50" fmla="*/ 184 w 201"/>
                <a:gd name="T51" fmla="*/ 195 h 213"/>
                <a:gd name="T52" fmla="*/ 178 w 201"/>
                <a:gd name="T53" fmla="*/ 172 h 213"/>
                <a:gd name="T54" fmla="*/ 182 w 201"/>
                <a:gd name="T55" fmla="*/ 155 h 213"/>
                <a:gd name="T56" fmla="*/ 182 w 201"/>
                <a:gd name="T57" fmla="*/ 140 h 213"/>
                <a:gd name="T58" fmla="*/ 184 w 201"/>
                <a:gd name="T59" fmla="*/ 131 h 213"/>
                <a:gd name="T60" fmla="*/ 186 w 201"/>
                <a:gd name="T61" fmla="*/ 121 h 213"/>
                <a:gd name="T62" fmla="*/ 188 w 201"/>
                <a:gd name="T63" fmla="*/ 105 h 213"/>
                <a:gd name="T64" fmla="*/ 197 w 201"/>
                <a:gd name="T65" fmla="*/ 85 h 213"/>
                <a:gd name="T66" fmla="*/ 201 w 201"/>
                <a:gd name="T67" fmla="*/ 79 h 213"/>
                <a:gd name="T68" fmla="*/ 201 w 201"/>
                <a:gd name="T69" fmla="*/ 73 h 213"/>
                <a:gd name="T70" fmla="*/ 194 w 201"/>
                <a:gd name="T71" fmla="*/ 79 h 213"/>
                <a:gd name="T72" fmla="*/ 187 w 201"/>
                <a:gd name="T73" fmla="*/ 92 h 213"/>
                <a:gd name="T74" fmla="*/ 177 w 201"/>
                <a:gd name="T75" fmla="*/ 101 h 213"/>
                <a:gd name="T76" fmla="*/ 168 w 201"/>
                <a:gd name="T77" fmla="*/ 107 h 213"/>
                <a:gd name="T78" fmla="*/ 174 w 201"/>
                <a:gd name="T79" fmla="*/ 93 h 213"/>
                <a:gd name="T80" fmla="*/ 179 w 201"/>
                <a:gd name="T81" fmla="*/ 87 h 213"/>
                <a:gd name="T82" fmla="*/ 180 w 201"/>
                <a:gd name="T83" fmla="*/ 78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1" h="213">
                  <a:moveTo>
                    <a:pt x="178" y="69"/>
                  </a:moveTo>
                  <a:cubicBezTo>
                    <a:pt x="177" y="68"/>
                    <a:pt x="177" y="68"/>
                    <a:pt x="177" y="68"/>
                  </a:cubicBezTo>
                  <a:cubicBezTo>
                    <a:pt x="175" y="65"/>
                    <a:pt x="175" y="65"/>
                    <a:pt x="175" y="65"/>
                  </a:cubicBezTo>
                  <a:cubicBezTo>
                    <a:pt x="176" y="62"/>
                    <a:pt x="176" y="62"/>
                    <a:pt x="176" y="62"/>
                  </a:cubicBezTo>
                  <a:cubicBezTo>
                    <a:pt x="175" y="56"/>
                    <a:pt x="175" y="56"/>
                    <a:pt x="175" y="56"/>
                  </a:cubicBezTo>
                  <a:cubicBezTo>
                    <a:pt x="172" y="53"/>
                    <a:pt x="172" y="53"/>
                    <a:pt x="172" y="53"/>
                  </a:cubicBezTo>
                  <a:cubicBezTo>
                    <a:pt x="166" y="49"/>
                    <a:pt x="166" y="49"/>
                    <a:pt x="166" y="49"/>
                  </a:cubicBezTo>
                  <a:cubicBezTo>
                    <a:pt x="164" y="45"/>
                    <a:pt x="164" y="45"/>
                    <a:pt x="164" y="45"/>
                  </a:cubicBezTo>
                  <a:cubicBezTo>
                    <a:pt x="157" y="44"/>
                    <a:pt x="157" y="44"/>
                    <a:pt x="157" y="44"/>
                  </a:cubicBezTo>
                  <a:cubicBezTo>
                    <a:pt x="148" y="44"/>
                    <a:pt x="148" y="44"/>
                    <a:pt x="148" y="44"/>
                  </a:cubicBezTo>
                  <a:cubicBezTo>
                    <a:pt x="146" y="42"/>
                    <a:pt x="146" y="42"/>
                    <a:pt x="146" y="42"/>
                  </a:cubicBezTo>
                  <a:cubicBezTo>
                    <a:pt x="140" y="42"/>
                    <a:pt x="140" y="42"/>
                    <a:pt x="140" y="42"/>
                  </a:cubicBezTo>
                  <a:cubicBezTo>
                    <a:pt x="132" y="41"/>
                    <a:pt x="132" y="41"/>
                    <a:pt x="132" y="41"/>
                  </a:cubicBezTo>
                  <a:cubicBezTo>
                    <a:pt x="131" y="39"/>
                    <a:pt x="131" y="39"/>
                    <a:pt x="131" y="39"/>
                  </a:cubicBezTo>
                  <a:cubicBezTo>
                    <a:pt x="125" y="36"/>
                    <a:pt x="125" y="36"/>
                    <a:pt x="125" y="36"/>
                  </a:cubicBezTo>
                  <a:cubicBezTo>
                    <a:pt x="118" y="35"/>
                    <a:pt x="118" y="35"/>
                    <a:pt x="118" y="35"/>
                  </a:cubicBezTo>
                  <a:cubicBezTo>
                    <a:pt x="111" y="33"/>
                    <a:pt x="111" y="33"/>
                    <a:pt x="111" y="33"/>
                  </a:cubicBezTo>
                  <a:cubicBezTo>
                    <a:pt x="103" y="30"/>
                    <a:pt x="103" y="30"/>
                    <a:pt x="103" y="30"/>
                  </a:cubicBezTo>
                  <a:cubicBezTo>
                    <a:pt x="98" y="27"/>
                    <a:pt x="98" y="27"/>
                    <a:pt x="98" y="27"/>
                  </a:cubicBezTo>
                  <a:cubicBezTo>
                    <a:pt x="94" y="27"/>
                    <a:pt x="94" y="27"/>
                    <a:pt x="94" y="27"/>
                  </a:cubicBezTo>
                  <a:cubicBezTo>
                    <a:pt x="93" y="27"/>
                    <a:pt x="93" y="27"/>
                    <a:pt x="93" y="27"/>
                  </a:cubicBezTo>
                  <a:cubicBezTo>
                    <a:pt x="91" y="25"/>
                    <a:pt x="91" y="25"/>
                    <a:pt x="91" y="25"/>
                  </a:cubicBezTo>
                  <a:cubicBezTo>
                    <a:pt x="89" y="22"/>
                    <a:pt x="89" y="22"/>
                    <a:pt x="89" y="22"/>
                  </a:cubicBezTo>
                  <a:cubicBezTo>
                    <a:pt x="82" y="20"/>
                    <a:pt x="82" y="20"/>
                    <a:pt x="82" y="20"/>
                  </a:cubicBezTo>
                  <a:cubicBezTo>
                    <a:pt x="82" y="20"/>
                    <a:pt x="82" y="20"/>
                    <a:pt x="82" y="20"/>
                  </a:cubicBezTo>
                  <a:cubicBezTo>
                    <a:pt x="81" y="20"/>
                    <a:pt x="81" y="20"/>
                    <a:pt x="81" y="20"/>
                  </a:cubicBezTo>
                  <a:cubicBezTo>
                    <a:pt x="78" y="18"/>
                    <a:pt x="78" y="18"/>
                    <a:pt x="78" y="18"/>
                  </a:cubicBezTo>
                  <a:cubicBezTo>
                    <a:pt x="75" y="16"/>
                    <a:pt x="75" y="16"/>
                    <a:pt x="75" y="16"/>
                  </a:cubicBezTo>
                  <a:cubicBezTo>
                    <a:pt x="72" y="15"/>
                    <a:pt x="72" y="15"/>
                    <a:pt x="72" y="15"/>
                  </a:cubicBezTo>
                  <a:cubicBezTo>
                    <a:pt x="70" y="17"/>
                    <a:pt x="70" y="17"/>
                    <a:pt x="70" y="17"/>
                  </a:cubicBezTo>
                  <a:cubicBezTo>
                    <a:pt x="67" y="18"/>
                    <a:pt x="67" y="18"/>
                    <a:pt x="67" y="18"/>
                  </a:cubicBezTo>
                  <a:cubicBezTo>
                    <a:pt x="66" y="17"/>
                    <a:pt x="66" y="17"/>
                    <a:pt x="66" y="17"/>
                  </a:cubicBezTo>
                  <a:cubicBezTo>
                    <a:pt x="67" y="15"/>
                    <a:pt x="67" y="15"/>
                    <a:pt x="67" y="15"/>
                  </a:cubicBezTo>
                  <a:cubicBezTo>
                    <a:pt x="68" y="9"/>
                    <a:pt x="68" y="9"/>
                    <a:pt x="68" y="9"/>
                  </a:cubicBezTo>
                  <a:cubicBezTo>
                    <a:pt x="69" y="7"/>
                    <a:pt x="69" y="7"/>
                    <a:pt x="69" y="7"/>
                  </a:cubicBezTo>
                  <a:cubicBezTo>
                    <a:pt x="70" y="2"/>
                    <a:pt x="70" y="2"/>
                    <a:pt x="70" y="2"/>
                  </a:cubicBezTo>
                  <a:cubicBezTo>
                    <a:pt x="67" y="0"/>
                    <a:pt x="67" y="0"/>
                    <a:pt x="67" y="0"/>
                  </a:cubicBezTo>
                  <a:cubicBezTo>
                    <a:pt x="65" y="1"/>
                    <a:pt x="65" y="1"/>
                    <a:pt x="65" y="1"/>
                  </a:cubicBezTo>
                  <a:cubicBezTo>
                    <a:pt x="61" y="3"/>
                    <a:pt x="61" y="3"/>
                    <a:pt x="61" y="3"/>
                  </a:cubicBezTo>
                  <a:cubicBezTo>
                    <a:pt x="57" y="4"/>
                    <a:pt x="57" y="4"/>
                    <a:pt x="57" y="4"/>
                  </a:cubicBezTo>
                  <a:cubicBezTo>
                    <a:pt x="52" y="6"/>
                    <a:pt x="52" y="6"/>
                    <a:pt x="52" y="6"/>
                  </a:cubicBezTo>
                  <a:cubicBezTo>
                    <a:pt x="47" y="9"/>
                    <a:pt x="47" y="9"/>
                    <a:pt x="47" y="9"/>
                  </a:cubicBezTo>
                  <a:cubicBezTo>
                    <a:pt x="39" y="13"/>
                    <a:pt x="39" y="13"/>
                    <a:pt x="39" y="13"/>
                  </a:cubicBezTo>
                  <a:cubicBezTo>
                    <a:pt x="37" y="16"/>
                    <a:pt x="37" y="16"/>
                    <a:pt x="37" y="16"/>
                  </a:cubicBezTo>
                  <a:cubicBezTo>
                    <a:pt x="33" y="16"/>
                    <a:pt x="33" y="16"/>
                    <a:pt x="33" y="16"/>
                  </a:cubicBezTo>
                  <a:cubicBezTo>
                    <a:pt x="28" y="14"/>
                    <a:pt x="28" y="14"/>
                    <a:pt x="28" y="14"/>
                  </a:cubicBezTo>
                  <a:cubicBezTo>
                    <a:pt x="25" y="11"/>
                    <a:pt x="25" y="11"/>
                    <a:pt x="25" y="11"/>
                  </a:cubicBezTo>
                  <a:cubicBezTo>
                    <a:pt x="21" y="15"/>
                    <a:pt x="21" y="15"/>
                    <a:pt x="21" y="15"/>
                  </a:cubicBezTo>
                  <a:cubicBezTo>
                    <a:pt x="20" y="43"/>
                    <a:pt x="20" y="43"/>
                    <a:pt x="20" y="43"/>
                  </a:cubicBezTo>
                  <a:cubicBezTo>
                    <a:pt x="7" y="51"/>
                    <a:pt x="7" y="51"/>
                    <a:pt x="7" y="51"/>
                  </a:cubicBezTo>
                  <a:cubicBezTo>
                    <a:pt x="5" y="55"/>
                    <a:pt x="5" y="55"/>
                    <a:pt x="5" y="55"/>
                  </a:cubicBezTo>
                  <a:cubicBezTo>
                    <a:pt x="0" y="66"/>
                    <a:pt x="0" y="66"/>
                    <a:pt x="0" y="66"/>
                  </a:cubicBezTo>
                  <a:cubicBezTo>
                    <a:pt x="5" y="72"/>
                    <a:pt x="5" y="72"/>
                    <a:pt x="5" y="72"/>
                  </a:cubicBezTo>
                  <a:cubicBezTo>
                    <a:pt x="7" y="72"/>
                    <a:pt x="7" y="72"/>
                    <a:pt x="7" y="72"/>
                  </a:cubicBezTo>
                  <a:cubicBezTo>
                    <a:pt x="5" y="89"/>
                    <a:pt x="5" y="89"/>
                    <a:pt x="5" y="89"/>
                  </a:cubicBezTo>
                  <a:cubicBezTo>
                    <a:pt x="4" y="107"/>
                    <a:pt x="4" y="107"/>
                    <a:pt x="4" y="107"/>
                  </a:cubicBezTo>
                  <a:cubicBezTo>
                    <a:pt x="10" y="112"/>
                    <a:pt x="10" y="112"/>
                    <a:pt x="10" y="112"/>
                  </a:cubicBezTo>
                  <a:cubicBezTo>
                    <a:pt x="19" y="117"/>
                    <a:pt x="19" y="117"/>
                    <a:pt x="19" y="117"/>
                  </a:cubicBezTo>
                  <a:cubicBezTo>
                    <a:pt x="33" y="125"/>
                    <a:pt x="33" y="125"/>
                    <a:pt x="33" y="125"/>
                  </a:cubicBezTo>
                  <a:cubicBezTo>
                    <a:pt x="42" y="135"/>
                    <a:pt x="42" y="135"/>
                    <a:pt x="42" y="135"/>
                  </a:cubicBezTo>
                  <a:cubicBezTo>
                    <a:pt x="45" y="139"/>
                    <a:pt x="45" y="139"/>
                    <a:pt x="45" y="139"/>
                  </a:cubicBezTo>
                  <a:cubicBezTo>
                    <a:pt x="52" y="144"/>
                    <a:pt x="52" y="144"/>
                    <a:pt x="52" y="144"/>
                  </a:cubicBezTo>
                  <a:cubicBezTo>
                    <a:pt x="60" y="152"/>
                    <a:pt x="60" y="152"/>
                    <a:pt x="60" y="152"/>
                  </a:cubicBezTo>
                  <a:cubicBezTo>
                    <a:pt x="61" y="159"/>
                    <a:pt x="61" y="159"/>
                    <a:pt x="61" y="159"/>
                  </a:cubicBezTo>
                  <a:cubicBezTo>
                    <a:pt x="60" y="166"/>
                    <a:pt x="60" y="166"/>
                    <a:pt x="60" y="166"/>
                  </a:cubicBezTo>
                  <a:cubicBezTo>
                    <a:pt x="63" y="173"/>
                    <a:pt x="63" y="173"/>
                    <a:pt x="63" y="173"/>
                  </a:cubicBezTo>
                  <a:cubicBezTo>
                    <a:pt x="65" y="176"/>
                    <a:pt x="65" y="176"/>
                    <a:pt x="65" y="176"/>
                  </a:cubicBezTo>
                  <a:cubicBezTo>
                    <a:pt x="65" y="183"/>
                    <a:pt x="65" y="183"/>
                    <a:pt x="65" y="183"/>
                  </a:cubicBezTo>
                  <a:cubicBezTo>
                    <a:pt x="65" y="187"/>
                    <a:pt x="65" y="187"/>
                    <a:pt x="65" y="187"/>
                  </a:cubicBezTo>
                  <a:cubicBezTo>
                    <a:pt x="65" y="193"/>
                    <a:pt x="65" y="193"/>
                    <a:pt x="65" y="193"/>
                  </a:cubicBezTo>
                  <a:cubicBezTo>
                    <a:pt x="67" y="198"/>
                    <a:pt x="67" y="198"/>
                    <a:pt x="67" y="198"/>
                  </a:cubicBezTo>
                  <a:cubicBezTo>
                    <a:pt x="67" y="203"/>
                    <a:pt x="67" y="203"/>
                    <a:pt x="67" y="203"/>
                  </a:cubicBezTo>
                  <a:cubicBezTo>
                    <a:pt x="72" y="203"/>
                    <a:pt x="72" y="203"/>
                    <a:pt x="72" y="203"/>
                  </a:cubicBezTo>
                  <a:cubicBezTo>
                    <a:pt x="72" y="203"/>
                    <a:pt x="76" y="207"/>
                    <a:pt x="77" y="207"/>
                  </a:cubicBezTo>
                  <a:cubicBezTo>
                    <a:pt x="78" y="207"/>
                    <a:pt x="82" y="209"/>
                    <a:pt x="82" y="209"/>
                  </a:cubicBezTo>
                  <a:cubicBezTo>
                    <a:pt x="85" y="213"/>
                    <a:pt x="85" y="213"/>
                    <a:pt x="85" y="213"/>
                  </a:cubicBezTo>
                  <a:cubicBezTo>
                    <a:pt x="184" y="207"/>
                    <a:pt x="184" y="207"/>
                    <a:pt x="184" y="207"/>
                  </a:cubicBezTo>
                  <a:cubicBezTo>
                    <a:pt x="184" y="195"/>
                    <a:pt x="184" y="195"/>
                    <a:pt x="184" y="195"/>
                  </a:cubicBezTo>
                  <a:cubicBezTo>
                    <a:pt x="184" y="191"/>
                    <a:pt x="184" y="191"/>
                    <a:pt x="184" y="191"/>
                  </a:cubicBezTo>
                  <a:cubicBezTo>
                    <a:pt x="179" y="179"/>
                    <a:pt x="179" y="179"/>
                    <a:pt x="179" y="179"/>
                  </a:cubicBezTo>
                  <a:cubicBezTo>
                    <a:pt x="178" y="172"/>
                    <a:pt x="178" y="172"/>
                    <a:pt x="178" y="172"/>
                  </a:cubicBezTo>
                  <a:cubicBezTo>
                    <a:pt x="179" y="164"/>
                    <a:pt x="179" y="164"/>
                    <a:pt x="179" y="164"/>
                  </a:cubicBezTo>
                  <a:cubicBezTo>
                    <a:pt x="181" y="158"/>
                    <a:pt x="181" y="158"/>
                    <a:pt x="181" y="158"/>
                  </a:cubicBezTo>
                  <a:cubicBezTo>
                    <a:pt x="182" y="155"/>
                    <a:pt x="182" y="155"/>
                    <a:pt x="182" y="155"/>
                  </a:cubicBezTo>
                  <a:cubicBezTo>
                    <a:pt x="184" y="152"/>
                    <a:pt x="184" y="152"/>
                    <a:pt x="184" y="152"/>
                  </a:cubicBezTo>
                  <a:cubicBezTo>
                    <a:pt x="182" y="147"/>
                    <a:pt x="182" y="147"/>
                    <a:pt x="182" y="147"/>
                  </a:cubicBezTo>
                  <a:cubicBezTo>
                    <a:pt x="182" y="140"/>
                    <a:pt x="182" y="140"/>
                    <a:pt x="182" y="140"/>
                  </a:cubicBezTo>
                  <a:cubicBezTo>
                    <a:pt x="182" y="136"/>
                    <a:pt x="182" y="136"/>
                    <a:pt x="182" y="136"/>
                  </a:cubicBezTo>
                  <a:cubicBezTo>
                    <a:pt x="184" y="133"/>
                    <a:pt x="184" y="133"/>
                    <a:pt x="184" y="133"/>
                  </a:cubicBezTo>
                  <a:cubicBezTo>
                    <a:pt x="184" y="131"/>
                    <a:pt x="184" y="131"/>
                    <a:pt x="184" y="131"/>
                  </a:cubicBezTo>
                  <a:cubicBezTo>
                    <a:pt x="188" y="127"/>
                    <a:pt x="188" y="127"/>
                    <a:pt x="188" y="127"/>
                  </a:cubicBezTo>
                  <a:cubicBezTo>
                    <a:pt x="188" y="125"/>
                    <a:pt x="188" y="125"/>
                    <a:pt x="188" y="125"/>
                  </a:cubicBezTo>
                  <a:cubicBezTo>
                    <a:pt x="186" y="121"/>
                    <a:pt x="186" y="121"/>
                    <a:pt x="186" y="121"/>
                  </a:cubicBezTo>
                  <a:cubicBezTo>
                    <a:pt x="186" y="118"/>
                    <a:pt x="186" y="118"/>
                    <a:pt x="186" y="118"/>
                  </a:cubicBezTo>
                  <a:cubicBezTo>
                    <a:pt x="187" y="110"/>
                    <a:pt x="187" y="110"/>
                    <a:pt x="187" y="110"/>
                  </a:cubicBezTo>
                  <a:cubicBezTo>
                    <a:pt x="188" y="105"/>
                    <a:pt x="188" y="105"/>
                    <a:pt x="188" y="105"/>
                  </a:cubicBezTo>
                  <a:cubicBezTo>
                    <a:pt x="191" y="99"/>
                    <a:pt x="191" y="99"/>
                    <a:pt x="191" y="99"/>
                  </a:cubicBezTo>
                  <a:cubicBezTo>
                    <a:pt x="196" y="89"/>
                    <a:pt x="196" y="89"/>
                    <a:pt x="196" y="89"/>
                  </a:cubicBezTo>
                  <a:cubicBezTo>
                    <a:pt x="197" y="85"/>
                    <a:pt x="197" y="85"/>
                    <a:pt x="197" y="85"/>
                  </a:cubicBezTo>
                  <a:cubicBezTo>
                    <a:pt x="197" y="82"/>
                    <a:pt x="197" y="82"/>
                    <a:pt x="197" y="82"/>
                  </a:cubicBezTo>
                  <a:cubicBezTo>
                    <a:pt x="201" y="81"/>
                    <a:pt x="201" y="81"/>
                    <a:pt x="201" y="81"/>
                  </a:cubicBezTo>
                  <a:cubicBezTo>
                    <a:pt x="201" y="79"/>
                    <a:pt x="201" y="79"/>
                    <a:pt x="201" y="79"/>
                  </a:cubicBezTo>
                  <a:cubicBezTo>
                    <a:pt x="201" y="77"/>
                    <a:pt x="201" y="77"/>
                    <a:pt x="201" y="77"/>
                  </a:cubicBezTo>
                  <a:cubicBezTo>
                    <a:pt x="201" y="75"/>
                    <a:pt x="201" y="75"/>
                    <a:pt x="201" y="75"/>
                  </a:cubicBezTo>
                  <a:cubicBezTo>
                    <a:pt x="201" y="73"/>
                    <a:pt x="201" y="73"/>
                    <a:pt x="201" y="73"/>
                  </a:cubicBezTo>
                  <a:cubicBezTo>
                    <a:pt x="201" y="71"/>
                    <a:pt x="201" y="71"/>
                    <a:pt x="201" y="71"/>
                  </a:cubicBezTo>
                  <a:cubicBezTo>
                    <a:pt x="197" y="75"/>
                    <a:pt x="197" y="75"/>
                    <a:pt x="197" y="75"/>
                  </a:cubicBezTo>
                  <a:cubicBezTo>
                    <a:pt x="194" y="79"/>
                    <a:pt x="194" y="79"/>
                    <a:pt x="194" y="79"/>
                  </a:cubicBezTo>
                  <a:cubicBezTo>
                    <a:pt x="193" y="84"/>
                    <a:pt x="193" y="84"/>
                    <a:pt x="193" y="84"/>
                  </a:cubicBezTo>
                  <a:cubicBezTo>
                    <a:pt x="190" y="90"/>
                    <a:pt x="190" y="90"/>
                    <a:pt x="190" y="90"/>
                  </a:cubicBezTo>
                  <a:cubicBezTo>
                    <a:pt x="187" y="92"/>
                    <a:pt x="187" y="92"/>
                    <a:pt x="187" y="92"/>
                  </a:cubicBezTo>
                  <a:cubicBezTo>
                    <a:pt x="181" y="95"/>
                    <a:pt x="181" y="95"/>
                    <a:pt x="181" y="95"/>
                  </a:cubicBezTo>
                  <a:cubicBezTo>
                    <a:pt x="178" y="99"/>
                    <a:pt x="178" y="99"/>
                    <a:pt x="178" y="99"/>
                  </a:cubicBezTo>
                  <a:cubicBezTo>
                    <a:pt x="177" y="101"/>
                    <a:pt x="177" y="101"/>
                    <a:pt x="177" y="101"/>
                  </a:cubicBezTo>
                  <a:cubicBezTo>
                    <a:pt x="175" y="105"/>
                    <a:pt x="175" y="105"/>
                    <a:pt x="175" y="105"/>
                  </a:cubicBezTo>
                  <a:cubicBezTo>
                    <a:pt x="171" y="110"/>
                    <a:pt x="171" y="110"/>
                    <a:pt x="171" y="110"/>
                  </a:cubicBezTo>
                  <a:cubicBezTo>
                    <a:pt x="168" y="107"/>
                    <a:pt x="168" y="107"/>
                    <a:pt x="168" y="107"/>
                  </a:cubicBezTo>
                  <a:cubicBezTo>
                    <a:pt x="171" y="103"/>
                    <a:pt x="171" y="103"/>
                    <a:pt x="171" y="103"/>
                  </a:cubicBezTo>
                  <a:cubicBezTo>
                    <a:pt x="173" y="96"/>
                    <a:pt x="173" y="96"/>
                    <a:pt x="173" y="96"/>
                  </a:cubicBezTo>
                  <a:cubicBezTo>
                    <a:pt x="174" y="93"/>
                    <a:pt x="174" y="93"/>
                    <a:pt x="174" y="93"/>
                  </a:cubicBezTo>
                  <a:cubicBezTo>
                    <a:pt x="175" y="91"/>
                    <a:pt x="175" y="91"/>
                    <a:pt x="175" y="91"/>
                  </a:cubicBezTo>
                  <a:cubicBezTo>
                    <a:pt x="177" y="89"/>
                    <a:pt x="177" y="89"/>
                    <a:pt x="177" y="89"/>
                  </a:cubicBezTo>
                  <a:cubicBezTo>
                    <a:pt x="179" y="87"/>
                    <a:pt x="179" y="87"/>
                    <a:pt x="179" y="87"/>
                  </a:cubicBezTo>
                  <a:cubicBezTo>
                    <a:pt x="180" y="85"/>
                    <a:pt x="180" y="85"/>
                    <a:pt x="180" y="85"/>
                  </a:cubicBezTo>
                  <a:cubicBezTo>
                    <a:pt x="179" y="80"/>
                    <a:pt x="179" y="80"/>
                    <a:pt x="179" y="80"/>
                  </a:cubicBezTo>
                  <a:cubicBezTo>
                    <a:pt x="180" y="78"/>
                    <a:pt x="180" y="78"/>
                    <a:pt x="180" y="78"/>
                  </a:cubicBezTo>
                  <a:cubicBezTo>
                    <a:pt x="179" y="76"/>
                    <a:pt x="179" y="76"/>
                    <a:pt x="179" y="76"/>
                  </a:cubicBezTo>
                  <a:lnTo>
                    <a:pt x="178" y="69"/>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5" name="Freeform 52"/>
            <p:cNvSpPr>
              <a:spLocks/>
            </p:cNvSpPr>
            <p:nvPr/>
          </p:nvSpPr>
          <p:spPr bwMode="auto">
            <a:xfrm>
              <a:off x="7268003" y="2274434"/>
              <a:ext cx="229357" cy="263085"/>
            </a:xfrm>
            <a:custGeom>
              <a:avLst/>
              <a:gdLst>
                <a:gd name="T0" fmla="*/ 114 w 136"/>
                <a:gd name="T1" fmla="*/ 8 h 156"/>
                <a:gd name="T2" fmla="*/ 101 w 136"/>
                <a:gd name="T3" fmla="*/ 17 h 156"/>
                <a:gd name="T4" fmla="*/ 93 w 136"/>
                <a:gd name="T5" fmla="*/ 22 h 156"/>
                <a:gd name="T6" fmla="*/ 88 w 136"/>
                <a:gd name="T7" fmla="*/ 27 h 156"/>
                <a:gd name="T8" fmla="*/ 82 w 136"/>
                <a:gd name="T9" fmla="*/ 27 h 156"/>
                <a:gd name="T10" fmla="*/ 74 w 136"/>
                <a:gd name="T11" fmla="*/ 33 h 156"/>
                <a:gd name="T12" fmla="*/ 69 w 136"/>
                <a:gd name="T13" fmla="*/ 33 h 156"/>
                <a:gd name="T14" fmla="*/ 65 w 136"/>
                <a:gd name="T15" fmla="*/ 31 h 156"/>
                <a:gd name="T16" fmla="*/ 60 w 136"/>
                <a:gd name="T17" fmla="*/ 29 h 156"/>
                <a:gd name="T18" fmla="*/ 55 w 136"/>
                <a:gd name="T19" fmla="*/ 27 h 156"/>
                <a:gd name="T20" fmla="*/ 47 w 136"/>
                <a:gd name="T21" fmla="*/ 23 h 156"/>
                <a:gd name="T22" fmla="*/ 0 w 136"/>
                <a:gd name="T23" fmla="*/ 28 h 156"/>
                <a:gd name="T24" fmla="*/ 16 w 136"/>
                <a:gd name="T25" fmla="*/ 136 h 156"/>
                <a:gd name="T26" fmla="*/ 22 w 136"/>
                <a:gd name="T27" fmla="*/ 133 h 156"/>
                <a:gd name="T28" fmla="*/ 31 w 136"/>
                <a:gd name="T29" fmla="*/ 140 h 156"/>
                <a:gd name="T30" fmla="*/ 34 w 136"/>
                <a:gd name="T31" fmla="*/ 146 h 156"/>
                <a:gd name="T32" fmla="*/ 42 w 136"/>
                <a:gd name="T33" fmla="*/ 148 h 156"/>
                <a:gd name="T34" fmla="*/ 46 w 136"/>
                <a:gd name="T35" fmla="*/ 151 h 156"/>
                <a:gd name="T36" fmla="*/ 49 w 136"/>
                <a:gd name="T37" fmla="*/ 149 h 156"/>
                <a:gd name="T38" fmla="*/ 52 w 136"/>
                <a:gd name="T39" fmla="*/ 146 h 156"/>
                <a:gd name="T40" fmla="*/ 60 w 136"/>
                <a:gd name="T41" fmla="*/ 150 h 156"/>
                <a:gd name="T42" fmla="*/ 67 w 136"/>
                <a:gd name="T43" fmla="*/ 148 h 156"/>
                <a:gd name="T44" fmla="*/ 71 w 136"/>
                <a:gd name="T45" fmla="*/ 144 h 156"/>
                <a:gd name="T46" fmla="*/ 75 w 136"/>
                <a:gd name="T47" fmla="*/ 146 h 156"/>
                <a:gd name="T48" fmla="*/ 83 w 136"/>
                <a:gd name="T49" fmla="*/ 155 h 156"/>
                <a:gd name="T50" fmla="*/ 85 w 136"/>
                <a:gd name="T51" fmla="*/ 156 h 156"/>
                <a:gd name="T52" fmla="*/ 92 w 136"/>
                <a:gd name="T53" fmla="*/ 149 h 156"/>
                <a:gd name="T54" fmla="*/ 94 w 136"/>
                <a:gd name="T55" fmla="*/ 142 h 156"/>
                <a:gd name="T56" fmla="*/ 100 w 136"/>
                <a:gd name="T57" fmla="*/ 128 h 156"/>
                <a:gd name="T58" fmla="*/ 105 w 136"/>
                <a:gd name="T59" fmla="*/ 130 h 156"/>
                <a:gd name="T60" fmla="*/ 109 w 136"/>
                <a:gd name="T61" fmla="*/ 116 h 156"/>
                <a:gd name="T62" fmla="*/ 118 w 136"/>
                <a:gd name="T63" fmla="*/ 110 h 156"/>
                <a:gd name="T64" fmla="*/ 129 w 136"/>
                <a:gd name="T65" fmla="*/ 99 h 156"/>
                <a:gd name="T66" fmla="*/ 131 w 136"/>
                <a:gd name="T67" fmla="*/ 91 h 156"/>
                <a:gd name="T68" fmla="*/ 132 w 136"/>
                <a:gd name="T69" fmla="*/ 77 h 156"/>
                <a:gd name="T70" fmla="*/ 133 w 136"/>
                <a:gd name="T71" fmla="*/ 70 h 156"/>
                <a:gd name="T72" fmla="*/ 133 w 136"/>
                <a:gd name="T73" fmla="*/ 61 h 156"/>
                <a:gd name="T74" fmla="*/ 133 w 136"/>
                <a:gd name="T75" fmla="*/ 55 h 156"/>
                <a:gd name="T76" fmla="*/ 126 w 136"/>
                <a:gd name="T7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156">
                  <a:moveTo>
                    <a:pt x="121" y="5"/>
                  </a:moveTo>
                  <a:lnTo>
                    <a:pt x="114" y="8"/>
                  </a:lnTo>
                  <a:lnTo>
                    <a:pt x="108" y="13"/>
                  </a:lnTo>
                  <a:lnTo>
                    <a:pt x="101" y="17"/>
                  </a:lnTo>
                  <a:lnTo>
                    <a:pt x="96" y="21"/>
                  </a:lnTo>
                  <a:lnTo>
                    <a:pt x="93" y="22"/>
                  </a:lnTo>
                  <a:lnTo>
                    <a:pt x="91" y="24"/>
                  </a:lnTo>
                  <a:lnTo>
                    <a:pt x="88" y="27"/>
                  </a:lnTo>
                  <a:lnTo>
                    <a:pt x="85" y="27"/>
                  </a:lnTo>
                  <a:lnTo>
                    <a:pt x="82" y="27"/>
                  </a:lnTo>
                  <a:lnTo>
                    <a:pt x="78" y="29"/>
                  </a:lnTo>
                  <a:lnTo>
                    <a:pt x="74" y="33"/>
                  </a:lnTo>
                  <a:lnTo>
                    <a:pt x="71" y="33"/>
                  </a:lnTo>
                  <a:lnTo>
                    <a:pt x="69" y="33"/>
                  </a:lnTo>
                  <a:lnTo>
                    <a:pt x="68" y="33"/>
                  </a:lnTo>
                  <a:lnTo>
                    <a:pt x="65" y="31"/>
                  </a:lnTo>
                  <a:lnTo>
                    <a:pt x="62" y="28"/>
                  </a:lnTo>
                  <a:lnTo>
                    <a:pt x="60" y="29"/>
                  </a:lnTo>
                  <a:lnTo>
                    <a:pt x="56" y="28"/>
                  </a:lnTo>
                  <a:lnTo>
                    <a:pt x="55" y="27"/>
                  </a:lnTo>
                  <a:lnTo>
                    <a:pt x="51" y="24"/>
                  </a:lnTo>
                  <a:lnTo>
                    <a:pt x="47" y="23"/>
                  </a:lnTo>
                  <a:lnTo>
                    <a:pt x="39" y="22"/>
                  </a:lnTo>
                  <a:lnTo>
                    <a:pt x="0" y="28"/>
                  </a:lnTo>
                  <a:lnTo>
                    <a:pt x="11" y="134"/>
                  </a:lnTo>
                  <a:lnTo>
                    <a:pt x="16" y="136"/>
                  </a:lnTo>
                  <a:lnTo>
                    <a:pt x="21" y="134"/>
                  </a:lnTo>
                  <a:lnTo>
                    <a:pt x="22" y="133"/>
                  </a:lnTo>
                  <a:lnTo>
                    <a:pt x="27" y="137"/>
                  </a:lnTo>
                  <a:lnTo>
                    <a:pt x="31" y="140"/>
                  </a:lnTo>
                  <a:lnTo>
                    <a:pt x="33" y="144"/>
                  </a:lnTo>
                  <a:lnTo>
                    <a:pt x="34" y="146"/>
                  </a:lnTo>
                  <a:lnTo>
                    <a:pt x="39" y="147"/>
                  </a:lnTo>
                  <a:lnTo>
                    <a:pt x="42" y="148"/>
                  </a:lnTo>
                  <a:lnTo>
                    <a:pt x="44" y="149"/>
                  </a:lnTo>
                  <a:lnTo>
                    <a:pt x="46" y="151"/>
                  </a:lnTo>
                  <a:lnTo>
                    <a:pt x="49" y="150"/>
                  </a:lnTo>
                  <a:lnTo>
                    <a:pt x="49" y="149"/>
                  </a:lnTo>
                  <a:lnTo>
                    <a:pt x="51" y="147"/>
                  </a:lnTo>
                  <a:lnTo>
                    <a:pt x="52" y="146"/>
                  </a:lnTo>
                  <a:lnTo>
                    <a:pt x="55" y="148"/>
                  </a:lnTo>
                  <a:lnTo>
                    <a:pt x="60" y="150"/>
                  </a:lnTo>
                  <a:lnTo>
                    <a:pt x="66" y="149"/>
                  </a:lnTo>
                  <a:lnTo>
                    <a:pt x="67" y="148"/>
                  </a:lnTo>
                  <a:lnTo>
                    <a:pt x="69" y="145"/>
                  </a:lnTo>
                  <a:lnTo>
                    <a:pt x="71" y="144"/>
                  </a:lnTo>
                  <a:lnTo>
                    <a:pt x="72" y="143"/>
                  </a:lnTo>
                  <a:lnTo>
                    <a:pt x="75" y="146"/>
                  </a:lnTo>
                  <a:lnTo>
                    <a:pt x="79" y="151"/>
                  </a:lnTo>
                  <a:lnTo>
                    <a:pt x="83" y="155"/>
                  </a:lnTo>
                  <a:lnTo>
                    <a:pt x="86" y="155"/>
                  </a:lnTo>
                  <a:lnTo>
                    <a:pt x="85" y="156"/>
                  </a:lnTo>
                  <a:lnTo>
                    <a:pt x="88" y="153"/>
                  </a:lnTo>
                  <a:lnTo>
                    <a:pt x="92" y="149"/>
                  </a:lnTo>
                  <a:lnTo>
                    <a:pt x="94" y="146"/>
                  </a:lnTo>
                  <a:lnTo>
                    <a:pt x="94" y="142"/>
                  </a:lnTo>
                  <a:lnTo>
                    <a:pt x="97" y="131"/>
                  </a:lnTo>
                  <a:lnTo>
                    <a:pt x="100" y="128"/>
                  </a:lnTo>
                  <a:lnTo>
                    <a:pt x="104" y="131"/>
                  </a:lnTo>
                  <a:lnTo>
                    <a:pt x="105" y="130"/>
                  </a:lnTo>
                  <a:lnTo>
                    <a:pt x="106" y="120"/>
                  </a:lnTo>
                  <a:lnTo>
                    <a:pt x="109" y="116"/>
                  </a:lnTo>
                  <a:lnTo>
                    <a:pt x="113" y="110"/>
                  </a:lnTo>
                  <a:lnTo>
                    <a:pt x="118" y="110"/>
                  </a:lnTo>
                  <a:lnTo>
                    <a:pt x="121" y="106"/>
                  </a:lnTo>
                  <a:lnTo>
                    <a:pt x="129" y="99"/>
                  </a:lnTo>
                  <a:lnTo>
                    <a:pt x="131" y="94"/>
                  </a:lnTo>
                  <a:lnTo>
                    <a:pt x="131" y="91"/>
                  </a:lnTo>
                  <a:lnTo>
                    <a:pt x="132" y="83"/>
                  </a:lnTo>
                  <a:lnTo>
                    <a:pt x="132" y="77"/>
                  </a:lnTo>
                  <a:lnTo>
                    <a:pt x="133" y="74"/>
                  </a:lnTo>
                  <a:lnTo>
                    <a:pt x="133" y="70"/>
                  </a:lnTo>
                  <a:lnTo>
                    <a:pt x="133" y="62"/>
                  </a:lnTo>
                  <a:lnTo>
                    <a:pt x="133" y="61"/>
                  </a:lnTo>
                  <a:lnTo>
                    <a:pt x="132" y="58"/>
                  </a:lnTo>
                  <a:lnTo>
                    <a:pt x="133" y="55"/>
                  </a:lnTo>
                  <a:lnTo>
                    <a:pt x="136" y="55"/>
                  </a:lnTo>
                  <a:lnTo>
                    <a:pt x="126" y="0"/>
                  </a:lnTo>
                  <a:lnTo>
                    <a:pt x="121" y="5"/>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6" name="Freeform 53"/>
            <p:cNvSpPr>
              <a:spLocks/>
            </p:cNvSpPr>
            <p:nvPr/>
          </p:nvSpPr>
          <p:spPr bwMode="auto">
            <a:xfrm>
              <a:off x="7119596" y="2319969"/>
              <a:ext cx="168644" cy="290068"/>
            </a:xfrm>
            <a:custGeom>
              <a:avLst/>
              <a:gdLst>
                <a:gd name="T0" fmla="*/ 5 w 100"/>
                <a:gd name="T1" fmla="*/ 167 h 172"/>
                <a:gd name="T2" fmla="*/ 16 w 100"/>
                <a:gd name="T3" fmla="*/ 163 h 172"/>
                <a:gd name="T4" fmla="*/ 24 w 100"/>
                <a:gd name="T5" fmla="*/ 163 h 172"/>
                <a:gd name="T6" fmla="*/ 31 w 100"/>
                <a:gd name="T7" fmla="*/ 168 h 172"/>
                <a:gd name="T8" fmla="*/ 32 w 100"/>
                <a:gd name="T9" fmla="*/ 163 h 172"/>
                <a:gd name="T10" fmla="*/ 38 w 100"/>
                <a:gd name="T11" fmla="*/ 161 h 172"/>
                <a:gd name="T12" fmla="*/ 44 w 100"/>
                <a:gd name="T13" fmla="*/ 163 h 172"/>
                <a:gd name="T14" fmla="*/ 49 w 100"/>
                <a:gd name="T15" fmla="*/ 161 h 172"/>
                <a:gd name="T16" fmla="*/ 52 w 100"/>
                <a:gd name="T17" fmla="*/ 154 h 172"/>
                <a:gd name="T18" fmla="*/ 55 w 100"/>
                <a:gd name="T19" fmla="*/ 150 h 172"/>
                <a:gd name="T20" fmla="*/ 59 w 100"/>
                <a:gd name="T21" fmla="*/ 157 h 172"/>
                <a:gd name="T22" fmla="*/ 66 w 100"/>
                <a:gd name="T23" fmla="*/ 157 h 172"/>
                <a:gd name="T24" fmla="*/ 68 w 100"/>
                <a:gd name="T25" fmla="*/ 150 h 172"/>
                <a:gd name="T26" fmla="*/ 74 w 100"/>
                <a:gd name="T27" fmla="*/ 145 h 172"/>
                <a:gd name="T28" fmla="*/ 78 w 100"/>
                <a:gd name="T29" fmla="*/ 139 h 172"/>
                <a:gd name="T30" fmla="*/ 80 w 100"/>
                <a:gd name="T31" fmla="*/ 131 h 172"/>
                <a:gd name="T32" fmla="*/ 81 w 100"/>
                <a:gd name="T33" fmla="*/ 127 h 172"/>
                <a:gd name="T34" fmla="*/ 90 w 100"/>
                <a:gd name="T35" fmla="*/ 125 h 172"/>
                <a:gd name="T36" fmla="*/ 98 w 100"/>
                <a:gd name="T37" fmla="*/ 123 h 172"/>
                <a:gd name="T38" fmla="*/ 99 w 100"/>
                <a:gd name="T39" fmla="*/ 115 h 172"/>
                <a:gd name="T40" fmla="*/ 98 w 100"/>
                <a:gd name="T41" fmla="*/ 112 h 172"/>
                <a:gd name="T42" fmla="*/ 99 w 100"/>
                <a:gd name="T43" fmla="*/ 107 h 172"/>
                <a:gd name="T44" fmla="*/ 88 w 100"/>
                <a:gd name="T45" fmla="*/ 0 h 172"/>
                <a:gd name="T46" fmla="*/ 27 w 100"/>
                <a:gd name="T47" fmla="*/ 5 h 172"/>
                <a:gd name="T48" fmla="*/ 16 w 100"/>
                <a:gd name="T49" fmla="*/ 12 h 172"/>
                <a:gd name="T50" fmla="*/ 8 w 100"/>
                <a:gd name="T51" fmla="*/ 12 h 172"/>
                <a:gd name="T52" fmla="*/ 10 w 100"/>
                <a:gd name="T53" fmla="*/ 106 h 172"/>
                <a:gd name="T54" fmla="*/ 10 w 100"/>
                <a:gd name="T55" fmla="*/ 113 h 172"/>
                <a:gd name="T56" fmla="*/ 15 w 100"/>
                <a:gd name="T57" fmla="*/ 124 h 172"/>
                <a:gd name="T58" fmla="*/ 16 w 100"/>
                <a:gd name="T59" fmla="*/ 134 h 172"/>
                <a:gd name="T60" fmla="*/ 11 w 100"/>
                <a:gd name="T61" fmla="*/ 140 h 172"/>
                <a:gd name="T62" fmla="*/ 8 w 100"/>
                <a:gd name="T63" fmla="*/ 147 h 172"/>
                <a:gd name="T64" fmla="*/ 4 w 100"/>
                <a:gd name="T65" fmla="*/ 156 h 172"/>
                <a:gd name="T66" fmla="*/ 0 w 100"/>
                <a:gd name="T67" fmla="*/ 161 h 172"/>
                <a:gd name="T68" fmla="*/ 1 w 100"/>
                <a:gd name="T69" fmla="*/ 171 h 172"/>
                <a:gd name="T70" fmla="*/ 2 w 100"/>
                <a:gd name="T71"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172">
                  <a:moveTo>
                    <a:pt x="5" y="172"/>
                  </a:moveTo>
                  <a:lnTo>
                    <a:pt x="5" y="167"/>
                  </a:lnTo>
                  <a:lnTo>
                    <a:pt x="13" y="167"/>
                  </a:lnTo>
                  <a:lnTo>
                    <a:pt x="16" y="163"/>
                  </a:lnTo>
                  <a:lnTo>
                    <a:pt x="19" y="163"/>
                  </a:lnTo>
                  <a:lnTo>
                    <a:pt x="24" y="163"/>
                  </a:lnTo>
                  <a:lnTo>
                    <a:pt x="27" y="166"/>
                  </a:lnTo>
                  <a:lnTo>
                    <a:pt x="31" y="168"/>
                  </a:lnTo>
                  <a:lnTo>
                    <a:pt x="32" y="167"/>
                  </a:lnTo>
                  <a:lnTo>
                    <a:pt x="32" y="163"/>
                  </a:lnTo>
                  <a:lnTo>
                    <a:pt x="36" y="162"/>
                  </a:lnTo>
                  <a:lnTo>
                    <a:pt x="38" y="161"/>
                  </a:lnTo>
                  <a:lnTo>
                    <a:pt x="42" y="161"/>
                  </a:lnTo>
                  <a:lnTo>
                    <a:pt x="44" y="163"/>
                  </a:lnTo>
                  <a:lnTo>
                    <a:pt x="48" y="164"/>
                  </a:lnTo>
                  <a:lnTo>
                    <a:pt x="49" y="161"/>
                  </a:lnTo>
                  <a:lnTo>
                    <a:pt x="49" y="157"/>
                  </a:lnTo>
                  <a:lnTo>
                    <a:pt x="52" y="154"/>
                  </a:lnTo>
                  <a:lnTo>
                    <a:pt x="53" y="150"/>
                  </a:lnTo>
                  <a:lnTo>
                    <a:pt x="55" y="150"/>
                  </a:lnTo>
                  <a:lnTo>
                    <a:pt x="56" y="154"/>
                  </a:lnTo>
                  <a:lnTo>
                    <a:pt x="59" y="157"/>
                  </a:lnTo>
                  <a:lnTo>
                    <a:pt x="60" y="158"/>
                  </a:lnTo>
                  <a:lnTo>
                    <a:pt x="66" y="157"/>
                  </a:lnTo>
                  <a:lnTo>
                    <a:pt x="68" y="153"/>
                  </a:lnTo>
                  <a:lnTo>
                    <a:pt x="68" y="150"/>
                  </a:lnTo>
                  <a:lnTo>
                    <a:pt x="71" y="145"/>
                  </a:lnTo>
                  <a:lnTo>
                    <a:pt x="74" y="145"/>
                  </a:lnTo>
                  <a:lnTo>
                    <a:pt x="76" y="143"/>
                  </a:lnTo>
                  <a:lnTo>
                    <a:pt x="78" y="139"/>
                  </a:lnTo>
                  <a:lnTo>
                    <a:pt x="80" y="135"/>
                  </a:lnTo>
                  <a:lnTo>
                    <a:pt x="80" y="131"/>
                  </a:lnTo>
                  <a:lnTo>
                    <a:pt x="81" y="129"/>
                  </a:lnTo>
                  <a:lnTo>
                    <a:pt x="81" y="127"/>
                  </a:lnTo>
                  <a:lnTo>
                    <a:pt x="82" y="126"/>
                  </a:lnTo>
                  <a:lnTo>
                    <a:pt x="90" y="125"/>
                  </a:lnTo>
                  <a:lnTo>
                    <a:pt x="94" y="123"/>
                  </a:lnTo>
                  <a:lnTo>
                    <a:pt x="98" y="123"/>
                  </a:lnTo>
                  <a:lnTo>
                    <a:pt x="100" y="121"/>
                  </a:lnTo>
                  <a:lnTo>
                    <a:pt x="99" y="115"/>
                  </a:lnTo>
                  <a:lnTo>
                    <a:pt x="100" y="113"/>
                  </a:lnTo>
                  <a:lnTo>
                    <a:pt x="98" y="112"/>
                  </a:lnTo>
                  <a:lnTo>
                    <a:pt x="97" y="108"/>
                  </a:lnTo>
                  <a:lnTo>
                    <a:pt x="99" y="107"/>
                  </a:lnTo>
                  <a:lnTo>
                    <a:pt x="88" y="1"/>
                  </a:lnTo>
                  <a:lnTo>
                    <a:pt x="88" y="0"/>
                  </a:lnTo>
                  <a:lnTo>
                    <a:pt x="27" y="4"/>
                  </a:lnTo>
                  <a:lnTo>
                    <a:pt x="27" y="5"/>
                  </a:lnTo>
                  <a:lnTo>
                    <a:pt x="20" y="9"/>
                  </a:lnTo>
                  <a:lnTo>
                    <a:pt x="16" y="12"/>
                  </a:lnTo>
                  <a:lnTo>
                    <a:pt x="13" y="13"/>
                  </a:lnTo>
                  <a:lnTo>
                    <a:pt x="8" y="12"/>
                  </a:lnTo>
                  <a:lnTo>
                    <a:pt x="11" y="103"/>
                  </a:lnTo>
                  <a:lnTo>
                    <a:pt x="10" y="106"/>
                  </a:lnTo>
                  <a:lnTo>
                    <a:pt x="10" y="109"/>
                  </a:lnTo>
                  <a:lnTo>
                    <a:pt x="10" y="113"/>
                  </a:lnTo>
                  <a:lnTo>
                    <a:pt x="11" y="117"/>
                  </a:lnTo>
                  <a:lnTo>
                    <a:pt x="15" y="124"/>
                  </a:lnTo>
                  <a:lnTo>
                    <a:pt x="16" y="130"/>
                  </a:lnTo>
                  <a:lnTo>
                    <a:pt x="16" y="134"/>
                  </a:lnTo>
                  <a:lnTo>
                    <a:pt x="13" y="136"/>
                  </a:lnTo>
                  <a:lnTo>
                    <a:pt x="11" y="140"/>
                  </a:lnTo>
                  <a:lnTo>
                    <a:pt x="10" y="145"/>
                  </a:lnTo>
                  <a:lnTo>
                    <a:pt x="8" y="147"/>
                  </a:lnTo>
                  <a:lnTo>
                    <a:pt x="5" y="150"/>
                  </a:lnTo>
                  <a:lnTo>
                    <a:pt x="4" y="156"/>
                  </a:lnTo>
                  <a:lnTo>
                    <a:pt x="2" y="157"/>
                  </a:lnTo>
                  <a:lnTo>
                    <a:pt x="0" y="161"/>
                  </a:lnTo>
                  <a:lnTo>
                    <a:pt x="0" y="167"/>
                  </a:lnTo>
                  <a:lnTo>
                    <a:pt x="1" y="171"/>
                  </a:lnTo>
                  <a:lnTo>
                    <a:pt x="2" y="172"/>
                  </a:lnTo>
                  <a:lnTo>
                    <a:pt x="2" y="172"/>
                  </a:lnTo>
                  <a:lnTo>
                    <a:pt x="5" y="172"/>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7" name="Freeform 54"/>
            <p:cNvSpPr>
              <a:spLocks/>
            </p:cNvSpPr>
            <p:nvPr/>
          </p:nvSpPr>
          <p:spPr bwMode="auto">
            <a:xfrm>
              <a:off x="6929028" y="2282867"/>
              <a:ext cx="217551" cy="381136"/>
            </a:xfrm>
            <a:custGeom>
              <a:avLst/>
              <a:gdLst>
                <a:gd name="T0" fmla="*/ 88 w 129"/>
                <a:gd name="T1" fmla="*/ 217 h 226"/>
                <a:gd name="T2" fmla="*/ 96 w 129"/>
                <a:gd name="T3" fmla="*/ 222 h 226"/>
                <a:gd name="T4" fmla="*/ 102 w 129"/>
                <a:gd name="T5" fmla="*/ 222 h 226"/>
                <a:gd name="T6" fmla="*/ 102 w 129"/>
                <a:gd name="T7" fmla="*/ 216 h 226"/>
                <a:gd name="T8" fmla="*/ 105 w 129"/>
                <a:gd name="T9" fmla="*/ 209 h 226"/>
                <a:gd name="T10" fmla="*/ 113 w 129"/>
                <a:gd name="T11" fmla="*/ 206 h 226"/>
                <a:gd name="T12" fmla="*/ 112 w 129"/>
                <a:gd name="T13" fmla="*/ 200 h 226"/>
                <a:gd name="T14" fmla="*/ 112 w 129"/>
                <a:gd name="T15" fmla="*/ 195 h 226"/>
                <a:gd name="T16" fmla="*/ 115 w 129"/>
                <a:gd name="T17" fmla="*/ 194 h 226"/>
                <a:gd name="T18" fmla="*/ 113 w 129"/>
                <a:gd name="T19" fmla="*/ 189 h 226"/>
                <a:gd name="T20" fmla="*/ 115 w 129"/>
                <a:gd name="T21" fmla="*/ 179 h 226"/>
                <a:gd name="T22" fmla="*/ 118 w 129"/>
                <a:gd name="T23" fmla="*/ 172 h 226"/>
                <a:gd name="T24" fmla="*/ 123 w 129"/>
                <a:gd name="T25" fmla="*/ 167 h 226"/>
                <a:gd name="T26" fmla="*/ 126 w 129"/>
                <a:gd name="T27" fmla="*/ 158 h 226"/>
                <a:gd name="T28" fmla="*/ 129 w 129"/>
                <a:gd name="T29" fmla="*/ 152 h 226"/>
                <a:gd name="T30" fmla="*/ 124 w 129"/>
                <a:gd name="T31" fmla="*/ 139 h 226"/>
                <a:gd name="T32" fmla="*/ 123 w 129"/>
                <a:gd name="T33" fmla="*/ 131 h 226"/>
                <a:gd name="T34" fmla="*/ 124 w 129"/>
                <a:gd name="T35" fmla="*/ 125 h 226"/>
                <a:gd name="T36" fmla="*/ 122 w 129"/>
                <a:gd name="T37" fmla="*/ 34 h 226"/>
                <a:gd name="T38" fmla="*/ 116 w 129"/>
                <a:gd name="T39" fmla="*/ 26 h 226"/>
                <a:gd name="T40" fmla="*/ 113 w 129"/>
                <a:gd name="T41" fmla="*/ 17 h 226"/>
                <a:gd name="T42" fmla="*/ 107 w 129"/>
                <a:gd name="T43" fmla="*/ 3 h 226"/>
                <a:gd name="T44" fmla="*/ 24 w 129"/>
                <a:gd name="T45" fmla="*/ 5 h 226"/>
                <a:gd name="T46" fmla="*/ 22 w 129"/>
                <a:gd name="T47" fmla="*/ 3 h 226"/>
                <a:gd name="T48" fmla="*/ 21 w 129"/>
                <a:gd name="T49" fmla="*/ 8 h 226"/>
                <a:gd name="T50" fmla="*/ 28 w 129"/>
                <a:gd name="T51" fmla="*/ 14 h 226"/>
                <a:gd name="T52" fmla="*/ 38 w 129"/>
                <a:gd name="T53" fmla="*/ 23 h 226"/>
                <a:gd name="T54" fmla="*/ 36 w 129"/>
                <a:gd name="T55" fmla="*/ 32 h 226"/>
                <a:gd name="T56" fmla="*/ 31 w 129"/>
                <a:gd name="T57" fmla="*/ 43 h 226"/>
                <a:gd name="T58" fmla="*/ 27 w 129"/>
                <a:gd name="T59" fmla="*/ 47 h 226"/>
                <a:gd name="T60" fmla="*/ 15 w 129"/>
                <a:gd name="T61" fmla="*/ 50 h 226"/>
                <a:gd name="T62" fmla="*/ 12 w 129"/>
                <a:gd name="T63" fmla="*/ 55 h 226"/>
                <a:gd name="T64" fmla="*/ 15 w 129"/>
                <a:gd name="T65" fmla="*/ 65 h 226"/>
                <a:gd name="T66" fmla="*/ 13 w 129"/>
                <a:gd name="T67" fmla="*/ 70 h 226"/>
                <a:gd name="T68" fmla="*/ 11 w 129"/>
                <a:gd name="T69" fmla="*/ 77 h 226"/>
                <a:gd name="T70" fmla="*/ 2 w 129"/>
                <a:gd name="T71" fmla="*/ 86 h 226"/>
                <a:gd name="T72" fmla="*/ 0 w 129"/>
                <a:gd name="T73" fmla="*/ 95 h 226"/>
                <a:gd name="T74" fmla="*/ 0 w 129"/>
                <a:gd name="T75" fmla="*/ 113 h 226"/>
                <a:gd name="T76" fmla="*/ 21 w 129"/>
                <a:gd name="T77" fmla="*/ 136 h 226"/>
                <a:gd name="T78" fmla="*/ 25 w 129"/>
                <a:gd name="T79" fmla="*/ 150 h 226"/>
                <a:gd name="T80" fmla="*/ 31 w 129"/>
                <a:gd name="T81" fmla="*/ 151 h 226"/>
                <a:gd name="T82" fmla="*/ 39 w 129"/>
                <a:gd name="T83" fmla="*/ 150 h 226"/>
                <a:gd name="T84" fmla="*/ 45 w 129"/>
                <a:gd name="T85" fmla="*/ 156 h 226"/>
                <a:gd name="T86" fmla="*/ 41 w 129"/>
                <a:gd name="T87" fmla="*/ 167 h 226"/>
                <a:gd name="T88" fmla="*/ 39 w 129"/>
                <a:gd name="T89" fmla="*/ 175 h 226"/>
                <a:gd name="T90" fmla="*/ 44 w 129"/>
                <a:gd name="T91" fmla="*/ 185 h 226"/>
                <a:gd name="T92" fmla="*/ 53 w 129"/>
                <a:gd name="T93" fmla="*/ 189 h 226"/>
                <a:gd name="T94" fmla="*/ 68 w 129"/>
                <a:gd name="T95" fmla="*/ 200 h 226"/>
                <a:gd name="T96" fmla="*/ 70 w 129"/>
                <a:gd name="T97" fmla="*/ 214 h 226"/>
                <a:gd name="T98" fmla="*/ 74 w 129"/>
                <a:gd name="T99" fmla="*/ 222 h 226"/>
                <a:gd name="T100" fmla="*/ 76 w 129"/>
                <a:gd name="T101" fmla="*/ 222 h 226"/>
                <a:gd name="T102" fmla="*/ 83 w 129"/>
                <a:gd name="T103" fmla="*/ 22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9" h="226">
                  <a:moveTo>
                    <a:pt x="86" y="218"/>
                  </a:moveTo>
                  <a:lnTo>
                    <a:pt x="88" y="217"/>
                  </a:lnTo>
                  <a:lnTo>
                    <a:pt x="92" y="219"/>
                  </a:lnTo>
                  <a:lnTo>
                    <a:pt x="96" y="222"/>
                  </a:lnTo>
                  <a:lnTo>
                    <a:pt x="99" y="222"/>
                  </a:lnTo>
                  <a:lnTo>
                    <a:pt x="102" y="222"/>
                  </a:lnTo>
                  <a:lnTo>
                    <a:pt x="104" y="221"/>
                  </a:lnTo>
                  <a:lnTo>
                    <a:pt x="102" y="216"/>
                  </a:lnTo>
                  <a:lnTo>
                    <a:pt x="102" y="211"/>
                  </a:lnTo>
                  <a:lnTo>
                    <a:pt x="105" y="209"/>
                  </a:lnTo>
                  <a:lnTo>
                    <a:pt x="111" y="207"/>
                  </a:lnTo>
                  <a:lnTo>
                    <a:pt x="113" y="206"/>
                  </a:lnTo>
                  <a:lnTo>
                    <a:pt x="112" y="203"/>
                  </a:lnTo>
                  <a:lnTo>
                    <a:pt x="112" y="200"/>
                  </a:lnTo>
                  <a:lnTo>
                    <a:pt x="112" y="199"/>
                  </a:lnTo>
                  <a:lnTo>
                    <a:pt x="112" y="195"/>
                  </a:lnTo>
                  <a:lnTo>
                    <a:pt x="115" y="194"/>
                  </a:lnTo>
                  <a:lnTo>
                    <a:pt x="115" y="194"/>
                  </a:lnTo>
                  <a:lnTo>
                    <a:pt x="114" y="193"/>
                  </a:lnTo>
                  <a:lnTo>
                    <a:pt x="113" y="189"/>
                  </a:lnTo>
                  <a:lnTo>
                    <a:pt x="113" y="183"/>
                  </a:lnTo>
                  <a:lnTo>
                    <a:pt x="115" y="179"/>
                  </a:lnTo>
                  <a:lnTo>
                    <a:pt x="117" y="178"/>
                  </a:lnTo>
                  <a:lnTo>
                    <a:pt x="118" y="172"/>
                  </a:lnTo>
                  <a:lnTo>
                    <a:pt x="121" y="169"/>
                  </a:lnTo>
                  <a:lnTo>
                    <a:pt x="123" y="167"/>
                  </a:lnTo>
                  <a:lnTo>
                    <a:pt x="124" y="162"/>
                  </a:lnTo>
                  <a:lnTo>
                    <a:pt x="126" y="158"/>
                  </a:lnTo>
                  <a:lnTo>
                    <a:pt x="129" y="156"/>
                  </a:lnTo>
                  <a:lnTo>
                    <a:pt x="129" y="152"/>
                  </a:lnTo>
                  <a:lnTo>
                    <a:pt x="128" y="146"/>
                  </a:lnTo>
                  <a:lnTo>
                    <a:pt x="124" y="139"/>
                  </a:lnTo>
                  <a:lnTo>
                    <a:pt x="123" y="135"/>
                  </a:lnTo>
                  <a:lnTo>
                    <a:pt x="123" y="131"/>
                  </a:lnTo>
                  <a:lnTo>
                    <a:pt x="123" y="128"/>
                  </a:lnTo>
                  <a:lnTo>
                    <a:pt x="124" y="125"/>
                  </a:lnTo>
                  <a:lnTo>
                    <a:pt x="121" y="34"/>
                  </a:lnTo>
                  <a:lnTo>
                    <a:pt x="122" y="34"/>
                  </a:lnTo>
                  <a:lnTo>
                    <a:pt x="118" y="31"/>
                  </a:lnTo>
                  <a:lnTo>
                    <a:pt x="116" y="26"/>
                  </a:lnTo>
                  <a:lnTo>
                    <a:pt x="114" y="23"/>
                  </a:lnTo>
                  <a:lnTo>
                    <a:pt x="113" y="17"/>
                  </a:lnTo>
                  <a:lnTo>
                    <a:pt x="109" y="13"/>
                  </a:lnTo>
                  <a:lnTo>
                    <a:pt x="107" y="3"/>
                  </a:lnTo>
                  <a:lnTo>
                    <a:pt x="107" y="0"/>
                  </a:lnTo>
                  <a:lnTo>
                    <a:pt x="24" y="5"/>
                  </a:lnTo>
                  <a:lnTo>
                    <a:pt x="22" y="3"/>
                  </a:lnTo>
                  <a:lnTo>
                    <a:pt x="22" y="3"/>
                  </a:lnTo>
                  <a:lnTo>
                    <a:pt x="21" y="6"/>
                  </a:lnTo>
                  <a:lnTo>
                    <a:pt x="21" y="8"/>
                  </a:lnTo>
                  <a:lnTo>
                    <a:pt x="24" y="11"/>
                  </a:lnTo>
                  <a:lnTo>
                    <a:pt x="28" y="14"/>
                  </a:lnTo>
                  <a:lnTo>
                    <a:pt x="33" y="18"/>
                  </a:lnTo>
                  <a:lnTo>
                    <a:pt x="38" y="23"/>
                  </a:lnTo>
                  <a:lnTo>
                    <a:pt x="38" y="26"/>
                  </a:lnTo>
                  <a:lnTo>
                    <a:pt x="36" y="32"/>
                  </a:lnTo>
                  <a:lnTo>
                    <a:pt x="34" y="35"/>
                  </a:lnTo>
                  <a:lnTo>
                    <a:pt x="31" y="43"/>
                  </a:lnTo>
                  <a:lnTo>
                    <a:pt x="29" y="45"/>
                  </a:lnTo>
                  <a:lnTo>
                    <a:pt x="27" y="47"/>
                  </a:lnTo>
                  <a:lnTo>
                    <a:pt x="21" y="50"/>
                  </a:lnTo>
                  <a:lnTo>
                    <a:pt x="15" y="50"/>
                  </a:lnTo>
                  <a:lnTo>
                    <a:pt x="12" y="51"/>
                  </a:lnTo>
                  <a:lnTo>
                    <a:pt x="12" y="55"/>
                  </a:lnTo>
                  <a:lnTo>
                    <a:pt x="12" y="58"/>
                  </a:lnTo>
                  <a:lnTo>
                    <a:pt x="15" y="65"/>
                  </a:lnTo>
                  <a:lnTo>
                    <a:pt x="17" y="67"/>
                  </a:lnTo>
                  <a:lnTo>
                    <a:pt x="13" y="70"/>
                  </a:lnTo>
                  <a:lnTo>
                    <a:pt x="13" y="77"/>
                  </a:lnTo>
                  <a:lnTo>
                    <a:pt x="11" y="77"/>
                  </a:lnTo>
                  <a:lnTo>
                    <a:pt x="8" y="80"/>
                  </a:lnTo>
                  <a:lnTo>
                    <a:pt x="2" y="86"/>
                  </a:lnTo>
                  <a:lnTo>
                    <a:pt x="3" y="92"/>
                  </a:lnTo>
                  <a:lnTo>
                    <a:pt x="0" y="95"/>
                  </a:lnTo>
                  <a:lnTo>
                    <a:pt x="0" y="104"/>
                  </a:lnTo>
                  <a:lnTo>
                    <a:pt x="0" y="113"/>
                  </a:lnTo>
                  <a:lnTo>
                    <a:pt x="6" y="123"/>
                  </a:lnTo>
                  <a:lnTo>
                    <a:pt x="21" y="136"/>
                  </a:lnTo>
                  <a:lnTo>
                    <a:pt x="25" y="142"/>
                  </a:lnTo>
                  <a:lnTo>
                    <a:pt x="25" y="150"/>
                  </a:lnTo>
                  <a:lnTo>
                    <a:pt x="30" y="154"/>
                  </a:lnTo>
                  <a:lnTo>
                    <a:pt x="31" y="151"/>
                  </a:lnTo>
                  <a:lnTo>
                    <a:pt x="34" y="150"/>
                  </a:lnTo>
                  <a:lnTo>
                    <a:pt x="39" y="150"/>
                  </a:lnTo>
                  <a:lnTo>
                    <a:pt x="42" y="153"/>
                  </a:lnTo>
                  <a:lnTo>
                    <a:pt x="45" y="156"/>
                  </a:lnTo>
                  <a:lnTo>
                    <a:pt x="42" y="162"/>
                  </a:lnTo>
                  <a:lnTo>
                    <a:pt x="41" y="167"/>
                  </a:lnTo>
                  <a:lnTo>
                    <a:pt x="41" y="170"/>
                  </a:lnTo>
                  <a:lnTo>
                    <a:pt x="39" y="175"/>
                  </a:lnTo>
                  <a:lnTo>
                    <a:pt x="39" y="180"/>
                  </a:lnTo>
                  <a:lnTo>
                    <a:pt x="44" y="185"/>
                  </a:lnTo>
                  <a:lnTo>
                    <a:pt x="51" y="190"/>
                  </a:lnTo>
                  <a:lnTo>
                    <a:pt x="53" y="189"/>
                  </a:lnTo>
                  <a:lnTo>
                    <a:pt x="64" y="196"/>
                  </a:lnTo>
                  <a:lnTo>
                    <a:pt x="68" y="200"/>
                  </a:lnTo>
                  <a:lnTo>
                    <a:pt x="71" y="209"/>
                  </a:lnTo>
                  <a:lnTo>
                    <a:pt x="70" y="214"/>
                  </a:lnTo>
                  <a:lnTo>
                    <a:pt x="69" y="217"/>
                  </a:lnTo>
                  <a:lnTo>
                    <a:pt x="74" y="222"/>
                  </a:lnTo>
                  <a:lnTo>
                    <a:pt x="74" y="226"/>
                  </a:lnTo>
                  <a:lnTo>
                    <a:pt x="76" y="222"/>
                  </a:lnTo>
                  <a:lnTo>
                    <a:pt x="80" y="222"/>
                  </a:lnTo>
                  <a:lnTo>
                    <a:pt x="83" y="221"/>
                  </a:lnTo>
                  <a:lnTo>
                    <a:pt x="86" y="218"/>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8" name="Freeform 55"/>
            <p:cNvSpPr>
              <a:spLocks/>
            </p:cNvSpPr>
            <p:nvPr/>
          </p:nvSpPr>
          <p:spPr bwMode="auto">
            <a:xfrm>
              <a:off x="6662570" y="2198544"/>
              <a:ext cx="330543" cy="242848"/>
            </a:xfrm>
            <a:custGeom>
              <a:avLst/>
              <a:gdLst>
                <a:gd name="T0" fmla="*/ 196 w 231"/>
                <a:gd name="T1" fmla="*/ 154 h 170"/>
                <a:gd name="T2" fmla="*/ 201 w 231"/>
                <a:gd name="T3" fmla="*/ 150 h 170"/>
                <a:gd name="T4" fmla="*/ 206 w 231"/>
                <a:gd name="T5" fmla="*/ 139 h 170"/>
                <a:gd name="T6" fmla="*/ 200 w 231"/>
                <a:gd name="T7" fmla="*/ 128 h 170"/>
                <a:gd name="T8" fmla="*/ 200 w 231"/>
                <a:gd name="T9" fmla="*/ 120 h 170"/>
                <a:gd name="T10" fmla="*/ 211 w 231"/>
                <a:gd name="T11" fmla="*/ 118 h 170"/>
                <a:gd name="T12" fmla="*/ 220 w 231"/>
                <a:gd name="T13" fmla="*/ 113 h 170"/>
                <a:gd name="T14" fmla="*/ 226 w 231"/>
                <a:gd name="T15" fmla="*/ 101 h 170"/>
                <a:gd name="T16" fmla="*/ 231 w 231"/>
                <a:gd name="T17" fmla="*/ 90 h 170"/>
                <a:gd name="T18" fmla="*/ 225 w 231"/>
                <a:gd name="T19" fmla="*/ 81 h 170"/>
                <a:gd name="T20" fmla="*/ 215 w 231"/>
                <a:gd name="T21" fmla="*/ 72 h 170"/>
                <a:gd name="T22" fmla="*/ 211 w 231"/>
                <a:gd name="T23" fmla="*/ 66 h 170"/>
                <a:gd name="T24" fmla="*/ 214 w 231"/>
                <a:gd name="T25" fmla="*/ 65 h 170"/>
                <a:gd name="T26" fmla="*/ 206 w 231"/>
                <a:gd name="T27" fmla="*/ 59 h 170"/>
                <a:gd name="T28" fmla="*/ 196 w 231"/>
                <a:gd name="T29" fmla="*/ 55 h 170"/>
                <a:gd name="T30" fmla="*/ 194 w 231"/>
                <a:gd name="T31" fmla="*/ 45 h 170"/>
                <a:gd name="T32" fmla="*/ 194 w 231"/>
                <a:gd name="T33" fmla="*/ 35 h 170"/>
                <a:gd name="T34" fmla="*/ 192 w 231"/>
                <a:gd name="T35" fmla="*/ 25 h 170"/>
                <a:gd name="T36" fmla="*/ 7 w 231"/>
                <a:gd name="T37" fmla="*/ 22 h 170"/>
                <a:gd name="T38" fmla="*/ 8 w 231"/>
                <a:gd name="T39" fmla="*/ 0 h 170"/>
                <a:gd name="T40" fmla="*/ 4 w 231"/>
                <a:gd name="T41" fmla="*/ 23 h 170"/>
                <a:gd name="T42" fmla="*/ 3 w 231"/>
                <a:gd name="T43" fmla="*/ 31 h 170"/>
                <a:gd name="T44" fmla="*/ 7 w 231"/>
                <a:gd name="T45" fmla="*/ 37 h 170"/>
                <a:gd name="T46" fmla="*/ 5 w 231"/>
                <a:gd name="T47" fmla="*/ 42 h 170"/>
                <a:gd name="T48" fmla="*/ 4 w 231"/>
                <a:gd name="T49" fmla="*/ 52 h 170"/>
                <a:gd name="T50" fmla="*/ 0 w 231"/>
                <a:gd name="T51" fmla="*/ 56 h 170"/>
                <a:gd name="T52" fmla="*/ 4 w 231"/>
                <a:gd name="T53" fmla="*/ 62 h 170"/>
                <a:gd name="T54" fmla="*/ 4 w 231"/>
                <a:gd name="T55" fmla="*/ 69 h 170"/>
                <a:gd name="T56" fmla="*/ 6 w 231"/>
                <a:gd name="T57" fmla="*/ 71 h 170"/>
                <a:gd name="T58" fmla="*/ 12 w 231"/>
                <a:gd name="T59" fmla="*/ 85 h 170"/>
                <a:gd name="T60" fmla="*/ 16 w 231"/>
                <a:gd name="T61" fmla="*/ 96 h 170"/>
                <a:gd name="T62" fmla="*/ 19 w 231"/>
                <a:gd name="T63" fmla="*/ 102 h 170"/>
                <a:gd name="T64" fmla="*/ 20 w 231"/>
                <a:gd name="T65" fmla="*/ 104 h 170"/>
                <a:gd name="T66" fmla="*/ 18 w 231"/>
                <a:gd name="T67" fmla="*/ 109 h 170"/>
                <a:gd name="T68" fmla="*/ 20 w 231"/>
                <a:gd name="T69" fmla="*/ 116 h 170"/>
                <a:gd name="T70" fmla="*/ 24 w 231"/>
                <a:gd name="T71" fmla="*/ 118 h 170"/>
                <a:gd name="T72" fmla="*/ 26 w 231"/>
                <a:gd name="T73" fmla="*/ 135 h 170"/>
                <a:gd name="T74" fmla="*/ 27 w 231"/>
                <a:gd name="T75" fmla="*/ 142 h 170"/>
                <a:gd name="T76" fmla="*/ 28 w 231"/>
                <a:gd name="T77" fmla="*/ 154 h 170"/>
                <a:gd name="T78" fmla="*/ 30 w 231"/>
                <a:gd name="T79" fmla="*/ 162 h 170"/>
                <a:gd name="T80" fmla="*/ 188 w 231"/>
                <a:gd name="T81" fmla="*/ 170 h 170"/>
                <a:gd name="T82" fmla="*/ 189 w 231"/>
                <a:gd name="T83" fmla="*/ 161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1" h="170">
                  <a:moveTo>
                    <a:pt x="189" y="161"/>
                  </a:moveTo>
                  <a:cubicBezTo>
                    <a:pt x="196" y="154"/>
                    <a:pt x="196" y="154"/>
                    <a:pt x="196" y="154"/>
                  </a:cubicBezTo>
                  <a:cubicBezTo>
                    <a:pt x="199" y="150"/>
                    <a:pt x="199" y="150"/>
                    <a:pt x="199" y="150"/>
                  </a:cubicBezTo>
                  <a:cubicBezTo>
                    <a:pt x="201" y="150"/>
                    <a:pt x="201" y="150"/>
                    <a:pt x="201" y="150"/>
                  </a:cubicBezTo>
                  <a:cubicBezTo>
                    <a:pt x="202" y="142"/>
                    <a:pt x="202" y="142"/>
                    <a:pt x="202" y="142"/>
                  </a:cubicBezTo>
                  <a:cubicBezTo>
                    <a:pt x="206" y="139"/>
                    <a:pt x="206" y="139"/>
                    <a:pt x="206" y="139"/>
                  </a:cubicBezTo>
                  <a:cubicBezTo>
                    <a:pt x="204" y="136"/>
                    <a:pt x="204" y="136"/>
                    <a:pt x="204" y="136"/>
                  </a:cubicBezTo>
                  <a:cubicBezTo>
                    <a:pt x="200" y="128"/>
                    <a:pt x="200" y="128"/>
                    <a:pt x="200" y="128"/>
                  </a:cubicBezTo>
                  <a:cubicBezTo>
                    <a:pt x="200" y="124"/>
                    <a:pt x="200" y="124"/>
                    <a:pt x="200" y="124"/>
                  </a:cubicBezTo>
                  <a:cubicBezTo>
                    <a:pt x="200" y="120"/>
                    <a:pt x="200" y="120"/>
                    <a:pt x="200" y="120"/>
                  </a:cubicBezTo>
                  <a:cubicBezTo>
                    <a:pt x="204" y="118"/>
                    <a:pt x="204" y="118"/>
                    <a:pt x="204" y="118"/>
                  </a:cubicBezTo>
                  <a:cubicBezTo>
                    <a:pt x="211" y="118"/>
                    <a:pt x="211" y="118"/>
                    <a:pt x="211" y="118"/>
                  </a:cubicBezTo>
                  <a:cubicBezTo>
                    <a:pt x="218" y="115"/>
                    <a:pt x="218" y="115"/>
                    <a:pt x="218" y="115"/>
                  </a:cubicBezTo>
                  <a:cubicBezTo>
                    <a:pt x="220" y="113"/>
                    <a:pt x="220" y="113"/>
                    <a:pt x="220" y="113"/>
                  </a:cubicBezTo>
                  <a:cubicBezTo>
                    <a:pt x="223" y="110"/>
                    <a:pt x="223" y="110"/>
                    <a:pt x="223" y="110"/>
                  </a:cubicBezTo>
                  <a:cubicBezTo>
                    <a:pt x="226" y="101"/>
                    <a:pt x="226" y="101"/>
                    <a:pt x="226" y="101"/>
                  </a:cubicBezTo>
                  <a:cubicBezTo>
                    <a:pt x="229" y="97"/>
                    <a:pt x="229" y="97"/>
                    <a:pt x="229" y="97"/>
                  </a:cubicBezTo>
                  <a:cubicBezTo>
                    <a:pt x="231" y="90"/>
                    <a:pt x="231" y="90"/>
                    <a:pt x="231" y="90"/>
                  </a:cubicBezTo>
                  <a:cubicBezTo>
                    <a:pt x="231" y="87"/>
                    <a:pt x="231" y="87"/>
                    <a:pt x="231" y="87"/>
                  </a:cubicBezTo>
                  <a:cubicBezTo>
                    <a:pt x="225" y="81"/>
                    <a:pt x="225" y="81"/>
                    <a:pt x="225" y="81"/>
                  </a:cubicBezTo>
                  <a:cubicBezTo>
                    <a:pt x="219" y="76"/>
                    <a:pt x="219" y="76"/>
                    <a:pt x="219" y="76"/>
                  </a:cubicBezTo>
                  <a:cubicBezTo>
                    <a:pt x="215" y="72"/>
                    <a:pt x="215" y="72"/>
                    <a:pt x="215" y="72"/>
                  </a:cubicBezTo>
                  <a:cubicBezTo>
                    <a:pt x="211" y="69"/>
                    <a:pt x="211" y="69"/>
                    <a:pt x="211" y="69"/>
                  </a:cubicBezTo>
                  <a:cubicBezTo>
                    <a:pt x="211" y="66"/>
                    <a:pt x="211" y="66"/>
                    <a:pt x="211" y="66"/>
                  </a:cubicBezTo>
                  <a:cubicBezTo>
                    <a:pt x="212" y="63"/>
                    <a:pt x="212" y="63"/>
                    <a:pt x="212" y="63"/>
                  </a:cubicBezTo>
                  <a:cubicBezTo>
                    <a:pt x="214" y="65"/>
                    <a:pt x="214" y="65"/>
                    <a:pt x="214" y="65"/>
                  </a:cubicBezTo>
                  <a:cubicBezTo>
                    <a:pt x="211" y="61"/>
                    <a:pt x="211" y="61"/>
                    <a:pt x="211" y="61"/>
                  </a:cubicBezTo>
                  <a:cubicBezTo>
                    <a:pt x="211" y="61"/>
                    <a:pt x="207" y="59"/>
                    <a:pt x="206" y="59"/>
                  </a:cubicBezTo>
                  <a:cubicBezTo>
                    <a:pt x="205" y="59"/>
                    <a:pt x="201" y="55"/>
                    <a:pt x="201" y="55"/>
                  </a:cubicBezTo>
                  <a:cubicBezTo>
                    <a:pt x="196" y="55"/>
                    <a:pt x="196" y="55"/>
                    <a:pt x="196" y="55"/>
                  </a:cubicBezTo>
                  <a:cubicBezTo>
                    <a:pt x="196" y="50"/>
                    <a:pt x="196" y="50"/>
                    <a:pt x="196" y="50"/>
                  </a:cubicBezTo>
                  <a:cubicBezTo>
                    <a:pt x="194" y="45"/>
                    <a:pt x="194" y="45"/>
                    <a:pt x="194" y="45"/>
                  </a:cubicBezTo>
                  <a:cubicBezTo>
                    <a:pt x="194" y="39"/>
                    <a:pt x="194" y="39"/>
                    <a:pt x="194" y="39"/>
                  </a:cubicBezTo>
                  <a:cubicBezTo>
                    <a:pt x="194" y="35"/>
                    <a:pt x="194" y="35"/>
                    <a:pt x="194" y="35"/>
                  </a:cubicBezTo>
                  <a:cubicBezTo>
                    <a:pt x="194" y="28"/>
                    <a:pt x="194" y="28"/>
                    <a:pt x="194" y="28"/>
                  </a:cubicBezTo>
                  <a:cubicBezTo>
                    <a:pt x="192" y="25"/>
                    <a:pt x="192" y="25"/>
                    <a:pt x="192" y="25"/>
                  </a:cubicBezTo>
                  <a:cubicBezTo>
                    <a:pt x="189" y="18"/>
                    <a:pt x="189" y="18"/>
                    <a:pt x="189" y="18"/>
                  </a:cubicBezTo>
                  <a:cubicBezTo>
                    <a:pt x="7" y="22"/>
                    <a:pt x="7" y="22"/>
                    <a:pt x="7" y="22"/>
                  </a:cubicBezTo>
                  <a:cubicBezTo>
                    <a:pt x="8" y="0"/>
                    <a:pt x="8" y="0"/>
                    <a:pt x="8" y="0"/>
                  </a:cubicBezTo>
                  <a:cubicBezTo>
                    <a:pt x="8" y="0"/>
                    <a:pt x="8" y="0"/>
                    <a:pt x="8" y="0"/>
                  </a:cubicBezTo>
                  <a:cubicBezTo>
                    <a:pt x="7" y="23"/>
                    <a:pt x="7" y="23"/>
                    <a:pt x="7" y="23"/>
                  </a:cubicBezTo>
                  <a:cubicBezTo>
                    <a:pt x="4" y="23"/>
                    <a:pt x="4" y="23"/>
                    <a:pt x="4" y="23"/>
                  </a:cubicBezTo>
                  <a:cubicBezTo>
                    <a:pt x="4" y="26"/>
                    <a:pt x="4" y="26"/>
                    <a:pt x="4" y="26"/>
                  </a:cubicBezTo>
                  <a:cubicBezTo>
                    <a:pt x="3" y="31"/>
                    <a:pt x="3" y="31"/>
                    <a:pt x="3" y="31"/>
                  </a:cubicBezTo>
                  <a:cubicBezTo>
                    <a:pt x="5" y="32"/>
                    <a:pt x="5" y="32"/>
                    <a:pt x="5" y="32"/>
                  </a:cubicBezTo>
                  <a:cubicBezTo>
                    <a:pt x="7" y="37"/>
                    <a:pt x="7" y="37"/>
                    <a:pt x="7" y="37"/>
                  </a:cubicBezTo>
                  <a:cubicBezTo>
                    <a:pt x="7" y="41"/>
                    <a:pt x="7" y="41"/>
                    <a:pt x="7" y="41"/>
                  </a:cubicBezTo>
                  <a:cubicBezTo>
                    <a:pt x="5" y="42"/>
                    <a:pt x="5" y="42"/>
                    <a:pt x="5" y="42"/>
                  </a:cubicBezTo>
                  <a:cubicBezTo>
                    <a:pt x="4" y="45"/>
                    <a:pt x="4" y="45"/>
                    <a:pt x="4" y="45"/>
                  </a:cubicBezTo>
                  <a:cubicBezTo>
                    <a:pt x="4" y="52"/>
                    <a:pt x="4" y="52"/>
                    <a:pt x="4" y="52"/>
                  </a:cubicBezTo>
                  <a:cubicBezTo>
                    <a:pt x="1" y="53"/>
                    <a:pt x="1" y="53"/>
                    <a:pt x="1" y="53"/>
                  </a:cubicBezTo>
                  <a:cubicBezTo>
                    <a:pt x="0" y="56"/>
                    <a:pt x="0" y="56"/>
                    <a:pt x="0" y="56"/>
                  </a:cubicBezTo>
                  <a:cubicBezTo>
                    <a:pt x="0" y="59"/>
                    <a:pt x="0" y="59"/>
                    <a:pt x="0" y="59"/>
                  </a:cubicBezTo>
                  <a:cubicBezTo>
                    <a:pt x="4" y="62"/>
                    <a:pt x="4" y="62"/>
                    <a:pt x="4" y="62"/>
                  </a:cubicBezTo>
                  <a:cubicBezTo>
                    <a:pt x="4" y="66"/>
                    <a:pt x="4" y="66"/>
                    <a:pt x="4" y="66"/>
                  </a:cubicBezTo>
                  <a:cubicBezTo>
                    <a:pt x="4" y="69"/>
                    <a:pt x="4" y="69"/>
                    <a:pt x="4" y="69"/>
                  </a:cubicBezTo>
                  <a:cubicBezTo>
                    <a:pt x="3" y="67"/>
                    <a:pt x="3" y="67"/>
                    <a:pt x="3" y="67"/>
                  </a:cubicBezTo>
                  <a:cubicBezTo>
                    <a:pt x="6" y="71"/>
                    <a:pt x="6" y="71"/>
                    <a:pt x="6" y="71"/>
                  </a:cubicBezTo>
                  <a:cubicBezTo>
                    <a:pt x="9" y="80"/>
                    <a:pt x="9" y="80"/>
                    <a:pt x="9" y="80"/>
                  </a:cubicBezTo>
                  <a:cubicBezTo>
                    <a:pt x="12" y="85"/>
                    <a:pt x="12" y="85"/>
                    <a:pt x="12" y="85"/>
                  </a:cubicBezTo>
                  <a:cubicBezTo>
                    <a:pt x="14" y="91"/>
                    <a:pt x="14" y="91"/>
                    <a:pt x="14" y="91"/>
                  </a:cubicBezTo>
                  <a:cubicBezTo>
                    <a:pt x="16" y="96"/>
                    <a:pt x="16" y="96"/>
                    <a:pt x="16" y="96"/>
                  </a:cubicBezTo>
                  <a:cubicBezTo>
                    <a:pt x="18" y="99"/>
                    <a:pt x="18" y="99"/>
                    <a:pt x="18" y="99"/>
                  </a:cubicBezTo>
                  <a:cubicBezTo>
                    <a:pt x="19" y="102"/>
                    <a:pt x="19" y="102"/>
                    <a:pt x="19" y="102"/>
                  </a:cubicBezTo>
                  <a:cubicBezTo>
                    <a:pt x="20" y="103"/>
                    <a:pt x="20" y="103"/>
                    <a:pt x="20" y="103"/>
                  </a:cubicBezTo>
                  <a:cubicBezTo>
                    <a:pt x="20" y="104"/>
                    <a:pt x="20" y="104"/>
                    <a:pt x="20" y="104"/>
                  </a:cubicBezTo>
                  <a:cubicBezTo>
                    <a:pt x="17" y="105"/>
                    <a:pt x="17" y="105"/>
                    <a:pt x="17" y="105"/>
                  </a:cubicBezTo>
                  <a:cubicBezTo>
                    <a:pt x="18" y="109"/>
                    <a:pt x="18" y="109"/>
                    <a:pt x="18" y="109"/>
                  </a:cubicBezTo>
                  <a:cubicBezTo>
                    <a:pt x="19" y="114"/>
                    <a:pt x="19" y="114"/>
                    <a:pt x="19" y="114"/>
                  </a:cubicBezTo>
                  <a:cubicBezTo>
                    <a:pt x="20" y="116"/>
                    <a:pt x="20" y="116"/>
                    <a:pt x="20" y="116"/>
                  </a:cubicBezTo>
                  <a:cubicBezTo>
                    <a:pt x="22" y="116"/>
                    <a:pt x="22" y="116"/>
                    <a:pt x="22" y="116"/>
                  </a:cubicBezTo>
                  <a:cubicBezTo>
                    <a:pt x="24" y="118"/>
                    <a:pt x="24" y="118"/>
                    <a:pt x="24" y="118"/>
                  </a:cubicBezTo>
                  <a:cubicBezTo>
                    <a:pt x="26" y="125"/>
                    <a:pt x="26" y="125"/>
                    <a:pt x="26" y="125"/>
                  </a:cubicBezTo>
                  <a:cubicBezTo>
                    <a:pt x="26" y="135"/>
                    <a:pt x="26" y="135"/>
                    <a:pt x="26" y="135"/>
                  </a:cubicBezTo>
                  <a:cubicBezTo>
                    <a:pt x="25" y="139"/>
                    <a:pt x="25" y="139"/>
                    <a:pt x="25" y="139"/>
                  </a:cubicBezTo>
                  <a:cubicBezTo>
                    <a:pt x="27" y="142"/>
                    <a:pt x="27" y="142"/>
                    <a:pt x="27" y="142"/>
                  </a:cubicBezTo>
                  <a:cubicBezTo>
                    <a:pt x="28" y="144"/>
                    <a:pt x="28" y="144"/>
                    <a:pt x="28" y="144"/>
                  </a:cubicBezTo>
                  <a:cubicBezTo>
                    <a:pt x="28" y="154"/>
                    <a:pt x="28" y="154"/>
                    <a:pt x="28" y="154"/>
                  </a:cubicBezTo>
                  <a:cubicBezTo>
                    <a:pt x="30" y="161"/>
                    <a:pt x="30" y="161"/>
                    <a:pt x="30" y="161"/>
                  </a:cubicBezTo>
                  <a:cubicBezTo>
                    <a:pt x="30" y="162"/>
                    <a:pt x="30" y="162"/>
                    <a:pt x="30" y="162"/>
                  </a:cubicBezTo>
                  <a:cubicBezTo>
                    <a:pt x="176" y="160"/>
                    <a:pt x="176" y="160"/>
                    <a:pt x="176" y="160"/>
                  </a:cubicBezTo>
                  <a:cubicBezTo>
                    <a:pt x="188" y="170"/>
                    <a:pt x="188" y="170"/>
                    <a:pt x="188" y="170"/>
                  </a:cubicBezTo>
                  <a:cubicBezTo>
                    <a:pt x="190" y="168"/>
                    <a:pt x="190" y="168"/>
                    <a:pt x="190" y="168"/>
                  </a:cubicBezTo>
                  <a:lnTo>
                    <a:pt x="189" y="161"/>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9" name="Freeform 71"/>
            <p:cNvSpPr>
              <a:spLocks/>
            </p:cNvSpPr>
            <p:nvPr/>
          </p:nvSpPr>
          <p:spPr bwMode="auto">
            <a:xfrm>
              <a:off x="5157992" y="3013096"/>
              <a:ext cx="735560" cy="571704"/>
            </a:xfrm>
            <a:custGeom>
              <a:avLst/>
              <a:gdLst>
                <a:gd name="connsiteX0" fmla="*/ 302516 w 770887"/>
                <a:gd name="connsiteY0" fmla="*/ 482511 h 599162"/>
                <a:gd name="connsiteX1" fmla="*/ 307819 w 770887"/>
                <a:gd name="connsiteY1" fmla="*/ 487813 h 599162"/>
                <a:gd name="connsiteX2" fmla="*/ 318423 w 770887"/>
                <a:gd name="connsiteY2" fmla="*/ 494883 h 599162"/>
                <a:gd name="connsiteX3" fmla="*/ 311354 w 770887"/>
                <a:gd name="connsiteY3" fmla="*/ 496651 h 599162"/>
                <a:gd name="connsiteX4" fmla="*/ 307819 w 770887"/>
                <a:gd name="connsiteY4" fmla="*/ 496651 h 599162"/>
                <a:gd name="connsiteX5" fmla="*/ 300749 w 770887"/>
                <a:gd name="connsiteY5" fmla="*/ 501953 h 599162"/>
                <a:gd name="connsiteX6" fmla="*/ 300749 w 770887"/>
                <a:gd name="connsiteY6" fmla="*/ 503720 h 599162"/>
                <a:gd name="connsiteX7" fmla="*/ 300749 w 770887"/>
                <a:gd name="connsiteY7" fmla="*/ 509023 h 599162"/>
                <a:gd name="connsiteX8" fmla="*/ 304284 w 770887"/>
                <a:gd name="connsiteY8" fmla="*/ 509023 h 599162"/>
                <a:gd name="connsiteX9" fmla="*/ 311354 w 770887"/>
                <a:gd name="connsiteY9" fmla="*/ 517860 h 599162"/>
                <a:gd name="connsiteX10" fmla="*/ 311354 w 770887"/>
                <a:gd name="connsiteY10" fmla="*/ 521395 h 599162"/>
                <a:gd name="connsiteX11" fmla="*/ 306051 w 770887"/>
                <a:gd name="connsiteY11" fmla="*/ 523162 h 599162"/>
                <a:gd name="connsiteX12" fmla="*/ 302516 w 770887"/>
                <a:gd name="connsiteY12" fmla="*/ 523162 h 599162"/>
                <a:gd name="connsiteX13" fmla="*/ 298982 w 770887"/>
                <a:gd name="connsiteY13" fmla="*/ 524930 h 599162"/>
                <a:gd name="connsiteX14" fmla="*/ 297214 w 770887"/>
                <a:gd name="connsiteY14" fmla="*/ 524930 h 599162"/>
                <a:gd name="connsiteX15" fmla="*/ 291912 w 770887"/>
                <a:gd name="connsiteY15" fmla="*/ 528465 h 599162"/>
                <a:gd name="connsiteX16" fmla="*/ 291912 w 770887"/>
                <a:gd name="connsiteY16" fmla="*/ 533767 h 599162"/>
                <a:gd name="connsiteX17" fmla="*/ 291912 w 770887"/>
                <a:gd name="connsiteY17" fmla="*/ 535534 h 599162"/>
                <a:gd name="connsiteX18" fmla="*/ 288377 w 770887"/>
                <a:gd name="connsiteY18" fmla="*/ 540837 h 599162"/>
                <a:gd name="connsiteX19" fmla="*/ 283075 w 770887"/>
                <a:gd name="connsiteY19" fmla="*/ 531999 h 599162"/>
                <a:gd name="connsiteX20" fmla="*/ 283075 w 770887"/>
                <a:gd name="connsiteY20" fmla="*/ 533767 h 599162"/>
                <a:gd name="connsiteX21" fmla="*/ 281307 w 770887"/>
                <a:gd name="connsiteY21" fmla="*/ 537302 h 599162"/>
                <a:gd name="connsiteX22" fmla="*/ 276005 w 770887"/>
                <a:gd name="connsiteY22" fmla="*/ 542604 h 599162"/>
                <a:gd name="connsiteX23" fmla="*/ 272470 w 770887"/>
                <a:gd name="connsiteY23" fmla="*/ 549674 h 599162"/>
                <a:gd name="connsiteX24" fmla="*/ 272470 w 770887"/>
                <a:gd name="connsiteY24" fmla="*/ 551441 h 599162"/>
                <a:gd name="connsiteX25" fmla="*/ 272470 w 770887"/>
                <a:gd name="connsiteY25" fmla="*/ 558511 h 599162"/>
                <a:gd name="connsiteX26" fmla="*/ 256563 w 770887"/>
                <a:gd name="connsiteY26" fmla="*/ 558511 h 599162"/>
                <a:gd name="connsiteX27" fmla="*/ 268935 w 770887"/>
                <a:gd name="connsiteY27" fmla="*/ 554976 h 599162"/>
                <a:gd name="connsiteX28" fmla="*/ 270703 w 770887"/>
                <a:gd name="connsiteY28" fmla="*/ 551441 h 599162"/>
                <a:gd name="connsiteX29" fmla="*/ 272470 w 770887"/>
                <a:gd name="connsiteY29" fmla="*/ 547906 h 599162"/>
                <a:gd name="connsiteX30" fmla="*/ 270703 w 770887"/>
                <a:gd name="connsiteY30" fmla="*/ 542604 h 599162"/>
                <a:gd name="connsiteX31" fmla="*/ 267168 w 770887"/>
                <a:gd name="connsiteY31" fmla="*/ 540837 h 599162"/>
                <a:gd name="connsiteX32" fmla="*/ 265400 w 770887"/>
                <a:gd name="connsiteY32" fmla="*/ 540837 h 599162"/>
                <a:gd name="connsiteX33" fmla="*/ 261866 w 770887"/>
                <a:gd name="connsiteY33" fmla="*/ 537302 h 599162"/>
                <a:gd name="connsiteX34" fmla="*/ 261866 w 770887"/>
                <a:gd name="connsiteY34" fmla="*/ 535534 h 599162"/>
                <a:gd name="connsiteX35" fmla="*/ 260098 w 770887"/>
                <a:gd name="connsiteY35" fmla="*/ 524930 h 599162"/>
                <a:gd name="connsiteX36" fmla="*/ 263633 w 770887"/>
                <a:gd name="connsiteY36" fmla="*/ 521395 h 599162"/>
                <a:gd name="connsiteX37" fmla="*/ 265400 w 770887"/>
                <a:gd name="connsiteY37" fmla="*/ 517860 h 599162"/>
                <a:gd name="connsiteX38" fmla="*/ 270703 w 770887"/>
                <a:gd name="connsiteY38" fmla="*/ 514325 h 599162"/>
                <a:gd name="connsiteX39" fmla="*/ 272470 w 770887"/>
                <a:gd name="connsiteY39" fmla="*/ 516093 h 599162"/>
                <a:gd name="connsiteX40" fmla="*/ 277772 w 770887"/>
                <a:gd name="connsiteY40" fmla="*/ 521395 h 599162"/>
                <a:gd name="connsiteX41" fmla="*/ 281307 w 770887"/>
                <a:gd name="connsiteY41" fmla="*/ 528465 h 599162"/>
                <a:gd name="connsiteX42" fmla="*/ 281307 w 770887"/>
                <a:gd name="connsiteY42" fmla="*/ 521395 h 599162"/>
                <a:gd name="connsiteX43" fmla="*/ 279540 w 770887"/>
                <a:gd name="connsiteY43" fmla="*/ 514325 h 599162"/>
                <a:gd name="connsiteX44" fmla="*/ 276005 w 770887"/>
                <a:gd name="connsiteY44" fmla="*/ 509023 h 599162"/>
                <a:gd name="connsiteX45" fmla="*/ 281307 w 770887"/>
                <a:gd name="connsiteY45" fmla="*/ 507255 h 599162"/>
                <a:gd name="connsiteX46" fmla="*/ 288377 w 770887"/>
                <a:gd name="connsiteY46" fmla="*/ 510790 h 599162"/>
                <a:gd name="connsiteX47" fmla="*/ 291912 w 770887"/>
                <a:gd name="connsiteY47" fmla="*/ 510790 h 599162"/>
                <a:gd name="connsiteX48" fmla="*/ 291912 w 770887"/>
                <a:gd name="connsiteY48" fmla="*/ 507255 h 599162"/>
                <a:gd name="connsiteX49" fmla="*/ 291912 w 770887"/>
                <a:gd name="connsiteY49" fmla="*/ 505488 h 599162"/>
                <a:gd name="connsiteX50" fmla="*/ 291912 w 770887"/>
                <a:gd name="connsiteY50" fmla="*/ 501953 h 599162"/>
                <a:gd name="connsiteX51" fmla="*/ 291912 w 770887"/>
                <a:gd name="connsiteY51" fmla="*/ 496651 h 599162"/>
                <a:gd name="connsiteX52" fmla="*/ 290144 w 770887"/>
                <a:gd name="connsiteY52" fmla="*/ 493116 h 599162"/>
                <a:gd name="connsiteX53" fmla="*/ 297214 w 770887"/>
                <a:gd name="connsiteY53" fmla="*/ 487813 h 599162"/>
                <a:gd name="connsiteX54" fmla="*/ 55075 w 770887"/>
                <a:gd name="connsiteY54" fmla="*/ 374697 h 599162"/>
                <a:gd name="connsiteX55" fmla="*/ 58610 w 770887"/>
                <a:gd name="connsiteY55" fmla="*/ 374697 h 599162"/>
                <a:gd name="connsiteX56" fmla="*/ 63912 w 770887"/>
                <a:gd name="connsiteY56" fmla="*/ 385302 h 599162"/>
                <a:gd name="connsiteX57" fmla="*/ 63912 w 770887"/>
                <a:gd name="connsiteY57" fmla="*/ 390604 h 599162"/>
                <a:gd name="connsiteX58" fmla="*/ 60377 w 770887"/>
                <a:gd name="connsiteY58" fmla="*/ 395906 h 599162"/>
                <a:gd name="connsiteX59" fmla="*/ 56842 w 770887"/>
                <a:gd name="connsiteY59" fmla="*/ 395906 h 599162"/>
                <a:gd name="connsiteX60" fmla="*/ 51540 w 770887"/>
                <a:gd name="connsiteY60" fmla="*/ 395906 h 599162"/>
                <a:gd name="connsiteX61" fmla="*/ 44470 w 770887"/>
                <a:gd name="connsiteY61" fmla="*/ 390604 h 599162"/>
                <a:gd name="connsiteX62" fmla="*/ 35633 w 770887"/>
                <a:gd name="connsiteY62" fmla="*/ 383534 h 599162"/>
                <a:gd name="connsiteX63" fmla="*/ 44470 w 770887"/>
                <a:gd name="connsiteY63" fmla="*/ 378232 h 599162"/>
                <a:gd name="connsiteX64" fmla="*/ 49773 w 770887"/>
                <a:gd name="connsiteY64" fmla="*/ 378232 h 599162"/>
                <a:gd name="connsiteX65" fmla="*/ 4447 w 770887"/>
                <a:gd name="connsiteY65" fmla="*/ 224465 h 599162"/>
                <a:gd name="connsiteX66" fmla="*/ 5929 w 770887"/>
                <a:gd name="connsiteY66" fmla="*/ 230488 h 599162"/>
                <a:gd name="connsiteX67" fmla="*/ 8894 w 770887"/>
                <a:gd name="connsiteY67" fmla="*/ 233499 h 599162"/>
                <a:gd name="connsiteX68" fmla="*/ 16306 w 770887"/>
                <a:gd name="connsiteY68" fmla="*/ 235005 h 599162"/>
                <a:gd name="connsiteX69" fmla="*/ 23717 w 770887"/>
                <a:gd name="connsiteY69" fmla="*/ 235005 h 599162"/>
                <a:gd name="connsiteX70" fmla="*/ 28164 w 770887"/>
                <a:gd name="connsiteY70" fmla="*/ 238016 h 599162"/>
                <a:gd name="connsiteX71" fmla="*/ 28164 w 770887"/>
                <a:gd name="connsiteY71" fmla="*/ 242533 h 599162"/>
                <a:gd name="connsiteX72" fmla="*/ 31129 w 770887"/>
                <a:gd name="connsiteY72" fmla="*/ 245544 h 599162"/>
                <a:gd name="connsiteX73" fmla="*/ 37058 w 770887"/>
                <a:gd name="connsiteY73" fmla="*/ 251566 h 599162"/>
                <a:gd name="connsiteX74" fmla="*/ 44470 w 770887"/>
                <a:gd name="connsiteY74" fmla="*/ 262106 h 599162"/>
                <a:gd name="connsiteX75" fmla="*/ 40023 w 770887"/>
                <a:gd name="connsiteY75" fmla="*/ 262106 h 599162"/>
                <a:gd name="connsiteX76" fmla="*/ 31129 w 770887"/>
                <a:gd name="connsiteY76" fmla="*/ 262106 h 599162"/>
                <a:gd name="connsiteX77" fmla="*/ 29647 w 770887"/>
                <a:gd name="connsiteY77" fmla="*/ 265117 h 599162"/>
                <a:gd name="connsiteX78" fmla="*/ 23717 w 770887"/>
                <a:gd name="connsiteY78" fmla="*/ 259095 h 599162"/>
                <a:gd name="connsiteX79" fmla="*/ 20753 w 770887"/>
                <a:gd name="connsiteY79" fmla="*/ 250061 h 599162"/>
                <a:gd name="connsiteX80" fmla="*/ 19270 w 770887"/>
                <a:gd name="connsiteY80" fmla="*/ 247050 h 599162"/>
                <a:gd name="connsiteX81" fmla="*/ 16306 w 770887"/>
                <a:gd name="connsiteY81" fmla="*/ 244038 h 599162"/>
                <a:gd name="connsiteX82" fmla="*/ 14823 w 770887"/>
                <a:gd name="connsiteY82" fmla="*/ 244038 h 599162"/>
                <a:gd name="connsiteX83" fmla="*/ 13341 w 770887"/>
                <a:gd name="connsiteY83" fmla="*/ 244038 h 599162"/>
                <a:gd name="connsiteX84" fmla="*/ 10376 w 770887"/>
                <a:gd name="connsiteY84" fmla="*/ 244038 h 599162"/>
                <a:gd name="connsiteX85" fmla="*/ 8894 w 770887"/>
                <a:gd name="connsiteY85" fmla="*/ 244038 h 599162"/>
                <a:gd name="connsiteX86" fmla="*/ 4447 w 770887"/>
                <a:gd name="connsiteY86" fmla="*/ 244038 h 599162"/>
                <a:gd name="connsiteX87" fmla="*/ 2964 w 770887"/>
                <a:gd name="connsiteY87" fmla="*/ 242533 h 599162"/>
                <a:gd name="connsiteX88" fmla="*/ 1482 w 770887"/>
                <a:gd name="connsiteY88" fmla="*/ 239521 h 599162"/>
                <a:gd name="connsiteX89" fmla="*/ 0 w 770887"/>
                <a:gd name="connsiteY89" fmla="*/ 235005 h 599162"/>
                <a:gd name="connsiteX90" fmla="*/ 0 w 770887"/>
                <a:gd name="connsiteY90" fmla="*/ 230488 h 599162"/>
                <a:gd name="connsiteX91" fmla="*/ 4447 w 770887"/>
                <a:gd name="connsiteY91" fmla="*/ 224465 h 599162"/>
                <a:gd name="connsiteX92" fmla="*/ 277183 w 770887"/>
                <a:gd name="connsiteY92" fmla="*/ 0 h 599162"/>
                <a:gd name="connsiteX93" fmla="*/ 283168 w 770887"/>
                <a:gd name="connsiteY93" fmla="*/ 5977 h 599162"/>
                <a:gd name="connsiteX94" fmla="*/ 286160 w 770887"/>
                <a:gd name="connsiteY94" fmla="*/ 10459 h 599162"/>
                <a:gd name="connsiteX95" fmla="*/ 283168 w 770887"/>
                <a:gd name="connsiteY95" fmla="*/ 10459 h 599162"/>
                <a:gd name="connsiteX96" fmla="*/ 283168 w 770887"/>
                <a:gd name="connsiteY96" fmla="*/ 14942 h 599162"/>
                <a:gd name="connsiteX97" fmla="*/ 287656 w 770887"/>
                <a:gd name="connsiteY97" fmla="*/ 17930 h 599162"/>
                <a:gd name="connsiteX98" fmla="*/ 293640 w 770887"/>
                <a:gd name="connsiteY98" fmla="*/ 17930 h 599162"/>
                <a:gd name="connsiteX99" fmla="*/ 293640 w 770887"/>
                <a:gd name="connsiteY99" fmla="*/ 13447 h 599162"/>
                <a:gd name="connsiteX100" fmla="*/ 296632 w 770887"/>
                <a:gd name="connsiteY100" fmla="*/ 10459 h 599162"/>
                <a:gd name="connsiteX101" fmla="*/ 299624 w 770887"/>
                <a:gd name="connsiteY101" fmla="*/ 13447 h 599162"/>
                <a:gd name="connsiteX102" fmla="*/ 304113 w 770887"/>
                <a:gd name="connsiteY102" fmla="*/ 19424 h 599162"/>
                <a:gd name="connsiteX103" fmla="*/ 313089 w 770887"/>
                <a:gd name="connsiteY103" fmla="*/ 17930 h 599162"/>
                <a:gd name="connsiteX104" fmla="*/ 325058 w 770887"/>
                <a:gd name="connsiteY104" fmla="*/ 20918 h 599162"/>
                <a:gd name="connsiteX105" fmla="*/ 325058 w 770887"/>
                <a:gd name="connsiteY105" fmla="*/ 25401 h 599162"/>
                <a:gd name="connsiteX106" fmla="*/ 328050 w 770887"/>
                <a:gd name="connsiteY106" fmla="*/ 31377 h 599162"/>
                <a:gd name="connsiteX107" fmla="*/ 335530 w 770887"/>
                <a:gd name="connsiteY107" fmla="*/ 37354 h 599162"/>
                <a:gd name="connsiteX108" fmla="*/ 351987 w 770887"/>
                <a:gd name="connsiteY108" fmla="*/ 37354 h 599162"/>
                <a:gd name="connsiteX109" fmla="*/ 356475 w 770887"/>
                <a:gd name="connsiteY109" fmla="*/ 37354 h 599162"/>
                <a:gd name="connsiteX110" fmla="*/ 360963 w 770887"/>
                <a:gd name="connsiteY110" fmla="*/ 34366 h 599162"/>
                <a:gd name="connsiteX111" fmla="*/ 366948 w 770887"/>
                <a:gd name="connsiteY111" fmla="*/ 34366 h 599162"/>
                <a:gd name="connsiteX112" fmla="*/ 374428 w 770887"/>
                <a:gd name="connsiteY112" fmla="*/ 38848 h 599162"/>
                <a:gd name="connsiteX113" fmla="*/ 375924 w 770887"/>
                <a:gd name="connsiteY113" fmla="*/ 43331 h 599162"/>
                <a:gd name="connsiteX114" fmla="*/ 375924 w 770887"/>
                <a:gd name="connsiteY114" fmla="*/ 47813 h 599162"/>
                <a:gd name="connsiteX115" fmla="*/ 375924 w 770887"/>
                <a:gd name="connsiteY115" fmla="*/ 48560 h 599162"/>
                <a:gd name="connsiteX116" fmla="*/ 375924 w 770887"/>
                <a:gd name="connsiteY116" fmla="*/ 50802 h 599162"/>
                <a:gd name="connsiteX117" fmla="*/ 383404 w 770887"/>
                <a:gd name="connsiteY117" fmla="*/ 46319 h 599162"/>
                <a:gd name="connsiteX118" fmla="*/ 392381 w 770887"/>
                <a:gd name="connsiteY118" fmla="*/ 43331 h 599162"/>
                <a:gd name="connsiteX119" fmla="*/ 398365 w 770887"/>
                <a:gd name="connsiteY119" fmla="*/ 43331 h 599162"/>
                <a:gd name="connsiteX120" fmla="*/ 410334 w 770887"/>
                <a:gd name="connsiteY120" fmla="*/ 47813 h 599162"/>
                <a:gd name="connsiteX121" fmla="*/ 420806 w 770887"/>
                <a:gd name="connsiteY121" fmla="*/ 50802 h 599162"/>
                <a:gd name="connsiteX122" fmla="*/ 432775 w 770887"/>
                <a:gd name="connsiteY122" fmla="*/ 47813 h 599162"/>
                <a:gd name="connsiteX123" fmla="*/ 438759 w 770887"/>
                <a:gd name="connsiteY123" fmla="*/ 43331 h 599162"/>
                <a:gd name="connsiteX124" fmla="*/ 444743 w 770887"/>
                <a:gd name="connsiteY124" fmla="*/ 43331 h 599162"/>
                <a:gd name="connsiteX125" fmla="*/ 447736 w 770887"/>
                <a:gd name="connsiteY125" fmla="*/ 43331 h 599162"/>
                <a:gd name="connsiteX126" fmla="*/ 455216 w 770887"/>
                <a:gd name="connsiteY126" fmla="*/ 50802 h 599162"/>
                <a:gd name="connsiteX127" fmla="*/ 462696 w 770887"/>
                <a:gd name="connsiteY127" fmla="*/ 56778 h 599162"/>
                <a:gd name="connsiteX128" fmla="*/ 476161 w 770887"/>
                <a:gd name="connsiteY128" fmla="*/ 58272 h 599162"/>
                <a:gd name="connsiteX129" fmla="*/ 482145 w 770887"/>
                <a:gd name="connsiteY129" fmla="*/ 110568 h 599162"/>
                <a:gd name="connsiteX130" fmla="*/ 500098 w 770887"/>
                <a:gd name="connsiteY130" fmla="*/ 242056 h 599162"/>
                <a:gd name="connsiteX131" fmla="*/ 521043 w 770887"/>
                <a:gd name="connsiteY131" fmla="*/ 400438 h 599162"/>
                <a:gd name="connsiteX132" fmla="*/ 525531 w 770887"/>
                <a:gd name="connsiteY132" fmla="*/ 409403 h 599162"/>
                <a:gd name="connsiteX133" fmla="*/ 540492 w 770887"/>
                <a:gd name="connsiteY133" fmla="*/ 409403 h 599162"/>
                <a:gd name="connsiteX134" fmla="*/ 543484 w 770887"/>
                <a:gd name="connsiteY134" fmla="*/ 400438 h 599162"/>
                <a:gd name="connsiteX135" fmla="*/ 555453 w 770887"/>
                <a:gd name="connsiteY135" fmla="*/ 400438 h 599162"/>
                <a:gd name="connsiteX136" fmla="*/ 555453 w 770887"/>
                <a:gd name="connsiteY136" fmla="*/ 404920 h 599162"/>
                <a:gd name="connsiteX137" fmla="*/ 559941 w 770887"/>
                <a:gd name="connsiteY137" fmla="*/ 410897 h 599162"/>
                <a:gd name="connsiteX138" fmla="*/ 579390 w 770887"/>
                <a:gd name="connsiteY138" fmla="*/ 424344 h 599162"/>
                <a:gd name="connsiteX139" fmla="*/ 595847 w 770887"/>
                <a:gd name="connsiteY139" fmla="*/ 442274 h 599162"/>
                <a:gd name="connsiteX140" fmla="*/ 604823 w 770887"/>
                <a:gd name="connsiteY140" fmla="*/ 434803 h 599162"/>
                <a:gd name="connsiteX141" fmla="*/ 610807 w 770887"/>
                <a:gd name="connsiteY141" fmla="*/ 419862 h 599162"/>
                <a:gd name="connsiteX142" fmla="*/ 618288 w 770887"/>
                <a:gd name="connsiteY142" fmla="*/ 412391 h 599162"/>
                <a:gd name="connsiteX143" fmla="*/ 625768 w 770887"/>
                <a:gd name="connsiteY143" fmla="*/ 407908 h 599162"/>
                <a:gd name="connsiteX144" fmla="*/ 639233 w 770887"/>
                <a:gd name="connsiteY144" fmla="*/ 413885 h 599162"/>
                <a:gd name="connsiteX145" fmla="*/ 655690 w 770887"/>
                <a:gd name="connsiteY145" fmla="*/ 425838 h 599162"/>
                <a:gd name="connsiteX146" fmla="*/ 672146 w 770887"/>
                <a:gd name="connsiteY146" fmla="*/ 442274 h 599162"/>
                <a:gd name="connsiteX147" fmla="*/ 684115 w 770887"/>
                <a:gd name="connsiteY147" fmla="*/ 455722 h 599162"/>
                <a:gd name="connsiteX148" fmla="*/ 708052 w 770887"/>
                <a:gd name="connsiteY148" fmla="*/ 479629 h 599162"/>
                <a:gd name="connsiteX149" fmla="*/ 723013 w 770887"/>
                <a:gd name="connsiteY149" fmla="*/ 500547 h 599162"/>
                <a:gd name="connsiteX150" fmla="*/ 731989 w 770887"/>
                <a:gd name="connsiteY150" fmla="*/ 502041 h 599162"/>
                <a:gd name="connsiteX151" fmla="*/ 742462 w 770887"/>
                <a:gd name="connsiteY151" fmla="*/ 503535 h 599162"/>
                <a:gd name="connsiteX152" fmla="*/ 760415 w 770887"/>
                <a:gd name="connsiteY152" fmla="*/ 509512 h 599162"/>
                <a:gd name="connsiteX153" fmla="*/ 767895 w 770887"/>
                <a:gd name="connsiteY153" fmla="*/ 513994 h 599162"/>
                <a:gd name="connsiteX154" fmla="*/ 767895 w 770887"/>
                <a:gd name="connsiteY154" fmla="*/ 519971 h 599162"/>
                <a:gd name="connsiteX155" fmla="*/ 770887 w 770887"/>
                <a:gd name="connsiteY155" fmla="*/ 533419 h 599162"/>
                <a:gd name="connsiteX156" fmla="*/ 770887 w 770887"/>
                <a:gd name="connsiteY156" fmla="*/ 539395 h 599162"/>
                <a:gd name="connsiteX157" fmla="*/ 770887 w 770887"/>
                <a:gd name="connsiteY157" fmla="*/ 545372 h 599162"/>
                <a:gd name="connsiteX158" fmla="*/ 770887 w 770887"/>
                <a:gd name="connsiteY158" fmla="*/ 558820 h 599162"/>
                <a:gd name="connsiteX159" fmla="*/ 764903 w 770887"/>
                <a:gd name="connsiteY159" fmla="*/ 563302 h 599162"/>
                <a:gd name="connsiteX160" fmla="*/ 760415 w 770887"/>
                <a:gd name="connsiteY160" fmla="*/ 557325 h 599162"/>
                <a:gd name="connsiteX161" fmla="*/ 755926 w 770887"/>
                <a:gd name="connsiteY161" fmla="*/ 549855 h 599162"/>
                <a:gd name="connsiteX162" fmla="*/ 751438 w 770887"/>
                <a:gd name="connsiteY162" fmla="*/ 552843 h 599162"/>
                <a:gd name="connsiteX163" fmla="*/ 755926 w 770887"/>
                <a:gd name="connsiteY163" fmla="*/ 560314 h 599162"/>
                <a:gd name="connsiteX164" fmla="*/ 752934 w 770887"/>
                <a:gd name="connsiteY164" fmla="*/ 561808 h 599162"/>
                <a:gd name="connsiteX165" fmla="*/ 748446 w 770887"/>
                <a:gd name="connsiteY165" fmla="*/ 558820 h 599162"/>
                <a:gd name="connsiteX166" fmla="*/ 739470 w 770887"/>
                <a:gd name="connsiteY166" fmla="*/ 555831 h 599162"/>
                <a:gd name="connsiteX167" fmla="*/ 739470 w 770887"/>
                <a:gd name="connsiteY167" fmla="*/ 549855 h 599162"/>
                <a:gd name="connsiteX168" fmla="*/ 736478 w 770887"/>
                <a:gd name="connsiteY168" fmla="*/ 542384 h 599162"/>
                <a:gd name="connsiteX169" fmla="*/ 731989 w 770887"/>
                <a:gd name="connsiteY169" fmla="*/ 539395 h 599162"/>
                <a:gd name="connsiteX170" fmla="*/ 728997 w 770887"/>
                <a:gd name="connsiteY170" fmla="*/ 533419 h 599162"/>
                <a:gd name="connsiteX171" fmla="*/ 717029 w 770887"/>
                <a:gd name="connsiteY171" fmla="*/ 524454 h 599162"/>
                <a:gd name="connsiteX172" fmla="*/ 706556 w 770887"/>
                <a:gd name="connsiteY172" fmla="*/ 525948 h 599162"/>
                <a:gd name="connsiteX173" fmla="*/ 709548 w 770887"/>
                <a:gd name="connsiteY173" fmla="*/ 530430 h 599162"/>
                <a:gd name="connsiteX174" fmla="*/ 712540 w 770887"/>
                <a:gd name="connsiteY174" fmla="*/ 533419 h 599162"/>
                <a:gd name="connsiteX175" fmla="*/ 723013 w 770887"/>
                <a:gd name="connsiteY175" fmla="*/ 539395 h 599162"/>
                <a:gd name="connsiteX176" fmla="*/ 728997 w 770887"/>
                <a:gd name="connsiteY176" fmla="*/ 545372 h 599162"/>
                <a:gd name="connsiteX177" fmla="*/ 728997 w 770887"/>
                <a:gd name="connsiteY177" fmla="*/ 549855 h 599162"/>
                <a:gd name="connsiteX178" fmla="*/ 733485 w 770887"/>
                <a:gd name="connsiteY178" fmla="*/ 554337 h 599162"/>
                <a:gd name="connsiteX179" fmla="*/ 736478 w 770887"/>
                <a:gd name="connsiteY179" fmla="*/ 558820 h 599162"/>
                <a:gd name="connsiteX180" fmla="*/ 739470 w 770887"/>
                <a:gd name="connsiteY180" fmla="*/ 569279 h 599162"/>
                <a:gd name="connsiteX181" fmla="*/ 739470 w 770887"/>
                <a:gd name="connsiteY181" fmla="*/ 572267 h 599162"/>
                <a:gd name="connsiteX182" fmla="*/ 734981 w 770887"/>
                <a:gd name="connsiteY182" fmla="*/ 573761 h 599162"/>
                <a:gd name="connsiteX183" fmla="*/ 731989 w 770887"/>
                <a:gd name="connsiteY183" fmla="*/ 566290 h 599162"/>
                <a:gd name="connsiteX184" fmla="*/ 731989 w 770887"/>
                <a:gd name="connsiteY184" fmla="*/ 573761 h 599162"/>
                <a:gd name="connsiteX185" fmla="*/ 728997 w 770887"/>
                <a:gd name="connsiteY185" fmla="*/ 579738 h 599162"/>
                <a:gd name="connsiteX186" fmla="*/ 724509 w 770887"/>
                <a:gd name="connsiteY186" fmla="*/ 578244 h 599162"/>
                <a:gd name="connsiteX187" fmla="*/ 717029 w 770887"/>
                <a:gd name="connsiteY187" fmla="*/ 570773 h 599162"/>
                <a:gd name="connsiteX188" fmla="*/ 709548 w 770887"/>
                <a:gd name="connsiteY188" fmla="*/ 561808 h 599162"/>
                <a:gd name="connsiteX189" fmla="*/ 703564 w 770887"/>
                <a:gd name="connsiteY189" fmla="*/ 564796 h 599162"/>
                <a:gd name="connsiteX190" fmla="*/ 699076 w 770887"/>
                <a:gd name="connsiteY190" fmla="*/ 564796 h 599162"/>
                <a:gd name="connsiteX191" fmla="*/ 702068 w 770887"/>
                <a:gd name="connsiteY191" fmla="*/ 555831 h 599162"/>
                <a:gd name="connsiteX192" fmla="*/ 709548 w 770887"/>
                <a:gd name="connsiteY192" fmla="*/ 554337 h 599162"/>
                <a:gd name="connsiteX193" fmla="*/ 706556 w 770887"/>
                <a:gd name="connsiteY193" fmla="*/ 545372 h 599162"/>
                <a:gd name="connsiteX194" fmla="*/ 697580 w 770887"/>
                <a:gd name="connsiteY194" fmla="*/ 549855 h 599162"/>
                <a:gd name="connsiteX195" fmla="*/ 700572 w 770887"/>
                <a:gd name="connsiteY195" fmla="*/ 540890 h 599162"/>
                <a:gd name="connsiteX196" fmla="*/ 696084 w 770887"/>
                <a:gd name="connsiteY196" fmla="*/ 534913 h 599162"/>
                <a:gd name="connsiteX197" fmla="*/ 694588 w 770887"/>
                <a:gd name="connsiteY197" fmla="*/ 530430 h 599162"/>
                <a:gd name="connsiteX198" fmla="*/ 694588 w 770887"/>
                <a:gd name="connsiteY198" fmla="*/ 525948 h 599162"/>
                <a:gd name="connsiteX199" fmla="*/ 700572 w 770887"/>
                <a:gd name="connsiteY199" fmla="*/ 516983 h 599162"/>
                <a:gd name="connsiteX200" fmla="*/ 693091 w 770887"/>
                <a:gd name="connsiteY200" fmla="*/ 516983 h 599162"/>
                <a:gd name="connsiteX201" fmla="*/ 690099 w 770887"/>
                <a:gd name="connsiteY201" fmla="*/ 519971 h 599162"/>
                <a:gd name="connsiteX202" fmla="*/ 690099 w 770887"/>
                <a:gd name="connsiteY202" fmla="*/ 522959 h 599162"/>
                <a:gd name="connsiteX203" fmla="*/ 690099 w 770887"/>
                <a:gd name="connsiteY203" fmla="*/ 531925 h 599162"/>
                <a:gd name="connsiteX204" fmla="*/ 685611 w 770887"/>
                <a:gd name="connsiteY204" fmla="*/ 534913 h 599162"/>
                <a:gd name="connsiteX205" fmla="*/ 682619 w 770887"/>
                <a:gd name="connsiteY205" fmla="*/ 537901 h 599162"/>
                <a:gd name="connsiteX206" fmla="*/ 682619 w 770887"/>
                <a:gd name="connsiteY206" fmla="*/ 533419 h 599162"/>
                <a:gd name="connsiteX207" fmla="*/ 681123 w 770887"/>
                <a:gd name="connsiteY207" fmla="*/ 527442 h 599162"/>
                <a:gd name="connsiteX208" fmla="*/ 679627 w 770887"/>
                <a:gd name="connsiteY208" fmla="*/ 519971 h 599162"/>
                <a:gd name="connsiteX209" fmla="*/ 678131 w 770887"/>
                <a:gd name="connsiteY209" fmla="*/ 515489 h 599162"/>
                <a:gd name="connsiteX210" fmla="*/ 676635 w 770887"/>
                <a:gd name="connsiteY210" fmla="*/ 511006 h 599162"/>
                <a:gd name="connsiteX211" fmla="*/ 676635 w 770887"/>
                <a:gd name="connsiteY211" fmla="*/ 506524 h 599162"/>
                <a:gd name="connsiteX212" fmla="*/ 681123 w 770887"/>
                <a:gd name="connsiteY212" fmla="*/ 503535 h 599162"/>
                <a:gd name="connsiteX213" fmla="*/ 684115 w 770887"/>
                <a:gd name="connsiteY213" fmla="*/ 499053 h 599162"/>
                <a:gd name="connsiteX214" fmla="*/ 690099 w 770887"/>
                <a:gd name="connsiteY214" fmla="*/ 493076 h 599162"/>
                <a:gd name="connsiteX215" fmla="*/ 684115 w 770887"/>
                <a:gd name="connsiteY215" fmla="*/ 482617 h 599162"/>
                <a:gd name="connsiteX216" fmla="*/ 681123 w 770887"/>
                <a:gd name="connsiteY216" fmla="*/ 484111 h 599162"/>
                <a:gd name="connsiteX217" fmla="*/ 678131 w 770887"/>
                <a:gd name="connsiteY217" fmla="*/ 491582 h 599162"/>
                <a:gd name="connsiteX218" fmla="*/ 672146 w 770887"/>
                <a:gd name="connsiteY218" fmla="*/ 499053 h 599162"/>
                <a:gd name="connsiteX219" fmla="*/ 667658 w 770887"/>
                <a:gd name="connsiteY219" fmla="*/ 502041 h 599162"/>
                <a:gd name="connsiteX220" fmla="*/ 666162 w 770887"/>
                <a:gd name="connsiteY220" fmla="*/ 505029 h 599162"/>
                <a:gd name="connsiteX221" fmla="*/ 669154 w 770887"/>
                <a:gd name="connsiteY221" fmla="*/ 516983 h 599162"/>
                <a:gd name="connsiteX222" fmla="*/ 675139 w 770887"/>
                <a:gd name="connsiteY222" fmla="*/ 533419 h 599162"/>
                <a:gd name="connsiteX223" fmla="*/ 669154 w 770887"/>
                <a:gd name="connsiteY223" fmla="*/ 531925 h 599162"/>
                <a:gd name="connsiteX224" fmla="*/ 660178 w 770887"/>
                <a:gd name="connsiteY224" fmla="*/ 513994 h 599162"/>
                <a:gd name="connsiteX225" fmla="*/ 649705 w 770887"/>
                <a:gd name="connsiteY225" fmla="*/ 499053 h 599162"/>
                <a:gd name="connsiteX226" fmla="*/ 646713 w 770887"/>
                <a:gd name="connsiteY226" fmla="*/ 508018 h 599162"/>
                <a:gd name="connsiteX227" fmla="*/ 643721 w 770887"/>
                <a:gd name="connsiteY227" fmla="*/ 506524 h 599162"/>
                <a:gd name="connsiteX228" fmla="*/ 639233 w 770887"/>
                <a:gd name="connsiteY228" fmla="*/ 496064 h 599162"/>
                <a:gd name="connsiteX229" fmla="*/ 633249 w 770887"/>
                <a:gd name="connsiteY229" fmla="*/ 491582 h 599162"/>
                <a:gd name="connsiteX230" fmla="*/ 618288 w 770887"/>
                <a:gd name="connsiteY230" fmla="*/ 475146 h 599162"/>
                <a:gd name="connsiteX231" fmla="*/ 618288 w 770887"/>
                <a:gd name="connsiteY231" fmla="*/ 464687 h 599162"/>
                <a:gd name="connsiteX232" fmla="*/ 615296 w 770887"/>
                <a:gd name="connsiteY232" fmla="*/ 470664 h 599162"/>
                <a:gd name="connsiteX233" fmla="*/ 607815 w 770887"/>
                <a:gd name="connsiteY233" fmla="*/ 467675 h 599162"/>
                <a:gd name="connsiteX234" fmla="*/ 591358 w 770887"/>
                <a:gd name="connsiteY234" fmla="*/ 452734 h 599162"/>
                <a:gd name="connsiteX235" fmla="*/ 580886 w 770887"/>
                <a:gd name="connsiteY235" fmla="*/ 440780 h 599162"/>
                <a:gd name="connsiteX236" fmla="*/ 574902 w 770887"/>
                <a:gd name="connsiteY236" fmla="*/ 442274 h 599162"/>
                <a:gd name="connsiteX237" fmla="*/ 561437 w 770887"/>
                <a:gd name="connsiteY237" fmla="*/ 439286 h 599162"/>
                <a:gd name="connsiteX238" fmla="*/ 552461 w 770887"/>
                <a:gd name="connsiteY238" fmla="*/ 430321 h 599162"/>
                <a:gd name="connsiteX239" fmla="*/ 552461 w 770887"/>
                <a:gd name="connsiteY239" fmla="*/ 419862 h 599162"/>
                <a:gd name="connsiteX240" fmla="*/ 547972 w 770887"/>
                <a:gd name="connsiteY240" fmla="*/ 422850 h 599162"/>
                <a:gd name="connsiteX241" fmla="*/ 530020 w 770887"/>
                <a:gd name="connsiteY241" fmla="*/ 422850 h 599162"/>
                <a:gd name="connsiteX242" fmla="*/ 521043 w 770887"/>
                <a:gd name="connsiteY242" fmla="*/ 421356 h 599162"/>
                <a:gd name="connsiteX243" fmla="*/ 510571 w 770887"/>
                <a:gd name="connsiteY243" fmla="*/ 418368 h 599162"/>
                <a:gd name="connsiteX244" fmla="*/ 491122 w 770887"/>
                <a:gd name="connsiteY244" fmla="*/ 416873 h 599162"/>
                <a:gd name="connsiteX245" fmla="*/ 471673 w 770887"/>
                <a:gd name="connsiteY245" fmla="*/ 421356 h 599162"/>
                <a:gd name="connsiteX246" fmla="*/ 458208 w 770887"/>
                <a:gd name="connsiteY246" fmla="*/ 424344 h 599162"/>
                <a:gd name="connsiteX247" fmla="*/ 461200 w 770887"/>
                <a:gd name="connsiteY247" fmla="*/ 412391 h 599162"/>
                <a:gd name="connsiteX248" fmla="*/ 456712 w 770887"/>
                <a:gd name="connsiteY248" fmla="*/ 415379 h 599162"/>
                <a:gd name="connsiteX249" fmla="*/ 449232 w 770887"/>
                <a:gd name="connsiteY249" fmla="*/ 410897 h 599162"/>
                <a:gd name="connsiteX250" fmla="*/ 443247 w 770887"/>
                <a:gd name="connsiteY250" fmla="*/ 407908 h 599162"/>
                <a:gd name="connsiteX251" fmla="*/ 437263 w 770887"/>
                <a:gd name="connsiteY251" fmla="*/ 407908 h 599162"/>
                <a:gd name="connsiteX252" fmla="*/ 432775 w 770887"/>
                <a:gd name="connsiteY252" fmla="*/ 407908 h 599162"/>
                <a:gd name="connsiteX253" fmla="*/ 425294 w 770887"/>
                <a:gd name="connsiteY253" fmla="*/ 412391 h 599162"/>
                <a:gd name="connsiteX254" fmla="*/ 419310 w 770887"/>
                <a:gd name="connsiteY254" fmla="*/ 415379 h 599162"/>
                <a:gd name="connsiteX255" fmla="*/ 413326 w 770887"/>
                <a:gd name="connsiteY255" fmla="*/ 422850 h 599162"/>
                <a:gd name="connsiteX256" fmla="*/ 410334 w 770887"/>
                <a:gd name="connsiteY256" fmla="*/ 425838 h 599162"/>
                <a:gd name="connsiteX257" fmla="*/ 402853 w 770887"/>
                <a:gd name="connsiteY257" fmla="*/ 424344 h 599162"/>
                <a:gd name="connsiteX258" fmla="*/ 410334 w 770887"/>
                <a:gd name="connsiteY258" fmla="*/ 418368 h 599162"/>
                <a:gd name="connsiteX259" fmla="*/ 419310 w 770887"/>
                <a:gd name="connsiteY259" fmla="*/ 409403 h 599162"/>
                <a:gd name="connsiteX260" fmla="*/ 425294 w 770887"/>
                <a:gd name="connsiteY260" fmla="*/ 403426 h 599162"/>
                <a:gd name="connsiteX261" fmla="*/ 429783 w 770887"/>
                <a:gd name="connsiteY261" fmla="*/ 397449 h 599162"/>
                <a:gd name="connsiteX262" fmla="*/ 426791 w 770887"/>
                <a:gd name="connsiteY262" fmla="*/ 397449 h 599162"/>
                <a:gd name="connsiteX263" fmla="*/ 420806 w 770887"/>
                <a:gd name="connsiteY263" fmla="*/ 394461 h 599162"/>
                <a:gd name="connsiteX264" fmla="*/ 420806 w 770887"/>
                <a:gd name="connsiteY264" fmla="*/ 384002 h 599162"/>
                <a:gd name="connsiteX265" fmla="*/ 414822 w 770887"/>
                <a:gd name="connsiteY265" fmla="*/ 388484 h 599162"/>
                <a:gd name="connsiteX266" fmla="*/ 413326 w 770887"/>
                <a:gd name="connsiteY266" fmla="*/ 389978 h 599162"/>
                <a:gd name="connsiteX267" fmla="*/ 402853 w 770887"/>
                <a:gd name="connsiteY267" fmla="*/ 389978 h 599162"/>
                <a:gd name="connsiteX268" fmla="*/ 393877 w 770887"/>
                <a:gd name="connsiteY268" fmla="*/ 388484 h 599162"/>
                <a:gd name="connsiteX269" fmla="*/ 389389 w 770887"/>
                <a:gd name="connsiteY269" fmla="*/ 392967 h 599162"/>
                <a:gd name="connsiteX270" fmla="*/ 386397 w 770887"/>
                <a:gd name="connsiteY270" fmla="*/ 401932 h 599162"/>
                <a:gd name="connsiteX271" fmla="*/ 392381 w 770887"/>
                <a:gd name="connsiteY271" fmla="*/ 409403 h 599162"/>
                <a:gd name="connsiteX272" fmla="*/ 389389 w 770887"/>
                <a:gd name="connsiteY272" fmla="*/ 421356 h 599162"/>
                <a:gd name="connsiteX273" fmla="*/ 381908 w 770887"/>
                <a:gd name="connsiteY273" fmla="*/ 428827 h 599162"/>
                <a:gd name="connsiteX274" fmla="*/ 374428 w 770887"/>
                <a:gd name="connsiteY274" fmla="*/ 428827 h 599162"/>
                <a:gd name="connsiteX275" fmla="*/ 365452 w 770887"/>
                <a:gd name="connsiteY275" fmla="*/ 428827 h 599162"/>
                <a:gd name="connsiteX276" fmla="*/ 362459 w 770887"/>
                <a:gd name="connsiteY276" fmla="*/ 439286 h 599162"/>
                <a:gd name="connsiteX277" fmla="*/ 350491 w 770887"/>
                <a:gd name="connsiteY277" fmla="*/ 443769 h 599162"/>
                <a:gd name="connsiteX278" fmla="*/ 348995 w 770887"/>
                <a:gd name="connsiteY278" fmla="*/ 446757 h 599162"/>
                <a:gd name="connsiteX279" fmla="*/ 338522 w 770887"/>
                <a:gd name="connsiteY279" fmla="*/ 454228 h 599162"/>
                <a:gd name="connsiteX280" fmla="*/ 328050 w 770887"/>
                <a:gd name="connsiteY280" fmla="*/ 457216 h 599162"/>
                <a:gd name="connsiteX281" fmla="*/ 322065 w 770887"/>
                <a:gd name="connsiteY281" fmla="*/ 458710 h 599162"/>
                <a:gd name="connsiteX282" fmla="*/ 319073 w 770887"/>
                <a:gd name="connsiteY282" fmla="*/ 454228 h 599162"/>
                <a:gd name="connsiteX283" fmla="*/ 317577 w 770887"/>
                <a:gd name="connsiteY283" fmla="*/ 451239 h 599162"/>
                <a:gd name="connsiteX284" fmla="*/ 325058 w 770887"/>
                <a:gd name="connsiteY284" fmla="*/ 448251 h 599162"/>
                <a:gd name="connsiteX285" fmla="*/ 331042 w 770887"/>
                <a:gd name="connsiteY285" fmla="*/ 440780 h 599162"/>
                <a:gd name="connsiteX286" fmla="*/ 323561 w 770887"/>
                <a:gd name="connsiteY286" fmla="*/ 440780 h 599162"/>
                <a:gd name="connsiteX287" fmla="*/ 320569 w 770887"/>
                <a:gd name="connsiteY287" fmla="*/ 436298 h 599162"/>
                <a:gd name="connsiteX288" fmla="*/ 328050 w 770887"/>
                <a:gd name="connsiteY288" fmla="*/ 425838 h 599162"/>
                <a:gd name="connsiteX289" fmla="*/ 331042 w 770887"/>
                <a:gd name="connsiteY289" fmla="*/ 415379 h 599162"/>
                <a:gd name="connsiteX290" fmla="*/ 335530 w 770887"/>
                <a:gd name="connsiteY290" fmla="*/ 400438 h 599162"/>
                <a:gd name="connsiteX291" fmla="*/ 343010 w 770887"/>
                <a:gd name="connsiteY291" fmla="*/ 391473 h 599162"/>
                <a:gd name="connsiteX292" fmla="*/ 369940 w 770887"/>
                <a:gd name="connsiteY292" fmla="*/ 394461 h 599162"/>
                <a:gd name="connsiteX293" fmla="*/ 365452 w 770887"/>
                <a:gd name="connsiteY293" fmla="*/ 388484 h 599162"/>
                <a:gd name="connsiteX294" fmla="*/ 357971 w 770887"/>
                <a:gd name="connsiteY294" fmla="*/ 386990 h 599162"/>
                <a:gd name="connsiteX295" fmla="*/ 344507 w 770887"/>
                <a:gd name="connsiteY295" fmla="*/ 381013 h 599162"/>
                <a:gd name="connsiteX296" fmla="*/ 334034 w 770887"/>
                <a:gd name="connsiteY296" fmla="*/ 385496 h 599162"/>
                <a:gd name="connsiteX297" fmla="*/ 325058 w 770887"/>
                <a:gd name="connsiteY297" fmla="*/ 392967 h 599162"/>
                <a:gd name="connsiteX298" fmla="*/ 316081 w 770887"/>
                <a:gd name="connsiteY298" fmla="*/ 400438 h 599162"/>
                <a:gd name="connsiteX299" fmla="*/ 311593 w 770887"/>
                <a:gd name="connsiteY299" fmla="*/ 409403 h 599162"/>
                <a:gd name="connsiteX300" fmla="*/ 310097 w 770887"/>
                <a:gd name="connsiteY300" fmla="*/ 416873 h 599162"/>
                <a:gd name="connsiteX301" fmla="*/ 304113 w 770887"/>
                <a:gd name="connsiteY301" fmla="*/ 416873 h 599162"/>
                <a:gd name="connsiteX302" fmla="*/ 304113 w 770887"/>
                <a:gd name="connsiteY302" fmla="*/ 419862 h 599162"/>
                <a:gd name="connsiteX303" fmla="*/ 307105 w 770887"/>
                <a:gd name="connsiteY303" fmla="*/ 425838 h 599162"/>
                <a:gd name="connsiteX304" fmla="*/ 305609 w 770887"/>
                <a:gd name="connsiteY304" fmla="*/ 430321 h 599162"/>
                <a:gd name="connsiteX305" fmla="*/ 301120 w 770887"/>
                <a:gd name="connsiteY305" fmla="*/ 434803 h 599162"/>
                <a:gd name="connsiteX306" fmla="*/ 290648 w 770887"/>
                <a:gd name="connsiteY306" fmla="*/ 440780 h 599162"/>
                <a:gd name="connsiteX307" fmla="*/ 284664 w 770887"/>
                <a:gd name="connsiteY307" fmla="*/ 445263 h 599162"/>
                <a:gd name="connsiteX308" fmla="*/ 277183 w 770887"/>
                <a:gd name="connsiteY308" fmla="*/ 452734 h 599162"/>
                <a:gd name="connsiteX309" fmla="*/ 275687 w 770887"/>
                <a:gd name="connsiteY309" fmla="*/ 460204 h 599162"/>
                <a:gd name="connsiteX310" fmla="*/ 286160 w 770887"/>
                <a:gd name="connsiteY310" fmla="*/ 463193 h 599162"/>
                <a:gd name="connsiteX311" fmla="*/ 287656 w 770887"/>
                <a:gd name="connsiteY311" fmla="*/ 473652 h 599162"/>
                <a:gd name="connsiteX312" fmla="*/ 283168 w 770887"/>
                <a:gd name="connsiteY312" fmla="*/ 479629 h 599162"/>
                <a:gd name="connsiteX313" fmla="*/ 275687 w 770887"/>
                <a:gd name="connsiteY313" fmla="*/ 484111 h 599162"/>
                <a:gd name="connsiteX314" fmla="*/ 266711 w 770887"/>
                <a:gd name="connsiteY314" fmla="*/ 496064 h 599162"/>
                <a:gd name="connsiteX315" fmla="*/ 253246 w 770887"/>
                <a:gd name="connsiteY315" fmla="*/ 505029 h 599162"/>
                <a:gd name="connsiteX316" fmla="*/ 226317 w 770887"/>
                <a:gd name="connsiteY316" fmla="*/ 518477 h 599162"/>
                <a:gd name="connsiteX317" fmla="*/ 224821 w 770887"/>
                <a:gd name="connsiteY317" fmla="*/ 530430 h 599162"/>
                <a:gd name="connsiteX318" fmla="*/ 214348 w 770887"/>
                <a:gd name="connsiteY318" fmla="*/ 534913 h 599162"/>
                <a:gd name="connsiteX319" fmla="*/ 203876 w 770887"/>
                <a:gd name="connsiteY319" fmla="*/ 540890 h 599162"/>
                <a:gd name="connsiteX320" fmla="*/ 190411 w 770887"/>
                <a:gd name="connsiteY320" fmla="*/ 545372 h 599162"/>
                <a:gd name="connsiteX321" fmla="*/ 185923 w 770887"/>
                <a:gd name="connsiteY321" fmla="*/ 548360 h 599162"/>
                <a:gd name="connsiteX322" fmla="*/ 179939 w 770887"/>
                <a:gd name="connsiteY322" fmla="*/ 552843 h 599162"/>
                <a:gd name="connsiteX323" fmla="*/ 175450 w 770887"/>
                <a:gd name="connsiteY323" fmla="*/ 557325 h 599162"/>
                <a:gd name="connsiteX324" fmla="*/ 172458 w 770887"/>
                <a:gd name="connsiteY324" fmla="*/ 566290 h 599162"/>
                <a:gd name="connsiteX325" fmla="*/ 164978 w 770887"/>
                <a:gd name="connsiteY325" fmla="*/ 567785 h 599162"/>
                <a:gd name="connsiteX326" fmla="*/ 154505 w 770887"/>
                <a:gd name="connsiteY326" fmla="*/ 570773 h 599162"/>
                <a:gd name="connsiteX327" fmla="*/ 147025 w 770887"/>
                <a:gd name="connsiteY327" fmla="*/ 570773 h 599162"/>
                <a:gd name="connsiteX328" fmla="*/ 139545 w 770887"/>
                <a:gd name="connsiteY328" fmla="*/ 573761 h 599162"/>
                <a:gd name="connsiteX329" fmla="*/ 129072 w 770887"/>
                <a:gd name="connsiteY329" fmla="*/ 579738 h 599162"/>
                <a:gd name="connsiteX330" fmla="*/ 132064 w 770887"/>
                <a:gd name="connsiteY330" fmla="*/ 587209 h 599162"/>
                <a:gd name="connsiteX331" fmla="*/ 129072 w 770887"/>
                <a:gd name="connsiteY331" fmla="*/ 588703 h 599162"/>
                <a:gd name="connsiteX332" fmla="*/ 121592 w 770887"/>
                <a:gd name="connsiteY332" fmla="*/ 584220 h 599162"/>
                <a:gd name="connsiteX333" fmla="*/ 114111 w 770887"/>
                <a:gd name="connsiteY333" fmla="*/ 581232 h 599162"/>
                <a:gd name="connsiteX334" fmla="*/ 108127 w 770887"/>
                <a:gd name="connsiteY334" fmla="*/ 572267 h 599162"/>
                <a:gd name="connsiteX335" fmla="*/ 106631 w 770887"/>
                <a:gd name="connsiteY335" fmla="*/ 575255 h 599162"/>
                <a:gd name="connsiteX336" fmla="*/ 106631 w 770887"/>
                <a:gd name="connsiteY336" fmla="*/ 587209 h 599162"/>
                <a:gd name="connsiteX337" fmla="*/ 97655 w 770887"/>
                <a:gd name="connsiteY337" fmla="*/ 587209 h 599162"/>
                <a:gd name="connsiteX338" fmla="*/ 97655 w 770887"/>
                <a:gd name="connsiteY338" fmla="*/ 591691 h 599162"/>
                <a:gd name="connsiteX339" fmla="*/ 88678 w 770887"/>
                <a:gd name="connsiteY339" fmla="*/ 591691 h 599162"/>
                <a:gd name="connsiteX340" fmla="*/ 88678 w 770887"/>
                <a:gd name="connsiteY340" fmla="*/ 590197 h 599162"/>
                <a:gd name="connsiteX341" fmla="*/ 84190 w 770887"/>
                <a:gd name="connsiteY341" fmla="*/ 588703 h 599162"/>
                <a:gd name="connsiteX342" fmla="*/ 78206 w 770887"/>
                <a:gd name="connsiteY342" fmla="*/ 588703 h 599162"/>
                <a:gd name="connsiteX343" fmla="*/ 70725 w 770887"/>
                <a:gd name="connsiteY343" fmla="*/ 590197 h 599162"/>
                <a:gd name="connsiteX344" fmla="*/ 61749 w 770887"/>
                <a:gd name="connsiteY344" fmla="*/ 599162 h 599162"/>
                <a:gd name="connsiteX345" fmla="*/ 45292 w 770887"/>
                <a:gd name="connsiteY345" fmla="*/ 599162 h 599162"/>
                <a:gd name="connsiteX346" fmla="*/ 30331 w 770887"/>
                <a:gd name="connsiteY346" fmla="*/ 599162 h 599162"/>
                <a:gd name="connsiteX347" fmla="*/ 30331 w 770887"/>
                <a:gd name="connsiteY347" fmla="*/ 593185 h 599162"/>
                <a:gd name="connsiteX348" fmla="*/ 40804 w 770887"/>
                <a:gd name="connsiteY348" fmla="*/ 581232 h 599162"/>
                <a:gd name="connsiteX349" fmla="*/ 58757 w 770887"/>
                <a:gd name="connsiteY349" fmla="*/ 581232 h 599162"/>
                <a:gd name="connsiteX350" fmla="*/ 66237 w 770887"/>
                <a:gd name="connsiteY350" fmla="*/ 581232 h 599162"/>
                <a:gd name="connsiteX351" fmla="*/ 73717 w 770887"/>
                <a:gd name="connsiteY351" fmla="*/ 576750 h 599162"/>
                <a:gd name="connsiteX352" fmla="*/ 84190 w 770887"/>
                <a:gd name="connsiteY352" fmla="*/ 573761 h 599162"/>
                <a:gd name="connsiteX353" fmla="*/ 88678 w 770887"/>
                <a:gd name="connsiteY353" fmla="*/ 570773 h 599162"/>
                <a:gd name="connsiteX354" fmla="*/ 93166 w 770887"/>
                <a:gd name="connsiteY354" fmla="*/ 563302 h 599162"/>
                <a:gd name="connsiteX355" fmla="*/ 102143 w 770887"/>
                <a:gd name="connsiteY355" fmla="*/ 558820 h 599162"/>
                <a:gd name="connsiteX356" fmla="*/ 115607 w 770887"/>
                <a:gd name="connsiteY356" fmla="*/ 557325 h 599162"/>
                <a:gd name="connsiteX357" fmla="*/ 123088 w 770887"/>
                <a:gd name="connsiteY357" fmla="*/ 557325 h 599162"/>
                <a:gd name="connsiteX358" fmla="*/ 129072 w 770887"/>
                <a:gd name="connsiteY358" fmla="*/ 563302 h 599162"/>
                <a:gd name="connsiteX359" fmla="*/ 135056 w 770887"/>
                <a:gd name="connsiteY359" fmla="*/ 558820 h 599162"/>
                <a:gd name="connsiteX360" fmla="*/ 141041 w 770887"/>
                <a:gd name="connsiteY360" fmla="*/ 549855 h 599162"/>
                <a:gd name="connsiteX361" fmla="*/ 148521 w 770887"/>
                <a:gd name="connsiteY361" fmla="*/ 542384 h 599162"/>
                <a:gd name="connsiteX362" fmla="*/ 156001 w 770887"/>
                <a:gd name="connsiteY362" fmla="*/ 537901 h 599162"/>
                <a:gd name="connsiteX363" fmla="*/ 170962 w 770887"/>
                <a:gd name="connsiteY363" fmla="*/ 534913 h 599162"/>
                <a:gd name="connsiteX364" fmla="*/ 176946 w 770887"/>
                <a:gd name="connsiteY364" fmla="*/ 528936 h 599162"/>
                <a:gd name="connsiteX365" fmla="*/ 184427 w 770887"/>
                <a:gd name="connsiteY365" fmla="*/ 521465 h 599162"/>
                <a:gd name="connsiteX366" fmla="*/ 193403 w 770887"/>
                <a:gd name="connsiteY366" fmla="*/ 513994 h 599162"/>
                <a:gd name="connsiteX367" fmla="*/ 200884 w 770887"/>
                <a:gd name="connsiteY367" fmla="*/ 509512 h 599162"/>
                <a:gd name="connsiteX368" fmla="*/ 203876 w 770887"/>
                <a:gd name="connsiteY368" fmla="*/ 500547 h 599162"/>
                <a:gd name="connsiteX369" fmla="*/ 205372 w 770887"/>
                <a:gd name="connsiteY369" fmla="*/ 487099 h 599162"/>
                <a:gd name="connsiteX370" fmla="*/ 208364 w 770887"/>
                <a:gd name="connsiteY370" fmla="*/ 478134 h 599162"/>
                <a:gd name="connsiteX371" fmla="*/ 209860 w 770887"/>
                <a:gd name="connsiteY371" fmla="*/ 475146 h 599162"/>
                <a:gd name="connsiteX372" fmla="*/ 217340 w 770887"/>
                <a:gd name="connsiteY372" fmla="*/ 464687 h 599162"/>
                <a:gd name="connsiteX373" fmla="*/ 212852 w 770887"/>
                <a:gd name="connsiteY373" fmla="*/ 464687 h 599162"/>
                <a:gd name="connsiteX374" fmla="*/ 205372 w 770887"/>
                <a:gd name="connsiteY374" fmla="*/ 466181 h 599162"/>
                <a:gd name="connsiteX375" fmla="*/ 200884 w 770887"/>
                <a:gd name="connsiteY375" fmla="*/ 466181 h 599162"/>
                <a:gd name="connsiteX376" fmla="*/ 193403 w 770887"/>
                <a:gd name="connsiteY376" fmla="*/ 464687 h 599162"/>
                <a:gd name="connsiteX377" fmla="*/ 190411 w 770887"/>
                <a:gd name="connsiteY377" fmla="*/ 461699 h 599162"/>
                <a:gd name="connsiteX378" fmla="*/ 197891 w 770887"/>
                <a:gd name="connsiteY378" fmla="*/ 454228 h 599162"/>
                <a:gd name="connsiteX379" fmla="*/ 190411 w 770887"/>
                <a:gd name="connsiteY379" fmla="*/ 455722 h 599162"/>
                <a:gd name="connsiteX380" fmla="*/ 185923 w 770887"/>
                <a:gd name="connsiteY380" fmla="*/ 460204 h 599162"/>
                <a:gd name="connsiteX381" fmla="*/ 182931 w 770887"/>
                <a:gd name="connsiteY381" fmla="*/ 470664 h 599162"/>
                <a:gd name="connsiteX382" fmla="*/ 178442 w 770887"/>
                <a:gd name="connsiteY382" fmla="*/ 475146 h 599162"/>
                <a:gd name="connsiteX383" fmla="*/ 176946 w 770887"/>
                <a:gd name="connsiteY383" fmla="*/ 470664 h 599162"/>
                <a:gd name="connsiteX384" fmla="*/ 172458 w 770887"/>
                <a:gd name="connsiteY384" fmla="*/ 464687 h 599162"/>
                <a:gd name="connsiteX385" fmla="*/ 164978 w 770887"/>
                <a:gd name="connsiteY385" fmla="*/ 457216 h 599162"/>
                <a:gd name="connsiteX386" fmla="*/ 153009 w 770887"/>
                <a:gd name="connsiteY386" fmla="*/ 449745 h 599162"/>
                <a:gd name="connsiteX387" fmla="*/ 150017 w 770887"/>
                <a:gd name="connsiteY387" fmla="*/ 449745 h 599162"/>
                <a:gd name="connsiteX388" fmla="*/ 139545 w 770887"/>
                <a:gd name="connsiteY388" fmla="*/ 457216 h 599162"/>
                <a:gd name="connsiteX389" fmla="*/ 133560 w 770887"/>
                <a:gd name="connsiteY389" fmla="*/ 457216 h 599162"/>
                <a:gd name="connsiteX390" fmla="*/ 124584 w 770887"/>
                <a:gd name="connsiteY390" fmla="*/ 457216 h 599162"/>
                <a:gd name="connsiteX391" fmla="*/ 126080 w 770887"/>
                <a:gd name="connsiteY391" fmla="*/ 437792 h 599162"/>
                <a:gd name="connsiteX392" fmla="*/ 127576 w 770887"/>
                <a:gd name="connsiteY392" fmla="*/ 431815 h 599162"/>
                <a:gd name="connsiteX393" fmla="*/ 132064 w 770887"/>
                <a:gd name="connsiteY393" fmla="*/ 425838 h 599162"/>
                <a:gd name="connsiteX394" fmla="*/ 132064 w 770887"/>
                <a:gd name="connsiteY394" fmla="*/ 418368 h 599162"/>
                <a:gd name="connsiteX395" fmla="*/ 130568 w 770887"/>
                <a:gd name="connsiteY395" fmla="*/ 406414 h 599162"/>
                <a:gd name="connsiteX396" fmla="*/ 127576 w 770887"/>
                <a:gd name="connsiteY396" fmla="*/ 394461 h 599162"/>
                <a:gd name="connsiteX397" fmla="*/ 124584 w 770887"/>
                <a:gd name="connsiteY397" fmla="*/ 397449 h 599162"/>
                <a:gd name="connsiteX398" fmla="*/ 118600 w 770887"/>
                <a:gd name="connsiteY398" fmla="*/ 403426 h 599162"/>
                <a:gd name="connsiteX399" fmla="*/ 114111 w 770887"/>
                <a:gd name="connsiteY399" fmla="*/ 406414 h 599162"/>
                <a:gd name="connsiteX400" fmla="*/ 109623 w 770887"/>
                <a:gd name="connsiteY400" fmla="*/ 406414 h 599162"/>
                <a:gd name="connsiteX401" fmla="*/ 105135 w 770887"/>
                <a:gd name="connsiteY401" fmla="*/ 401932 h 599162"/>
                <a:gd name="connsiteX402" fmla="*/ 102143 w 770887"/>
                <a:gd name="connsiteY402" fmla="*/ 401932 h 599162"/>
                <a:gd name="connsiteX403" fmla="*/ 96158 w 770887"/>
                <a:gd name="connsiteY403" fmla="*/ 398943 h 599162"/>
                <a:gd name="connsiteX404" fmla="*/ 91670 w 770887"/>
                <a:gd name="connsiteY404" fmla="*/ 394461 h 599162"/>
                <a:gd name="connsiteX405" fmla="*/ 87182 w 770887"/>
                <a:gd name="connsiteY405" fmla="*/ 391473 h 599162"/>
                <a:gd name="connsiteX406" fmla="*/ 82694 w 770887"/>
                <a:gd name="connsiteY406" fmla="*/ 386990 h 599162"/>
                <a:gd name="connsiteX407" fmla="*/ 81198 w 770887"/>
                <a:gd name="connsiteY407" fmla="*/ 382508 h 599162"/>
                <a:gd name="connsiteX408" fmla="*/ 79702 w 770887"/>
                <a:gd name="connsiteY408" fmla="*/ 372048 h 599162"/>
                <a:gd name="connsiteX409" fmla="*/ 85686 w 770887"/>
                <a:gd name="connsiteY409" fmla="*/ 367566 h 599162"/>
                <a:gd name="connsiteX410" fmla="*/ 91670 w 770887"/>
                <a:gd name="connsiteY410" fmla="*/ 367566 h 599162"/>
                <a:gd name="connsiteX411" fmla="*/ 99151 w 770887"/>
                <a:gd name="connsiteY411" fmla="*/ 367566 h 599162"/>
                <a:gd name="connsiteX412" fmla="*/ 106631 w 770887"/>
                <a:gd name="connsiteY412" fmla="*/ 372048 h 599162"/>
                <a:gd name="connsiteX413" fmla="*/ 109623 w 770887"/>
                <a:gd name="connsiteY413" fmla="*/ 364578 h 599162"/>
                <a:gd name="connsiteX414" fmla="*/ 105135 w 770887"/>
                <a:gd name="connsiteY414" fmla="*/ 360095 h 599162"/>
                <a:gd name="connsiteX415" fmla="*/ 103639 w 770887"/>
                <a:gd name="connsiteY415" fmla="*/ 360095 h 599162"/>
                <a:gd name="connsiteX416" fmla="*/ 96158 w 770887"/>
                <a:gd name="connsiteY416" fmla="*/ 360095 h 599162"/>
                <a:gd name="connsiteX417" fmla="*/ 91670 w 770887"/>
                <a:gd name="connsiteY417" fmla="*/ 360095 h 599162"/>
                <a:gd name="connsiteX418" fmla="*/ 82694 w 770887"/>
                <a:gd name="connsiteY418" fmla="*/ 354118 h 599162"/>
                <a:gd name="connsiteX419" fmla="*/ 79702 w 770887"/>
                <a:gd name="connsiteY419" fmla="*/ 348142 h 599162"/>
                <a:gd name="connsiteX420" fmla="*/ 76710 w 770887"/>
                <a:gd name="connsiteY420" fmla="*/ 340671 h 599162"/>
                <a:gd name="connsiteX421" fmla="*/ 73717 w 770887"/>
                <a:gd name="connsiteY421" fmla="*/ 333200 h 599162"/>
                <a:gd name="connsiteX422" fmla="*/ 73717 w 770887"/>
                <a:gd name="connsiteY422" fmla="*/ 330212 h 599162"/>
                <a:gd name="connsiteX423" fmla="*/ 76710 w 770887"/>
                <a:gd name="connsiteY423" fmla="*/ 327223 h 599162"/>
                <a:gd name="connsiteX424" fmla="*/ 81198 w 770887"/>
                <a:gd name="connsiteY424" fmla="*/ 319752 h 599162"/>
                <a:gd name="connsiteX425" fmla="*/ 88678 w 770887"/>
                <a:gd name="connsiteY425" fmla="*/ 310787 h 599162"/>
                <a:gd name="connsiteX426" fmla="*/ 97655 w 770887"/>
                <a:gd name="connsiteY426" fmla="*/ 304811 h 599162"/>
                <a:gd name="connsiteX427" fmla="*/ 103639 w 770887"/>
                <a:gd name="connsiteY427" fmla="*/ 297340 h 599162"/>
                <a:gd name="connsiteX428" fmla="*/ 105135 w 770887"/>
                <a:gd name="connsiteY428" fmla="*/ 289869 h 599162"/>
                <a:gd name="connsiteX429" fmla="*/ 112615 w 770887"/>
                <a:gd name="connsiteY429" fmla="*/ 282398 h 599162"/>
                <a:gd name="connsiteX430" fmla="*/ 118600 w 770887"/>
                <a:gd name="connsiteY430" fmla="*/ 280904 h 599162"/>
                <a:gd name="connsiteX431" fmla="*/ 123088 w 770887"/>
                <a:gd name="connsiteY431" fmla="*/ 283892 h 599162"/>
                <a:gd name="connsiteX432" fmla="*/ 127576 w 770887"/>
                <a:gd name="connsiteY432" fmla="*/ 289869 h 599162"/>
                <a:gd name="connsiteX433" fmla="*/ 130568 w 770887"/>
                <a:gd name="connsiteY433" fmla="*/ 289869 h 599162"/>
                <a:gd name="connsiteX434" fmla="*/ 136552 w 770887"/>
                <a:gd name="connsiteY434" fmla="*/ 289869 h 599162"/>
                <a:gd name="connsiteX435" fmla="*/ 139545 w 770887"/>
                <a:gd name="connsiteY435" fmla="*/ 289869 h 599162"/>
                <a:gd name="connsiteX436" fmla="*/ 144033 w 770887"/>
                <a:gd name="connsiteY436" fmla="*/ 283892 h 599162"/>
                <a:gd name="connsiteX437" fmla="*/ 148521 w 770887"/>
                <a:gd name="connsiteY437" fmla="*/ 283892 h 599162"/>
                <a:gd name="connsiteX438" fmla="*/ 150017 w 770887"/>
                <a:gd name="connsiteY438" fmla="*/ 280904 h 599162"/>
                <a:gd name="connsiteX439" fmla="*/ 153009 w 770887"/>
                <a:gd name="connsiteY439" fmla="*/ 276422 h 599162"/>
                <a:gd name="connsiteX440" fmla="*/ 154505 w 770887"/>
                <a:gd name="connsiteY440" fmla="*/ 280904 h 599162"/>
                <a:gd name="connsiteX441" fmla="*/ 158994 w 770887"/>
                <a:gd name="connsiteY441" fmla="*/ 280904 h 599162"/>
                <a:gd name="connsiteX442" fmla="*/ 161986 w 770887"/>
                <a:gd name="connsiteY442" fmla="*/ 280904 h 599162"/>
                <a:gd name="connsiteX443" fmla="*/ 167970 w 770887"/>
                <a:gd name="connsiteY443" fmla="*/ 280904 h 599162"/>
                <a:gd name="connsiteX444" fmla="*/ 172458 w 770887"/>
                <a:gd name="connsiteY444" fmla="*/ 276422 h 599162"/>
                <a:gd name="connsiteX445" fmla="*/ 176946 w 770887"/>
                <a:gd name="connsiteY445" fmla="*/ 276422 h 599162"/>
                <a:gd name="connsiteX446" fmla="*/ 178442 w 770887"/>
                <a:gd name="connsiteY446" fmla="*/ 265962 h 599162"/>
                <a:gd name="connsiteX447" fmla="*/ 175450 w 770887"/>
                <a:gd name="connsiteY447" fmla="*/ 258491 h 599162"/>
                <a:gd name="connsiteX448" fmla="*/ 172458 w 770887"/>
                <a:gd name="connsiteY448" fmla="*/ 246538 h 599162"/>
                <a:gd name="connsiteX449" fmla="*/ 178442 w 770887"/>
                <a:gd name="connsiteY449" fmla="*/ 246538 h 599162"/>
                <a:gd name="connsiteX450" fmla="*/ 184427 w 770887"/>
                <a:gd name="connsiteY450" fmla="*/ 240561 h 599162"/>
                <a:gd name="connsiteX451" fmla="*/ 182931 w 770887"/>
                <a:gd name="connsiteY451" fmla="*/ 231596 h 599162"/>
                <a:gd name="connsiteX452" fmla="*/ 173954 w 770887"/>
                <a:gd name="connsiteY452" fmla="*/ 230102 h 599162"/>
                <a:gd name="connsiteX453" fmla="*/ 169466 w 770887"/>
                <a:gd name="connsiteY453" fmla="*/ 230102 h 599162"/>
                <a:gd name="connsiteX454" fmla="*/ 164978 w 770887"/>
                <a:gd name="connsiteY454" fmla="*/ 231596 h 599162"/>
                <a:gd name="connsiteX455" fmla="*/ 160490 w 770887"/>
                <a:gd name="connsiteY455" fmla="*/ 234585 h 599162"/>
                <a:gd name="connsiteX456" fmla="*/ 157497 w 770887"/>
                <a:gd name="connsiteY456" fmla="*/ 240561 h 599162"/>
                <a:gd name="connsiteX457" fmla="*/ 153009 w 770887"/>
                <a:gd name="connsiteY457" fmla="*/ 240561 h 599162"/>
                <a:gd name="connsiteX458" fmla="*/ 148521 w 770887"/>
                <a:gd name="connsiteY458" fmla="*/ 231596 h 599162"/>
                <a:gd name="connsiteX459" fmla="*/ 136552 w 770887"/>
                <a:gd name="connsiteY459" fmla="*/ 231596 h 599162"/>
                <a:gd name="connsiteX460" fmla="*/ 123088 w 770887"/>
                <a:gd name="connsiteY460" fmla="*/ 231596 h 599162"/>
                <a:gd name="connsiteX461" fmla="*/ 112615 w 770887"/>
                <a:gd name="connsiteY461" fmla="*/ 228608 h 599162"/>
                <a:gd name="connsiteX462" fmla="*/ 102143 w 770887"/>
                <a:gd name="connsiteY462" fmla="*/ 224125 h 599162"/>
                <a:gd name="connsiteX463" fmla="*/ 96158 w 770887"/>
                <a:gd name="connsiteY463" fmla="*/ 216654 h 599162"/>
                <a:gd name="connsiteX464" fmla="*/ 94662 w 770887"/>
                <a:gd name="connsiteY464" fmla="*/ 201713 h 599162"/>
                <a:gd name="connsiteX465" fmla="*/ 102143 w 770887"/>
                <a:gd name="connsiteY465" fmla="*/ 198724 h 599162"/>
                <a:gd name="connsiteX466" fmla="*/ 106631 w 770887"/>
                <a:gd name="connsiteY466" fmla="*/ 195736 h 599162"/>
                <a:gd name="connsiteX467" fmla="*/ 96158 w 770887"/>
                <a:gd name="connsiteY467" fmla="*/ 191254 h 599162"/>
                <a:gd name="connsiteX468" fmla="*/ 90174 w 770887"/>
                <a:gd name="connsiteY468" fmla="*/ 186771 h 599162"/>
                <a:gd name="connsiteX469" fmla="*/ 82694 w 770887"/>
                <a:gd name="connsiteY469" fmla="*/ 180794 h 599162"/>
                <a:gd name="connsiteX470" fmla="*/ 81198 w 770887"/>
                <a:gd name="connsiteY470" fmla="*/ 177806 h 599162"/>
                <a:gd name="connsiteX471" fmla="*/ 87182 w 770887"/>
                <a:gd name="connsiteY471" fmla="*/ 173324 h 599162"/>
                <a:gd name="connsiteX472" fmla="*/ 91670 w 770887"/>
                <a:gd name="connsiteY472" fmla="*/ 173324 h 599162"/>
                <a:gd name="connsiteX473" fmla="*/ 100647 w 770887"/>
                <a:gd name="connsiteY473" fmla="*/ 171829 h 599162"/>
                <a:gd name="connsiteX474" fmla="*/ 112615 w 770887"/>
                <a:gd name="connsiteY474" fmla="*/ 164359 h 599162"/>
                <a:gd name="connsiteX475" fmla="*/ 114111 w 770887"/>
                <a:gd name="connsiteY475" fmla="*/ 167347 h 599162"/>
                <a:gd name="connsiteX476" fmla="*/ 121592 w 770887"/>
                <a:gd name="connsiteY476" fmla="*/ 164359 h 599162"/>
                <a:gd name="connsiteX477" fmla="*/ 121592 w 770887"/>
                <a:gd name="connsiteY477" fmla="*/ 162864 h 599162"/>
                <a:gd name="connsiteX478" fmla="*/ 126080 w 770887"/>
                <a:gd name="connsiteY478" fmla="*/ 161370 h 599162"/>
                <a:gd name="connsiteX479" fmla="*/ 135056 w 770887"/>
                <a:gd name="connsiteY479" fmla="*/ 159876 h 599162"/>
                <a:gd name="connsiteX480" fmla="*/ 145529 w 770887"/>
                <a:gd name="connsiteY480" fmla="*/ 159876 h 599162"/>
                <a:gd name="connsiteX481" fmla="*/ 150017 w 770887"/>
                <a:gd name="connsiteY481" fmla="*/ 162864 h 599162"/>
                <a:gd name="connsiteX482" fmla="*/ 147025 w 770887"/>
                <a:gd name="connsiteY482" fmla="*/ 170335 h 599162"/>
                <a:gd name="connsiteX483" fmla="*/ 147025 w 770887"/>
                <a:gd name="connsiteY483" fmla="*/ 173324 h 599162"/>
                <a:gd name="connsiteX484" fmla="*/ 151513 w 770887"/>
                <a:gd name="connsiteY484" fmla="*/ 176312 h 599162"/>
                <a:gd name="connsiteX485" fmla="*/ 156001 w 770887"/>
                <a:gd name="connsiteY485" fmla="*/ 180794 h 599162"/>
                <a:gd name="connsiteX486" fmla="*/ 164978 w 770887"/>
                <a:gd name="connsiteY486" fmla="*/ 180794 h 599162"/>
                <a:gd name="connsiteX487" fmla="*/ 176946 w 770887"/>
                <a:gd name="connsiteY487" fmla="*/ 183783 h 599162"/>
                <a:gd name="connsiteX488" fmla="*/ 185923 w 770887"/>
                <a:gd name="connsiteY488" fmla="*/ 179300 h 599162"/>
                <a:gd name="connsiteX489" fmla="*/ 191907 w 770887"/>
                <a:gd name="connsiteY489" fmla="*/ 173324 h 599162"/>
                <a:gd name="connsiteX490" fmla="*/ 199387 w 770887"/>
                <a:gd name="connsiteY490" fmla="*/ 168841 h 599162"/>
                <a:gd name="connsiteX491" fmla="*/ 191907 w 770887"/>
                <a:gd name="connsiteY491" fmla="*/ 165853 h 599162"/>
                <a:gd name="connsiteX492" fmla="*/ 185923 w 770887"/>
                <a:gd name="connsiteY492" fmla="*/ 162864 h 599162"/>
                <a:gd name="connsiteX493" fmla="*/ 181435 w 770887"/>
                <a:gd name="connsiteY493" fmla="*/ 159876 h 599162"/>
                <a:gd name="connsiteX494" fmla="*/ 181435 w 770887"/>
                <a:gd name="connsiteY494" fmla="*/ 153899 h 599162"/>
                <a:gd name="connsiteX495" fmla="*/ 179939 w 770887"/>
                <a:gd name="connsiteY495" fmla="*/ 146428 h 599162"/>
                <a:gd name="connsiteX496" fmla="*/ 157497 w 770887"/>
                <a:gd name="connsiteY496" fmla="*/ 140452 h 599162"/>
                <a:gd name="connsiteX497" fmla="*/ 157497 w 770887"/>
                <a:gd name="connsiteY497" fmla="*/ 118039 h 599162"/>
                <a:gd name="connsiteX498" fmla="*/ 147025 w 770887"/>
                <a:gd name="connsiteY498" fmla="*/ 107580 h 599162"/>
                <a:gd name="connsiteX499" fmla="*/ 126080 w 770887"/>
                <a:gd name="connsiteY499" fmla="*/ 85168 h 599162"/>
                <a:gd name="connsiteX500" fmla="*/ 129072 w 770887"/>
                <a:gd name="connsiteY500" fmla="*/ 85168 h 599162"/>
                <a:gd name="connsiteX501" fmla="*/ 129072 w 770887"/>
                <a:gd name="connsiteY501" fmla="*/ 80685 h 599162"/>
                <a:gd name="connsiteX502" fmla="*/ 136552 w 770887"/>
                <a:gd name="connsiteY502" fmla="*/ 80685 h 599162"/>
                <a:gd name="connsiteX503" fmla="*/ 136552 w 770887"/>
                <a:gd name="connsiteY503" fmla="*/ 74708 h 599162"/>
                <a:gd name="connsiteX504" fmla="*/ 138048 w 770887"/>
                <a:gd name="connsiteY504" fmla="*/ 67238 h 599162"/>
                <a:gd name="connsiteX505" fmla="*/ 142537 w 770887"/>
                <a:gd name="connsiteY505" fmla="*/ 67238 h 599162"/>
                <a:gd name="connsiteX506" fmla="*/ 147025 w 770887"/>
                <a:gd name="connsiteY506" fmla="*/ 70226 h 599162"/>
                <a:gd name="connsiteX507" fmla="*/ 154505 w 770887"/>
                <a:gd name="connsiteY507" fmla="*/ 70226 h 599162"/>
                <a:gd name="connsiteX508" fmla="*/ 157497 w 770887"/>
                <a:gd name="connsiteY508" fmla="*/ 70226 h 599162"/>
                <a:gd name="connsiteX509" fmla="*/ 164978 w 770887"/>
                <a:gd name="connsiteY509" fmla="*/ 70226 h 599162"/>
                <a:gd name="connsiteX510" fmla="*/ 178442 w 770887"/>
                <a:gd name="connsiteY510" fmla="*/ 65743 h 599162"/>
                <a:gd name="connsiteX511" fmla="*/ 182931 w 770887"/>
                <a:gd name="connsiteY511" fmla="*/ 61261 h 599162"/>
                <a:gd name="connsiteX512" fmla="*/ 187419 w 770887"/>
                <a:gd name="connsiteY512" fmla="*/ 53790 h 599162"/>
                <a:gd name="connsiteX513" fmla="*/ 187419 w 770887"/>
                <a:gd name="connsiteY513" fmla="*/ 41837 h 599162"/>
                <a:gd name="connsiteX514" fmla="*/ 191907 w 770887"/>
                <a:gd name="connsiteY514" fmla="*/ 41837 h 599162"/>
                <a:gd name="connsiteX515" fmla="*/ 196395 w 770887"/>
                <a:gd name="connsiteY515" fmla="*/ 37354 h 599162"/>
                <a:gd name="connsiteX516" fmla="*/ 205372 w 770887"/>
                <a:gd name="connsiteY516" fmla="*/ 29883 h 599162"/>
                <a:gd name="connsiteX517" fmla="*/ 221829 w 770887"/>
                <a:gd name="connsiteY517" fmla="*/ 26895 h 599162"/>
                <a:gd name="connsiteX518" fmla="*/ 227813 w 770887"/>
                <a:gd name="connsiteY518" fmla="*/ 19424 h 599162"/>
                <a:gd name="connsiteX519" fmla="*/ 233797 w 770887"/>
                <a:gd name="connsiteY519" fmla="*/ 16436 h 599162"/>
                <a:gd name="connsiteX520" fmla="*/ 238285 w 770887"/>
                <a:gd name="connsiteY520" fmla="*/ 11953 h 599162"/>
                <a:gd name="connsiteX521" fmla="*/ 262223 w 770887"/>
                <a:gd name="connsiteY521" fmla="*/ 13447 h 599162"/>
                <a:gd name="connsiteX522" fmla="*/ 265215 w 770887"/>
                <a:gd name="connsiteY522" fmla="*/ 5977 h 599162"/>
                <a:gd name="connsiteX523" fmla="*/ 277183 w 770887"/>
                <a:gd name="connsiteY523" fmla="*/ 0 h 599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Lst>
              <a:rect l="l" t="t" r="r" b="b"/>
              <a:pathLst>
                <a:path w="770887" h="599162">
                  <a:moveTo>
                    <a:pt x="302516" y="482511"/>
                  </a:moveTo>
                  <a:lnTo>
                    <a:pt x="307819" y="487813"/>
                  </a:lnTo>
                  <a:lnTo>
                    <a:pt x="318423" y="494883"/>
                  </a:lnTo>
                  <a:lnTo>
                    <a:pt x="311354" y="496651"/>
                  </a:lnTo>
                  <a:lnTo>
                    <a:pt x="307819" y="496651"/>
                  </a:lnTo>
                  <a:lnTo>
                    <a:pt x="300749" y="501953"/>
                  </a:lnTo>
                  <a:lnTo>
                    <a:pt x="300749" y="503720"/>
                  </a:lnTo>
                  <a:lnTo>
                    <a:pt x="300749" y="509023"/>
                  </a:lnTo>
                  <a:lnTo>
                    <a:pt x="304284" y="509023"/>
                  </a:lnTo>
                  <a:lnTo>
                    <a:pt x="311354" y="517860"/>
                  </a:lnTo>
                  <a:lnTo>
                    <a:pt x="311354" y="521395"/>
                  </a:lnTo>
                  <a:lnTo>
                    <a:pt x="306051" y="523162"/>
                  </a:lnTo>
                  <a:lnTo>
                    <a:pt x="302516" y="523162"/>
                  </a:lnTo>
                  <a:lnTo>
                    <a:pt x="298982" y="524930"/>
                  </a:lnTo>
                  <a:lnTo>
                    <a:pt x="297214" y="524930"/>
                  </a:lnTo>
                  <a:lnTo>
                    <a:pt x="291912" y="528465"/>
                  </a:lnTo>
                  <a:lnTo>
                    <a:pt x="291912" y="533767"/>
                  </a:lnTo>
                  <a:lnTo>
                    <a:pt x="291912" y="535534"/>
                  </a:lnTo>
                  <a:lnTo>
                    <a:pt x="288377" y="540837"/>
                  </a:lnTo>
                  <a:lnTo>
                    <a:pt x="283075" y="531999"/>
                  </a:lnTo>
                  <a:lnTo>
                    <a:pt x="283075" y="533767"/>
                  </a:lnTo>
                  <a:lnTo>
                    <a:pt x="281307" y="537302"/>
                  </a:lnTo>
                  <a:lnTo>
                    <a:pt x="276005" y="542604"/>
                  </a:lnTo>
                  <a:lnTo>
                    <a:pt x="272470" y="549674"/>
                  </a:lnTo>
                  <a:lnTo>
                    <a:pt x="272470" y="551441"/>
                  </a:lnTo>
                  <a:lnTo>
                    <a:pt x="272470" y="558511"/>
                  </a:lnTo>
                  <a:lnTo>
                    <a:pt x="256563" y="558511"/>
                  </a:lnTo>
                  <a:lnTo>
                    <a:pt x="268935" y="554976"/>
                  </a:lnTo>
                  <a:lnTo>
                    <a:pt x="270703" y="551441"/>
                  </a:lnTo>
                  <a:lnTo>
                    <a:pt x="272470" y="547906"/>
                  </a:lnTo>
                  <a:lnTo>
                    <a:pt x="270703" y="542604"/>
                  </a:lnTo>
                  <a:lnTo>
                    <a:pt x="267168" y="540837"/>
                  </a:lnTo>
                  <a:lnTo>
                    <a:pt x="265400" y="540837"/>
                  </a:lnTo>
                  <a:lnTo>
                    <a:pt x="261866" y="537302"/>
                  </a:lnTo>
                  <a:lnTo>
                    <a:pt x="261866" y="535534"/>
                  </a:lnTo>
                  <a:lnTo>
                    <a:pt x="260098" y="524930"/>
                  </a:lnTo>
                  <a:lnTo>
                    <a:pt x="263633" y="521395"/>
                  </a:lnTo>
                  <a:lnTo>
                    <a:pt x="265400" y="517860"/>
                  </a:lnTo>
                  <a:lnTo>
                    <a:pt x="270703" y="514325"/>
                  </a:lnTo>
                  <a:lnTo>
                    <a:pt x="272470" y="516093"/>
                  </a:lnTo>
                  <a:lnTo>
                    <a:pt x="277772" y="521395"/>
                  </a:lnTo>
                  <a:lnTo>
                    <a:pt x="281307" y="528465"/>
                  </a:lnTo>
                  <a:lnTo>
                    <a:pt x="281307" y="521395"/>
                  </a:lnTo>
                  <a:lnTo>
                    <a:pt x="279540" y="514325"/>
                  </a:lnTo>
                  <a:lnTo>
                    <a:pt x="276005" y="509023"/>
                  </a:lnTo>
                  <a:lnTo>
                    <a:pt x="281307" y="507255"/>
                  </a:lnTo>
                  <a:lnTo>
                    <a:pt x="288377" y="510790"/>
                  </a:lnTo>
                  <a:lnTo>
                    <a:pt x="291912" y="510790"/>
                  </a:lnTo>
                  <a:lnTo>
                    <a:pt x="291912" y="507255"/>
                  </a:lnTo>
                  <a:lnTo>
                    <a:pt x="291912" y="505488"/>
                  </a:lnTo>
                  <a:lnTo>
                    <a:pt x="291912" y="501953"/>
                  </a:lnTo>
                  <a:lnTo>
                    <a:pt x="291912" y="496651"/>
                  </a:lnTo>
                  <a:lnTo>
                    <a:pt x="290144" y="493116"/>
                  </a:lnTo>
                  <a:lnTo>
                    <a:pt x="297214" y="487813"/>
                  </a:lnTo>
                  <a:close/>
                  <a:moveTo>
                    <a:pt x="55075" y="374697"/>
                  </a:moveTo>
                  <a:lnTo>
                    <a:pt x="58610" y="374697"/>
                  </a:lnTo>
                  <a:lnTo>
                    <a:pt x="63912" y="385302"/>
                  </a:lnTo>
                  <a:lnTo>
                    <a:pt x="63912" y="390604"/>
                  </a:lnTo>
                  <a:lnTo>
                    <a:pt x="60377" y="395906"/>
                  </a:lnTo>
                  <a:lnTo>
                    <a:pt x="56842" y="395906"/>
                  </a:lnTo>
                  <a:lnTo>
                    <a:pt x="51540" y="395906"/>
                  </a:lnTo>
                  <a:lnTo>
                    <a:pt x="44470" y="390604"/>
                  </a:lnTo>
                  <a:lnTo>
                    <a:pt x="35633" y="383534"/>
                  </a:lnTo>
                  <a:lnTo>
                    <a:pt x="44470" y="378232"/>
                  </a:lnTo>
                  <a:lnTo>
                    <a:pt x="49773" y="378232"/>
                  </a:lnTo>
                  <a:close/>
                  <a:moveTo>
                    <a:pt x="4447" y="224465"/>
                  </a:moveTo>
                  <a:cubicBezTo>
                    <a:pt x="4447" y="224465"/>
                    <a:pt x="4447" y="224465"/>
                    <a:pt x="5929" y="230488"/>
                  </a:cubicBezTo>
                  <a:cubicBezTo>
                    <a:pt x="5929" y="230488"/>
                    <a:pt x="5929" y="230488"/>
                    <a:pt x="8894" y="233499"/>
                  </a:cubicBezTo>
                  <a:cubicBezTo>
                    <a:pt x="8894" y="233499"/>
                    <a:pt x="8894" y="233499"/>
                    <a:pt x="16306" y="235005"/>
                  </a:cubicBezTo>
                  <a:cubicBezTo>
                    <a:pt x="16306" y="235005"/>
                    <a:pt x="16306" y="235005"/>
                    <a:pt x="23717" y="235005"/>
                  </a:cubicBezTo>
                  <a:cubicBezTo>
                    <a:pt x="23717" y="235005"/>
                    <a:pt x="23717" y="235005"/>
                    <a:pt x="28164" y="238016"/>
                  </a:cubicBezTo>
                  <a:cubicBezTo>
                    <a:pt x="28164" y="238016"/>
                    <a:pt x="28164" y="238016"/>
                    <a:pt x="28164" y="242533"/>
                  </a:cubicBezTo>
                  <a:cubicBezTo>
                    <a:pt x="28164" y="242533"/>
                    <a:pt x="28164" y="242533"/>
                    <a:pt x="31129" y="245544"/>
                  </a:cubicBezTo>
                  <a:cubicBezTo>
                    <a:pt x="31129" y="245544"/>
                    <a:pt x="31129" y="245544"/>
                    <a:pt x="37058" y="251566"/>
                  </a:cubicBezTo>
                  <a:cubicBezTo>
                    <a:pt x="37058" y="251566"/>
                    <a:pt x="37058" y="251566"/>
                    <a:pt x="44470" y="262106"/>
                  </a:cubicBezTo>
                  <a:cubicBezTo>
                    <a:pt x="44470" y="262106"/>
                    <a:pt x="44470" y="262106"/>
                    <a:pt x="40023" y="262106"/>
                  </a:cubicBezTo>
                  <a:cubicBezTo>
                    <a:pt x="40023" y="262106"/>
                    <a:pt x="40023" y="262106"/>
                    <a:pt x="31129" y="262106"/>
                  </a:cubicBezTo>
                  <a:lnTo>
                    <a:pt x="29647" y="265117"/>
                  </a:lnTo>
                  <a:cubicBezTo>
                    <a:pt x="29647" y="265117"/>
                    <a:pt x="29647" y="265117"/>
                    <a:pt x="23717" y="259095"/>
                  </a:cubicBezTo>
                  <a:cubicBezTo>
                    <a:pt x="23717" y="259095"/>
                    <a:pt x="23717" y="259095"/>
                    <a:pt x="20753" y="250061"/>
                  </a:cubicBezTo>
                  <a:cubicBezTo>
                    <a:pt x="20753" y="250061"/>
                    <a:pt x="20753" y="250061"/>
                    <a:pt x="19270" y="247050"/>
                  </a:cubicBezTo>
                  <a:cubicBezTo>
                    <a:pt x="19270" y="247050"/>
                    <a:pt x="19270" y="247050"/>
                    <a:pt x="16306" y="244038"/>
                  </a:cubicBezTo>
                  <a:cubicBezTo>
                    <a:pt x="16306" y="244038"/>
                    <a:pt x="16306" y="244038"/>
                    <a:pt x="14823" y="244038"/>
                  </a:cubicBezTo>
                  <a:cubicBezTo>
                    <a:pt x="14823" y="244038"/>
                    <a:pt x="14823" y="244038"/>
                    <a:pt x="13341" y="244038"/>
                  </a:cubicBezTo>
                  <a:cubicBezTo>
                    <a:pt x="13341" y="244038"/>
                    <a:pt x="10376" y="244038"/>
                    <a:pt x="10376" y="244038"/>
                  </a:cubicBezTo>
                  <a:cubicBezTo>
                    <a:pt x="8894" y="242533"/>
                    <a:pt x="8894" y="244038"/>
                    <a:pt x="8894" y="244038"/>
                  </a:cubicBezTo>
                  <a:cubicBezTo>
                    <a:pt x="8894" y="244038"/>
                    <a:pt x="8894" y="244038"/>
                    <a:pt x="4447" y="244038"/>
                  </a:cubicBezTo>
                  <a:cubicBezTo>
                    <a:pt x="-1483" y="242533"/>
                    <a:pt x="2964" y="242533"/>
                    <a:pt x="2964" y="242533"/>
                  </a:cubicBezTo>
                  <a:cubicBezTo>
                    <a:pt x="1482" y="241027"/>
                    <a:pt x="1482" y="241027"/>
                    <a:pt x="1482" y="239521"/>
                  </a:cubicBezTo>
                  <a:cubicBezTo>
                    <a:pt x="1482" y="239521"/>
                    <a:pt x="0" y="236510"/>
                    <a:pt x="0" y="235005"/>
                  </a:cubicBezTo>
                  <a:cubicBezTo>
                    <a:pt x="0" y="235005"/>
                    <a:pt x="0" y="230488"/>
                    <a:pt x="0" y="230488"/>
                  </a:cubicBezTo>
                  <a:cubicBezTo>
                    <a:pt x="0" y="230488"/>
                    <a:pt x="0" y="230488"/>
                    <a:pt x="4447" y="224465"/>
                  </a:cubicBezTo>
                  <a:close/>
                  <a:moveTo>
                    <a:pt x="277183" y="0"/>
                  </a:moveTo>
                  <a:cubicBezTo>
                    <a:pt x="277183" y="0"/>
                    <a:pt x="277183" y="0"/>
                    <a:pt x="283168" y="5977"/>
                  </a:cubicBezTo>
                  <a:cubicBezTo>
                    <a:pt x="283168" y="5977"/>
                    <a:pt x="283168" y="5977"/>
                    <a:pt x="286160" y="10459"/>
                  </a:cubicBezTo>
                  <a:cubicBezTo>
                    <a:pt x="286160" y="10459"/>
                    <a:pt x="286160" y="10459"/>
                    <a:pt x="283168" y="10459"/>
                  </a:cubicBezTo>
                  <a:cubicBezTo>
                    <a:pt x="283168" y="10459"/>
                    <a:pt x="283168" y="10459"/>
                    <a:pt x="283168" y="14942"/>
                  </a:cubicBezTo>
                  <a:cubicBezTo>
                    <a:pt x="283168" y="14942"/>
                    <a:pt x="283168" y="14942"/>
                    <a:pt x="287656" y="17930"/>
                  </a:cubicBezTo>
                  <a:cubicBezTo>
                    <a:pt x="287656" y="17930"/>
                    <a:pt x="287656" y="17930"/>
                    <a:pt x="293640" y="17930"/>
                  </a:cubicBezTo>
                  <a:cubicBezTo>
                    <a:pt x="293640" y="17930"/>
                    <a:pt x="293640" y="17930"/>
                    <a:pt x="293640" y="13447"/>
                  </a:cubicBezTo>
                  <a:cubicBezTo>
                    <a:pt x="293640" y="13447"/>
                    <a:pt x="293640" y="13447"/>
                    <a:pt x="296632" y="10459"/>
                  </a:cubicBezTo>
                  <a:cubicBezTo>
                    <a:pt x="296632" y="10459"/>
                    <a:pt x="296632" y="10459"/>
                    <a:pt x="299624" y="13447"/>
                  </a:cubicBezTo>
                  <a:cubicBezTo>
                    <a:pt x="299624" y="13447"/>
                    <a:pt x="299624" y="13447"/>
                    <a:pt x="304113" y="19424"/>
                  </a:cubicBezTo>
                  <a:cubicBezTo>
                    <a:pt x="304113" y="19424"/>
                    <a:pt x="304113" y="19424"/>
                    <a:pt x="313089" y="17930"/>
                  </a:cubicBezTo>
                  <a:cubicBezTo>
                    <a:pt x="313089" y="17930"/>
                    <a:pt x="313089" y="17930"/>
                    <a:pt x="325058" y="20918"/>
                  </a:cubicBezTo>
                  <a:cubicBezTo>
                    <a:pt x="325058" y="20918"/>
                    <a:pt x="325058" y="20918"/>
                    <a:pt x="325058" y="25401"/>
                  </a:cubicBezTo>
                  <a:cubicBezTo>
                    <a:pt x="325058" y="25401"/>
                    <a:pt x="325058" y="25401"/>
                    <a:pt x="328050" y="31377"/>
                  </a:cubicBezTo>
                  <a:cubicBezTo>
                    <a:pt x="328050" y="31377"/>
                    <a:pt x="328050" y="31377"/>
                    <a:pt x="335530" y="37354"/>
                  </a:cubicBezTo>
                  <a:cubicBezTo>
                    <a:pt x="335530" y="37354"/>
                    <a:pt x="335530" y="37354"/>
                    <a:pt x="351987" y="37354"/>
                  </a:cubicBezTo>
                  <a:cubicBezTo>
                    <a:pt x="351987" y="37354"/>
                    <a:pt x="351987" y="37354"/>
                    <a:pt x="356475" y="37354"/>
                  </a:cubicBezTo>
                  <a:cubicBezTo>
                    <a:pt x="356475" y="37354"/>
                    <a:pt x="356475" y="37354"/>
                    <a:pt x="360963" y="34366"/>
                  </a:cubicBezTo>
                  <a:cubicBezTo>
                    <a:pt x="360963" y="34366"/>
                    <a:pt x="360963" y="34366"/>
                    <a:pt x="366948" y="34366"/>
                  </a:cubicBezTo>
                  <a:cubicBezTo>
                    <a:pt x="366948" y="34366"/>
                    <a:pt x="366948" y="34366"/>
                    <a:pt x="374428" y="38848"/>
                  </a:cubicBezTo>
                  <a:cubicBezTo>
                    <a:pt x="374428" y="38848"/>
                    <a:pt x="374428" y="38848"/>
                    <a:pt x="375924" y="43331"/>
                  </a:cubicBezTo>
                  <a:cubicBezTo>
                    <a:pt x="375924" y="43331"/>
                    <a:pt x="375924" y="43331"/>
                    <a:pt x="375924" y="47813"/>
                  </a:cubicBezTo>
                  <a:cubicBezTo>
                    <a:pt x="375924" y="47813"/>
                    <a:pt x="375924" y="47813"/>
                    <a:pt x="375924" y="48560"/>
                  </a:cubicBezTo>
                  <a:lnTo>
                    <a:pt x="375924" y="50802"/>
                  </a:lnTo>
                  <a:cubicBezTo>
                    <a:pt x="375924" y="50802"/>
                    <a:pt x="375924" y="50802"/>
                    <a:pt x="383404" y="46319"/>
                  </a:cubicBezTo>
                  <a:cubicBezTo>
                    <a:pt x="383404" y="46319"/>
                    <a:pt x="383404" y="46319"/>
                    <a:pt x="392381" y="43331"/>
                  </a:cubicBezTo>
                  <a:cubicBezTo>
                    <a:pt x="392381" y="43331"/>
                    <a:pt x="392381" y="43331"/>
                    <a:pt x="398365" y="43331"/>
                  </a:cubicBezTo>
                  <a:cubicBezTo>
                    <a:pt x="398365" y="43331"/>
                    <a:pt x="398365" y="43331"/>
                    <a:pt x="410334" y="47813"/>
                  </a:cubicBezTo>
                  <a:cubicBezTo>
                    <a:pt x="410334" y="47813"/>
                    <a:pt x="410334" y="47813"/>
                    <a:pt x="420806" y="50802"/>
                  </a:cubicBezTo>
                  <a:cubicBezTo>
                    <a:pt x="420806" y="50802"/>
                    <a:pt x="420806" y="50802"/>
                    <a:pt x="432775" y="47813"/>
                  </a:cubicBezTo>
                  <a:cubicBezTo>
                    <a:pt x="432775" y="47813"/>
                    <a:pt x="432775" y="47813"/>
                    <a:pt x="438759" y="43331"/>
                  </a:cubicBezTo>
                  <a:cubicBezTo>
                    <a:pt x="438759" y="43331"/>
                    <a:pt x="438759" y="43331"/>
                    <a:pt x="444743" y="43331"/>
                  </a:cubicBezTo>
                  <a:cubicBezTo>
                    <a:pt x="444743" y="43331"/>
                    <a:pt x="444743" y="43331"/>
                    <a:pt x="447736" y="43331"/>
                  </a:cubicBezTo>
                  <a:cubicBezTo>
                    <a:pt x="447736" y="43331"/>
                    <a:pt x="447736" y="43331"/>
                    <a:pt x="455216" y="50802"/>
                  </a:cubicBezTo>
                  <a:cubicBezTo>
                    <a:pt x="455216" y="50802"/>
                    <a:pt x="455216" y="50802"/>
                    <a:pt x="462696" y="56778"/>
                  </a:cubicBezTo>
                  <a:cubicBezTo>
                    <a:pt x="462696" y="56778"/>
                    <a:pt x="462696" y="56778"/>
                    <a:pt x="476161" y="58272"/>
                  </a:cubicBezTo>
                  <a:lnTo>
                    <a:pt x="482145" y="110568"/>
                  </a:lnTo>
                  <a:cubicBezTo>
                    <a:pt x="482145" y="110568"/>
                    <a:pt x="482145" y="110568"/>
                    <a:pt x="500098" y="242056"/>
                  </a:cubicBezTo>
                  <a:cubicBezTo>
                    <a:pt x="500098" y="242056"/>
                    <a:pt x="500098" y="242056"/>
                    <a:pt x="521043" y="400438"/>
                  </a:cubicBezTo>
                  <a:cubicBezTo>
                    <a:pt x="521043" y="400438"/>
                    <a:pt x="521043" y="400438"/>
                    <a:pt x="525531" y="409403"/>
                  </a:cubicBezTo>
                  <a:cubicBezTo>
                    <a:pt x="525531" y="409403"/>
                    <a:pt x="525531" y="409403"/>
                    <a:pt x="540492" y="409403"/>
                  </a:cubicBezTo>
                  <a:cubicBezTo>
                    <a:pt x="540492" y="409403"/>
                    <a:pt x="540492" y="409403"/>
                    <a:pt x="543484" y="400438"/>
                  </a:cubicBezTo>
                  <a:cubicBezTo>
                    <a:pt x="543484" y="400438"/>
                    <a:pt x="543484" y="400438"/>
                    <a:pt x="555453" y="400438"/>
                  </a:cubicBezTo>
                  <a:cubicBezTo>
                    <a:pt x="555453" y="400438"/>
                    <a:pt x="555453" y="400438"/>
                    <a:pt x="555453" y="404920"/>
                  </a:cubicBezTo>
                  <a:cubicBezTo>
                    <a:pt x="555453" y="404920"/>
                    <a:pt x="555453" y="404920"/>
                    <a:pt x="559941" y="410897"/>
                  </a:cubicBezTo>
                  <a:cubicBezTo>
                    <a:pt x="559941" y="410897"/>
                    <a:pt x="559941" y="410897"/>
                    <a:pt x="579390" y="424344"/>
                  </a:cubicBezTo>
                  <a:cubicBezTo>
                    <a:pt x="579390" y="424344"/>
                    <a:pt x="579390" y="424344"/>
                    <a:pt x="595847" y="442274"/>
                  </a:cubicBezTo>
                  <a:cubicBezTo>
                    <a:pt x="595847" y="442274"/>
                    <a:pt x="595847" y="442274"/>
                    <a:pt x="604823" y="434803"/>
                  </a:cubicBezTo>
                  <a:cubicBezTo>
                    <a:pt x="604823" y="434803"/>
                    <a:pt x="604823" y="434803"/>
                    <a:pt x="610807" y="419862"/>
                  </a:cubicBezTo>
                  <a:cubicBezTo>
                    <a:pt x="610807" y="419862"/>
                    <a:pt x="610807" y="419862"/>
                    <a:pt x="618288" y="412391"/>
                  </a:cubicBezTo>
                  <a:cubicBezTo>
                    <a:pt x="618288" y="412391"/>
                    <a:pt x="618288" y="412391"/>
                    <a:pt x="625768" y="407908"/>
                  </a:cubicBezTo>
                  <a:cubicBezTo>
                    <a:pt x="625768" y="407908"/>
                    <a:pt x="625768" y="407908"/>
                    <a:pt x="639233" y="413885"/>
                  </a:cubicBezTo>
                  <a:cubicBezTo>
                    <a:pt x="639233" y="413885"/>
                    <a:pt x="639233" y="413885"/>
                    <a:pt x="655690" y="425838"/>
                  </a:cubicBezTo>
                  <a:cubicBezTo>
                    <a:pt x="655690" y="425838"/>
                    <a:pt x="655690" y="425838"/>
                    <a:pt x="672146" y="442274"/>
                  </a:cubicBezTo>
                  <a:cubicBezTo>
                    <a:pt x="672146" y="442274"/>
                    <a:pt x="672146" y="442274"/>
                    <a:pt x="684115" y="455722"/>
                  </a:cubicBezTo>
                  <a:cubicBezTo>
                    <a:pt x="684115" y="455722"/>
                    <a:pt x="684115" y="455722"/>
                    <a:pt x="708052" y="479629"/>
                  </a:cubicBezTo>
                  <a:cubicBezTo>
                    <a:pt x="708052" y="479629"/>
                    <a:pt x="708052" y="479629"/>
                    <a:pt x="723013" y="500547"/>
                  </a:cubicBezTo>
                  <a:cubicBezTo>
                    <a:pt x="723013" y="500547"/>
                    <a:pt x="723013" y="500547"/>
                    <a:pt x="731989" y="502041"/>
                  </a:cubicBezTo>
                  <a:cubicBezTo>
                    <a:pt x="731989" y="502041"/>
                    <a:pt x="731989" y="502041"/>
                    <a:pt x="742462" y="503535"/>
                  </a:cubicBezTo>
                  <a:cubicBezTo>
                    <a:pt x="742462" y="503535"/>
                    <a:pt x="742462" y="503535"/>
                    <a:pt x="760415" y="509512"/>
                  </a:cubicBezTo>
                  <a:cubicBezTo>
                    <a:pt x="760415" y="509512"/>
                    <a:pt x="760415" y="509512"/>
                    <a:pt x="767895" y="513994"/>
                  </a:cubicBezTo>
                  <a:cubicBezTo>
                    <a:pt x="767895" y="513994"/>
                    <a:pt x="767895" y="513994"/>
                    <a:pt x="767895" y="519971"/>
                  </a:cubicBezTo>
                  <a:cubicBezTo>
                    <a:pt x="767895" y="519971"/>
                    <a:pt x="767895" y="519971"/>
                    <a:pt x="770887" y="533419"/>
                  </a:cubicBezTo>
                  <a:cubicBezTo>
                    <a:pt x="770887" y="533419"/>
                    <a:pt x="770887" y="533419"/>
                    <a:pt x="770887" y="539395"/>
                  </a:cubicBezTo>
                  <a:cubicBezTo>
                    <a:pt x="770887" y="539395"/>
                    <a:pt x="770887" y="539395"/>
                    <a:pt x="770887" y="545372"/>
                  </a:cubicBezTo>
                  <a:cubicBezTo>
                    <a:pt x="770887" y="545372"/>
                    <a:pt x="770887" y="545372"/>
                    <a:pt x="770887" y="558820"/>
                  </a:cubicBezTo>
                  <a:cubicBezTo>
                    <a:pt x="770887" y="558820"/>
                    <a:pt x="770887" y="558820"/>
                    <a:pt x="764903" y="563302"/>
                  </a:cubicBezTo>
                  <a:cubicBezTo>
                    <a:pt x="764903" y="563302"/>
                    <a:pt x="764903" y="563302"/>
                    <a:pt x="760415" y="557325"/>
                  </a:cubicBezTo>
                  <a:cubicBezTo>
                    <a:pt x="760415" y="557325"/>
                    <a:pt x="760415" y="557325"/>
                    <a:pt x="755926" y="549855"/>
                  </a:cubicBezTo>
                  <a:cubicBezTo>
                    <a:pt x="755926" y="549855"/>
                    <a:pt x="755926" y="549855"/>
                    <a:pt x="751438" y="552843"/>
                  </a:cubicBezTo>
                  <a:cubicBezTo>
                    <a:pt x="751438" y="552843"/>
                    <a:pt x="751438" y="552843"/>
                    <a:pt x="755926" y="560314"/>
                  </a:cubicBezTo>
                  <a:cubicBezTo>
                    <a:pt x="755926" y="560314"/>
                    <a:pt x="755926" y="560314"/>
                    <a:pt x="752934" y="561808"/>
                  </a:cubicBezTo>
                  <a:cubicBezTo>
                    <a:pt x="752934" y="561808"/>
                    <a:pt x="752934" y="561808"/>
                    <a:pt x="748446" y="558820"/>
                  </a:cubicBezTo>
                  <a:cubicBezTo>
                    <a:pt x="748446" y="558820"/>
                    <a:pt x="748446" y="558820"/>
                    <a:pt x="739470" y="555831"/>
                  </a:cubicBezTo>
                  <a:cubicBezTo>
                    <a:pt x="739470" y="555831"/>
                    <a:pt x="739470" y="555831"/>
                    <a:pt x="739470" y="549855"/>
                  </a:cubicBezTo>
                  <a:cubicBezTo>
                    <a:pt x="739470" y="549855"/>
                    <a:pt x="739470" y="549855"/>
                    <a:pt x="736478" y="542384"/>
                  </a:cubicBezTo>
                  <a:cubicBezTo>
                    <a:pt x="736478" y="542384"/>
                    <a:pt x="736478" y="542384"/>
                    <a:pt x="731989" y="539395"/>
                  </a:cubicBezTo>
                  <a:cubicBezTo>
                    <a:pt x="731989" y="539395"/>
                    <a:pt x="731989" y="539395"/>
                    <a:pt x="728997" y="533419"/>
                  </a:cubicBezTo>
                  <a:cubicBezTo>
                    <a:pt x="728997" y="533419"/>
                    <a:pt x="728997" y="533419"/>
                    <a:pt x="717029" y="524454"/>
                  </a:cubicBezTo>
                  <a:cubicBezTo>
                    <a:pt x="717029" y="524454"/>
                    <a:pt x="717029" y="524454"/>
                    <a:pt x="706556" y="525948"/>
                  </a:cubicBezTo>
                  <a:cubicBezTo>
                    <a:pt x="706556" y="525948"/>
                    <a:pt x="706556" y="525948"/>
                    <a:pt x="709548" y="530430"/>
                  </a:cubicBezTo>
                  <a:cubicBezTo>
                    <a:pt x="709548" y="530430"/>
                    <a:pt x="709548" y="530430"/>
                    <a:pt x="712540" y="533419"/>
                  </a:cubicBezTo>
                  <a:cubicBezTo>
                    <a:pt x="712540" y="533419"/>
                    <a:pt x="712540" y="533419"/>
                    <a:pt x="723013" y="539395"/>
                  </a:cubicBezTo>
                  <a:cubicBezTo>
                    <a:pt x="723013" y="539395"/>
                    <a:pt x="723013" y="539395"/>
                    <a:pt x="728997" y="545372"/>
                  </a:cubicBezTo>
                  <a:cubicBezTo>
                    <a:pt x="728997" y="545372"/>
                    <a:pt x="728997" y="545372"/>
                    <a:pt x="728997" y="549855"/>
                  </a:cubicBezTo>
                  <a:cubicBezTo>
                    <a:pt x="728997" y="549855"/>
                    <a:pt x="728997" y="549855"/>
                    <a:pt x="733485" y="554337"/>
                  </a:cubicBezTo>
                  <a:cubicBezTo>
                    <a:pt x="733485" y="554337"/>
                    <a:pt x="733485" y="554337"/>
                    <a:pt x="736478" y="558820"/>
                  </a:cubicBezTo>
                  <a:cubicBezTo>
                    <a:pt x="736478" y="558820"/>
                    <a:pt x="736478" y="558820"/>
                    <a:pt x="739470" y="569279"/>
                  </a:cubicBezTo>
                  <a:cubicBezTo>
                    <a:pt x="739470" y="569279"/>
                    <a:pt x="739470" y="569279"/>
                    <a:pt x="739470" y="572267"/>
                  </a:cubicBezTo>
                  <a:cubicBezTo>
                    <a:pt x="739470" y="572267"/>
                    <a:pt x="739470" y="572267"/>
                    <a:pt x="734981" y="573761"/>
                  </a:cubicBezTo>
                  <a:cubicBezTo>
                    <a:pt x="734981" y="573761"/>
                    <a:pt x="734981" y="573761"/>
                    <a:pt x="731989" y="566290"/>
                  </a:cubicBezTo>
                  <a:cubicBezTo>
                    <a:pt x="731989" y="566290"/>
                    <a:pt x="731989" y="566290"/>
                    <a:pt x="731989" y="573761"/>
                  </a:cubicBezTo>
                  <a:cubicBezTo>
                    <a:pt x="731989" y="573761"/>
                    <a:pt x="731989" y="573761"/>
                    <a:pt x="728997" y="579738"/>
                  </a:cubicBezTo>
                  <a:cubicBezTo>
                    <a:pt x="728997" y="579738"/>
                    <a:pt x="728997" y="579738"/>
                    <a:pt x="724509" y="578244"/>
                  </a:cubicBezTo>
                  <a:cubicBezTo>
                    <a:pt x="724509" y="578244"/>
                    <a:pt x="724509" y="578244"/>
                    <a:pt x="717029" y="570773"/>
                  </a:cubicBezTo>
                  <a:cubicBezTo>
                    <a:pt x="717029" y="570773"/>
                    <a:pt x="717029" y="570773"/>
                    <a:pt x="709548" y="561808"/>
                  </a:cubicBezTo>
                  <a:cubicBezTo>
                    <a:pt x="709548" y="561808"/>
                    <a:pt x="709548" y="561808"/>
                    <a:pt x="703564" y="564796"/>
                  </a:cubicBezTo>
                  <a:cubicBezTo>
                    <a:pt x="703564" y="564796"/>
                    <a:pt x="703564" y="564796"/>
                    <a:pt x="699076" y="564796"/>
                  </a:cubicBezTo>
                  <a:cubicBezTo>
                    <a:pt x="699076" y="564796"/>
                    <a:pt x="699076" y="564796"/>
                    <a:pt x="702068" y="555831"/>
                  </a:cubicBezTo>
                  <a:cubicBezTo>
                    <a:pt x="702068" y="555831"/>
                    <a:pt x="702068" y="555831"/>
                    <a:pt x="709548" y="554337"/>
                  </a:cubicBezTo>
                  <a:cubicBezTo>
                    <a:pt x="709548" y="554337"/>
                    <a:pt x="709548" y="554337"/>
                    <a:pt x="706556" y="545372"/>
                  </a:cubicBezTo>
                  <a:cubicBezTo>
                    <a:pt x="706556" y="545372"/>
                    <a:pt x="706556" y="545372"/>
                    <a:pt x="697580" y="549855"/>
                  </a:cubicBezTo>
                  <a:cubicBezTo>
                    <a:pt x="697580" y="549855"/>
                    <a:pt x="697580" y="549855"/>
                    <a:pt x="700572" y="540890"/>
                  </a:cubicBezTo>
                  <a:cubicBezTo>
                    <a:pt x="700572" y="540890"/>
                    <a:pt x="700572" y="540890"/>
                    <a:pt x="696084" y="534913"/>
                  </a:cubicBezTo>
                  <a:cubicBezTo>
                    <a:pt x="696084" y="534913"/>
                    <a:pt x="696084" y="534913"/>
                    <a:pt x="694588" y="530430"/>
                  </a:cubicBezTo>
                  <a:cubicBezTo>
                    <a:pt x="694588" y="530430"/>
                    <a:pt x="694588" y="530430"/>
                    <a:pt x="694588" y="525948"/>
                  </a:cubicBezTo>
                  <a:cubicBezTo>
                    <a:pt x="694588" y="525948"/>
                    <a:pt x="694588" y="525948"/>
                    <a:pt x="700572" y="516983"/>
                  </a:cubicBezTo>
                  <a:cubicBezTo>
                    <a:pt x="700572" y="516983"/>
                    <a:pt x="700572" y="516983"/>
                    <a:pt x="693091" y="516983"/>
                  </a:cubicBezTo>
                  <a:cubicBezTo>
                    <a:pt x="693091" y="516983"/>
                    <a:pt x="693091" y="516983"/>
                    <a:pt x="690099" y="519971"/>
                  </a:cubicBezTo>
                  <a:cubicBezTo>
                    <a:pt x="690099" y="519971"/>
                    <a:pt x="690099" y="519971"/>
                    <a:pt x="690099" y="522959"/>
                  </a:cubicBezTo>
                  <a:cubicBezTo>
                    <a:pt x="690099" y="522959"/>
                    <a:pt x="690099" y="522959"/>
                    <a:pt x="690099" y="531925"/>
                  </a:cubicBezTo>
                  <a:cubicBezTo>
                    <a:pt x="690099" y="531925"/>
                    <a:pt x="690099" y="531925"/>
                    <a:pt x="685611" y="534913"/>
                  </a:cubicBezTo>
                  <a:cubicBezTo>
                    <a:pt x="685611" y="534913"/>
                    <a:pt x="685611" y="534913"/>
                    <a:pt x="682619" y="537901"/>
                  </a:cubicBezTo>
                  <a:cubicBezTo>
                    <a:pt x="682619" y="537901"/>
                    <a:pt x="682619" y="534913"/>
                    <a:pt x="682619" y="533419"/>
                  </a:cubicBezTo>
                  <a:cubicBezTo>
                    <a:pt x="682619" y="531925"/>
                    <a:pt x="681123" y="527442"/>
                    <a:pt x="681123" y="527442"/>
                  </a:cubicBezTo>
                  <a:cubicBezTo>
                    <a:pt x="681123" y="527442"/>
                    <a:pt x="679627" y="522959"/>
                    <a:pt x="679627" y="519971"/>
                  </a:cubicBezTo>
                  <a:cubicBezTo>
                    <a:pt x="679627" y="518477"/>
                    <a:pt x="678131" y="515489"/>
                    <a:pt x="678131" y="515489"/>
                  </a:cubicBezTo>
                  <a:cubicBezTo>
                    <a:pt x="678131" y="515489"/>
                    <a:pt x="676635" y="512500"/>
                    <a:pt x="676635" y="511006"/>
                  </a:cubicBezTo>
                  <a:cubicBezTo>
                    <a:pt x="676635" y="508018"/>
                    <a:pt x="676635" y="506524"/>
                    <a:pt x="676635" y="506524"/>
                  </a:cubicBezTo>
                  <a:cubicBezTo>
                    <a:pt x="676635" y="506524"/>
                    <a:pt x="678131" y="503535"/>
                    <a:pt x="681123" y="503535"/>
                  </a:cubicBezTo>
                  <a:cubicBezTo>
                    <a:pt x="682619" y="502041"/>
                    <a:pt x="684115" y="499053"/>
                    <a:pt x="684115" y="499053"/>
                  </a:cubicBezTo>
                  <a:cubicBezTo>
                    <a:pt x="684115" y="499053"/>
                    <a:pt x="684115" y="499053"/>
                    <a:pt x="690099" y="493076"/>
                  </a:cubicBezTo>
                  <a:cubicBezTo>
                    <a:pt x="690099" y="493076"/>
                    <a:pt x="690099" y="493076"/>
                    <a:pt x="684115" y="482617"/>
                  </a:cubicBezTo>
                  <a:cubicBezTo>
                    <a:pt x="684115" y="482617"/>
                    <a:pt x="684115" y="482617"/>
                    <a:pt x="681123" y="484111"/>
                  </a:cubicBezTo>
                  <a:cubicBezTo>
                    <a:pt x="681123" y="484111"/>
                    <a:pt x="681123" y="484111"/>
                    <a:pt x="678131" y="491582"/>
                  </a:cubicBezTo>
                  <a:cubicBezTo>
                    <a:pt x="678131" y="491582"/>
                    <a:pt x="678131" y="491582"/>
                    <a:pt x="672146" y="499053"/>
                  </a:cubicBezTo>
                  <a:cubicBezTo>
                    <a:pt x="672146" y="499053"/>
                    <a:pt x="672146" y="499053"/>
                    <a:pt x="667658" y="502041"/>
                  </a:cubicBezTo>
                  <a:cubicBezTo>
                    <a:pt x="667658" y="502041"/>
                    <a:pt x="667658" y="502041"/>
                    <a:pt x="666162" y="505029"/>
                  </a:cubicBezTo>
                  <a:cubicBezTo>
                    <a:pt x="666162" y="505029"/>
                    <a:pt x="666162" y="505029"/>
                    <a:pt x="669154" y="516983"/>
                  </a:cubicBezTo>
                  <a:cubicBezTo>
                    <a:pt x="669154" y="516983"/>
                    <a:pt x="669154" y="516983"/>
                    <a:pt x="675139" y="533419"/>
                  </a:cubicBezTo>
                  <a:cubicBezTo>
                    <a:pt x="675139" y="533419"/>
                    <a:pt x="675139" y="533419"/>
                    <a:pt x="669154" y="531925"/>
                  </a:cubicBezTo>
                  <a:cubicBezTo>
                    <a:pt x="669154" y="531925"/>
                    <a:pt x="669154" y="531925"/>
                    <a:pt x="660178" y="513994"/>
                  </a:cubicBezTo>
                  <a:cubicBezTo>
                    <a:pt x="660178" y="513994"/>
                    <a:pt x="660178" y="513994"/>
                    <a:pt x="649705" y="499053"/>
                  </a:cubicBezTo>
                  <a:cubicBezTo>
                    <a:pt x="649705" y="499053"/>
                    <a:pt x="649705" y="499053"/>
                    <a:pt x="646713" y="508018"/>
                  </a:cubicBezTo>
                  <a:cubicBezTo>
                    <a:pt x="646713" y="508018"/>
                    <a:pt x="646713" y="508018"/>
                    <a:pt x="643721" y="506524"/>
                  </a:cubicBezTo>
                  <a:cubicBezTo>
                    <a:pt x="643721" y="506524"/>
                    <a:pt x="643721" y="506524"/>
                    <a:pt x="639233" y="496064"/>
                  </a:cubicBezTo>
                  <a:cubicBezTo>
                    <a:pt x="639233" y="496064"/>
                    <a:pt x="639233" y="496064"/>
                    <a:pt x="633249" y="491582"/>
                  </a:cubicBezTo>
                  <a:cubicBezTo>
                    <a:pt x="633249" y="491582"/>
                    <a:pt x="633249" y="491582"/>
                    <a:pt x="618288" y="475146"/>
                  </a:cubicBezTo>
                  <a:cubicBezTo>
                    <a:pt x="618288" y="475146"/>
                    <a:pt x="618288" y="475146"/>
                    <a:pt x="618288" y="464687"/>
                  </a:cubicBezTo>
                  <a:cubicBezTo>
                    <a:pt x="618288" y="464687"/>
                    <a:pt x="618288" y="464687"/>
                    <a:pt x="615296" y="470664"/>
                  </a:cubicBezTo>
                  <a:cubicBezTo>
                    <a:pt x="615296" y="470664"/>
                    <a:pt x="615296" y="470664"/>
                    <a:pt x="607815" y="467675"/>
                  </a:cubicBezTo>
                  <a:cubicBezTo>
                    <a:pt x="607815" y="467675"/>
                    <a:pt x="607815" y="467675"/>
                    <a:pt x="591358" y="452734"/>
                  </a:cubicBezTo>
                  <a:cubicBezTo>
                    <a:pt x="591358" y="452734"/>
                    <a:pt x="591358" y="452734"/>
                    <a:pt x="580886" y="440780"/>
                  </a:cubicBezTo>
                  <a:cubicBezTo>
                    <a:pt x="580886" y="440780"/>
                    <a:pt x="580886" y="440780"/>
                    <a:pt x="574902" y="442274"/>
                  </a:cubicBezTo>
                  <a:cubicBezTo>
                    <a:pt x="574902" y="442274"/>
                    <a:pt x="574902" y="442274"/>
                    <a:pt x="561437" y="439286"/>
                  </a:cubicBezTo>
                  <a:cubicBezTo>
                    <a:pt x="561437" y="439286"/>
                    <a:pt x="561437" y="439286"/>
                    <a:pt x="552461" y="430321"/>
                  </a:cubicBezTo>
                  <a:cubicBezTo>
                    <a:pt x="552461" y="430321"/>
                    <a:pt x="552461" y="430321"/>
                    <a:pt x="552461" y="419862"/>
                  </a:cubicBezTo>
                  <a:cubicBezTo>
                    <a:pt x="552461" y="419862"/>
                    <a:pt x="552461" y="419862"/>
                    <a:pt x="547972" y="422850"/>
                  </a:cubicBezTo>
                  <a:cubicBezTo>
                    <a:pt x="547972" y="422850"/>
                    <a:pt x="547972" y="422850"/>
                    <a:pt x="530020" y="422850"/>
                  </a:cubicBezTo>
                  <a:cubicBezTo>
                    <a:pt x="530020" y="422850"/>
                    <a:pt x="530020" y="422850"/>
                    <a:pt x="521043" y="421356"/>
                  </a:cubicBezTo>
                  <a:cubicBezTo>
                    <a:pt x="521043" y="421356"/>
                    <a:pt x="521043" y="421356"/>
                    <a:pt x="510571" y="418368"/>
                  </a:cubicBezTo>
                  <a:cubicBezTo>
                    <a:pt x="510571" y="418368"/>
                    <a:pt x="510571" y="418368"/>
                    <a:pt x="491122" y="416873"/>
                  </a:cubicBezTo>
                  <a:cubicBezTo>
                    <a:pt x="491122" y="416873"/>
                    <a:pt x="491122" y="416873"/>
                    <a:pt x="471673" y="421356"/>
                  </a:cubicBezTo>
                  <a:cubicBezTo>
                    <a:pt x="471673" y="421356"/>
                    <a:pt x="471673" y="421356"/>
                    <a:pt x="458208" y="424344"/>
                  </a:cubicBezTo>
                  <a:cubicBezTo>
                    <a:pt x="458208" y="424344"/>
                    <a:pt x="458208" y="424344"/>
                    <a:pt x="461200" y="412391"/>
                  </a:cubicBezTo>
                  <a:cubicBezTo>
                    <a:pt x="461200" y="412391"/>
                    <a:pt x="461200" y="412391"/>
                    <a:pt x="456712" y="415379"/>
                  </a:cubicBezTo>
                  <a:cubicBezTo>
                    <a:pt x="456712" y="415379"/>
                    <a:pt x="456712" y="415379"/>
                    <a:pt x="449232" y="410897"/>
                  </a:cubicBezTo>
                  <a:cubicBezTo>
                    <a:pt x="449232" y="410897"/>
                    <a:pt x="449232" y="410897"/>
                    <a:pt x="443247" y="407908"/>
                  </a:cubicBezTo>
                  <a:cubicBezTo>
                    <a:pt x="443247" y="407908"/>
                    <a:pt x="443247" y="407908"/>
                    <a:pt x="437263" y="407908"/>
                  </a:cubicBezTo>
                  <a:cubicBezTo>
                    <a:pt x="437263" y="407908"/>
                    <a:pt x="437263" y="407908"/>
                    <a:pt x="432775" y="407908"/>
                  </a:cubicBezTo>
                  <a:cubicBezTo>
                    <a:pt x="432775" y="407908"/>
                    <a:pt x="432775" y="407908"/>
                    <a:pt x="425294" y="412391"/>
                  </a:cubicBezTo>
                  <a:cubicBezTo>
                    <a:pt x="425294" y="412391"/>
                    <a:pt x="425294" y="412391"/>
                    <a:pt x="419310" y="415379"/>
                  </a:cubicBezTo>
                  <a:cubicBezTo>
                    <a:pt x="419310" y="415379"/>
                    <a:pt x="419310" y="415379"/>
                    <a:pt x="413326" y="422850"/>
                  </a:cubicBezTo>
                  <a:cubicBezTo>
                    <a:pt x="413326" y="422850"/>
                    <a:pt x="413326" y="422850"/>
                    <a:pt x="410334" y="425838"/>
                  </a:cubicBezTo>
                  <a:cubicBezTo>
                    <a:pt x="410334" y="425838"/>
                    <a:pt x="410334" y="425838"/>
                    <a:pt x="402853" y="424344"/>
                  </a:cubicBezTo>
                  <a:cubicBezTo>
                    <a:pt x="402853" y="424344"/>
                    <a:pt x="402853" y="424344"/>
                    <a:pt x="410334" y="418368"/>
                  </a:cubicBezTo>
                  <a:cubicBezTo>
                    <a:pt x="410334" y="418368"/>
                    <a:pt x="410334" y="418368"/>
                    <a:pt x="419310" y="409403"/>
                  </a:cubicBezTo>
                  <a:cubicBezTo>
                    <a:pt x="419310" y="409403"/>
                    <a:pt x="419310" y="409403"/>
                    <a:pt x="425294" y="403426"/>
                  </a:cubicBezTo>
                  <a:cubicBezTo>
                    <a:pt x="425294" y="403426"/>
                    <a:pt x="425294" y="403426"/>
                    <a:pt x="429783" y="397449"/>
                  </a:cubicBezTo>
                  <a:cubicBezTo>
                    <a:pt x="429783" y="397449"/>
                    <a:pt x="429783" y="397449"/>
                    <a:pt x="426791" y="397449"/>
                  </a:cubicBezTo>
                  <a:cubicBezTo>
                    <a:pt x="426791" y="397449"/>
                    <a:pt x="426791" y="397449"/>
                    <a:pt x="420806" y="394461"/>
                  </a:cubicBezTo>
                  <a:cubicBezTo>
                    <a:pt x="420806" y="394461"/>
                    <a:pt x="420806" y="394461"/>
                    <a:pt x="420806" y="384002"/>
                  </a:cubicBezTo>
                  <a:cubicBezTo>
                    <a:pt x="420806" y="384002"/>
                    <a:pt x="420806" y="384002"/>
                    <a:pt x="414822" y="388484"/>
                  </a:cubicBezTo>
                  <a:cubicBezTo>
                    <a:pt x="414822" y="388484"/>
                    <a:pt x="414822" y="388484"/>
                    <a:pt x="413326" y="389978"/>
                  </a:cubicBezTo>
                  <a:cubicBezTo>
                    <a:pt x="413326" y="389978"/>
                    <a:pt x="413326" y="389978"/>
                    <a:pt x="402853" y="389978"/>
                  </a:cubicBezTo>
                  <a:cubicBezTo>
                    <a:pt x="402853" y="389978"/>
                    <a:pt x="402853" y="389978"/>
                    <a:pt x="393877" y="388484"/>
                  </a:cubicBezTo>
                  <a:cubicBezTo>
                    <a:pt x="393877" y="388484"/>
                    <a:pt x="393877" y="388484"/>
                    <a:pt x="389389" y="392967"/>
                  </a:cubicBezTo>
                  <a:cubicBezTo>
                    <a:pt x="389389" y="392967"/>
                    <a:pt x="389389" y="392967"/>
                    <a:pt x="386397" y="401932"/>
                  </a:cubicBezTo>
                  <a:cubicBezTo>
                    <a:pt x="386397" y="401932"/>
                    <a:pt x="386397" y="401932"/>
                    <a:pt x="392381" y="409403"/>
                  </a:cubicBezTo>
                  <a:cubicBezTo>
                    <a:pt x="392381" y="409403"/>
                    <a:pt x="392381" y="409403"/>
                    <a:pt x="389389" y="421356"/>
                  </a:cubicBezTo>
                  <a:cubicBezTo>
                    <a:pt x="389389" y="421356"/>
                    <a:pt x="389389" y="421356"/>
                    <a:pt x="381908" y="428827"/>
                  </a:cubicBezTo>
                  <a:cubicBezTo>
                    <a:pt x="381908" y="428827"/>
                    <a:pt x="381908" y="428827"/>
                    <a:pt x="374428" y="428827"/>
                  </a:cubicBezTo>
                  <a:cubicBezTo>
                    <a:pt x="374428" y="428827"/>
                    <a:pt x="374428" y="428827"/>
                    <a:pt x="365452" y="428827"/>
                  </a:cubicBezTo>
                  <a:cubicBezTo>
                    <a:pt x="365452" y="428827"/>
                    <a:pt x="365452" y="428827"/>
                    <a:pt x="362459" y="439286"/>
                  </a:cubicBezTo>
                  <a:cubicBezTo>
                    <a:pt x="362459" y="439286"/>
                    <a:pt x="362459" y="439286"/>
                    <a:pt x="350491" y="443769"/>
                  </a:cubicBezTo>
                  <a:cubicBezTo>
                    <a:pt x="350491" y="443769"/>
                    <a:pt x="350491" y="443769"/>
                    <a:pt x="348995" y="446757"/>
                  </a:cubicBezTo>
                  <a:cubicBezTo>
                    <a:pt x="348995" y="446757"/>
                    <a:pt x="348995" y="446757"/>
                    <a:pt x="338522" y="454228"/>
                  </a:cubicBezTo>
                  <a:cubicBezTo>
                    <a:pt x="338522" y="454228"/>
                    <a:pt x="338522" y="454228"/>
                    <a:pt x="328050" y="457216"/>
                  </a:cubicBezTo>
                  <a:cubicBezTo>
                    <a:pt x="328050" y="457216"/>
                    <a:pt x="328050" y="457216"/>
                    <a:pt x="322065" y="458710"/>
                  </a:cubicBezTo>
                  <a:cubicBezTo>
                    <a:pt x="322065" y="458710"/>
                    <a:pt x="322065" y="458710"/>
                    <a:pt x="319073" y="454228"/>
                  </a:cubicBezTo>
                  <a:cubicBezTo>
                    <a:pt x="319073" y="454228"/>
                    <a:pt x="319073" y="454228"/>
                    <a:pt x="317577" y="451239"/>
                  </a:cubicBezTo>
                  <a:cubicBezTo>
                    <a:pt x="317577" y="451239"/>
                    <a:pt x="317577" y="451239"/>
                    <a:pt x="325058" y="448251"/>
                  </a:cubicBezTo>
                  <a:cubicBezTo>
                    <a:pt x="325058" y="448251"/>
                    <a:pt x="325058" y="448251"/>
                    <a:pt x="331042" y="440780"/>
                  </a:cubicBezTo>
                  <a:cubicBezTo>
                    <a:pt x="331042" y="440780"/>
                    <a:pt x="331042" y="440780"/>
                    <a:pt x="323561" y="440780"/>
                  </a:cubicBezTo>
                  <a:cubicBezTo>
                    <a:pt x="323561" y="440780"/>
                    <a:pt x="323561" y="440780"/>
                    <a:pt x="320569" y="436298"/>
                  </a:cubicBezTo>
                  <a:cubicBezTo>
                    <a:pt x="320569" y="436298"/>
                    <a:pt x="320569" y="436298"/>
                    <a:pt x="328050" y="425838"/>
                  </a:cubicBezTo>
                  <a:cubicBezTo>
                    <a:pt x="328050" y="425838"/>
                    <a:pt x="328050" y="425838"/>
                    <a:pt x="331042" y="415379"/>
                  </a:cubicBezTo>
                  <a:cubicBezTo>
                    <a:pt x="331042" y="415379"/>
                    <a:pt x="331042" y="415379"/>
                    <a:pt x="335530" y="400438"/>
                  </a:cubicBezTo>
                  <a:cubicBezTo>
                    <a:pt x="335530" y="400438"/>
                    <a:pt x="335530" y="400438"/>
                    <a:pt x="343010" y="391473"/>
                  </a:cubicBezTo>
                  <a:cubicBezTo>
                    <a:pt x="343010" y="391473"/>
                    <a:pt x="343010" y="391473"/>
                    <a:pt x="369940" y="394461"/>
                  </a:cubicBezTo>
                  <a:cubicBezTo>
                    <a:pt x="369940" y="394461"/>
                    <a:pt x="369940" y="394461"/>
                    <a:pt x="365452" y="388484"/>
                  </a:cubicBezTo>
                  <a:cubicBezTo>
                    <a:pt x="365452" y="388484"/>
                    <a:pt x="365452" y="388484"/>
                    <a:pt x="357971" y="386990"/>
                  </a:cubicBezTo>
                  <a:cubicBezTo>
                    <a:pt x="357971" y="386990"/>
                    <a:pt x="357971" y="386990"/>
                    <a:pt x="344507" y="381013"/>
                  </a:cubicBezTo>
                  <a:cubicBezTo>
                    <a:pt x="344507" y="381013"/>
                    <a:pt x="344507" y="381013"/>
                    <a:pt x="334034" y="385496"/>
                  </a:cubicBezTo>
                  <a:cubicBezTo>
                    <a:pt x="334034" y="385496"/>
                    <a:pt x="334034" y="385496"/>
                    <a:pt x="325058" y="392967"/>
                  </a:cubicBezTo>
                  <a:cubicBezTo>
                    <a:pt x="325058" y="392967"/>
                    <a:pt x="325058" y="392967"/>
                    <a:pt x="316081" y="400438"/>
                  </a:cubicBezTo>
                  <a:cubicBezTo>
                    <a:pt x="316081" y="400438"/>
                    <a:pt x="316081" y="400438"/>
                    <a:pt x="311593" y="409403"/>
                  </a:cubicBezTo>
                  <a:cubicBezTo>
                    <a:pt x="311593" y="409403"/>
                    <a:pt x="311593" y="409403"/>
                    <a:pt x="310097" y="416873"/>
                  </a:cubicBezTo>
                  <a:cubicBezTo>
                    <a:pt x="310097" y="416873"/>
                    <a:pt x="310097" y="416873"/>
                    <a:pt x="304113" y="416873"/>
                  </a:cubicBezTo>
                  <a:cubicBezTo>
                    <a:pt x="304113" y="416873"/>
                    <a:pt x="304113" y="416873"/>
                    <a:pt x="304113" y="419862"/>
                  </a:cubicBezTo>
                  <a:cubicBezTo>
                    <a:pt x="304113" y="419862"/>
                    <a:pt x="304113" y="419862"/>
                    <a:pt x="307105" y="425838"/>
                  </a:cubicBezTo>
                  <a:cubicBezTo>
                    <a:pt x="307105" y="425838"/>
                    <a:pt x="307105" y="425838"/>
                    <a:pt x="305609" y="430321"/>
                  </a:cubicBezTo>
                  <a:cubicBezTo>
                    <a:pt x="305609" y="430321"/>
                    <a:pt x="305609" y="430321"/>
                    <a:pt x="301120" y="434803"/>
                  </a:cubicBezTo>
                  <a:cubicBezTo>
                    <a:pt x="301120" y="434803"/>
                    <a:pt x="301120" y="434803"/>
                    <a:pt x="290648" y="440780"/>
                  </a:cubicBezTo>
                  <a:cubicBezTo>
                    <a:pt x="290648" y="440780"/>
                    <a:pt x="290648" y="440780"/>
                    <a:pt x="284664" y="445263"/>
                  </a:cubicBezTo>
                  <a:cubicBezTo>
                    <a:pt x="284664" y="445263"/>
                    <a:pt x="284664" y="445263"/>
                    <a:pt x="277183" y="452734"/>
                  </a:cubicBezTo>
                  <a:cubicBezTo>
                    <a:pt x="277183" y="452734"/>
                    <a:pt x="277183" y="452734"/>
                    <a:pt x="275687" y="460204"/>
                  </a:cubicBezTo>
                  <a:cubicBezTo>
                    <a:pt x="275687" y="460204"/>
                    <a:pt x="275687" y="460204"/>
                    <a:pt x="286160" y="463193"/>
                  </a:cubicBezTo>
                  <a:cubicBezTo>
                    <a:pt x="286160" y="463193"/>
                    <a:pt x="286160" y="463193"/>
                    <a:pt x="287656" y="473652"/>
                  </a:cubicBezTo>
                  <a:cubicBezTo>
                    <a:pt x="287656" y="473652"/>
                    <a:pt x="287656" y="473652"/>
                    <a:pt x="283168" y="479629"/>
                  </a:cubicBezTo>
                  <a:cubicBezTo>
                    <a:pt x="283168" y="479629"/>
                    <a:pt x="283168" y="479629"/>
                    <a:pt x="275687" y="484111"/>
                  </a:cubicBezTo>
                  <a:cubicBezTo>
                    <a:pt x="275687" y="484111"/>
                    <a:pt x="275687" y="484111"/>
                    <a:pt x="266711" y="496064"/>
                  </a:cubicBezTo>
                  <a:cubicBezTo>
                    <a:pt x="266711" y="496064"/>
                    <a:pt x="266711" y="496064"/>
                    <a:pt x="253246" y="505029"/>
                  </a:cubicBezTo>
                  <a:cubicBezTo>
                    <a:pt x="253246" y="505029"/>
                    <a:pt x="253246" y="505029"/>
                    <a:pt x="226317" y="518477"/>
                  </a:cubicBezTo>
                  <a:cubicBezTo>
                    <a:pt x="226317" y="518477"/>
                    <a:pt x="226317" y="518477"/>
                    <a:pt x="224821" y="530430"/>
                  </a:cubicBezTo>
                  <a:cubicBezTo>
                    <a:pt x="224821" y="530430"/>
                    <a:pt x="224821" y="530430"/>
                    <a:pt x="214348" y="534913"/>
                  </a:cubicBezTo>
                  <a:cubicBezTo>
                    <a:pt x="214348" y="534913"/>
                    <a:pt x="214348" y="534913"/>
                    <a:pt x="203876" y="540890"/>
                  </a:cubicBezTo>
                  <a:cubicBezTo>
                    <a:pt x="203876" y="540890"/>
                    <a:pt x="203876" y="540890"/>
                    <a:pt x="190411" y="545372"/>
                  </a:cubicBezTo>
                  <a:cubicBezTo>
                    <a:pt x="190411" y="545372"/>
                    <a:pt x="190411" y="545372"/>
                    <a:pt x="185923" y="548360"/>
                  </a:cubicBezTo>
                  <a:cubicBezTo>
                    <a:pt x="185923" y="548360"/>
                    <a:pt x="185923" y="548360"/>
                    <a:pt x="179939" y="552843"/>
                  </a:cubicBezTo>
                  <a:cubicBezTo>
                    <a:pt x="179939" y="552843"/>
                    <a:pt x="179939" y="552843"/>
                    <a:pt x="175450" y="557325"/>
                  </a:cubicBezTo>
                  <a:cubicBezTo>
                    <a:pt x="175450" y="557325"/>
                    <a:pt x="175450" y="557325"/>
                    <a:pt x="172458" y="566290"/>
                  </a:cubicBezTo>
                  <a:cubicBezTo>
                    <a:pt x="172458" y="566290"/>
                    <a:pt x="172458" y="566290"/>
                    <a:pt x="164978" y="567785"/>
                  </a:cubicBezTo>
                  <a:cubicBezTo>
                    <a:pt x="164978" y="567785"/>
                    <a:pt x="164978" y="567785"/>
                    <a:pt x="154505" y="570773"/>
                  </a:cubicBezTo>
                  <a:cubicBezTo>
                    <a:pt x="154505" y="570773"/>
                    <a:pt x="154505" y="570773"/>
                    <a:pt x="147025" y="570773"/>
                  </a:cubicBezTo>
                  <a:cubicBezTo>
                    <a:pt x="147025" y="570773"/>
                    <a:pt x="147025" y="570773"/>
                    <a:pt x="139545" y="573761"/>
                  </a:cubicBezTo>
                  <a:cubicBezTo>
                    <a:pt x="139545" y="573761"/>
                    <a:pt x="139545" y="573761"/>
                    <a:pt x="129072" y="579738"/>
                  </a:cubicBezTo>
                  <a:cubicBezTo>
                    <a:pt x="129072" y="579738"/>
                    <a:pt x="129072" y="579738"/>
                    <a:pt x="132064" y="587209"/>
                  </a:cubicBezTo>
                  <a:cubicBezTo>
                    <a:pt x="132064" y="587209"/>
                    <a:pt x="132064" y="587209"/>
                    <a:pt x="129072" y="588703"/>
                  </a:cubicBezTo>
                  <a:cubicBezTo>
                    <a:pt x="129072" y="588703"/>
                    <a:pt x="129072" y="588703"/>
                    <a:pt x="121592" y="584220"/>
                  </a:cubicBezTo>
                  <a:cubicBezTo>
                    <a:pt x="121592" y="584220"/>
                    <a:pt x="121592" y="584220"/>
                    <a:pt x="114111" y="581232"/>
                  </a:cubicBezTo>
                  <a:cubicBezTo>
                    <a:pt x="114111" y="581232"/>
                    <a:pt x="114111" y="581232"/>
                    <a:pt x="108127" y="572267"/>
                  </a:cubicBezTo>
                  <a:cubicBezTo>
                    <a:pt x="108127" y="572267"/>
                    <a:pt x="108127" y="572267"/>
                    <a:pt x="106631" y="575255"/>
                  </a:cubicBezTo>
                  <a:cubicBezTo>
                    <a:pt x="106631" y="575255"/>
                    <a:pt x="106631" y="575255"/>
                    <a:pt x="106631" y="587209"/>
                  </a:cubicBezTo>
                  <a:cubicBezTo>
                    <a:pt x="106631" y="587209"/>
                    <a:pt x="106631" y="587209"/>
                    <a:pt x="97655" y="587209"/>
                  </a:cubicBezTo>
                  <a:cubicBezTo>
                    <a:pt x="97655" y="587209"/>
                    <a:pt x="97655" y="587209"/>
                    <a:pt x="97655" y="591691"/>
                  </a:cubicBezTo>
                  <a:cubicBezTo>
                    <a:pt x="97655" y="591691"/>
                    <a:pt x="97655" y="591691"/>
                    <a:pt x="88678" y="591691"/>
                  </a:cubicBezTo>
                  <a:cubicBezTo>
                    <a:pt x="88678" y="591691"/>
                    <a:pt x="88678" y="591691"/>
                    <a:pt x="88678" y="590197"/>
                  </a:cubicBezTo>
                  <a:cubicBezTo>
                    <a:pt x="88678" y="588703"/>
                    <a:pt x="84190" y="588703"/>
                    <a:pt x="84190" y="588703"/>
                  </a:cubicBezTo>
                  <a:cubicBezTo>
                    <a:pt x="84190" y="588703"/>
                    <a:pt x="84190" y="588703"/>
                    <a:pt x="78206" y="588703"/>
                  </a:cubicBezTo>
                  <a:cubicBezTo>
                    <a:pt x="78206" y="588703"/>
                    <a:pt x="78206" y="588703"/>
                    <a:pt x="70725" y="590197"/>
                  </a:cubicBezTo>
                  <a:cubicBezTo>
                    <a:pt x="70725" y="590197"/>
                    <a:pt x="70725" y="590197"/>
                    <a:pt x="61749" y="599162"/>
                  </a:cubicBezTo>
                  <a:cubicBezTo>
                    <a:pt x="61749" y="599162"/>
                    <a:pt x="61749" y="599162"/>
                    <a:pt x="45292" y="599162"/>
                  </a:cubicBezTo>
                  <a:cubicBezTo>
                    <a:pt x="45292" y="599162"/>
                    <a:pt x="45292" y="599162"/>
                    <a:pt x="30331" y="599162"/>
                  </a:cubicBezTo>
                  <a:cubicBezTo>
                    <a:pt x="30331" y="599162"/>
                    <a:pt x="30331" y="599162"/>
                    <a:pt x="30331" y="593185"/>
                  </a:cubicBezTo>
                  <a:cubicBezTo>
                    <a:pt x="30331" y="593185"/>
                    <a:pt x="30331" y="593185"/>
                    <a:pt x="40804" y="581232"/>
                  </a:cubicBezTo>
                  <a:cubicBezTo>
                    <a:pt x="40804" y="581232"/>
                    <a:pt x="40804" y="581232"/>
                    <a:pt x="58757" y="581232"/>
                  </a:cubicBezTo>
                  <a:cubicBezTo>
                    <a:pt x="58757" y="581232"/>
                    <a:pt x="58757" y="581232"/>
                    <a:pt x="66237" y="581232"/>
                  </a:cubicBezTo>
                  <a:cubicBezTo>
                    <a:pt x="66237" y="581232"/>
                    <a:pt x="66237" y="581232"/>
                    <a:pt x="73717" y="576750"/>
                  </a:cubicBezTo>
                  <a:cubicBezTo>
                    <a:pt x="73717" y="576750"/>
                    <a:pt x="73717" y="576750"/>
                    <a:pt x="84190" y="573761"/>
                  </a:cubicBezTo>
                  <a:cubicBezTo>
                    <a:pt x="84190" y="573761"/>
                    <a:pt x="84190" y="573761"/>
                    <a:pt x="88678" y="570773"/>
                  </a:cubicBezTo>
                  <a:cubicBezTo>
                    <a:pt x="88678" y="570773"/>
                    <a:pt x="88678" y="570773"/>
                    <a:pt x="93166" y="563302"/>
                  </a:cubicBezTo>
                  <a:cubicBezTo>
                    <a:pt x="93166" y="563302"/>
                    <a:pt x="93166" y="563302"/>
                    <a:pt x="102143" y="558820"/>
                  </a:cubicBezTo>
                  <a:cubicBezTo>
                    <a:pt x="102143" y="558820"/>
                    <a:pt x="102143" y="558820"/>
                    <a:pt x="115607" y="557325"/>
                  </a:cubicBezTo>
                  <a:cubicBezTo>
                    <a:pt x="115607" y="557325"/>
                    <a:pt x="115607" y="557325"/>
                    <a:pt x="123088" y="557325"/>
                  </a:cubicBezTo>
                  <a:cubicBezTo>
                    <a:pt x="123088" y="557325"/>
                    <a:pt x="123088" y="557325"/>
                    <a:pt x="129072" y="563302"/>
                  </a:cubicBezTo>
                  <a:cubicBezTo>
                    <a:pt x="129072" y="563302"/>
                    <a:pt x="129072" y="563302"/>
                    <a:pt x="135056" y="558820"/>
                  </a:cubicBezTo>
                  <a:cubicBezTo>
                    <a:pt x="135056" y="558820"/>
                    <a:pt x="135056" y="558820"/>
                    <a:pt x="141041" y="549855"/>
                  </a:cubicBezTo>
                  <a:cubicBezTo>
                    <a:pt x="141041" y="549855"/>
                    <a:pt x="141041" y="549855"/>
                    <a:pt x="148521" y="542384"/>
                  </a:cubicBezTo>
                  <a:cubicBezTo>
                    <a:pt x="148521" y="542384"/>
                    <a:pt x="148521" y="542384"/>
                    <a:pt x="156001" y="537901"/>
                  </a:cubicBezTo>
                  <a:cubicBezTo>
                    <a:pt x="156001" y="537901"/>
                    <a:pt x="156001" y="537901"/>
                    <a:pt x="170962" y="534913"/>
                  </a:cubicBezTo>
                  <a:cubicBezTo>
                    <a:pt x="170962" y="534913"/>
                    <a:pt x="170962" y="534913"/>
                    <a:pt x="176946" y="528936"/>
                  </a:cubicBezTo>
                  <a:cubicBezTo>
                    <a:pt x="176946" y="528936"/>
                    <a:pt x="176946" y="528936"/>
                    <a:pt x="184427" y="521465"/>
                  </a:cubicBezTo>
                  <a:cubicBezTo>
                    <a:pt x="184427" y="521465"/>
                    <a:pt x="184427" y="521465"/>
                    <a:pt x="193403" y="513994"/>
                  </a:cubicBezTo>
                  <a:cubicBezTo>
                    <a:pt x="193403" y="513994"/>
                    <a:pt x="193403" y="513994"/>
                    <a:pt x="200884" y="509512"/>
                  </a:cubicBezTo>
                  <a:cubicBezTo>
                    <a:pt x="200884" y="509512"/>
                    <a:pt x="200884" y="509512"/>
                    <a:pt x="203876" y="500547"/>
                  </a:cubicBezTo>
                  <a:cubicBezTo>
                    <a:pt x="203876" y="500547"/>
                    <a:pt x="203876" y="500547"/>
                    <a:pt x="205372" y="487099"/>
                  </a:cubicBezTo>
                  <a:cubicBezTo>
                    <a:pt x="205372" y="487099"/>
                    <a:pt x="205372" y="487099"/>
                    <a:pt x="208364" y="478134"/>
                  </a:cubicBezTo>
                  <a:cubicBezTo>
                    <a:pt x="208364" y="478134"/>
                    <a:pt x="208364" y="478134"/>
                    <a:pt x="209860" y="475146"/>
                  </a:cubicBezTo>
                  <a:cubicBezTo>
                    <a:pt x="209860" y="475146"/>
                    <a:pt x="209860" y="475146"/>
                    <a:pt x="217340" y="464687"/>
                  </a:cubicBezTo>
                  <a:cubicBezTo>
                    <a:pt x="217340" y="464687"/>
                    <a:pt x="217340" y="464687"/>
                    <a:pt x="212852" y="464687"/>
                  </a:cubicBezTo>
                  <a:cubicBezTo>
                    <a:pt x="212852" y="464687"/>
                    <a:pt x="212852" y="464687"/>
                    <a:pt x="205372" y="466181"/>
                  </a:cubicBezTo>
                  <a:cubicBezTo>
                    <a:pt x="205372" y="466181"/>
                    <a:pt x="205372" y="466181"/>
                    <a:pt x="200884" y="466181"/>
                  </a:cubicBezTo>
                  <a:cubicBezTo>
                    <a:pt x="200884" y="466181"/>
                    <a:pt x="200884" y="466181"/>
                    <a:pt x="193403" y="464687"/>
                  </a:cubicBezTo>
                  <a:cubicBezTo>
                    <a:pt x="193403" y="464687"/>
                    <a:pt x="193403" y="464687"/>
                    <a:pt x="190411" y="461699"/>
                  </a:cubicBezTo>
                  <a:cubicBezTo>
                    <a:pt x="190411" y="461699"/>
                    <a:pt x="190411" y="461699"/>
                    <a:pt x="197891" y="454228"/>
                  </a:cubicBezTo>
                  <a:cubicBezTo>
                    <a:pt x="197891" y="454228"/>
                    <a:pt x="197891" y="454228"/>
                    <a:pt x="190411" y="455722"/>
                  </a:cubicBezTo>
                  <a:cubicBezTo>
                    <a:pt x="190411" y="455722"/>
                    <a:pt x="190411" y="455722"/>
                    <a:pt x="185923" y="460204"/>
                  </a:cubicBezTo>
                  <a:cubicBezTo>
                    <a:pt x="185923" y="460204"/>
                    <a:pt x="185923" y="460204"/>
                    <a:pt x="182931" y="470664"/>
                  </a:cubicBezTo>
                  <a:cubicBezTo>
                    <a:pt x="182931" y="470664"/>
                    <a:pt x="182931" y="470664"/>
                    <a:pt x="178442" y="475146"/>
                  </a:cubicBezTo>
                  <a:cubicBezTo>
                    <a:pt x="178442" y="475146"/>
                    <a:pt x="178442" y="475146"/>
                    <a:pt x="176946" y="470664"/>
                  </a:cubicBezTo>
                  <a:cubicBezTo>
                    <a:pt x="176946" y="470664"/>
                    <a:pt x="176946" y="470664"/>
                    <a:pt x="172458" y="464687"/>
                  </a:cubicBezTo>
                  <a:cubicBezTo>
                    <a:pt x="172458" y="464687"/>
                    <a:pt x="172458" y="464687"/>
                    <a:pt x="164978" y="457216"/>
                  </a:cubicBezTo>
                  <a:cubicBezTo>
                    <a:pt x="164978" y="457216"/>
                    <a:pt x="164978" y="457216"/>
                    <a:pt x="153009" y="449745"/>
                  </a:cubicBezTo>
                  <a:cubicBezTo>
                    <a:pt x="153009" y="449745"/>
                    <a:pt x="153009" y="449745"/>
                    <a:pt x="150017" y="449745"/>
                  </a:cubicBezTo>
                  <a:cubicBezTo>
                    <a:pt x="150017" y="449745"/>
                    <a:pt x="150017" y="449745"/>
                    <a:pt x="139545" y="457216"/>
                  </a:cubicBezTo>
                  <a:cubicBezTo>
                    <a:pt x="139545" y="457216"/>
                    <a:pt x="139545" y="457216"/>
                    <a:pt x="133560" y="457216"/>
                  </a:cubicBezTo>
                  <a:cubicBezTo>
                    <a:pt x="133560" y="457216"/>
                    <a:pt x="133560" y="457216"/>
                    <a:pt x="124584" y="457216"/>
                  </a:cubicBezTo>
                  <a:cubicBezTo>
                    <a:pt x="124584" y="457216"/>
                    <a:pt x="124584" y="457216"/>
                    <a:pt x="126080" y="437792"/>
                  </a:cubicBezTo>
                  <a:cubicBezTo>
                    <a:pt x="126080" y="437792"/>
                    <a:pt x="126080" y="437792"/>
                    <a:pt x="127576" y="431815"/>
                  </a:cubicBezTo>
                  <a:cubicBezTo>
                    <a:pt x="127576" y="431815"/>
                    <a:pt x="127576" y="431815"/>
                    <a:pt x="132064" y="425838"/>
                  </a:cubicBezTo>
                  <a:cubicBezTo>
                    <a:pt x="132064" y="425838"/>
                    <a:pt x="132064" y="425838"/>
                    <a:pt x="132064" y="418368"/>
                  </a:cubicBezTo>
                  <a:cubicBezTo>
                    <a:pt x="132064" y="418368"/>
                    <a:pt x="132064" y="418368"/>
                    <a:pt x="130568" y="406414"/>
                  </a:cubicBezTo>
                  <a:cubicBezTo>
                    <a:pt x="130568" y="406414"/>
                    <a:pt x="130568" y="406414"/>
                    <a:pt x="127576" y="394461"/>
                  </a:cubicBezTo>
                  <a:cubicBezTo>
                    <a:pt x="127576" y="394461"/>
                    <a:pt x="127576" y="394461"/>
                    <a:pt x="124584" y="397449"/>
                  </a:cubicBezTo>
                  <a:cubicBezTo>
                    <a:pt x="124584" y="397449"/>
                    <a:pt x="124584" y="397449"/>
                    <a:pt x="118600" y="403426"/>
                  </a:cubicBezTo>
                  <a:cubicBezTo>
                    <a:pt x="118600" y="403426"/>
                    <a:pt x="118600" y="403426"/>
                    <a:pt x="114111" y="406414"/>
                  </a:cubicBezTo>
                  <a:cubicBezTo>
                    <a:pt x="114111" y="406414"/>
                    <a:pt x="114111" y="406414"/>
                    <a:pt x="109623" y="406414"/>
                  </a:cubicBezTo>
                  <a:cubicBezTo>
                    <a:pt x="109623" y="406414"/>
                    <a:pt x="109623" y="406414"/>
                    <a:pt x="105135" y="401932"/>
                  </a:cubicBezTo>
                  <a:cubicBezTo>
                    <a:pt x="105135" y="401932"/>
                    <a:pt x="105135" y="401932"/>
                    <a:pt x="102143" y="401932"/>
                  </a:cubicBezTo>
                  <a:cubicBezTo>
                    <a:pt x="102143" y="401932"/>
                    <a:pt x="102143" y="401932"/>
                    <a:pt x="96158" y="398943"/>
                  </a:cubicBezTo>
                  <a:cubicBezTo>
                    <a:pt x="96158" y="398943"/>
                    <a:pt x="96158" y="398943"/>
                    <a:pt x="91670" y="394461"/>
                  </a:cubicBezTo>
                  <a:cubicBezTo>
                    <a:pt x="91670" y="394461"/>
                    <a:pt x="91670" y="394461"/>
                    <a:pt x="87182" y="391473"/>
                  </a:cubicBezTo>
                  <a:cubicBezTo>
                    <a:pt x="87182" y="391473"/>
                    <a:pt x="87182" y="391473"/>
                    <a:pt x="82694" y="386990"/>
                  </a:cubicBezTo>
                  <a:cubicBezTo>
                    <a:pt x="82694" y="386990"/>
                    <a:pt x="82694" y="386990"/>
                    <a:pt x="81198" y="382508"/>
                  </a:cubicBezTo>
                  <a:cubicBezTo>
                    <a:pt x="81198" y="382508"/>
                    <a:pt x="81198" y="382508"/>
                    <a:pt x="79702" y="372048"/>
                  </a:cubicBezTo>
                  <a:cubicBezTo>
                    <a:pt x="79702" y="372048"/>
                    <a:pt x="79702" y="372048"/>
                    <a:pt x="85686" y="367566"/>
                  </a:cubicBezTo>
                  <a:cubicBezTo>
                    <a:pt x="85686" y="367566"/>
                    <a:pt x="85686" y="367566"/>
                    <a:pt x="91670" y="367566"/>
                  </a:cubicBezTo>
                  <a:cubicBezTo>
                    <a:pt x="91670" y="367566"/>
                    <a:pt x="91670" y="367566"/>
                    <a:pt x="99151" y="367566"/>
                  </a:cubicBezTo>
                  <a:cubicBezTo>
                    <a:pt x="99151" y="367566"/>
                    <a:pt x="99151" y="367566"/>
                    <a:pt x="106631" y="372048"/>
                  </a:cubicBezTo>
                  <a:cubicBezTo>
                    <a:pt x="106631" y="372048"/>
                    <a:pt x="106631" y="372048"/>
                    <a:pt x="109623" y="364578"/>
                  </a:cubicBezTo>
                  <a:cubicBezTo>
                    <a:pt x="109623" y="364578"/>
                    <a:pt x="109623" y="364578"/>
                    <a:pt x="105135" y="360095"/>
                  </a:cubicBezTo>
                  <a:cubicBezTo>
                    <a:pt x="105135" y="360095"/>
                    <a:pt x="105135" y="360095"/>
                    <a:pt x="103639" y="360095"/>
                  </a:cubicBezTo>
                  <a:cubicBezTo>
                    <a:pt x="103639" y="360095"/>
                    <a:pt x="103639" y="360095"/>
                    <a:pt x="96158" y="360095"/>
                  </a:cubicBezTo>
                  <a:cubicBezTo>
                    <a:pt x="96158" y="360095"/>
                    <a:pt x="96158" y="360095"/>
                    <a:pt x="91670" y="360095"/>
                  </a:cubicBezTo>
                  <a:cubicBezTo>
                    <a:pt x="91670" y="360095"/>
                    <a:pt x="91670" y="360095"/>
                    <a:pt x="82694" y="354118"/>
                  </a:cubicBezTo>
                  <a:cubicBezTo>
                    <a:pt x="82694" y="354118"/>
                    <a:pt x="82694" y="354118"/>
                    <a:pt x="79702" y="348142"/>
                  </a:cubicBezTo>
                  <a:cubicBezTo>
                    <a:pt x="79702" y="348142"/>
                    <a:pt x="79702" y="348142"/>
                    <a:pt x="76710" y="340671"/>
                  </a:cubicBezTo>
                  <a:cubicBezTo>
                    <a:pt x="76710" y="340671"/>
                    <a:pt x="76710" y="340671"/>
                    <a:pt x="73717" y="333200"/>
                  </a:cubicBezTo>
                  <a:cubicBezTo>
                    <a:pt x="73717" y="333200"/>
                    <a:pt x="73717" y="333200"/>
                    <a:pt x="73717" y="330212"/>
                  </a:cubicBezTo>
                  <a:cubicBezTo>
                    <a:pt x="73717" y="330212"/>
                    <a:pt x="73717" y="330212"/>
                    <a:pt x="76710" y="327223"/>
                  </a:cubicBezTo>
                  <a:cubicBezTo>
                    <a:pt x="76710" y="327223"/>
                    <a:pt x="76710" y="327223"/>
                    <a:pt x="81198" y="319752"/>
                  </a:cubicBezTo>
                  <a:cubicBezTo>
                    <a:pt x="81198" y="319752"/>
                    <a:pt x="81198" y="319752"/>
                    <a:pt x="88678" y="310787"/>
                  </a:cubicBezTo>
                  <a:cubicBezTo>
                    <a:pt x="88678" y="310787"/>
                    <a:pt x="88678" y="310787"/>
                    <a:pt x="97655" y="304811"/>
                  </a:cubicBezTo>
                  <a:cubicBezTo>
                    <a:pt x="97655" y="304811"/>
                    <a:pt x="97655" y="304811"/>
                    <a:pt x="103639" y="297340"/>
                  </a:cubicBezTo>
                  <a:cubicBezTo>
                    <a:pt x="103639" y="297340"/>
                    <a:pt x="103639" y="297340"/>
                    <a:pt x="105135" y="289869"/>
                  </a:cubicBezTo>
                  <a:cubicBezTo>
                    <a:pt x="105135" y="289869"/>
                    <a:pt x="105135" y="289869"/>
                    <a:pt x="112615" y="282398"/>
                  </a:cubicBezTo>
                  <a:cubicBezTo>
                    <a:pt x="112615" y="282398"/>
                    <a:pt x="112615" y="282398"/>
                    <a:pt x="118600" y="280904"/>
                  </a:cubicBezTo>
                  <a:cubicBezTo>
                    <a:pt x="118600" y="280904"/>
                    <a:pt x="118600" y="280904"/>
                    <a:pt x="123088" y="283892"/>
                  </a:cubicBezTo>
                  <a:cubicBezTo>
                    <a:pt x="123088" y="283892"/>
                    <a:pt x="123088" y="283892"/>
                    <a:pt x="127576" y="289869"/>
                  </a:cubicBezTo>
                  <a:cubicBezTo>
                    <a:pt x="127576" y="289869"/>
                    <a:pt x="127576" y="289869"/>
                    <a:pt x="130568" y="289869"/>
                  </a:cubicBezTo>
                  <a:cubicBezTo>
                    <a:pt x="130568" y="289869"/>
                    <a:pt x="130568" y="289869"/>
                    <a:pt x="136552" y="289869"/>
                  </a:cubicBezTo>
                  <a:cubicBezTo>
                    <a:pt x="136552" y="289869"/>
                    <a:pt x="136552" y="289869"/>
                    <a:pt x="139545" y="289869"/>
                  </a:cubicBezTo>
                  <a:cubicBezTo>
                    <a:pt x="139545" y="289869"/>
                    <a:pt x="139545" y="289869"/>
                    <a:pt x="144033" y="283892"/>
                  </a:cubicBezTo>
                  <a:cubicBezTo>
                    <a:pt x="144033" y="283892"/>
                    <a:pt x="144033" y="283892"/>
                    <a:pt x="148521" y="283892"/>
                  </a:cubicBezTo>
                  <a:cubicBezTo>
                    <a:pt x="148521" y="283892"/>
                    <a:pt x="148521" y="283892"/>
                    <a:pt x="150017" y="280904"/>
                  </a:cubicBezTo>
                  <a:cubicBezTo>
                    <a:pt x="150017" y="280904"/>
                    <a:pt x="150017" y="280904"/>
                    <a:pt x="153009" y="276422"/>
                  </a:cubicBezTo>
                  <a:cubicBezTo>
                    <a:pt x="153009" y="276422"/>
                    <a:pt x="153009" y="276422"/>
                    <a:pt x="154505" y="280904"/>
                  </a:cubicBezTo>
                  <a:cubicBezTo>
                    <a:pt x="154505" y="280904"/>
                    <a:pt x="154505" y="280904"/>
                    <a:pt x="158994" y="280904"/>
                  </a:cubicBezTo>
                  <a:cubicBezTo>
                    <a:pt x="158994" y="280904"/>
                    <a:pt x="158994" y="280904"/>
                    <a:pt x="161986" y="280904"/>
                  </a:cubicBezTo>
                  <a:cubicBezTo>
                    <a:pt x="161986" y="280904"/>
                    <a:pt x="161986" y="280904"/>
                    <a:pt x="167970" y="280904"/>
                  </a:cubicBezTo>
                  <a:cubicBezTo>
                    <a:pt x="167970" y="280904"/>
                    <a:pt x="167970" y="280904"/>
                    <a:pt x="172458" y="276422"/>
                  </a:cubicBezTo>
                  <a:cubicBezTo>
                    <a:pt x="172458" y="276422"/>
                    <a:pt x="172458" y="276422"/>
                    <a:pt x="176946" y="276422"/>
                  </a:cubicBezTo>
                  <a:cubicBezTo>
                    <a:pt x="176946" y="276422"/>
                    <a:pt x="176946" y="276422"/>
                    <a:pt x="178442" y="265962"/>
                  </a:cubicBezTo>
                  <a:cubicBezTo>
                    <a:pt x="178442" y="265962"/>
                    <a:pt x="178442" y="265962"/>
                    <a:pt x="175450" y="258491"/>
                  </a:cubicBezTo>
                  <a:cubicBezTo>
                    <a:pt x="175450" y="258491"/>
                    <a:pt x="175450" y="258491"/>
                    <a:pt x="172458" y="246538"/>
                  </a:cubicBezTo>
                  <a:cubicBezTo>
                    <a:pt x="172458" y="246538"/>
                    <a:pt x="172458" y="246538"/>
                    <a:pt x="178442" y="246538"/>
                  </a:cubicBezTo>
                  <a:cubicBezTo>
                    <a:pt x="178442" y="246538"/>
                    <a:pt x="178442" y="246538"/>
                    <a:pt x="184427" y="240561"/>
                  </a:cubicBezTo>
                  <a:cubicBezTo>
                    <a:pt x="184427" y="240561"/>
                    <a:pt x="184427" y="240561"/>
                    <a:pt x="182931" y="231596"/>
                  </a:cubicBezTo>
                  <a:cubicBezTo>
                    <a:pt x="182931" y="231596"/>
                    <a:pt x="182931" y="231596"/>
                    <a:pt x="173954" y="230102"/>
                  </a:cubicBezTo>
                  <a:cubicBezTo>
                    <a:pt x="173954" y="230102"/>
                    <a:pt x="173954" y="230102"/>
                    <a:pt x="169466" y="230102"/>
                  </a:cubicBezTo>
                  <a:cubicBezTo>
                    <a:pt x="169466" y="230102"/>
                    <a:pt x="169466" y="230102"/>
                    <a:pt x="164978" y="231596"/>
                  </a:cubicBezTo>
                  <a:cubicBezTo>
                    <a:pt x="164978" y="231596"/>
                    <a:pt x="164978" y="231596"/>
                    <a:pt x="160490" y="234585"/>
                  </a:cubicBezTo>
                  <a:cubicBezTo>
                    <a:pt x="160490" y="234585"/>
                    <a:pt x="160490" y="234585"/>
                    <a:pt x="157497" y="240561"/>
                  </a:cubicBezTo>
                  <a:cubicBezTo>
                    <a:pt x="157497" y="240561"/>
                    <a:pt x="157497" y="240561"/>
                    <a:pt x="153009" y="240561"/>
                  </a:cubicBezTo>
                  <a:cubicBezTo>
                    <a:pt x="153009" y="240561"/>
                    <a:pt x="153009" y="240561"/>
                    <a:pt x="148521" y="231596"/>
                  </a:cubicBezTo>
                  <a:cubicBezTo>
                    <a:pt x="148521" y="231596"/>
                    <a:pt x="148521" y="231596"/>
                    <a:pt x="136552" y="231596"/>
                  </a:cubicBezTo>
                  <a:cubicBezTo>
                    <a:pt x="136552" y="231596"/>
                    <a:pt x="136552" y="231596"/>
                    <a:pt x="123088" y="231596"/>
                  </a:cubicBezTo>
                  <a:cubicBezTo>
                    <a:pt x="123088" y="231596"/>
                    <a:pt x="123088" y="231596"/>
                    <a:pt x="112615" y="228608"/>
                  </a:cubicBezTo>
                  <a:cubicBezTo>
                    <a:pt x="112615" y="228608"/>
                    <a:pt x="112615" y="228608"/>
                    <a:pt x="102143" y="224125"/>
                  </a:cubicBezTo>
                  <a:cubicBezTo>
                    <a:pt x="102143" y="224125"/>
                    <a:pt x="102143" y="224125"/>
                    <a:pt x="96158" y="216654"/>
                  </a:cubicBezTo>
                  <a:cubicBezTo>
                    <a:pt x="96158" y="216654"/>
                    <a:pt x="96158" y="216654"/>
                    <a:pt x="94662" y="201713"/>
                  </a:cubicBezTo>
                  <a:cubicBezTo>
                    <a:pt x="94662" y="201713"/>
                    <a:pt x="94662" y="201713"/>
                    <a:pt x="102143" y="198724"/>
                  </a:cubicBezTo>
                  <a:cubicBezTo>
                    <a:pt x="102143" y="198724"/>
                    <a:pt x="102143" y="198724"/>
                    <a:pt x="106631" y="195736"/>
                  </a:cubicBezTo>
                  <a:cubicBezTo>
                    <a:pt x="106631" y="195736"/>
                    <a:pt x="106631" y="195736"/>
                    <a:pt x="96158" y="191254"/>
                  </a:cubicBezTo>
                  <a:cubicBezTo>
                    <a:pt x="96158" y="191254"/>
                    <a:pt x="96158" y="191254"/>
                    <a:pt x="90174" y="186771"/>
                  </a:cubicBezTo>
                  <a:cubicBezTo>
                    <a:pt x="90174" y="186771"/>
                    <a:pt x="90174" y="186771"/>
                    <a:pt x="82694" y="180794"/>
                  </a:cubicBezTo>
                  <a:cubicBezTo>
                    <a:pt x="82694" y="180794"/>
                    <a:pt x="82694" y="180794"/>
                    <a:pt x="81198" y="177806"/>
                  </a:cubicBezTo>
                  <a:cubicBezTo>
                    <a:pt x="81198" y="177806"/>
                    <a:pt x="81198" y="177806"/>
                    <a:pt x="87182" y="173324"/>
                  </a:cubicBezTo>
                  <a:cubicBezTo>
                    <a:pt x="87182" y="173324"/>
                    <a:pt x="87182" y="173324"/>
                    <a:pt x="91670" y="173324"/>
                  </a:cubicBezTo>
                  <a:cubicBezTo>
                    <a:pt x="91670" y="173324"/>
                    <a:pt x="91670" y="173324"/>
                    <a:pt x="100647" y="171829"/>
                  </a:cubicBezTo>
                  <a:cubicBezTo>
                    <a:pt x="100647" y="171829"/>
                    <a:pt x="100647" y="171829"/>
                    <a:pt x="112615" y="164359"/>
                  </a:cubicBezTo>
                  <a:cubicBezTo>
                    <a:pt x="112615" y="164359"/>
                    <a:pt x="112615" y="164359"/>
                    <a:pt x="114111" y="167347"/>
                  </a:cubicBezTo>
                  <a:cubicBezTo>
                    <a:pt x="114111" y="167347"/>
                    <a:pt x="114111" y="167347"/>
                    <a:pt x="121592" y="164359"/>
                  </a:cubicBezTo>
                  <a:cubicBezTo>
                    <a:pt x="121592" y="164359"/>
                    <a:pt x="121592" y="164359"/>
                    <a:pt x="121592" y="162864"/>
                  </a:cubicBezTo>
                  <a:cubicBezTo>
                    <a:pt x="121592" y="162864"/>
                    <a:pt x="121592" y="162864"/>
                    <a:pt x="126080" y="161370"/>
                  </a:cubicBezTo>
                  <a:cubicBezTo>
                    <a:pt x="126080" y="161370"/>
                    <a:pt x="126080" y="161370"/>
                    <a:pt x="135056" y="159876"/>
                  </a:cubicBezTo>
                  <a:cubicBezTo>
                    <a:pt x="135056" y="159876"/>
                    <a:pt x="135056" y="159876"/>
                    <a:pt x="145529" y="159876"/>
                  </a:cubicBezTo>
                  <a:cubicBezTo>
                    <a:pt x="145529" y="159876"/>
                    <a:pt x="145529" y="159876"/>
                    <a:pt x="150017" y="162864"/>
                  </a:cubicBezTo>
                  <a:cubicBezTo>
                    <a:pt x="150017" y="162864"/>
                    <a:pt x="150017" y="162864"/>
                    <a:pt x="147025" y="170335"/>
                  </a:cubicBezTo>
                  <a:cubicBezTo>
                    <a:pt x="147025" y="170335"/>
                    <a:pt x="147025" y="170335"/>
                    <a:pt x="147025" y="173324"/>
                  </a:cubicBezTo>
                  <a:cubicBezTo>
                    <a:pt x="147025" y="173324"/>
                    <a:pt x="147025" y="173324"/>
                    <a:pt x="151513" y="176312"/>
                  </a:cubicBezTo>
                  <a:cubicBezTo>
                    <a:pt x="151513" y="176312"/>
                    <a:pt x="151513" y="176312"/>
                    <a:pt x="156001" y="180794"/>
                  </a:cubicBezTo>
                  <a:cubicBezTo>
                    <a:pt x="156001" y="180794"/>
                    <a:pt x="156001" y="180794"/>
                    <a:pt x="164978" y="180794"/>
                  </a:cubicBezTo>
                  <a:cubicBezTo>
                    <a:pt x="164978" y="180794"/>
                    <a:pt x="164978" y="180794"/>
                    <a:pt x="176946" y="183783"/>
                  </a:cubicBezTo>
                  <a:cubicBezTo>
                    <a:pt x="176946" y="183783"/>
                    <a:pt x="176946" y="183783"/>
                    <a:pt x="185923" y="179300"/>
                  </a:cubicBezTo>
                  <a:cubicBezTo>
                    <a:pt x="185923" y="179300"/>
                    <a:pt x="185923" y="179300"/>
                    <a:pt x="191907" y="173324"/>
                  </a:cubicBezTo>
                  <a:cubicBezTo>
                    <a:pt x="191907" y="173324"/>
                    <a:pt x="191907" y="173324"/>
                    <a:pt x="199387" y="168841"/>
                  </a:cubicBezTo>
                  <a:cubicBezTo>
                    <a:pt x="199387" y="168841"/>
                    <a:pt x="193403" y="165853"/>
                    <a:pt x="191907" y="165853"/>
                  </a:cubicBezTo>
                  <a:cubicBezTo>
                    <a:pt x="188915" y="165853"/>
                    <a:pt x="185923" y="162864"/>
                    <a:pt x="185923" y="162864"/>
                  </a:cubicBezTo>
                  <a:cubicBezTo>
                    <a:pt x="185923" y="162864"/>
                    <a:pt x="185923" y="162864"/>
                    <a:pt x="181435" y="159876"/>
                  </a:cubicBezTo>
                  <a:cubicBezTo>
                    <a:pt x="181435" y="159876"/>
                    <a:pt x="181435" y="159876"/>
                    <a:pt x="181435" y="153899"/>
                  </a:cubicBezTo>
                  <a:cubicBezTo>
                    <a:pt x="181435" y="153899"/>
                    <a:pt x="181435" y="153899"/>
                    <a:pt x="179939" y="146428"/>
                  </a:cubicBezTo>
                  <a:cubicBezTo>
                    <a:pt x="179939" y="146428"/>
                    <a:pt x="179939" y="146428"/>
                    <a:pt x="157497" y="140452"/>
                  </a:cubicBezTo>
                  <a:cubicBezTo>
                    <a:pt x="157497" y="140452"/>
                    <a:pt x="157497" y="140452"/>
                    <a:pt x="157497" y="118039"/>
                  </a:cubicBezTo>
                  <a:cubicBezTo>
                    <a:pt x="157497" y="118039"/>
                    <a:pt x="157497" y="118039"/>
                    <a:pt x="147025" y="107580"/>
                  </a:cubicBezTo>
                  <a:cubicBezTo>
                    <a:pt x="147025" y="107580"/>
                    <a:pt x="147025" y="107580"/>
                    <a:pt x="126080" y="85168"/>
                  </a:cubicBezTo>
                  <a:cubicBezTo>
                    <a:pt x="126080" y="85168"/>
                    <a:pt x="126080" y="85168"/>
                    <a:pt x="129072" y="85168"/>
                  </a:cubicBezTo>
                  <a:cubicBezTo>
                    <a:pt x="129072" y="85168"/>
                    <a:pt x="129072" y="85168"/>
                    <a:pt x="129072" y="80685"/>
                  </a:cubicBezTo>
                  <a:cubicBezTo>
                    <a:pt x="129072" y="80685"/>
                    <a:pt x="129072" y="80685"/>
                    <a:pt x="136552" y="80685"/>
                  </a:cubicBezTo>
                  <a:cubicBezTo>
                    <a:pt x="136552" y="80685"/>
                    <a:pt x="136552" y="80685"/>
                    <a:pt x="136552" y="74708"/>
                  </a:cubicBezTo>
                  <a:cubicBezTo>
                    <a:pt x="136552" y="74708"/>
                    <a:pt x="136552" y="74708"/>
                    <a:pt x="138048" y="67238"/>
                  </a:cubicBezTo>
                  <a:cubicBezTo>
                    <a:pt x="138048" y="67238"/>
                    <a:pt x="138048" y="67238"/>
                    <a:pt x="142537" y="67238"/>
                  </a:cubicBezTo>
                  <a:cubicBezTo>
                    <a:pt x="142537" y="67238"/>
                    <a:pt x="142537" y="67238"/>
                    <a:pt x="147025" y="70226"/>
                  </a:cubicBezTo>
                  <a:cubicBezTo>
                    <a:pt x="147025" y="70226"/>
                    <a:pt x="147025" y="70226"/>
                    <a:pt x="154505" y="70226"/>
                  </a:cubicBezTo>
                  <a:cubicBezTo>
                    <a:pt x="154505" y="70226"/>
                    <a:pt x="154505" y="70226"/>
                    <a:pt x="157497" y="70226"/>
                  </a:cubicBezTo>
                  <a:cubicBezTo>
                    <a:pt x="157497" y="70226"/>
                    <a:pt x="157497" y="70226"/>
                    <a:pt x="164978" y="70226"/>
                  </a:cubicBezTo>
                  <a:cubicBezTo>
                    <a:pt x="164978" y="70226"/>
                    <a:pt x="164978" y="70226"/>
                    <a:pt x="178442" y="65743"/>
                  </a:cubicBezTo>
                  <a:cubicBezTo>
                    <a:pt x="178442" y="65743"/>
                    <a:pt x="178442" y="65743"/>
                    <a:pt x="182931" y="61261"/>
                  </a:cubicBezTo>
                  <a:cubicBezTo>
                    <a:pt x="182931" y="61261"/>
                    <a:pt x="182931" y="61261"/>
                    <a:pt x="187419" y="53790"/>
                  </a:cubicBezTo>
                  <a:cubicBezTo>
                    <a:pt x="187419" y="53790"/>
                    <a:pt x="187419" y="53790"/>
                    <a:pt x="187419" y="41837"/>
                  </a:cubicBezTo>
                  <a:cubicBezTo>
                    <a:pt x="187419" y="41837"/>
                    <a:pt x="187419" y="41837"/>
                    <a:pt x="191907" y="41837"/>
                  </a:cubicBezTo>
                  <a:cubicBezTo>
                    <a:pt x="191907" y="41837"/>
                    <a:pt x="191907" y="41837"/>
                    <a:pt x="196395" y="37354"/>
                  </a:cubicBezTo>
                  <a:cubicBezTo>
                    <a:pt x="196395" y="37354"/>
                    <a:pt x="196395" y="37354"/>
                    <a:pt x="205372" y="29883"/>
                  </a:cubicBezTo>
                  <a:cubicBezTo>
                    <a:pt x="205372" y="29883"/>
                    <a:pt x="205372" y="29883"/>
                    <a:pt x="221829" y="26895"/>
                  </a:cubicBezTo>
                  <a:cubicBezTo>
                    <a:pt x="221829" y="26895"/>
                    <a:pt x="221829" y="26895"/>
                    <a:pt x="227813" y="19424"/>
                  </a:cubicBezTo>
                  <a:cubicBezTo>
                    <a:pt x="227813" y="19424"/>
                    <a:pt x="227813" y="19424"/>
                    <a:pt x="233797" y="16436"/>
                  </a:cubicBezTo>
                  <a:cubicBezTo>
                    <a:pt x="233797" y="16436"/>
                    <a:pt x="233797" y="16436"/>
                    <a:pt x="238285" y="11953"/>
                  </a:cubicBezTo>
                  <a:cubicBezTo>
                    <a:pt x="238285" y="11953"/>
                    <a:pt x="238285" y="11953"/>
                    <a:pt x="262223" y="13447"/>
                  </a:cubicBezTo>
                  <a:cubicBezTo>
                    <a:pt x="262223" y="13447"/>
                    <a:pt x="262223" y="13447"/>
                    <a:pt x="265215" y="5977"/>
                  </a:cubicBezTo>
                  <a:cubicBezTo>
                    <a:pt x="265215" y="5977"/>
                    <a:pt x="265215" y="5977"/>
                    <a:pt x="277183" y="0"/>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30" name="Freeform 72"/>
            <p:cNvSpPr>
              <a:spLocks/>
            </p:cNvSpPr>
            <p:nvPr/>
          </p:nvSpPr>
          <p:spPr bwMode="auto">
            <a:xfrm>
              <a:off x="5957637" y="3282926"/>
              <a:ext cx="448593" cy="285010"/>
            </a:xfrm>
            <a:custGeom>
              <a:avLst/>
              <a:gdLst>
                <a:gd name="connsiteX0" fmla="*/ 373837 w 470138"/>
                <a:gd name="connsiteY0" fmla="*/ 178512 h 298698"/>
                <a:gd name="connsiteX1" fmla="*/ 376847 w 470138"/>
                <a:gd name="connsiteY1" fmla="*/ 178512 h 298698"/>
                <a:gd name="connsiteX2" fmla="*/ 382865 w 470138"/>
                <a:gd name="connsiteY2" fmla="*/ 178512 h 298698"/>
                <a:gd name="connsiteX3" fmla="*/ 391894 w 470138"/>
                <a:gd name="connsiteY3" fmla="*/ 184447 h 298698"/>
                <a:gd name="connsiteX4" fmla="*/ 399417 w 470138"/>
                <a:gd name="connsiteY4" fmla="*/ 191866 h 298698"/>
                <a:gd name="connsiteX5" fmla="*/ 405436 w 470138"/>
                <a:gd name="connsiteY5" fmla="*/ 193350 h 298698"/>
                <a:gd name="connsiteX6" fmla="*/ 409950 w 470138"/>
                <a:gd name="connsiteY6" fmla="*/ 193350 h 298698"/>
                <a:gd name="connsiteX7" fmla="*/ 417474 w 470138"/>
                <a:gd name="connsiteY7" fmla="*/ 193350 h 298698"/>
                <a:gd name="connsiteX8" fmla="*/ 432521 w 470138"/>
                <a:gd name="connsiteY8" fmla="*/ 199285 h 298698"/>
                <a:gd name="connsiteX9" fmla="*/ 441549 w 470138"/>
                <a:gd name="connsiteY9" fmla="*/ 206704 h 298698"/>
                <a:gd name="connsiteX10" fmla="*/ 441549 w 470138"/>
                <a:gd name="connsiteY10" fmla="*/ 212639 h 298698"/>
                <a:gd name="connsiteX11" fmla="*/ 444558 w 470138"/>
                <a:gd name="connsiteY11" fmla="*/ 225993 h 298698"/>
                <a:gd name="connsiteX12" fmla="*/ 449072 w 470138"/>
                <a:gd name="connsiteY12" fmla="*/ 225993 h 298698"/>
                <a:gd name="connsiteX13" fmla="*/ 452082 w 470138"/>
                <a:gd name="connsiteY13" fmla="*/ 225993 h 298698"/>
                <a:gd name="connsiteX14" fmla="*/ 452082 w 470138"/>
                <a:gd name="connsiteY14" fmla="*/ 234896 h 298698"/>
                <a:gd name="connsiteX15" fmla="*/ 456596 w 470138"/>
                <a:gd name="connsiteY15" fmla="*/ 234896 h 298698"/>
                <a:gd name="connsiteX16" fmla="*/ 462615 w 470138"/>
                <a:gd name="connsiteY16" fmla="*/ 240831 h 298698"/>
                <a:gd name="connsiteX17" fmla="*/ 470138 w 470138"/>
                <a:gd name="connsiteY17" fmla="*/ 240831 h 298698"/>
                <a:gd name="connsiteX18" fmla="*/ 462615 w 470138"/>
                <a:gd name="connsiteY18" fmla="*/ 251217 h 298698"/>
                <a:gd name="connsiteX19" fmla="*/ 456596 w 470138"/>
                <a:gd name="connsiteY19" fmla="*/ 254185 h 298698"/>
                <a:gd name="connsiteX20" fmla="*/ 449072 w 470138"/>
                <a:gd name="connsiteY20" fmla="*/ 267539 h 298698"/>
                <a:gd name="connsiteX21" fmla="*/ 440044 w 470138"/>
                <a:gd name="connsiteY21" fmla="*/ 270506 h 298698"/>
                <a:gd name="connsiteX22" fmla="*/ 421988 w 470138"/>
                <a:gd name="connsiteY22" fmla="*/ 270506 h 298698"/>
                <a:gd name="connsiteX23" fmla="*/ 418978 w 470138"/>
                <a:gd name="connsiteY23" fmla="*/ 274958 h 298698"/>
                <a:gd name="connsiteX24" fmla="*/ 406941 w 470138"/>
                <a:gd name="connsiteY24" fmla="*/ 274958 h 298698"/>
                <a:gd name="connsiteX25" fmla="*/ 403931 w 470138"/>
                <a:gd name="connsiteY25" fmla="*/ 285344 h 298698"/>
                <a:gd name="connsiteX26" fmla="*/ 402427 w 470138"/>
                <a:gd name="connsiteY26" fmla="*/ 292763 h 298698"/>
                <a:gd name="connsiteX27" fmla="*/ 399417 w 470138"/>
                <a:gd name="connsiteY27" fmla="*/ 295731 h 298698"/>
                <a:gd name="connsiteX28" fmla="*/ 396408 w 470138"/>
                <a:gd name="connsiteY28" fmla="*/ 298698 h 298698"/>
                <a:gd name="connsiteX29" fmla="*/ 391894 w 470138"/>
                <a:gd name="connsiteY29" fmla="*/ 298698 h 298698"/>
                <a:gd name="connsiteX30" fmla="*/ 387380 w 470138"/>
                <a:gd name="connsiteY30" fmla="*/ 291279 h 298698"/>
                <a:gd name="connsiteX31" fmla="*/ 376847 w 470138"/>
                <a:gd name="connsiteY31" fmla="*/ 286828 h 298698"/>
                <a:gd name="connsiteX32" fmla="*/ 370828 w 470138"/>
                <a:gd name="connsiteY32" fmla="*/ 280893 h 298698"/>
                <a:gd name="connsiteX33" fmla="*/ 370828 w 470138"/>
                <a:gd name="connsiteY33" fmla="*/ 277925 h 298698"/>
                <a:gd name="connsiteX34" fmla="*/ 370828 w 470138"/>
                <a:gd name="connsiteY34" fmla="*/ 273474 h 298698"/>
                <a:gd name="connsiteX35" fmla="*/ 370828 w 470138"/>
                <a:gd name="connsiteY35" fmla="*/ 267539 h 298698"/>
                <a:gd name="connsiteX36" fmla="*/ 370828 w 470138"/>
                <a:gd name="connsiteY36" fmla="*/ 264571 h 298698"/>
                <a:gd name="connsiteX37" fmla="*/ 370828 w 470138"/>
                <a:gd name="connsiteY37" fmla="*/ 252701 h 298698"/>
                <a:gd name="connsiteX38" fmla="*/ 370828 w 470138"/>
                <a:gd name="connsiteY38" fmla="*/ 249733 h 298698"/>
                <a:gd name="connsiteX39" fmla="*/ 370828 w 470138"/>
                <a:gd name="connsiteY39" fmla="*/ 242315 h 298698"/>
                <a:gd name="connsiteX40" fmla="*/ 363304 w 470138"/>
                <a:gd name="connsiteY40" fmla="*/ 231928 h 298698"/>
                <a:gd name="connsiteX41" fmla="*/ 358790 w 470138"/>
                <a:gd name="connsiteY41" fmla="*/ 227477 h 298698"/>
                <a:gd name="connsiteX42" fmla="*/ 358790 w 470138"/>
                <a:gd name="connsiteY42" fmla="*/ 223025 h 298698"/>
                <a:gd name="connsiteX43" fmla="*/ 358790 w 470138"/>
                <a:gd name="connsiteY43" fmla="*/ 220058 h 298698"/>
                <a:gd name="connsiteX44" fmla="*/ 363304 w 470138"/>
                <a:gd name="connsiteY44" fmla="*/ 214123 h 298698"/>
                <a:gd name="connsiteX45" fmla="*/ 370828 w 470138"/>
                <a:gd name="connsiteY45" fmla="*/ 212639 h 298698"/>
                <a:gd name="connsiteX46" fmla="*/ 376847 w 470138"/>
                <a:gd name="connsiteY46" fmla="*/ 206704 h 298698"/>
                <a:gd name="connsiteX47" fmla="*/ 376847 w 470138"/>
                <a:gd name="connsiteY47" fmla="*/ 199285 h 298698"/>
                <a:gd name="connsiteX48" fmla="*/ 373837 w 470138"/>
                <a:gd name="connsiteY48" fmla="*/ 185931 h 298698"/>
                <a:gd name="connsiteX49" fmla="*/ 373837 w 470138"/>
                <a:gd name="connsiteY49" fmla="*/ 182963 h 298698"/>
                <a:gd name="connsiteX50" fmla="*/ 373837 w 470138"/>
                <a:gd name="connsiteY50" fmla="*/ 178512 h 298698"/>
                <a:gd name="connsiteX51" fmla="*/ 275720 w 470138"/>
                <a:gd name="connsiteY51" fmla="*/ 116651 h 298698"/>
                <a:gd name="connsiteX52" fmla="*/ 281022 w 470138"/>
                <a:gd name="connsiteY52" fmla="*/ 116651 h 298698"/>
                <a:gd name="connsiteX53" fmla="*/ 284556 w 470138"/>
                <a:gd name="connsiteY53" fmla="*/ 116651 h 298698"/>
                <a:gd name="connsiteX54" fmla="*/ 288091 w 470138"/>
                <a:gd name="connsiteY54" fmla="*/ 120186 h 298698"/>
                <a:gd name="connsiteX55" fmla="*/ 291626 w 470138"/>
                <a:gd name="connsiteY55" fmla="*/ 125488 h 298698"/>
                <a:gd name="connsiteX56" fmla="*/ 291626 w 470138"/>
                <a:gd name="connsiteY56" fmla="*/ 130790 h 298698"/>
                <a:gd name="connsiteX57" fmla="*/ 284556 w 470138"/>
                <a:gd name="connsiteY57" fmla="*/ 134325 h 298698"/>
                <a:gd name="connsiteX58" fmla="*/ 281022 w 470138"/>
                <a:gd name="connsiteY58" fmla="*/ 130790 h 298698"/>
                <a:gd name="connsiteX59" fmla="*/ 281022 w 470138"/>
                <a:gd name="connsiteY59" fmla="*/ 125488 h 298698"/>
                <a:gd name="connsiteX60" fmla="*/ 275720 w 470138"/>
                <a:gd name="connsiteY60" fmla="*/ 121953 h 298698"/>
                <a:gd name="connsiteX61" fmla="*/ 275720 w 470138"/>
                <a:gd name="connsiteY61" fmla="*/ 120186 h 298698"/>
                <a:gd name="connsiteX62" fmla="*/ 309302 w 470138"/>
                <a:gd name="connsiteY62" fmla="*/ 107814 h 298698"/>
                <a:gd name="connsiteX63" fmla="*/ 314604 w 470138"/>
                <a:gd name="connsiteY63" fmla="*/ 107814 h 298698"/>
                <a:gd name="connsiteX64" fmla="*/ 319906 w 470138"/>
                <a:gd name="connsiteY64" fmla="*/ 113116 h 298698"/>
                <a:gd name="connsiteX65" fmla="*/ 323441 w 470138"/>
                <a:gd name="connsiteY65" fmla="*/ 116651 h 298698"/>
                <a:gd name="connsiteX66" fmla="*/ 330511 w 470138"/>
                <a:gd name="connsiteY66" fmla="*/ 120186 h 298698"/>
                <a:gd name="connsiteX67" fmla="*/ 330511 w 470138"/>
                <a:gd name="connsiteY67" fmla="*/ 116651 h 298698"/>
                <a:gd name="connsiteX68" fmla="*/ 339348 w 470138"/>
                <a:gd name="connsiteY68" fmla="*/ 116651 h 298698"/>
                <a:gd name="connsiteX69" fmla="*/ 344650 w 470138"/>
                <a:gd name="connsiteY69" fmla="*/ 116651 h 298698"/>
                <a:gd name="connsiteX70" fmla="*/ 351720 w 470138"/>
                <a:gd name="connsiteY70" fmla="*/ 121954 h 298698"/>
                <a:gd name="connsiteX71" fmla="*/ 364092 w 470138"/>
                <a:gd name="connsiteY71" fmla="*/ 130791 h 298698"/>
                <a:gd name="connsiteX72" fmla="*/ 364092 w 470138"/>
                <a:gd name="connsiteY72" fmla="*/ 139628 h 298698"/>
                <a:gd name="connsiteX73" fmla="*/ 358789 w 470138"/>
                <a:gd name="connsiteY73" fmla="*/ 144930 h 298698"/>
                <a:gd name="connsiteX74" fmla="*/ 353487 w 470138"/>
                <a:gd name="connsiteY74" fmla="*/ 144930 h 298698"/>
                <a:gd name="connsiteX75" fmla="*/ 348185 w 470138"/>
                <a:gd name="connsiteY75" fmla="*/ 144930 h 298698"/>
                <a:gd name="connsiteX76" fmla="*/ 348185 w 470138"/>
                <a:gd name="connsiteY76" fmla="*/ 146698 h 298698"/>
                <a:gd name="connsiteX77" fmla="*/ 335813 w 470138"/>
                <a:gd name="connsiteY77" fmla="*/ 146698 h 298698"/>
                <a:gd name="connsiteX78" fmla="*/ 330511 w 470138"/>
                <a:gd name="connsiteY78" fmla="*/ 146698 h 298698"/>
                <a:gd name="connsiteX79" fmla="*/ 328743 w 470138"/>
                <a:gd name="connsiteY79" fmla="*/ 146698 h 298698"/>
                <a:gd name="connsiteX80" fmla="*/ 325209 w 470138"/>
                <a:gd name="connsiteY80" fmla="*/ 141396 h 298698"/>
                <a:gd name="connsiteX81" fmla="*/ 323441 w 470138"/>
                <a:gd name="connsiteY81" fmla="*/ 134326 h 298698"/>
                <a:gd name="connsiteX82" fmla="*/ 325209 w 470138"/>
                <a:gd name="connsiteY82" fmla="*/ 127256 h 298698"/>
                <a:gd name="connsiteX83" fmla="*/ 316371 w 470138"/>
                <a:gd name="connsiteY83" fmla="*/ 127256 h 298698"/>
                <a:gd name="connsiteX84" fmla="*/ 309302 w 470138"/>
                <a:gd name="connsiteY84" fmla="*/ 125488 h 298698"/>
                <a:gd name="connsiteX85" fmla="*/ 309302 w 470138"/>
                <a:gd name="connsiteY85" fmla="*/ 120186 h 298698"/>
                <a:gd name="connsiteX86" fmla="*/ 309302 w 470138"/>
                <a:gd name="connsiteY86" fmla="*/ 116651 h 298698"/>
                <a:gd name="connsiteX87" fmla="*/ 309302 w 470138"/>
                <a:gd name="connsiteY87" fmla="*/ 111349 h 298698"/>
                <a:gd name="connsiteX88" fmla="*/ 258045 w 470138"/>
                <a:gd name="connsiteY88" fmla="*/ 93675 h 298698"/>
                <a:gd name="connsiteX89" fmla="*/ 261580 w 470138"/>
                <a:gd name="connsiteY89" fmla="*/ 93675 h 298698"/>
                <a:gd name="connsiteX90" fmla="*/ 272184 w 470138"/>
                <a:gd name="connsiteY90" fmla="*/ 93675 h 298698"/>
                <a:gd name="connsiteX91" fmla="*/ 281021 w 470138"/>
                <a:gd name="connsiteY91" fmla="*/ 93675 h 298698"/>
                <a:gd name="connsiteX92" fmla="*/ 282788 w 470138"/>
                <a:gd name="connsiteY92" fmla="*/ 100745 h 298698"/>
                <a:gd name="connsiteX93" fmla="*/ 302230 w 470138"/>
                <a:gd name="connsiteY93" fmla="*/ 100745 h 298698"/>
                <a:gd name="connsiteX94" fmla="*/ 293393 w 470138"/>
                <a:gd name="connsiteY94" fmla="*/ 106047 h 298698"/>
                <a:gd name="connsiteX95" fmla="*/ 291625 w 470138"/>
                <a:gd name="connsiteY95" fmla="*/ 107815 h 298698"/>
                <a:gd name="connsiteX96" fmla="*/ 291625 w 470138"/>
                <a:gd name="connsiteY96" fmla="*/ 104280 h 298698"/>
                <a:gd name="connsiteX97" fmla="*/ 286323 w 470138"/>
                <a:gd name="connsiteY97" fmla="*/ 104280 h 298698"/>
                <a:gd name="connsiteX98" fmla="*/ 282788 w 470138"/>
                <a:gd name="connsiteY98" fmla="*/ 104280 h 298698"/>
                <a:gd name="connsiteX99" fmla="*/ 277486 w 470138"/>
                <a:gd name="connsiteY99" fmla="*/ 104280 h 298698"/>
                <a:gd name="connsiteX100" fmla="*/ 273951 w 470138"/>
                <a:gd name="connsiteY100" fmla="*/ 104280 h 298698"/>
                <a:gd name="connsiteX101" fmla="*/ 270417 w 470138"/>
                <a:gd name="connsiteY101" fmla="*/ 104280 h 298698"/>
                <a:gd name="connsiteX102" fmla="*/ 265114 w 470138"/>
                <a:gd name="connsiteY102" fmla="*/ 104280 h 298698"/>
                <a:gd name="connsiteX103" fmla="*/ 258045 w 470138"/>
                <a:gd name="connsiteY103" fmla="*/ 102512 h 298698"/>
                <a:gd name="connsiteX104" fmla="*/ 258045 w 470138"/>
                <a:gd name="connsiteY104" fmla="*/ 100745 h 298698"/>
                <a:gd name="connsiteX105" fmla="*/ 258045 w 470138"/>
                <a:gd name="connsiteY105" fmla="*/ 97210 h 298698"/>
                <a:gd name="connsiteX106" fmla="*/ 187348 w 470138"/>
                <a:gd name="connsiteY106" fmla="*/ 51256 h 298698"/>
                <a:gd name="connsiteX107" fmla="*/ 194417 w 470138"/>
                <a:gd name="connsiteY107" fmla="*/ 51256 h 298698"/>
                <a:gd name="connsiteX108" fmla="*/ 197952 w 470138"/>
                <a:gd name="connsiteY108" fmla="*/ 51256 h 298698"/>
                <a:gd name="connsiteX109" fmla="*/ 201487 w 470138"/>
                <a:gd name="connsiteY109" fmla="*/ 53023 h 298698"/>
                <a:gd name="connsiteX110" fmla="*/ 203254 w 470138"/>
                <a:gd name="connsiteY110" fmla="*/ 56558 h 298698"/>
                <a:gd name="connsiteX111" fmla="*/ 208557 w 470138"/>
                <a:gd name="connsiteY111" fmla="*/ 65395 h 298698"/>
                <a:gd name="connsiteX112" fmla="*/ 213859 w 470138"/>
                <a:gd name="connsiteY112" fmla="*/ 65395 h 298698"/>
                <a:gd name="connsiteX113" fmla="*/ 217394 w 470138"/>
                <a:gd name="connsiteY113" fmla="*/ 74233 h 298698"/>
                <a:gd name="connsiteX114" fmla="*/ 217394 w 470138"/>
                <a:gd name="connsiteY114" fmla="*/ 81303 h 298698"/>
                <a:gd name="connsiteX115" fmla="*/ 217394 w 470138"/>
                <a:gd name="connsiteY115" fmla="*/ 86605 h 298698"/>
                <a:gd name="connsiteX116" fmla="*/ 212092 w 470138"/>
                <a:gd name="connsiteY116" fmla="*/ 86605 h 298698"/>
                <a:gd name="connsiteX117" fmla="*/ 206789 w 470138"/>
                <a:gd name="connsiteY117" fmla="*/ 81303 h 298698"/>
                <a:gd name="connsiteX118" fmla="*/ 203254 w 470138"/>
                <a:gd name="connsiteY118" fmla="*/ 77768 h 298698"/>
                <a:gd name="connsiteX119" fmla="*/ 194417 w 470138"/>
                <a:gd name="connsiteY119" fmla="*/ 81303 h 298698"/>
                <a:gd name="connsiteX120" fmla="*/ 187348 w 470138"/>
                <a:gd name="connsiteY120" fmla="*/ 83070 h 298698"/>
                <a:gd name="connsiteX121" fmla="*/ 182046 w 470138"/>
                <a:gd name="connsiteY121" fmla="*/ 79535 h 298698"/>
                <a:gd name="connsiteX122" fmla="*/ 178511 w 470138"/>
                <a:gd name="connsiteY122" fmla="*/ 74233 h 298698"/>
                <a:gd name="connsiteX123" fmla="*/ 169674 w 470138"/>
                <a:gd name="connsiteY123" fmla="*/ 68930 h 298698"/>
                <a:gd name="connsiteX124" fmla="*/ 169674 w 470138"/>
                <a:gd name="connsiteY124" fmla="*/ 63628 h 298698"/>
                <a:gd name="connsiteX125" fmla="*/ 169674 w 470138"/>
                <a:gd name="connsiteY125" fmla="*/ 56558 h 298698"/>
                <a:gd name="connsiteX126" fmla="*/ 174976 w 470138"/>
                <a:gd name="connsiteY126" fmla="*/ 56558 h 298698"/>
                <a:gd name="connsiteX127" fmla="*/ 180278 w 470138"/>
                <a:gd name="connsiteY127" fmla="*/ 56558 h 298698"/>
                <a:gd name="connsiteX128" fmla="*/ 180278 w 470138"/>
                <a:gd name="connsiteY128" fmla="*/ 53023 h 298698"/>
                <a:gd name="connsiteX129" fmla="*/ 12372 w 470138"/>
                <a:gd name="connsiteY129" fmla="*/ 15908 h 298698"/>
                <a:gd name="connsiteX130" fmla="*/ 12372 w 470138"/>
                <a:gd name="connsiteY130" fmla="*/ 21210 h 298698"/>
                <a:gd name="connsiteX131" fmla="*/ 12372 w 470138"/>
                <a:gd name="connsiteY131" fmla="*/ 24745 h 298698"/>
                <a:gd name="connsiteX132" fmla="*/ 8837 w 470138"/>
                <a:gd name="connsiteY132" fmla="*/ 28280 h 298698"/>
                <a:gd name="connsiteX133" fmla="*/ 7069 w 470138"/>
                <a:gd name="connsiteY133" fmla="*/ 31815 h 298698"/>
                <a:gd name="connsiteX134" fmla="*/ 7069 w 470138"/>
                <a:gd name="connsiteY134" fmla="*/ 38885 h 298698"/>
                <a:gd name="connsiteX135" fmla="*/ 0 w 470138"/>
                <a:gd name="connsiteY135" fmla="*/ 35350 h 298698"/>
                <a:gd name="connsiteX136" fmla="*/ 0 w 470138"/>
                <a:gd name="connsiteY136" fmla="*/ 31815 h 298698"/>
                <a:gd name="connsiteX137" fmla="*/ 0 w 470138"/>
                <a:gd name="connsiteY137" fmla="*/ 28280 h 298698"/>
                <a:gd name="connsiteX138" fmla="*/ 7069 w 470138"/>
                <a:gd name="connsiteY138" fmla="*/ 21210 h 298698"/>
                <a:gd name="connsiteX139" fmla="*/ 58325 w 470138"/>
                <a:gd name="connsiteY139" fmla="*/ 0 h 298698"/>
                <a:gd name="connsiteX140" fmla="*/ 63627 w 470138"/>
                <a:gd name="connsiteY140" fmla="*/ 0 h 298698"/>
                <a:gd name="connsiteX141" fmla="*/ 77767 w 470138"/>
                <a:gd name="connsiteY141" fmla="*/ 0 h 298698"/>
                <a:gd name="connsiteX142" fmla="*/ 83069 w 470138"/>
                <a:gd name="connsiteY142" fmla="*/ 0 h 298698"/>
                <a:gd name="connsiteX143" fmla="*/ 88372 w 470138"/>
                <a:gd name="connsiteY143" fmla="*/ 8837 h 298698"/>
                <a:gd name="connsiteX144" fmla="*/ 88372 w 470138"/>
                <a:gd name="connsiteY144" fmla="*/ 10604 h 298698"/>
                <a:gd name="connsiteX145" fmla="*/ 88372 w 470138"/>
                <a:gd name="connsiteY145" fmla="*/ 15907 h 298698"/>
                <a:gd name="connsiteX146" fmla="*/ 86604 w 470138"/>
                <a:gd name="connsiteY146" fmla="*/ 21209 h 298698"/>
                <a:gd name="connsiteX147" fmla="*/ 86604 w 470138"/>
                <a:gd name="connsiteY147" fmla="*/ 22977 h 298698"/>
                <a:gd name="connsiteX148" fmla="*/ 81302 w 470138"/>
                <a:gd name="connsiteY148" fmla="*/ 28279 h 298698"/>
                <a:gd name="connsiteX149" fmla="*/ 77767 w 470138"/>
                <a:gd name="connsiteY149" fmla="*/ 28279 h 298698"/>
                <a:gd name="connsiteX150" fmla="*/ 72465 w 470138"/>
                <a:gd name="connsiteY150" fmla="*/ 28279 h 298698"/>
                <a:gd name="connsiteX151" fmla="*/ 68930 w 470138"/>
                <a:gd name="connsiteY151" fmla="*/ 28279 h 298698"/>
                <a:gd name="connsiteX152" fmla="*/ 60092 w 470138"/>
                <a:gd name="connsiteY152" fmla="*/ 22977 h 298698"/>
                <a:gd name="connsiteX153" fmla="*/ 58325 w 470138"/>
                <a:gd name="connsiteY153" fmla="*/ 22977 h 298698"/>
                <a:gd name="connsiteX154" fmla="*/ 49488 w 470138"/>
                <a:gd name="connsiteY154" fmla="*/ 15907 h 298698"/>
                <a:gd name="connsiteX155" fmla="*/ 49488 w 470138"/>
                <a:gd name="connsiteY155" fmla="*/ 7070 h 298698"/>
                <a:gd name="connsiteX156" fmla="*/ 49488 w 470138"/>
                <a:gd name="connsiteY156" fmla="*/ 3535 h 298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470138" h="298698">
                  <a:moveTo>
                    <a:pt x="373837" y="178512"/>
                  </a:moveTo>
                  <a:cubicBezTo>
                    <a:pt x="376847" y="178512"/>
                    <a:pt x="376847" y="178512"/>
                    <a:pt x="376847" y="178512"/>
                  </a:cubicBezTo>
                  <a:cubicBezTo>
                    <a:pt x="382865" y="178512"/>
                    <a:pt x="382865" y="178512"/>
                    <a:pt x="382865" y="178512"/>
                  </a:cubicBezTo>
                  <a:cubicBezTo>
                    <a:pt x="391894" y="184447"/>
                    <a:pt x="391894" y="184447"/>
                    <a:pt x="391894" y="184447"/>
                  </a:cubicBezTo>
                  <a:cubicBezTo>
                    <a:pt x="399417" y="191866"/>
                    <a:pt x="399417" y="191866"/>
                    <a:pt x="399417" y="191866"/>
                  </a:cubicBezTo>
                  <a:cubicBezTo>
                    <a:pt x="399417" y="191866"/>
                    <a:pt x="403931" y="193350"/>
                    <a:pt x="405436" y="193350"/>
                  </a:cubicBezTo>
                  <a:cubicBezTo>
                    <a:pt x="406941" y="193350"/>
                    <a:pt x="408445" y="193350"/>
                    <a:pt x="409950" y="193350"/>
                  </a:cubicBezTo>
                  <a:cubicBezTo>
                    <a:pt x="411455" y="193350"/>
                    <a:pt x="417474" y="193350"/>
                    <a:pt x="417474" y="193350"/>
                  </a:cubicBezTo>
                  <a:cubicBezTo>
                    <a:pt x="432521" y="199285"/>
                    <a:pt x="432521" y="199285"/>
                    <a:pt x="432521" y="199285"/>
                  </a:cubicBezTo>
                  <a:cubicBezTo>
                    <a:pt x="441549" y="206704"/>
                    <a:pt x="441549" y="206704"/>
                    <a:pt x="441549" y="206704"/>
                  </a:cubicBezTo>
                  <a:cubicBezTo>
                    <a:pt x="441549" y="212639"/>
                    <a:pt x="441549" y="212639"/>
                    <a:pt x="441549" y="212639"/>
                  </a:cubicBezTo>
                  <a:cubicBezTo>
                    <a:pt x="444558" y="225993"/>
                    <a:pt x="444558" y="225993"/>
                    <a:pt x="444558" y="225993"/>
                  </a:cubicBezTo>
                  <a:cubicBezTo>
                    <a:pt x="449072" y="225993"/>
                    <a:pt x="449072" y="225993"/>
                    <a:pt x="449072" y="225993"/>
                  </a:cubicBezTo>
                  <a:cubicBezTo>
                    <a:pt x="452082" y="225993"/>
                    <a:pt x="452082" y="225993"/>
                    <a:pt x="452082" y="225993"/>
                  </a:cubicBezTo>
                  <a:cubicBezTo>
                    <a:pt x="452082" y="234896"/>
                    <a:pt x="452082" y="234896"/>
                    <a:pt x="452082" y="234896"/>
                  </a:cubicBezTo>
                  <a:cubicBezTo>
                    <a:pt x="456596" y="234896"/>
                    <a:pt x="456596" y="234896"/>
                    <a:pt x="456596" y="234896"/>
                  </a:cubicBezTo>
                  <a:cubicBezTo>
                    <a:pt x="462615" y="240831"/>
                    <a:pt x="462615" y="240831"/>
                    <a:pt x="462615" y="240831"/>
                  </a:cubicBezTo>
                  <a:cubicBezTo>
                    <a:pt x="470138" y="240831"/>
                    <a:pt x="470138" y="240831"/>
                    <a:pt x="470138" y="240831"/>
                  </a:cubicBezTo>
                  <a:cubicBezTo>
                    <a:pt x="462615" y="251217"/>
                    <a:pt x="462615" y="251217"/>
                    <a:pt x="462615" y="251217"/>
                  </a:cubicBezTo>
                  <a:cubicBezTo>
                    <a:pt x="456596" y="254185"/>
                    <a:pt x="456596" y="254185"/>
                    <a:pt x="456596" y="254185"/>
                  </a:cubicBezTo>
                  <a:cubicBezTo>
                    <a:pt x="449072" y="267539"/>
                    <a:pt x="449072" y="267539"/>
                    <a:pt x="449072" y="267539"/>
                  </a:cubicBezTo>
                  <a:cubicBezTo>
                    <a:pt x="440044" y="270506"/>
                    <a:pt x="440044" y="270506"/>
                    <a:pt x="440044" y="270506"/>
                  </a:cubicBezTo>
                  <a:cubicBezTo>
                    <a:pt x="421988" y="270506"/>
                    <a:pt x="421988" y="270506"/>
                    <a:pt x="421988" y="270506"/>
                  </a:cubicBezTo>
                  <a:cubicBezTo>
                    <a:pt x="418978" y="274958"/>
                    <a:pt x="418978" y="274958"/>
                    <a:pt x="418978" y="274958"/>
                  </a:cubicBezTo>
                  <a:cubicBezTo>
                    <a:pt x="406941" y="274958"/>
                    <a:pt x="406941" y="274958"/>
                    <a:pt x="406941" y="274958"/>
                  </a:cubicBezTo>
                  <a:cubicBezTo>
                    <a:pt x="403931" y="285344"/>
                    <a:pt x="403931" y="285344"/>
                    <a:pt x="403931" y="285344"/>
                  </a:cubicBezTo>
                  <a:cubicBezTo>
                    <a:pt x="402427" y="292763"/>
                    <a:pt x="402427" y="292763"/>
                    <a:pt x="402427" y="292763"/>
                  </a:cubicBezTo>
                  <a:cubicBezTo>
                    <a:pt x="399417" y="295731"/>
                    <a:pt x="399417" y="295731"/>
                    <a:pt x="399417" y="295731"/>
                  </a:cubicBezTo>
                  <a:cubicBezTo>
                    <a:pt x="396408" y="298698"/>
                    <a:pt x="396408" y="298698"/>
                    <a:pt x="396408" y="298698"/>
                  </a:cubicBezTo>
                  <a:cubicBezTo>
                    <a:pt x="391894" y="298698"/>
                    <a:pt x="391894" y="298698"/>
                    <a:pt x="391894" y="298698"/>
                  </a:cubicBezTo>
                  <a:cubicBezTo>
                    <a:pt x="387380" y="291279"/>
                    <a:pt x="387380" y="291279"/>
                    <a:pt x="387380" y="291279"/>
                  </a:cubicBezTo>
                  <a:cubicBezTo>
                    <a:pt x="376847" y="286828"/>
                    <a:pt x="376847" y="286828"/>
                    <a:pt x="376847" y="286828"/>
                  </a:cubicBezTo>
                  <a:cubicBezTo>
                    <a:pt x="370828" y="280893"/>
                    <a:pt x="370828" y="280893"/>
                    <a:pt x="370828" y="280893"/>
                  </a:cubicBezTo>
                  <a:cubicBezTo>
                    <a:pt x="370828" y="277925"/>
                    <a:pt x="370828" y="277925"/>
                    <a:pt x="370828" y="277925"/>
                  </a:cubicBezTo>
                  <a:cubicBezTo>
                    <a:pt x="370828" y="273474"/>
                    <a:pt x="370828" y="273474"/>
                    <a:pt x="370828" y="273474"/>
                  </a:cubicBezTo>
                  <a:cubicBezTo>
                    <a:pt x="370828" y="267539"/>
                    <a:pt x="370828" y="267539"/>
                    <a:pt x="370828" y="267539"/>
                  </a:cubicBezTo>
                  <a:cubicBezTo>
                    <a:pt x="370828" y="264571"/>
                    <a:pt x="370828" y="264571"/>
                    <a:pt x="370828" y="264571"/>
                  </a:cubicBezTo>
                  <a:cubicBezTo>
                    <a:pt x="370828" y="252701"/>
                    <a:pt x="370828" y="252701"/>
                    <a:pt x="370828" y="252701"/>
                  </a:cubicBezTo>
                  <a:cubicBezTo>
                    <a:pt x="370828" y="249733"/>
                    <a:pt x="370828" y="249733"/>
                    <a:pt x="370828" y="249733"/>
                  </a:cubicBezTo>
                  <a:cubicBezTo>
                    <a:pt x="370828" y="242315"/>
                    <a:pt x="370828" y="242315"/>
                    <a:pt x="370828" y="242315"/>
                  </a:cubicBezTo>
                  <a:cubicBezTo>
                    <a:pt x="363304" y="231928"/>
                    <a:pt x="363304" y="231928"/>
                    <a:pt x="363304" y="231928"/>
                  </a:cubicBezTo>
                  <a:cubicBezTo>
                    <a:pt x="358790" y="227477"/>
                    <a:pt x="358790" y="227477"/>
                    <a:pt x="358790" y="227477"/>
                  </a:cubicBezTo>
                  <a:cubicBezTo>
                    <a:pt x="358790" y="223025"/>
                    <a:pt x="358790" y="223025"/>
                    <a:pt x="358790" y="223025"/>
                  </a:cubicBezTo>
                  <a:cubicBezTo>
                    <a:pt x="358790" y="220058"/>
                    <a:pt x="358790" y="220058"/>
                    <a:pt x="358790" y="220058"/>
                  </a:cubicBezTo>
                  <a:cubicBezTo>
                    <a:pt x="363304" y="214123"/>
                    <a:pt x="363304" y="214123"/>
                    <a:pt x="363304" y="214123"/>
                  </a:cubicBezTo>
                  <a:cubicBezTo>
                    <a:pt x="370828" y="212639"/>
                    <a:pt x="370828" y="212639"/>
                    <a:pt x="370828" y="212639"/>
                  </a:cubicBezTo>
                  <a:cubicBezTo>
                    <a:pt x="376847" y="206704"/>
                    <a:pt x="376847" y="206704"/>
                    <a:pt x="376847" y="206704"/>
                  </a:cubicBezTo>
                  <a:lnTo>
                    <a:pt x="376847" y="199285"/>
                  </a:lnTo>
                  <a:cubicBezTo>
                    <a:pt x="373837" y="185931"/>
                    <a:pt x="373837" y="185931"/>
                    <a:pt x="373837" y="185931"/>
                  </a:cubicBezTo>
                  <a:cubicBezTo>
                    <a:pt x="373837" y="182963"/>
                    <a:pt x="373837" y="182963"/>
                    <a:pt x="373837" y="182963"/>
                  </a:cubicBezTo>
                  <a:cubicBezTo>
                    <a:pt x="373837" y="178512"/>
                    <a:pt x="373837" y="178512"/>
                    <a:pt x="373837" y="178512"/>
                  </a:cubicBezTo>
                  <a:close/>
                  <a:moveTo>
                    <a:pt x="275720" y="116651"/>
                  </a:moveTo>
                  <a:lnTo>
                    <a:pt x="281022" y="116651"/>
                  </a:lnTo>
                  <a:lnTo>
                    <a:pt x="284556" y="116651"/>
                  </a:lnTo>
                  <a:lnTo>
                    <a:pt x="288091" y="120186"/>
                  </a:lnTo>
                  <a:lnTo>
                    <a:pt x="291626" y="125488"/>
                  </a:lnTo>
                  <a:lnTo>
                    <a:pt x="291626" y="130790"/>
                  </a:lnTo>
                  <a:lnTo>
                    <a:pt x="284556" y="134325"/>
                  </a:lnTo>
                  <a:lnTo>
                    <a:pt x="281022" y="130790"/>
                  </a:lnTo>
                  <a:lnTo>
                    <a:pt x="281022" y="125488"/>
                  </a:lnTo>
                  <a:lnTo>
                    <a:pt x="275720" y="121953"/>
                  </a:lnTo>
                  <a:lnTo>
                    <a:pt x="275720" y="120186"/>
                  </a:lnTo>
                  <a:close/>
                  <a:moveTo>
                    <a:pt x="309302" y="107814"/>
                  </a:moveTo>
                  <a:lnTo>
                    <a:pt x="314604" y="107814"/>
                  </a:lnTo>
                  <a:lnTo>
                    <a:pt x="319906" y="113116"/>
                  </a:lnTo>
                  <a:lnTo>
                    <a:pt x="323441" y="116651"/>
                  </a:lnTo>
                  <a:lnTo>
                    <a:pt x="330511" y="120186"/>
                  </a:lnTo>
                  <a:lnTo>
                    <a:pt x="330511" y="116651"/>
                  </a:lnTo>
                  <a:lnTo>
                    <a:pt x="339348" y="116651"/>
                  </a:lnTo>
                  <a:lnTo>
                    <a:pt x="344650" y="116651"/>
                  </a:lnTo>
                  <a:lnTo>
                    <a:pt x="351720" y="121954"/>
                  </a:lnTo>
                  <a:lnTo>
                    <a:pt x="364092" y="130791"/>
                  </a:lnTo>
                  <a:lnTo>
                    <a:pt x="364092" y="139628"/>
                  </a:lnTo>
                  <a:lnTo>
                    <a:pt x="358789" y="144930"/>
                  </a:lnTo>
                  <a:lnTo>
                    <a:pt x="353487" y="144930"/>
                  </a:lnTo>
                  <a:lnTo>
                    <a:pt x="348185" y="144930"/>
                  </a:lnTo>
                  <a:lnTo>
                    <a:pt x="348185" y="146698"/>
                  </a:lnTo>
                  <a:lnTo>
                    <a:pt x="335813" y="146698"/>
                  </a:lnTo>
                  <a:lnTo>
                    <a:pt x="330511" y="146698"/>
                  </a:lnTo>
                  <a:lnTo>
                    <a:pt x="328743" y="146698"/>
                  </a:lnTo>
                  <a:lnTo>
                    <a:pt x="325209" y="141396"/>
                  </a:lnTo>
                  <a:lnTo>
                    <a:pt x="323441" y="134326"/>
                  </a:lnTo>
                  <a:lnTo>
                    <a:pt x="325209" y="127256"/>
                  </a:lnTo>
                  <a:lnTo>
                    <a:pt x="316371" y="127256"/>
                  </a:lnTo>
                  <a:lnTo>
                    <a:pt x="309302" y="125488"/>
                  </a:lnTo>
                  <a:lnTo>
                    <a:pt x="309302" y="120186"/>
                  </a:lnTo>
                  <a:lnTo>
                    <a:pt x="309302" y="116651"/>
                  </a:lnTo>
                  <a:lnTo>
                    <a:pt x="309302" y="111349"/>
                  </a:lnTo>
                  <a:close/>
                  <a:moveTo>
                    <a:pt x="258045" y="93675"/>
                  </a:moveTo>
                  <a:lnTo>
                    <a:pt x="261580" y="93675"/>
                  </a:lnTo>
                  <a:lnTo>
                    <a:pt x="272184" y="93675"/>
                  </a:lnTo>
                  <a:lnTo>
                    <a:pt x="281021" y="93675"/>
                  </a:lnTo>
                  <a:lnTo>
                    <a:pt x="282788" y="100745"/>
                  </a:lnTo>
                  <a:lnTo>
                    <a:pt x="302230" y="100745"/>
                  </a:lnTo>
                  <a:lnTo>
                    <a:pt x="293393" y="106047"/>
                  </a:lnTo>
                  <a:lnTo>
                    <a:pt x="291625" y="107815"/>
                  </a:lnTo>
                  <a:lnTo>
                    <a:pt x="291625" y="104280"/>
                  </a:lnTo>
                  <a:lnTo>
                    <a:pt x="286323" y="104280"/>
                  </a:lnTo>
                  <a:lnTo>
                    <a:pt x="282788" y="104280"/>
                  </a:lnTo>
                  <a:lnTo>
                    <a:pt x="277486" y="104280"/>
                  </a:lnTo>
                  <a:lnTo>
                    <a:pt x="273951" y="104280"/>
                  </a:lnTo>
                  <a:lnTo>
                    <a:pt x="270417" y="104280"/>
                  </a:lnTo>
                  <a:lnTo>
                    <a:pt x="265114" y="104280"/>
                  </a:lnTo>
                  <a:lnTo>
                    <a:pt x="258045" y="102512"/>
                  </a:lnTo>
                  <a:lnTo>
                    <a:pt x="258045" y="100745"/>
                  </a:lnTo>
                  <a:lnTo>
                    <a:pt x="258045" y="97210"/>
                  </a:lnTo>
                  <a:close/>
                  <a:moveTo>
                    <a:pt x="187348" y="51256"/>
                  </a:moveTo>
                  <a:lnTo>
                    <a:pt x="194417" y="51256"/>
                  </a:lnTo>
                  <a:lnTo>
                    <a:pt x="197952" y="51256"/>
                  </a:lnTo>
                  <a:lnTo>
                    <a:pt x="201487" y="53023"/>
                  </a:lnTo>
                  <a:lnTo>
                    <a:pt x="203254" y="56558"/>
                  </a:lnTo>
                  <a:lnTo>
                    <a:pt x="208557" y="65395"/>
                  </a:lnTo>
                  <a:lnTo>
                    <a:pt x="213859" y="65395"/>
                  </a:lnTo>
                  <a:lnTo>
                    <a:pt x="217394" y="74233"/>
                  </a:lnTo>
                  <a:lnTo>
                    <a:pt x="217394" y="81303"/>
                  </a:lnTo>
                  <a:lnTo>
                    <a:pt x="217394" y="86605"/>
                  </a:lnTo>
                  <a:lnTo>
                    <a:pt x="212092" y="86605"/>
                  </a:lnTo>
                  <a:lnTo>
                    <a:pt x="206789" y="81303"/>
                  </a:lnTo>
                  <a:lnTo>
                    <a:pt x="203254" y="77768"/>
                  </a:lnTo>
                  <a:lnTo>
                    <a:pt x="194417" y="81303"/>
                  </a:lnTo>
                  <a:lnTo>
                    <a:pt x="187348" y="83070"/>
                  </a:lnTo>
                  <a:lnTo>
                    <a:pt x="182046" y="79535"/>
                  </a:lnTo>
                  <a:lnTo>
                    <a:pt x="178511" y="74233"/>
                  </a:lnTo>
                  <a:lnTo>
                    <a:pt x="169674" y="68930"/>
                  </a:lnTo>
                  <a:lnTo>
                    <a:pt x="169674" y="63628"/>
                  </a:lnTo>
                  <a:lnTo>
                    <a:pt x="169674" y="56558"/>
                  </a:lnTo>
                  <a:lnTo>
                    <a:pt x="174976" y="56558"/>
                  </a:lnTo>
                  <a:lnTo>
                    <a:pt x="180278" y="56558"/>
                  </a:lnTo>
                  <a:lnTo>
                    <a:pt x="180278" y="53023"/>
                  </a:lnTo>
                  <a:close/>
                  <a:moveTo>
                    <a:pt x="12372" y="15908"/>
                  </a:moveTo>
                  <a:lnTo>
                    <a:pt x="12372" y="21210"/>
                  </a:lnTo>
                  <a:lnTo>
                    <a:pt x="12372" y="24745"/>
                  </a:lnTo>
                  <a:lnTo>
                    <a:pt x="8837" y="28280"/>
                  </a:lnTo>
                  <a:lnTo>
                    <a:pt x="7069" y="31815"/>
                  </a:lnTo>
                  <a:lnTo>
                    <a:pt x="7069" y="38885"/>
                  </a:lnTo>
                  <a:lnTo>
                    <a:pt x="0" y="35350"/>
                  </a:lnTo>
                  <a:lnTo>
                    <a:pt x="0" y="31815"/>
                  </a:lnTo>
                  <a:lnTo>
                    <a:pt x="0" y="28280"/>
                  </a:lnTo>
                  <a:lnTo>
                    <a:pt x="7069" y="21210"/>
                  </a:lnTo>
                  <a:close/>
                  <a:moveTo>
                    <a:pt x="58325" y="0"/>
                  </a:moveTo>
                  <a:lnTo>
                    <a:pt x="63627" y="0"/>
                  </a:lnTo>
                  <a:lnTo>
                    <a:pt x="77767" y="0"/>
                  </a:lnTo>
                  <a:lnTo>
                    <a:pt x="83069" y="0"/>
                  </a:lnTo>
                  <a:lnTo>
                    <a:pt x="88372" y="8837"/>
                  </a:lnTo>
                  <a:lnTo>
                    <a:pt x="88372" y="10604"/>
                  </a:lnTo>
                  <a:lnTo>
                    <a:pt x="88372" y="15907"/>
                  </a:lnTo>
                  <a:lnTo>
                    <a:pt x="86604" y="21209"/>
                  </a:lnTo>
                  <a:lnTo>
                    <a:pt x="86604" y="22977"/>
                  </a:lnTo>
                  <a:lnTo>
                    <a:pt x="81302" y="28279"/>
                  </a:lnTo>
                  <a:lnTo>
                    <a:pt x="77767" y="28279"/>
                  </a:lnTo>
                  <a:lnTo>
                    <a:pt x="72465" y="28279"/>
                  </a:lnTo>
                  <a:lnTo>
                    <a:pt x="68930" y="28279"/>
                  </a:lnTo>
                  <a:lnTo>
                    <a:pt x="60092" y="22977"/>
                  </a:lnTo>
                  <a:lnTo>
                    <a:pt x="58325" y="22977"/>
                  </a:lnTo>
                  <a:lnTo>
                    <a:pt x="49488" y="15907"/>
                  </a:lnTo>
                  <a:lnTo>
                    <a:pt x="49488" y="7070"/>
                  </a:lnTo>
                  <a:lnTo>
                    <a:pt x="49488" y="3535"/>
                  </a:lnTo>
                  <a:close/>
                </a:path>
              </a:pathLst>
            </a:custGeom>
            <a:grpFill/>
            <a:ln w="6350" cap="flat">
              <a:solidFill>
                <a:schemeClr val="bg1"/>
              </a:solidFill>
              <a:prstDash val="solid"/>
              <a:miter lim="800000"/>
              <a:headEnd/>
              <a:tailEnd/>
            </a:ln>
          </p:spPr>
          <p:txBody>
            <a:bodyPr/>
            <a:lstStyle/>
            <a:p>
              <a:pPr defTabSz="1828272">
                <a:defRPr/>
              </a:pPr>
              <a:endParaRPr lang="en-US"/>
            </a:p>
          </p:txBody>
        </p:sp>
      </p:grpSp>
      <p:sp>
        <p:nvSpPr>
          <p:cNvPr id="64" name="Rectangle 63"/>
          <p:cNvSpPr/>
          <p:nvPr userDrawn="1"/>
        </p:nvSpPr>
        <p:spPr>
          <a:xfrm>
            <a:off x="0" y="0"/>
            <a:ext cx="12192000" cy="18288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Picture 6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Extra Vertical Graph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630685"/>
            <a:ext cx="3657600" cy="443198"/>
          </a:xfrm>
        </p:spPr>
        <p:txBody>
          <a:bodyPr wrap="square" lIns="0" tIns="0" rIns="0" bIns="0" anchor="b" anchorCtr="0">
            <a:spAutoFit/>
          </a:bodyPr>
          <a:lstStyle>
            <a:lvl1pPr>
              <a:defRPr sz="3200" baseline="0">
                <a:solidFill>
                  <a:srgbClr val="AF0041"/>
                </a:solidFill>
              </a:defRPr>
            </a:lvl1pPr>
          </a:lstStyle>
          <a:p>
            <a:r>
              <a:rPr lang="en-US" dirty="0"/>
              <a:t>Title</a:t>
            </a:r>
          </a:p>
        </p:txBody>
      </p:sp>
      <p:sp>
        <p:nvSpPr>
          <p:cNvPr id="3" name="Text Placeholder 2"/>
          <p:cNvSpPr>
            <a:spLocks noGrp="1"/>
          </p:cNvSpPr>
          <p:nvPr>
            <p:ph type="body" idx="1" hasCustomPrompt="1"/>
          </p:nvPr>
        </p:nvSpPr>
        <p:spPr>
          <a:xfrm>
            <a:off x="831850" y="3483398"/>
            <a:ext cx="3657600" cy="332399"/>
          </a:xfrm>
        </p:spPr>
        <p:txBody>
          <a:bodyPr wrap="square" lIns="0" tIns="0" rIns="0" bIns="0" anchor="t" anchorCtr="0">
            <a:spAutoFit/>
          </a:bodyPr>
          <a:lstStyle>
            <a:lvl1pPr marL="0" indent="0">
              <a:buNone/>
              <a:defRPr sz="2400" b="0" i="0" baseline="0">
                <a:solidFill>
                  <a:srgbClr val="231932"/>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sp>
        <p:nvSpPr>
          <p:cNvPr id="6"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13151233-B9C5-432B-8675-B3FD40788450}" type="datetime1">
              <a:rPr lang="en-US" smtClean="0"/>
              <a:t>8/23/2019</a:t>
            </a:fld>
            <a:endParaRPr lang="en-US"/>
          </a:p>
        </p:txBody>
      </p:sp>
      <p:sp>
        <p:nvSpPr>
          <p:cNvPr id="13"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4"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graphicFrame>
        <p:nvGraphicFramePr>
          <p:cNvPr id="18" name="Chart 17"/>
          <p:cNvGraphicFramePr/>
          <p:nvPr userDrawn="1">
            <p:extLst>
              <p:ext uri="{D42A27DB-BD31-4B8C-83A1-F6EECF244321}">
                <p14:modId xmlns:p14="http://schemas.microsoft.com/office/powerpoint/2010/main" val="151654360"/>
              </p:ext>
            </p:extLst>
          </p:nvPr>
        </p:nvGraphicFramePr>
        <p:xfrm>
          <a:off x="5768788" y="1487592"/>
          <a:ext cx="5683624" cy="4474669"/>
        </p:xfrm>
        <a:graphic>
          <a:graphicData uri="http://schemas.openxmlformats.org/drawingml/2006/chart">
            <c:chart xmlns:c="http://schemas.openxmlformats.org/drawingml/2006/chart" xmlns:r="http://schemas.openxmlformats.org/officeDocument/2006/relationships" r:id="rId2"/>
          </a:graphicData>
        </a:graphic>
      </p:graphicFrame>
      <p:sp>
        <p:nvSpPr>
          <p:cNvPr id="10" name="Rectangle 9"/>
          <p:cNvSpPr/>
          <p:nvPr userDrawn="1"/>
        </p:nvSpPr>
        <p:spPr>
          <a:xfrm>
            <a:off x="0" y="0"/>
            <a:ext cx="12192000" cy="18288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Extra Horizontal Graph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630685"/>
            <a:ext cx="3657600" cy="443198"/>
          </a:xfrm>
        </p:spPr>
        <p:txBody>
          <a:bodyPr wrap="square" lIns="0" tIns="0" rIns="0" bIns="0" anchor="b" anchorCtr="0">
            <a:spAutoFit/>
          </a:bodyPr>
          <a:lstStyle>
            <a:lvl1pPr>
              <a:defRPr sz="3200" baseline="0">
                <a:solidFill>
                  <a:srgbClr val="AF0041"/>
                </a:solidFill>
              </a:defRPr>
            </a:lvl1pPr>
          </a:lstStyle>
          <a:p>
            <a:r>
              <a:rPr lang="en-US" dirty="0"/>
              <a:t>Title</a:t>
            </a:r>
          </a:p>
        </p:txBody>
      </p:sp>
      <p:sp>
        <p:nvSpPr>
          <p:cNvPr id="3" name="Text Placeholder 2"/>
          <p:cNvSpPr>
            <a:spLocks noGrp="1"/>
          </p:cNvSpPr>
          <p:nvPr>
            <p:ph type="body" idx="1" hasCustomPrompt="1"/>
          </p:nvPr>
        </p:nvSpPr>
        <p:spPr>
          <a:xfrm>
            <a:off x="831850" y="3483398"/>
            <a:ext cx="3657600" cy="332399"/>
          </a:xfrm>
        </p:spPr>
        <p:txBody>
          <a:bodyPr wrap="square" lIns="0" tIns="0" rIns="0" bIns="0" anchor="t" anchorCtr="0">
            <a:spAutoFit/>
          </a:bodyPr>
          <a:lstStyle>
            <a:lvl1pPr marL="0" indent="0">
              <a:buNone/>
              <a:defRPr sz="2400" b="0" i="0" baseline="0">
                <a:solidFill>
                  <a:srgbClr val="231932"/>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graphicFrame>
        <p:nvGraphicFramePr>
          <p:cNvPr id="14" name="Chart 13"/>
          <p:cNvGraphicFramePr/>
          <p:nvPr userDrawn="1">
            <p:extLst>
              <p:ext uri="{D42A27DB-BD31-4B8C-83A1-F6EECF244321}">
                <p14:modId xmlns:p14="http://schemas.microsoft.com/office/powerpoint/2010/main" val="616095129"/>
              </p:ext>
            </p:extLst>
          </p:nvPr>
        </p:nvGraphicFramePr>
        <p:xfrm>
          <a:off x="5829300" y="1499616"/>
          <a:ext cx="5524500" cy="4413197"/>
        </p:xfrm>
        <a:graphic>
          <a:graphicData uri="http://schemas.openxmlformats.org/drawingml/2006/chart">
            <c:chart xmlns:c="http://schemas.openxmlformats.org/drawingml/2006/chart" xmlns:r="http://schemas.openxmlformats.org/officeDocument/2006/relationships" r:id="rId2"/>
          </a:graphicData>
        </a:graphic>
      </p:graphicFrame>
      <p:sp>
        <p:nvSpPr>
          <p:cNvPr id="10"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78D6D116-B3FA-4FF5-A2BA-9F5DAD896F58}" type="datetime1">
              <a:rPr lang="en-US" smtClean="0"/>
              <a:t>8/23/2019</a:t>
            </a:fld>
            <a:endParaRPr lang="en-US"/>
          </a:p>
        </p:txBody>
      </p:sp>
      <p:sp>
        <p:nvSpPr>
          <p:cNvPr id="15"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graphicFrame>
        <p:nvGraphicFramePr>
          <p:cNvPr id="18" name="Chart 17"/>
          <p:cNvGraphicFramePr/>
          <p:nvPr userDrawn="1">
            <p:extLst>
              <p:ext uri="{D42A27DB-BD31-4B8C-83A1-F6EECF244321}">
                <p14:modId xmlns:p14="http://schemas.microsoft.com/office/powerpoint/2010/main" val="1592922795"/>
              </p:ext>
            </p:extLst>
          </p:nvPr>
        </p:nvGraphicFramePr>
        <p:xfrm>
          <a:off x="5829300" y="1494265"/>
          <a:ext cx="5524500" cy="4413197"/>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userDrawn="1"/>
        </p:nvSpPr>
        <p:spPr>
          <a:xfrm>
            <a:off x="0" y="0"/>
            <a:ext cx="12192000" cy="18288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parator White">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117850" y="3262800"/>
            <a:ext cx="5956300" cy="332399"/>
          </a:xfrm>
        </p:spPr>
        <p:txBody>
          <a:bodyPr anchor="ctr">
            <a:spAutoFit/>
          </a:bodyPr>
          <a:lstStyle>
            <a:lvl1pPr marL="0" indent="0" algn="ctr">
              <a:buNone/>
              <a:defRPr sz="2400" b="1" i="0" spc="600" baseline="0">
                <a:solidFill>
                  <a:srgbClr val="AF0041"/>
                </a:solidFill>
                <a:latin typeface="Calibri Bold" charset="0"/>
                <a:ea typeface="Calibri Bold" charset="0"/>
                <a:cs typeface="Calibri Bold"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SECTION SEPARATOR TITLE</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parator Red">
    <p:bg>
      <p:bgPr>
        <a:gradFill flip="none" rotWithShape="1">
          <a:gsLst>
            <a:gs pos="10000">
              <a:srgbClr val="AF0041"/>
            </a:gs>
            <a:gs pos="100000">
              <a:srgbClr val="FA505F"/>
            </a:gs>
          </a:gsLst>
          <a:lin ang="13500000" scaled="1"/>
          <a:tileRect/>
        </a:gra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117850" y="3262800"/>
            <a:ext cx="5956300" cy="332399"/>
          </a:xfrm>
        </p:spPr>
        <p:txBody>
          <a:bodyPr anchor="ctr">
            <a:spAutoFit/>
          </a:bodyPr>
          <a:lstStyle>
            <a:lvl1pPr marL="0" indent="0" algn="ctr">
              <a:buNone/>
              <a:defRPr sz="2400" b="1" i="0" spc="600">
                <a:solidFill>
                  <a:schemeClr val="bg1"/>
                </a:solidFill>
                <a:latin typeface="Calibri Bold" charset="0"/>
                <a:ea typeface="Calibri Bold" charset="0"/>
                <a:cs typeface="Calibri Bold"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SECTION SEPARATOR TITLE</a:t>
            </a:r>
          </a:p>
        </p:txBody>
      </p:sp>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parator Blue">
    <p:bg>
      <p:bgPr>
        <a:gradFill flip="none" rotWithShape="1">
          <a:gsLst>
            <a:gs pos="10000">
              <a:srgbClr val="231932"/>
            </a:gs>
            <a:gs pos="100000">
              <a:srgbClr val="4B3273"/>
            </a:gs>
          </a:gsLst>
          <a:lin ang="13500000" scaled="1"/>
          <a:tileRect/>
        </a:gra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117850" y="3262800"/>
            <a:ext cx="5956300" cy="332399"/>
          </a:xfrm>
        </p:spPr>
        <p:txBody>
          <a:bodyPr anchor="ctr">
            <a:spAutoFit/>
          </a:bodyPr>
          <a:lstStyle>
            <a:lvl1pPr marL="0" indent="0" algn="ctr">
              <a:buNone/>
              <a:defRPr sz="2400" b="1" i="0" spc="600">
                <a:solidFill>
                  <a:schemeClr val="bg1"/>
                </a:solidFill>
                <a:latin typeface="Calibri Bold" charset="0"/>
                <a:ea typeface="Calibri Bold" charset="0"/>
                <a:cs typeface="Calibri Bold"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SECTION SEPARATOR TITLE</a:t>
            </a:r>
          </a:p>
        </p:txBody>
      </p:sp>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parator Photo Re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a:xfrm>
            <a:off x="0" y="0"/>
            <a:ext cx="4069080" cy="6858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15925" y="3869467"/>
            <a:ext cx="3241675" cy="443198"/>
          </a:xfrm>
        </p:spPr>
        <p:txBody>
          <a:bodyPr wrap="square" lIns="0" tIns="0" rIns="0" bIns="0" anchor="b">
            <a:spAutoFit/>
          </a:bodyPr>
          <a:lstStyle>
            <a:lvl1pPr>
              <a:defRPr sz="3200" baseline="0">
                <a:solidFill>
                  <a:schemeClr val="bg1"/>
                </a:solidFill>
              </a:defRPr>
            </a:lvl1pPr>
          </a:lstStyle>
          <a:p>
            <a:r>
              <a:rPr lang="en-US" dirty="0"/>
              <a:t>Title</a:t>
            </a:r>
          </a:p>
        </p:txBody>
      </p:sp>
      <p:sp>
        <p:nvSpPr>
          <p:cNvPr id="3" name="Text Placeholder 2"/>
          <p:cNvSpPr>
            <a:spLocks noGrp="1"/>
          </p:cNvSpPr>
          <p:nvPr>
            <p:ph type="body" idx="1" hasCustomPrompt="1"/>
          </p:nvPr>
        </p:nvSpPr>
        <p:spPr>
          <a:xfrm>
            <a:off x="415925" y="4502658"/>
            <a:ext cx="3241675" cy="276999"/>
          </a:xfrm>
        </p:spPr>
        <p:txBody>
          <a:bodyPr wrap="square" lIns="0" tIns="0" rIns="0" bIns="0">
            <a:spAutoFit/>
          </a:bodyPr>
          <a:lstStyle>
            <a:lvl1pPr marL="0" indent="0">
              <a:buNone/>
              <a:defRPr sz="2000" b="0" i="0">
                <a:solidFill>
                  <a:schemeClr val="bg1"/>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32071" r="3333" b="29546"/>
          <a:stretch/>
        </p:blipFill>
        <p:spPr>
          <a:xfrm>
            <a:off x="423788" y="940990"/>
            <a:ext cx="1837943" cy="437880"/>
          </a:xfrm>
          <a:prstGeom prst="rect">
            <a:avLst/>
          </a:prstGeom>
        </p:spPr>
      </p:pic>
    </p:spTree>
    <p:extLst>
      <p:ext uri="{BB962C8B-B14F-4D97-AF65-F5344CB8AC3E}">
        <p14:creationId xmlns:p14="http://schemas.microsoft.com/office/powerpoint/2010/main" val="2629940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parator Photo Blu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Rectangle 5"/>
          <p:cNvSpPr/>
          <p:nvPr userDrawn="1"/>
        </p:nvSpPr>
        <p:spPr>
          <a:xfrm>
            <a:off x="0" y="0"/>
            <a:ext cx="4069080" cy="6858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a:spLocks noGrp="1"/>
          </p:cNvSpPr>
          <p:nvPr>
            <p:ph type="title" hasCustomPrompt="1"/>
          </p:nvPr>
        </p:nvSpPr>
        <p:spPr>
          <a:xfrm>
            <a:off x="415925" y="3869467"/>
            <a:ext cx="3241675" cy="443198"/>
          </a:xfrm>
        </p:spPr>
        <p:txBody>
          <a:bodyPr wrap="square" lIns="0" tIns="0" rIns="0" bIns="0" anchor="b">
            <a:spAutoFit/>
          </a:bodyPr>
          <a:lstStyle>
            <a:lvl1pPr>
              <a:defRPr sz="3200" baseline="0">
                <a:solidFill>
                  <a:schemeClr val="bg1"/>
                </a:solidFill>
              </a:defRPr>
            </a:lvl1pPr>
          </a:lstStyle>
          <a:p>
            <a:r>
              <a:rPr lang="en-US" dirty="0"/>
              <a:t>Title</a:t>
            </a:r>
          </a:p>
        </p:txBody>
      </p:sp>
      <p:sp>
        <p:nvSpPr>
          <p:cNvPr id="10" name="Text Placeholder 2"/>
          <p:cNvSpPr>
            <a:spLocks noGrp="1"/>
          </p:cNvSpPr>
          <p:nvPr>
            <p:ph type="body" idx="1" hasCustomPrompt="1"/>
          </p:nvPr>
        </p:nvSpPr>
        <p:spPr>
          <a:xfrm>
            <a:off x="415925" y="4502658"/>
            <a:ext cx="3241675" cy="276999"/>
          </a:xfrm>
        </p:spPr>
        <p:txBody>
          <a:bodyPr wrap="square" lIns="0" tIns="0" rIns="0" bIns="0">
            <a:spAutoFit/>
          </a:bodyPr>
          <a:lstStyle>
            <a:lvl1pPr marL="0" indent="0">
              <a:buNone/>
              <a:defRPr sz="2000" b="0" i="0">
                <a:solidFill>
                  <a:schemeClr val="bg1"/>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t="32071" r="3333" b="29546"/>
          <a:stretch/>
        </p:blipFill>
        <p:spPr>
          <a:xfrm>
            <a:off x="423788" y="940990"/>
            <a:ext cx="1837943" cy="437880"/>
          </a:xfrm>
          <a:prstGeom prst="rect">
            <a:avLst/>
          </a:prstGeom>
        </p:spPr>
      </p:pic>
    </p:spTree>
    <p:extLst>
      <p:ext uri="{BB962C8B-B14F-4D97-AF65-F5344CB8AC3E}">
        <p14:creationId xmlns:p14="http://schemas.microsoft.com/office/powerpoint/2010/main" val="4124939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2102167"/>
            <a:ext cx="10515600" cy="3695129"/>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462810"/>
            <a:ext cx="2743200" cy="365125"/>
          </a:xfrm>
          <a:prstGeom prst="rect">
            <a:avLst/>
          </a:prstGeom>
        </p:spPr>
        <p:txBody>
          <a:bodyPr vert="horz" lIns="0" tIns="0" rIns="0" bIns="0" rtlCol="0" anchor="ctr"/>
          <a:lstStyle>
            <a:lvl1pPr algn="l">
              <a:defRPr sz="1000" b="0" i="0">
                <a:solidFill>
                  <a:schemeClr val="tx1">
                    <a:tint val="75000"/>
                  </a:schemeClr>
                </a:solidFill>
                <a:latin typeface="Calibri Regular" charset="0"/>
                <a:ea typeface="Calibri Regular" charset="0"/>
                <a:cs typeface="Calibri Regular" charset="0"/>
              </a:defRPr>
            </a:lvl1pPr>
          </a:lstStyle>
          <a:p>
            <a:fld id="{E66684BD-21E9-4F76-B507-5491CF5F1407}" type="datetime1">
              <a:rPr lang="en-US" smtClean="0"/>
              <a:t>8/23/2019</a:t>
            </a:fld>
            <a:endParaRPr lang="en-US" dirty="0"/>
          </a:p>
        </p:txBody>
      </p:sp>
      <p:sp>
        <p:nvSpPr>
          <p:cNvPr id="5" name="Footer Placeholder 4"/>
          <p:cNvSpPr>
            <a:spLocks noGrp="1"/>
          </p:cNvSpPr>
          <p:nvPr>
            <p:ph type="ftr" sz="quarter" idx="3"/>
          </p:nvPr>
        </p:nvSpPr>
        <p:spPr>
          <a:xfrm>
            <a:off x="4038600" y="6462810"/>
            <a:ext cx="4114800" cy="365125"/>
          </a:xfrm>
          <a:prstGeom prst="rect">
            <a:avLst/>
          </a:prstGeom>
        </p:spPr>
        <p:txBody>
          <a:bodyPr vert="horz" lIns="0" tIns="0" rIns="0" bIns="0" rtlCol="0" anchor="ctr"/>
          <a:lstStyle>
            <a:lvl1pPr algn="ctr">
              <a:defRPr sz="1000" b="0" i="0">
                <a:solidFill>
                  <a:schemeClr val="tx1">
                    <a:tint val="75000"/>
                  </a:schemeClr>
                </a:solidFill>
                <a:latin typeface="Calibri Regular" charset="0"/>
                <a:ea typeface="Calibri Regular" charset="0"/>
                <a:cs typeface="Calibri Regular" charset="0"/>
              </a:defRPr>
            </a:lvl1pPr>
          </a:lstStyle>
          <a:p>
            <a:r>
              <a:rPr lang="en-US"/>
              <a:t>©Appriss Retail.  Proprietary and Confidential</a:t>
            </a:r>
            <a:endParaRPr lang="en-US" dirty="0"/>
          </a:p>
        </p:txBody>
      </p:sp>
      <p:sp>
        <p:nvSpPr>
          <p:cNvPr id="6" name="Slide Number Placeholder 5"/>
          <p:cNvSpPr>
            <a:spLocks noGrp="1"/>
          </p:cNvSpPr>
          <p:nvPr>
            <p:ph type="sldNum" sz="quarter" idx="4"/>
          </p:nvPr>
        </p:nvSpPr>
        <p:spPr>
          <a:xfrm>
            <a:off x="8610600" y="6462810"/>
            <a:ext cx="2743200" cy="365125"/>
          </a:xfrm>
          <a:prstGeom prst="rect">
            <a:avLst/>
          </a:prstGeom>
        </p:spPr>
        <p:txBody>
          <a:bodyPr vert="horz" lIns="0" tIns="0" rIns="0" bIns="0" rtlCol="0" anchor="ctr"/>
          <a:lstStyle>
            <a:lvl1pPr algn="r">
              <a:defRPr sz="1000" b="0" i="0">
                <a:solidFill>
                  <a:schemeClr val="tx1">
                    <a:tint val="75000"/>
                  </a:schemeClr>
                </a:solidFill>
                <a:latin typeface="Calibri Regular" charset="0"/>
                <a:ea typeface="Calibri Regular" charset="0"/>
                <a:cs typeface="Calibri Regular" charset="0"/>
              </a:defRPr>
            </a:lvl1pPr>
          </a:lstStyle>
          <a:p>
            <a:fld id="{0BF9CEBF-66DF-3848-8984-13BBF9FFC1B1}" type="slidenum">
              <a:rPr lang="en-US" smtClean="0"/>
              <a:pPr/>
              <a:t>‹#›</a:t>
            </a:fld>
            <a:endParaRPr lang="en-US" dirty="0"/>
          </a:p>
        </p:txBody>
      </p:sp>
    </p:spTree>
    <p:extLst>
      <p:ext uri="{BB962C8B-B14F-4D97-AF65-F5344CB8AC3E}">
        <p14:creationId xmlns:p14="http://schemas.microsoft.com/office/powerpoint/2010/main" val="212843581"/>
      </p:ext>
    </p:extLst>
  </p:cSld>
  <p:clrMap bg1="lt1" tx1="dk1" bg2="lt2" tx2="dk2" accent1="accent1" accent2="accent2" accent3="accent3" accent4="accent4" accent5="accent5" accent6="accent6" hlink="hlink" folHlink="folHlink"/>
  <p:sldLayoutIdLst>
    <p:sldLayoutId id="2147483745" r:id="rId1"/>
    <p:sldLayoutId id="2147483780" r:id="rId2"/>
    <p:sldLayoutId id="2147483786" r:id="rId3"/>
    <p:sldLayoutId id="2147483663" r:id="rId4"/>
    <p:sldLayoutId id="2147483670" r:id="rId5"/>
    <p:sldLayoutId id="2147483708" r:id="rId6"/>
    <p:sldLayoutId id="2147483715" r:id="rId7"/>
    <p:sldLayoutId id="2147483698" r:id="rId8"/>
    <p:sldLayoutId id="2147483703" r:id="rId9"/>
    <p:sldLayoutId id="2147483709" r:id="rId10"/>
    <p:sldLayoutId id="2147483716" r:id="rId11"/>
    <p:sldLayoutId id="2147483668" r:id="rId12"/>
    <p:sldLayoutId id="2147483713" r:id="rId13"/>
    <p:sldLayoutId id="2147483669" r:id="rId14"/>
    <p:sldLayoutId id="2147483714" r:id="rId15"/>
    <p:sldLayoutId id="2147483677" r:id="rId16"/>
    <p:sldLayoutId id="2147483707" r:id="rId17"/>
    <p:sldLayoutId id="2147483733" r:id="rId18"/>
    <p:sldLayoutId id="2147483736" r:id="rId19"/>
    <p:sldLayoutId id="2147483735" r:id="rId20"/>
    <p:sldLayoutId id="2147483723" r:id="rId21"/>
    <p:sldLayoutId id="2147483783" r:id="rId22"/>
    <p:sldLayoutId id="2147483789" r:id="rId23"/>
    <p:sldLayoutId id="2147483790" r:id="rId24"/>
    <p:sldLayoutId id="2147483791" r:id="rId25"/>
  </p:sldLayoutIdLst>
  <p:hf hdr="0" dt="0"/>
  <p:txStyles>
    <p:titleStyle>
      <a:lvl1pPr algn="l" defTabSz="914400" rtl="0" eaLnBrk="1" latinLnBrk="0" hangingPunct="1">
        <a:lnSpc>
          <a:spcPct val="90000"/>
        </a:lnSpc>
        <a:spcBef>
          <a:spcPct val="0"/>
        </a:spcBef>
        <a:buNone/>
        <a:defRPr sz="3000" b="1" i="0" kern="1200">
          <a:solidFill>
            <a:srgbClr val="10336B"/>
          </a:solidFill>
          <a:latin typeface="Calibri Bold" charset="0"/>
          <a:ea typeface="Calibri Bold" charset="0"/>
          <a:cs typeface="Calibri Bold" charset="0"/>
        </a:defRPr>
      </a:lvl1pPr>
    </p:titleStyle>
    <p:bodyStyle>
      <a:lvl1pPr marL="228600" indent="-228600" algn="l" defTabSz="914400" rtl="0" eaLnBrk="1" latinLnBrk="0" hangingPunct="1">
        <a:lnSpc>
          <a:spcPct val="90000"/>
        </a:lnSpc>
        <a:spcBef>
          <a:spcPts val="1000"/>
        </a:spcBef>
        <a:buFont typeface="Arial"/>
        <a:buChar char="•"/>
        <a:defRPr sz="2400" b="0" i="0" kern="1200">
          <a:solidFill>
            <a:srgbClr val="10336B"/>
          </a:solidFill>
          <a:latin typeface="Calibri Regular" charset="0"/>
          <a:ea typeface="Calibri Regular" charset="0"/>
          <a:cs typeface="Calibri Regular" charset="0"/>
        </a:defRPr>
      </a:lvl1pPr>
      <a:lvl2pPr marL="685800" indent="-228600" algn="l" defTabSz="914400" rtl="0" eaLnBrk="1" latinLnBrk="0" hangingPunct="1">
        <a:lnSpc>
          <a:spcPct val="90000"/>
        </a:lnSpc>
        <a:spcBef>
          <a:spcPts val="500"/>
        </a:spcBef>
        <a:buFont typeface="Arial"/>
        <a:buChar char="•"/>
        <a:defRPr sz="2200" b="0" i="0" kern="1200">
          <a:solidFill>
            <a:srgbClr val="10336B"/>
          </a:solidFill>
          <a:latin typeface="Calibri Regular" charset="0"/>
          <a:ea typeface="Calibri Regular" charset="0"/>
          <a:cs typeface="Calibri Regular" charset="0"/>
        </a:defRPr>
      </a:lvl2pPr>
      <a:lvl3pPr marL="1143000" indent="-228600" algn="l" defTabSz="914400" rtl="0" eaLnBrk="1" latinLnBrk="0" hangingPunct="1">
        <a:lnSpc>
          <a:spcPct val="90000"/>
        </a:lnSpc>
        <a:spcBef>
          <a:spcPts val="500"/>
        </a:spcBef>
        <a:buFont typeface="Arial"/>
        <a:buChar char="•"/>
        <a:defRPr sz="2000" b="0" i="0" kern="1200">
          <a:solidFill>
            <a:srgbClr val="10336B"/>
          </a:solidFill>
          <a:latin typeface="Calibri Regular" charset="0"/>
          <a:ea typeface="Calibri Regular" charset="0"/>
          <a:cs typeface="Calibri Regular" charset="0"/>
        </a:defRPr>
      </a:lvl3pPr>
      <a:lvl4pPr marL="1600200" indent="-228600" algn="l" defTabSz="914400" rtl="0" eaLnBrk="1" latinLnBrk="0" hangingPunct="1">
        <a:lnSpc>
          <a:spcPct val="90000"/>
        </a:lnSpc>
        <a:spcBef>
          <a:spcPts val="500"/>
        </a:spcBef>
        <a:buFont typeface="Arial"/>
        <a:buChar char="•"/>
        <a:defRPr sz="1800" b="0" i="0" kern="1200">
          <a:solidFill>
            <a:srgbClr val="10336B"/>
          </a:solidFill>
          <a:latin typeface="Calibri Regular" charset="0"/>
          <a:ea typeface="Calibri Regular" charset="0"/>
          <a:cs typeface="Calibri Regular" charset="0"/>
        </a:defRPr>
      </a:lvl4pPr>
      <a:lvl5pPr marL="2057400" indent="-228600" algn="l" defTabSz="914400" rtl="0" eaLnBrk="1" latinLnBrk="0" hangingPunct="1">
        <a:lnSpc>
          <a:spcPct val="90000"/>
        </a:lnSpc>
        <a:spcBef>
          <a:spcPts val="500"/>
        </a:spcBef>
        <a:buFont typeface="Arial"/>
        <a:buChar char="•"/>
        <a:defRPr sz="1800" b="0" i="0" kern="1200">
          <a:solidFill>
            <a:srgbClr val="10336B"/>
          </a:solidFill>
          <a:latin typeface="Calibri Regular" charset="0"/>
          <a:ea typeface="Calibri Regular" charset="0"/>
          <a:cs typeface="Calibri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image" Target="../media/image18.svg"/></Relationships>
</file>

<file path=ppt/slides/_rels/slide29.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16.svg"/><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2167" y="3603411"/>
            <a:ext cx="10515600" cy="443198"/>
          </a:xfrm>
        </p:spPr>
        <p:txBody>
          <a:bodyPr/>
          <a:lstStyle/>
          <a:p>
            <a:r>
              <a:rPr lang="en-US" dirty="0"/>
              <a:t>A.S Watson </a:t>
            </a:r>
          </a:p>
        </p:txBody>
      </p:sp>
      <p:sp>
        <p:nvSpPr>
          <p:cNvPr id="3" name="Content Placeholder 2"/>
          <p:cNvSpPr>
            <a:spLocks noGrp="1"/>
          </p:cNvSpPr>
          <p:nvPr>
            <p:ph type="body" idx="1"/>
          </p:nvPr>
        </p:nvSpPr>
        <p:spPr>
          <a:xfrm>
            <a:off x="662167" y="4212378"/>
            <a:ext cx="10685283" cy="332399"/>
          </a:xfrm>
        </p:spPr>
        <p:txBody>
          <a:bodyPr/>
          <a:lstStyle/>
          <a:p>
            <a:r>
              <a:rPr lang="en-US" dirty="0"/>
              <a:t>Secure 5 Kick Off Project</a:t>
            </a:r>
          </a:p>
        </p:txBody>
      </p:sp>
    </p:spTree>
    <p:extLst>
      <p:ext uri="{BB962C8B-B14F-4D97-AF65-F5344CB8AC3E}">
        <p14:creationId xmlns:p14="http://schemas.microsoft.com/office/powerpoint/2010/main" val="2091540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642213-887C-4080-BABA-93059768A35B}"/>
              </a:ext>
            </a:extLst>
          </p:cNvPr>
          <p:cNvSpPr>
            <a:spLocks noGrp="1"/>
          </p:cNvSpPr>
          <p:nvPr>
            <p:ph type="title"/>
          </p:nvPr>
        </p:nvSpPr>
        <p:spPr/>
        <p:txBody>
          <a:bodyPr/>
          <a:lstStyle/>
          <a:p>
            <a:r>
              <a:rPr lang="en-GB" dirty="0"/>
              <a:t>Agenda</a:t>
            </a:r>
          </a:p>
        </p:txBody>
      </p:sp>
      <p:sp>
        <p:nvSpPr>
          <p:cNvPr id="5" name="Content Placeholder 4">
            <a:extLst>
              <a:ext uri="{FF2B5EF4-FFF2-40B4-BE49-F238E27FC236}">
                <a16:creationId xmlns:a16="http://schemas.microsoft.com/office/drawing/2014/main" id="{DFFD44DB-6F0A-4ED5-875E-8678F93C5775}"/>
              </a:ext>
            </a:extLst>
          </p:cNvPr>
          <p:cNvSpPr>
            <a:spLocks noGrp="1"/>
          </p:cNvSpPr>
          <p:nvPr>
            <p:ph sz="half" idx="14"/>
          </p:nvPr>
        </p:nvSpPr>
        <p:spPr/>
        <p:txBody>
          <a:bodyPr>
            <a:normAutofit fontScale="62500" lnSpcReduction="20000"/>
          </a:bodyPr>
          <a:lstStyle/>
          <a:p>
            <a:r>
              <a:rPr lang="en-GB" dirty="0"/>
              <a:t>Methodology </a:t>
            </a:r>
          </a:p>
          <a:p>
            <a:r>
              <a:rPr lang="en-GB" dirty="0"/>
              <a:t>Project Scope</a:t>
            </a:r>
          </a:p>
          <a:p>
            <a:r>
              <a:rPr lang="en-GB" dirty="0"/>
              <a:t>Client Deliverables </a:t>
            </a:r>
          </a:p>
          <a:p>
            <a:r>
              <a:rPr lang="en-GB" dirty="0"/>
              <a:t>Project Plan </a:t>
            </a:r>
          </a:p>
          <a:p>
            <a:pPr lvl="1"/>
            <a:r>
              <a:rPr lang="en-GB" dirty="0"/>
              <a:t>Implementation Process Overview</a:t>
            </a:r>
          </a:p>
          <a:p>
            <a:pPr lvl="1"/>
            <a:r>
              <a:rPr lang="en-GB" dirty="0"/>
              <a:t>UAT Sign Off Document </a:t>
            </a:r>
          </a:p>
          <a:p>
            <a:pPr lvl="1"/>
            <a:r>
              <a:rPr lang="en-GB" dirty="0"/>
              <a:t>Project Delivery UAT</a:t>
            </a:r>
          </a:p>
          <a:p>
            <a:pPr lvl="1"/>
            <a:r>
              <a:rPr lang="en-GB" dirty="0"/>
              <a:t>Enhancement Hours </a:t>
            </a:r>
          </a:p>
          <a:p>
            <a:r>
              <a:rPr lang="en-GB" dirty="0"/>
              <a:t>Secure 5.2 Workflow and Features</a:t>
            </a:r>
          </a:p>
          <a:p>
            <a:pPr lvl="1"/>
            <a:r>
              <a:rPr lang="en-GB" dirty="0"/>
              <a:t>Default User Groups  </a:t>
            </a:r>
          </a:p>
          <a:p>
            <a:pPr lvl="1"/>
            <a:r>
              <a:rPr lang="en-GB" dirty="0"/>
              <a:t>Available Data Areas </a:t>
            </a:r>
          </a:p>
          <a:p>
            <a:pPr lvl="1"/>
            <a:r>
              <a:rPr lang="en-GB" dirty="0"/>
              <a:t>Hierarchy and Alignment </a:t>
            </a:r>
          </a:p>
          <a:p>
            <a:pPr lvl="1"/>
            <a:r>
              <a:rPr lang="en-GB" dirty="0"/>
              <a:t>How do Data Policies work? </a:t>
            </a:r>
          </a:p>
          <a:p>
            <a:pPr lvl="1"/>
            <a:r>
              <a:rPr lang="en-GB" dirty="0"/>
              <a:t>Business Calendar </a:t>
            </a:r>
          </a:p>
          <a:p>
            <a:pPr lvl="1"/>
            <a:r>
              <a:rPr lang="en-GB" dirty="0"/>
              <a:t>Reporting Requirements </a:t>
            </a:r>
          </a:p>
          <a:p>
            <a:pPr lvl="1"/>
            <a:r>
              <a:rPr lang="en-GB" dirty="0"/>
              <a:t>Reporting Distribution</a:t>
            </a:r>
          </a:p>
          <a:p>
            <a:r>
              <a:rPr lang="en-GB" dirty="0"/>
              <a:t>LP Case Management </a:t>
            </a:r>
          </a:p>
          <a:p>
            <a:pPr lvl="1"/>
            <a:r>
              <a:rPr lang="en-GB" dirty="0"/>
              <a:t>LP Case Management : Approver Flow</a:t>
            </a:r>
          </a:p>
          <a:p>
            <a:r>
              <a:rPr lang="en-GB" dirty="0"/>
              <a:t>Appriss Retail University </a:t>
            </a:r>
          </a:p>
          <a:p>
            <a:r>
              <a:rPr lang="en-GB" dirty="0"/>
              <a:t>Secure Technical Discussion</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365787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D7860-2F0C-4915-AFC6-8592950FEE2D}"/>
              </a:ext>
            </a:extLst>
          </p:cNvPr>
          <p:cNvSpPr>
            <a:spLocks noGrp="1"/>
          </p:cNvSpPr>
          <p:nvPr>
            <p:ph type="title"/>
          </p:nvPr>
        </p:nvSpPr>
        <p:spPr/>
        <p:txBody>
          <a:bodyPr/>
          <a:lstStyle/>
          <a:p>
            <a:r>
              <a:rPr lang="en-GB" dirty="0"/>
              <a:t>Project Team </a:t>
            </a:r>
          </a:p>
        </p:txBody>
      </p:sp>
      <p:sp>
        <p:nvSpPr>
          <p:cNvPr id="3" name="Content Placeholder 2">
            <a:extLst>
              <a:ext uri="{FF2B5EF4-FFF2-40B4-BE49-F238E27FC236}">
                <a16:creationId xmlns:a16="http://schemas.microsoft.com/office/drawing/2014/main" id="{B4761F23-589F-447F-AE55-FBDAA93EBF05}"/>
              </a:ext>
            </a:extLst>
          </p:cNvPr>
          <p:cNvSpPr>
            <a:spLocks noGrp="1"/>
          </p:cNvSpPr>
          <p:nvPr>
            <p:ph sz="half" idx="14"/>
          </p:nvPr>
        </p:nvSpPr>
        <p:spPr/>
        <p:txBody>
          <a:bodyPr/>
          <a:lstStyle/>
          <a:p>
            <a:endParaRPr lang="en-GB" b="1" dirty="0"/>
          </a:p>
          <a:p>
            <a:r>
              <a:rPr lang="en-GB" b="1" dirty="0"/>
              <a:t>Client Services </a:t>
            </a:r>
            <a:r>
              <a:rPr lang="en-GB" dirty="0"/>
              <a:t>– Kelly Regan and Liz Webster</a:t>
            </a:r>
          </a:p>
          <a:p>
            <a:pPr marL="0" indent="0">
              <a:buNone/>
            </a:pPr>
            <a:endParaRPr lang="en-GB" dirty="0"/>
          </a:p>
          <a:p>
            <a:r>
              <a:rPr lang="en-GB" b="1" dirty="0"/>
              <a:t>Delivery Team </a:t>
            </a:r>
            <a:r>
              <a:rPr lang="en-GB" dirty="0"/>
              <a:t>– Marek Zielinski</a:t>
            </a:r>
          </a:p>
          <a:p>
            <a:endParaRPr lang="en-GB" dirty="0"/>
          </a:p>
          <a:p>
            <a:r>
              <a:rPr lang="en-GB" b="1" dirty="0"/>
              <a:t>Data Team </a:t>
            </a:r>
            <a:r>
              <a:rPr lang="en-GB" dirty="0"/>
              <a:t>– Adam Zolnowski </a:t>
            </a:r>
          </a:p>
          <a:p>
            <a:endParaRPr lang="en-GB" dirty="0"/>
          </a:p>
          <a:p>
            <a:r>
              <a:rPr lang="en-GB" b="1" dirty="0"/>
              <a:t>Programme Manager </a:t>
            </a:r>
            <a:r>
              <a:rPr lang="en-GB" dirty="0"/>
              <a:t>– Jessica Lynch</a:t>
            </a:r>
          </a:p>
        </p:txBody>
      </p:sp>
      <p:sp>
        <p:nvSpPr>
          <p:cNvPr id="4" name="Slide Number Placeholder 3">
            <a:extLst>
              <a:ext uri="{FF2B5EF4-FFF2-40B4-BE49-F238E27FC236}">
                <a16:creationId xmlns:a16="http://schemas.microsoft.com/office/drawing/2014/main" id="{2C1449B0-2B8C-4E96-96DC-F6AB69B89404}"/>
              </a:ext>
            </a:extLst>
          </p:cNvPr>
          <p:cNvSpPr>
            <a:spLocks noGrp="1"/>
          </p:cNvSpPr>
          <p:nvPr>
            <p:ph type="sldNum" sz="quarter" idx="12"/>
          </p:nvPr>
        </p:nvSpPr>
        <p:spPr/>
        <p:txBody>
          <a:bodyPr/>
          <a:lstStyle/>
          <a:p>
            <a:fld id="{0BF9CEBF-66DF-3848-8984-13BBF9FFC1B1}" type="slidenum">
              <a:rPr lang="en-US" smtClean="0"/>
              <a:pPr/>
              <a:t>3</a:t>
            </a:fld>
            <a:endParaRPr lang="en-US"/>
          </a:p>
        </p:txBody>
      </p:sp>
      <p:sp>
        <p:nvSpPr>
          <p:cNvPr id="5" name="Footer Placeholder 4">
            <a:extLst>
              <a:ext uri="{FF2B5EF4-FFF2-40B4-BE49-F238E27FC236}">
                <a16:creationId xmlns:a16="http://schemas.microsoft.com/office/drawing/2014/main" id="{8FACB9CE-A83D-42B9-B624-FB93D89A1AC5}"/>
              </a:ext>
            </a:extLst>
          </p:cNvPr>
          <p:cNvSpPr>
            <a:spLocks noGrp="1"/>
          </p:cNvSpPr>
          <p:nvPr>
            <p:ph type="ftr" sz="quarter" idx="11"/>
          </p:nvPr>
        </p:nvSpPr>
        <p:spPr/>
        <p:txBody>
          <a:bodyPr/>
          <a:lstStyle/>
          <a:p>
            <a:r>
              <a:rPr lang="en-US"/>
              <a:t>©Appriss Retail.  Proprietary and Confidential</a:t>
            </a:r>
            <a:endParaRPr lang="en-US" dirty="0"/>
          </a:p>
        </p:txBody>
      </p:sp>
    </p:spTree>
    <p:extLst>
      <p:ext uri="{BB962C8B-B14F-4D97-AF65-F5344CB8AC3E}">
        <p14:creationId xmlns:p14="http://schemas.microsoft.com/office/powerpoint/2010/main" val="3997447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17721-7DF9-48CD-A2D1-1A664EEB408B}"/>
              </a:ext>
            </a:extLst>
          </p:cNvPr>
          <p:cNvSpPr>
            <a:spLocks noGrp="1"/>
          </p:cNvSpPr>
          <p:nvPr>
            <p:ph type="title"/>
          </p:nvPr>
        </p:nvSpPr>
        <p:spPr/>
        <p:txBody>
          <a:bodyPr/>
          <a:lstStyle/>
          <a:p>
            <a:r>
              <a:rPr lang="en-GB" dirty="0"/>
              <a:t>Methodology</a:t>
            </a:r>
          </a:p>
        </p:txBody>
      </p:sp>
      <p:sp>
        <p:nvSpPr>
          <p:cNvPr id="3" name="Content Placeholder 2">
            <a:extLst>
              <a:ext uri="{FF2B5EF4-FFF2-40B4-BE49-F238E27FC236}">
                <a16:creationId xmlns:a16="http://schemas.microsoft.com/office/drawing/2014/main" id="{B0DBF351-CDD4-4EF4-A273-E2CFAEC1B39B}"/>
              </a:ext>
            </a:extLst>
          </p:cNvPr>
          <p:cNvSpPr>
            <a:spLocks noGrp="1"/>
          </p:cNvSpPr>
          <p:nvPr>
            <p:ph sz="half" idx="14"/>
          </p:nvPr>
        </p:nvSpPr>
        <p:spPr/>
        <p:txBody>
          <a:bodyPr/>
          <a:lstStyle/>
          <a:p>
            <a:pPr marL="0" indent="0">
              <a:buNone/>
            </a:pPr>
            <a:r>
              <a:rPr lang="en-GB" i="1" dirty="0">
                <a:highlight>
                  <a:srgbClr val="FFFF00"/>
                </a:highlight>
              </a:rPr>
              <a:t>The way this project is going to run and how we escalate </a:t>
            </a:r>
          </a:p>
        </p:txBody>
      </p:sp>
      <p:sp>
        <p:nvSpPr>
          <p:cNvPr id="4" name="Slide Number Placeholder 3">
            <a:extLst>
              <a:ext uri="{FF2B5EF4-FFF2-40B4-BE49-F238E27FC236}">
                <a16:creationId xmlns:a16="http://schemas.microsoft.com/office/drawing/2014/main" id="{01238AD1-2BC6-4C04-BFFA-2857A7BF6546}"/>
              </a:ext>
            </a:extLst>
          </p:cNvPr>
          <p:cNvSpPr>
            <a:spLocks noGrp="1"/>
          </p:cNvSpPr>
          <p:nvPr>
            <p:ph type="sldNum" sz="quarter" idx="12"/>
          </p:nvPr>
        </p:nvSpPr>
        <p:spPr/>
        <p:txBody>
          <a:bodyPr/>
          <a:lstStyle/>
          <a:p>
            <a:fld id="{0BF9CEBF-66DF-3848-8984-13BBF9FFC1B1}" type="slidenum">
              <a:rPr lang="en-US" smtClean="0"/>
              <a:pPr/>
              <a:t>4</a:t>
            </a:fld>
            <a:endParaRPr lang="en-US"/>
          </a:p>
        </p:txBody>
      </p:sp>
      <p:sp>
        <p:nvSpPr>
          <p:cNvPr id="5" name="Footer Placeholder 4">
            <a:extLst>
              <a:ext uri="{FF2B5EF4-FFF2-40B4-BE49-F238E27FC236}">
                <a16:creationId xmlns:a16="http://schemas.microsoft.com/office/drawing/2014/main" id="{ACBD0B51-4340-446A-9BC7-7BE362013E9D}"/>
              </a:ext>
            </a:extLst>
          </p:cNvPr>
          <p:cNvSpPr>
            <a:spLocks noGrp="1"/>
          </p:cNvSpPr>
          <p:nvPr>
            <p:ph type="ftr" sz="quarter" idx="11"/>
          </p:nvPr>
        </p:nvSpPr>
        <p:spPr/>
        <p:txBody>
          <a:bodyPr/>
          <a:lstStyle/>
          <a:p>
            <a:r>
              <a:rPr lang="en-US"/>
              <a:t>©Appriss Retail.  Proprietary and Confidential</a:t>
            </a:r>
            <a:endParaRPr lang="en-US" dirty="0"/>
          </a:p>
        </p:txBody>
      </p:sp>
    </p:spTree>
    <p:extLst>
      <p:ext uri="{BB962C8B-B14F-4D97-AF65-F5344CB8AC3E}">
        <p14:creationId xmlns:p14="http://schemas.microsoft.com/office/powerpoint/2010/main" val="506348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69E90-940D-4ABC-81A4-C8019203A8C5}"/>
              </a:ext>
            </a:extLst>
          </p:cNvPr>
          <p:cNvSpPr>
            <a:spLocks noGrp="1"/>
          </p:cNvSpPr>
          <p:nvPr>
            <p:ph type="title"/>
          </p:nvPr>
        </p:nvSpPr>
        <p:spPr/>
        <p:txBody>
          <a:bodyPr/>
          <a:lstStyle/>
          <a:p>
            <a:r>
              <a:rPr lang="en-GB" dirty="0"/>
              <a:t>Project Scope </a:t>
            </a:r>
          </a:p>
        </p:txBody>
      </p:sp>
      <p:sp>
        <p:nvSpPr>
          <p:cNvPr id="3" name="Content Placeholder 2">
            <a:extLst>
              <a:ext uri="{FF2B5EF4-FFF2-40B4-BE49-F238E27FC236}">
                <a16:creationId xmlns:a16="http://schemas.microsoft.com/office/drawing/2014/main" id="{E045ED2C-81B3-433E-BCE7-BAB93F49F180}"/>
              </a:ext>
            </a:extLst>
          </p:cNvPr>
          <p:cNvSpPr>
            <a:spLocks noGrp="1"/>
          </p:cNvSpPr>
          <p:nvPr>
            <p:ph sz="half" idx="14"/>
          </p:nvPr>
        </p:nvSpPr>
        <p:spPr/>
        <p:txBody>
          <a:bodyPr/>
          <a:lstStyle/>
          <a:p>
            <a:pPr marL="0" indent="0">
              <a:buNone/>
            </a:pPr>
            <a:r>
              <a:rPr lang="en-GB" i="1" dirty="0">
                <a:highlight>
                  <a:srgbClr val="FFFF00"/>
                </a:highlight>
              </a:rPr>
              <a:t>Please See Order Form </a:t>
            </a:r>
          </a:p>
        </p:txBody>
      </p:sp>
      <p:sp>
        <p:nvSpPr>
          <p:cNvPr id="4" name="Slide Number Placeholder 3">
            <a:extLst>
              <a:ext uri="{FF2B5EF4-FFF2-40B4-BE49-F238E27FC236}">
                <a16:creationId xmlns:a16="http://schemas.microsoft.com/office/drawing/2014/main" id="{E02F0DFA-F5DD-4E7C-8DA5-9CBCA4E0FAEC}"/>
              </a:ext>
            </a:extLst>
          </p:cNvPr>
          <p:cNvSpPr>
            <a:spLocks noGrp="1"/>
          </p:cNvSpPr>
          <p:nvPr>
            <p:ph type="sldNum" sz="quarter" idx="12"/>
          </p:nvPr>
        </p:nvSpPr>
        <p:spPr/>
        <p:txBody>
          <a:bodyPr/>
          <a:lstStyle/>
          <a:p>
            <a:fld id="{0BF9CEBF-66DF-3848-8984-13BBF9FFC1B1}" type="slidenum">
              <a:rPr lang="en-US" smtClean="0"/>
              <a:pPr/>
              <a:t>5</a:t>
            </a:fld>
            <a:endParaRPr lang="en-US"/>
          </a:p>
        </p:txBody>
      </p:sp>
      <p:sp>
        <p:nvSpPr>
          <p:cNvPr id="5" name="Footer Placeholder 4">
            <a:extLst>
              <a:ext uri="{FF2B5EF4-FFF2-40B4-BE49-F238E27FC236}">
                <a16:creationId xmlns:a16="http://schemas.microsoft.com/office/drawing/2014/main" id="{7CB5EF88-4BCF-4046-B91D-DCDB0BAC3F1F}"/>
              </a:ext>
            </a:extLst>
          </p:cNvPr>
          <p:cNvSpPr>
            <a:spLocks noGrp="1"/>
          </p:cNvSpPr>
          <p:nvPr>
            <p:ph type="ftr" sz="quarter" idx="11"/>
          </p:nvPr>
        </p:nvSpPr>
        <p:spPr/>
        <p:txBody>
          <a:bodyPr/>
          <a:lstStyle/>
          <a:p>
            <a:r>
              <a:rPr lang="en-US"/>
              <a:t>©Appriss Retail.  Proprietary and Confidential</a:t>
            </a:r>
            <a:endParaRPr lang="en-US" dirty="0"/>
          </a:p>
        </p:txBody>
      </p:sp>
    </p:spTree>
    <p:extLst>
      <p:ext uri="{BB962C8B-B14F-4D97-AF65-F5344CB8AC3E}">
        <p14:creationId xmlns:p14="http://schemas.microsoft.com/office/powerpoint/2010/main" val="4181186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0801D-B3C7-4CC4-9BB6-EA62A812B3E2}"/>
              </a:ext>
            </a:extLst>
          </p:cNvPr>
          <p:cNvSpPr>
            <a:spLocks noGrp="1"/>
          </p:cNvSpPr>
          <p:nvPr>
            <p:ph type="title"/>
          </p:nvPr>
        </p:nvSpPr>
        <p:spPr/>
        <p:txBody>
          <a:bodyPr/>
          <a:lstStyle/>
          <a:p>
            <a:r>
              <a:rPr lang="en-GB" dirty="0"/>
              <a:t>Client Deliverables </a:t>
            </a:r>
          </a:p>
        </p:txBody>
      </p:sp>
      <p:sp>
        <p:nvSpPr>
          <p:cNvPr id="3" name="Content Placeholder 2">
            <a:extLst>
              <a:ext uri="{FF2B5EF4-FFF2-40B4-BE49-F238E27FC236}">
                <a16:creationId xmlns:a16="http://schemas.microsoft.com/office/drawing/2014/main" id="{B6DA7C75-0A9A-48C6-B2AE-F7AC863C99D5}"/>
              </a:ext>
            </a:extLst>
          </p:cNvPr>
          <p:cNvSpPr>
            <a:spLocks noGrp="1"/>
          </p:cNvSpPr>
          <p:nvPr>
            <p:ph sz="half" idx="14"/>
          </p:nvPr>
        </p:nvSpPr>
        <p:spPr/>
        <p:txBody>
          <a:bodyPr/>
          <a:lstStyle/>
          <a:p>
            <a:pPr marL="0" indent="0">
              <a:buNone/>
            </a:pPr>
            <a:r>
              <a:rPr lang="en-GB" i="1" dirty="0">
                <a:highlight>
                  <a:srgbClr val="FFFF00"/>
                </a:highlight>
              </a:rPr>
              <a:t>2 weeks worth of data must be supplied before the project will officially kick off</a:t>
            </a:r>
          </a:p>
          <a:p>
            <a:pPr marL="0" indent="0">
              <a:buNone/>
            </a:pPr>
            <a:endParaRPr lang="en-GB" i="1" dirty="0">
              <a:highlight>
                <a:srgbClr val="FFFF00"/>
              </a:highlight>
            </a:endParaRPr>
          </a:p>
          <a:p>
            <a:pPr marL="0" indent="0">
              <a:buNone/>
            </a:pPr>
            <a:r>
              <a:rPr lang="en-GB" i="1" dirty="0">
                <a:highlight>
                  <a:srgbClr val="FFFF00"/>
                </a:highlight>
              </a:rPr>
              <a:t>What other Client Deliverables are there? </a:t>
            </a:r>
          </a:p>
          <a:p>
            <a:pPr marL="0" indent="0">
              <a:buNone/>
            </a:pPr>
            <a:r>
              <a:rPr lang="en-GB" i="1" dirty="0">
                <a:highlight>
                  <a:srgbClr val="FFFF00"/>
                </a:highlight>
              </a:rPr>
              <a:t>What are the dependencies on the Client Deliverables?</a:t>
            </a:r>
          </a:p>
        </p:txBody>
      </p:sp>
      <p:sp>
        <p:nvSpPr>
          <p:cNvPr id="4" name="Slide Number Placeholder 3">
            <a:extLst>
              <a:ext uri="{FF2B5EF4-FFF2-40B4-BE49-F238E27FC236}">
                <a16:creationId xmlns:a16="http://schemas.microsoft.com/office/drawing/2014/main" id="{DBDA585F-C005-4B33-BB77-669825FED584}"/>
              </a:ext>
            </a:extLst>
          </p:cNvPr>
          <p:cNvSpPr>
            <a:spLocks noGrp="1"/>
          </p:cNvSpPr>
          <p:nvPr>
            <p:ph type="sldNum" sz="quarter" idx="12"/>
          </p:nvPr>
        </p:nvSpPr>
        <p:spPr/>
        <p:txBody>
          <a:bodyPr/>
          <a:lstStyle/>
          <a:p>
            <a:fld id="{0BF9CEBF-66DF-3848-8984-13BBF9FFC1B1}" type="slidenum">
              <a:rPr lang="en-US" smtClean="0"/>
              <a:pPr/>
              <a:t>6</a:t>
            </a:fld>
            <a:endParaRPr lang="en-US"/>
          </a:p>
        </p:txBody>
      </p:sp>
      <p:sp>
        <p:nvSpPr>
          <p:cNvPr id="5" name="Footer Placeholder 4">
            <a:extLst>
              <a:ext uri="{FF2B5EF4-FFF2-40B4-BE49-F238E27FC236}">
                <a16:creationId xmlns:a16="http://schemas.microsoft.com/office/drawing/2014/main" id="{1FA7601E-53C9-4B77-B04A-FE6C9FFF64D5}"/>
              </a:ext>
            </a:extLst>
          </p:cNvPr>
          <p:cNvSpPr>
            <a:spLocks noGrp="1"/>
          </p:cNvSpPr>
          <p:nvPr>
            <p:ph type="ftr" sz="quarter" idx="11"/>
          </p:nvPr>
        </p:nvSpPr>
        <p:spPr/>
        <p:txBody>
          <a:bodyPr/>
          <a:lstStyle/>
          <a:p>
            <a:r>
              <a:rPr lang="en-US"/>
              <a:t>©Appriss Retail.  Proprietary and Confidential</a:t>
            </a:r>
            <a:endParaRPr lang="en-US" dirty="0"/>
          </a:p>
        </p:txBody>
      </p:sp>
    </p:spTree>
    <p:extLst>
      <p:ext uri="{BB962C8B-B14F-4D97-AF65-F5344CB8AC3E}">
        <p14:creationId xmlns:p14="http://schemas.microsoft.com/office/powerpoint/2010/main" val="1734285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C2847-25DD-45C4-9B1B-082CC3EA5D69}"/>
              </a:ext>
            </a:extLst>
          </p:cNvPr>
          <p:cNvSpPr>
            <a:spLocks noGrp="1"/>
          </p:cNvSpPr>
          <p:nvPr>
            <p:ph type="title"/>
          </p:nvPr>
        </p:nvSpPr>
        <p:spPr>
          <a:xfrm>
            <a:off x="831850" y="3579187"/>
            <a:ext cx="10515600" cy="443198"/>
          </a:xfrm>
        </p:spPr>
        <p:txBody>
          <a:bodyPr/>
          <a:lstStyle/>
          <a:p>
            <a:r>
              <a:rPr lang="en-GB" dirty="0"/>
              <a:t>Secure 5 Project Plan </a:t>
            </a:r>
          </a:p>
        </p:txBody>
      </p:sp>
      <p:sp>
        <p:nvSpPr>
          <p:cNvPr id="6" name="Text Placeholder 5">
            <a:extLst>
              <a:ext uri="{FF2B5EF4-FFF2-40B4-BE49-F238E27FC236}">
                <a16:creationId xmlns:a16="http://schemas.microsoft.com/office/drawing/2014/main" id="{0E1EB3DD-E69F-4256-9936-55F0DB6F1F13}"/>
              </a:ext>
            </a:extLst>
          </p:cNvPr>
          <p:cNvSpPr>
            <a:spLocks noGrp="1"/>
          </p:cNvSpPr>
          <p:nvPr>
            <p:ph type="body" idx="1"/>
          </p:nvPr>
        </p:nvSpPr>
        <p:spPr/>
        <p:txBody>
          <a:bodyPr/>
          <a:lstStyle/>
          <a:p>
            <a:r>
              <a:rPr lang="en-GB" dirty="0"/>
              <a:t>Demo</a:t>
            </a:r>
          </a:p>
        </p:txBody>
      </p:sp>
      <p:sp>
        <p:nvSpPr>
          <p:cNvPr id="4" name="Slide Number Placeholder 3">
            <a:extLst>
              <a:ext uri="{FF2B5EF4-FFF2-40B4-BE49-F238E27FC236}">
                <a16:creationId xmlns:a16="http://schemas.microsoft.com/office/drawing/2014/main" id="{8A90DCE5-9B65-4F56-906D-53B937834A84}"/>
              </a:ext>
            </a:extLst>
          </p:cNvPr>
          <p:cNvSpPr>
            <a:spLocks noGrp="1"/>
          </p:cNvSpPr>
          <p:nvPr>
            <p:ph type="sldNum" sz="quarter" idx="4294967295"/>
          </p:nvPr>
        </p:nvSpPr>
        <p:spPr>
          <a:xfrm>
            <a:off x="9448800" y="6469063"/>
            <a:ext cx="2743200" cy="365125"/>
          </a:xfrm>
        </p:spPr>
        <p:txBody>
          <a:bodyPr/>
          <a:lstStyle/>
          <a:p>
            <a:fld id="{0BF9CEBF-66DF-3848-8984-13BBF9FFC1B1}" type="slidenum">
              <a:rPr lang="en-US" smtClean="0"/>
              <a:pPr/>
              <a:t>7</a:t>
            </a:fld>
            <a:endParaRPr lang="en-US"/>
          </a:p>
        </p:txBody>
      </p:sp>
      <p:sp>
        <p:nvSpPr>
          <p:cNvPr id="5" name="Footer Placeholder 4">
            <a:extLst>
              <a:ext uri="{FF2B5EF4-FFF2-40B4-BE49-F238E27FC236}">
                <a16:creationId xmlns:a16="http://schemas.microsoft.com/office/drawing/2014/main" id="{9B3ED9E8-1A20-455A-8CFA-2572B6738F31}"/>
              </a:ext>
            </a:extLst>
          </p:cNvPr>
          <p:cNvSpPr>
            <a:spLocks noGrp="1"/>
          </p:cNvSpPr>
          <p:nvPr>
            <p:ph type="ftr" sz="quarter" idx="4294967295"/>
          </p:nvPr>
        </p:nvSpPr>
        <p:spPr>
          <a:xfrm>
            <a:off x="0" y="6469063"/>
            <a:ext cx="4114800" cy="365125"/>
          </a:xfrm>
        </p:spPr>
        <p:txBody>
          <a:bodyPr/>
          <a:lstStyle/>
          <a:p>
            <a:r>
              <a:rPr lang="en-US"/>
              <a:t>©Appriss Retail.  Proprietary and Confidential</a:t>
            </a:r>
            <a:endParaRPr lang="en-US" dirty="0"/>
          </a:p>
        </p:txBody>
      </p:sp>
    </p:spTree>
    <p:extLst>
      <p:ext uri="{BB962C8B-B14F-4D97-AF65-F5344CB8AC3E}">
        <p14:creationId xmlns:p14="http://schemas.microsoft.com/office/powerpoint/2010/main" val="3542238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dirty="0" err="1"/>
              <a:t>Implementation</a:t>
            </a:r>
            <a:r>
              <a:rPr lang="pl-PL" dirty="0"/>
              <a:t> </a:t>
            </a:r>
            <a:r>
              <a:rPr lang="pl-PL" dirty="0" err="1"/>
              <a:t>Process</a:t>
            </a:r>
            <a:r>
              <a:rPr lang="pl-PL" dirty="0"/>
              <a:t> </a:t>
            </a:r>
            <a:r>
              <a:rPr lang="pl-PL" dirty="0" err="1"/>
              <a:t>Overview</a:t>
            </a:r>
            <a:endParaRPr lang="en-US" dirty="0"/>
          </a:p>
        </p:txBody>
      </p:sp>
      <p:graphicFrame>
        <p:nvGraphicFramePr>
          <p:cNvPr id="10" name="Object 9">
            <a:extLst>
              <a:ext uri="{FF2B5EF4-FFF2-40B4-BE49-F238E27FC236}">
                <a16:creationId xmlns:a16="http://schemas.microsoft.com/office/drawing/2014/main" id="{CD1041F2-14E4-49F9-B2FB-D3BF11F79343}"/>
              </a:ext>
            </a:extLst>
          </p:cNvPr>
          <p:cNvGraphicFramePr>
            <a:graphicFrameLocks noChangeAspect="1"/>
          </p:cNvGraphicFramePr>
          <p:nvPr/>
        </p:nvGraphicFramePr>
        <p:xfrm>
          <a:off x="311149" y="2235200"/>
          <a:ext cx="11530383" cy="3235325"/>
        </p:xfrm>
        <a:graphic>
          <a:graphicData uri="http://schemas.openxmlformats.org/presentationml/2006/ole">
            <mc:AlternateContent xmlns:mc="http://schemas.openxmlformats.org/markup-compatibility/2006">
              <mc:Choice xmlns:v="urn:schemas-microsoft-com:vml" Requires="v">
                <p:oleObj spid="_x0000_s1027" name="Worksheet" r:id="rId3" imgW="11067884" imgH="3105214" progId="Excel.Sheet.12">
                  <p:embed/>
                </p:oleObj>
              </mc:Choice>
              <mc:Fallback>
                <p:oleObj name="Worksheet" r:id="rId3" imgW="11067884" imgH="3105214" progId="Excel.Sheet.12">
                  <p:embed/>
                  <p:pic>
                    <p:nvPicPr>
                      <p:cNvPr id="10" name="Object 9">
                        <a:extLst>
                          <a:ext uri="{FF2B5EF4-FFF2-40B4-BE49-F238E27FC236}">
                            <a16:creationId xmlns:a16="http://schemas.microsoft.com/office/drawing/2014/main" id="{CD1041F2-14E4-49F9-B2FB-D3BF11F79343}"/>
                          </a:ext>
                        </a:extLst>
                      </p:cNvPr>
                      <p:cNvPicPr/>
                      <p:nvPr/>
                    </p:nvPicPr>
                    <p:blipFill>
                      <a:blip r:embed="rId4"/>
                      <a:stretch>
                        <a:fillRect/>
                      </a:stretch>
                    </p:blipFill>
                    <p:spPr>
                      <a:xfrm>
                        <a:off x="311149" y="2235200"/>
                        <a:ext cx="11530383" cy="3235325"/>
                      </a:xfrm>
                      <a:prstGeom prst="rect">
                        <a:avLst/>
                      </a:prstGeom>
                    </p:spPr>
                  </p:pic>
                </p:oleObj>
              </mc:Fallback>
            </mc:AlternateContent>
          </a:graphicData>
        </a:graphic>
      </p:graphicFrame>
    </p:spTree>
    <p:extLst>
      <p:ext uri="{BB962C8B-B14F-4D97-AF65-F5344CB8AC3E}">
        <p14:creationId xmlns:p14="http://schemas.microsoft.com/office/powerpoint/2010/main" val="2839045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25E7DA-4B61-48A6-90D8-1171F1B94A1E}"/>
              </a:ext>
            </a:extLst>
          </p:cNvPr>
          <p:cNvSpPr>
            <a:spLocks noGrp="1"/>
          </p:cNvSpPr>
          <p:nvPr>
            <p:ph type="title"/>
          </p:nvPr>
        </p:nvSpPr>
        <p:spPr/>
        <p:txBody>
          <a:bodyPr/>
          <a:lstStyle/>
          <a:p>
            <a:r>
              <a:rPr lang="en-GB" dirty="0"/>
              <a:t>UAT Sign Off Document</a:t>
            </a:r>
          </a:p>
        </p:txBody>
      </p:sp>
      <p:sp>
        <p:nvSpPr>
          <p:cNvPr id="5" name="Text Placeholder 4">
            <a:extLst>
              <a:ext uri="{FF2B5EF4-FFF2-40B4-BE49-F238E27FC236}">
                <a16:creationId xmlns:a16="http://schemas.microsoft.com/office/drawing/2014/main" id="{AD5C92E6-236A-495F-90D5-DB6318F0E881}"/>
              </a:ext>
            </a:extLst>
          </p:cNvPr>
          <p:cNvSpPr>
            <a:spLocks noGrp="1"/>
          </p:cNvSpPr>
          <p:nvPr>
            <p:ph type="body" idx="1"/>
          </p:nvPr>
        </p:nvSpPr>
        <p:spPr/>
        <p:txBody>
          <a:bodyPr/>
          <a:lstStyle/>
          <a:p>
            <a:r>
              <a:rPr lang="en-GB" dirty="0"/>
              <a:t>Demo</a:t>
            </a:r>
          </a:p>
        </p:txBody>
      </p:sp>
    </p:spTree>
    <p:extLst>
      <p:ext uri="{BB962C8B-B14F-4D97-AF65-F5344CB8AC3E}">
        <p14:creationId xmlns:p14="http://schemas.microsoft.com/office/powerpoint/2010/main" val="3492243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68482-27DE-4B7B-A4FA-D76B457B69F0}"/>
              </a:ext>
            </a:extLst>
          </p:cNvPr>
          <p:cNvSpPr>
            <a:spLocks noGrp="1"/>
          </p:cNvSpPr>
          <p:nvPr>
            <p:ph type="title"/>
          </p:nvPr>
        </p:nvSpPr>
        <p:spPr/>
        <p:txBody>
          <a:bodyPr/>
          <a:lstStyle/>
          <a:p>
            <a:r>
              <a:rPr lang="en-GB" dirty="0"/>
              <a:t>Project Delivery UAT </a:t>
            </a:r>
          </a:p>
        </p:txBody>
      </p:sp>
      <p:sp>
        <p:nvSpPr>
          <p:cNvPr id="3" name="Content Placeholder 2">
            <a:extLst>
              <a:ext uri="{FF2B5EF4-FFF2-40B4-BE49-F238E27FC236}">
                <a16:creationId xmlns:a16="http://schemas.microsoft.com/office/drawing/2014/main" id="{CA3DE6C5-7A5F-482A-BE21-0A3BEB1FF12D}"/>
              </a:ext>
            </a:extLst>
          </p:cNvPr>
          <p:cNvSpPr>
            <a:spLocks noGrp="1"/>
          </p:cNvSpPr>
          <p:nvPr>
            <p:ph sz="half" idx="14"/>
          </p:nvPr>
        </p:nvSpPr>
        <p:spPr/>
        <p:txBody>
          <a:bodyPr>
            <a:normAutofit/>
          </a:bodyPr>
          <a:lstStyle/>
          <a:p>
            <a:r>
              <a:rPr lang="en-GB" dirty="0"/>
              <a:t>Tickets will be raised in Appriss Retail JIRA </a:t>
            </a:r>
          </a:p>
          <a:p>
            <a:r>
              <a:rPr lang="en-GB" dirty="0"/>
              <a:t>Ticket Priority in JIRA: </a:t>
            </a:r>
          </a:p>
        </p:txBody>
      </p:sp>
      <p:sp>
        <p:nvSpPr>
          <p:cNvPr id="4" name="Slide Number Placeholder 3">
            <a:extLst>
              <a:ext uri="{FF2B5EF4-FFF2-40B4-BE49-F238E27FC236}">
                <a16:creationId xmlns:a16="http://schemas.microsoft.com/office/drawing/2014/main" id="{78DA8A8F-AF4C-469F-A4A8-3D71A8186BEA}"/>
              </a:ext>
            </a:extLst>
          </p:cNvPr>
          <p:cNvSpPr>
            <a:spLocks noGrp="1"/>
          </p:cNvSpPr>
          <p:nvPr>
            <p:ph type="sldNum" sz="quarter" idx="12"/>
          </p:nvPr>
        </p:nvSpPr>
        <p:spPr/>
        <p:txBody>
          <a:bodyPr/>
          <a:lstStyle/>
          <a:p>
            <a:fld id="{0BF9CEBF-66DF-3848-8984-13BBF9FFC1B1}" type="slidenum">
              <a:rPr lang="en-US" smtClean="0"/>
              <a:pPr/>
              <a:t>10</a:t>
            </a:fld>
            <a:endParaRPr lang="en-US"/>
          </a:p>
        </p:txBody>
      </p:sp>
      <p:sp>
        <p:nvSpPr>
          <p:cNvPr id="5" name="Footer Placeholder 4">
            <a:extLst>
              <a:ext uri="{FF2B5EF4-FFF2-40B4-BE49-F238E27FC236}">
                <a16:creationId xmlns:a16="http://schemas.microsoft.com/office/drawing/2014/main" id="{D8CFB451-C964-4327-A13F-3807AA3A1610}"/>
              </a:ext>
            </a:extLst>
          </p:cNvPr>
          <p:cNvSpPr>
            <a:spLocks noGrp="1"/>
          </p:cNvSpPr>
          <p:nvPr>
            <p:ph type="ftr" sz="quarter" idx="11"/>
          </p:nvPr>
        </p:nvSpPr>
        <p:spPr/>
        <p:txBody>
          <a:bodyPr/>
          <a:lstStyle/>
          <a:p>
            <a:r>
              <a:rPr lang="en-US"/>
              <a:t>©Appriss Retail.  Proprietary and Confidential</a:t>
            </a:r>
            <a:endParaRPr lang="en-US" dirty="0"/>
          </a:p>
        </p:txBody>
      </p:sp>
      <p:graphicFrame>
        <p:nvGraphicFramePr>
          <p:cNvPr id="6" name="Table 5">
            <a:extLst>
              <a:ext uri="{FF2B5EF4-FFF2-40B4-BE49-F238E27FC236}">
                <a16:creationId xmlns:a16="http://schemas.microsoft.com/office/drawing/2014/main" id="{DE0F2104-47A7-4A5C-BCAE-2E217B869111}"/>
              </a:ext>
            </a:extLst>
          </p:cNvPr>
          <p:cNvGraphicFramePr>
            <a:graphicFrameLocks noGrp="1"/>
          </p:cNvGraphicFramePr>
          <p:nvPr>
            <p:extLst>
              <p:ext uri="{D42A27DB-BD31-4B8C-83A1-F6EECF244321}">
                <p14:modId xmlns:p14="http://schemas.microsoft.com/office/powerpoint/2010/main" val="2708709273"/>
              </p:ext>
            </p:extLst>
          </p:nvPr>
        </p:nvGraphicFramePr>
        <p:xfrm>
          <a:off x="1086043" y="2924389"/>
          <a:ext cx="10261404" cy="3114040"/>
        </p:xfrm>
        <a:graphic>
          <a:graphicData uri="http://schemas.openxmlformats.org/drawingml/2006/table">
            <a:tbl>
              <a:tblPr firstRow="1" bandRow="1">
                <a:tableStyleId>{5C22544A-7EE6-4342-B048-85BDC9FD1C3A}</a:tableStyleId>
              </a:tblPr>
              <a:tblGrid>
                <a:gridCol w="1148110">
                  <a:extLst>
                    <a:ext uri="{9D8B030D-6E8A-4147-A177-3AD203B41FA5}">
                      <a16:colId xmlns:a16="http://schemas.microsoft.com/office/drawing/2014/main" val="4274632636"/>
                    </a:ext>
                  </a:extLst>
                </a:gridCol>
                <a:gridCol w="948831">
                  <a:extLst>
                    <a:ext uri="{9D8B030D-6E8A-4147-A177-3AD203B41FA5}">
                      <a16:colId xmlns:a16="http://schemas.microsoft.com/office/drawing/2014/main" val="1149926414"/>
                    </a:ext>
                  </a:extLst>
                </a:gridCol>
                <a:gridCol w="8164463">
                  <a:extLst>
                    <a:ext uri="{9D8B030D-6E8A-4147-A177-3AD203B41FA5}">
                      <a16:colId xmlns:a16="http://schemas.microsoft.com/office/drawing/2014/main" val="3910335503"/>
                    </a:ext>
                  </a:extLst>
                </a:gridCol>
              </a:tblGrid>
              <a:tr h="370840">
                <a:tc>
                  <a:txBody>
                    <a:bodyPr/>
                    <a:lstStyle/>
                    <a:p>
                      <a:pPr algn="ctr"/>
                      <a:r>
                        <a:rPr lang="en-GB" sz="1500" dirty="0"/>
                        <a:t>Contract</a:t>
                      </a:r>
                    </a:p>
                  </a:txBody>
                  <a:tcPr>
                    <a:solidFill>
                      <a:schemeClr val="tx1"/>
                    </a:solidFill>
                  </a:tcPr>
                </a:tc>
                <a:tc>
                  <a:txBody>
                    <a:bodyPr/>
                    <a:lstStyle/>
                    <a:p>
                      <a:pPr algn="ctr"/>
                      <a:r>
                        <a:rPr lang="en-GB" sz="1500" dirty="0"/>
                        <a:t>JIRA </a:t>
                      </a:r>
                    </a:p>
                  </a:txBody>
                  <a:tcPr>
                    <a:solidFill>
                      <a:schemeClr val="tx1"/>
                    </a:solidFill>
                  </a:tcPr>
                </a:tc>
                <a:tc>
                  <a:txBody>
                    <a:bodyPr/>
                    <a:lstStyle/>
                    <a:p>
                      <a:r>
                        <a:rPr lang="en-GB" sz="1500" dirty="0"/>
                        <a:t>Definition and Examples</a:t>
                      </a:r>
                    </a:p>
                  </a:txBody>
                  <a:tcPr>
                    <a:solidFill>
                      <a:schemeClr val="tx1"/>
                    </a:solidFill>
                  </a:tcPr>
                </a:tc>
                <a:extLst>
                  <a:ext uri="{0D108BD9-81ED-4DB2-BD59-A6C34878D82A}">
                    <a16:rowId xmlns:a16="http://schemas.microsoft.com/office/drawing/2014/main" val="483825972"/>
                  </a:ext>
                </a:extLst>
              </a:tr>
              <a:tr h="370840">
                <a:tc rowSpan="2">
                  <a:txBody>
                    <a:bodyPr/>
                    <a:lstStyle/>
                    <a:p>
                      <a:pPr algn="ctr"/>
                      <a:r>
                        <a:rPr lang="en-GB" sz="1500" b="1" dirty="0"/>
                        <a:t>High</a:t>
                      </a:r>
                      <a:r>
                        <a:rPr lang="en-GB" sz="1500" dirty="0"/>
                        <a:t> </a:t>
                      </a:r>
                    </a:p>
                  </a:txBody>
                  <a:tcPr>
                    <a:solidFill>
                      <a:srgbClr val="FFAFAF"/>
                    </a:solidFill>
                  </a:tcPr>
                </a:tc>
                <a:tc>
                  <a:txBody>
                    <a:bodyPr/>
                    <a:lstStyle/>
                    <a:p>
                      <a:pPr algn="ctr"/>
                      <a:r>
                        <a:rPr lang="en-GB" sz="1500" b="1" dirty="0"/>
                        <a:t>Blocker</a:t>
                      </a:r>
                    </a:p>
                  </a:txBody>
                  <a:tcPr>
                    <a:solidFill>
                      <a:srgbClr val="FFAFAF"/>
                    </a:solidFill>
                  </a:tcPr>
                </a:tc>
                <a:tc>
                  <a:txBody>
                    <a:bodyPr/>
                    <a:lstStyle/>
                    <a:p>
                      <a:r>
                        <a:rPr lang="en-GB" sz="1500" dirty="0"/>
                        <a:t>The platform is completely unusable</a:t>
                      </a:r>
                    </a:p>
                    <a:p>
                      <a:r>
                        <a:rPr lang="en-GB" sz="1500" dirty="0"/>
                        <a:t>e.g. Platform will not install; I cannot log in</a:t>
                      </a:r>
                    </a:p>
                  </a:txBody>
                  <a:tcPr>
                    <a:solidFill>
                      <a:srgbClr val="FFAFAF"/>
                    </a:solidFill>
                  </a:tcPr>
                </a:tc>
                <a:extLst>
                  <a:ext uri="{0D108BD9-81ED-4DB2-BD59-A6C34878D82A}">
                    <a16:rowId xmlns:a16="http://schemas.microsoft.com/office/drawing/2014/main" val="3205270199"/>
                  </a:ext>
                </a:extLst>
              </a:tr>
              <a:tr h="370840">
                <a:tc vMerge="1">
                  <a:txBody>
                    <a:bodyPr/>
                    <a:lstStyle/>
                    <a:p>
                      <a:endParaRPr lang="en-GB" dirty="0"/>
                    </a:p>
                  </a:txBody>
                  <a:tcPr/>
                </a:tc>
                <a:tc>
                  <a:txBody>
                    <a:bodyPr/>
                    <a:lstStyle/>
                    <a:p>
                      <a:pPr algn="ctr"/>
                      <a:r>
                        <a:rPr lang="en-GB" sz="1500" b="1" dirty="0"/>
                        <a:t>Critical</a:t>
                      </a:r>
                    </a:p>
                  </a:txBody>
                  <a:tcPr>
                    <a:solidFill>
                      <a:srgbClr val="FFAFAF"/>
                    </a:solidFill>
                  </a:tcPr>
                </a:tc>
                <a:tc>
                  <a:txBody>
                    <a:bodyPr/>
                    <a:lstStyle/>
                    <a:p>
                      <a:r>
                        <a:rPr lang="en-GB" sz="1500" dirty="0"/>
                        <a:t>Critical: There is a bug that is preventing me from reaching my goal</a:t>
                      </a:r>
                    </a:p>
                    <a:p>
                      <a:r>
                        <a:rPr lang="en-GB" sz="1500" dirty="0"/>
                        <a:t>e.g. I am unable to run a search; I cannot submit a Case form</a:t>
                      </a:r>
                    </a:p>
                  </a:txBody>
                  <a:tcPr>
                    <a:solidFill>
                      <a:srgbClr val="FFAFAF"/>
                    </a:solidFill>
                  </a:tcPr>
                </a:tc>
                <a:extLst>
                  <a:ext uri="{0D108BD9-81ED-4DB2-BD59-A6C34878D82A}">
                    <a16:rowId xmlns:a16="http://schemas.microsoft.com/office/drawing/2014/main" val="1061416894"/>
                  </a:ext>
                </a:extLst>
              </a:tr>
              <a:tr h="370840">
                <a:tc>
                  <a:txBody>
                    <a:bodyPr/>
                    <a:lstStyle/>
                    <a:p>
                      <a:pPr algn="ctr"/>
                      <a:r>
                        <a:rPr lang="en-GB" sz="1500" b="1" dirty="0"/>
                        <a:t>Medium</a:t>
                      </a:r>
                      <a:r>
                        <a:rPr lang="en-GB" sz="1500" dirty="0"/>
                        <a:t> </a:t>
                      </a:r>
                    </a:p>
                  </a:txBody>
                  <a:tcPr>
                    <a:solidFill>
                      <a:srgbClr val="FFC000"/>
                    </a:solidFill>
                  </a:tcPr>
                </a:tc>
                <a:tc>
                  <a:txBody>
                    <a:bodyPr/>
                    <a:lstStyle/>
                    <a:p>
                      <a:pPr algn="ctr"/>
                      <a:r>
                        <a:rPr lang="en-GB" sz="1500" b="1" dirty="0"/>
                        <a:t>Major</a:t>
                      </a:r>
                    </a:p>
                  </a:txBody>
                  <a:tcPr>
                    <a:solidFill>
                      <a:srgbClr val="FFC000"/>
                    </a:solidFill>
                  </a:tcPr>
                </a:tc>
                <a:tc>
                  <a:txBody>
                    <a:bodyPr/>
                    <a:lstStyle/>
                    <a:p>
                      <a:r>
                        <a:rPr lang="en-GB" sz="1500" dirty="0"/>
                        <a:t>There is a bug that affects my workflow, but I am still able to continue within it</a:t>
                      </a:r>
                    </a:p>
                    <a:p>
                      <a:r>
                        <a:rPr lang="en-GB" sz="1500" dirty="0"/>
                        <a:t>e.g. A search is returning unexpected results; I am able to view something I don’t have permission to</a:t>
                      </a:r>
                    </a:p>
                  </a:txBody>
                  <a:tcPr>
                    <a:solidFill>
                      <a:srgbClr val="FFC000"/>
                    </a:solidFill>
                  </a:tcPr>
                </a:tc>
                <a:extLst>
                  <a:ext uri="{0D108BD9-81ED-4DB2-BD59-A6C34878D82A}">
                    <a16:rowId xmlns:a16="http://schemas.microsoft.com/office/drawing/2014/main" val="1270223440"/>
                  </a:ext>
                </a:extLst>
              </a:tr>
              <a:tr h="370840">
                <a:tc rowSpan="2">
                  <a:txBody>
                    <a:bodyPr/>
                    <a:lstStyle/>
                    <a:p>
                      <a:pPr algn="ctr"/>
                      <a:r>
                        <a:rPr lang="en-GB" sz="1500" b="1" dirty="0"/>
                        <a:t>Low</a:t>
                      </a:r>
                    </a:p>
                  </a:txBody>
                  <a:tcPr>
                    <a:solidFill>
                      <a:srgbClr val="92D050"/>
                    </a:solidFill>
                  </a:tcPr>
                </a:tc>
                <a:tc>
                  <a:txBody>
                    <a:bodyPr/>
                    <a:lstStyle/>
                    <a:p>
                      <a:pPr algn="ctr"/>
                      <a:r>
                        <a:rPr lang="en-GB" sz="1500" b="1" dirty="0"/>
                        <a:t>Minor</a:t>
                      </a:r>
                    </a:p>
                  </a:txBody>
                  <a:tcPr>
                    <a:solidFill>
                      <a:srgbClr val="92D050"/>
                    </a:solidFill>
                  </a:tcPr>
                </a:tc>
                <a:tc>
                  <a:txBody>
                    <a:bodyPr/>
                    <a:lstStyle/>
                    <a:p>
                      <a:r>
                        <a:rPr lang="en-GB" sz="1500" dirty="0"/>
                        <a:t>There is a bug that is visible to me, but it has no impact on my workflow</a:t>
                      </a:r>
                    </a:p>
                    <a:p>
                      <a:r>
                        <a:rPr lang="en-GB" sz="1500" dirty="0"/>
                        <a:t>e.g. A lightbox is displaying too large; the search progress feedback is misaligned in a specific browser</a:t>
                      </a:r>
                    </a:p>
                  </a:txBody>
                  <a:tcPr>
                    <a:solidFill>
                      <a:srgbClr val="92D050"/>
                    </a:solidFill>
                  </a:tcPr>
                </a:tc>
                <a:extLst>
                  <a:ext uri="{0D108BD9-81ED-4DB2-BD59-A6C34878D82A}">
                    <a16:rowId xmlns:a16="http://schemas.microsoft.com/office/drawing/2014/main" val="4226960029"/>
                  </a:ext>
                </a:extLst>
              </a:tr>
              <a:tr h="370840">
                <a:tc vMerge="1">
                  <a:txBody>
                    <a:bodyPr/>
                    <a:lstStyle/>
                    <a:p>
                      <a:endParaRPr lang="en-GB" dirty="0"/>
                    </a:p>
                  </a:txBody>
                  <a:tcPr/>
                </a:tc>
                <a:tc>
                  <a:txBody>
                    <a:bodyPr/>
                    <a:lstStyle/>
                    <a:p>
                      <a:pPr algn="ctr"/>
                      <a:r>
                        <a:rPr lang="en-GB" sz="1500" b="1" dirty="0"/>
                        <a:t>Trivial</a:t>
                      </a:r>
                    </a:p>
                  </a:txBody>
                  <a:tcPr>
                    <a:solidFill>
                      <a:srgbClr val="92D050"/>
                    </a:solidFill>
                  </a:tcPr>
                </a:tc>
                <a:tc>
                  <a:txBody>
                    <a:bodyPr/>
                    <a:lstStyle/>
                    <a:p>
                      <a:r>
                        <a:rPr lang="en-GB" sz="1500" dirty="0"/>
                        <a:t>There is a minor UI issue </a:t>
                      </a:r>
                    </a:p>
                    <a:p>
                      <a:r>
                        <a:rPr lang="en-GB" sz="1500" dirty="0"/>
                        <a:t>e.g. There is a grammatical error; there is a spelling mistake</a:t>
                      </a:r>
                    </a:p>
                  </a:txBody>
                  <a:tcPr>
                    <a:solidFill>
                      <a:srgbClr val="92D050"/>
                    </a:solidFill>
                  </a:tcPr>
                </a:tc>
                <a:extLst>
                  <a:ext uri="{0D108BD9-81ED-4DB2-BD59-A6C34878D82A}">
                    <a16:rowId xmlns:a16="http://schemas.microsoft.com/office/drawing/2014/main" val="52885907"/>
                  </a:ext>
                </a:extLst>
              </a:tr>
            </a:tbl>
          </a:graphicData>
        </a:graphic>
      </p:graphicFrame>
    </p:spTree>
    <p:extLst>
      <p:ext uri="{BB962C8B-B14F-4D97-AF65-F5344CB8AC3E}">
        <p14:creationId xmlns:p14="http://schemas.microsoft.com/office/powerpoint/2010/main" val="424120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AEC0B-E88A-486D-9E6B-48C4CCDB056C}"/>
              </a:ext>
            </a:extLst>
          </p:cNvPr>
          <p:cNvSpPr>
            <a:spLocks noGrp="1"/>
          </p:cNvSpPr>
          <p:nvPr>
            <p:ph type="title"/>
          </p:nvPr>
        </p:nvSpPr>
        <p:spPr/>
        <p:txBody>
          <a:bodyPr/>
          <a:lstStyle/>
          <a:p>
            <a:r>
              <a:rPr lang="en-GB" dirty="0"/>
              <a:t>Enhancement Hours </a:t>
            </a:r>
          </a:p>
        </p:txBody>
      </p:sp>
      <p:sp>
        <p:nvSpPr>
          <p:cNvPr id="3" name="Content Placeholder 2">
            <a:extLst>
              <a:ext uri="{FF2B5EF4-FFF2-40B4-BE49-F238E27FC236}">
                <a16:creationId xmlns:a16="http://schemas.microsoft.com/office/drawing/2014/main" id="{E141E7AD-8276-4A14-84CE-443C2739614E}"/>
              </a:ext>
            </a:extLst>
          </p:cNvPr>
          <p:cNvSpPr>
            <a:spLocks noGrp="1"/>
          </p:cNvSpPr>
          <p:nvPr>
            <p:ph sz="half" idx="14"/>
          </p:nvPr>
        </p:nvSpPr>
        <p:spPr/>
        <p:txBody>
          <a:bodyPr/>
          <a:lstStyle/>
          <a:p>
            <a:pPr marL="0" indent="0">
              <a:buNone/>
            </a:pPr>
            <a:r>
              <a:rPr lang="en-GB" i="1" dirty="0">
                <a:highlight>
                  <a:srgbClr val="FFFF00"/>
                </a:highlight>
              </a:rPr>
              <a:t>How do we track hours? </a:t>
            </a:r>
          </a:p>
          <a:p>
            <a:pPr marL="0" indent="0">
              <a:buNone/>
            </a:pPr>
            <a:r>
              <a:rPr lang="en-GB" i="1" dirty="0">
                <a:highlight>
                  <a:srgbClr val="FFFF00"/>
                </a:highlight>
              </a:rPr>
              <a:t>How do we manage change requests? </a:t>
            </a:r>
          </a:p>
          <a:p>
            <a:pPr marL="0" indent="0">
              <a:buNone/>
            </a:pPr>
            <a:r>
              <a:rPr lang="en-GB" i="1" dirty="0">
                <a:highlight>
                  <a:srgbClr val="FFFF00"/>
                </a:highlight>
              </a:rPr>
              <a:t>SOWs </a:t>
            </a:r>
          </a:p>
        </p:txBody>
      </p:sp>
      <p:sp>
        <p:nvSpPr>
          <p:cNvPr id="4" name="Slide Number Placeholder 3">
            <a:extLst>
              <a:ext uri="{FF2B5EF4-FFF2-40B4-BE49-F238E27FC236}">
                <a16:creationId xmlns:a16="http://schemas.microsoft.com/office/drawing/2014/main" id="{3EA6386E-3D13-4E5A-BB0F-9756E52399CF}"/>
              </a:ext>
            </a:extLst>
          </p:cNvPr>
          <p:cNvSpPr>
            <a:spLocks noGrp="1"/>
          </p:cNvSpPr>
          <p:nvPr>
            <p:ph type="sldNum" sz="quarter" idx="12"/>
          </p:nvPr>
        </p:nvSpPr>
        <p:spPr/>
        <p:txBody>
          <a:bodyPr/>
          <a:lstStyle/>
          <a:p>
            <a:fld id="{0BF9CEBF-66DF-3848-8984-13BBF9FFC1B1}" type="slidenum">
              <a:rPr lang="en-US" smtClean="0"/>
              <a:pPr/>
              <a:t>11</a:t>
            </a:fld>
            <a:endParaRPr lang="en-US"/>
          </a:p>
        </p:txBody>
      </p:sp>
      <p:sp>
        <p:nvSpPr>
          <p:cNvPr id="5" name="Footer Placeholder 4">
            <a:extLst>
              <a:ext uri="{FF2B5EF4-FFF2-40B4-BE49-F238E27FC236}">
                <a16:creationId xmlns:a16="http://schemas.microsoft.com/office/drawing/2014/main" id="{B205F8E0-E5E1-448E-900A-7506F92A400E}"/>
              </a:ext>
            </a:extLst>
          </p:cNvPr>
          <p:cNvSpPr>
            <a:spLocks noGrp="1"/>
          </p:cNvSpPr>
          <p:nvPr>
            <p:ph type="ftr" sz="quarter" idx="11"/>
          </p:nvPr>
        </p:nvSpPr>
        <p:spPr/>
        <p:txBody>
          <a:bodyPr/>
          <a:lstStyle/>
          <a:p>
            <a:r>
              <a:rPr lang="en-US"/>
              <a:t>©Appriss Retail.  Proprietary and Confidential</a:t>
            </a:r>
            <a:endParaRPr lang="en-US" dirty="0"/>
          </a:p>
        </p:txBody>
      </p:sp>
    </p:spTree>
    <p:extLst>
      <p:ext uri="{BB962C8B-B14F-4D97-AF65-F5344CB8AC3E}">
        <p14:creationId xmlns:p14="http://schemas.microsoft.com/office/powerpoint/2010/main" val="229000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25E7DA-4B61-48A6-90D8-1171F1B94A1E}"/>
              </a:ext>
            </a:extLst>
          </p:cNvPr>
          <p:cNvSpPr>
            <a:spLocks noGrp="1"/>
          </p:cNvSpPr>
          <p:nvPr>
            <p:ph type="title"/>
          </p:nvPr>
        </p:nvSpPr>
        <p:spPr>
          <a:xfrm>
            <a:off x="831850" y="3579187"/>
            <a:ext cx="10515600" cy="443198"/>
          </a:xfrm>
        </p:spPr>
        <p:txBody>
          <a:bodyPr/>
          <a:lstStyle/>
          <a:p>
            <a:r>
              <a:rPr lang="en-GB" dirty="0"/>
              <a:t>Secure 5</a:t>
            </a:r>
          </a:p>
        </p:txBody>
      </p:sp>
      <p:sp>
        <p:nvSpPr>
          <p:cNvPr id="5" name="Text Placeholder 4">
            <a:extLst>
              <a:ext uri="{FF2B5EF4-FFF2-40B4-BE49-F238E27FC236}">
                <a16:creationId xmlns:a16="http://schemas.microsoft.com/office/drawing/2014/main" id="{AD5C92E6-236A-495F-90D5-DB6318F0E881}"/>
              </a:ext>
            </a:extLst>
          </p:cNvPr>
          <p:cNvSpPr>
            <a:spLocks noGrp="1"/>
          </p:cNvSpPr>
          <p:nvPr>
            <p:ph type="body" idx="1"/>
          </p:nvPr>
        </p:nvSpPr>
        <p:spPr/>
        <p:txBody>
          <a:bodyPr/>
          <a:lstStyle/>
          <a:p>
            <a:r>
              <a:rPr lang="en-GB" dirty="0"/>
              <a:t>Workflow and Features</a:t>
            </a:r>
          </a:p>
        </p:txBody>
      </p:sp>
    </p:spTree>
    <p:extLst>
      <p:ext uri="{BB962C8B-B14F-4D97-AF65-F5344CB8AC3E}">
        <p14:creationId xmlns:p14="http://schemas.microsoft.com/office/powerpoint/2010/main" val="1239474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7BEA72-2C67-4262-90EC-CEAD081F246D}"/>
              </a:ext>
            </a:extLst>
          </p:cNvPr>
          <p:cNvSpPr>
            <a:spLocks noGrp="1"/>
          </p:cNvSpPr>
          <p:nvPr>
            <p:ph type="title"/>
          </p:nvPr>
        </p:nvSpPr>
        <p:spPr/>
        <p:txBody>
          <a:bodyPr/>
          <a:lstStyle/>
          <a:p>
            <a:r>
              <a:rPr lang="en-GB" dirty="0"/>
              <a:t>Secure 5.2  Workflow </a:t>
            </a:r>
          </a:p>
        </p:txBody>
      </p:sp>
      <p:pic>
        <p:nvPicPr>
          <p:cNvPr id="45" name="Picture 44" descr="A close up of a map&#10;&#10;Description generated with very high confidence">
            <a:extLst>
              <a:ext uri="{FF2B5EF4-FFF2-40B4-BE49-F238E27FC236}">
                <a16:creationId xmlns:a16="http://schemas.microsoft.com/office/drawing/2014/main" id="{35C7BE29-FFA8-4358-BB9D-F815C4D48466}"/>
              </a:ext>
            </a:extLst>
          </p:cNvPr>
          <p:cNvPicPr>
            <a:picLocks noChangeAspect="1"/>
          </p:cNvPicPr>
          <p:nvPr/>
        </p:nvPicPr>
        <p:blipFill>
          <a:blip r:embed="rId3"/>
          <a:stretch>
            <a:fillRect/>
          </a:stretch>
        </p:blipFill>
        <p:spPr>
          <a:xfrm>
            <a:off x="2387525" y="1411050"/>
            <a:ext cx="7987685" cy="4906721"/>
          </a:xfrm>
          <a:prstGeom prst="rect">
            <a:avLst/>
          </a:prstGeom>
        </p:spPr>
      </p:pic>
    </p:spTree>
    <p:extLst>
      <p:ext uri="{BB962C8B-B14F-4D97-AF65-F5344CB8AC3E}">
        <p14:creationId xmlns:p14="http://schemas.microsoft.com/office/powerpoint/2010/main" val="4158767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33" name="Straight Connector 32">
            <a:extLst>
              <a:ext uri="{FF2B5EF4-FFF2-40B4-BE49-F238E27FC236}">
                <a16:creationId xmlns:a16="http://schemas.microsoft.com/office/drawing/2014/main" id="{7BFFA9DC-A058-41DF-975F-7A8BD281A0F2}"/>
              </a:ext>
            </a:extLst>
          </p:cNvPr>
          <p:cNvCxnSpPr>
            <a:cxnSpLocks/>
            <a:stCxn id="88" idx="3"/>
          </p:cNvCxnSpPr>
          <p:nvPr/>
        </p:nvCxnSpPr>
        <p:spPr>
          <a:xfrm>
            <a:off x="3824428" y="1346385"/>
            <a:ext cx="62060" cy="5535015"/>
          </a:xfrm>
          <a:prstGeom prst="line">
            <a:avLst/>
          </a:prstGeom>
          <a:ln w="9525" cap="flat" cmpd="sng" algn="ctr">
            <a:solidFill>
              <a:schemeClr val="bg1">
                <a:lumMod val="8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1" name="Flowchart: Process 60">
            <a:extLst>
              <a:ext uri="{FF2B5EF4-FFF2-40B4-BE49-F238E27FC236}">
                <a16:creationId xmlns:a16="http://schemas.microsoft.com/office/drawing/2014/main" id="{F54F27AC-7FF0-48E5-B13E-5115BA971C02}"/>
              </a:ext>
            </a:extLst>
          </p:cNvPr>
          <p:cNvSpPr/>
          <p:nvPr/>
        </p:nvSpPr>
        <p:spPr>
          <a:xfrm>
            <a:off x="4319208" y="2503543"/>
            <a:ext cx="3143453" cy="1943218"/>
          </a:xfrm>
          <a:prstGeom prst="flowChartProcess">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GB" sz="1050" b="1" dirty="0"/>
          </a:p>
        </p:txBody>
      </p:sp>
      <p:sp>
        <p:nvSpPr>
          <p:cNvPr id="46" name="Flowchart: Process 45">
            <a:extLst>
              <a:ext uri="{FF2B5EF4-FFF2-40B4-BE49-F238E27FC236}">
                <a16:creationId xmlns:a16="http://schemas.microsoft.com/office/drawing/2014/main" id="{08BCB8B4-6AC7-4EA2-9C07-EBCF2B42F7EE}"/>
              </a:ext>
            </a:extLst>
          </p:cNvPr>
          <p:cNvSpPr/>
          <p:nvPr/>
        </p:nvSpPr>
        <p:spPr>
          <a:xfrm>
            <a:off x="893543" y="3205152"/>
            <a:ext cx="1368000" cy="540000"/>
          </a:xfrm>
          <a:prstGeom prst="flowChart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1050" b="1" dirty="0"/>
              <a:t>Work View</a:t>
            </a:r>
          </a:p>
        </p:txBody>
      </p:sp>
      <p:sp>
        <p:nvSpPr>
          <p:cNvPr id="84" name="Flowchart: Process 83">
            <a:extLst>
              <a:ext uri="{FF2B5EF4-FFF2-40B4-BE49-F238E27FC236}">
                <a16:creationId xmlns:a16="http://schemas.microsoft.com/office/drawing/2014/main" id="{5C474B7E-B059-4FEC-B81D-FF561D27796A}"/>
              </a:ext>
            </a:extLst>
          </p:cNvPr>
          <p:cNvSpPr/>
          <p:nvPr/>
        </p:nvSpPr>
        <p:spPr>
          <a:xfrm>
            <a:off x="8333386" y="3205152"/>
            <a:ext cx="1368000" cy="540000"/>
          </a:xfrm>
          <a:prstGeom prst="flowChartProcess">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GB" sz="1050" b="1" dirty="0"/>
              <a:t>Case Management</a:t>
            </a:r>
          </a:p>
        </p:txBody>
      </p:sp>
      <p:sp>
        <p:nvSpPr>
          <p:cNvPr id="32" name="TextBox 31">
            <a:extLst>
              <a:ext uri="{FF2B5EF4-FFF2-40B4-BE49-F238E27FC236}">
                <a16:creationId xmlns:a16="http://schemas.microsoft.com/office/drawing/2014/main" id="{7705998B-9810-4395-B170-BA50994D111D}"/>
              </a:ext>
            </a:extLst>
          </p:cNvPr>
          <p:cNvSpPr txBox="1"/>
          <p:nvPr/>
        </p:nvSpPr>
        <p:spPr>
          <a:xfrm>
            <a:off x="782789" y="1752029"/>
            <a:ext cx="866336" cy="230832"/>
          </a:xfrm>
          <a:prstGeom prst="rect">
            <a:avLst/>
          </a:prstGeom>
          <a:noFill/>
        </p:spPr>
        <p:txBody>
          <a:bodyPr wrap="square" rtlCol="0">
            <a:spAutoFit/>
          </a:bodyPr>
          <a:lstStyle/>
          <a:p>
            <a:pPr algn="ctr"/>
            <a:r>
              <a:rPr lang="en-GB" sz="900" b="1" dirty="0">
                <a:solidFill>
                  <a:schemeClr val="bg1"/>
                </a:solidFill>
              </a:rPr>
              <a:t>Manual</a:t>
            </a:r>
          </a:p>
        </p:txBody>
      </p:sp>
      <p:sp>
        <p:nvSpPr>
          <p:cNvPr id="35" name="TextBox 34">
            <a:extLst>
              <a:ext uri="{FF2B5EF4-FFF2-40B4-BE49-F238E27FC236}">
                <a16:creationId xmlns:a16="http://schemas.microsoft.com/office/drawing/2014/main" id="{534217A5-4B83-40A3-BB6F-1E6F37A5EDAD}"/>
              </a:ext>
            </a:extLst>
          </p:cNvPr>
          <p:cNvSpPr txBox="1"/>
          <p:nvPr/>
        </p:nvSpPr>
        <p:spPr>
          <a:xfrm>
            <a:off x="4319208" y="2515800"/>
            <a:ext cx="1276165" cy="261610"/>
          </a:xfrm>
          <a:prstGeom prst="rect">
            <a:avLst/>
          </a:prstGeom>
          <a:noFill/>
        </p:spPr>
        <p:txBody>
          <a:bodyPr wrap="square" rtlCol="0">
            <a:spAutoFit/>
          </a:bodyPr>
          <a:lstStyle/>
          <a:p>
            <a:r>
              <a:rPr lang="en-GB" sz="1100" b="1" dirty="0">
                <a:solidFill>
                  <a:schemeClr val="bg1"/>
                </a:solidFill>
              </a:rPr>
              <a:t>Investigations App</a:t>
            </a:r>
          </a:p>
        </p:txBody>
      </p:sp>
      <p:sp>
        <p:nvSpPr>
          <p:cNvPr id="41" name="Flowchart: Process 40">
            <a:extLst>
              <a:ext uri="{FF2B5EF4-FFF2-40B4-BE49-F238E27FC236}">
                <a16:creationId xmlns:a16="http://schemas.microsoft.com/office/drawing/2014/main" id="{4258D306-DA47-467C-A2BE-198E38C93474}"/>
              </a:ext>
            </a:extLst>
          </p:cNvPr>
          <p:cNvSpPr/>
          <p:nvPr/>
        </p:nvSpPr>
        <p:spPr>
          <a:xfrm>
            <a:off x="910702" y="1705744"/>
            <a:ext cx="1368000" cy="540000"/>
          </a:xfrm>
          <a:prstGeom prst="flowChart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1050" b="1" dirty="0"/>
              <a:t>Manual</a:t>
            </a:r>
          </a:p>
        </p:txBody>
      </p:sp>
      <p:sp>
        <p:nvSpPr>
          <p:cNvPr id="44" name="Flowchart: Process 43">
            <a:extLst>
              <a:ext uri="{FF2B5EF4-FFF2-40B4-BE49-F238E27FC236}">
                <a16:creationId xmlns:a16="http://schemas.microsoft.com/office/drawing/2014/main" id="{500F8A45-86D2-4A7F-8229-A6A18930FF8F}"/>
              </a:ext>
            </a:extLst>
          </p:cNvPr>
          <p:cNvSpPr/>
          <p:nvPr/>
        </p:nvSpPr>
        <p:spPr>
          <a:xfrm>
            <a:off x="3202488" y="5603919"/>
            <a:ext cx="1368000" cy="540000"/>
          </a:xfrm>
          <a:prstGeom prst="flowChartProcess">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GB" sz="1050" b="1" dirty="0"/>
              <a:t>Abandon</a:t>
            </a:r>
          </a:p>
        </p:txBody>
      </p:sp>
      <p:cxnSp>
        <p:nvCxnSpPr>
          <p:cNvPr id="50" name="Straight Connector 49">
            <a:extLst>
              <a:ext uri="{FF2B5EF4-FFF2-40B4-BE49-F238E27FC236}">
                <a16:creationId xmlns:a16="http://schemas.microsoft.com/office/drawing/2014/main" id="{BCED6435-EEDE-4500-99F7-C81C88C72642}"/>
              </a:ext>
            </a:extLst>
          </p:cNvPr>
          <p:cNvCxnSpPr>
            <a:cxnSpLocks/>
            <a:stCxn id="46" idx="3"/>
            <a:endCxn id="61" idx="1"/>
          </p:cNvCxnSpPr>
          <p:nvPr/>
        </p:nvCxnSpPr>
        <p:spPr>
          <a:xfrm>
            <a:off x="2261543" y="3475152"/>
            <a:ext cx="2057665" cy="0"/>
          </a:xfrm>
          <a:prstGeom prst="line">
            <a:avLst/>
          </a:pr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3" name="Straight Connector 52">
            <a:extLst>
              <a:ext uri="{FF2B5EF4-FFF2-40B4-BE49-F238E27FC236}">
                <a16:creationId xmlns:a16="http://schemas.microsoft.com/office/drawing/2014/main" id="{F4438CA3-0650-4A80-8393-565DE6B1E29B}"/>
              </a:ext>
            </a:extLst>
          </p:cNvPr>
          <p:cNvCxnSpPr>
            <a:cxnSpLocks/>
            <a:stCxn id="61" idx="3"/>
            <a:endCxn id="84" idx="1"/>
          </p:cNvCxnSpPr>
          <p:nvPr/>
        </p:nvCxnSpPr>
        <p:spPr>
          <a:xfrm>
            <a:off x="7462661" y="3475152"/>
            <a:ext cx="870725" cy="0"/>
          </a:xfrm>
          <a:prstGeom prst="line">
            <a:avLst/>
          </a:pr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6" name="Flowchart: Process 55">
            <a:extLst>
              <a:ext uri="{FF2B5EF4-FFF2-40B4-BE49-F238E27FC236}">
                <a16:creationId xmlns:a16="http://schemas.microsoft.com/office/drawing/2014/main" id="{0B4182A8-882F-4C3C-9FAF-DA56FCC5E32B}"/>
              </a:ext>
            </a:extLst>
          </p:cNvPr>
          <p:cNvSpPr/>
          <p:nvPr/>
        </p:nvSpPr>
        <p:spPr>
          <a:xfrm>
            <a:off x="4394824" y="3195583"/>
            <a:ext cx="678741" cy="540000"/>
          </a:xfrm>
          <a:prstGeom prst="flowChart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1050" b="1" dirty="0"/>
              <a:t>CRUD</a:t>
            </a:r>
          </a:p>
        </p:txBody>
      </p:sp>
      <p:sp>
        <p:nvSpPr>
          <p:cNvPr id="58" name="Flowchart: Process 57">
            <a:extLst>
              <a:ext uri="{FF2B5EF4-FFF2-40B4-BE49-F238E27FC236}">
                <a16:creationId xmlns:a16="http://schemas.microsoft.com/office/drawing/2014/main" id="{ADD05688-7F76-4996-86F8-A1AE3F8DFA59}"/>
              </a:ext>
            </a:extLst>
          </p:cNvPr>
          <p:cNvSpPr/>
          <p:nvPr/>
        </p:nvSpPr>
        <p:spPr>
          <a:xfrm>
            <a:off x="5159531" y="3195583"/>
            <a:ext cx="678741" cy="540000"/>
          </a:xfrm>
          <a:prstGeom prst="flowChart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1050" b="1" dirty="0"/>
              <a:t>Send</a:t>
            </a:r>
          </a:p>
        </p:txBody>
      </p:sp>
      <p:sp>
        <p:nvSpPr>
          <p:cNvPr id="59" name="Flowchart: Process 58">
            <a:extLst>
              <a:ext uri="{FF2B5EF4-FFF2-40B4-BE49-F238E27FC236}">
                <a16:creationId xmlns:a16="http://schemas.microsoft.com/office/drawing/2014/main" id="{65F3AD1B-54DF-480E-BCB3-4C66D85BE6D5}"/>
              </a:ext>
            </a:extLst>
          </p:cNvPr>
          <p:cNvSpPr/>
          <p:nvPr/>
        </p:nvSpPr>
        <p:spPr>
          <a:xfrm>
            <a:off x="5944117" y="3197189"/>
            <a:ext cx="678741" cy="540000"/>
          </a:xfrm>
          <a:prstGeom prst="flowChart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1050" b="1" dirty="0"/>
              <a:t>Share</a:t>
            </a:r>
          </a:p>
        </p:txBody>
      </p:sp>
      <p:sp>
        <p:nvSpPr>
          <p:cNvPr id="60" name="Flowchart: Process 59">
            <a:extLst>
              <a:ext uri="{FF2B5EF4-FFF2-40B4-BE49-F238E27FC236}">
                <a16:creationId xmlns:a16="http://schemas.microsoft.com/office/drawing/2014/main" id="{A5F43E20-CB6E-4C83-856E-FFDA1ADE22FE}"/>
              </a:ext>
            </a:extLst>
          </p:cNvPr>
          <p:cNvSpPr/>
          <p:nvPr/>
        </p:nvSpPr>
        <p:spPr>
          <a:xfrm>
            <a:off x="6716275" y="3195583"/>
            <a:ext cx="678741" cy="540000"/>
          </a:xfrm>
          <a:prstGeom prst="flowChart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1050" b="1" dirty="0"/>
              <a:t>Activity Log</a:t>
            </a:r>
          </a:p>
        </p:txBody>
      </p:sp>
      <p:sp>
        <p:nvSpPr>
          <p:cNvPr id="63" name="Flowchart: Process 62">
            <a:extLst>
              <a:ext uri="{FF2B5EF4-FFF2-40B4-BE49-F238E27FC236}">
                <a16:creationId xmlns:a16="http://schemas.microsoft.com/office/drawing/2014/main" id="{3AE1BA48-C5CA-45BD-B1B3-581DBB0A6DB3}"/>
              </a:ext>
            </a:extLst>
          </p:cNvPr>
          <p:cNvSpPr/>
          <p:nvPr/>
        </p:nvSpPr>
        <p:spPr>
          <a:xfrm>
            <a:off x="4407519" y="3821172"/>
            <a:ext cx="947099" cy="540000"/>
          </a:xfrm>
          <a:prstGeom prst="flowChart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1050" b="1" dirty="0"/>
              <a:t>Attach</a:t>
            </a:r>
          </a:p>
        </p:txBody>
      </p:sp>
      <p:sp>
        <p:nvSpPr>
          <p:cNvPr id="64" name="Flowchart: Process 63">
            <a:extLst>
              <a:ext uri="{FF2B5EF4-FFF2-40B4-BE49-F238E27FC236}">
                <a16:creationId xmlns:a16="http://schemas.microsoft.com/office/drawing/2014/main" id="{E1A983AA-914A-4A3F-BFAF-78F2315A0A7D}"/>
              </a:ext>
            </a:extLst>
          </p:cNvPr>
          <p:cNvSpPr/>
          <p:nvPr/>
        </p:nvSpPr>
        <p:spPr>
          <a:xfrm>
            <a:off x="5435214" y="3821172"/>
            <a:ext cx="947099" cy="540000"/>
          </a:xfrm>
          <a:prstGeom prst="flowChart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1050" b="1" dirty="0"/>
              <a:t>Notes</a:t>
            </a:r>
          </a:p>
        </p:txBody>
      </p:sp>
      <p:sp>
        <p:nvSpPr>
          <p:cNvPr id="66" name="Flowchart: Process 65">
            <a:extLst>
              <a:ext uri="{FF2B5EF4-FFF2-40B4-BE49-F238E27FC236}">
                <a16:creationId xmlns:a16="http://schemas.microsoft.com/office/drawing/2014/main" id="{E185E027-E5D8-4825-9EBE-F185C6A8086C}"/>
              </a:ext>
            </a:extLst>
          </p:cNvPr>
          <p:cNvSpPr/>
          <p:nvPr/>
        </p:nvSpPr>
        <p:spPr>
          <a:xfrm>
            <a:off x="6462909" y="3821172"/>
            <a:ext cx="947099" cy="540000"/>
          </a:xfrm>
          <a:prstGeom prst="flowChart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1050" b="1" dirty="0"/>
              <a:t>Move Assets Between</a:t>
            </a:r>
          </a:p>
        </p:txBody>
      </p:sp>
      <p:cxnSp>
        <p:nvCxnSpPr>
          <p:cNvPr id="22" name="Connector: Elbow 21">
            <a:extLst>
              <a:ext uri="{FF2B5EF4-FFF2-40B4-BE49-F238E27FC236}">
                <a16:creationId xmlns:a16="http://schemas.microsoft.com/office/drawing/2014/main" id="{B5489357-FE40-40CC-88A9-0CCA30638466}"/>
              </a:ext>
            </a:extLst>
          </p:cNvPr>
          <p:cNvCxnSpPr>
            <a:stCxn id="61" idx="2"/>
            <a:endCxn id="44" idx="3"/>
          </p:cNvCxnSpPr>
          <p:nvPr/>
        </p:nvCxnSpPr>
        <p:spPr>
          <a:xfrm rot="5400000">
            <a:off x="4517133" y="4500117"/>
            <a:ext cx="1427158" cy="1320447"/>
          </a:xfrm>
          <a:prstGeom prst="bentConnector2">
            <a:avLst/>
          </a:prstGeom>
          <a:ln>
            <a:tailEnd type="triangle"/>
          </a:ln>
        </p:spPr>
        <p:style>
          <a:lnRef idx="1">
            <a:schemeClr val="accent2"/>
          </a:lnRef>
          <a:fillRef idx="0">
            <a:schemeClr val="accent2"/>
          </a:fillRef>
          <a:effectRef idx="0">
            <a:schemeClr val="accent2"/>
          </a:effectRef>
          <a:fontRef idx="minor">
            <a:schemeClr val="tx1"/>
          </a:fontRef>
        </p:style>
      </p:cxnSp>
      <p:sp>
        <p:nvSpPr>
          <p:cNvPr id="67" name="TextBox 66">
            <a:extLst>
              <a:ext uri="{FF2B5EF4-FFF2-40B4-BE49-F238E27FC236}">
                <a16:creationId xmlns:a16="http://schemas.microsoft.com/office/drawing/2014/main" id="{CA230BAE-18D5-4396-AF95-38881448550B}"/>
              </a:ext>
            </a:extLst>
          </p:cNvPr>
          <p:cNvSpPr txBox="1"/>
          <p:nvPr/>
        </p:nvSpPr>
        <p:spPr>
          <a:xfrm>
            <a:off x="3886488" y="6209052"/>
            <a:ext cx="2666669" cy="507831"/>
          </a:xfrm>
          <a:prstGeom prst="rect">
            <a:avLst/>
          </a:prstGeom>
          <a:noFill/>
        </p:spPr>
        <p:txBody>
          <a:bodyPr wrap="square" rtlCol="0">
            <a:spAutoFit/>
          </a:bodyPr>
          <a:lstStyle/>
          <a:p>
            <a:r>
              <a:rPr lang="en-GB" sz="900" b="1" dirty="0"/>
              <a:t>Abandon an Investigation will offer Abandon All Work Items in this Investigation or move them back to Work Item</a:t>
            </a:r>
          </a:p>
        </p:txBody>
      </p:sp>
      <p:cxnSp>
        <p:nvCxnSpPr>
          <p:cNvPr id="79" name="Connector: Elbow 78">
            <a:extLst>
              <a:ext uri="{FF2B5EF4-FFF2-40B4-BE49-F238E27FC236}">
                <a16:creationId xmlns:a16="http://schemas.microsoft.com/office/drawing/2014/main" id="{84ECB68E-6627-4A32-90CE-ACF642327385}"/>
              </a:ext>
            </a:extLst>
          </p:cNvPr>
          <p:cNvCxnSpPr>
            <a:cxnSpLocks/>
            <a:stCxn id="46" idx="2"/>
            <a:endCxn id="44" idx="1"/>
          </p:cNvCxnSpPr>
          <p:nvPr/>
        </p:nvCxnSpPr>
        <p:spPr>
          <a:xfrm rot="16200000" flipH="1">
            <a:off x="1325632" y="3997062"/>
            <a:ext cx="2128767" cy="1624945"/>
          </a:xfrm>
          <a:prstGeom prst="bentConnector2">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86" name="Straight Connector 85">
            <a:extLst>
              <a:ext uri="{FF2B5EF4-FFF2-40B4-BE49-F238E27FC236}">
                <a16:creationId xmlns:a16="http://schemas.microsoft.com/office/drawing/2014/main" id="{0E55484B-558F-4184-AAD2-1D89247C6488}"/>
              </a:ext>
            </a:extLst>
          </p:cNvPr>
          <p:cNvCxnSpPr>
            <a:cxnSpLocks/>
          </p:cNvCxnSpPr>
          <p:nvPr/>
        </p:nvCxnSpPr>
        <p:spPr>
          <a:xfrm>
            <a:off x="7889973" y="1215580"/>
            <a:ext cx="0" cy="5642420"/>
          </a:xfrm>
          <a:prstGeom prst="line">
            <a:avLst/>
          </a:prstGeom>
          <a:ln w="9525" cap="flat" cmpd="sng" algn="ctr">
            <a:solidFill>
              <a:schemeClr val="bg1">
                <a:lumMod val="8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8" name="TextBox 87">
            <a:extLst>
              <a:ext uri="{FF2B5EF4-FFF2-40B4-BE49-F238E27FC236}">
                <a16:creationId xmlns:a16="http://schemas.microsoft.com/office/drawing/2014/main" id="{D647C658-5C28-4858-B197-1FE7057C71F1}"/>
              </a:ext>
            </a:extLst>
          </p:cNvPr>
          <p:cNvSpPr txBox="1"/>
          <p:nvPr/>
        </p:nvSpPr>
        <p:spPr>
          <a:xfrm>
            <a:off x="21580" y="1215580"/>
            <a:ext cx="3802848" cy="261610"/>
          </a:xfrm>
          <a:prstGeom prst="rect">
            <a:avLst/>
          </a:prstGeom>
          <a:noFill/>
        </p:spPr>
        <p:txBody>
          <a:bodyPr wrap="square" rtlCol="0">
            <a:spAutoFit/>
          </a:bodyPr>
          <a:lstStyle/>
          <a:p>
            <a:pPr algn="ctr"/>
            <a:r>
              <a:rPr lang="en-GB" sz="1100" b="1" dirty="0"/>
              <a:t>Step 1</a:t>
            </a:r>
          </a:p>
        </p:txBody>
      </p:sp>
      <p:sp>
        <p:nvSpPr>
          <p:cNvPr id="89" name="TextBox 88">
            <a:extLst>
              <a:ext uri="{FF2B5EF4-FFF2-40B4-BE49-F238E27FC236}">
                <a16:creationId xmlns:a16="http://schemas.microsoft.com/office/drawing/2014/main" id="{A68CFEDE-F75E-4EF8-A2DB-912F262E1692}"/>
              </a:ext>
            </a:extLst>
          </p:cNvPr>
          <p:cNvSpPr txBox="1"/>
          <p:nvPr/>
        </p:nvSpPr>
        <p:spPr>
          <a:xfrm>
            <a:off x="3880411" y="1215580"/>
            <a:ext cx="4003484" cy="261610"/>
          </a:xfrm>
          <a:prstGeom prst="rect">
            <a:avLst/>
          </a:prstGeom>
          <a:noFill/>
        </p:spPr>
        <p:txBody>
          <a:bodyPr wrap="square" rtlCol="0">
            <a:spAutoFit/>
          </a:bodyPr>
          <a:lstStyle/>
          <a:p>
            <a:pPr algn="ctr"/>
            <a:r>
              <a:rPr lang="en-GB" sz="1100" b="1" dirty="0"/>
              <a:t>Step 2</a:t>
            </a:r>
          </a:p>
        </p:txBody>
      </p:sp>
      <p:sp>
        <p:nvSpPr>
          <p:cNvPr id="90" name="TextBox 89">
            <a:extLst>
              <a:ext uri="{FF2B5EF4-FFF2-40B4-BE49-F238E27FC236}">
                <a16:creationId xmlns:a16="http://schemas.microsoft.com/office/drawing/2014/main" id="{2B86B239-D9AC-4173-B57E-1EF855AC40FA}"/>
              </a:ext>
            </a:extLst>
          </p:cNvPr>
          <p:cNvSpPr txBox="1"/>
          <p:nvPr/>
        </p:nvSpPr>
        <p:spPr>
          <a:xfrm>
            <a:off x="8146012" y="1205215"/>
            <a:ext cx="3802848" cy="261610"/>
          </a:xfrm>
          <a:prstGeom prst="rect">
            <a:avLst/>
          </a:prstGeom>
          <a:noFill/>
        </p:spPr>
        <p:txBody>
          <a:bodyPr wrap="square" rtlCol="0">
            <a:spAutoFit/>
          </a:bodyPr>
          <a:lstStyle/>
          <a:p>
            <a:pPr algn="ctr"/>
            <a:r>
              <a:rPr lang="en-GB" sz="1100" b="1" dirty="0"/>
              <a:t>Step 3</a:t>
            </a:r>
          </a:p>
        </p:txBody>
      </p:sp>
      <p:sp>
        <p:nvSpPr>
          <p:cNvPr id="91" name="Flowchart: Process 90">
            <a:extLst>
              <a:ext uri="{FF2B5EF4-FFF2-40B4-BE49-F238E27FC236}">
                <a16:creationId xmlns:a16="http://schemas.microsoft.com/office/drawing/2014/main" id="{10108139-A536-4821-ADAE-96CC2B5435AE}"/>
              </a:ext>
            </a:extLst>
          </p:cNvPr>
          <p:cNvSpPr/>
          <p:nvPr/>
        </p:nvSpPr>
        <p:spPr>
          <a:xfrm>
            <a:off x="9895428" y="3211057"/>
            <a:ext cx="1368000" cy="540000"/>
          </a:xfrm>
          <a:prstGeom prst="flowChartProcess">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GB" sz="1050" b="1" dirty="0"/>
              <a:t>Approval and Rejection</a:t>
            </a:r>
          </a:p>
        </p:txBody>
      </p:sp>
      <p:cxnSp>
        <p:nvCxnSpPr>
          <p:cNvPr id="92" name="Straight Connector 91">
            <a:extLst>
              <a:ext uri="{FF2B5EF4-FFF2-40B4-BE49-F238E27FC236}">
                <a16:creationId xmlns:a16="http://schemas.microsoft.com/office/drawing/2014/main" id="{B184C222-8333-4886-8353-66B1A8E28032}"/>
              </a:ext>
            </a:extLst>
          </p:cNvPr>
          <p:cNvCxnSpPr>
            <a:cxnSpLocks/>
            <a:stCxn id="84" idx="3"/>
            <a:endCxn id="91" idx="1"/>
          </p:cNvCxnSpPr>
          <p:nvPr/>
        </p:nvCxnSpPr>
        <p:spPr>
          <a:xfrm>
            <a:off x="9701386" y="3475152"/>
            <a:ext cx="194042" cy="5905"/>
          </a:xfrm>
          <a:prstGeom prst="line">
            <a:avLst/>
          </a:pr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4" name="TextBox 93">
            <a:extLst>
              <a:ext uri="{FF2B5EF4-FFF2-40B4-BE49-F238E27FC236}">
                <a16:creationId xmlns:a16="http://schemas.microsoft.com/office/drawing/2014/main" id="{98E88344-AE6C-4100-A3AF-B37984B3975A}"/>
              </a:ext>
            </a:extLst>
          </p:cNvPr>
          <p:cNvSpPr txBox="1"/>
          <p:nvPr/>
        </p:nvSpPr>
        <p:spPr>
          <a:xfrm>
            <a:off x="1621923" y="3789274"/>
            <a:ext cx="2152598" cy="369332"/>
          </a:xfrm>
          <a:prstGeom prst="rect">
            <a:avLst/>
          </a:prstGeom>
          <a:noFill/>
        </p:spPr>
        <p:txBody>
          <a:bodyPr wrap="square" rtlCol="0">
            <a:spAutoFit/>
          </a:bodyPr>
          <a:lstStyle/>
          <a:p>
            <a:r>
              <a:rPr lang="en-GB" sz="900" b="1" dirty="0"/>
              <a:t>Automated work view items from Instant Analytics</a:t>
            </a:r>
          </a:p>
        </p:txBody>
      </p:sp>
      <p:cxnSp>
        <p:nvCxnSpPr>
          <p:cNvPr id="95" name="Connector: Elbow 94">
            <a:extLst>
              <a:ext uri="{FF2B5EF4-FFF2-40B4-BE49-F238E27FC236}">
                <a16:creationId xmlns:a16="http://schemas.microsoft.com/office/drawing/2014/main" id="{6E4F209D-8859-481D-BA5C-0E250B13E9CE}"/>
              </a:ext>
            </a:extLst>
          </p:cNvPr>
          <p:cNvCxnSpPr>
            <a:cxnSpLocks/>
            <a:stCxn id="41" idx="3"/>
            <a:endCxn id="61" idx="1"/>
          </p:cNvCxnSpPr>
          <p:nvPr/>
        </p:nvCxnSpPr>
        <p:spPr>
          <a:xfrm>
            <a:off x="2278702" y="1975744"/>
            <a:ext cx="2040506" cy="1499408"/>
          </a:xfrm>
          <a:prstGeom prst="bentConnector3">
            <a:avLst>
              <a:gd name="adj1" fmla="val 50000"/>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8" name="Straight Connector 47">
            <a:extLst>
              <a:ext uri="{FF2B5EF4-FFF2-40B4-BE49-F238E27FC236}">
                <a16:creationId xmlns:a16="http://schemas.microsoft.com/office/drawing/2014/main" id="{D69FC6D1-E277-49F8-B75A-A3E4103D5FC9}"/>
              </a:ext>
            </a:extLst>
          </p:cNvPr>
          <p:cNvCxnSpPr>
            <a:cxnSpLocks/>
            <a:stCxn id="91" idx="2"/>
            <a:endCxn id="51" idx="0"/>
          </p:cNvCxnSpPr>
          <p:nvPr/>
        </p:nvCxnSpPr>
        <p:spPr>
          <a:xfrm>
            <a:off x="10579428" y="3751057"/>
            <a:ext cx="1272" cy="184569"/>
          </a:xfrm>
          <a:prstGeom prst="line">
            <a:avLst/>
          </a:pr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1" name="Flowchart: Process 50">
            <a:extLst>
              <a:ext uri="{FF2B5EF4-FFF2-40B4-BE49-F238E27FC236}">
                <a16:creationId xmlns:a16="http://schemas.microsoft.com/office/drawing/2014/main" id="{4443382F-5990-45E4-9A7F-324E8FE7D840}"/>
              </a:ext>
            </a:extLst>
          </p:cNvPr>
          <p:cNvSpPr/>
          <p:nvPr/>
        </p:nvSpPr>
        <p:spPr>
          <a:xfrm>
            <a:off x="9896700" y="3935626"/>
            <a:ext cx="1368000" cy="540000"/>
          </a:xfrm>
          <a:prstGeom prst="flowChartProcess">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GB" sz="1050" b="1" dirty="0"/>
              <a:t>Rejection reason and notifications</a:t>
            </a:r>
          </a:p>
        </p:txBody>
      </p:sp>
      <p:sp>
        <p:nvSpPr>
          <p:cNvPr id="47" name="Flowchart: Process 46">
            <a:extLst>
              <a:ext uri="{FF2B5EF4-FFF2-40B4-BE49-F238E27FC236}">
                <a16:creationId xmlns:a16="http://schemas.microsoft.com/office/drawing/2014/main" id="{1C8691A7-3AD8-4228-9F38-504126B64BC6}"/>
              </a:ext>
            </a:extLst>
          </p:cNvPr>
          <p:cNvSpPr/>
          <p:nvPr/>
        </p:nvSpPr>
        <p:spPr>
          <a:xfrm>
            <a:off x="4397076" y="2842543"/>
            <a:ext cx="2995436" cy="270000"/>
          </a:xfrm>
          <a:prstGeom prst="flowChart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1050" b="1" dirty="0"/>
              <a:t>Prescriptive Investigation Templates</a:t>
            </a:r>
          </a:p>
        </p:txBody>
      </p:sp>
      <p:sp>
        <p:nvSpPr>
          <p:cNvPr id="71" name="TextBox 70">
            <a:extLst>
              <a:ext uri="{FF2B5EF4-FFF2-40B4-BE49-F238E27FC236}">
                <a16:creationId xmlns:a16="http://schemas.microsoft.com/office/drawing/2014/main" id="{579AEE6B-C63A-4992-8844-497813B26324}"/>
              </a:ext>
            </a:extLst>
          </p:cNvPr>
          <p:cNvSpPr txBox="1"/>
          <p:nvPr/>
        </p:nvSpPr>
        <p:spPr>
          <a:xfrm>
            <a:off x="8109547" y="2921010"/>
            <a:ext cx="2022453" cy="230832"/>
          </a:xfrm>
          <a:prstGeom prst="rect">
            <a:avLst/>
          </a:prstGeom>
          <a:noFill/>
        </p:spPr>
        <p:txBody>
          <a:bodyPr wrap="square" rtlCol="0">
            <a:spAutoFit/>
          </a:bodyPr>
          <a:lstStyle/>
          <a:p>
            <a:r>
              <a:rPr lang="en-GB" sz="900" b="1" dirty="0"/>
              <a:t>Auto populate from Investigation</a:t>
            </a:r>
          </a:p>
        </p:txBody>
      </p:sp>
      <p:cxnSp>
        <p:nvCxnSpPr>
          <p:cNvPr id="80" name="Connector: Elbow 79">
            <a:extLst>
              <a:ext uri="{FF2B5EF4-FFF2-40B4-BE49-F238E27FC236}">
                <a16:creationId xmlns:a16="http://schemas.microsoft.com/office/drawing/2014/main" id="{8D43EC6F-1723-4892-AE53-385E738CAA37}"/>
              </a:ext>
            </a:extLst>
          </p:cNvPr>
          <p:cNvCxnSpPr>
            <a:cxnSpLocks/>
            <a:stCxn id="51" idx="1"/>
            <a:endCxn id="84" idx="2"/>
          </p:cNvCxnSpPr>
          <p:nvPr/>
        </p:nvCxnSpPr>
        <p:spPr>
          <a:xfrm rot="10800000">
            <a:off x="9017386" y="3745152"/>
            <a:ext cx="879314" cy="460474"/>
          </a:xfrm>
          <a:prstGeom prst="bentConnector2">
            <a:avLst/>
          </a:prstGeom>
          <a:ln>
            <a:tailEnd type="triangle"/>
          </a:ln>
        </p:spPr>
        <p:style>
          <a:lnRef idx="1">
            <a:schemeClr val="accent2"/>
          </a:lnRef>
          <a:fillRef idx="0">
            <a:schemeClr val="accent2"/>
          </a:fillRef>
          <a:effectRef idx="0">
            <a:schemeClr val="accent2"/>
          </a:effectRef>
          <a:fontRef idx="minor">
            <a:schemeClr val="tx1"/>
          </a:fontRef>
        </p:style>
      </p:cxnSp>
      <p:sp>
        <p:nvSpPr>
          <p:cNvPr id="14" name="Flowchart: Connector 13">
            <a:extLst>
              <a:ext uri="{FF2B5EF4-FFF2-40B4-BE49-F238E27FC236}">
                <a16:creationId xmlns:a16="http://schemas.microsoft.com/office/drawing/2014/main" id="{6C6A3A6C-36D8-46CB-A553-778ED0F06FD8}"/>
              </a:ext>
            </a:extLst>
          </p:cNvPr>
          <p:cNvSpPr/>
          <p:nvPr/>
        </p:nvSpPr>
        <p:spPr>
          <a:xfrm>
            <a:off x="11463150" y="3241200"/>
            <a:ext cx="485710" cy="485710"/>
          </a:xfrm>
          <a:prstGeom prst="flowChartConnector">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GB"/>
          </a:p>
        </p:txBody>
      </p:sp>
      <p:cxnSp>
        <p:nvCxnSpPr>
          <p:cNvPr id="82" name="Straight Connector 81">
            <a:extLst>
              <a:ext uri="{FF2B5EF4-FFF2-40B4-BE49-F238E27FC236}">
                <a16:creationId xmlns:a16="http://schemas.microsoft.com/office/drawing/2014/main" id="{4F634213-0E11-4A45-A122-38081896E0A1}"/>
              </a:ext>
            </a:extLst>
          </p:cNvPr>
          <p:cNvCxnSpPr>
            <a:cxnSpLocks/>
            <a:stCxn id="91" idx="3"/>
            <a:endCxn id="14" idx="2"/>
          </p:cNvCxnSpPr>
          <p:nvPr/>
        </p:nvCxnSpPr>
        <p:spPr>
          <a:xfrm>
            <a:off x="11263428" y="3481057"/>
            <a:ext cx="199722" cy="2998"/>
          </a:xfrm>
          <a:prstGeom prst="line">
            <a:avLst/>
          </a:pr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5" name="TextBox 84">
            <a:extLst>
              <a:ext uri="{FF2B5EF4-FFF2-40B4-BE49-F238E27FC236}">
                <a16:creationId xmlns:a16="http://schemas.microsoft.com/office/drawing/2014/main" id="{3FA4EAC7-BCB3-45DB-9461-B0018B4FE91A}"/>
              </a:ext>
            </a:extLst>
          </p:cNvPr>
          <p:cNvSpPr txBox="1"/>
          <p:nvPr/>
        </p:nvSpPr>
        <p:spPr>
          <a:xfrm>
            <a:off x="11377339" y="2977724"/>
            <a:ext cx="684875" cy="230832"/>
          </a:xfrm>
          <a:prstGeom prst="rect">
            <a:avLst/>
          </a:prstGeom>
          <a:noFill/>
        </p:spPr>
        <p:txBody>
          <a:bodyPr wrap="square" rtlCol="0">
            <a:spAutoFit/>
          </a:bodyPr>
          <a:lstStyle/>
          <a:p>
            <a:r>
              <a:rPr lang="en-GB" sz="900" b="1" dirty="0"/>
              <a:t>Approved</a:t>
            </a:r>
          </a:p>
        </p:txBody>
      </p:sp>
      <p:sp>
        <p:nvSpPr>
          <p:cNvPr id="3" name="Title 2">
            <a:extLst>
              <a:ext uri="{FF2B5EF4-FFF2-40B4-BE49-F238E27FC236}">
                <a16:creationId xmlns:a16="http://schemas.microsoft.com/office/drawing/2014/main" id="{D97BEA72-2C67-4262-90EC-CEAD081F246D}"/>
              </a:ext>
            </a:extLst>
          </p:cNvPr>
          <p:cNvSpPr>
            <a:spLocks noGrp="1"/>
          </p:cNvSpPr>
          <p:nvPr>
            <p:ph type="title"/>
          </p:nvPr>
        </p:nvSpPr>
        <p:spPr/>
        <p:txBody>
          <a:bodyPr/>
          <a:lstStyle/>
          <a:p>
            <a:r>
              <a:rPr lang="en-GB" dirty="0"/>
              <a:t>Secure 5.2  Workflow </a:t>
            </a:r>
          </a:p>
        </p:txBody>
      </p:sp>
    </p:spTree>
    <p:extLst>
      <p:ext uri="{BB962C8B-B14F-4D97-AF65-F5344CB8AC3E}">
        <p14:creationId xmlns:p14="http://schemas.microsoft.com/office/powerpoint/2010/main" val="1612419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ABB2C-C203-464F-8C97-65E03DBDCB21}"/>
              </a:ext>
            </a:extLst>
          </p:cNvPr>
          <p:cNvSpPr>
            <a:spLocks noGrp="1"/>
          </p:cNvSpPr>
          <p:nvPr>
            <p:ph type="title"/>
          </p:nvPr>
        </p:nvSpPr>
        <p:spPr>
          <a:xfrm>
            <a:off x="831850" y="358727"/>
            <a:ext cx="7987685" cy="443198"/>
          </a:xfrm>
        </p:spPr>
        <p:txBody>
          <a:bodyPr/>
          <a:lstStyle/>
          <a:p>
            <a:r>
              <a:rPr lang="en-GB" dirty="0"/>
              <a:t>Default User Groups  </a:t>
            </a:r>
          </a:p>
        </p:txBody>
      </p:sp>
      <p:sp>
        <p:nvSpPr>
          <p:cNvPr id="4" name="Slide Number Placeholder 3">
            <a:extLst>
              <a:ext uri="{FF2B5EF4-FFF2-40B4-BE49-F238E27FC236}">
                <a16:creationId xmlns:a16="http://schemas.microsoft.com/office/drawing/2014/main" id="{BCA08208-7950-4F50-A66B-E9163AC35CE9}"/>
              </a:ext>
            </a:extLst>
          </p:cNvPr>
          <p:cNvSpPr>
            <a:spLocks noGrp="1"/>
          </p:cNvSpPr>
          <p:nvPr>
            <p:ph type="sldNum" sz="quarter" idx="12"/>
          </p:nvPr>
        </p:nvSpPr>
        <p:spPr/>
        <p:txBody>
          <a:bodyPr/>
          <a:lstStyle/>
          <a:p>
            <a:fld id="{0BF9CEBF-66DF-3848-8984-13BBF9FFC1B1}" type="slidenum">
              <a:rPr lang="en-US" smtClean="0"/>
              <a:pPr/>
              <a:t>15</a:t>
            </a:fld>
            <a:endParaRPr lang="en-US"/>
          </a:p>
        </p:txBody>
      </p:sp>
      <p:sp>
        <p:nvSpPr>
          <p:cNvPr id="5" name="Footer Placeholder 4">
            <a:extLst>
              <a:ext uri="{FF2B5EF4-FFF2-40B4-BE49-F238E27FC236}">
                <a16:creationId xmlns:a16="http://schemas.microsoft.com/office/drawing/2014/main" id="{5CDDC6CC-3441-4450-B299-3EAC1B7D3B15}"/>
              </a:ext>
            </a:extLst>
          </p:cNvPr>
          <p:cNvSpPr>
            <a:spLocks noGrp="1"/>
          </p:cNvSpPr>
          <p:nvPr>
            <p:ph type="ftr" sz="quarter" idx="11"/>
          </p:nvPr>
        </p:nvSpPr>
        <p:spPr/>
        <p:txBody>
          <a:bodyPr/>
          <a:lstStyle/>
          <a:p>
            <a:r>
              <a:rPr lang="en-US"/>
              <a:t>©Appriss Retail.  Proprietary and Confidential</a:t>
            </a:r>
            <a:endParaRPr lang="en-US" dirty="0"/>
          </a:p>
        </p:txBody>
      </p:sp>
      <p:graphicFrame>
        <p:nvGraphicFramePr>
          <p:cNvPr id="3" name="Table 2">
            <a:extLst>
              <a:ext uri="{FF2B5EF4-FFF2-40B4-BE49-F238E27FC236}">
                <a16:creationId xmlns:a16="http://schemas.microsoft.com/office/drawing/2014/main" id="{2816C939-394C-43E7-AFB6-965BC3BCAAAC}"/>
              </a:ext>
            </a:extLst>
          </p:cNvPr>
          <p:cNvGraphicFramePr>
            <a:graphicFrameLocks noGrp="1"/>
          </p:cNvGraphicFramePr>
          <p:nvPr>
            <p:extLst>
              <p:ext uri="{D42A27DB-BD31-4B8C-83A1-F6EECF244321}">
                <p14:modId xmlns:p14="http://schemas.microsoft.com/office/powerpoint/2010/main" val="1624684854"/>
              </p:ext>
            </p:extLst>
          </p:nvPr>
        </p:nvGraphicFramePr>
        <p:xfrm>
          <a:off x="831850" y="1591896"/>
          <a:ext cx="10663994" cy="4435056"/>
        </p:xfrm>
        <a:graphic>
          <a:graphicData uri="http://schemas.openxmlformats.org/drawingml/2006/table">
            <a:tbl>
              <a:tblPr firstRow="1" bandRow="1">
                <a:tableStyleId>{5C22544A-7EE6-4342-B048-85BDC9FD1C3A}</a:tableStyleId>
              </a:tblPr>
              <a:tblGrid>
                <a:gridCol w="1103482">
                  <a:extLst>
                    <a:ext uri="{9D8B030D-6E8A-4147-A177-3AD203B41FA5}">
                      <a16:colId xmlns:a16="http://schemas.microsoft.com/office/drawing/2014/main" val="2822740448"/>
                    </a:ext>
                  </a:extLst>
                </a:gridCol>
                <a:gridCol w="1165829">
                  <a:extLst>
                    <a:ext uri="{9D8B030D-6E8A-4147-A177-3AD203B41FA5}">
                      <a16:colId xmlns:a16="http://schemas.microsoft.com/office/drawing/2014/main" val="649059314"/>
                    </a:ext>
                  </a:extLst>
                </a:gridCol>
                <a:gridCol w="1515227">
                  <a:extLst>
                    <a:ext uri="{9D8B030D-6E8A-4147-A177-3AD203B41FA5}">
                      <a16:colId xmlns:a16="http://schemas.microsoft.com/office/drawing/2014/main" val="483890098"/>
                    </a:ext>
                  </a:extLst>
                </a:gridCol>
                <a:gridCol w="6879456">
                  <a:extLst>
                    <a:ext uri="{9D8B030D-6E8A-4147-A177-3AD203B41FA5}">
                      <a16:colId xmlns:a16="http://schemas.microsoft.com/office/drawing/2014/main" val="1654725760"/>
                    </a:ext>
                  </a:extLst>
                </a:gridCol>
              </a:tblGrid>
              <a:tr h="476083">
                <a:tc>
                  <a:txBody>
                    <a:bodyPr/>
                    <a:lstStyle/>
                    <a:p>
                      <a:r>
                        <a:rPr lang="en-GB" sz="1200" dirty="0"/>
                        <a:t>AS Watson Users in Contract</a:t>
                      </a:r>
                    </a:p>
                  </a:txBody>
                  <a:tcPr>
                    <a:solidFill>
                      <a:schemeClr val="tx1"/>
                    </a:solidFill>
                  </a:tcPr>
                </a:tc>
                <a:tc>
                  <a:txBody>
                    <a:bodyPr/>
                    <a:lstStyle/>
                    <a:p>
                      <a:r>
                        <a:rPr lang="en-GB" sz="1200" dirty="0"/>
                        <a:t>Contract Classification</a:t>
                      </a:r>
                    </a:p>
                  </a:txBody>
                  <a:tcPr>
                    <a:solidFill>
                      <a:schemeClr val="tx1"/>
                    </a:solidFill>
                  </a:tcPr>
                </a:tc>
                <a:tc>
                  <a:txBody>
                    <a:bodyPr/>
                    <a:lstStyle/>
                    <a:p>
                      <a:r>
                        <a:rPr lang="en-GB" sz="1200" dirty="0"/>
                        <a:t>User Group </a:t>
                      </a:r>
                    </a:p>
                  </a:txBody>
                  <a:tcPr>
                    <a:solidFill>
                      <a:schemeClr val="tx1"/>
                    </a:solidFill>
                  </a:tcPr>
                </a:tc>
                <a:tc>
                  <a:txBody>
                    <a:bodyPr/>
                    <a:lstStyle/>
                    <a:p>
                      <a:r>
                        <a:rPr lang="en-GB" sz="1200" dirty="0"/>
                        <a:t>Definition</a:t>
                      </a:r>
                    </a:p>
                  </a:txBody>
                  <a:tcPr>
                    <a:solidFill>
                      <a:schemeClr val="tx1"/>
                    </a:solidFill>
                  </a:tcPr>
                </a:tc>
                <a:extLst>
                  <a:ext uri="{0D108BD9-81ED-4DB2-BD59-A6C34878D82A}">
                    <a16:rowId xmlns:a16="http://schemas.microsoft.com/office/drawing/2014/main" val="3722250831"/>
                  </a:ext>
                </a:extLst>
              </a:tr>
              <a:tr h="410197">
                <a:tc rowSpan="2">
                  <a:txBody>
                    <a:bodyPr/>
                    <a:lstStyle/>
                    <a:p>
                      <a:pPr algn="ctr"/>
                      <a:r>
                        <a:rPr lang="en-GB" sz="1200" dirty="0"/>
                        <a:t>5</a:t>
                      </a:r>
                    </a:p>
                  </a:txBody>
                  <a:tcPr>
                    <a:solidFill>
                      <a:schemeClr val="bg2"/>
                    </a:solidFill>
                  </a:tcPr>
                </a:tc>
                <a:tc>
                  <a:txBody>
                    <a:bodyPr/>
                    <a:lstStyle/>
                    <a:p>
                      <a:pPr algn="ctr"/>
                      <a:r>
                        <a:rPr lang="en-GB" sz="1200" b="1" dirty="0"/>
                        <a:t>Analyst</a:t>
                      </a:r>
                    </a:p>
                  </a:txBody>
                  <a:tcPr>
                    <a:solidFill>
                      <a:schemeClr val="bg2"/>
                    </a:solidFill>
                  </a:tcPr>
                </a:tc>
                <a:tc>
                  <a:txBody>
                    <a:bodyPr/>
                    <a:lstStyle/>
                    <a:p>
                      <a:r>
                        <a:rPr lang="en-GB" sz="1200" dirty="0"/>
                        <a:t>Client Administrator </a:t>
                      </a:r>
                    </a:p>
                  </a:txBody>
                  <a:tcPr>
                    <a:solidFill>
                      <a:schemeClr val="bg2"/>
                    </a:solidFill>
                  </a:tcPr>
                </a:tc>
                <a:tc>
                  <a:txBody>
                    <a:bodyPr/>
                    <a:lstStyle/>
                    <a:p>
                      <a:r>
                        <a:rPr lang="en-GB" sz="1200" kern="1200" dirty="0">
                          <a:solidFill>
                            <a:schemeClr val="dk1"/>
                          </a:solidFill>
                          <a:latin typeface="+mn-lt"/>
                          <a:ea typeface="+mn-ea"/>
                          <a:cs typeface="+mn-cs"/>
                        </a:rPr>
                        <a:t>Have access to Administration functionality that you would not like to expose to other users. This includes User Management and Location Hierarchy. The Superuser or Administrator of Secure for the Client. </a:t>
                      </a:r>
                    </a:p>
                  </a:txBody>
                  <a:tcPr>
                    <a:solidFill>
                      <a:schemeClr val="bg2"/>
                    </a:solidFill>
                  </a:tcPr>
                </a:tc>
                <a:extLst>
                  <a:ext uri="{0D108BD9-81ED-4DB2-BD59-A6C34878D82A}">
                    <a16:rowId xmlns:a16="http://schemas.microsoft.com/office/drawing/2014/main" val="2374318653"/>
                  </a:ext>
                </a:extLst>
              </a:tr>
              <a:tr h="1112592">
                <a:tc vMerge="1">
                  <a:txBody>
                    <a:bodyPr/>
                    <a:lstStyle/>
                    <a:p>
                      <a:endParaRPr lang="en-GB" dirty="0"/>
                    </a:p>
                  </a:txBody>
                  <a:tcPr/>
                </a:tc>
                <a:tc>
                  <a:txBody>
                    <a:bodyPr/>
                    <a:lstStyle/>
                    <a:p>
                      <a:pPr algn="ctr"/>
                      <a:r>
                        <a:rPr lang="en-GB" sz="1200" b="1" dirty="0"/>
                        <a:t>Analyst</a:t>
                      </a:r>
                    </a:p>
                  </a:txBody>
                  <a:tcPr>
                    <a:solidFill>
                      <a:schemeClr val="bg2"/>
                    </a:solidFill>
                  </a:tcPr>
                </a:tc>
                <a:tc>
                  <a:txBody>
                    <a:bodyPr/>
                    <a:lstStyle/>
                    <a:p>
                      <a:r>
                        <a:rPr lang="en-GB" sz="1200" dirty="0"/>
                        <a:t>Analyst</a:t>
                      </a:r>
                    </a:p>
                  </a:txBody>
                  <a:tcPr>
                    <a:solidFill>
                      <a:schemeClr val="bg2"/>
                    </a:solidFill>
                  </a:tcPr>
                </a:tc>
                <a:tc>
                  <a:txBody>
                    <a:bodyPr/>
                    <a:lstStyle/>
                    <a:p>
                      <a:r>
                        <a:rPr lang="en-GB" sz="1200" dirty="0"/>
                        <a:t>Have the ability to search and manipulate all available data within the system on an ad hoc basis or on a scheduled basis. The Analyst User has full access to all features within the system including system configuration to set up reports, dashboards and automated exception generation. The product of the Analyst User’s configurations will be the exceptions that are propagated to the Investigator User for investigation and resolution.</a:t>
                      </a:r>
                    </a:p>
                  </a:txBody>
                  <a:tcPr>
                    <a:solidFill>
                      <a:schemeClr val="bg2"/>
                    </a:solidFill>
                  </a:tcPr>
                </a:tc>
                <a:extLst>
                  <a:ext uri="{0D108BD9-81ED-4DB2-BD59-A6C34878D82A}">
                    <a16:rowId xmlns:a16="http://schemas.microsoft.com/office/drawing/2014/main" val="3938290781"/>
                  </a:ext>
                </a:extLst>
              </a:tr>
              <a:tr h="1112592">
                <a:tc>
                  <a:txBody>
                    <a:bodyPr/>
                    <a:lstStyle/>
                    <a:p>
                      <a:pPr algn="ctr"/>
                      <a:r>
                        <a:rPr lang="en-GB" sz="1200" dirty="0"/>
                        <a:t>27</a:t>
                      </a:r>
                    </a:p>
                  </a:txBody>
                  <a:tcPr>
                    <a:solidFill>
                      <a:schemeClr val="bg2">
                        <a:lumMod val="90000"/>
                      </a:schemeClr>
                    </a:solidFill>
                  </a:tcPr>
                </a:tc>
                <a:tc>
                  <a:txBody>
                    <a:bodyPr/>
                    <a:lstStyle/>
                    <a:p>
                      <a:pPr algn="ctr"/>
                      <a:r>
                        <a:rPr lang="en-GB" sz="1200" b="1" dirty="0"/>
                        <a:t>Investigator</a:t>
                      </a:r>
                    </a:p>
                  </a:txBody>
                  <a:tcPr>
                    <a:solidFill>
                      <a:schemeClr val="bg2">
                        <a:lumMod val="90000"/>
                      </a:schemeClr>
                    </a:solidFill>
                  </a:tcPr>
                </a:tc>
                <a:tc>
                  <a:txBody>
                    <a:bodyPr/>
                    <a:lstStyle/>
                    <a:p>
                      <a:r>
                        <a:rPr lang="en-GB" sz="1200" dirty="0"/>
                        <a:t>Investigator </a:t>
                      </a:r>
                    </a:p>
                    <a:p>
                      <a:endParaRPr lang="en-GB" sz="1200" dirty="0"/>
                    </a:p>
                  </a:txBody>
                  <a:tcPr>
                    <a:solidFill>
                      <a:schemeClr val="bg2">
                        <a:lumMod val="90000"/>
                      </a:schemeClr>
                    </a:solidFill>
                  </a:tcPr>
                </a:tc>
                <a:tc>
                  <a:txBody>
                    <a:bodyPr/>
                    <a:lstStyle/>
                    <a:p>
                      <a:r>
                        <a:rPr lang="en-GB" sz="1200" dirty="0"/>
                        <a:t>This role is for field-based users who are delivered automated exceptions to investigate. They have access to exceptions (also known as work items) that are delivered to them as an output of the Analyst User’s work product. Access to related and linked information is also available to assist in the investigation and closure of cases. The Investigator User also has access to any reports or dashboards that the Analyst User authorizes them to access.</a:t>
                      </a:r>
                    </a:p>
                  </a:txBody>
                  <a:tcPr>
                    <a:solidFill>
                      <a:schemeClr val="bg2">
                        <a:lumMod val="90000"/>
                      </a:schemeClr>
                    </a:solidFill>
                  </a:tcPr>
                </a:tc>
                <a:extLst>
                  <a:ext uri="{0D108BD9-81ED-4DB2-BD59-A6C34878D82A}">
                    <a16:rowId xmlns:a16="http://schemas.microsoft.com/office/drawing/2014/main" val="3119043195"/>
                  </a:ext>
                </a:extLst>
              </a:tr>
              <a:tr h="1112592">
                <a:tc>
                  <a:txBody>
                    <a:bodyPr/>
                    <a:lstStyle/>
                    <a:p>
                      <a:pPr algn="ctr"/>
                      <a:r>
                        <a:rPr lang="en-GB" sz="1200" kern="1200" dirty="0">
                          <a:solidFill>
                            <a:schemeClr val="dk1"/>
                          </a:solidFill>
                          <a:latin typeface="+mn-lt"/>
                          <a:ea typeface="+mn-ea"/>
                          <a:cs typeface="+mn-cs"/>
                        </a:rPr>
                        <a:t>0</a:t>
                      </a:r>
                      <a:r>
                        <a:rPr lang="en-GB" dirty="0"/>
                        <a:t> </a:t>
                      </a:r>
                    </a:p>
                  </a:txBody>
                  <a:tcPr>
                    <a:solidFill>
                      <a:schemeClr val="bg2"/>
                    </a:solidFill>
                  </a:tcPr>
                </a:tc>
                <a:tc>
                  <a:txBody>
                    <a:bodyPr/>
                    <a:lstStyle/>
                    <a:p>
                      <a:pPr algn="ctr"/>
                      <a:r>
                        <a:rPr lang="en-GB" sz="1200" b="1" dirty="0"/>
                        <a:t>Store Case Worker</a:t>
                      </a:r>
                    </a:p>
                  </a:txBody>
                  <a:tcPr>
                    <a:solidFill>
                      <a:schemeClr val="bg2"/>
                    </a:solidFill>
                  </a:tcPr>
                </a:tc>
                <a:tc>
                  <a:txBody>
                    <a:bodyPr/>
                    <a:lstStyle/>
                    <a:p>
                      <a:r>
                        <a:rPr lang="en-GB" sz="1200" dirty="0"/>
                        <a:t>Store Case Worker</a:t>
                      </a:r>
                    </a:p>
                  </a:txBody>
                  <a:tcPr>
                    <a:solidFill>
                      <a:schemeClr val="bg2"/>
                    </a:solidFill>
                  </a:tcPr>
                </a:tc>
                <a:tc>
                  <a:txBody>
                    <a:bodyPr/>
                    <a:lstStyle/>
                    <a:p>
                      <a:r>
                        <a:rPr lang="en-GB" sz="1200" dirty="0"/>
                        <a:t>This role is for store-based users who are passed Investigations or Cases from the Secure investigations workflow that require research and response from an individual who has visibility to events at the store level.  The Store User has a simplified dashboard to inform them on new items to be investigated but has no access to advanced modules within the application or the ability to run searches against the various data areas in the system.</a:t>
                      </a:r>
                    </a:p>
                  </a:txBody>
                  <a:tcPr>
                    <a:solidFill>
                      <a:schemeClr val="bg2"/>
                    </a:solidFill>
                  </a:tcPr>
                </a:tc>
                <a:extLst>
                  <a:ext uri="{0D108BD9-81ED-4DB2-BD59-A6C34878D82A}">
                    <a16:rowId xmlns:a16="http://schemas.microsoft.com/office/drawing/2014/main" val="3116695040"/>
                  </a:ext>
                </a:extLst>
              </a:tr>
            </a:tbl>
          </a:graphicData>
        </a:graphic>
      </p:graphicFrame>
    </p:spTree>
    <p:extLst>
      <p:ext uri="{BB962C8B-B14F-4D97-AF65-F5344CB8AC3E}">
        <p14:creationId xmlns:p14="http://schemas.microsoft.com/office/powerpoint/2010/main" val="1170571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DE183-4657-430A-9AFF-7343E75C8C73}"/>
              </a:ext>
            </a:extLst>
          </p:cNvPr>
          <p:cNvSpPr>
            <a:spLocks noGrp="1"/>
          </p:cNvSpPr>
          <p:nvPr>
            <p:ph type="title"/>
          </p:nvPr>
        </p:nvSpPr>
        <p:spPr/>
        <p:txBody>
          <a:bodyPr/>
          <a:lstStyle/>
          <a:p>
            <a:r>
              <a:rPr lang="en-GB" dirty="0"/>
              <a:t>What are Permission Groups? </a:t>
            </a:r>
          </a:p>
        </p:txBody>
      </p:sp>
      <p:sp>
        <p:nvSpPr>
          <p:cNvPr id="3" name="Content Placeholder 2">
            <a:extLst>
              <a:ext uri="{FF2B5EF4-FFF2-40B4-BE49-F238E27FC236}">
                <a16:creationId xmlns:a16="http://schemas.microsoft.com/office/drawing/2014/main" id="{60E04B66-B0A9-42C3-82EA-84BEE48524AA}"/>
              </a:ext>
            </a:extLst>
          </p:cNvPr>
          <p:cNvSpPr>
            <a:spLocks noGrp="1"/>
          </p:cNvSpPr>
          <p:nvPr>
            <p:ph sz="half" idx="14"/>
          </p:nvPr>
        </p:nvSpPr>
        <p:spPr/>
        <p:txBody>
          <a:bodyPr>
            <a:normAutofit/>
          </a:bodyPr>
          <a:lstStyle/>
          <a:p>
            <a:r>
              <a:rPr lang="en-GB" dirty="0"/>
              <a:t>Permission Groups are a collection of permissions allocated to a </a:t>
            </a:r>
            <a:r>
              <a:rPr lang="en-GB" b="1" dirty="0"/>
              <a:t>User Group</a:t>
            </a:r>
          </a:p>
          <a:p>
            <a:pPr marL="0" indent="0">
              <a:buNone/>
            </a:pPr>
            <a:endParaRPr lang="en-GB" dirty="0"/>
          </a:p>
          <a:p>
            <a:r>
              <a:rPr lang="en-GB" dirty="0"/>
              <a:t>Control all of the features and applications that a user can see in Secure 5</a:t>
            </a:r>
          </a:p>
          <a:p>
            <a:pPr marL="0" indent="0">
              <a:buNone/>
            </a:pPr>
            <a:endParaRPr lang="en-GB" dirty="0"/>
          </a:p>
          <a:p>
            <a:r>
              <a:rPr lang="en-US" dirty="0"/>
              <a:t>Groups can Inherit from each other (Bottom up Inheritance)</a:t>
            </a:r>
          </a:p>
          <a:p>
            <a:pPr marL="0" indent="0">
              <a:buNone/>
            </a:pPr>
            <a:endParaRPr lang="en-US" dirty="0"/>
          </a:p>
          <a:p>
            <a:r>
              <a:rPr lang="en-US" dirty="0"/>
              <a:t>Groups manage access to data areas and access application functions</a:t>
            </a:r>
          </a:p>
          <a:p>
            <a:pPr marL="0" indent="0">
              <a:buNone/>
            </a:pPr>
            <a:endParaRPr lang="en-US" dirty="0"/>
          </a:p>
          <a:p>
            <a:pPr lvl="1"/>
            <a:endParaRPr lang="en-GB" dirty="0"/>
          </a:p>
        </p:txBody>
      </p:sp>
      <p:sp>
        <p:nvSpPr>
          <p:cNvPr id="4" name="Slide Number Placeholder 3">
            <a:extLst>
              <a:ext uri="{FF2B5EF4-FFF2-40B4-BE49-F238E27FC236}">
                <a16:creationId xmlns:a16="http://schemas.microsoft.com/office/drawing/2014/main" id="{79742C73-830E-427D-B74C-5A59EA4A5156}"/>
              </a:ext>
            </a:extLst>
          </p:cNvPr>
          <p:cNvSpPr>
            <a:spLocks noGrp="1"/>
          </p:cNvSpPr>
          <p:nvPr>
            <p:ph type="sldNum" sz="quarter" idx="12"/>
          </p:nvPr>
        </p:nvSpPr>
        <p:spPr/>
        <p:txBody>
          <a:bodyPr/>
          <a:lstStyle/>
          <a:p>
            <a:fld id="{0BF9CEBF-66DF-3848-8984-13BBF9FFC1B1}" type="slidenum">
              <a:rPr lang="en-US" smtClean="0"/>
              <a:pPr/>
              <a:t>16</a:t>
            </a:fld>
            <a:endParaRPr lang="en-US"/>
          </a:p>
        </p:txBody>
      </p:sp>
      <p:sp>
        <p:nvSpPr>
          <p:cNvPr id="5" name="Footer Placeholder 4">
            <a:extLst>
              <a:ext uri="{FF2B5EF4-FFF2-40B4-BE49-F238E27FC236}">
                <a16:creationId xmlns:a16="http://schemas.microsoft.com/office/drawing/2014/main" id="{24F8FAF9-C270-4AA7-A2BB-91C70DB7AB23}"/>
              </a:ext>
            </a:extLst>
          </p:cNvPr>
          <p:cNvSpPr>
            <a:spLocks noGrp="1"/>
          </p:cNvSpPr>
          <p:nvPr>
            <p:ph type="ftr" sz="quarter" idx="11"/>
          </p:nvPr>
        </p:nvSpPr>
        <p:spPr/>
        <p:txBody>
          <a:bodyPr/>
          <a:lstStyle/>
          <a:p>
            <a:r>
              <a:rPr lang="en-US"/>
              <a:t>©Appriss Retail.  Proprietary and Confidential</a:t>
            </a:r>
            <a:endParaRPr lang="en-US" dirty="0"/>
          </a:p>
        </p:txBody>
      </p:sp>
    </p:spTree>
    <p:extLst>
      <p:ext uri="{BB962C8B-B14F-4D97-AF65-F5344CB8AC3E}">
        <p14:creationId xmlns:p14="http://schemas.microsoft.com/office/powerpoint/2010/main" val="145784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A891EB-9A41-47A3-A89C-1ED743C057E0}"/>
              </a:ext>
            </a:extLst>
          </p:cNvPr>
          <p:cNvSpPr>
            <a:spLocks noGrp="1"/>
          </p:cNvSpPr>
          <p:nvPr>
            <p:ph type="title"/>
          </p:nvPr>
        </p:nvSpPr>
        <p:spPr/>
        <p:txBody>
          <a:bodyPr/>
          <a:lstStyle/>
          <a:p>
            <a:r>
              <a:rPr lang="en-US" dirty="0"/>
              <a:t>Available Data Areas</a:t>
            </a:r>
          </a:p>
        </p:txBody>
      </p:sp>
      <p:graphicFrame>
        <p:nvGraphicFramePr>
          <p:cNvPr id="6" name="Content Placeholder 5">
            <a:extLst>
              <a:ext uri="{FF2B5EF4-FFF2-40B4-BE49-F238E27FC236}">
                <a16:creationId xmlns:a16="http://schemas.microsoft.com/office/drawing/2014/main" id="{9B8E926D-22C6-4602-9021-E47FC7D1E6B0}"/>
              </a:ext>
            </a:extLst>
          </p:cNvPr>
          <p:cNvGraphicFramePr>
            <a:graphicFrameLocks noGrp="1"/>
          </p:cNvGraphicFramePr>
          <p:nvPr>
            <p:ph sz="half" idx="14"/>
            <p:extLst>
              <p:ext uri="{D42A27DB-BD31-4B8C-83A1-F6EECF244321}">
                <p14:modId xmlns:p14="http://schemas.microsoft.com/office/powerpoint/2010/main" val="550799785"/>
              </p:ext>
            </p:extLst>
          </p:nvPr>
        </p:nvGraphicFramePr>
        <p:xfrm>
          <a:off x="831850" y="1910147"/>
          <a:ext cx="10521950" cy="3337560"/>
        </p:xfrm>
        <a:graphic>
          <a:graphicData uri="http://schemas.openxmlformats.org/drawingml/2006/table">
            <a:tbl>
              <a:tblPr firstRow="1" bandRow="1">
                <a:tableStyleId>{5C22544A-7EE6-4342-B048-85BDC9FD1C3A}</a:tableStyleId>
              </a:tblPr>
              <a:tblGrid>
                <a:gridCol w="2104390">
                  <a:extLst>
                    <a:ext uri="{9D8B030D-6E8A-4147-A177-3AD203B41FA5}">
                      <a16:colId xmlns:a16="http://schemas.microsoft.com/office/drawing/2014/main" val="842791670"/>
                    </a:ext>
                  </a:extLst>
                </a:gridCol>
                <a:gridCol w="2104390">
                  <a:extLst>
                    <a:ext uri="{9D8B030D-6E8A-4147-A177-3AD203B41FA5}">
                      <a16:colId xmlns:a16="http://schemas.microsoft.com/office/drawing/2014/main" val="507527864"/>
                    </a:ext>
                  </a:extLst>
                </a:gridCol>
                <a:gridCol w="2104390">
                  <a:extLst>
                    <a:ext uri="{9D8B030D-6E8A-4147-A177-3AD203B41FA5}">
                      <a16:colId xmlns:a16="http://schemas.microsoft.com/office/drawing/2014/main" val="3219720946"/>
                    </a:ext>
                  </a:extLst>
                </a:gridCol>
                <a:gridCol w="2104390">
                  <a:extLst>
                    <a:ext uri="{9D8B030D-6E8A-4147-A177-3AD203B41FA5}">
                      <a16:colId xmlns:a16="http://schemas.microsoft.com/office/drawing/2014/main" val="3453326802"/>
                    </a:ext>
                  </a:extLst>
                </a:gridCol>
                <a:gridCol w="2104390">
                  <a:extLst>
                    <a:ext uri="{9D8B030D-6E8A-4147-A177-3AD203B41FA5}">
                      <a16:colId xmlns:a16="http://schemas.microsoft.com/office/drawing/2014/main" val="641388284"/>
                    </a:ext>
                  </a:extLst>
                </a:gridCol>
              </a:tblGrid>
              <a:tr h="370840">
                <a:tc>
                  <a:txBody>
                    <a:bodyPr/>
                    <a:lstStyle/>
                    <a:p>
                      <a:r>
                        <a:rPr lang="en-US" dirty="0"/>
                        <a:t>Data Area Name</a:t>
                      </a:r>
                    </a:p>
                  </a:txBody>
                  <a:tcPr>
                    <a:solidFill>
                      <a:schemeClr val="tx1"/>
                    </a:solidFill>
                  </a:tcPr>
                </a:tc>
                <a:tc>
                  <a:txBody>
                    <a:bodyPr/>
                    <a:lstStyle/>
                    <a:p>
                      <a:pPr algn="ctr"/>
                      <a:r>
                        <a:rPr lang="en-US" dirty="0"/>
                        <a:t>Client Administrator</a:t>
                      </a:r>
                    </a:p>
                  </a:txBody>
                  <a:tcPr>
                    <a:solidFill>
                      <a:schemeClr val="tx1"/>
                    </a:solidFill>
                  </a:tcPr>
                </a:tc>
                <a:tc>
                  <a:txBody>
                    <a:bodyPr/>
                    <a:lstStyle/>
                    <a:p>
                      <a:pPr algn="ctr"/>
                      <a:r>
                        <a:rPr lang="en-US" dirty="0"/>
                        <a:t>Analyst</a:t>
                      </a:r>
                    </a:p>
                  </a:txBody>
                  <a:tcPr>
                    <a:solidFill>
                      <a:schemeClr val="tx1"/>
                    </a:solidFill>
                  </a:tcPr>
                </a:tc>
                <a:tc>
                  <a:txBody>
                    <a:bodyPr/>
                    <a:lstStyle/>
                    <a:p>
                      <a:pPr algn="ctr"/>
                      <a:r>
                        <a:rPr lang="en-US" dirty="0"/>
                        <a:t>Investigator</a:t>
                      </a:r>
                    </a:p>
                  </a:txBody>
                  <a:tcPr>
                    <a:solidFill>
                      <a:schemeClr val="tx1"/>
                    </a:solidFill>
                  </a:tcPr>
                </a:tc>
                <a:tc>
                  <a:txBody>
                    <a:bodyPr/>
                    <a:lstStyle/>
                    <a:p>
                      <a:pPr algn="ctr"/>
                      <a:r>
                        <a:rPr lang="en-US" dirty="0"/>
                        <a:t>Store Case Worker </a:t>
                      </a:r>
                    </a:p>
                  </a:txBody>
                  <a:tcPr>
                    <a:solidFill>
                      <a:schemeClr val="tx1"/>
                    </a:solidFill>
                  </a:tcPr>
                </a:tc>
                <a:extLst>
                  <a:ext uri="{0D108BD9-81ED-4DB2-BD59-A6C34878D82A}">
                    <a16:rowId xmlns:a16="http://schemas.microsoft.com/office/drawing/2014/main" val="1237521367"/>
                  </a:ext>
                </a:extLst>
              </a:tr>
              <a:tr h="370840">
                <a:tc>
                  <a:txBody>
                    <a:bodyPr/>
                    <a:lstStyle/>
                    <a:p>
                      <a:r>
                        <a:rPr lang="en-US" dirty="0"/>
                        <a:t>Secure Store</a:t>
                      </a:r>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 / Search</a:t>
                      </a:r>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 / Search</a:t>
                      </a:r>
                    </a:p>
                  </a:txBody>
                  <a:tcPr>
                    <a:solidFill>
                      <a:schemeClr val="bg2">
                        <a:lumMod val="90000"/>
                      </a:schemeClr>
                    </a:solidFill>
                  </a:tcPr>
                </a:tc>
                <a:tc>
                  <a:txBody>
                    <a:bodyPr/>
                    <a:lstStyle/>
                    <a:p>
                      <a:pPr algn="ctr"/>
                      <a:r>
                        <a:rPr lang="en-US" dirty="0"/>
                        <a:t>Read</a:t>
                      </a:r>
                    </a:p>
                  </a:txBody>
                  <a:tcPr>
                    <a:solidFill>
                      <a:schemeClr val="bg2">
                        <a:lumMod val="90000"/>
                      </a:schemeClr>
                    </a:solidFill>
                  </a:tcPr>
                </a:tc>
                <a:tc>
                  <a:txBody>
                    <a:bodyPr/>
                    <a:lstStyle/>
                    <a:p>
                      <a:pPr algn="ctr"/>
                      <a:r>
                        <a:rPr lang="en-US" dirty="0"/>
                        <a:t>No</a:t>
                      </a:r>
                    </a:p>
                  </a:txBody>
                  <a:tcPr>
                    <a:solidFill>
                      <a:schemeClr val="bg2">
                        <a:lumMod val="90000"/>
                      </a:schemeClr>
                    </a:solidFill>
                  </a:tcPr>
                </a:tc>
                <a:extLst>
                  <a:ext uri="{0D108BD9-81ED-4DB2-BD59-A6C34878D82A}">
                    <a16:rowId xmlns:a16="http://schemas.microsoft.com/office/drawing/2014/main" val="1968531396"/>
                  </a:ext>
                </a:extLst>
              </a:tr>
              <a:tr h="370840">
                <a:tc>
                  <a:txBody>
                    <a:bodyPr/>
                    <a:lstStyle/>
                    <a:p>
                      <a:r>
                        <a:rPr lang="en-US" dirty="0"/>
                        <a:t>Case</a:t>
                      </a:r>
                    </a:p>
                  </a:txBody>
                  <a:tcP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 / Search</a:t>
                      </a:r>
                    </a:p>
                  </a:txBody>
                  <a:tcP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 / Search</a:t>
                      </a:r>
                    </a:p>
                  </a:txBody>
                  <a:tcPr>
                    <a:solidFill>
                      <a:schemeClr val="bg2"/>
                    </a:solidFill>
                  </a:tcPr>
                </a:tc>
                <a:tc>
                  <a:txBody>
                    <a:bodyPr/>
                    <a:lstStyle/>
                    <a:p>
                      <a:pPr algn="ctr"/>
                      <a:r>
                        <a:rPr lang="en-US" dirty="0"/>
                        <a:t>Read / Search</a:t>
                      </a:r>
                    </a:p>
                  </a:txBody>
                  <a:tcPr>
                    <a:solidFill>
                      <a:schemeClr val="bg2"/>
                    </a:solidFill>
                  </a:tcPr>
                </a:tc>
                <a:tc>
                  <a:txBody>
                    <a:bodyPr/>
                    <a:lstStyle/>
                    <a:p>
                      <a:pPr algn="ctr"/>
                      <a:r>
                        <a:rPr lang="en-US" dirty="0"/>
                        <a:t>Read </a:t>
                      </a:r>
                    </a:p>
                  </a:txBody>
                  <a:tcPr>
                    <a:solidFill>
                      <a:schemeClr val="bg2"/>
                    </a:solidFill>
                  </a:tcPr>
                </a:tc>
                <a:extLst>
                  <a:ext uri="{0D108BD9-81ED-4DB2-BD59-A6C34878D82A}">
                    <a16:rowId xmlns:a16="http://schemas.microsoft.com/office/drawing/2014/main" val="3361903298"/>
                  </a:ext>
                </a:extLst>
              </a:tr>
              <a:tr h="370840">
                <a:tc>
                  <a:txBody>
                    <a:bodyPr/>
                    <a:lstStyle/>
                    <a:p>
                      <a:r>
                        <a:rPr lang="en-US" dirty="0"/>
                        <a:t>Investigations</a:t>
                      </a:r>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 / Search</a:t>
                      </a:r>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 / Search</a:t>
                      </a:r>
                    </a:p>
                  </a:txBody>
                  <a:tcPr>
                    <a:solidFill>
                      <a:schemeClr val="bg2">
                        <a:lumMod val="90000"/>
                      </a:schemeClr>
                    </a:solidFill>
                  </a:tcPr>
                </a:tc>
                <a:tc>
                  <a:txBody>
                    <a:bodyPr/>
                    <a:lstStyle/>
                    <a:p>
                      <a:pPr algn="ctr"/>
                      <a:r>
                        <a:rPr lang="en-US" dirty="0"/>
                        <a:t>Read / Search</a:t>
                      </a:r>
                    </a:p>
                  </a:txBody>
                  <a:tcPr>
                    <a:solidFill>
                      <a:schemeClr val="bg2">
                        <a:lumMod val="90000"/>
                      </a:schemeClr>
                    </a:solidFill>
                  </a:tcPr>
                </a:tc>
                <a:tc>
                  <a:txBody>
                    <a:bodyPr/>
                    <a:lstStyle/>
                    <a:p>
                      <a:pPr algn="ctr"/>
                      <a:r>
                        <a:rPr lang="en-US" dirty="0"/>
                        <a:t>No </a:t>
                      </a:r>
                    </a:p>
                  </a:txBody>
                  <a:tcPr>
                    <a:solidFill>
                      <a:schemeClr val="bg2">
                        <a:lumMod val="90000"/>
                      </a:schemeClr>
                    </a:solidFill>
                  </a:tcPr>
                </a:tc>
                <a:extLst>
                  <a:ext uri="{0D108BD9-81ED-4DB2-BD59-A6C34878D82A}">
                    <a16:rowId xmlns:a16="http://schemas.microsoft.com/office/drawing/2014/main" val="419676490"/>
                  </a:ext>
                </a:extLst>
              </a:tr>
              <a:tr h="370840">
                <a:tc>
                  <a:txBody>
                    <a:bodyPr/>
                    <a:lstStyle/>
                    <a:p>
                      <a:r>
                        <a:rPr lang="en-US" dirty="0"/>
                        <a:t>Work View</a:t>
                      </a:r>
                    </a:p>
                  </a:txBody>
                  <a:tcP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 / Search</a:t>
                      </a:r>
                    </a:p>
                  </a:txBody>
                  <a:tcP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 / Search</a:t>
                      </a:r>
                    </a:p>
                  </a:txBody>
                  <a:tcPr>
                    <a:solidFill>
                      <a:schemeClr val="bg2"/>
                    </a:solidFill>
                  </a:tcPr>
                </a:tc>
                <a:tc>
                  <a:txBody>
                    <a:bodyPr/>
                    <a:lstStyle/>
                    <a:p>
                      <a:pPr algn="ctr"/>
                      <a:r>
                        <a:rPr lang="en-US" dirty="0"/>
                        <a:t>Read</a:t>
                      </a:r>
                    </a:p>
                  </a:txBody>
                  <a:tcPr>
                    <a:solidFill>
                      <a:schemeClr val="bg2"/>
                    </a:solidFill>
                  </a:tcPr>
                </a:tc>
                <a:tc>
                  <a:txBody>
                    <a:bodyPr/>
                    <a:lstStyle/>
                    <a:p>
                      <a:pPr algn="ctr"/>
                      <a:r>
                        <a:rPr lang="en-US" dirty="0"/>
                        <a:t>No</a:t>
                      </a:r>
                    </a:p>
                  </a:txBody>
                  <a:tcPr>
                    <a:solidFill>
                      <a:schemeClr val="bg2"/>
                    </a:solidFill>
                  </a:tcPr>
                </a:tc>
                <a:extLst>
                  <a:ext uri="{0D108BD9-81ED-4DB2-BD59-A6C34878D82A}">
                    <a16:rowId xmlns:a16="http://schemas.microsoft.com/office/drawing/2014/main" val="3814973298"/>
                  </a:ext>
                </a:extLst>
              </a:tr>
              <a:tr h="370840">
                <a:tc>
                  <a:txBody>
                    <a:bodyPr/>
                    <a:lstStyle/>
                    <a:p>
                      <a:r>
                        <a:rPr lang="en-US" dirty="0"/>
                        <a:t>Search Statistics</a:t>
                      </a:r>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 / Search</a:t>
                      </a:r>
                    </a:p>
                  </a:txBody>
                  <a:tcPr>
                    <a:solidFill>
                      <a:schemeClr val="bg2">
                        <a:lumMod val="90000"/>
                      </a:schemeClr>
                    </a:solidFill>
                  </a:tcPr>
                </a:tc>
                <a:tc>
                  <a:txBody>
                    <a:bodyPr/>
                    <a:lstStyle/>
                    <a:p>
                      <a:pPr algn="ctr"/>
                      <a:r>
                        <a:rPr lang="en-US" dirty="0"/>
                        <a:t>No</a:t>
                      </a:r>
                    </a:p>
                  </a:txBody>
                  <a:tcPr>
                    <a:solidFill>
                      <a:schemeClr val="bg2">
                        <a:lumMod val="90000"/>
                      </a:schemeClr>
                    </a:solidFill>
                  </a:tcPr>
                </a:tc>
                <a:tc>
                  <a:txBody>
                    <a:bodyPr/>
                    <a:lstStyle/>
                    <a:p>
                      <a:pPr algn="ctr"/>
                      <a:r>
                        <a:rPr lang="en-US" dirty="0"/>
                        <a:t>No</a:t>
                      </a:r>
                    </a:p>
                  </a:txBody>
                  <a:tcPr>
                    <a:solidFill>
                      <a:schemeClr val="bg2">
                        <a:lumMod val="90000"/>
                      </a:schemeClr>
                    </a:solidFill>
                  </a:tcPr>
                </a:tc>
                <a:tc>
                  <a:txBody>
                    <a:bodyPr/>
                    <a:lstStyle/>
                    <a:p>
                      <a:pPr algn="ctr"/>
                      <a:r>
                        <a:rPr lang="en-US" dirty="0"/>
                        <a:t>No</a:t>
                      </a:r>
                    </a:p>
                  </a:txBody>
                  <a:tcPr>
                    <a:solidFill>
                      <a:schemeClr val="bg2">
                        <a:lumMod val="90000"/>
                      </a:schemeClr>
                    </a:solidFill>
                  </a:tcPr>
                </a:tc>
                <a:extLst>
                  <a:ext uri="{0D108BD9-81ED-4DB2-BD59-A6C34878D82A}">
                    <a16:rowId xmlns:a16="http://schemas.microsoft.com/office/drawing/2014/main" val="216368369"/>
                  </a:ext>
                </a:extLst>
              </a:tr>
              <a:tr h="370840">
                <a:tc>
                  <a:txBody>
                    <a:bodyPr/>
                    <a:lstStyle/>
                    <a:p>
                      <a:r>
                        <a:rPr lang="en-US" dirty="0"/>
                        <a:t>Employee</a:t>
                      </a:r>
                    </a:p>
                  </a:txBody>
                  <a:tcP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 / Search</a:t>
                      </a:r>
                    </a:p>
                  </a:txBody>
                  <a:tcP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 / Search</a:t>
                      </a:r>
                    </a:p>
                  </a:txBody>
                  <a:tcPr>
                    <a:solidFill>
                      <a:schemeClr val="bg2"/>
                    </a:solidFill>
                  </a:tcPr>
                </a:tc>
                <a:tc>
                  <a:txBody>
                    <a:bodyPr/>
                    <a:lstStyle/>
                    <a:p>
                      <a:pPr algn="ctr"/>
                      <a:r>
                        <a:rPr lang="en-US" dirty="0"/>
                        <a:t>Read</a:t>
                      </a:r>
                    </a:p>
                  </a:txBody>
                  <a:tcPr>
                    <a:solidFill>
                      <a:schemeClr val="bg2"/>
                    </a:solidFill>
                  </a:tcPr>
                </a:tc>
                <a:tc>
                  <a:txBody>
                    <a:bodyPr/>
                    <a:lstStyle/>
                    <a:p>
                      <a:pPr algn="ctr"/>
                      <a:r>
                        <a:rPr lang="en-US" dirty="0"/>
                        <a:t>Read</a:t>
                      </a:r>
                    </a:p>
                  </a:txBody>
                  <a:tcPr>
                    <a:solidFill>
                      <a:schemeClr val="bg2"/>
                    </a:solidFill>
                  </a:tcPr>
                </a:tc>
                <a:extLst>
                  <a:ext uri="{0D108BD9-81ED-4DB2-BD59-A6C34878D82A}">
                    <a16:rowId xmlns:a16="http://schemas.microsoft.com/office/drawing/2014/main" val="214899954"/>
                  </a:ext>
                </a:extLst>
              </a:tr>
              <a:tr h="370840">
                <a:tc>
                  <a:txBody>
                    <a:bodyPr/>
                    <a:lstStyle/>
                    <a:p>
                      <a:r>
                        <a:rPr lang="en-US" dirty="0"/>
                        <a:t>Locations</a:t>
                      </a:r>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 / Search</a:t>
                      </a:r>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 / Search</a:t>
                      </a:r>
                    </a:p>
                  </a:txBody>
                  <a:tcPr>
                    <a:solidFill>
                      <a:schemeClr val="bg2">
                        <a:lumMod val="90000"/>
                      </a:schemeClr>
                    </a:solidFill>
                  </a:tcPr>
                </a:tc>
                <a:tc>
                  <a:txBody>
                    <a:bodyPr/>
                    <a:lstStyle/>
                    <a:p>
                      <a:pPr algn="ctr"/>
                      <a:r>
                        <a:rPr lang="en-US" dirty="0"/>
                        <a:t>Read</a:t>
                      </a:r>
                    </a:p>
                  </a:txBody>
                  <a:tcPr>
                    <a:solidFill>
                      <a:schemeClr val="bg2">
                        <a:lumMod val="90000"/>
                      </a:schemeClr>
                    </a:solidFill>
                  </a:tcPr>
                </a:tc>
                <a:tc>
                  <a:txBody>
                    <a:bodyPr/>
                    <a:lstStyle/>
                    <a:p>
                      <a:pPr algn="ctr"/>
                      <a:r>
                        <a:rPr lang="en-US" dirty="0"/>
                        <a:t>Read</a:t>
                      </a:r>
                    </a:p>
                  </a:txBody>
                  <a:tcPr>
                    <a:solidFill>
                      <a:schemeClr val="bg2">
                        <a:lumMod val="90000"/>
                      </a:schemeClr>
                    </a:solidFill>
                  </a:tcPr>
                </a:tc>
                <a:extLst>
                  <a:ext uri="{0D108BD9-81ED-4DB2-BD59-A6C34878D82A}">
                    <a16:rowId xmlns:a16="http://schemas.microsoft.com/office/drawing/2014/main" val="754327639"/>
                  </a:ext>
                </a:extLst>
              </a:tr>
              <a:tr h="370840">
                <a:tc>
                  <a:txBody>
                    <a:bodyPr/>
                    <a:lstStyle/>
                    <a:p>
                      <a:r>
                        <a:rPr lang="en-US" dirty="0"/>
                        <a:t>Product</a:t>
                      </a:r>
                    </a:p>
                  </a:txBody>
                  <a:tcP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 / Search</a:t>
                      </a:r>
                    </a:p>
                  </a:txBody>
                  <a:tcP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 / Search</a:t>
                      </a:r>
                    </a:p>
                  </a:txBody>
                  <a:tcPr>
                    <a:solidFill>
                      <a:schemeClr val="bg2"/>
                    </a:solidFill>
                  </a:tcPr>
                </a:tc>
                <a:tc>
                  <a:txBody>
                    <a:bodyPr/>
                    <a:lstStyle/>
                    <a:p>
                      <a:pPr algn="ctr"/>
                      <a:r>
                        <a:rPr lang="en-US" dirty="0"/>
                        <a:t>Read</a:t>
                      </a:r>
                    </a:p>
                  </a:txBody>
                  <a:tcPr>
                    <a:solidFill>
                      <a:schemeClr val="bg2"/>
                    </a:solidFill>
                  </a:tcPr>
                </a:tc>
                <a:tc>
                  <a:txBody>
                    <a:bodyPr/>
                    <a:lstStyle/>
                    <a:p>
                      <a:pPr algn="ctr"/>
                      <a:r>
                        <a:rPr lang="en-US" dirty="0"/>
                        <a:t>Read</a:t>
                      </a:r>
                    </a:p>
                  </a:txBody>
                  <a:tcPr>
                    <a:solidFill>
                      <a:schemeClr val="bg2"/>
                    </a:solidFill>
                  </a:tcPr>
                </a:tc>
                <a:extLst>
                  <a:ext uri="{0D108BD9-81ED-4DB2-BD59-A6C34878D82A}">
                    <a16:rowId xmlns:a16="http://schemas.microsoft.com/office/drawing/2014/main" val="2176158084"/>
                  </a:ext>
                </a:extLst>
              </a:tr>
            </a:tbl>
          </a:graphicData>
        </a:graphic>
      </p:graphicFrame>
      <p:sp>
        <p:nvSpPr>
          <p:cNvPr id="3" name="Slide Number Placeholder 2">
            <a:extLst>
              <a:ext uri="{FF2B5EF4-FFF2-40B4-BE49-F238E27FC236}">
                <a16:creationId xmlns:a16="http://schemas.microsoft.com/office/drawing/2014/main" id="{80F04FD8-F048-4217-BE19-8DEF941822EC}"/>
              </a:ext>
            </a:extLst>
          </p:cNvPr>
          <p:cNvSpPr>
            <a:spLocks noGrp="1"/>
          </p:cNvSpPr>
          <p:nvPr>
            <p:ph type="sldNum" sz="quarter" idx="12"/>
          </p:nvPr>
        </p:nvSpPr>
        <p:spPr/>
        <p:txBody>
          <a:bodyPr/>
          <a:lstStyle/>
          <a:p>
            <a:fld id="{0BF9CEBF-66DF-3848-8984-13BBF9FFC1B1}" type="slidenum">
              <a:rPr lang="en-US" smtClean="0"/>
              <a:pPr/>
              <a:t>17</a:t>
            </a:fld>
            <a:endParaRPr lang="en-US"/>
          </a:p>
        </p:txBody>
      </p:sp>
      <p:sp>
        <p:nvSpPr>
          <p:cNvPr id="5" name="Footer Placeholder 4">
            <a:extLst>
              <a:ext uri="{FF2B5EF4-FFF2-40B4-BE49-F238E27FC236}">
                <a16:creationId xmlns:a16="http://schemas.microsoft.com/office/drawing/2014/main" id="{FEC570D6-2ECD-434D-9CD7-F646036D6495}"/>
              </a:ext>
            </a:extLst>
          </p:cNvPr>
          <p:cNvSpPr>
            <a:spLocks noGrp="1"/>
          </p:cNvSpPr>
          <p:nvPr>
            <p:ph type="ftr" sz="quarter" idx="11"/>
          </p:nvPr>
        </p:nvSpPr>
        <p:spPr/>
        <p:txBody>
          <a:bodyPr/>
          <a:lstStyle/>
          <a:p>
            <a:r>
              <a:rPr lang="en-US" dirty="0"/>
              <a:t>©Appriss Retail.  Proprietary and Confidential</a:t>
            </a:r>
          </a:p>
        </p:txBody>
      </p:sp>
    </p:spTree>
    <p:extLst>
      <p:ext uri="{BB962C8B-B14F-4D97-AF65-F5344CB8AC3E}">
        <p14:creationId xmlns:p14="http://schemas.microsoft.com/office/powerpoint/2010/main" val="670516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FB827D-F1CB-4C37-879E-61F77CB100B4}"/>
              </a:ext>
            </a:extLst>
          </p:cNvPr>
          <p:cNvSpPr>
            <a:spLocks noGrp="1"/>
          </p:cNvSpPr>
          <p:nvPr>
            <p:ph type="title"/>
          </p:nvPr>
        </p:nvSpPr>
        <p:spPr/>
        <p:txBody>
          <a:bodyPr/>
          <a:lstStyle/>
          <a:p>
            <a:r>
              <a:rPr lang="en-US" dirty="0"/>
              <a:t>Hierarchy and Alignment</a:t>
            </a:r>
          </a:p>
        </p:txBody>
      </p:sp>
      <p:sp>
        <p:nvSpPr>
          <p:cNvPr id="8" name="Content Placeholder 7">
            <a:extLst>
              <a:ext uri="{FF2B5EF4-FFF2-40B4-BE49-F238E27FC236}">
                <a16:creationId xmlns:a16="http://schemas.microsoft.com/office/drawing/2014/main" id="{195BF20B-508D-40DD-8871-4F21B56583E4}"/>
              </a:ext>
            </a:extLst>
          </p:cNvPr>
          <p:cNvSpPr>
            <a:spLocks noGrp="1"/>
          </p:cNvSpPr>
          <p:nvPr>
            <p:ph sz="half" idx="14"/>
          </p:nvPr>
        </p:nvSpPr>
        <p:spPr/>
        <p:txBody>
          <a:bodyPr>
            <a:normAutofit/>
          </a:bodyPr>
          <a:lstStyle/>
          <a:p>
            <a:pPr marL="0" indent="0">
              <a:buNone/>
            </a:pPr>
            <a:r>
              <a:rPr lang="en-GB" dirty="0"/>
              <a:t>Hierarchies involve an organisational scheme using successive ranks or grades with each a level of users.  </a:t>
            </a:r>
            <a:endParaRPr lang="en-US" dirty="0"/>
          </a:p>
          <a:p>
            <a:endParaRPr lang="en-US" dirty="0"/>
          </a:p>
        </p:txBody>
      </p:sp>
      <p:sp>
        <p:nvSpPr>
          <p:cNvPr id="4" name="Slide Number Placeholder 3">
            <a:extLst>
              <a:ext uri="{FF2B5EF4-FFF2-40B4-BE49-F238E27FC236}">
                <a16:creationId xmlns:a16="http://schemas.microsoft.com/office/drawing/2014/main" id="{737CE432-DFD0-4F16-8905-5024FBDB1C63}"/>
              </a:ext>
            </a:extLst>
          </p:cNvPr>
          <p:cNvSpPr>
            <a:spLocks noGrp="1"/>
          </p:cNvSpPr>
          <p:nvPr>
            <p:ph type="sldNum" sz="quarter" idx="12"/>
          </p:nvPr>
        </p:nvSpPr>
        <p:spPr/>
        <p:txBody>
          <a:bodyPr/>
          <a:lstStyle/>
          <a:p>
            <a:fld id="{0BF9CEBF-66DF-3848-8984-13BBF9FFC1B1}" type="slidenum">
              <a:rPr lang="en-US" smtClean="0"/>
              <a:pPr/>
              <a:t>18</a:t>
            </a:fld>
            <a:endParaRPr lang="en-US"/>
          </a:p>
        </p:txBody>
      </p:sp>
      <p:sp>
        <p:nvSpPr>
          <p:cNvPr id="6" name="Footer Placeholder 5">
            <a:extLst>
              <a:ext uri="{FF2B5EF4-FFF2-40B4-BE49-F238E27FC236}">
                <a16:creationId xmlns:a16="http://schemas.microsoft.com/office/drawing/2014/main" id="{FA2228D4-18C0-46D0-8C39-3BAF96069450}"/>
              </a:ext>
            </a:extLst>
          </p:cNvPr>
          <p:cNvSpPr>
            <a:spLocks noGrp="1"/>
          </p:cNvSpPr>
          <p:nvPr>
            <p:ph type="ftr" sz="quarter" idx="11"/>
          </p:nvPr>
        </p:nvSpPr>
        <p:spPr/>
        <p:txBody>
          <a:bodyPr/>
          <a:lstStyle/>
          <a:p>
            <a:r>
              <a:rPr lang="en-US"/>
              <a:t>©Appriss Retail.  Proprietary and Confidential</a:t>
            </a:r>
            <a:endParaRPr lang="en-US" dirty="0"/>
          </a:p>
        </p:txBody>
      </p:sp>
      <p:pic>
        <p:nvPicPr>
          <p:cNvPr id="10" name="Picture 9">
            <a:extLst>
              <a:ext uri="{FF2B5EF4-FFF2-40B4-BE49-F238E27FC236}">
                <a16:creationId xmlns:a16="http://schemas.microsoft.com/office/drawing/2014/main" id="{A632B631-2912-4B7E-B16E-69FE3429FB27}"/>
              </a:ext>
            </a:extLst>
          </p:cNvPr>
          <p:cNvPicPr>
            <a:picLocks noChangeAspect="1"/>
          </p:cNvPicPr>
          <p:nvPr/>
        </p:nvPicPr>
        <p:blipFill>
          <a:blip r:embed="rId3"/>
          <a:stretch>
            <a:fillRect/>
          </a:stretch>
        </p:blipFill>
        <p:spPr>
          <a:xfrm>
            <a:off x="831850" y="2595986"/>
            <a:ext cx="5734850" cy="2638793"/>
          </a:xfrm>
          <a:prstGeom prst="rect">
            <a:avLst/>
          </a:prstGeom>
        </p:spPr>
      </p:pic>
      <p:sp>
        <p:nvSpPr>
          <p:cNvPr id="11" name="TextBox 10">
            <a:extLst>
              <a:ext uri="{FF2B5EF4-FFF2-40B4-BE49-F238E27FC236}">
                <a16:creationId xmlns:a16="http://schemas.microsoft.com/office/drawing/2014/main" id="{4A552A5D-0F7F-4EE6-B50C-E580023BD2AF}"/>
              </a:ext>
            </a:extLst>
          </p:cNvPr>
          <p:cNvSpPr txBox="1"/>
          <p:nvPr/>
        </p:nvSpPr>
        <p:spPr>
          <a:xfrm>
            <a:off x="6566700" y="2883877"/>
            <a:ext cx="5291317" cy="2862322"/>
          </a:xfrm>
          <a:prstGeom prst="rect">
            <a:avLst/>
          </a:prstGeom>
          <a:noFill/>
        </p:spPr>
        <p:txBody>
          <a:bodyPr wrap="square" rtlCol="0">
            <a:spAutoFit/>
          </a:bodyPr>
          <a:lstStyle/>
          <a:p>
            <a:pPr marL="285750" lvl="0" indent="-285750">
              <a:buFont typeface="Arial" panose="020B0604020202020204" pitchFamily="34" charset="0"/>
              <a:buChar char="•"/>
            </a:pPr>
            <a:r>
              <a:rPr lang="en-US" dirty="0"/>
              <a:t>Hierarchy: The type of Hierarchy being expressed.</a:t>
            </a:r>
          </a:p>
          <a:p>
            <a:pPr marL="285750" lvl="0" indent="-285750">
              <a:buFont typeface="Arial" panose="020B0604020202020204" pitchFamily="34" charset="0"/>
              <a:buChar char="•"/>
            </a:pPr>
            <a:r>
              <a:rPr lang="en-US" dirty="0"/>
              <a:t>Level: The number of levels defined within the hierarchy. The platform allows for a maximum of 6 levels per hierarchy to be configured. </a:t>
            </a:r>
          </a:p>
          <a:p>
            <a:pPr marL="285750" lvl="0" indent="-285750">
              <a:buFont typeface="Arial" panose="020B0604020202020204" pitchFamily="34" charset="0"/>
              <a:buChar char="•"/>
            </a:pPr>
            <a:r>
              <a:rPr lang="en-US" dirty="0"/>
              <a:t>Locations: Is the lowest level possible in the hierarchy and is derived from the locations supplied in the reference data feed.</a:t>
            </a:r>
          </a:p>
          <a:p>
            <a:pPr marL="285750" lvl="0" indent="-285750">
              <a:buFont typeface="Arial" panose="020B0604020202020204" pitchFamily="34" charset="0"/>
              <a:buChar char="•"/>
            </a:pPr>
            <a:r>
              <a:rPr lang="en-US" dirty="0"/>
              <a:t>Members: is the association of a user to a level in the Hierarchy.</a:t>
            </a:r>
          </a:p>
          <a:p>
            <a:endParaRPr lang="en-US" dirty="0"/>
          </a:p>
        </p:txBody>
      </p:sp>
    </p:spTree>
    <p:extLst>
      <p:ext uri="{BB962C8B-B14F-4D97-AF65-F5344CB8AC3E}">
        <p14:creationId xmlns:p14="http://schemas.microsoft.com/office/powerpoint/2010/main" val="2784379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Content Placeholder 6" descr="A picture containing floor, sky, indoor&#10;&#10;Description generated with very high confidence">
            <a:extLst>
              <a:ext uri="{FF2B5EF4-FFF2-40B4-BE49-F238E27FC236}">
                <a16:creationId xmlns:a16="http://schemas.microsoft.com/office/drawing/2014/main" id="{C44D80D3-1AB9-4A9E-B308-979DBECB9579}"/>
              </a:ext>
            </a:extLst>
          </p:cNvPr>
          <p:cNvPicPr>
            <a:picLocks noGrp="1" noChangeAspect="1"/>
          </p:cNvPicPr>
          <p:nvPr>
            <p:ph sz="half" idx="14"/>
          </p:nvPr>
        </p:nvPicPr>
        <p:blipFill>
          <a:blip r:embed="rId2"/>
          <a:stretch>
            <a:fillRect/>
          </a:stretch>
        </p:blipFill>
        <p:spPr>
          <a:xfrm>
            <a:off x="640126" y="1887269"/>
            <a:ext cx="5474374" cy="3278117"/>
          </a:xfrm>
        </p:spPr>
      </p:pic>
      <p:sp>
        <p:nvSpPr>
          <p:cNvPr id="3" name="Slide Number Placeholder 2">
            <a:extLst>
              <a:ext uri="{FF2B5EF4-FFF2-40B4-BE49-F238E27FC236}">
                <a16:creationId xmlns:a16="http://schemas.microsoft.com/office/drawing/2014/main" id="{0867C07E-0CF2-4F7B-ACDA-A3B051914F58}"/>
              </a:ext>
            </a:extLst>
          </p:cNvPr>
          <p:cNvSpPr>
            <a:spLocks noGrp="1"/>
          </p:cNvSpPr>
          <p:nvPr>
            <p:ph type="sldNum" sz="quarter" idx="12"/>
          </p:nvPr>
        </p:nvSpPr>
        <p:spPr/>
        <p:txBody>
          <a:bodyPr/>
          <a:lstStyle/>
          <a:p>
            <a:fld id="{0BF9CEBF-66DF-3848-8984-13BBF9FFC1B1}" type="slidenum">
              <a:rPr lang="en-US" smtClean="0"/>
              <a:pPr/>
              <a:t>19</a:t>
            </a:fld>
            <a:endParaRPr lang="en-US"/>
          </a:p>
        </p:txBody>
      </p:sp>
      <p:sp>
        <p:nvSpPr>
          <p:cNvPr id="4" name="Title 3">
            <a:extLst>
              <a:ext uri="{FF2B5EF4-FFF2-40B4-BE49-F238E27FC236}">
                <a16:creationId xmlns:a16="http://schemas.microsoft.com/office/drawing/2014/main" id="{55F823D8-E073-4E9A-8E9A-EED836ED6ACC}"/>
              </a:ext>
            </a:extLst>
          </p:cNvPr>
          <p:cNvSpPr>
            <a:spLocks noGrp="1"/>
          </p:cNvSpPr>
          <p:nvPr>
            <p:ph type="title"/>
          </p:nvPr>
        </p:nvSpPr>
        <p:spPr/>
        <p:txBody>
          <a:bodyPr/>
          <a:lstStyle/>
          <a:p>
            <a:r>
              <a:rPr lang="en-US" dirty="0"/>
              <a:t>Hierarchy and Alignment Example</a:t>
            </a:r>
          </a:p>
        </p:txBody>
      </p:sp>
      <p:sp>
        <p:nvSpPr>
          <p:cNvPr id="5" name="Footer Placeholder 4">
            <a:extLst>
              <a:ext uri="{FF2B5EF4-FFF2-40B4-BE49-F238E27FC236}">
                <a16:creationId xmlns:a16="http://schemas.microsoft.com/office/drawing/2014/main" id="{3F561734-D4B3-4EA9-B4DE-BFD04E889CE4}"/>
              </a:ext>
            </a:extLst>
          </p:cNvPr>
          <p:cNvSpPr>
            <a:spLocks noGrp="1"/>
          </p:cNvSpPr>
          <p:nvPr>
            <p:ph type="ftr" sz="quarter" idx="11"/>
          </p:nvPr>
        </p:nvSpPr>
        <p:spPr/>
        <p:txBody>
          <a:bodyPr/>
          <a:lstStyle/>
          <a:p>
            <a:r>
              <a:rPr lang="en-US"/>
              <a:t>©Appriss Retail.  Proprietary and Confidential</a:t>
            </a:r>
            <a:endParaRPr lang="en-US" dirty="0"/>
          </a:p>
        </p:txBody>
      </p:sp>
      <p:pic>
        <p:nvPicPr>
          <p:cNvPr id="9" name="Picture 8" descr="A screenshot of a cell phone&#10;&#10;Description generated with very high confidence">
            <a:extLst>
              <a:ext uri="{FF2B5EF4-FFF2-40B4-BE49-F238E27FC236}">
                <a16:creationId xmlns:a16="http://schemas.microsoft.com/office/drawing/2014/main" id="{8BFDB64C-AA73-43BD-80E7-C57FC033B584}"/>
              </a:ext>
            </a:extLst>
          </p:cNvPr>
          <p:cNvPicPr>
            <a:picLocks noChangeAspect="1"/>
          </p:cNvPicPr>
          <p:nvPr/>
        </p:nvPicPr>
        <p:blipFill>
          <a:blip r:embed="rId3"/>
          <a:stretch>
            <a:fillRect/>
          </a:stretch>
        </p:blipFill>
        <p:spPr>
          <a:xfrm>
            <a:off x="6343709" y="1887269"/>
            <a:ext cx="5066748" cy="3146955"/>
          </a:xfrm>
          <a:prstGeom prst="rect">
            <a:avLst/>
          </a:prstGeom>
        </p:spPr>
      </p:pic>
      <p:sp>
        <p:nvSpPr>
          <p:cNvPr id="10" name="TextBox 9">
            <a:extLst>
              <a:ext uri="{FF2B5EF4-FFF2-40B4-BE49-F238E27FC236}">
                <a16:creationId xmlns:a16="http://schemas.microsoft.com/office/drawing/2014/main" id="{2D91B2AB-3812-49D3-A887-E72C93F2AC71}"/>
              </a:ext>
            </a:extLst>
          </p:cNvPr>
          <p:cNvSpPr txBox="1"/>
          <p:nvPr/>
        </p:nvSpPr>
        <p:spPr>
          <a:xfrm>
            <a:off x="680942" y="1347013"/>
            <a:ext cx="2696371" cy="369332"/>
          </a:xfrm>
          <a:prstGeom prst="rect">
            <a:avLst/>
          </a:prstGeom>
          <a:noFill/>
        </p:spPr>
        <p:txBody>
          <a:bodyPr wrap="square" rtlCol="0">
            <a:spAutoFit/>
          </a:bodyPr>
          <a:lstStyle/>
          <a:p>
            <a:r>
              <a:rPr lang="en-US" dirty="0"/>
              <a:t>Hierarchy</a:t>
            </a:r>
          </a:p>
        </p:txBody>
      </p:sp>
      <p:sp>
        <p:nvSpPr>
          <p:cNvPr id="11" name="TextBox 10">
            <a:extLst>
              <a:ext uri="{FF2B5EF4-FFF2-40B4-BE49-F238E27FC236}">
                <a16:creationId xmlns:a16="http://schemas.microsoft.com/office/drawing/2014/main" id="{D07017AA-960F-42BD-BB48-40F3A5BECA2F}"/>
              </a:ext>
            </a:extLst>
          </p:cNvPr>
          <p:cNvSpPr txBox="1"/>
          <p:nvPr/>
        </p:nvSpPr>
        <p:spPr>
          <a:xfrm>
            <a:off x="7068772" y="1358094"/>
            <a:ext cx="2696371" cy="369332"/>
          </a:xfrm>
          <a:prstGeom prst="rect">
            <a:avLst/>
          </a:prstGeom>
          <a:noFill/>
        </p:spPr>
        <p:txBody>
          <a:bodyPr wrap="square" rtlCol="0">
            <a:spAutoFit/>
          </a:bodyPr>
          <a:lstStyle/>
          <a:p>
            <a:r>
              <a:rPr lang="en-US" dirty="0"/>
              <a:t>Alignment</a:t>
            </a:r>
          </a:p>
        </p:txBody>
      </p:sp>
    </p:spTree>
    <p:extLst>
      <p:ext uri="{BB962C8B-B14F-4D97-AF65-F5344CB8AC3E}">
        <p14:creationId xmlns:p14="http://schemas.microsoft.com/office/powerpoint/2010/main" val="2416353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EC5BA91-3863-41D4-BB21-046099F0FE03}"/>
              </a:ext>
            </a:extLst>
          </p:cNvPr>
          <p:cNvSpPr>
            <a:spLocks noGrp="1"/>
          </p:cNvSpPr>
          <p:nvPr>
            <p:ph type="title"/>
          </p:nvPr>
        </p:nvSpPr>
        <p:spPr/>
        <p:txBody>
          <a:bodyPr/>
          <a:lstStyle/>
          <a:p>
            <a:r>
              <a:rPr lang="en-GB" dirty="0"/>
              <a:t>Teams</a:t>
            </a:r>
          </a:p>
        </p:txBody>
      </p:sp>
      <p:sp>
        <p:nvSpPr>
          <p:cNvPr id="8" name="Content Placeholder 7">
            <a:extLst>
              <a:ext uri="{FF2B5EF4-FFF2-40B4-BE49-F238E27FC236}">
                <a16:creationId xmlns:a16="http://schemas.microsoft.com/office/drawing/2014/main" id="{D219FD48-A087-4928-8610-1E2DEDEF7FD9}"/>
              </a:ext>
            </a:extLst>
          </p:cNvPr>
          <p:cNvSpPr>
            <a:spLocks noGrp="1"/>
          </p:cNvSpPr>
          <p:nvPr>
            <p:ph sz="half" idx="14"/>
          </p:nvPr>
        </p:nvSpPr>
        <p:spPr/>
        <p:txBody>
          <a:bodyPr>
            <a:normAutofit fontScale="92500" lnSpcReduction="20000"/>
          </a:bodyPr>
          <a:lstStyle/>
          <a:p>
            <a:pPr marL="0" indent="0">
              <a:buNone/>
            </a:pPr>
            <a:r>
              <a:rPr lang="en-US" dirty="0"/>
              <a:t>Teams is a simple administrative functions of grouping users into a collection that describes their function within the organization. </a:t>
            </a:r>
          </a:p>
          <a:p>
            <a:pPr marL="0" indent="0">
              <a:buNone/>
            </a:pPr>
            <a:r>
              <a:rPr lang="en-US" dirty="0"/>
              <a:t>Teams should not be confused with </a:t>
            </a:r>
            <a:r>
              <a:rPr lang="en-US" b="1" dirty="0"/>
              <a:t>User Groups</a:t>
            </a:r>
          </a:p>
          <a:p>
            <a:pPr marL="0" indent="0">
              <a:buNone/>
            </a:pPr>
            <a:endParaRPr lang="en-US" dirty="0"/>
          </a:p>
          <a:p>
            <a:pPr marL="0" indent="0">
              <a:buNone/>
            </a:pPr>
            <a:r>
              <a:rPr lang="en-GB" dirty="0"/>
              <a:t>Use:</a:t>
            </a:r>
          </a:p>
          <a:p>
            <a:pPr lvl="1"/>
            <a:r>
              <a:rPr lang="en-GB" dirty="0"/>
              <a:t>Notifications: A notification can be sent to all users in a Team</a:t>
            </a:r>
          </a:p>
          <a:p>
            <a:pPr lvl="1"/>
            <a:r>
              <a:rPr lang="en-GB" dirty="0"/>
              <a:t>Data Export: The result of a data export can be sent to all users in a Team </a:t>
            </a:r>
          </a:p>
          <a:p>
            <a:pPr lvl="1"/>
            <a:r>
              <a:rPr lang="en-GB" dirty="0"/>
              <a:t>Work Items: A user can restrict a Work Item (WI) to a Team</a:t>
            </a:r>
          </a:p>
          <a:p>
            <a:pPr marL="914400" lvl="2" indent="0">
              <a:buNone/>
            </a:pPr>
            <a:r>
              <a:rPr lang="en-GB" dirty="0"/>
              <a:t>If a WI is restricted to a Team, a user has to be in the Team to view the WI </a:t>
            </a:r>
          </a:p>
          <a:p>
            <a:pPr marL="914400" lvl="2" indent="0">
              <a:buNone/>
            </a:pPr>
            <a:r>
              <a:rPr lang="en-GB" dirty="0"/>
              <a:t>If a WI is restricted to a Team and there is also a location tag (Hierarchy 1) – The user needs to be in both in order to see the WI. </a:t>
            </a:r>
          </a:p>
          <a:p>
            <a:pPr marL="0" indent="0">
              <a:buNone/>
            </a:pPr>
            <a:endParaRPr lang="en-GB" dirty="0"/>
          </a:p>
          <a:p>
            <a:pPr marL="0" indent="0">
              <a:buNone/>
            </a:pPr>
            <a:r>
              <a:rPr lang="en-GB" dirty="0"/>
              <a:t>Example:</a:t>
            </a:r>
          </a:p>
          <a:p>
            <a:pPr marL="457200" lvl="1" indent="0">
              <a:buNone/>
            </a:pPr>
            <a:r>
              <a:rPr lang="en-US" dirty="0"/>
              <a:t>Investigator – Store Ops </a:t>
            </a:r>
            <a:endParaRPr lang="en-GB" dirty="0"/>
          </a:p>
          <a:p>
            <a:pPr marL="457200" lvl="1" indent="0">
              <a:buNone/>
            </a:pPr>
            <a:r>
              <a:rPr lang="en-US" dirty="0"/>
              <a:t>Investigator – Financial Controller </a:t>
            </a:r>
            <a:endParaRPr lang="en-GB" dirty="0"/>
          </a:p>
          <a:p>
            <a:pPr marL="457200" lvl="1" indent="0">
              <a:buNone/>
            </a:pPr>
            <a:r>
              <a:rPr lang="en-US" dirty="0"/>
              <a:t>Two different Teams for the same Permission Group – they will see different WIs</a:t>
            </a:r>
            <a:endParaRPr lang="en-GB" dirty="0"/>
          </a:p>
          <a:p>
            <a:pPr marL="914400" lvl="2" indent="0">
              <a:buNone/>
            </a:pPr>
            <a:endParaRPr lang="en-GB" dirty="0"/>
          </a:p>
        </p:txBody>
      </p:sp>
      <p:sp>
        <p:nvSpPr>
          <p:cNvPr id="5" name="Slide Number Placeholder 4">
            <a:extLst>
              <a:ext uri="{FF2B5EF4-FFF2-40B4-BE49-F238E27FC236}">
                <a16:creationId xmlns:a16="http://schemas.microsoft.com/office/drawing/2014/main" id="{DB8098F1-E495-47D6-9F40-F025574B0C62}"/>
              </a:ext>
            </a:extLst>
          </p:cNvPr>
          <p:cNvSpPr>
            <a:spLocks noGrp="1"/>
          </p:cNvSpPr>
          <p:nvPr>
            <p:ph type="sldNum" sz="quarter" idx="12"/>
          </p:nvPr>
        </p:nvSpPr>
        <p:spPr/>
        <p:txBody>
          <a:bodyPr/>
          <a:lstStyle/>
          <a:p>
            <a:fld id="{0BF9CEBF-66DF-3848-8984-13BBF9FFC1B1}" type="slidenum">
              <a:rPr lang="en-US" smtClean="0"/>
              <a:pPr/>
              <a:t>20</a:t>
            </a:fld>
            <a:endParaRPr lang="en-US"/>
          </a:p>
        </p:txBody>
      </p:sp>
      <p:sp>
        <p:nvSpPr>
          <p:cNvPr id="6" name="Footer Placeholder 5">
            <a:extLst>
              <a:ext uri="{FF2B5EF4-FFF2-40B4-BE49-F238E27FC236}">
                <a16:creationId xmlns:a16="http://schemas.microsoft.com/office/drawing/2014/main" id="{63C0E4DF-D3D6-4878-903E-8510470F5A73}"/>
              </a:ext>
            </a:extLst>
          </p:cNvPr>
          <p:cNvSpPr>
            <a:spLocks noGrp="1"/>
          </p:cNvSpPr>
          <p:nvPr>
            <p:ph type="ftr" sz="quarter" idx="11"/>
          </p:nvPr>
        </p:nvSpPr>
        <p:spPr/>
        <p:txBody>
          <a:bodyPr/>
          <a:lstStyle/>
          <a:p>
            <a:r>
              <a:rPr lang="en-US"/>
              <a:t>©Appriss Retail.  Proprietary and Confidential</a:t>
            </a:r>
            <a:endParaRPr lang="en-US" dirty="0"/>
          </a:p>
        </p:txBody>
      </p:sp>
    </p:spTree>
    <p:extLst>
      <p:ext uri="{BB962C8B-B14F-4D97-AF65-F5344CB8AC3E}">
        <p14:creationId xmlns:p14="http://schemas.microsoft.com/office/powerpoint/2010/main" val="3405762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24F3D-B223-42D8-94DD-359A4C5E8137}"/>
              </a:ext>
            </a:extLst>
          </p:cNvPr>
          <p:cNvSpPr>
            <a:spLocks noGrp="1"/>
          </p:cNvSpPr>
          <p:nvPr>
            <p:ph type="title"/>
          </p:nvPr>
        </p:nvSpPr>
        <p:spPr/>
        <p:txBody>
          <a:bodyPr/>
          <a:lstStyle/>
          <a:p>
            <a:r>
              <a:rPr lang="en-GB" dirty="0"/>
              <a:t>How do Data Policies work? </a:t>
            </a:r>
          </a:p>
        </p:txBody>
      </p:sp>
      <p:sp>
        <p:nvSpPr>
          <p:cNvPr id="3" name="Content Placeholder 2">
            <a:extLst>
              <a:ext uri="{FF2B5EF4-FFF2-40B4-BE49-F238E27FC236}">
                <a16:creationId xmlns:a16="http://schemas.microsoft.com/office/drawing/2014/main" id="{D4CDAFD3-96ED-4032-892E-7EAA2CDB7091}"/>
              </a:ext>
            </a:extLst>
          </p:cNvPr>
          <p:cNvSpPr>
            <a:spLocks noGrp="1"/>
          </p:cNvSpPr>
          <p:nvPr>
            <p:ph sz="half" idx="14"/>
          </p:nvPr>
        </p:nvSpPr>
        <p:spPr/>
        <p:txBody>
          <a:bodyPr>
            <a:normAutofit/>
          </a:bodyPr>
          <a:lstStyle/>
          <a:p>
            <a:r>
              <a:rPr lang="en-GB" dirty="0"/>
              <a:t>Data Policies are created in the Administration module </a:t>
            </a:r>
          </a:p>
          <a:p>
            <a:pPr marL="0" indent="0">
              <a:buNone/>
            </a:pPr>
            <a:endParaRPr lang="en-GB" dirty="0"/>
          </a:p>
          <a:p>
            <a:r>
              <a:rPr lang="en-GB" dirty="0"/>
              <a:t>Data Policies restrict data and they are applied to Permission Groups NOT  to Users or Teams </a:t>
            </a:r>
          </a:p>
          <a:p>
            <a:pPr marL="0" indent="0">
              <a:buNone/>
            </a:pPr>
            <a:endParaRPr lang="en-GB" dirty="0"/>
          </a:p>
          <a:p>
            <a:r>
              <a:rPr lang="en-GB" dirty="0"/>
              <a:t>Multiple Data Policies can be applied</a:t>
            </a:r>
          </a:p>
          <a:p>
            <a:pPr marL="0" indent="0">
              <a:buNone/>
            </a:pPr>
            <a:endParaRPr lang="en-GB" dirty="0"/>
          </a:p>
          <a:p>
            <a:r>
              <a:rPr lang="en-GB" dirty="0"/>
              <a:t>Data Policies work over:</a:t>
            </a:r>
          </a:p>
          <a:p>
            <a:pPr lvl="7"/>
            <a:r>
              <a:rPr lang="en-GB" dirty="0"/>
              <a:t>Searches</a:t>
            </a:r>
          </a:p>
          <a:p>
            <a:pPr lvl="7"/>
            <a:r>
              <a:rPr lang="en-GB" dirty="0"/>
              <a:t>Work Items </a:t>
            </a:r>
          </a:p>
          <a:p>
            <a:pPr lvl="7"/>
            <a:r>
              <a:rPr lang="en-GB" dirty="0"/>
              <a:t>Dashboards</a:t>
            </a:r>
          </a:p>
          <a:p>
            <a:pPr marL="3200400" lvl="7" indent="0">
              <a:buNone/>
            </a:pPr>
            <a:endParaRPr lang="en-GB" dirty="0"/>
          </a:p>
          <a:p>
            <a:pPr marL="0" indent="0">
              <a:buNone/>
            </a:pPr>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C9F242E7-50D8-415B-B9C6-9145A94A5B19}"/>
              </a:ext>
            </a:extLst>
          </p:cNvPr>
          <p:cNvSpPr>
            <a:spLocks noGrp="1"/>
          </p:cNvSpPr>
          <p:nvPr>
            <p:ph type="sldNum" sz="quarter" idx="12"/>
          </p:nvPr>
        </p:nvSpPr>
        <p:spPr/>
        <p:txBody>
          <a:bodyPr/>
          <a:lstStyle/>
          <a:p>
            <a:fld id="{0BF9CEBF-66DF-3848-8984-13BBF9FFC1B1}" type="slidenum">
              <a:rPr lang="en-US" smtClean="0"/>
              <a:pPr/>
              <a:t>21</a:t>
            </a:fld>
            <a:endParaRPr lang="en-US"/>
          </a:p>
        </p:txBody>
      </p:sp>
      <p:sp>
        <p:nvSpPr>
          <p:cNvPr id="5" name="Footer Placeholder 4">
            <a:extLst>
              <a:ext uri="{FF2B5EF4-FFF2-40B4-BE49-F238E27FC236}">
                <a16:creationId xmlns:a16="http://schemas.microsoft.com/office/drawing/2014/main" id="{DB4633A5-C8B8-4896-8673-C8F1421FFA54}"/>
              </a:ext>
            </a:extLst>
          </p:cNvPr>
          <p:cNvSpPr>
            <a:spLocks noGrp="1"/>
          </p:cNvSpPr>
          <p:nvPr>
            <p:ph type="ftr" sz="quarter" idx="11"/>
          </p:nvPr>
        </p:nvSpPr>
        <p:spPr/>
        <p:txBody>
          <a:bodyPr/>
          <a:lstStyle/>
          <a:p>
            <a:r>
              <a:rPr lang="en-US"/>
              <a:t>©Appriss Retail.  Proprietary and Confidential</a:t>
            </a:r>
            <a:endParaRPr lang="en-US" dirty="0"/>
          </a:p>
        </p:txBody>
      </p:sp>
    </p:spTree>
    <p:extLst>
      <p:ext uri="{BB962C8B-B14F-4D97-AF65-F5344CB8AC3E}">
        <p14:creationId xmlns:p14="http://schemas.microsoft.com/office/powerpoint/2010/main" val="2416744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D3670-9E76-406F-A99E-841BAAA32928}"/>
              </a:ext>
            </a:extLst>
          </p:cNvPr>
          <p:cNvSpPr>
            <a:spLocks noGrp="1"/>
          </p:cNvSpPr>
          <p:nvPr>
            <p:ph type="title"/>
          </p:nvPr>
        </p:nvSpPr>
        <p:spPr/>
        <p:txBody>
          <a:bodyPr>
            <a:normAutofit/>
          </a:bodyPr>
          <a:lstStyle/>
          <a:p>
            <a:r>
              <a:rPr lang="en-GB" dirty="0"/>
              <a:t>Business Calendars </a:t>
            </a:r>
          </a:p>
        </p:txBody>
      </p:sp>
      <p:sp>
        <p:nvSpPr>
          <p:cNvPr id="5" name="Footer Placeholder 4">
            <a:extLst>
              <a:ext uri="{FF2B5EF4-FFF2-40B4-BE49-F238E27FC236}">
                <a16:creationId xmlns:a16="http://schemas.microsoft.com/office/drawing/2014/main" id="{CF427202-2EB7-49D6-9099-BA58C8F297E9}"/>
              </a:ext>
            </a:extLst>
          </p:cNvPr>
          <p:cNvSpPr>
            <a:spLocks noGrp="1"/>
          </p:cNvSpPr>
          <p:nvPr>
            <p:ph type="ftr" sz="quarter" idx="4294967295"/>
          </p:nvPr>
        </p:nvSpPr>
        <p:spPr>
          <a:xfrm>
            <a:off x="0" y="6469063"/>
            <a:ext cx="4114800" cy="365125"/>
          </a:xfrm>
        </p:spPr>
        <p:txBody>
          <a:bodyPr/>
          <a:lstStyle/>
          <a:p>
            <a:r>
              <a:rPr lang="en-US"/>
              <a:t>©Appriss Retail.  Proprietary and Confidential</a:t>
            </a:r>
            <a:endParaRPr lang="en-US" dirty="0"/>
          </a:p>
        </p:txBody>
      </p:sp>
      <p:sp>
        <p:nvSpPr>
          <p:cNvPr id="4" name="Slide Number Placeholder 3">
            <a:extLst>
              <a:ext uri="{FF2B5EF4-FFF2-40B4-BE49-F238E27FC236}">
                <a16:creationId xmlns:a16="http://schemas.microsoft.com/office/drawing/2014/main" id="{75B12497-D1D9-4BB7-9384-15D67B76EE4E}"/>
              </a:ext>
            </a:extLst>
          </p:cNvPr>
          <p:cNvSpPr>
            <a:spLocks noGrp="1"/>
          </p:cNvSpPr>
          <p:nvPr>
            <p:ph type="sldNum" sz="quarter" idx="4294967295"/>
          </p:nvPr>
        </p:nvSpPr>
        <p:spPr>
          <a:xfrm>
            <a:off x="9448800" y="6469063"/>
            <a:ext cx="2743200" cy="365125"/>
          </a:xfrm>
        </p:spPr>
        <p:txBody>
          <a:bodyPr/>
          <a:lstStyle/>
          <a:p>
            <a:fld id="{0BF9CEBF-66DF-3848-8984-13BBF9FFC1B1}" type="slidenum">
              <a:rPr lang="en-US" smtClean="0"/>
              <a:pPr/>
              <a:t>22</a:t>
            </a:fld>
            <a:endParaRPr lang="en-US"/>
          </a:p>
        </p:txBody>
      </p:sp>
    </p:spTree>
    <p:extLst>
      <p:ext uri="{BB962C8B-B14F-4D97-AF65-F5344CB8AC3E}">
        <p14:creationId xmlns:p14="http://schemas.microsoft.com/office/powerpoint/2010/main" val="4095893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EEE3C2-47FC-4D45-8822-0238878EB333}"/>
              </a:ext>
            </a:extLst>
          </p:cNvPr>
          <p:cNvSpPr>
            <a:spLocks noGrp="1"/>
          </p:cNvSpPr>
          <p:nvPr>
            <p:ph type="title"/>
          </p:nvPr>
        </p:nvSpPr>
        <p:spPr/>
        <p:txBody>
          <a:bodyPr/>
          <a:lstStyle/>
          <a:p>
            <a:r>
              <a:rPr lang="en-GB" dirty="0"/>
              <a:t>Reporting Requirements </a:t>
            </a:r>
          </a:p>
        </p:txBody>
      </p:sp>
    </p:spTree>
    <p:extLst>
      <p:ext uri="{BB962C8B-B14F-4D97-AF65-F5344CB8AC3E}">
        <p14:creationId xmlns:p14="http://schemas.microsoft.com/office/powerpoint/2010/main" val="11916579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778D-BD1A-443A-9606-4F8BB0776E14}"/>
              </a:ext>
            </a:extLst>
          </p:cNvPr>
          <p:cNvSpPr>
            <a:spLocks noGrp="1"/>
          </p:cNvSpPr>
          <p:nvPr>
            <p:ph type="title"/>
          </p:nvPr>
        </p:nvSpPr>
        <p:spPr/>
        <p:txBody>
          <a:bodyPr/>
          <a:lstStyle/>
          <a:p>
            <a:r>
              <a:rPr lang="en-GB" dirty="0"/>
              <a:t>Report Distribution </a:t>
            </a:r>
          </a:p>
        </p:txBody>
      </p:sp>
      <p:sp>
        <p:nvSpPr>
          <p:cNvPr id="6" name="Content Placeholder 5">
            <a:extLst>
              <a:ext uri="{FF2B5EF4-FFF2-40B4-BE49-F238E27FC236}">
                <a16:creationId xmlns:a16="http://schemas.microsoft.com/office/drawing/2014/main" id="{9C1100B3-04E2-4B6D-AFF7-3912CD88DA18}"/>
              </a:ext>
            </a:extLst>
          </p:cNvPr>
          <p:cNvSpPr>
            <a:spLocks noGrp="1"/>
          </p:cNvSpPr>
          <p:nvPr>
            <p:ph sz="half" idx="14"/>
          </p:nvPr>
        </p:nvSpPr>
        <p:spPr/>
        <p:txBody>
          <a:bodyPr/>
          <a:lstStyle/>
          <a:p>
            <a:r>
              <a:rPr lang="en-GB" dirty="0"/>
              <a:t>Hierarchy Restrictions </a:t>
            </a:r>
          </a:p>
          <a:p>
            <a:r>
              <a:rPr lang="en-GB" dirty="0"/>
              <a:t>Teams Restrictions</a:t>
            </a:r>
          </a:p>
          <a:p>
            <a:r>
              <a:rPr lang="en-GB" dirty="0"/>
              <a:t>Report Schedule </a:t>
            </a:r>
          </a:p>
          <a:p>
            <a:pPr lvl="1"/>
            <a:r>
              <a:rPr lang="en-GB" dirty="0"/>
              <a:t>Business Calendar </a:t>
            </a:r>
          </a:p>
          <a:p>
            <a:pPr lvl="1"/>
            <a:r>
              <a:rPr lang="en-GB" dirty="0"/>
              <a:t>Delivery Time – As soon as it is ready / After a specified time </a:t>
            </a:r>
          </a:p>
          <a:p>
            <a:pPr lvl="1"/>
            <a:r>
              <a:rPr lang="en-GB" dirty="0"/>
              <a:t>Day of the Week – As soon as it is ready / After a specified date  </a:t>
            </a:r>
          </a:p>
          <a:p>
            <a:pPr marL="457200" lvl="1" indent="0">
              <a:buNone/>
            </a:pPr>
            <a:endParaRPr lang="en-GB" dirty="0"/>
          </a:p>
          <a:p>
            <a:pPr marL="457200" lvl="1" indent="0">
              <a:buNone/>
            </a:pPr>
            <a:r>
              <a:rPr lang="en-GB" b="1" dirty="0">
                <a:highlight>
                  <a:srgbClr val="FFFF00"/>
                </a:highlight>
              </a:rPr>
              <a:t>Cashier Alert Report </a:t>
            </a:r>
          </a:p>
          <a:p>
            <a:pPr marL="457200" lvl="1" indent="0">
              <a:buNone/>
            </a:pPr>
            <a:r>
              <a:rPr lang="en-GB" dirty="0">
                <a:highlight>
                  <a:srgbClr val="FFFF00"/>
                </a:highlight>
              </a:rPr>
              <a:t>How do AS Watson want to be able to disseminate information to different users? </a:t>
            </a:r>
          </a:p>
          <a:p>
            <a:pPr marL="457200" lvl="1" indent="0">
              <a:buNone/>
            </a:pPr>
            <a:r>
              <a:rPr lang="en-GB" dirty="0">
                <a:highlight>
                  <a:srgbClr val="FFFF00"/>
                </a:highlight>
              </a:rPr>
              <a:t>via Secure? </a:t>
            </a:r>
          </a:p>
          <a:p>
            <a:pPr marL="457200" lvl="1" indent="0">
              <a:buNone/>
            </a:pPr>
            <a:r>
              <a:rPr lang="en-GB" dirty="0">
                <a:highlight>
                  <a:srgbClr val="FFFF00"/>
                </a:highlight>
              </a:rPr>
              <a:t>Manually download reports from Secure and send emails to Store Managers? </a:t>
            </a:r>
          </a:p>
          <a:p>
            <a:pPr lvl="1"/>
            <a:endParaRPr lang="en-GB" dirty="0"/>
          </a:p>
        </p:txBody>
      </p:sp>
      <p:sp>
        <p:nvSpPr>
          <p:cNvPr id="4" name="Slide Number Placeholder 3">
            <a:extLst>
              <a:ext uri="{FF2B5EF4-FFF2-40B4-BE49-F238E27FC236}">
                <a16:creationId xmlns:a16="http://schemas.microsoft.com/office/drawing/2014/main" id="{86247E86-5656-4C06-9AA9-C9DB2D5E7EC2}"/>
              </a:ext>
            </a:extLst>
          </p:cNvPr>
          <p:cNvSpPr>
            <a:spLocks noGrp="1"/>
          </p:cNvSpPr>
          <p:nvPr>
            <p:ph type="sldNum" sz="quarter" idx="12"/>
          </p:nvPr>
        </p:nvSpPr>
        <p:spPr/>
        <p:txBody>
          <a:bodyPr/>
          <a:lstStyle/>
          <a:p>
            <a:fld id="{0BF9CEBF-66DF-3848-8984-13BBF9FFC1B1}" type="slidenum">
              <a:rPr lang="en-US" smtClean="0"/>
              <a:pPr/>
              <a:t>24</a:t>
            </a:fld>
            <a:endParaRPr lang="en-US"/>
          </a:p>
        </p:txBody>
      </p:sp>
      <p:sp>
        <p:nvSpPr>
          <p:cNvPr id="5" name="Footer Placeholder 4">
            <a:extLst>
              <a:ext uri="{FF2B5EF4-FFF2-40B4-BE49-F238E27FC236}">
                <a16:creationId xmlns:a16="http://schemas.microsoft.com/office/drawing/2014/main" id="{E7BCB604-A648-4391-AF5B-08F5DD471D20}"/>
              </a:ext>
            </a:extLst>
          </p:cNvPr>
          <p:cNvSpPr>
            <a:spLocks noGrp="1"/>
          </p:cNvSpPr>
          <p:nvPr>
            <p:ph type="ftr" sz="quarter" idx="11"/>
          </p:nvPr>
        </p:nvSpPr>
        <p:spPr/>
        <p:txBody>
          <a:bodyPr/>
          <a:lstStyle/>
          <a:p>
            <a:r>
              <a:rPr lang="en-US"/>
              <a:t>©Appriss Retail.  Proprietary and Confidential</a:t>
            </a:r>
            <a:endParaRPr lang="en-US" dirty="0"/>
          </a:p>
        </p:txBody>
      </p:sp>
    </p:spTree>
    <p:extLst>
      <p:ext uri="{BB962C8B-B14F-4D97-AF65-F5344CB8AC3E}">
        <p14:creationId xmlns:p14="http://schemas.microsoft.com/office/powerpoint/2010/main" val="26112330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238AB24-0CD5-46F7-97C6-3E1F0D43BC8F}"/>
              </a:ext>
            </a:extLst>
          </p:cNvPr>
          <p:cNvSpPr>
            <a:spLocks noGrp="1"/>
          </p:cNvSpPr>
          <p:nvPr>
            <p:ph type="title"/>
          </p:nvPr>
        </p:nvSpPr>
        <p:spPr/>
        <p:txBody>
          <a:bodyPr/>
          <a:lstStyle/>
          <a:p>
            <a:r>
              <a:rPr lang="en-GB" dirty="0"/>
              <a:t>LP Case Management</a:t>
            </a:r>
          </a:p>
        </p:txBody>
      </p:sp>
      <p:sp>
        <p:nvSpPr>
          <p:cNvPr id="7" name="Text Placeholder 6">
            <a:extLst>
              <a:ext uri="{FF2B5EF4-FFF2-40B4-BE49-F238E27FC236}">
                <a16:creationId xmlns:a16="http://schemas.microsoft.com/office/drawing/2014/main" id="{1755CA33-D98B-47F3-8CF0-D40086AD6CCA}"/>
              </a:ext>
            </a:extLst>
          </p:cNvPr>
          <p:cNvSpPr>
            <a:spLocks noGrp="1"/>
          </p:cNvSpPr>
          <p:nvPr>
            <p:ph type="body" idx="1"/>
          </p:nvPr>
        </p:nvSpPr>
        <p:spPr>
          <a:xfrm>
            <a:off x="831850" y="4212378"/>
            <a:ext cx="10515600" cy="959237"/>
          </a:xfrm>
        </p:spPr>
        <p:txBody>
          <a:bodyPr/>
          <a:lstStyle/>
          <a:p>
            <a:pPr lvl="1"/>
            <a:r>
              <a:rPr lang="en-GB" dirty="0"/>
              <a:t>Case Management Dashboard </a:t>
            </a:r>
          </a:p>
          <a:p>
            <a:pPr lvl="1"/>
            <a:r>
              <a:rPr lang="en-GB" dirty="0"/>
              <a:t>General Information Form </a:t>
            </a:r>
          </a:p>
          <a:p>
            <a:pPr lvl="1"/>
            <a:r>
              <a:rPr lang="en-GB" dirty="0"/>
              <a:t>Case Search </a:t>
            </a:r>
          </a:p>
        </p:txBody>
      </p:sp>
      <p:sp>
        <p:nvSpPr>
          <p:cNvPr id="4" name="Slide Number Placeholder 3">
            <a:extLst>
              <a:ext uri="{FF2B5EF4-FFF2-40B4-BE49-F238E27FC236}">
                <a16:creationId xmlns:a16="http://schemas.microsoft.com/office/drawing/2014/main" id="{E37D64E6-D917-42F5-B38A-A734FC33E119}"/>
              </a:ext>
            </a:extLst>
          </p:cNvPr>
          <p:cNvSpPr>
            <a:spLocks noGrp="1"/>
          </p:cNvSpPr>
          <p:nvPr>
            <p:ph type="sldNum" sz="quarter" idx="4294967295"/>
          </p:nvPr>
        </p:nvSpPr>
        <p:spPr>
          <a:xfrm>
            <a:off x="9448800" y="6469063"/>
            <a:ext cx="2743200" cy="365125"/>
          </a:xfrm>
        </p:spPr>
        <p:txBody>
          <a:bodyPr/>
          <a:lstStyle/>
          <a:p>
            <a:fld id="{0BF9CEBF-66DF-3848-8984-13BBF9FFC1B1}" type="slidenum">
              <a:rPr lang="en-US" smtClean="0"/>
              <a:pPr/>
              <a:t>25</a:t>
            </a:fld>
            <a:endParaRPr lang="en-US"/>
          </a:p>
        </p:txBody>
      </p:sp>
      <p:sp>
        <p:nvSpPr>
          <p:cNvPr id="5" name="Footer Placeholder 4">
            <a:extLst>
              <a:ext uri="{FF2B5EF4-FFF2-40B4-BE49-F238E27FC236}">
                <a16:creationId xmlns:a16="http://schemas.microsoft.com/office/drawing/2014/main" id="{53727DBB-222F-48A1-8600-145D6213070C}"/>
              </a:ext>
            </a:extLst>
          </p:cNvPr>
          <p:cNvSpPr>
            <a:spLocks noGrp="1"/>
          </p:cNvSpPr>
          <p:nvPr>
            <p:ph type="ftr" sz="quarter" idx="4294967295"/>
          </p:nvPr>
        </p:nvSpPr>
        <p:spPr>
          <a:xfrm>
            <a:off x="0" y="6469063"/>
            <a:ext cx="4114800" cy="365125"/>
          </a:xfrm>
        </p:spPr>
        <p:txBody>
          <a:bodyPr/>
          <a:lstStyle/>
          <a:p>
            <a:r>
              <a:rPr lang="en-US"/>
              <a:t>©Appriss Retail.  Proprietary and Confidential</a:t>
            </a:r>
            <a:endParaRPr lang="en-US" dirty="0"/>
          </a:p>
        </p:txBody>
      </p:sp>
    </p:spTree>
    <p:extLst>
      <p:ext uri="{BB962C8B-B14F-4D97-AF65-F5344CB8AC3E}">
        <p14:creationId xmlns:p14="http://schemas.microsoft.com/office/powerpoint/2010/main" val="24144991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238AB24-0CD5-46F7-97C6-3E1F0D43BC8F}"/>
              </a:ext>
            </a:extLst>
          </p:cNvPr>
          <p:cNvSpPr>
            <a:spLocks noGrp="1"/>
          </p:cNvSpPr>
          <p:nvPr>
            <p:ph type="title"/>
          </p:nvPr>
        </p:nvSpPr>
        <p:spPr/>
        <p:txBody>
          <a:bodyPr/>
          <a:lstStyle/>
          <a:p>
            <a:r>
              <a:rPr lang="en-GB" dirty="0"/>
              <a:t>LP Case Management: Case Approver Flow</a:t>
            </a:r>
          </a:p>
        </p:txBody>
      </p:sp>
      <p:sp>
        <p:nvSpPr>
          <p:cNvPr id="7" name="Text Placeholder 6">
            <a:extLst>
              <a:ext uri="{FF2B5EF4-FFF2-40B4-BE49-F238E27FC236}">
                <a16:creationId xmlns:a16="http://schemas.microsoft.com/office/drawing/2014/main" id="{1755CA33-D98B-47F3-8CF0-D40086AD6CCA}"/>
              </a:ext>
            </a:extLst>
          </p:cNvPr>
          <p:cNvSpPr>
            <a:spLocks noGrp="1"/>
          </p:cNvSpPr>
          <p:nvPr>
            <p:ph type="body" idx="1"/>
          </p:nvPr>
        </p:nvSpPr>
        <p:spPr/>
        <p:txBody>
          <a:bodyPr/>
          <a:lstStyle/>
          <a:p>
            <a:r>
              <a:rPr lang="en-GB" dirty="0"/>
              <a:t>Secure 5.2 </a:t>
            </a:r>
          </a:p>
        </p:txBody>
      </p:sp>
      <p:sp>
        <p:nvSpPr>
          <p:cNvPr id="4" name="Slide Number Placeholder 3">
            <a:extLst>
              <a:ext uri="{FF2B5EF4-FFF2-40B4-BE49-F238E27FC236}">
                <a16:creationId xmlns:a16="http://schemas.microsoft.com/office/drawing/2014/main" id="{E37D64E6-D917-42F5-B38A-A734FC33E119}"/>
              </a:ext>
            </a:extLst>
          </p:cNvPr>
          <p:cNvSpPr>
            <a:spLocks noGrp="1"/>
          </p:cNvSpPr>
          <p:nvPr>
            <p:ph type="sldNum" sz="quarter" idx="4294967295"/>
          </p:nvPr>
        </p:nvSpPr>
        <p:spPr>
          <a:xfrm>
            <a:off x="9448800" y="6469063"/>
            <a:ext cx="2743200" cy="365125"/>
          </a:xfrm>
        </p:spPr>
        <p:txBody>
          <a:bodyPr/>
          <a:lstStyle/>
          <a:p>
            <a:fld id="{0BF9CEBF-66DF-3848-8984-13BBF9FFC1B1}" type="slidenum">
              <a:rPr lang="en-US" smtClean="0"/>
              <a:pPr/>
              <a:t>26</a:t>
            </a:fld>
            <a:endParaRPr lang="en-US"/>
          </a:p>
        </p:txBody>
      </p:sp>
      <p:sp>
        <p:nvSpPr>
          <p:cNvPr id="5" name="Footer Placeholder 4">
            <a:extLst>
              <a:ext uri="{FF2B5EF4-FFF2-40B4-BE49-F238E27FC236}">
                <a16:creationId xmlns:a16="http://schemas.microsoft.com/office/drawing/2014/main" id="{53727DBB-222F-48A1-8600-145D6213070C}"/>
              </a:ext>
            </a:extLst>
          </p:cNvPr>
          <p:cNvSpPr>
            <a:spLocks noGrp="1"/>
          </p:cNvSpPr>
          <p:nvPr>
            <p:ph type="ftr" sz="quarter" idx="4294967295"/>
          </p:nvPr>
        </p:nvSpPr>
        <p:spPr>
          <a:xfrm>
            <a:off x="0" y="6469063"/>
            <a:ext cx="4114800" cy="365125"/>
          </a:xfrm>
        </p:spPr>
        <p:txBody>
          <a:bodyPr/>
          <a:lstStyle/>
          <a:p>
            <a:r>
              <a:rPr lang="en-US"/>
              <a:t>©Appriss Retail.  Proprietary and Confidential</a:t>
            </a:r>
            <a:endParaRPr lang="en-US" dirty="0"/>
          </a:p>
        </p:txBody>
      </p:sp>
    </p:spTree>
    <p:extLst>
      <p:ext uri="{BB962C8B-B14F-4D97-AF65-F5344CB8AC3E}">
        <p14:creationId xmlns:p14="http://schemas.microsoft.com/office/powerpoint/2010/main" val="3299565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EB7D4D-EEA8-4416-B4D8-2CCDDB2EC7E4}"/>
              </a:ext>
            </a:extLst>
          </p:cNvPr>
          <p:cNvSpPr>
            <a:spLocks noGrp="1"/>
          </p:cNvSpPr>
          <p:nvPr>
            <p:ph type="title"/>
          </p:nvPr>
        </p:nvSpPr>
        <p:spPr>
          <a:xfrm>
            <a:off x="708365" y="533865"/>
            <a:ext cx="7987685" cy="443198"/>
          </a:xfrm>
        </p:spPr>
        <p:txBody>
          <a:bodyPr/>
          <a:lstStyle/>
          <a:p>
            <a:r>
              <a:rPr lang="en-GB" dirty="0"/>
              <a:t>Investigator with an Approver </a:t>
            </a:r>
          </a:p>
        </p:txBody>
      </p:sp>
      <p:sp>
        <p:nvSpPr>
          <p:cNvPr id="6" name="Rectangle 5">
            <a:extLst>
              <a:ext uri="{FF2B5EF4-FFF2-40B4-BE49-F238E27FC236}">
                <a16:creationId xmlns:a16="http://schemas.microsoft.com/office/drawing/2014/main" id="{973CE76B-A0E0-449D-BA6E-8486F6D68A19}"/>
              </a:ext>
            </a:extLst>
          </p:cNvPr>
          <p:cNvSpPr/>
          <p:nvPr/>
        </p:nvSpPr>
        <p:spPr>
          <a:xfrm>
            <a:off x="1824181" y="3368703"/>
            <a:ext cx="1278385" cy="559293"/>
          </a:xfrm>
          <a:prstGeom prst="rect">
            <a:avLst/>
          </a:prstGeom>
          <a:solidFill>
            <a:srgbClr val="CF224E"/>
          </a:solidFill>
          <a:ln>
            <a:solidFill>
              <a:srgbClr val="CF22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Creates Case</a:t>
            </a:r>
          </a:p>
        </p:txBody>
      </p:sp>
      <p:pic>
        <p:nvPicPr>
          <p:cNvPr id="8" name="Graphic 7" descr="User">
            <a:extLst>
              <a:ext uri="{FF2B5EF4-FFF2-40B4-BE49-F238E27FC236}">
                <a16:creationId xmlns:a16="http://schemas.microsoft.com/office/drawing/2014/main" id="{4E83175A-BDB2-41AB-B16C-22D7344C73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3157" y="3191150"/>
            <a:ext cx="914400" cy="914400"/>
          </a:xfrm>
          <a:prstGeom prst="rect">
            <a:avLst/>
          </a:prstGeom>
        </p:spPr>
      </p:pic>
      <p:pic>
        <p:nvPicPr>
          <p:cNvPr id="10" name="Graphic 9" descr="Office worker">
            <a:extLst>
              <a:ext uri="{FF2B5EF4-FFF2-40B4-BE49-F238E27FC236}">
                <a16:creationId xmlns:a16="http://schemas.microsoft.com/office/drawing/2014/main" id="{E64487A5-B0F8-4CA3-8714-9CA8A2341F1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25971" y="3172244"/>
            <a:ext cx="914400" cy="914400"/>
          </a:xfrm>
          <a:prstGeom prst="rect">
            <a:avLst/>
          </a:prstGeom>
        </p:spPr>
      </p:pic>
      <p:cxnSp>
        <p:nvCxnSpPr>
          <p:cNvPr id="12" name="Straight Arrow Connector 11">
            <a:extLst>
              <a:ext uri="{FF2B5EF4-FFF2-40B4-BE49-F238E27FC236}">
                <a16:creationId xmlns:a16="http://schemas.microsoft.com/office/drawing/2014/main" id="{19DD09A1-F71A-42B9-8846-A885B79D7779}"/>
              </a:ext>
            </a:extLst>
          </p:cNvPr>
          <p:cNvCxnSpPr>
            <a:cxnSpLocks/>
            <a:stCxn id="8" idx="3"/>
            <a:endCxn id="6" idx="1"/>
          </p:cNvCxnSpPr>
          <p:nvPr/>
        </p:nvCxnSpPr>
        <p:spPr>
          <a:xfrm>
            <a:off x="1347557" y="3648350"/>
            <a:ext cx="476624" cy="0"/>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4F6CC32-28B8-4795-B962-600B1A5F5E59}"/>
              </a:ext>
            </a:extLst>
          </p:cNvPr>
          <p:cNvCxnSpPr>
            <a:cxnSpLocks/>
          </p:cNvCxnSpPr>
          <p:nvPr/>
        </p:nvCxnSpPr>
        <p:spPr>
          <a:xfrm>
            <a:off x="3102566" y="3648349"/>
            <a:ext cx="786404" cy="0"/>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9B2D476A-506A-4580-BE56-6188BF12F158}"/>
              </a:ext>
            </a:extLst>
          </p:cNvPr>
          <p:cNvSpPr/>
          <p:nvPr/>
        </p:nvSpPr>
        <p:spPr>
          <a:xfrm>
            <a:off x="10418865" y="2612951"/>
            <a:ext cx="1278385" cy="559293"/>
          </a:xfrm>
          <a:prstGeom prst="rect">
            <a:avLst/>
          </a:prstGeom>
          <a:solidFill>
            <a:srgbClr val="CF224E"/>
          </a:solidFill>
          <a:ln>
            <a:solidFill>
              <a:srgbClr val="CF22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Case </a:t>
            </a:r>
          </a:p>
          <a:p>
            <a:pPr algn="ctr"/>
            <a:r>
              <a:rPr lang="en-GB" dirty="0"/>
              <a:t>Closed   </a:t>
            </a:r>
          </a:p>
        </p:txBody>
      </p:sp>
      <p:cxnSp>
        <p:nvCxnSpPr>
          <p:cNvPr id="30" name="Connector: Elbow 29">
            <a:extLst>
              <a:ext uri="{FF2B5EF4-FFF2-40B4-BE49-F238E27FC236}">
                <a16:creationId xmlns:a16="http://schemas.microsoft.com/office/drawing/2014/main" id="{7DEBFA29-DEC6-4D39-B960-E6288A0F28BD}"/>
              </a:ext>
            </a:extLst>
          </p:cNvPr>
          <p:cNvCxnSpPr>
            <a:cxnSpLocks/>
            <a:stCxn id="52" idx="2"/>
            <a:endCxn id="6" idx="2"/>
          </p:cNvCxnSpPr>
          <p:nvPr/>
        </p:nvCxnSpPr>
        <p:spPr>
          <a:xfrm rot="5400000" flipH="1">
            <a:off x="4841760" y="1549611"/>
            <a:ext cx="1026473" cy="5783245"/>
          </a:xfrm>
          <a:prstGeom prst="bentConnector3">
            <a:avLst>
              <a:gd name="adj1" fmla="val -22270"/>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C27563E-7F30-44EC-B310-D3F05E487947}"/>
              </a:ext>
            </a:extLst>
          </p:cNvPr>
          <p:cNvCxnSpPr>
            <a:cxnSpLocks/>
            <a:stCxn id="10" idx="3"/>
            <a:endCxn id="51" idx="1"/>
          </p:cNvCxnSpPr>
          <p:nvPr/>
        </p:nvCxnSpPr>
        <p:spPr>
          <a:xfrm flipV="1">
            <a:off x="6740371" y="2911504"/>
            <a:ext cx="853919" cy="717940"/>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80F9781C-C718-49AE-98B8-C629D12213E5}"/>
              </a:ext>
            </a:extLst>
          </p:cNvPr>
          <p:cNvCxnSpPr>
            <a:cxnSpLocks/>
            <a:endCxn id="52" idx="1"/>
          </p:cNvCxnSpPr>
          <p:nvPr/>
        </p:nvCxnSpPr>
        <p:spPr>
          <a:xfrm>
            <a:off x="6759429" y="3946903"/>
            <a:ext cx="847997" cy="727920"/>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CD67D3E-AD60-4C3F-9129-AB7C453FA6B4}"/>
              </a:ext>
            </a:extLst>
          </p:cNvPr>
          <p:cNvCxnSpPr>
            <a:cxnSpLocks/>
          </p:cNvCxnSpPr>
          <p:nvPr/>
        </p:nvCxnSpPr>
        <p:spPr>
          <a:xfrm>
            <a:off x="8872673" y="2911504"/>
            <a:ext cx="1546192" cy="0"/>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5672E3FA-925E-48C0-B20D-6324CB0F6E70}"/>
              </a:ext>
            </a:extLst>
          </p:cNvPr>
          <p:cNvSpPr/>
          <p:nvPr/>
        </p:nvSpPr>
        <p:spPr>
          <a:xfrm>
            <a:off x="7594290" y="2631857"/>
            <a:ext cx="1278385" cy="559293"/>
          </a:xfrm>
          <a:prstGeom prst="rect">
            <a:avLst/>
          </a:prstGeom>
          <a:solidFill>
            <a:srgbClr val="CF224E"/>
          </a:solidFill>
          <a:ln>
            <a:solidFill>
              <a:srgbClr val="CF22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Case Approved</a:t>
            </a:r>
          </a:p>
        </p:txBody>
      </p:sp>
      <p:sp>
        <p:nvSpPr>
          <p:cNvPr id="52" name="Rectangle 51">
            <a:extLst>
              <a:ext uri="{FF2B5EF4-FFF2-40B4-BE49-F238E27FC236}">
                <a16:creationId xmlns:a16="http://schemas.microsoft.com/office/drawing/2014/main" id="{E1AF4AFD-1003-4908-AF71-F10EC0224947}"/>
              </a:ext>
            </a:extLst>
          </p:cNvPr>
          <p:cNvSpPr/>
          <p:nvPr/>
        </p:nvSpPr>
        <p:spPr>
          <a:xfrm>
            <a:off x="7607426" y="4395176"/>
            <a:ext cx="1278385" cy="559293"/>
          </a:xfrm>
          <a:prstGeom prst="rect">
            <a:avLst/>
          </a:prstGeom>
          <a:solidFill>
            <a:srgbClr val="CF224E"/>
          </a:solidFill>
          <a:ln>
            <a:solidFill>
              <a:srgbClr val="CF224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dirty="0"/>
              <a:t>Case </a:t>
            </a:r>
          </a:p>
          <a:p>
            <a:pPr algn="ctr"/>
            <a:r>
              <a:rPr lang="en-GB" dirty="0"/>
              <a:t>Rejected   </a:t>
            </a:r>
          </a:p>
        </p:txBody>
      </p:sp>
      <p:sp>
        <p:nvSpPr>
          <p:cNvPr id="90" name="Rectangle 89">
            <a:extLst>
              <a:ext uri="{FF2B5EF4-FFF2-40B4-BE49-F238E27FC236}">
                <a16:creationId xmlns:a16="http://schemas.microsoft.com/office/drawing/2014/main" id="{7B9C2BD8-204C-4FAE-B753-395AB60669C2}"/>
              </a:ext>
            </a:extLst>
          </p:cNvPr>
          <p:cNvSpPr/>
          <p:nvPr/>
        </p:nvSpPr>
        <p:spPr>
          <a:xfrm>
            <a:off x="3888969" y="3378683"/>
            <a:ext cx="1278385" cy="559293"/>
          </a:xfrm>
          <a:prstGeom prst="rect">
            <a:avLst/>
          </a:prstGeom>
          <a:solidFill>
            <a:srgbClr val="CF224E"/>
          </a:solidFill>
          <a:ln>
            <a:solidFill>
              <a:srgbClr val="CF22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Requests Approval</a:t>
            </a:r>
            <a:endParaRPr lang="en-GB" sz="800" dirty="0"/>
          </a:p>
        </p:txBody>
      </p:sp>
      <p:cxnSp>
        <p:nvCxnSpPr>
          <p:cNvPr id="93" name="Straight Arrow Connector 92">
            <a:extLst>
              <a:ext uri="{FF2B5EF4-FFF2-40B4-BE49-F238E27FC236}">
                <a16:creationId xmlns:a16="http://schemas.microsoft.com/office/drawing/2014/main" id="{4FEACC86-F886-4F39-B4B8-8D1BEC9B2783}"/>
              </a:ext>
            </a:extLst>
          </p:cNvPr>
          <p:cNvCxnSpPr>
            <a:cxnSpLocks/>
          </p:cNvCxnSpPr>
          <p:nvPr/>
        </p:nvCxnSpPr>
        <p:spPr>
          <a:xfrm>
            <a:off x="5167354" y="3648350"/>
            <a:ext cx="786404" cy="0"/>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C78BA9BE-C7EF-41EE-980F-A1C80FC9D1D0}"/>
              </a:ext>
            </a:extLst>
          </p:cNvPr>
          <p:cNvSpPr txBox="1"/>
          <p:nvPr/>
        </p:nvSpPr>
        <p:spPr>
          <a:xfrm>
            <a:off x="386740" y="3983762"/>
            <a:ext cx="1007233" cy="261610"/>
          </a:xfrm>
          <a:prstGeom prst="rect">
            <a:avLst/>
          </a:prstGeom>
          <a:noFill/>
        </p:spPr>
        <p:txBody>
          <a:bodyPr wrap="square" rtlCol="0">
            <a:spAutoFit/>
          </a:bodyPr>
          <a:lstStyle/>
          <a:p>
            <a:r>
              <a:rPr lang="en-GB" sz="1100" dirty="0"/>
              <a:t>Investigator A</a:t>
            </a:r>
          </a:p>
        </p:txBody>
      </p:sp>
      <p:sp>
        <p:nvSpPr>
          <p:cNvPr id="113" name="TextBox 112">
            <a:extLst>
              <a:ext uri="{FF2B5EF4-FFF2-40B4-BE49-F238E27FC236}">
                <a16:creationId xmlns:a16="http://schemas.microsoft.com/office/drawing/2014/main" id="{22E3D0FF-8F6E-4E50-92AF-E72C4EA2B4E4}"/>
              </a:ext>
            </a:extLst>
          </p:cNvPr>
          <p:cNvSpPr txBox="1"/>
          <p:nvPr/>
        </p:nvSpPr>
        <p:spPr>
          <a:xfrm>
            <a:off x="5824122" y="3946903"/>
            <a:ext cx="1007233" cy="430887"/>
          </a:xfrm>
          <a:prstGeom prst="rect">
            <a:avLst/>
          </a:prstGeom>
          <a:noFill/>
        </p:spPr>
        <p:txBody>
          <a:bodyPr wrap="square" rtlCol="0">
            <a:spAutoFit/>
          </a:bodyPr>
          <a:lstStyle/>
          <a:p>
            <a:pPr algn="ctr"/>
            <a:r>
              <a:rPr lang="en-GB" sz="1100" dirty="0"/>
              <a:t>Investigator A</a:t>
            </a:r>
          </a:p>
          <a:p>
            <a:pPr algn="ctr"/>
            <a:r>
              <a:rPr lang="en-GB" sz="1100" dirty="0"/>
              <a:t>Approver</a:t>
            </a:r>
          </a:p>
        </p:txBody>
      </p:sp>
      <p:pic>
        <p:nvPicPr>
          <p:cNvPr id="19" name="Graphic 18" descr="Magnifying glass">
            <a:extLst>
              <a:ext uri="{FF2B5EF4-FFF2-40B4-BE49-F238E27FC236}">
                <a16:creationId xmlns:a16="http://schemas.microsoft.com/office/drawing/2014/main" id="{F77225EC-3427-4C8A-B38F-985A2354E3A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1907" y="3465060"/>
            <a:ext cx="472916" cy="472916"/>
          </a:xfrm>
          <a:prstGeom prst="rect">
            <a:avLst/>
          </a:prstGeom>
        </p:spPr>
      </p:pic>
    </p:spTree>
    <p:extLst>
      <p:ext uri="{BB962C8B-B14F-4D97-AF65-F5344CB8AC3E}">
        <p14:creationId xmlns:p14="http://schemas.microsoft.com/office/powerpoint/2010/main" val="31772566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655D7F-3824-4E09-9200-00FA12A1623A}"/>
              </a:ext>
            </a:extLst>
          </p:cNvPr>
          <p:cNvSpPr>
            <a:spLocks noGrp="1"/>
          </p:cNvSpPr>
          <p:nvPr>
            <p:ph type="title"/>
          </p:nvPr>
        </p:nvSpPr>
        <p:spPr>
          <a:xfrm>
            <a:off x="831850" y="622328"/>
            <a:ext cx="7987685" cy="387798"/>
          </a:xfrm>
        </p:spPr>
        <p:txBody>
          <a:bodyPr/>
          <a:lstStyle/>
          <a:p>
            <a:r>
              <a:rPr lang="en-GB" sz="2800" dirty="0"/>
              <a:t>Investigator with an Approver: Reassign Ownership</a:t>
            </a:r>
          </a:p>
        </p:txBody>
      </p:sp>
      <p:sp>
        <p:nvSpPr>
          <p:cNvPr id="6" name="Rectangle 5">
            <a:extLst>
              <a:ext uri="{FF2B5EF4-FFF2-40B4-BE49-F238E27FC236}">
                <a16:creationId xmlns:a16="http://schemas.microsoft.com/office/drawing/2014/main" id="{7134D52A-0011-46B8-A61C-D2148524D02F}"/>
              </a:ext>
            </a:extLst>
          </p:cNvPr>
          <p:cNvSpPr/>
          <p:nvPr/>
        </p:nvSpPr>
        <p:spPr>
          <a:xfrm>
            <a:off x="2192784" y="5662548"/>
            <a:ext cx="1278385" cy="559293"/>
          </a:xfrm>
          <a:prstGeom prst="rect">
            <a:avLst/>
          </a:prstGeom>
          <a:solidFill>
            <a:srgbClr val="CF224E"/>
          </a:solidFill>
          <a:ln>
            <a:solidFill>
              <a:srgbClr val="CF22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Creates Case</a:t>
            </a:r>
          </a:p>
          <a:p>
            <a:pPr algn="ctr"/>
            <a:r>
              <a:rPr lang="en-GB" sz="800" dirty="0"/>
              <a:t>Status: Open / Unsaved  </a:t>
            </a:r>
          </a:p>
        </p:txBody>
      </p:sp>
      <p:pic>
        <p:nvPicPr>
          <p:cNvPr id="7" name="Graphic 6" descr="User">
            <a:extLst>
              <a:ext uri="{FF2B5EF4-FFF2-40B4-BE49-F238E27FC236}">
                <a16:creationId xmlns:a16="http://schemas.microsoft.com/office/drawing/2014/main" id="{2A8BB7C6-CCD8-4CF8-B126-BE268BBF92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6358" y="5485249"/>
            <a:ext cx="914400" cy="914400"/>
          </a:xfrm>
          <a:prstGeom prst="rect">
            <a:avLst/>
          </a:prstGeom>
        </p:spPr>
      </p:pic>
      <p:cxnSp>
        <p:nvCxnSpPr>
          <p:cNvPr id="9" name="Straight Arrow Connector 8">
            <a:extLst>
              <a:ext uri="{FF2B5EF4-FFF2-40B4-BE49-F238E27FC236}">
                <a16:creationId xmlns:a16="http://schemas.microsoft.com/office/drawing/2014/main" id="{ADC1326D-4530-4BDD-AE09-0279C50EE302}"/>
              </a:ext>
            </a:extLst>
          </p:cNvPr>
          <p:cNvCxnSpPr>
            <a:cxnSpLocks/>
          </p:cNvCxnSpPr>
          <p:nvPr/>
        </p:nvCxnSpPr>
        <p:spPr>
          <a:xfrm flipV="1">
            <a:off x="1409150" y="5926620"/>
            <a:ext cx="783634" cy="1"/>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31701B1-3A8C-4515-B5BF-1B6BDBE6863E}"/>
              </a:ext>
            </a:extLst>
          </p:cNvPr>
          <p:cNvSpPr/>
          <p:nvPr/>
        </p:nvSpPr>
        <p:spPr>
          <a:xfrm>
            <a:off x="10381514" y="1869517"/>
            <a:ext cx="1278385" cy="559293"/>
          </a:xfrm>
          <a:prstGeom prst="rect">
            <a:avLst/>
          </a:prstGeom>
          <a:solidFill>
            <a:srgbClr val="CF224E"/>
          </a:solidFill>
          <a:ln>
            <a:solidFill>
              <a:srgbClr val="CF22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Case </a:t>
            </a:r>
          </a:p>
          <a:p>
            <a:pPr algn="ctr"/>
            <a:r>
              <a:rPr lang="en-GB" dirty="0"/>
              <a:t>Closed   </a:t>
            </a:r>
          </a:p>
        </p:txBody>
      </p:sp>
      <p:sp>
        <p:nvSpPr>
          <p:cNvPr id="16" name="Rectangle 15">
            <a:extLst>
              <a:ext uri="{FF2B5EF4-FFF2-40B4-BE49-F238E27FC236}">
                <a16:creationId xmlns:a16="http://schemas.microsoft.com/office/drawing/2014/main" id="{9A93F3BC-53CC-4828-8FD3-A50EC881F81C}"/>
              </a:ext>
            </a:extLst>
          </p:cNvPr>
          <p:cNvSpPr/>
          <p:nvPr/>
        </p:nvSpPr>
        <p:spPr>
          <a:xfrm>
            <a:off x="8142861" y="1869517"/>
            <a:ext cx="1278385" cy="559293"/>
          </a:xfrm>
          <a:prstGeom prst="rect">
            <a:avLst/>
          </a:prstGeom>
          <a:solidFill>
            <a:srgbClr val="CF224E"/>
          </a:solidFill>
          <a:ln>
            <a:solidFill>
              <a:srgbClr val="CF22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Case Approved</a:t>
            </a:r>
          </a:p>
        </p:txBody>
      </p:sp>
      <p:sp>
        <p:nvSpPr>
          <p:cNvPr id="17" name="Rectangle 16">
            <a:extLst>
              <a:ext uri="{FF2B5EF4-FFF2-40B4-BE49-F238E27FC236}">
                <a16:creationId xmlns:a16="http://schemas.microsoft.com/office/drawing/2014/main" id="{A7552136-87C8-46D4-A1BD-5B97DDC6B236}"/>
              </a:ext>
            </a:extLst>
          </p:cNvPr>
          <p:cNvSpPr/>
          <p:nvPr/>
        </p:nvSpPr>
        <p:spPr>
          <a:xfrm>
            <a:off x="8142862" y="3684569"/>
            <a:ext cx="1278385" cy="559293"/>
          </a:xfrm>
          <a:prstGeom prst="rect">
            <a:avLst/>
          </a:prstGeom>
          <a:solidFill>
            <a:srgbClr val="CF224E"/>
          </a:solidFill>
          <a:ln>
            <a:solidFill>
              <a:srgbClr val="CF22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Case </a:t>
            </a:r>
          </a:p>
          <a:p>
            <a:pPr algn="ctr"/>
            <a:r>
              <a:rPr lang="en-GB" dirty="0"/>
              <a:t>Rejected   </a:t>
            </a:r>
          </a:p>
        </p:txBody>
      </p:sp>
      <p:pic>
        <p:nvPicPr>
          <p:cNvPr id="18" name="Graphic 17" descr="User">
            <a:extLst>
              <a:ext uri="{FF2B5EF4-FFF2-40B4-BE49-F238E27FC236}">
                <a16:creationId xmlns:a16="http://schemas.microsoft.com/office/drawing/2014/main" id="{7AED8BC5-2B6C-4664-B2C9-83D48BF60C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76255" y="2662528"/>
            <a:ext cx="914400" cy="914400"/>
          </a:xfrm>
          <a:prstGeom prst="rect">
            <a:avLst/>
          </a:prstGeom>
        </p:spPr>
      </p:pic>
      <p:cxnSp>
        <p:nvCxnSpPr>
          <p:cNvPr id="19" name="Straight Arrow Connector 18">
            <a:extLst>
              <a:ext uri="{FF2B5EF4-FFF2-40B4-BE49-F238E27FC236}">
                <a16:creationId xmlns:a16="http://schemas.microsoft.com/office/drawing/2014/main" id="{238B0FC0-E6AC-46F8-ACB9-467843381CF4}"/>
              </a:ext>
            </a:extLst>
          </p:cNvPr>
          <p:cNvCxnSpPr>
            <a:cxnSpLocks/>
            <a:stCxn id="6" idx="0"/>
          </p:cNvCxnSpPr>
          <p:nvPr/>
        </p:nvCxnSpPr>
        <p:spPr>
          <a:xfrm flipH="1" flipV="1">
            <a:off x="2831976" y="4932319"/>
            <a:ext cx="1" cy="730229"/>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D841AAD-8047-4D1F-98BC-258348A8D1EE}"/>
              </a:ext>
            </a:extLst>
          </p:cNvPr>
          <p:cNvCxnSpPr>
            <a:cxnSpLocks/>
          </p:cNvCxnSpPr>
          <p:nvPr/>
        </p:nvCxnSpPr>
        <p:spPr>
          <a:xfrm>
            <a:off x="3139735" y="3119728"/>
            <a:ext cx="1154007" cy="1"/>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Office worker">
            <a:extLst>
              <a:ext uri="{FF2B5EF4-FFF2-40B4-BE49-F238E27FC236}">
                <a16:creationId xmlns:a16="http://schemas.microsoft.com/office/drawing/2014/main" id="{6207CCA1-8682-4D53-A9FB-63E82555CF9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07277" y="2649411"/>
            <a:ext cx="914400" cy="914400"/>
          </a:xfrm>
          <a:prstGeom prst="rect">
            <a:avLst/>
          </a:prstGeom>
        </p:spPr>
      </p:pic>
      <p:sp>
        <p:nvSpPr>
          <p:cNvPr id="24" name="Rectangle 23">
            <a:extLst>
              <a:ext uri="{FF2B5EF4-FFF2-40B4-BE49-F238E27FC236}">
                <a16:creationId xmlns:a16="http://schemas.microsoft.com/office/drawing/2014/main" id="{2B50654D-59F1-4884-9F7E-ED4555503078}"/>
              </a:ext>
            </a:extLst>
          </p:cNvPr>
          <p:cNvSpPr/>
          <p:nvPr/>
        </p:nvSpPr>
        <p:spPr>
          <a:xfrm>
            <a:off x="4293742" y="2840081"/>
            <a:ext cx="1278385" cy="559293"/>
          </a:xfrm>
          <a:prstGeom prst="rect">
            <a:avLst/>
          </a:prstGeom>
          <a:solidFill>
            <a:srgbClr val="CF224E"/>
          </a:solidFill>
          <a:ln>
            <a:solidFill>
              <a:srgbClr val="CF22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Requests Approval</a:t>
            </a:r>
            <a:endParaRPr lang="en-GB" sz="900" dirty="0"/>
          </a:p>
        </p:txBody>
      </p:sp>
      <p:cxnSp>
        <p:nvCxnSpPr>
          <p:cNvPr id="27" name="Straight Arrow Connector 26">
            <a:extLst>
              <a:ext uri="{FF2B5EF4-FFF2-40B4-BE49-F238E27FC236}">
                <a16:creationId xmlns:a16="http://schemas.microsoft.com/office/drawing/2014/main" id="{84AE524A-962F-4EB8-B12A-FA563B167F4F}"/>
              </a:ext>
            </a:extLst>
          </p:cNvPr>
          <p:cNvCxnSpPr>
            <a:stCxn id="24" idx="3"/>
            <a:endCxn id="21" idx="1"/>
          </p:cNvCxnSpPr>
          <p:nvPr/>
        </p:nvCxnSpPr>
        <p:spPr>
          <a:xfrm flipV="1">
            <a:off x="5572127" y="3106611"/>
            <a:ext cx="835150" cy="13117"/>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7709772-ED43-457B-9A67-9DF1D4DAA21C}"/>
              </a:ext>
            </a:extLst>
          </p:cNvPr>
          <p:cNvCxnSpPr>
            <a:cxnSpLocks/>
            <a:endCxn id="16" idx="1"/>
          </p:cNvCxnSpPr>
          <p:nvPr/>
        </p:nvCxnSpPr>
        <p:spPr>
          <a:xfrm flipV="1">
            <a:off x="7321677" y="2149164"/>
            <a:ext cx="821184" cy="992737"/>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6CB9976-98BA-4040-BAAE-9F53EB5F8AEA}"/>
              </a:ext>
            </a:extLst>
          </p:cNvPr>
          <p:cNvCxnSpPr>
            <a:cxnSpLocks/>
            <a:endCxn id="17" idx="1"/>
          </p:cNvCxnSpPr>
          <p:nvPr/>
        </p:nvCxnSpPr>
        <p:spPr>
          <a:xfrm>
            <a:off x="7321677" y="3141901"/>
            <a:ext cx="821185" cy="822315"/>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F564C4E-1216-41B4-B67E-86CFB7E441FF}"/>
              </a:ext>
            </a:extLst>
          </p:cNvPr>
          <p:cNvCxnSpPr>
            <a:endCxn id="11" idx="1"/>
          </p:cNvCxnSpPr>
          <p:nvPr/>
        </p:nvCxnSpPr>
        <p:spPr>
          <a:xfrm>
            <a:off x="9421247" y="2149164"/>
            <a:ext cx="960267" cy="0"/>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D861E8EC-D26D-494C-9AF5-C0E54BE6C177}"/>
              </a:ext>
            </a:extLst>
          </p:cNvPr>
          <p:cNvSpPr/>
          <p:nvPr/>
        </p:nvSpPr>
        <p:spPr>
          <a:xfrm>
            <a:off x="2200416" y="4357452"/>
            <a:ext cx="1278385" cy="559293"/>
          </a:xfrm>
          <a:prstGeom prst="rect">
            <a:avLst/>
          </a:prstGeom>
          <a:solidFill>
            <a:srgbClr val="CF224E"/>
          </a:solidFill>
          <a:ln>
            <a:solidFill>
              <a:srgbClr val="CF22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Case Reassigned</a:t>
            </a:r>
            <a:endParaRPr lang="en-GB" sz="900" dirty="0"/>
          </a:p>
        </p:txBody>
      </p:sp>
      <p:cxnSp>
        <p:nvCxnSpPr>
          <p:cNvPr id="36" name="Straight Arrow Connector 35">
            <a:extLst>
              <a:ext uri="{FF2B5EF4-FFF2-40B4-BE49-F238E27FC236}">
                <a16:creationId xmlns:a16="http://schemas.microsoft.com/office/drawing/2014/main" id="{BBBF649A-C180-429A-B0BF-890A9EC792F6}"/>
              </a:ext>
            </a:extLst>
          </p:cNvPr>
          <p:cNvCxnSpPr>
            <a:cxnSpLocks/>
          </p:cNvCxnSpPr>
          <p:nvPr/>
        </p:nvCxnSpPr>
        <p:spPr>
          <a:xfrm flipH="1" flipV="1">
            <a:off x="2806823" y="3627223"/>
            <a:ext cx="1" cy="730229"/>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FF99054F-4D20-4C5B-8990-F98A15B1B6A7}"/>
              </a:ext>
            </a:extLst>
          </p:cNvPr>
          <p:cNvCxnSpPr>
            <a:cxnSpLocks/>
          </p:cNvCxnSpPr>
          <p:nvPr/>
        </p:nvCxnSpPr>
        <p:spPr>
          <a:xfrm rot="5400000" flipH="1">
            <a:off x="5543934" y="982230"/>
            <a:ext cx="841392" cy="5615164"/>
          </a:xfrm>
          <a:prstGeom prst="bentConnector4">
            <a:avLst>
              <a:gd name="adj1" fmla="val -90476"/>
              <a:gd name="adj2" fmla="val 87154"/>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9BA4814F-F6B9-455F-822C-1ABFEC836674}"/>
              </a:ext>
            </a:extLst>
          </p:cNvPr>
          <p:cNvSpPr txBox="1"/>
          <p:nvPr/>
        </p:nvSpPr>
        <p:spPr>
          <a:xfrm>
            <a:off x="546358" y="6299246"/>
            <a:ext cx="1007233" cy="261610"/>
          </a:xfrm>
          <a:prstGeom prst="rect">
            <a:avLst/>
          </a:prstGeom>
          <a:noFill/>
        </p:spPr>
        <p:txBody>
          <a:bodyPr wrap="square" rtlCol="0">
            <a:spAutoFit/>
          </a:bodyPr>
          <a:lstStyle/>
          <a:p>
            <a:r>
              <a:rPr lang="en-GB" sz="1100" dirty="0"/>
              <a:t>Investigator A</a:t>
            </a:r>
          </a:p>
        </p:txBody>
      </p:sp>
      <p:sp>
        <p:nvSpPr>
          <p:cNvPr id="50" name="TextBox 49">
            <a:extLst>
              <a:ext uri="{FF2B5EF4-FFF2-40B4-BE49-F238E27FC236}">
                <a16:creationId xmlns:a16="http://schemas.microsoft.com/office/drawing/2014/main" id="{73F2AEC4-42A3-4752-B878-27DA76379813}"/>
              </a:ext>
            </a:extLst>
          </p:cNvPr>
          <p:cNvSpPr txBox="1"/>
          <p:nvPr/>
        </p:nvSpPr>
        <p:spPr>
          <a:xfrm>
            <a:off x="2335991" y="3410692"/>
            <a:ext cx="1007233" cy="261610"/>
          </a:xfrm>
          <a:prstGeom prst="rect">
            <a:avLst/>
          </a:prstGeom>
          <a:noFill/>
        </p:spPr>
        <p:txBody>
          <a:bodyPr wrap="square" rtlCol="0">
            <a:spAutoFit/>
          </a:bodyPr>
          <a:lstStyle/>
          <a:p>
            <a:r>
              <a:rPr lang="en-GB" sz="1100" dirty="0"/>
              <a:t>Investigator B</a:t>
            </a:r>
          </a:p>
        </p:txBody>
      </p:sp>
      <p:sp>
        <p:nvSpPr>
          <p:cNvPr id="51" name="TextBox 50">
            <a:extLst>
              <a:ext uri="{FF2B5EF4-FFF2-40B4-BE49-F238E27FC236}">
                <a16:creationId xmlns:a16="http://schemas.microsoft.com/office/drawing/2014/main" id="{174AE857-F466-4881-A454-79F410301A19}"/>
              </a:ext>
            </a:extLst>
          </p:cNvPr>
          <p:cNvSpPr txBox="1"/>
          <p:nvPr/>
        </p:nvSpPr>
        <p:spPr>
          <a:xfrm>
            <a:off x="6360860" y="3372781"/>
            <a:ext cx="1007233" cy="430887"/>
          </a:xfrm>
          <a:prstGeom prst="rect">
            <a:avLst/>
          </a:prstGeom>
          <a:noFill/>
        </p:spPr>
        <p:txBody>
          <a:bodyPr wrap="square" rtlCol="0">
            <a:spAutoFit/>
          </a:bodyPr>
          <a:lstStyle/>
          <a:p>
            <a:pPr algn="ctr"/>
            <a:r>
              <a:rPr lang="en-GB" sz="1100" dirty="0"/>
              <a:t>Investigator B</a:t>
            </a:r>
          </a:p>
          <a:p>
            <a:pPr algn="ctr"/>
            <a:r>
              <a:rPr lang="en-GB" sz="1100" dirty="0"/>
              <a:t>Approver</a:t>
            </a:r>
          </a:p>
        </p:txBody>
      </p:sp>
      <p:pic>
        <p:nvPicPr>
          <p:cNvPr id="25" name="Graphic 24" descr="Magnifying glass">
            <a:extLst>
              <a:ext uri="{FF2B5EF4-FFF2-40B4-BE49-F238E27FC236}">
                <a16:creationId xmlns:a16="http://schemas.microsoft.com/office/drawing/2014/main" id="{B307E5B4-9DFB-467D-B905-8E602DE25BE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5392" y="5748925"/>
            <a:ext cx="472916" cy="472916"/>
          </a:xfrm>
          <a:prstGeom prst="rect">
            <a:avLst/>
          </a:prstGeom>
        </p:spPr>
      </p:pic>
      <p:pic>
        <p:nvPicPr>
          <p:cNvPr id="26" name="Graphic 25" descr="Magnifying glass">
            <a:extLst>
              <a:ext uri="{FF2B5EF4-FFF2-40B4-BE49-F238E27FC236}">
                <a16:creationId xmlns:a16="http://schemas.microsoft.com/office/drawing/2014/main" id="{1E96D035-EAC2-47A9-AE5A-01BBEEB7F75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419047" y="2956084"/>
            <a:ext cx="472916" cy="472916"/>
          </a:xfrm>
          <a:prstGeom prst="rect">
            <a:avLst/>
          </a:prstGeom>
        </p:spPr>
      </p:pic>
    </p:spTree>
    <p:extLst>
      <p:ext uri="{BB962C8B-B14F-4D97-AF65-F5344CB8AC3E}">
        <p14:creationId xmlns:p14="http://schemas.microsoft.com/office/powerpoint/2010/main" val="1097008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73CD-500C-4898-B1BE-545C04E2AD02}"/>
              </a:ext>
            </a:extLst>
          </p:cNvPr>
          <p:cNvSpPr>
            <a:spLocks noGrp="1"/>
          </p:cNvSpPr>
          <p:nvPr>
            <p:ph type="title"/>
          </p:nvPr>
        </p:nvSpPr>
        <p:spPr>
          <a:noFill/>
        </p:spPr>
        <p:txBody>
          <a:bodyPr/>
          <a:lstStyle/>
          <a:p>
            <a:r>
              <a:rPr lang="en-GB" dirty="0"/>
              <a:t>Store Case Worker – No Approver</a:t>
            </a:r>
          </a:p>
        </p:txBody>
      </p:sp>
      <p:sp>
        <p:nvSpPr>
          <p:cNvPr id="4" name="Slide Number Placeholder 3">
            <a:extLst>
              <a:ext uri="{FF2B5EF4-FFF2-40B4-BE49-F238E27FC236}">
                <a16:creationId xmlns:a16="http://schemas.microsoft.com/office/drawing/2014/main" id="{C1B21696-2724-4D03-93F9-416FE7BF626B}"/>
              </a:ext>
            </a:extLst>
          </p:cNvPr>
          <p:cNvSpPr>
            <a:spLocks noGrp="1"/>
          </p:cNvSpPr>
          <p:nvPr>
            <p:ph type="sldNum" sz="quarter" idx="12"/>
          </p:nvPr>
        </p:nvSpPr>
        <p:spPr/>
        <p:txBody>
          <a:bodyPr/>
          <a:lstStyle/>
          <a:p>
            <a:fld id="{0BF9CEBF-66DF-3848-8984-13BBF9FFC1B1}" type="slidenum">
              <a:rPr lang="en-US" smtClean="0"/>
              <a:pPr/>
              <a:t>29</a:t>
            </a:fld>
            <a:endParaRPr lang="en-US"/>
          </a:p>
        </p:txBody>
      </p:sp>
      <p:sp>
        <p:nvSpPr>
          <p:cNvPr id="5" name="Footer Placeholder 4">
            <a:extLst>
              <a:ext uri="{FF2B5EF4-FFF2-40B4-BE49-F238E27FC236}">
                <a16:creationId xmlns:a16="http://schemas.microsoft.com/office/drawing/2014/main" id="{72C3FCE6-8C4F-43B9-A7FE-B2DF9CA6E590}"/>
              </a:ext>
            </a:extLst>
          </p:cNvPr>
          <p:cNvSpPr>
            <a:spLocks noGrp="1"/>
          </p:cNvSpPr>
          <p:nvPr>
            <p:ph type="ftr" sz="quarter" idx="11"/>
          </p:nvPr>
        </p:nvSpPr>
        <p:spPr/>
        <p:txBody>
          <a:bodyPr/>
          <a:lstStyle/>
          <a:p>
            <a:r>
              <a:rPr lang="en-US"/>
              <a:t>©Appriss Retail.  Proprietary and Confidential</a:t>
            </a:r>
            <a:endParaRPr lang="en-US" dirty="0"/>
          </a:p>
        </p:txBody>
      </p:sp>
      <p:sp>
        <p:nvSpPr>
          <p:cNvPr id="6" name="Rectangle 5">
            <a:extLst>
              <a:ext uri="{FF2B5EF4-FFF2-40B4-BE49-F238E27FC236}">
                <a16:creationId xmlns:a16="http://schemas.microsoft.com/office/drawing/2014/main" id="{1F0FB366-BD4C-40ED-9B4F-D7AF8CD798EE}"/>
              </a:ext>
            </a:extLst>
          </p:cNvPr>
          <p:cNvSpPr/>
          <p:nvPr/>
        </p:nvSpPr>
        <p:spPr>
          <a:xfrm>
            <a:off x="1663024" y="5643931"/>
            <a:ext cx="1278385" cy="559293"/>
          </a:xfrm>
          <a:prstGeom prst="rect">
            <a:avLst/>
          </a:prstGeom>
          <a:solidFill>
            <a:srgbClr val="3D2A5D"/>
          </a:solidFill>
          <a:ln>
            <a:solidFill>
              <a:srgbClr val="3D2A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Creates</a:t>
            </a:r>
          </a:p>
          <a:p>
            <a:pPr algn="ctr"/>
            <a:r>
              <a:rPr lang="en-GB" dirty="0"/>
              <a:t>Case </a:t>
            </a:r>
          </a:p>
        </p:txBody>
      </p:sp>
      <p:pic>
        <p:nvPicPr>
          <p:cNvPr id="7" name="Graphic 6" descr="User">
            <a:extLst>
              <a:ext uri="{FF2B5EF4-FFF2-40B4-BE49-F238E27FC236}">
                <a16:creationId xmlns:a16="http://schemas.microsoft.com/office/drawing/2014/main" id="{01ADB8BA-6B0C-4534-8AC5-7F6640B535D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4650" y="5469420"/>
            <a:ext cx="914400" cy="914400"/>
          </a:xfrm>
          <a:prstGeom prst="rect">
            <a:avLst/>
          </a:prstGeom>
        </p:spPr>
      </p:pic>
      <p:cxnSp>
        <p:nvCxnSpPr>
          <p:cNvPr id="8" name="Straight Arrow Connector 7">
            <a:extLst>
              <a:ext uri="{FF2B5EF4-FFF2-40B4-BE49-F238E27FC236}">
                <a16:creationId xmlns:a16="http://schemas.microsoft.com/office/drawing/2014/main" id="{AE9F0888-F6D5-42E9-8A02-2B7D0A0AA38B}"/>
              </a:ext>
            </a:extLst>
          </p:cNvPr>
          <p:cNvCxnSpPr>
            <a:cxnSpLocks/>
          </p:cNvCxnSpPr>
          <p:nvPr/>
        </p:nvCxnSpPr>
        <p:spPr>
          <a:xfrm flipV="1">
            <a:off x="1237442" y="5910792"/>
            <a:ext cx="422682" cy="1"/>
          </a:xfrm>
          <a:prstGeom prst="straightConnector1">
            <a:avLst/>
          </a:prstGeom>
          <a:ln>
            <a:solidFill>
              <a:srgbClr val="3D2A5D"/>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EBCD749-88D9-4F01-953C-BB7046D8EE5C}"/>
              </a:ext>
            </a:extLst>
          </p:cNvPr>
          <p:cNvSpPr/>
          <p:nvPr/>
        </p:nvSpPr>
        <p:spPr>
          <a:xfrm>
            <a:off x="10750747" y="2264959"/>
            <a:ext cx="1278385" cy="559293"/>
          </a:xfrm>
          <a:prstGeom prst="rect">
            <a:avLst/>
          </a:prstGeom>
          <a:solidFill>
            <a:srgbClr val="3D2A5D"/>
          </a:solidFill>
          <a:ln>
            <a:solidFill>
              <a:srgbClr val="3D2A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Case </a:t>
            </a:r>
          </a:p>
          <a:p>
            <a:pPr algn="ctr"/>
            <a:r>
              <a:rPr lang="en-GB" dirty="0"/>
              <a:t>Closed   </a:t>
            </a:r>
          </a:p>
        </p:txBody>
      </p:sp>
      <p:sp>
        <p:nvSpPr>
          <p:cNvPr id="10" name="Rectangle 9">
            <a:extLst>
              <a:ext uri="{FF2B5EF4-FFF2-40B4-BE49-F238E27FC236}">
                <a16:creationId xmlns:a16="http://schemas.microsoft.com/office/drawing/2014/main" id="{BF16FE9C-FFF8-4CBD-B0CB-6FA2BCC2DD44}"/>
              </a:ext>
            </a:extLst>
          </p:cNvPr>
          <p:cNvSpPr/>
          <p:nvPr/>
        </p:nvSpPr>
        <p:spPr>
          <a:xfrm>
            <a:off x="9099171" y="2311013"/>
            <a:ext cx="1278385" cy="559293"/>
          </a:xfrm>
          <a:prstGeom prst="rect">
            <a:avLst/>
          </a:prstGeom>
          <a:solidFill>
            <a:srgbClr val="3D2A5D"/>
          </a:solidFill>
          <a:ln>
            <a:solidFill>
              <a:srgbClr val="3D2A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Case Approved</a:t>
            </a:r>
          </a:p>
        </p:txBody>
      </p:sp>
      <p:sp>
        <p:nvSpPr>
          <p:cNvPr id="11" name="Rectangle 10">
            <a:extLst>
              <a:ext uri="{FF2B5EF4-FFF2-40B4-BE49-F238E27FC236}">
                <a16:creationId xmlns:a16="http://schemas.microsoft.com/office/drawing/2014/main" id="{82C3BBB4-4397-42D4-BC37-3B62422D6CC8}"/>
              </a:ext>
            </a:extLst>
          </p:cNvPr>
          <p:cNvSpPr/>
          <p:nvPr/>
        </p:nvSpPr>
        <p:spPr>
          <a:xfrm>
            <a:off x="9099169" y="3389464"/>
            <a:ext cx="1278385" cy="559293"/>
          </a:xfrm>
          <a:prstGeom prst="rect">
            <a:avLst/>
          </a:prstGeom>
          <a:solidFill>
            <a:srgbClr val="3D2A5D"/>
          </a:solidFill>
          <a:ln>
            <a:solidFill>
              <a:srgbClr val="3D2A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Case </a:t>
            </a:r>
          </a:p>
          <a:p>
            <a:pPr algn="ctr"/>
            <a:r>
              <a:rPr lang="en-GB" dirty="0"/>
              <a:t>Rejected   </a:t>
            </a:r>
          </a:p>
        </p:txBody>
      </p:sp>
      <p:pic>
        <p:nvPicPr>
          <p:cNvPr id="12" name="Graphic 11" descr="User">
            <a:extLst>
              <a:ext uri="{FF2B5EF4-FFF2-40B4-BE49-F238E27FC236}">
                <a16:creationId xmlns:a16="http://schemas.microsoft.com/office/drawing/2014/main" id="{0EC656A9-9BA0-4982-BE54-324CFB521CF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46495" y="2643911"/>
            <a:ext cx="914400" cy="914400"/>
          </a:xfrm>
          <a:prstGeom prst="rect">
            <a:avLst/>
          </a:prstGeom>
        </p:spPr>
      </p:pic>
      <p:cxnSp>
        <p:nvCxnSpPr>
          <p:cNvPr id="13" name="Straight Arrow Connector 12">
            <a:extLst>
              <a:ext uri="{FF2B5EF4-FFF2-40B4-BE49-F238E27FC236}">
                <a16:creationId xmlns:a16="http://schemas.microsoft.com/office/drawing/2014/main" id="{3A176CCB-B54A-4D8A-BF5D-F3892EA37AD0}"/>
              </a:ext>
            </a:extLst>
          </p:cNvPr>
          <p:cNvCxnSpPr>
            <a:cxnSpLocks/>
            <a:stCxn id="6" idx="0"/>
          </p:cNvCxnSpPr>
          <p:nvPr/>
        </p:nvCxnSpPr>
        <p:spPr>
          <a:xfrm flipH="1" flipV="1">
            <a:off x="2302216" y="4913702"/>
            <a:ext cx="1" cy="730229"/>
          </a:xfrm>
          <a:prstGeom prst="straightConnector1">
            <a:avLst/>
          </a:prstGeom>
          <a:ln>
            <a:solidFill>
              <a:srgbClr val="3D2A5D"/>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D89D2B6-A212-4D73-9626-54A5D86AB164}"/>
              </a:ext>
            </a:extLst>
          </p:cNvPr>
          <p:cNvCxnSpPr>
            <a:cxnSpLocks/>
            <a:stCxn id="12" idx="3"/>
          </p:cNvCxnSpPr>
          <p:nvPr/>
        </p:nvCxnSpPr>
        <p:spPr>
          <a:xfrm flipV="1">
            <a:off x="2760895" y="3100521"/>
            <a:ext cx="365059" cy="590"/>
          </a:xfrm>
          <a:prstGeom prst="straightConnector1">
            <a:avLst/>
          </a:prstGeom>
          <a:ln>
            <a:solidFill>
              <a:srgbClr val="3D2A5D"/>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B04050CF-1A2C-4451-BC0C-BE492AC8AB40}"/>
              </a:ext>
            </a:extLst>
          </p:cNvPr>
          <p:cNvSpPr/>
          <p:nvPr/>
        </p:nvSpPr>
        <p:spPr>
          <a:xfrm>
            <a:off x="3146121" y="2824252"/>
            <a:ext cx="1278385" cy="559293"/>
          </a:xfrm>
          <a:prstGeom prst="rect">
            <a:avLst/>
          </a:prstGeom>
          <a:solidFill>
            <a:srgbClr val="3D2A5D"/>
          </a:solidFill>
          <a:ln>
            <a:solidFill>
              <a:srgbClr val="3D2A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Reassign</a:t>
            </a:r>
          </a:p>
          <a:p>
            <a:pPr algn="ctr"/>
            <a:r>
              <a:rPr lang="en-GB" dirty="0"/>
              <a:t>Case</a:t>
            </a:r>
          </a:p>
        </p:txBody>
      </p:sp>
      <p:cxnSp>
        <p:nvCxnSpPr>
          <p:cNvPr id="17" name="Straight Arrow Connector 16">
            <a:extLst>
              <a:ext uri="{FF2B5EF4-FFF2-40B4-BE49-F238E27FC236}">
                <a16:creationId xmlns:a16="http://schemas.microsoft.com/office/drawing/2014/main" id="{E0E52DBE-CD79-47E7-A1A7-62BE71E21587}"/>
              </a:ext>
            </a:extLst>
          </p:cNvPr>
          <p:cNvCxnSpPr>
            <a:cxnSpLocks/>
            <a:stCxn id="16" idx="3"/>
            <a:endCxn id="28" idx="1"/>
          </p:cNvCxnSpPr>
          <p:nvPr/>
        </p:nvCxnSpPr>
        <p:spPr>
          <a:xfrm flipV="1">
            <a:off x="4424506" y="3103308"/>
            <a:ext cx="276289" cy="591"/>
          </a:xfrm>
          <a:prstGeom prst="straightConnector1">
            <a:avLst/>
          </a:prstGeom>
          <a:ln>
            <a:solidFill>
              <a:srgbClr val="3D2A5D"/>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B461CBE-2732-48C4-A6E3-A4CB524793EE}"/>
              </a:ext>
            </a:extLst>
          </p:cNvPr>
          <p:cNvCxnSpPr>
            <a:cxnSpLocks/>
            <a:stCxn id="38" idx="3"/>
            <a:endCxn id="10" idx="1"/>
          </p:cNvCxnSpPr>
          <p:nvPr/>
        </p:nvCxnSpPr>
        <p:spPr>
          <a:xfrm flipV="1">
            <a:off x="8545156" y="2590660"/>
            <a:ext cx="554015" cy="560746"/>
          </a:xfrm>
          <a:prstGeom prst="straightConnector1">
            <a:avLst/>
          </a:prstGeom>
          <a:ln>
            <a:solidFill>
              <a:srgbClr val="3D2A5D"/>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46250B3-69A4-4969-BF09-6253CD4DF476}"/>
              </a:ext>
            </a:extLst>
          </p:cNvPr>
          <p:cNvCxnSpPr>
            <a:cxnSpLocks/>
            <a:stCxn id="38" idx="3"/>
          </p:cNvCxnSpPr>
          <p:nvPr/>
        </p:nvCxnSpPr>
        <p:spPr>
          <a:xfrm>
            <a:off x="8545156" y="3151406"/>
            <a:ext cx="554015" cy="409102"/>
          </a:xfrm>
          <a:prstGeom prst="straightConnector1">
            <a:avLst/>
          </a:prstGeom>
          <a:ln>
            <a:solidFill>
              <a:srgbClr val="3D2A5D"/>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F2D341A-4307-475A-9860-330823089D46}"/>
              </a:ext>
            </a:extLst>
          </p:cNvPr>
          <p:cNvCxnSpPr>
            <a:cxnSpLocks/>
            <a:endCxn id="9" idx="1"/>
          </p:cNvCxnSpPr>
          <p:nvPr/>
        </p:nvCxnSpPr>
        <p:spPr>
          <a:xfrm>
            <a:off x="10377554" y="2544606"/>
            <a:ext cx="373193" cy="0"/>
          </a:xfrm>
          <a:prstGeom prst="straightConnector1">
            <a:avLst/>
          </a:prstGeom>
          <a:ln>
            <a:solidFill>
              <a:srgbClr val="3D2A5D"/>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41E2136-BF85-4724-9C7D-2D7617FFA1F3}"/>
              </a:ext>
            </a:extLst>
          </p:cNvPr>
          <p:cNvSpPr/>
          <p:nvPr/>
        </p:nvSpPr>
        <p:spPr>
          <a:xfrm>
            <a:off x="1670656" y="4338835"/>
            <a:ext cx="1278385" cy="559293"/>
          </a:xfrm>
          <a:prstGeom prst="rect">
            <a:avLst/>
          </a:prstGeom>
          <a:solidFill>
            <a:srgbClr val="3D2A5D"/>
          </a:solidFill>
          <a:ln>
            <a:solidFill>
              <a:srgbClr val="3D2A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Case Reassigned </a:t>
            </a:r>
          </a:p>
        </p:txBody>
      </p:sp>
      <p:cxnSp>
        <p:nvCxnSpPr>
          <p:cNvPr id="22" name="Straight Arrow Connector 21">
            <a:extLst>
              <a:ext uri="{FF2B5EF4-FFF2-40B4-BE49-F238E27FC236}">
                <a16:creationId xmlns:a16="http://schemas.microsoft.com/office/drawing/2014/main" id="{F3E02E2E-817D-4166-9FCB-AB7DA38A8C01}"/>
              </a:ext>
            </a:extLst>
          </p:cNvPr>
          <p:cNvCxnSpPr>
            <a:cxnSpLocks/>
          </p:cNvCxnSpPr>
          <p:nvPr/>
        </p:nvCxnSpPr>
        <p:spPr>
          <a:xfrm flipH="1" flipV="1">
            <a:off x="2277063" y="3608606"/>
            <a:ext cx="1" cy="730229"/>
          </a:xfrm>
          <a:prstGeom prst="straightConnector1">
            <a:avLst/>
          </a:prstGeom>
          <a:ln>
            <a:solidFill>
              <a:srgbClr val="3D2A5D"/>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D2D3307E-D7F8-4A35-BD83-1900DF2E4571}"/>
              </a:ext>
            </a:extLst>
          </p:cNvPr>
          <p:cNvCxnSpPr>
            <a:cxnSpLocks/>
          </p:cNvCxnSpPr>
          <p:nvPr/>
        </p:nvCxnSpPr>
        <p:spPr>
          <a:xfrm rot="5400000" flipH="1">
            <a:off x="7361699" y="1566618"/>
            <a:ext cx="206335" cy="4613744"/>
          </a:xfrm>
          <a:prstGeom prst="bentConnector3">
            <a:avLst>
              <a:gd name="adj1" fmla="val -325919"/>
            </a:avLst>
          </a:prstGeom>
          <a:ln>
            <a:solidFill>
              <a:srgbClr val="3D2A5D"/>
            </a:solidFill>
            <a:tailEnd type="triangle"/>
          </a:ln>
        </p:spPr>
        <p:style>
          <a:lnRef idx="1">
            <a:schemeClr val="accent1"/>
          </a:lnRef>
          <a:fillRef idx="0">
            <a:schemeClr val="accent1"/>
          </a:fillRef>
          <a:effectRef idx="0">
            <a:schemeClr val="accent1"/>
          </a:effectRef>
          <a:fontRef idx="minor">
            <a:schemeClr val="tx1"/>
          </a:fontRef>
        </p:style>
      </p:cxnSp>
      <p:pic>
        <p:nvPicPr>
          <p:cNvPr id="25" name="Graphic 24" descr="Magnifying glass">
            <a:extLst>
              <a:ext uri="{FF2B5EF4-FFF2-40B4-BE49-F238E27FC236}">
                <a16:creationId xmlns:a16="http://schemas.microsoft.com/office/drawing/2014/main" id="{684D9EF7-4591-4873-9EF4-220B958F9D7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5416" y="5733096"/>
            <a:ext cx="472916" cy="472916"/>
          </a:xfrm>
          <a:prstGeom prst="rect">
            <a:avLst/>
          </a:prstGeom>
        </p:spPr>
      </p:pic>
      <p:sp>
        <p:nvSpPr>
          <p:cNvPr id="26" name="TextBox 25">
            <a:extLst>
              <a:ext uri="{FF2B5EF4-FFF2-40B4-BE49-F238E27FC236}">
                <a16:creationId xmlns:a16="http://schemas.microsoft.com/office/drawing/2014/main" id="{6E908223-22D0-4379-B574-6CF7FE1A6E98}"/>
              </a:ext>
            </a:extLst>
          </p:cNvPr>
          <p:cNvSpPr txBox="1"/>
          <p:nvPr/>
        </p:nvSpPr>
        <p:spPr>
          <a:xfrm>
            <a:off x="374651" y="6283417"/>
            <a:ext cx="989478" cy="261610"/>
          </a:xfrm>
          <a:prstGeom prst="rect">
            <a:avLst/>
          </a:prstGeom>
          <a:noFill/>
        </p:spPr>
        <p:txBody>
          <a:bodyPr wrap="square" rtlCol="0">
            <a:spAutoFit/>
          </a:bodyPr>
          <a:lstStyle/>
          <a:p>
            <a:r>
              <a:rPr lang="en-GB" sz="1100" dirty="0"/>
              <a:t>Investigator A</a:t>
            </a:r>
          </a:p>
        </p:txBody>
      </p:sp>
      <p:sp>
        <p:nvSpPr>
          <p:cNvPr id="27" name="TextBox 26">
            <a:extLst>
              <a:ext uri="{FF2B5EF4-FFF2-40B4-BE49-F238E27FC236}">
                <a16:creationId xmlns:a16="http://schemas.microsoft.com/office/drawing/2014/main" id="{D58FDA26-65E5-4E8A-B96C-943399A32930}"/>
              </a:ext>
            </a:extLst>
          </p:cNvPr>
          <p:cNvSpPr txBox="1"/>
          <p:nvPr/>
        </p:nvSpPr>
        <p:spPr>
          <a:xfrm>
            <a:off x="1670656" y="3397684"/>
            <a:ext cx="1278386" cy="261610"/>
          </a:xfrm>
          <a:prstGeom prst="rect">
            <a:avLst/>
          </a:prstGeom>
          <a:noFill/>
          <a:ln>
            <a:noFill/>
          </a:ln>
        </p:spPr>
        <p:txBody>
          <a:bodyPr wrap="square" rtlCol="0">
            <a:spAutoFit/>
          </a:bodyPr>
          <a:lstStyle/>
          <a:p>
            <a:r>
              <a:rPr lang="en-GB" sz="1100" dirty="0"/>
              <a:t>Store Case Worker</a:t>
            </a:r>
          </a:p>
        </p:txBody>
      </p:sp>
      <p:pic>
        <p:nvPicPr>
          <p:cNvPr id="28" name="Graphic 27" descr="User">
            <a:extLst>
              <a:ext uri="{FF2B5EF4-FFF2-40B4-BE49-F238E27FC236}">
                <a16:creationId xmlns:a16="http://schemas.microsoft.com/office/drawing/2014/main" id="{0BCE5FF3-B172-4BC0-9358-AA95FD30D1F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00795" y="2646108"/>
            <a:ext cx="914400" cy="914400"/>
          </a:xfrm>
          <a:prstGeom prst="rect">
            <a:avLst/>
          </a:prstGeom>
        </p:spPr>
      </p:pic>
      <p:pic>
        <p:nvPicPr>
          <p:cNvPr id="29" name="Graphic 28" descr="Magnifying glass">
            <a:extLst>
              <a:ext uri="{FF2B5EF4-FFF2-40B4-BE49-F238E27FC236}">
                <a16:creationId xmlns:a16="http://schemas.microsoft.com/office/drawing/2014/main" id="{55593CE6-DA83-4226-905C-70100008CBC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77707" y="2924768"/>
            <a:ext cx="472916" cy="472916"/>
          </a:xfrm>
          <a:prstGeom prst="rect">
            <a:avLst/>
          </a:prstGeom>
        </p:spPr>
      </p:pic>
      <p:sp>
        <p:nvSpPr>
          <p:cNvPr id="31" name="TextBox 30">
            <a:extLst>
              <a:ext uri="{FF2B5EF4-FFF2-40B4-BE49-F238E27FC236}">
                <a16:creationId xmlns:a16="http://schemas.microsoft.com/office/drawing/2014/main" id="{F790394D-B132-418C-8913-1D8F408E0385}"/>
              </a:ext>
            </a:extLst>
          </p:cNvPr>
          <p:cNvSpPr txBox="1"/>
          <p:nvPr/>
        </p:nvSpPr>
        <p:spPr>
          <a:xfrm>
            <a:off x="4634041" y="3480812"/>
            <a:ext cx="981154" cy="261610"/>
          </a:xfrm>
          <a:prstGeom prst="rect">
            <a:avLst/>
          </a:prstGeom>
          <a:noFill/>
        </p:spPr>
        <p:txBody>
          <a:bodyPr wrap="square" rtlCol="0">
            <a:spAutoFit/>
          </a:bodyPr>
          <a:lstStyle/>
          <a:p>
            <a:r>
              <a:rPr lang="en-GB" sz="1100" dirty="0"/>
              <a:t>Investigator A</a:t>
            </a:r>
          </a:p>
        </p:txBody>
      </p:sp>
      <p:cxnSp>
        <p:nvCxnSpPr>
          <p:cNvPr id="30" name="Straight Arrow Connector 29">
            <a:extLst>
              <a:ext uri="{FF2B5EF4-FFF2-40B4-BE49-F238E27FC236}">
                <a16:creationId xmlns:a16="http://schemas.microsoft.com/office/drawing/2014/main" id="{4FCA8EE8-F1DD-4FC0-A352-C5B8D982CE29}"/>
              </a:ext>
            </a:extLst>
          </p:cNvPr>
          <p:cNvCxnSpPr>
            <a:cxnSpLocks/>
          </p:cNvCxnSpPr>
          <p:nvPr/>
        </p:nvCxnSpPr>
        <p:spPr>
          <a:xfrm>
            <a:off x="5586462" y="3122090"/>
            <a:ext cx="453118" cy="1491"/>
          </a:xfrm>
          <a:prstGeom prst="straightConnector1">
            <a:avLst/>
          </a:prstGeom>
          <a:ln>
            <a:solidFill>
              <a:srgbClr val="3D2A5D"/>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BAA301E8-6801-47B3-9F4F-076E8D74C07F}"/>
              </a:ext>
            </a:extLst>
          </p:cNvPr>
          <p:cNvSpPr/>
          <p:nvPr/>
        </p:nvSpPr>
        <p:spPr>
          <a:xfrm>
            <a:off x="6005959" y="2821464"/>
            <a:ext cx="1278385" cy="559293"/>
          </a:xfrm>
          <a:prstGeom prst="rect">
            <a:avLst/>
          </a:prstGeom>
          <a:solidFill>
            <a:srgbClr val="3D2A5D"/>
          </a:solidFill>
          <a:ln>
            <a:solidFill>
              <a:srgbClr val="3D2A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Requests Approval </a:t>
            </a:r>
          </a:p>
        </p:txBody>
      </p:sp>
      <p:cxnSp>
        <p:nvCxnSpPr>
          <p:cNvPr id="33" name="Straight Arrow Connector 32">
            <a:extLst>
              <a:ext uri="{FF2B5EF4-FFF2-40B4-BE49-F238E27FC236}">
                <a16:creationId xmlns:a16="http://schemas.microsoft.com/office/drawing/2014/main" id="{7F3281FF-8FA6-4EC8-8557-8F90C9E58935}"/>
              </a:ext>
            </a:extLst>
          </p:cNvPr>
          <p:cNvCxnSpPr>
            <a:cxnSpLocks/>
            <a:stCxn id="32" idx="3"/>
          </p:cNvCxnSpPr>
          <p:nvPr/>
        </p:nvCxnSpPr>
        <p:spPr>
          <a:xfrm flipV="1">
            <a:off x="7284344" y="3099620"/>
            <a:ext cx="532303" cy="1491"/>
          </a:xfrm>
          <a:prstGeom prst="straightConnector1">
            <a:avLst/>
          </a:prstGeom>
          <a:ln>
            <a:solidFill>
              <a:srgbClr val="3D2A5D"/>
            </a:solidFill>
            <a:tailEnd type="triangle"/>
          </a:ln>
        </p:spPr>
        <p:style>
          <a:lnRef idx="1">
            <a:schemeClr val="accent1"/>
          </a:lnRef>
          <a:fillRef idx="0">
            <a:schemeClr val="accent1"/>
          </a:fillRef>
          <a:effectRef idx="0">
            <a:schemeClr val="accent1"/>
          </a:effectRef>
          <a:fontRef idx="minor">
            <a:schemeClr val="tx1"/>
          </a:fontRef>
        </p:style>
      </p:cxnSp>
      <p:pic>
        <p:nvPicPr>
          <p:cNvPr id="38" name="Graphic 37" descr="Office worker">
            <a:extLst>
              <a:ext uri="{FF2B5EF4-FFF2-40B4-BE49-F238E27FC236}">
                <a16:creationId xmlns:a16="http://schemas.microsoft.com/office/drawing/2014/main" id="{FBC4D5C4-DF5C-40B8-B4F1-74A9740312B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30756" y="2694206"/>
            <a:ext cx="914400" cy="914400"/>
          </a:xfrm>
          <a:prstGeom prst="rect">
            <a:avLst/>
          </a:prstGeom>
        </p:spPr>
      </p:pic>
      <p:sp>
        <p:nvSpPr>
          <p:cNvPr id="40" name="TextBox 39">
            <a:extLst>
              <a:ext uri="{FF2B5EF4-FFF2-40B4-BE49-F238E27FC236}">
                <a16:creationId xmlns:a16="http://schemas.microsoft.com/office/drawing/2014/main" id="{1BE31D84-D440-4545-9069-A9A6F8CA1D69}"/>
              </a:ext>
            </a:extLst>
          </p:cNvPr>
          <p:cNvSpPr txBox="1"/>
          <p:nvPr/>
        </p:nvSpPr>
        <p:spPr>
          <a:xfrm>
            <a:off x="7620922" y="3455875"/>
            <a:ext cx="981154" cy="430887"/>
          </a:xfrm>
          <a:prstGeom prst="rect">
            <a:avLst/>
          </a:prstGeom>
          <a:noFill/>
        </p:spPr>
        <p:txBody>
          <a:bodyPr wrap="square" rtlCol="0">
            <a:spAutoFit/>
          </a:bodyPr>
          <a:lstStyle/>
          <a:p>
            <a:r>
              <a:rPr lang="en-GB" sz="1100" dirty="0"/>
              <a:t>Investigator A</a:t>
            </a:r>
          </a:p>
          <a:p>
            <a:pPr algn="ctr"/>
            <a:r>
              <a:rPr lang="en-GB" sz="1100" dirty="0"/>
              <a:t>Approver</a:t>
            </a:r>
          </a:p>
        </p:txBody>
      </p:sp>
    </p:spTree>
    <p:extLst>
      <p:ext uri="{BB962C8B-B14F-4D97-AF65-F5344CB8AC3E}">
        <p14:creationId xmlns:p14="http://schemas.microsoft.com/office/powerpoint/2010/main" val="36627130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3861C-9666-4D8D-8D51-346C9851F948}"/>
              </a:ext>
            </a:extLst>
          </p:cNvPr>
          <p:cNvSpPr>
            <a:spLocks noGrp="1"/>
          </p:cNvSpPr>
          <p:nvPr>
            <p:ph type="title"/>
          </p:nvPr>
        </p:nvSpPr>
        <p:spPr>
          <a:xfrm>
            <a:off x="244518" y="516436"/>
            <a:ext cx="8766316" cy="443198"/>
          </a:xfrm>
        </p:spPr>
        <p:txBody>
          <a:bodyPr/>
          <a:lstStyle/>
          <a:p>
            <a:r>
              <a:rPr lang="en-GB" dirty="0"/>
              <a:t>Investigator  – No Approver</a:t>
            </a:r>
          </a:p>
        </p:txBody>
      </p:sp>
      <p:sp>
        <p:nvSpPr>
          <p:cNvPr id="4" name="Slide Number Placeholder 3">
            <a:extLst>
              <a:ext uri="{FF2B5EF4-FFF2-40B4-BE49-F238E27FC236}">
                <a16:creationId xmlns:a16="http://schemas.microsoft.com/office/drawing/2014/main" id="{4C7350E1-A625-46E4-9828-043E8334F73E}"/>
              </a:ext>
            </a:extLst>
          </p:cNvPr>
          <p:cNvSpPr>
            <a:spLocks noGrp="1"/>
          </p:cNvSpPr>
          <p:nvPr>
            <p:ph type="sldNum" sz="quarter" idx="12"/>
          </p:nvPr>
        </p:nvSpPr>
        <p:spPr/>
        <p:txBody>
          <a:bodyPr/>
          <a:lstStyle/>
          <a:p>
            <a:fld id="{0BF9CEBF-66DF-3848-8984-13BBF9FFC1B1}" type="slidenum">
              <a:rPr lang="en-US" smtClean="0"/>
              <a:pPr/>
              <a:t>30</a:t>
            </a:fld>
            <a:endParaRPr lang="en-US"/>
          </a:p>
        </p:txBody>
      </p:sp>
      <p:sp>
        <p:nvSpPr>
          <p:cNvPr id="5" name="Footer Placeholder 4">
            <a:extLst>
              <a:ext uri="{FF2B5EF4-FFF2-40B4-BE49-F238E27FC236}">
                <a16:creationId xmlns:a16="http://schemas.microsoft.com/office/drawing/2014/main" id="{1D63FA25-3666-4520-9234-AD653F9C4192}"/>
              </a:ext>
            </a:extLst>
          </p:cNvPr>
          <p:cNvSpPr>
            <a:spLocks noGrp="1"/>
          </p:cNvSpPr>
          <p:nvPr>
            <p:ph type="ftr" sz="quarter" idx="11"/>
          </p:nvPr>
        </p:nvSpPr>
        <p:spPr/>
        <p:txBody>
          <a:bodyPr/>
          <a:lstStyle/>
          <a:p>
            <a:r>
              <a:rPr lang="en-US"/>
              <a:t>©Appriss Retail.  Proprietary and Confidential</a:t>
            </a:r>
            <a:endParaRPr lang="en-US" dirty="0"/>
          </a:p>
        </p:txBody>
      </p:sp>
      <p:sp>
        <p:nvSpPr>
          <p:cNvPr id="54" name="Rectangle 53">
            <a:extLst>
              <a:ext uri="{FF2B5EF4-FFF2-40B4-BE49-F238E27FC236}">
                <a16:creationId xmlns:a16="http://schemas.microsoft.com/office/drawing/2014/main" id="{FCB69AD5-8399-4256-B597-DDCBD8B498FA}"/>
              </a:ext>
            </a:extLst>
          </p:cNvPr>
          <p:cNvSpPr/>
          <p:nvPr/>
        </p:nvSpPr>
        <p:spPr>
          <a:xfrm>
            <a:off x="2192784" y="5662548"/>
            <a:ext cx="1278385" cy="559293"/>
          </a:xfrm>
          <a:prstGeom prst="rect">
            <a:avLst/>
          </a:prstGeom>
          <a:solidFill>
            <a:srgbClr val="CF224E"/>
          </a:solidFill>
          <a:ln>
            <a:solidFill>
              <a:srgbClr val="CF22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Creates Case</a:t>
            </a:r>
          </a:p>
          <a:p>
            <a:pPr algn="ctr"/>
            <a:r>
              <a:rPr lang="en-GB" sz="800" dirty="0"/>
              <a:t>Status: Open / Unsaved  </a:t>
            </a:r>
          </a:p>
        </p:txBody>
      </p:sp>
      <p:cxnSp>
        <p:nvCxnSpPr>
          <p:cNvPr id="55" name="Straight Arrow Connector 54">
            <a:extLst>
              <a:ext uri="{FF2B5EF4-FFF2-40B4-BE49-F238E27FC236}">
                <a16:creationId xmlns:a16="http://schemas.microsoft.com/office/drawing/2014/main" id="{1D31262D-B8F2-41C6-A583-9EE8DA0FC7BF}"/>
              </a:ext>
            </a:extLst>
          </p:cNvPr>
          <p:cNvCxnSpPr>
            <a:cxnSpLocks/>
          </p:cNvCxnSpPr>
          <p:nvPr/>
        </p:nvCxnSpPr>
        <p:spPr>
          <a:xfrm flipV="1">
            <a:off x="1409150" y="5926620"/>
            <a:ext cx="783634" cy="1"/>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1F9F86C5-03BE-4BCE-B5FE-51ABDD62690A}"/>
              </a:ext>
            </a:extLst>
          </p:cNvPr>
          <p:cNvSpPr/>
          <p:nvPr/>
        </p:nvSpPr>
        <p:spPr>
          <a:xfrm>
            <a:off x="10381514" y="1869517"/>
            <a:ext cx="1278385" cy="559293"/>
          </a:xfrm>
          <a:prstGeom prst="rect">
            <a:avLst/>
          </a:prstGeom>
          <a:solidFill>
            <a:srgbClr val="CF224E"/>
          </a:solidFill>
          <a:ln>
            <a:solidFill>
              <a:srgbClr val="CF22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Case </a:t>
            </a:r>
          </a:p>
          <a:p>
            <a:pPr algn="ctr"/>
            <a:r>
              <a:rPr lang="en-GB" dirty="0"/>
              <a:t>Closed   </a:t>
            </a:r>
          </a:p>
        </p:txBody>
      </p:sp>
      <p:sp>
        <p:nvSpPr>
          <p:cNvPr id="57" name="Rectangle 56">
            <a:extLst>
              <a:ext uri="{FF2B5EF4-FFF2-40B4-BE49-F238E27FC236}">
                <a16:creationId xmlns:a16="http://schemas.microsoft.com/office/drawing/2014/main" id="{7CB80C84-3EF7-483B-BEB4-67AB5BAA437C}"/>
              </a:ext>
            </a:extLst>
          </p:cNvPr>
          <p:cNvSpPr/>
          <p:nvPr/>
        </p:nvSpPr>
        <p:spPr>
          <a:xfrm>
            <a:off x="8142861" y="1869517"/>
            <a:ext cx="1278385" cy="559293"/>
          </a:xfrm>
          <a:prstGeom prst="rect">
            <a:avLst/>
          </a:prstGeom>
          <a:solidFill>
            <a:srgbClr val="CF224E"/>
          </a:solidFill>
          <a:ln>
            <a:solidFill>
              <a:srgbClr val="CF22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Case Approved</a:t>
            </a:r>
          </a:p>
        </p:txBody>
      </p:sp>
      <p:sp>
        <p:nvSpPr>
          <p:cNvPr id="58" name="Rectangle 57">
            <a:extLst>
              <a:ext uri="{FF2B5EF4-FFF2-40B4-BE49-F238E27FC236}">
                <a16:creationId xmlns:a16="http://schemas.microsoft.com/office/drawing/2014/main" id="{F46F8B93-F216-4315-9610-FB00395F0B22}"/>
              </a:ext>
            </a:extLst>
          </p:cNvPr>
          <p:cNvSpPr/>
          <p:nvPr/>
        </p:nvSpPr>
        <p:spPr>
          <a:xfrm>
            <a:off x="8142862" y="3684569"/>
            <a:ext cx="1278385" cy="559293"/>
          </a:xfrm>
          <a:prstGeom prst="rect">
            <a:avLst/>
          </a:prstGeom>
          <a:solidFill>
            <a:srgbClr val="CF224E"/>
          </a:solidFill>
          <a:ln>
            <a:solidFill>
              <a:srgbClr val="CF22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Case </a:t>
            </a:r>
          </a:p>
          <a:p>
            <a:pPr algn="ctr"/>
            <a:r>
              <a:rPr lang="en-GB" dirty="0"/>
              <a:t>Rejected   </a:t>
            </a:r>
          </a:p>
        </p:txBody>
      </p:sp>
      <p:pic>
        <p:nvPicPr>
          <p:cNvPr id="59" name="Graphic 58" descr="User">
            <a:extLst>
              <a:ext uri="{FF2B5EF4-FFF2-40B4-BE49-F238E27FC236}">
                <a16:creationId xmlns:a16="http://schemas.microsoft.com/office/drawing/2014/main" id="{A6CCC42B-D455-420A-B610-4F4D11CA358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76255" y="2662528"/>
            <a:ext cx="914400" cy="914400"/>
          </a:xfrm>
          <a:prstGeom prst="rect">
            <a:avLst/>
          </a:prstGeom>
        </p:spPr>
      </p:pic>
      <p:cxnSp>
        <p:nvCxnSpPr>
          <p:cNvPr id="60" name="Straight Arrow Connector 59">
            <a:extLst>
              <a:ext uri="{FF2B5EF4-FFF2-40B4-BE49-F238E27FC236}">
                <a16:creationId xmlns:a16="http://schemas.microsoft.com/office/drawing/2014/main" id="{FD916187-53A6-474B-B4AA-C3BF589573D4}"/>
              </a:ext>
            </a:extLst>
          </p:cNvPr>
          <p:cNvCxnSpPr>
            <a:cxnSpLocks/>
            <a:stCxn id="54" idx="0"/>
          </p:cNvCxnSpPr>
          <p:nvPr/>
        </p:nvCxnSpPr>
        <p:spPr>
          <a:xfrm flipH="1" flipV="1">
            <a:off x="2831976" y="4932319"/>
            <a:ext cx="1" cy="730229"/>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587E3F50-CA6B-4D9F-92C5-EEE66B9CB182}"/>
              </a:ext>
            </a:extLst>
          </p:cNvPr>
          <p:cNvCxnSpPr>
            <a:cxnSpLocks/>
          </p:cNvCxnSpPr>
          <p:nvPr/>
        </p:nvCxnSpPr>
        <p:spPr>
          <a:xfrm>
            <a:off x="3139735" y="3119728"/>
            <a:ext cx="1154007" cy="1"/>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pic>
        <p:nvPicPr>
          <p:cNvPr id="62" name="Graphic 61" descr="Office worker">
            <a:extLst>
              <a:ext uri="{FF2B5EF4-FFF2-40B4-BE49-F238E27FC236}">
                <a16:creationId xmlns:a16="http://schemas.microsoft.com/office/drawing/2014/main" id="{2BD727E6-756A-4C10-A66B-CAC4F02D25D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07277" y="2685280"/>
            <a:ext cx="914400" cy="914400"/>
          </a:xfrm>
          <a:prstGeom prst="rect">
            <a:avLst/>
          </a:prstGeom>
        </p:spPr>
      </p:pic>
      <p:sp>
        <p:nvSpPr>
          <p:cNvPr id="63" name="Rectangle 62">
            <a:extLst>
              <a:ext uri="{FF2B5EF4-FFF2-40B4-BE49-F238E27FC236}">
                <a16:creationId xmlns:a16="http://schemas.microsoft.com/office/drawing/2014/main" id="{90505FFB-8D3F-4694-8CCD-F5B791E26B7C}"/>
              </a:ext>
            </a:extLst>
          </p:cNvPr>
          <p:cNvSpPr/>
          <p:nvPr/>
        </p:nvSpPr>
        <p:spPr>
          <a:xfrm>
            <a:off x="4293742" y="2840081"/>
            <a:ext cx="1278385" cy="559293"/>
          </a:xfrm>
          <a:prstGeom prst="rect">
            <a:avLst/>
          </a:prstGeom>
          <a:solidFill>
            <a:srgbClr val="CF224E"/>
          </a:solidFill>
          <a:ln>
            <a:solidFill>
              <a:srgbClr val="CF22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Requests Approval</a:t>
            </a:r>
            <a:endParaRPr lang="en-GB" sz="900" dirty="0"/>
          </a:p>
        </p:txBody>
      </p:sp>
      <p:cxnSp>
        <p:nvCxnSpPr>
          <p:cNvPr id="64" name="Straight Arrow Connector 63">
            <a:extLst>
              <a:ext uri="{FF2B5EF4-FFF2-40B4-BE49-F238E27FC236}">
                <a16:creationId xmlns:a16="http://schemas.microsoft.com/office/drawing/2014/main" id="{C41D3790-486A-4F0C-A54F-06A031BE15CB}"/>
              </a:ext>
            </a:extLst>
          </p:cNvPr>
          <p:cNvCxnSpPr>
            <a:stCxn id="63" idx="3"/>
            <a:endCxn id="62" idx="1"/>
          </p:cNvCxnSpPr>
          <p:nvPr/>
        </p:nvCxnSpPr>
        <p:spPr>
          <a:xfrm>
            <a:off x="5572127" y="3119728"/>
            <a:ext cx="835150" cy="22752"/>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CA53D515-10A0-468C-8293-77145832A942}"/>
              </a:ext>
            </a:extLst>
          </p:cNvPr>
          <p:cNvCxnSpPr>
            <a:cxnSpLocks/>
            <a:endCxn id="57" idx="1"/>
          </p:cNvCxnSpPr>
          <p:nvPr/>
        </p:nvCxnSpPr>
        <p:spPr>
          <a:xfrm flipV="1">
            <a:off x="7321677" y="2149164"/>
            <a:ext cx="821184" cy="992737"/>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CA01BB7-95E9-406A-B341-C27743B728C4}"/>
              </a:ext>
            </a:extLst>
          </p:cNvPr>
          <p:cNvCxnSpPr>
            <a:cxnSpLocks/>
            <a:endCxn id="58" idx="1"/>
          </p:cNvCxnSpPr>
          <p:nvPr/>
        </p:nvCxnSpPr>
        <p:spPr>
          <a:xfrm>
            <a:off x="7321677" y="3141901"/>
            <a:ext cx="821185" cy="822315"/>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943581C-6388-4FD3-9EE9-4D5C06FDA392}"/>
              </a:ext>
            </a:extLst>
          </p:cNvPr>
          <p:cNvCxnSpPr>
            <a:endCxn id="56" idx="1"/>
          </p:cNvCxnSpPr>
          <p:nvPr/>
        </p:nvCxnSpPr>
        <p:spPr>
          <a:xfrm>
            <a:off x="9421247" y="2149164"/>
            <a:ext cx="960267" cy="0"/>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6DC70DA3-49BC-4097-A7D7-13D904B67331}"/>
              </a:ext>
            </a:extLst>
          </p:cNvPr>
          <p:cNvSpPr/>
          <p:nvPr/>
        </p:nvSpPr>
        <p:spPr>
          <a:xfrm>
            <a:off x="2200416" y="4357452"/>
            <a:ext cx="1278385" cy="559293"/>
          </a:xfrm>
          <a:prstGeom prst="rect">
            <a:avLst/>
          </a:prstGeom>
          <a:solidFill>
            <a:srgbClr val="CF224E"/>
          </a:solidFill>
          <a:ln>
            <a:solidFill>
              <a:srgbClr val="CF22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Case Reassigned</a:t>
            </a:r>
            <a:endParaRPr lang="en-GB" sz="900" dirty="0"/>
          </a:p>
        </p:txBody>
      </p:sp>
      <p:cxnSp>
        <p:nvCxnSpPr>
          <p:cNvPr id="69" name="Straight Arrow Connector 68">
            <a:extLst>
              <a:ext uri="{FF2B5EF4-FFF2-40B4-BE49-F238E27FC236}">
                <a16:creationId xmlns:a16="http://schemas.microsoft.com/office/drawing/2014/main" id="{73AF1E96-0E2D-4780-AF74-EDD9560DD0B4}"/>
              </a:ext>
            </a:extLst>
          </p:cNvPr>
          <p:cNvCxnSpPr>
            <a:cxnSpLocks/>
            <a:stCxn id="68" idx="0"/>
            <a:endCxn id="75" idx="2"/>
          </p:cNvCxnSpPr>
          <p:nvPr/>
        </p:nvCxnSpPr>
        <p:spPr>
          <a:xfrm flipV="1">
            <a:off x="2839609" y="3693626"/>
            <a:ext cx="4321" cy="663826"/>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A3B11142-EA54-4B7C-A273-05C428FE8DFC}"/>
              </a:ext>
            </a:extLst>
          </p:cNvPr>
          <p:cNvCxnSpPr>
            <a:cxnSpLocks/>
            <a:stCxn id="58" idx="2"/>
          </p:cNvCxnSpPr>
          <p:nvPr/>
        </p:nvCxnSpPr>
        <p:spPr>
          <a:xfrm rot="5400000" flipH="1">
            <a:off x="5553777" y="1015584"/>
            <a:ext cx="841392" cy="5615164"/>
          </a:xfrm>
          <a:prstGeom prst="bentConnector4">
            <a:avLst>
              <a:gd name="adj1" fmla="val -90476"/>
              <a:gd name="adj2" fmla="val 87154"/>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pic>
        <p:nvPicPr>
          <p:cNvPr id="71" name="Graphic 70" descr="User">
            <a:extLst>
              <a:ext uri="{FF2B5EF4-FFF2-40B4-BE49-F238E27FC236}">
                <a16:creationId xmlns:a16="http://schemas.microsoft.com/office/drawing/2014/main" id="{28393358-F61C-4CCD-978A-C57EC13185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2354" y="5469420"/>
            <a:ext cx="914400" cy="914400"/>
          </a:xfrm>
          <a:prstGeom prst="rect">
            <a:avLst/>
          </a:prstGeom>
        </p:spPr>
      </p:pic>
      <p:cxnSp>
        <p:nvCxnSpPr>
          <p:cNvPr id="72" name="Straight Arrow Connector 71">
            <a:extLst>
              <a:ext uri="{FF2B5EF4-FFF2-40B4-BE49-F238E27FC236}">
                <a16:creationId xmlns:a16="http://schemas.microsoft.com/office/drawing/2014/main" id="{45232B83-A426-4FAC-BC2F-1C907294C9A6}"/>
              </a:ext>
            </a:extLst>
          </p:cNvPr>
          <p:cNvCxnSpPr>
            <a:cxnSpLocks/>
          </p:cNvCxnSpPr>
          <p:nvPr/>
        </p:nvCxnSpPr>
        <p:spPr>
          <a:xfrm flipV="1">
            <a:off x="3510108" y="5926619"/>
            <a:ext cx="783634" cy="1"/>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7CE14E16-C46A-4A85-9A02-63C60B3A748E}"/>
              </a:ext>
            </a:extLst>
          </p:cNvPr>
          <p:cNvSpPr/>
          <p:nvPr/>
        </p:nvSpPr>
        <p:spPr>
          <a:xfrm>
            <a:off x="4293742" y="5671343"/>
            <a:ext cx="1278385" cy="559293"/>
          </a:xfrm>
          <a:prstGeom prst="rect">
            <a:avLst/>
          </a:prstGeom>
          <a:solidFill>
            <a:srgbClr val="3D2A5D"/>
          </a:solidFill>
          <a:ln>
            <a:solidFill>
              <a:srgbClr val="3D2A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Approve</a:t>
            </a:r>
            <a:r>
              <a:rPr lang="en-GB" sz="1200" dirty="0"/>
              <a:t> </a:t>
            </a:r>
            <a:endParaRPr lang="en-GB" sz="600" dirty="0"/>
          </a:p>
        </p:txBody>
      </p:sp>
      <p:sp>
        <p:nvSpPr>
          <p:cNvPr id="74" name="TextBox 73">
            <a:extLst>
              <a:ext uri="{FF2B5EF4-FFF2-40B4-BE49-F238E27FC236}">
                <a16:creationId xmlns:a16="http://schemas.microsoft.com/office/drawing/2014/main" id="{4991F061-7752-4B40-86B5-017394C8B857}"/>
              </a:ext>
            </a:extLst>
          </p:cNvPr>
          <p:cNvSpPr txBox="1"/>
          <p:nvPr/>
        </p:nvSpPr>
        <p:spPr>
          <a:xfrm>
            <a:off x="632354" y="6299246"/>
            <a:ext cx="1045526" cy="261610"/>
          </a:xfrm>
          <a:prstGeom prst="rect">
            <a:avLst/>
          </a:prstGeom>
          <a:noFill/>
        </p:spPr>
        <p:txBody>
          <a:bodyPr wrap="square" rtlCol="0">
            <a:spAutoFit/>
          </a:bodyPr>
          <a:lstStyle/>
          <a:p>
            <a:r>
              <a:rPr lang="en-GB" sz="1100" dirty="0"/>
              <a:t>Investigator A</a:t>
            </a:r>
          </a:p>
        </p:txBody>
      </p:sp>
      <p:sp>
        <p:nvSpPr>
          <p:cNvPr id="75" name="TextBox 74">
            <a:extLst>
              <a:ext uri="{FF2B5EF4-FFF2-40B4-BE49-F238E27FC236}">
                <a16:creationId xmlns:a16="http://schemas.microsoft.com/office/drawing/2014/main" id="{757F8FBF-EEAC-419A-BBC2-C918215AEC23}"/>
              </a:ext>
            </a:extLst>
          </p:cNvPr>
          <p:cNvSpPr txBox="1"/>
          <p:nvPr/>
        </p:nvSpPr>
        <p:spPr>
          <a:xfrm>
            <a:off x="2331867" y="3432016"/>
            <a:ext cx="1024125" cy="261610"/>
          </a:xfrm>
          <a:prstGeom prst="rect">
            <a:avLst/>
          </a:prstGeom>
          <a:noFill/>
        </p:spPr>
        <p:txBody>
          <a:bodyPr wrap="square" rtlCol="0">
            <a:spAutoFit/>
          </a:bodyPr>
          <a:lstStyle/>
          <a:p>
            <a:r>
              <a:rPr lang="en-GB" sz="1100" dirty="0"/>
              <a:t>Investigator B</a:t>
            </a:r>
          </a:p>
        </p:txBody>
      </p:sp>
      <p:sp>
        <p:nvSpPr>
          <p:cNvPr id="76" name="TextBox 75">
            <a:extLst>
              <a:ext uri="{FF2B5EF4-FFF2-40B4-BE49-F238E27FC236}">
                <a16:creationId xmlns:a16="http://schemas.microsoft.com/office/drawing/2014/main" id="{1E3D070C-C4FC-46C3-A515-08DA95925D74}"/>
              </a:ext>
            </a:extLst>
          </p:cNvPr>
          <p:cNvSpPr txBox="1"/>
          <p:nvPr/>
        </p:nvSpPr>
        <p:spPr>
          <a:xfrm>
            <a:off x="6319630" y="3448998"/>
            <a:ext cx="1024125" cy="430887"/>
          </a:xfrm>
          <a:prstGeom prst="rect">
            <a:avLst/>
          </a:prstGeom>
          <a:noFill/>
        </p:spPr>
        <p:txBody>
          <a:bodyPr wrap="square" rtlCol="0">
            <a:spAutoFit/>
          </a:bodyPr>
          <a:lstStyle/>
          <a:p>
            <a:pPr algn="ctr"/>
            <a:r>
              <a:rPr lang="en-GB" sz="1100" dirty="0"/>
              <a:t>Investigator B Approver</a:t>
            </a:r>
          </a:p>
        </p:txBody>
      </p:sp>
      <p:sp>
        <p:nvSpPr>
          <p:cNvPr id="28" name="Rectangle 27">
            <a:extLst>
              <a:ext uri="{FF2B5EF4-FFF2-40B4-BE49-F238E27FC236}">
                <a16:creationId xmlns:a16="http://schemas.microsoft.com/office/drawing/2014/main" id="{A1A6DB35-F567-405B-8BC6-BA08EE94B90C}"/>
              </a:ext>
            </a:extLst>
          </p:cNvPr>
          <p:cNvSpPr/>
          <p:nvPr/>
        </p:nvSpPr>
        <p:spPr>
          <a:xfrm>
            <a:off x="6538962" y="5662548"/>
            <a:ext cx="1278385" cy="559293"/>
          </a:xfrm>
          <a:prstGeom prst="rect">
            <a:avLst/>
          </a:prstGeom>
          <a:solidFill>
            <a:srgbClr val="3D2A5D"/>
          </a:solidFill>
          <a:ln>
            <a:solidFill>
              <a:srgbClr val="3D2A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Case </a:t>
            </a:r>
          </a:p>
          <a:p>
            <a:pPr algn="ctr"/>
            <a:r>
              <a:rPr lang="en-GB" dirty="0"/>
              <a:t>Closed   </a:t>
            </a:r>
          </a:p>
        </p:txBody>
      </p:sp>
      <p:cxnSp>
        <p:nvCxnSpPr>
          <p:cNvPr id="29" name="Straight Arrow Connector 28">
            <a:extLst>
              <a:ext uri="{FF2B5EF4-FFF2-40B4-BE49-F238E27FC236}">
                <a16:creationId xmlns:a16="http://schemas.microsoft.com/office/drawing/2014/main" id="{8632BB0A-1964-46E2-BE2D-5620A9DFE525}"/>
              </a:ext>
            </a:extLst>
          </p:cNvPr>
          <p:cNvCxnSpPr>
            <a:endCxn id="28" idx="1"/>
          </p:cNvCxnSpPr>
          <p:nvPr/>
        </p:nvCxnSpPr>
        <p:spPr>
          <a:xfrm>
            <a:off x="5578695" y="5942195"/>
            <a:ext cx="960267" cy="0"/>
          </a:xfrm>
          <a:prstGeom prst="straightConnector1">
            <a:avLst/>
          </a:prstGeom>
          <a:ln>
            <a:solidFill>
              <a:srgbClr val="CF224E"/>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82018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4F746A-44A1-466F-8CEC-BE166F914941}"/>
              </a:ext>
            </a:extLst>
          </p:cNvPr>
          <p:cNvSpPr>
            <a:spLocks noGrp="1"/>
          </p:cNvSpPr>
          <p:nvPr>
            <p:ph type="title"/>
          </p:nvPr>
        </p:nvSpPr>
        <p:spPr/>
        <p:txBody>
          <a:bodyPr/>
          <a:lstStyle/>
          <a:p>
            <a:r>
              <a:rPr lang="en-GB" dirty="0"/>
              <a:t>Case Management: Permissions </a:t>
            </a:r>
          </a:p>
        </p:txBody>
      </p:sp>
      <p:sp>
        <p:nvSpPr>
          <p:cNvPr id="7" name="Text Placeholder 6">
            <a:extLst>
              <a:ext uri="{FF2B5EF4-FFF2-40B4-BE49-F238E27FC236}">
                <a16:creationId xmlns:a16="http://schemas.microsoft.com/office/drawing/2014/main" id="{3638620A-306C-45A4-9B14-FCF6C7377BE2}"/>
              </a:ext>
            </a:extLst>
          </p:cNvPr>
          <p:cNvSpPr>
            <a:spLocks noGrp="1"/>
          </p:cNvSpPr>
          <p:nvPr>
            <p:ph type="body" idx="1"/>
          </p:nvPr>
        </p:nvSpPr>
        <p:spPr/>
        <p:txBody>
          <a:bodyPr/>
          <a:lstStyle/>
          <a:p>
            <a:r>
              <a:rPr lang="en-GB" dirty="0"/>
              <a:t>Secure 5.2 </a:t>
            </a:r>
          </a:p>
        </p:txBody>
      </p:sp>
      <p:sp>
        <p:nvSpPr>
          <p:cNvPr id="4" name="Slide Number Placeholder 3">
            <a:extLst>
              <a:ext uri="{FF2B5EF4-FFF2-40B4-BE49-F238E27FC236}">
                <a16:creationId xmlns:a16="http://schemas.microsoft.com/office/drawing/2014/main" id="{C6641612-F59E-4AAD-8882-48270C1E29A2}"/>
              </a:ext>
            </a:extLst>
          </p:cNvPr>
          <p:cNvSpPr>
            <a:spLocks noGrp="1"/>
          </p:cNvSpPr>
          <p:nvPr>
            <p:ph type="sldNum" sz="quarter" idx="4294967295"/>
          </p:nvPr>
        </p:nvSpPr>
        <p:spPr>
          <a:xfrm>
            <a:off x="9448800" y="6469063"/>
            <a:ext cx="2743200" cy="365125"/>
          </a:xfrm>
        </p:spPr>
        <p:txBody>
          <a:bodyPr/>
          <a:lstStyle/>
          <a:p>
            <a:fld id="{0BF9CEBF-66DF-3848-8984-13BBF9FFC1B1}" type="slidenum">
              <a:rPr lang="en-US" smtClean="0"/>
              <a:pPr/>
              <a:t>31</a:t>
            </a:fld>
            <a:endParaRPr lang="en-US"/>
          </a:p>
        </p:txBody>
      </p:sp>
      <p:sp>
        <p:nvSpPr>
          <p:cNvPr id="5" name="Footer Placeholder 4">
            <a:extLst>
              <a:ext uri="{FF2B5EF4-FFF2-40B4-BE49-F238E27FC236}">
                <a16:creationId xmlns:a16="http://schemas.microsoft.com/office/drawing/2014/main" id="{26311B29-2FFB-4DAE-8C00-DC44BCAD1838}"/>
              </a:ext>
            </a:extLst>
          </p:cNvPr>
          <p:cNvSpPr>
            <a:spLocks noGrp="1"/>
          </p:cNvSpPr>
          <p:nvPr>
            <p:ph type="ftr" sz="quarter" idx="4294967295"/>
          </p:nvPr>
        </p:nvSpPr>
        <p:spPr>
          <a:xfrm>
            <a:off x="0" y="6469063"/>
            <a:ext cx="4114800" cy="365125"/>
          </a:xfrm>
        </p:spPr>
        <p:txBody>
          <a:bodyPr/>
          <a:lstStyle/>
          <a:p>
            <a:r>
              <a:rPr lang="en-US"/>
              <a:t>©Appriss Retail.  Proprietary and Confidential</a:t>
            </a:r>
            <a:endParaRPr lang="en-US" dirty="0"/>
          </a:p>
        </p:txBody>
      </p:sp>
    </p:spTree>
    <p:extLst>
      <p:ext uri="{BB962C8B-B14F-4D97-AF65-F5344CB8AC3E}">
        <p14:creationId xmlns:p14="http://schemas.microsoft.com/office/powerpoint/2010/main" val="38619193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8DDC87-87A2-4AE3-932C-4CC4BEF67391}"/>
              </a:ext>
            </a:extLst>
          </p:cNvPr>
          <p:cNvSpPr>
            <a:spLocks noGrp="1"/>
          </p:cNvSpPr>
          <p:nvPr>
            <p:ph type="title"/>
          </p:nvPr>
        </p:nvSpPr>
        <p:spPr/>
        <p:txBody>
          <a:bodyPr/>
          <a:lstStyle/>
          <a:p>
            <a:r>
              <a:rPr lang="en-GB" dirty="0"/>
              <a:t>Permissions</a:t>
            </a:r>
          </a:p>
        </p:txBody>
      </p:sp>
      <p:sp>
        <p:nvSpPr>
          <p:cNvPr id="5" name="Content Placeholder 4">
            <a:extLst>
              <a:ext uri="{FF2B5EF4-FFF2-40B4-BE49-F238E27FC236}">
                <a16:creationId xmlns:a16="http://schemas.microsoft.com/office/drawing/2014/main" id="{6B8277F5-3563-4477-9E89-B4312E0D6F4B}"/>
              </a:ext>
            </a:extLst>
          </p:cNvPr>
          <p:cNvSpPr>
            <a:spLocks noGrp="1"/>
          </p:cNvSpPr>
          <p:nvPr>
            <p:ph sz="half" idx="14"/>
          </p:nvPr>
        </p:nvSpPr>
        <p:spPr/>
        <p:txBody>
          <a:bodyPr/>
          <a:lstStyle/>
          <a:p>
            <a:pPr>
              <a:buFont typeface="Wingdings" panose="05000000000000000000" pitchFamily="2" charset="2"/>
              <a:buChar char="Ø"/>
            </a:pPr>
            <a:r>
              <a:rPr lang="en-GB" b="1" dirty="0"/>
              <a:t>Case Dashboard </a:t>
            </a:r>
            <a:r>
              <a:rPr lang="en-GB" dirty="0"/>
              <a:t>is controlled by </a:t>
            </a:r>
            <a:r>
              <a:rPr lang="en-GB" b="1" dirty="0"/>
              <a:t>Data Policy</a:t>
            </a:r>
          </a:p>
          <a:p>
            <a:pPr marL="0" indent="0">
              <a:buNone/>
            </a:pPr>
            <a:r>
              <a:rPr lang="en-GB" dirty="0"/>
              <a:t>	An investigator will only be able to see cases based in their regions / areas if 	Location Hierarchy is setup</a:t>
            </a:r>
          </a:p>
          <a:p>
            <a:pPr marL="0" indent="0">
              <a:buNone/>
            </a:pPr>
            <a:r>
              <a:rPr lang="en-GB" dirty="0"/>
              <a:t>	An investigator will be able to view cases that are assigned to them and 	assigned to other users in their region/ area in Case Dashboard</a:t>
            </a:r>
          </a:p>
          <a:p>
            <a:pPr marL="0" indent="0">
              <a:buNone/>
            </a:pPr>
            <a:r>
              <a:rPr lang="en-GB" dirty="0"/>
              <a:t>	An investigator will be able to open cases that have been assigned to them or 	where permissions have been granted to the user </a:t>
            </a:r>
          </a:p>
          <a:p>
            <a:pPr>
              <a:buFont typeface="Wingdings" panose="05000000000000000000" pitchFamily="2" charset="2"/>
              <a:buChar char="Ø"/>
            </a:pPr>
            <a:r>
              <a:rPr lang="en-GB" b="1" dirty="0"/>
              <a:t>Case Search </a:t>
            </a:r>
            <a:r>
              <a:rPr lang="en-GB" dirty="0"/>
              <a:t>is controlled by </a:t>
            </a:r>
            <a:r>
              <a:rPr lang="en-GB" b="1" dirty="0"/>
              <a:t>Data Policy </a:t>
            </a:r>
          </a:p>
          <a:p>
            <a:pPr>
              <a:buFont typeface="Wingdings" panose="05000000000000000000" pitchFamily="2" charset="2"/>
              <a:buChar char="Ø"/>
            </a:pPr>
            <a:r>
              <a:rPr lang="en-GB" b="1" dirty="0"/>
              <a:t>General Information Form </a:t>
            </a:r>
          </a:p>
          <a:p>
            <a:pPr marL="0" indent="0">
              <a:buNone/>
            </a:pPr>
            <a:endParaRPr lang="en-GB" dirty="0"/>
          </a:p>
        </p:txBody>
      </p:sp>
    </p:spTree>
    <p:extLst>
      <p:ext uri="{BB962C8B-B14F-4D97-AF65-F5344CB8AC3E}">
        <p14:creationId xmlns:p14="http://schemas.microsoft.com/office/powerpoint/2010/main" val="12610270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34FF2B-3C48-429F-93E2-92386447D731}"/>
              </a:ext>
            </a:extLst>
          </p:cNvPr>
          <p:cNvSpPr>
            <a:spLocks noGrp="1"/>
          </p:cNvSpPr>
          <p:nvPr>
            <p:ph type="title"/>
          </p:nvPr>
        </p:nvSpPr>
        <p:spPr/>
        <p:txBody>
          <a:bodyPr/>
          <a:lstStyle/>
          <a:p>
            <a:r>
              <a:rPr lang="en-GB" dirty="0"/>
              <a:t>Appriss Retail University </a:t>
            </a:r>
          </a:p>
        </p:txBody>
      </p:sp>
      <p:sp>
        <p:nvSpPr>
          <p:cNvPr id="7" name="Text Placeholder 6">
            <a:extLst>
              <a:ext uri="{FF2B5EF4-FFF2-40B4-BE49-F238E27FC236}">
                <a16:creationId xmlns:a16="http://schemas.microsoft.com/office/drawing/2014/main" id="{67EAF172-71DE-4504-B1D9-7F7EBB8B91AA}"/>
              </a:ext>
            </a:extLst>
          </p:cNvPr>
          <p:cNvSpPr>
            <a:spLocks noGrp="1"/>
          </p:cNvSpPr>
          <p:nvPr>
            <p:ph type="body" idx="1"/>
          </p:nvPr>
        </p:nvSpPr>
        <p:spPr/>
        <p:txBody>
          <a:bodyPr/>
          <a:lstStyle/>
          <a:p>
            <a:r>
              <a:rPr lang="en-GB" dirty="0"/>
              <a:t>User Guide and Component Integration</a:t>
            </a:r>
          </a:p>
        </p:txBody>
      </p:sp>
      <p:sp>
        <p:nvSpPr>
          <p:cNvPr id="4" name="Slide Number Placeholder 3">
            <a:extLst>
              <a:ext uri="{FF2B5EF4-FFF2-40B4-BE49-F238E27FC236}">
                <a16:creationId xmlns:a16="http://schemas.microsoft.com/office/drawing/2014/main" id="{6ACD9009-3619-423A-95FB-C12864EED17C}"/>
              </a:ext>
            </a:extLst>
          </p:cNvPr>
          <p:cNvSpPr>
            <a:spLocks noGrp="1"/>
          </p:cNvSpPr>
          <p:nvPr>
            <p:ph type="sldNum" sz="quarter" idx="4294967295"/>
          </p:nvPr>
        </p:nvSpPr>
        <p:spPr>
          <a:xfrm>
            <a:off x="9448800" y="6469063"/>
            <a:ext cx="2743200" cy="365125"/>
          </a:xfrm>
        </p:spPr>
        <p:txBody>
          <a:bodyPr/>
          <a:lstStyle/>
          <a:p>
            <a:fld id="{0BF9CEBF-66DF-3848-8984-13BBF9FFC1B1}" type="slidenum">
              <a:rPr lang="en-US" smtClean="0"/>
              <a:pPr/>
              <a:t>33</a:t>
            </a:fld>
            <a:endParaRPr lang="en-US"/>
          </a:p>
        </p:txBody>
      </p:sp>
      <p:sp>
        <p:nvSpPr>
          <p:cNvPr id="5" name="Footer Placeholder 4">
            <a:extLst>
              <a:ext uri="{FF2B5EF4-FFF2-40B4-BE49-F238E27FC236}">
                <a16:creationId xmlns:a16="http://schemas.microsoft.com/office/drawing/2014/main" id="{9D27E16B-75A1-4A65-92E6-1F6F55946AFD}"/>
              </a:ext>
            </a:extLst>
          </p:cNvPr>
          <p:cNvSpPr>
            <a:spLocks noGrp="1"/>
          </p:cNvSpPr>
          <p:nvPr>
            <p:ph type="ftr" sz="quarter" idx="4294967295"/>
          </p:nvPr>
        </p:nvSpPr>
        <p:spPr>
          <a:xfrm>
            <a:off x="0" y="6469063"/>
            <a:ext cx="4114800" cy="365125"/>
          </a:xfrm>
        </p:spPr>
        <p:txBody>
          <a:bodyPr/>
          <a:lstStyle/>
          <a:p>
            <a:r>
              <a:rPr lang="en-US"/>
              <a:t>©Appriss Retail.  Proprietary and Confidential</a:t>
            </a:r>
            <a:endParaRPr lang="en-US" dirty="0"/>
          </a:p>
        </p:txBody>
      </p:sp>
    </p:spTree>
    <p:extLst>
      <p:ext uri="{BB962C8B-B14F-4D97-AF65-F5344CB8AC3E}">
        <p14:creationId xmlns:p14="http://schemas.microsoft.com/office/powerpoint/2010/main" val="26776533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4F74D28C-3268-4E35-8EE1-D92CB4A85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58D44E42-C462-4105-BC86-FE75B4E3C4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024154" cy="6858000"/>
          </a:xfrm>
          <a:custGeom>
            <a:avLst/>
            <a:gdLst>
              <a:gd name="connsiteX0" fmla="*/ 70374 w 6024154"/>
              <a:gd name="connsiteY0" fmla="*/ 0 h 6858000"/>
              <a:gd name="connsiteX1" fmla="*/ 6024154 w 6024154"/>
              <a:gd name="connsiteY1" fmla="*/ 0 h 6858000"/>
              <a:gd name="connsiteX2" fmla="*/ 6024154 w 6024154"/>
              <a:gd name="connsiteY2" fmla="*/ 6858000 h 6858000"/>
              <a:gd name="connsiteX3" fmla="*/ 3587167 w 6024154"/>
              <a:gd name="connsiteY3" fmla="*/ 6858000 h 6858000"/>
              <a:gd name="connsiteX4" fmla="*/ 3474220 w 6024154"/>
              <a:gd name="connsiteY4" fmla="*/ 6800152 h 6858000"/>
              <a:gd name="connsiteX5" fmla="*/ 0 w 6024154"/>
              <a:gd name="connsiteY5" fmla="*/ 962844 h 6858000"/>
              <a:gd name="connsiteX6" fmla="*/ 34274 w 6024154"/>
              <a:gd name="connsiteY6" fmla="*/ 2840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70374" y="0"/>
                </a:moveTo>
                <a:lnTo>
                  <a:pt x="6024154" y="0"/>
                </a:lnTo>
                <a:lnTo>
                  <a:pt x="6024154" y="6858000"/>
                </a:lnTo>
                <a:lnTo>
                  <a:pt x="3587167" y="6858000"/>
                </a:lnTo>
                <a:lnTo>
                  <a:pt x="3474220" y="6800152"/>
                </a:lnTo>
                <a:cubicBezTo>
                  <a:pt x="1404818" y="5675986"/>
                  <a:pt x="0" y="3483472"/>
                  <a:pt x="0" y="962844"/>
                </a:cubicBezTo>
                <a:cubicBezTo>
                  <a:pt x="0" y="733696"/>
                  <a:pt x="11610" y="507260"/>
                  <a:pt x="34274" y="284091"/>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D449DF7A-E8F2-4208-A778-75A0D59F57CF}"/>
              </a:ext>
            </a:extLst>
          </p:cNvPr>
          <p:cNvSpPr txBox="1"/>
          <p:nvPr/>
        </p:nvSpPr>
        <p:spPr>
          <a:xfrm>
            <a:off x="6537022" y="1838158"/>
            <a:ext cx="5391741" cy="3181684"/>
          </a:xfrm>
          <a:prstGeom prst="rect">
            <a:avLst/>
          </a:prstGeom>
        </p:spPr>
        <p:txBody>
          <a:bodyPr vert="horz" lIns="91440" tIns="45720" rIns="91440" bIns="45720" rtlCol="0" anchor="t">
            <a:normAutofit/>
          </a:bodyPr>
          <a:lstStyle/>
          <a:p>
            <a:pPr>
              <a:lnSpc>
                <a:spcPct val="90000"/>
              </a:lnSpc>
              <a:spcAft>
                <a:spcPts val="600"/>
              </a:spcAft>
            </a:pPr>
            <a:r>
              <a:rPr lang="en-US" b="1" dirty="0"/>
              <a:t>User Guide </a:t>
            </a:r>
          </a:p>
          <a:p>
            <a:pPr>
              <a:lnSpc>
                <a:spcPct val="90000"/>
              </a:lnSpc>
              <a:spcAft>
                <a:spcPts val="600"/>
              </a:spcAft>
            </a:pPr>
            <a:r>
              <a:rPr lang="en-US" dirty="0"/>
              <a:t>User Guide will be available to all Secure Users from within the application</a:t>
            </a:r>
          </a:p>
          <a:p>
            <a:pPr indent="-228600">
              <a:lnSpc>
                <a:spcPct val="90000"/>
              </a:lnSpc>
              <a:spcAft>
                <a:spcPts val="600"/>
              </a:spcAft>
              <a:buFont typeface="Arial" panose="020B0604020202020204" pitchFamily="34" charset="0"/>
              <a:buChar char="•"/>
            </a:pPr>
            <a:endParaRPr lang="en-US" b="1" dirty="0"/>
          </a:p>
          <a:p>
            <a:pPr indent="-228600">
              <a:lnSpc>
                <a:spcPct val="90000"/>
              </a:lnSpc>
              <a:spcAft>
                <a:spcPts val="600"/>
              </a:spcAft>
              <a:buFont typeface="Arial" panose="020B0604020202020204" pitchFamily="34" charset="0"/>
              <a:buChar char="•"/>
            </a:pPr>
            <a:endParaRPr lang="en-US" dirty="0"/>
          </a:p>
          <a:p>
            <a:pPr>
              <a:lnSpc>
                <a:spcPct val="90000"/>
              </a:lnSpc>
              <a:spcAft>
                <a:spcPts val="600"/>
              </a:spcAft>
            </a:pPr>
            <a:r>
              <a:rPr lang="en-US" b="1" dirty="0"/>
              <a:t>Component Integration</a:t>
            </a:r>
          </a:p>
          <a:p>
            <a:pPr>
              <a:lnSpc>
                <a:spcPct val="90000"/>
              </a:lnSpc>
              <a:spcAft>
                <a:spcPts val="600"/>
              </a:spcAft>
            </a:pPr>
            <a:r>
              <a:rPr lang="en-US" dirty="0"/>
              <a:t>In many areas of the application there are specific training components available by clicking on the question mark icon in the upper left corner.</a:t>
            </a:r>
          </a:p>
          <a:p>
            <a:pPr>
              <a:lnSpc>
                <a:spcPct val="90000"/>
              </a:lnSpc>
              <a:spcAft>
                <a:spcPts val="600"/>
              </a:spcAft>
            </a:pPr>
            <a:endParaRPr lang="en-US" b="1" dirty="0"/>
          </a:p>
          <a:p>
            <a:pPr indent="-228600">
              <a:lnSpc>
                <a:spcPct val="90000"/>
              </a:lnSpc>
              <a:spcAft>
                <a:spcPts val="600"/>
              </a:spcAft>
              <a:buFont typeface="Arial" panose="020B0604020202020204" pitchFamily="34" charset="0"/>
              <a:buChar char="•"/>
            </a:pPr>
            <a:endParaRPr lang="en-US" b="1" dirty="0"/>
          </a:p>
        </p:txBody>
      </p:sp>
      <p:pic>
        <p:nvPicPr>
          <p:cNvPr id="13" name="Picture 12">
            <a:extLst>
              <a:ext uri="{FF2B5EF4-FFF2-40B4-BE49-F238E27FC236}">
                <a16:creationId xmlns:a16="http://schemas.microsoft.com/office/drawing/2014/main" id="{0E6E91E1-4B19-48E6-BCE3-B9E913A2C1BB}"/>
              </a:ext>
            </a:extLst>
          </p:cNvPr>
          <p:cNvPicPr>
            <a:picLocks noChangeAspect="1"/>
          </p:cNvPicPr>
          <p:nvPr/>
        </p:nvPicPr>
        <p:blipFill>
          <a:blip r:embed="rId2"/>
          <a:stretch>
            <a:fillRect/>
          </a:stretch>
        </p:blipFill>
        <p:spPr>
          <a:xfrm>
            <a:off x="1907442" y="1791094"/>
            <a:ext cx="2209269" cy="3275812"/>
          </a:xfrm>
          <a:prstGeom prst="rect">
            <a:avLst/>
          </a:prstGeom>
          <a:ln w="38100">
            <a:solidFill>
              <a:srgbClr val="C00000"/>
            </a:solidFill>
          </a:ln>
        </p:spPr>
      </p:pic>
    </p:spTree>
    <p:extLst>
      <p:ext uri="{BB962C8B-B14F-4D97-AF65-F5344CB8AC3E}">
        <p14:creationId xmlns:p14="http://schemas.microsoft.com/office/powerpoint/2010/main" val="204433619"/>
      </p:ext>
    </p:extLst>
  </p:cSld>
  <p:clrMapOvr>
    <a:overrideClrMapping bg1="dk1" tx1="lt1" bg2="dk2" tx2="lt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61F9F4-DE15-4821-96F9-3671EDA8A5AD}"/>
              </a:ext>
            </a:extLst>
          </p:cNvPr>
          <p:cNvSpPr>
            <a:spLocks noGrp="1"/>
          </p:cNvSpPr>
          <p:nvPr>
            <p:ph type="title"/>
          </p:nvPr>
        </p:nvSpPr>
        <p:spPr/>
        <p:txBody>
          <a:bodyPr/>
          <a:lstStyle/>
          <a:p>
            <a:r>
              <a:rPr lang="en-GB" dirty="0"/>
              <a:t>Secure </a:t>
            </a:r>
          </a:p>
        </p:txBody>
      </p:sp>
      <p:sp>
        <p:nvSpPr>
          <p:cNvPr id="7" name="Text Placeholder 6">
            <a:extLst>
              <a:ext uri="{FF2B5EF4-FFF2-40B4-BE49-F238E27FC236}">
                <a16:creationId xmlns:a16="http://schemas.microsoft.com/office/drawing/2014/main" id="{AD611BC1-BBB7-4CEF-A042-29913188107B}"/>
              </a:ext>
            </a:extLst>
          </p:cNvPr>
          <p:cNvSpPr>
            <a:spLocks noGrp="1"/>
          </p:cNvSpPr>
          <p:nvPr>
            <p:ph type="body" idx="1"/>
          </p:nvPr>
        </p:nvSpPr>
        <p:spPr/>
        <p:txBody>
          <a:bodyPr/>
          <a:lstStyle/>
          <a:p>
            <a:r>
              <a:rPr lang="en-GB" dirty="0"/>
              <a:t>Technical Discussion </a:t>
            </a:r>
          </a:p>
        </p:txBody>
      </p:sp>
      <p:sp>
        <p:nvSpPr>
          <p:cNvPr id="4" name="Slide Number Placeholder 3">
            <a:extLst>
              <a:ext uri="{FF2B5EF4-FFF2-40B4-BE49-F238E27FC236}">
                <a16:creationId xmlns:a16="http://schemas.microsoft.com/office/drawing/2014/main" id="{3DD8C957-4B1E-49A2-9929-8DD4A9D2058C}"/>
              </a:ext>
            </a:extLst>
          </p:cNvPr>
          <p:cNvSpPr>
            <a:spLocks noGrp="1"/>
          </p:cNvSpPr>
          <p:nvPr>
            <p:ph type="sldNum" sz="quarter" idx="4294967295"/>
          </p:nvPr>
        </p:nvSpPr>
        <p:spPr>
          <a:xfrm>
            <a:off x="9448800" y="6469063"/>
            <a:ext cx="2743200" cy="365125"/>
          </a:xfrm>
        </p:spPr>
        <p:txBody>
          <a:bodyPr/>
          <a:lstStyle/>
          <a:p>
            <a:fld id="{0BF9CEBF-66DF-3848-8984-13BBF9FFC1B1}" type="slidenum">
              <a:rPr lang="en-US" smtClean="0"/>
              <a:pPr/>
              <a:t>35</a:t>
            </a:fld>
            <a:endParaRPr lang="en-US"/>
          </a:p>
        </p:txBody>
      </p:sp>
      <p:sp>
        <p:nvSpPr>
          <p:cNvPr id="5" name="Footer Placeholder 4">
            <a:extLst>
              <a:ext uri="{FF2B5EF4-FFF2-40B4-BE49-F238E27FC236}">
                <a16:creationId xmlns:a16="http://schemas.microsoft.com/office/drawing/2014/main" id="{25B45063-B276-45A2-A7EB-47B89829D3B1}"/>
              </a:ext>
            </a:extLst>
          </p:cNvPr>
          <p:cNvSpPr>
            <a:spLocks noGrp="1"/>
          </p:cNvSpPr>
          <p:nvPr>
            <p:ph type="ftr" sz="quarter" idx="4294967295"/>
          </p:nvPr>
        </p:nvSpPr>
        <p:spPr>
          <a:xfrm>
            <a:off x="0" y="6469063"/>
            <a:ext cx="4114800" cy="365125"/>
          </a:xfrm>
        </p:spPr>
        <p:txBody>
          <a:bodyPr/>
          <a:lstStyle/>
          <a:p>
            <a:r>
              <a:rPr lang="en-US"/>
              <a:t>©Appriss Retail.  Proprietary and Confidential</a:t>
            </a:r>
            <a:endParaRPr lang="en-US" dirty="0"/>
          </a:p>
        </p:txBody>
      </p:sp>
    </p:spTree>
    <p:extLst>
      <p:ext uri="{BB962C8B-B14F-4D97-AF65-F5344CB8AC3E}">
        <p14:creationId xmlns:p14="http://schemas.microsoft.com/office/powerpoint/2010/main" val="11691961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BF946B8-ADF5-4EB5-A233-3791001023E6}"/>
              </a:ext>
            </a:extLst>
          </p:cNvPr>
          <p:cNvSpPr>
            <a:spLocks noGrp="1"/>
          </p:cNvSpPr>
          <p:nvPr>
            <p:ph type="title"/>
          </p:nvPr>
        </p:nvSpPr>
        <p:spPr/>
        <p:txBody>
          <a:bodyPr/>
          <a:lstStyle/>
          <a:p>
            <a:r>
              <a:rPr lang="en-GB" dirty="0"/>
              <a:t>Technical Discussion</a:t>
            </a:r>
          </a:p>
        </p:txBody>
      </p:sp>
      <p:sp>
        <p:nvSpPr>
          <p:cNvPr id="5" name="Content Placeholder 4">
            <a:extLst>
              <a:ext uri="{FF2B5EF4-FFF2-40B4-BE49-F238E27FC236}">
                <a16:creationId xmlns:a16="http://schemas.microsoft.com/office/drawing/2014/main" id="{8CDB56B5-435B-4441-BEE2-B8BD0E372A12}"/>
              </a:ext>
            </a:extLst>
          </p:cNvPr>
          <p:cNvSpPr>
            <a:spLocks noGrp="1"/>
          </p:cNvSpPr>
          <p:nvPr>
            <p:ph sz="half" idx="14"/>
          </p:nvPr>
        </p:nvSpPr>
        <p:spPr/>
        <p:txBody>
          <a:bodyPr/>
          <a:lstStyle/>
          <a:p>
            <a:r>
              <a:rPr lang="en-GB" dirty="0"/>
              <a:t>POS Data Feed </a:t>
            </a:r>
          </a:p>
          <a:p>
            <a:pPr marL="0" indent="0">
              <a:buNone/>
            </a:pPr>
            <a:endParaRPr lang="en-GB" dirty="0"/>
          </a:p>
          <a:p>
            <a:r>
              <a:rPr lang="en-GB" dirty="0"/>
              <a:t>Integration Patterns </a:t>
            </a:r>
          </a:p>
          <a:p>
            <a:pPr marL="0" indent="0">
              <a:buNone/>
            </a:pPr>
            <a:endParaRPr lang="en-GB" dirty="0"/>
          </a:p>
          <a:p>
            <a:r>
              <a:rPr lang="en-GB" dirty="0"/>
              <a:t>Reference Feeds </a:t>
            </a:r>
          </a:p>
          <a:p>
            <a:pPr lvl="1"/>
            <a:r>
              <a:rPr lang="en-GB" dirty="0"/>
              <a:t>Product Feed </a:t>
            </a:r>
          </a:p>
          <a:p>
            <a:pPr lvl="1"/>
            <a:r>
              <a:rPr lang="en-GB" dirty="0"/>
              <a:t>Location Hierarchy Feed </a:t>
            </a:r>
          </a:p>
          <a:p>
            <a:pPr lvl="1"/>
            <a:r>
              <a:rPr lang="en-GB" dirty="0"/>
              <a:t>Employee Feed </a:t>
            </a:r>
          </a:p>
          <a:p>
            <a:pPr lvl="1"/>
            <a:r>
              <a:rPr lang="en-GB" dirty="0"/>
              <a:t>Other Feed </a:t>
            </a:r>
          </a:p>
        </p:txBody>
      </p:sp>
    </p:spTree>
    <p:extLst>
      <p:ext uri="{BB962C8B-B14F-4D97-AF65-F5344CB8AC3E}">
        <p14:creationId xmlns:p14="http://schemas.microsoft.com/office/powerpoint/2010/main" val="39380518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F402B31-F9EF-4B59-89F3-04E16316AD19}"/>
              </a:ext>
            </a:extLst>
          </p:cNvPr>
          <p:cNvSpPr>
            <a:spLocks noGrp="1"/>
          </p:cNvSpPr>
          <p:nvPr>
            <p:ph type="title"/>
          </p:nvPr>
        </p:nvSpPr>
        <p:spPr/>
        <p:txBody>
          <a:bodyPr/>
          <a:lstStyle/>
          <a:p>
            <a:r>
              <a:rPr lang="en-GB" dirty="0"/>
              <a:t>Thank You </a:t>
            </a:r>
          </a:p>
        </p:txBody>
      </p:sp>
      <p:sp>
        <p:nvSpPr>
          <p:cNvPr id="4" name="Slide Number Placeholder 3">
            <a:extLst>
              <a:ext uri="{FF2B5EF4-FFF2-40B4-BE49-F238E27FC236}">
                <a16:creationId xmlns:a16="http://schemas.microsoft.com/office/drawing/2014/main" id="{3DD8C957-4B1E-49A2-9929-8DD4A9D2058C}"/>
              </a:ext>
            </a:extLst>
          </p:cNvPr>
          <p:cNvSpPr>
            <a:spLocks noGrp="1"/>
          </p:cNvSpPr>
          <p:nvPr>
            <p:ph type="sldNum" sz="quarter" idx="4294967295"/>
          </p:nvPr>
        </p:nvSpPr>
        <p:spPr>
          <a:xfrm>
            <a:off x="9448800" y="6469063"/>
            <a:ext cx="2743200" cy="365125"/>
          </a:xfrm>
        </p:spPr>
        <p:txBody>
          <a:bodyPr/>
          <a:lstStyle/>
          <a:p>
            <a:fld id="{0BF9CEBF-66DF-3848-8984-13BBF9FFC1B1}" type="slidenum">
              <a:rPr lang="en-US" smtClean="0"/>
              <a:pPr/>
              <a:t>37</a:t>
            </a:fld>
            <a:endParaRPr lang="en-US"/>
          </a:p>
        </p:txBody>
      </p:sp>
      <p:sp>
        <p:nvSpPr>
          <p:cNvPr id="5" name="Footer Placeholder 4">
            <a:extLst>
              <a:ext uri="{FF2B5EF4-FFF2-40B4-BE49-F238E27FC236}">
                <a16:creationId xmlns:a16="http://schemas.microsoft.com/office/drawing/2014/main" id="{25B45063-B276-45A2-A7EB-47B89829D3B1}"/>
              </a:ext>
            </a:extLst>
          </p:cNvPr>
          <p:cNvSpPr>
            <a:spLocks noGrp="1"/>
          </p:cNvSpPr>
          <p:nvPr>
            <p:ph type="ftr" sz="quarter" idx="4294967295"/>
          </p:nvPr>
        </p:nvSpPr>
        <p:spPr>
          <a:xfrm>
            <a:off x="0" y="6469063"/>
            <a:ext cx="4114800" cy="365125"/>
          </a:xfrm>
        </p:spPr>
        <p:txBody>
          <a:bodyPr/>
          <a:lstStyle/>
          <a:p>
            <a:r>
              <a:rPr lang="en-US"/>
              <a:t>©Appriss Retail.  Proprietary and Confidential</a:t>
            </a:r>
            <a:endParaRPr lang="en-US" dirty="0"/>
          </a:p>
        </p:txBody>
      </p:sp>
    </p:spTree>
    <p:extLst>
      <p:ext uri="{BB962C8B-B14F-4D97-AF65-F5344CB8AC3E}">
        <p14:creationId xmlns:p14="http://schemas.microsoft.com/office/powerpoint/2010/main" val="2821369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3CB1BFCDB7CA74A9B70F8A408CF88C2" ma:contentTypeVersion="4" ma:contentTypeDescription="Create a new document." ma:contentTypeScope="" ma:versionID="2d7c4b8436f9ea3277ad3e113272f140">
  <xsd:schema xmlns:xsd="http://www.w3.org/2001/XMLSchema" xmlns:xs="http://www.w3.org/2001/XMLSchema" xmlns:p="http://schemas.microsoft.com/office/2006/metadata/properties" xmlns:ns2="c1c43d2a-c815-4a48-8698-adbcef3a4ed7" targetNamespace="http://schemas.microsoft.com/office/2006/metadata/properties" ma:root="true" ma:fieldsID="9c61980c69cbeed18b3177dfa0d2e8ad" ns2:_="">
    <xsd:import namespace="c1c43d2a-c815-4a48-8698-adbcef3a4ed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c43d2a-c815-4a48-8698-adbcef3a4e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EC496CE-CAAD-4C21-82A3-C042B1529E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c43d2a-c815-4a48-8698-adbcef3a4e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D056CB4-1812-45F2-9D5A-1198FDC74AF7}">
  <ds:schemaRef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terms/"/>
    <ds:schemaRef ds:uri="c1c43d2a-c815-4a48-8698-adbcef3a4ed7"/>
    <ds:schemaRef ds:uri="http://purl.org/dc/dcmitype/"/>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8F197B8-6198-41BC-91FF-AC38950630A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389</TotalTime>
  <Words>1662</Words>
  <Application>Microsoft Office PowerPoint</Application>
  <PresentationFormat>Widescreen</PresentationFormat>
  <Paragraphs>374</Paragraphs>
  <Slides>37</Slides>
  <Notes>4</Notes>
  <HiddenSlides>7</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4" baseType="lpstr">
      <vt:lpstr>Arial</vt:lpstr>
      <vt:lpstr>Calibri</vt:lpstr>
      <vt:lpstr>Calibri Bold</vt:lpstr>
      <vt:lpstr>Calibri Regular</vt:lpstr>
      <vt:lpstr>Wingdings</vt:lpstr>
      <vt:lpstr>Office Theme</vt:lpstr>
      <vt:lpstr>Worksheet</vt:lpstr>
      <vt:lpstr>A.S Watson </vt:lpstr>
      <vt:lpstr>Agenda</vt:lpstr>
      <vt:lpstr>Project Team </vt:lpstr>
      <vt:lpstr>Methodology</vt:lpstr>
      <vt:lpstr>Project Scope </vt:lpstr>
      <vt:lpstr>Client Deliverables </vt:lpstr>
      <vt:lpstr>Secure 5 Project Plan </vt:lpstr>
      <vt:lpstr>Implementation Process Overview</vt:lpstr>
      <vt:lpstr>UAT Sign Off Document</vt:lpstr>
      <vt:lpstr>Project Delivery UAT </vt:lpstr>
      <vt:lpstr>Enhancement Hours </vt:lpstr>
      <vt:lpstr>Secure 5</vt:lpstr>
      <vt:lpstr>Secure 5.2  Workflow </vt:lpstr>
      <vt:lpstr>Secure 5.2  Workflow </vt:lpstr>
      <vt:lpstr>Default User Groups  </vt:lpstr>
      <vt:lpstr>What are Permission Groups? </vt:lpstr>
      <vt:lpstr>Available Data Areas</vt:lpstr>
      <vt:lpstr>Hierarchy and Alignment</vt:lpstr>
      <vt:lpstr>Hierarchy and Alignment Example</vt:lpstr>
      <vt:lpstr>Teams</vt:lpstr>
      <vt:lpstr>How do Data Policies work? </vt:lpstr>
      <vt:lpstr>Business Calendars </vt:lpstr>
      <vt:lpstr>Reporting Requirements </vt:lpstr>
      <vt:lpstr>Report Distribution </vt:lpstr>
      <vt:lpstr>LP Case Management</vt:lpstr>
      <vt:lpstr>LP Case Management: Case Approver Flow</vt:lpstr>
      <vt:lpstr>Investigator with an Approver </vt:lpstr>
      <vt:lpstr>Investigator with an Approver: Reassign Ownership</vt:lpstr>
      <vt:lpstr>Store Case Worker – No Approver</vt:lpstr>
      <vt:lpstr>Investigator  – No Approver</vt:lpstr>
      <vt:lpstr>Case Management: Permissions </vt:lpstr>
      <vt:lpstr>Permissions</vt:lpstr>
      <vt:lpstr>Appriss Retail University </vt:lpstr>
      <vt:lpstr>PowerPoint Presentation</vt:lpstr>
      <vt:lpstr>Secure </vt:lpstr>
      <vt:lpstr>Technical Discussion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 Watson </dc:title>
  <dc:creator>Jessica Lynch</dc:creator>
  <cp:lastModifiedBy>Geoff Lyle</cp:lastModifiedBy>
  <cp:revision>17</cp:revision>
  <dcterms:created xsi:type="dcterms:W3CDTF">2019-05-07T11:28:25Z</dcterms:created>
  <dcterms:modified xsi:type="dcterms:W3CDTF">2019-08-23T07:52:28Z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0x01010063CB1BFCDB7CA74A9B70F8A408CF88C2</vt:lpwstr>
  </property>
</Properties>
</file>