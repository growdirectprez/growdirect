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0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" y="5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786C-E4A5-4C3A-8184-0610C72EC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D64D2-9054-486D-BC65-FDFDF9ECB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7715B-045E-4A7D-A4C8-BF562F512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F4E98-5082-46C0-A22C-A8DF28238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F58E1-F0DB-484C-9CAB-CB406CF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6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C040-7C0E-4DEA-98ED-E9BE9D5C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A4014-58BB-4404-89F0-D1797FFC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3E26E-760D-4DC6-A436-C5F58B6E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0C963-1B0C-4378-8954-CA130FE36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88D08-5298-4E37-951B-2E1CEADB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E4D0-EF18-45CE-BB88-3CAB143D6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648A5-A646-41C4-BEDD-A1A3DA79C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D981-5717-4ED9-863A-27215024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349D7-AB37-4EC7-97A9-EA59042F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05374-57EC-4562-9E62-E143B545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7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1CF7-EEF2-481E-8026-C421D545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2480F-037F-4B42-BB15-71C60CC48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6035C-D7A8-4758-A607-89B5CF563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3E825-E0EC-4323-AE6B-EBF07F33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A178B-E3DF-415B-AAD5-783FB4FA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5AF6F-604F-4788-A548-6EA916EF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150A-3E7D-4477-858B-3BDB2E43F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7E529-B4B3-4599-8185-5CF6444D8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EA07B-500A-439E-A284-3414FDF0E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45EA8-4E89-4267-92E9-9A60BD681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02DAA-9628-42D2-A5F9-4045F1576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39277-F0D9-4A58-991A-D1863AC5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4C4B48-4D4C-471E-BA26-D35AA14F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77BD5A-FAB6-4050-956C-79FFB0C8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5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F1CD-D5BD-42B0-899A-08D61325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142EF-8A98-4DCD-AB65-FC0A0DA5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F8E84-6C9E-40D5-AB8D-9B7708A92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70657-07F8-459A-8020-5106D1F4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2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581399-F265-42A5-942E-3378DEBC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D89B6-E383-47E9-A7C6-F4E9B779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6E22E-9932-4A36-8C9E-AAC0AC8AA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47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6B62-8BEB-447E-A048-A39F107BD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D37F7-9DC5-4233-8E79-467B989E1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CCE84-1D80-4C79-A69F-FC55EDC4B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C32F9-8083-48B1-B41E-45E175E75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C4652-CFF5-47CC-ADC7-BEE60AB5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289DC-D499-4415-96D8-EB37915D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7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23A7-E8D8-4B20-AD58-85210C1DB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83C38-63F2-4224-819B-BE8AE1E69A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7E217-6519-4C99-BE48-CB450AC0C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65A25-AFC8-46F8-B2C5-109CEDF59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268B6-1863-48B9-859B-A0D859AB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F6BD7-6A26-44F6-96F8-EC8214BE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82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184AD-0C44-4D48-A6B0-F9493121A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1DFEA-476B-48DC-A599-D443E193A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BBC72-8A05-4758-8917-358EBF6F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F6B7-A166-4177-9579-0078C4F1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BA910-1918-4664-A74E-83F73564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7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B92BA-4EC8-45EA-8E17-39350E292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919CE-43CD-4940-A384-30BE07A1B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5ECA7-4485-47AD-8F81-C68292A9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FB85D-9CBC-490E-A28B-3E4843C1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D1872-9AC1-4859-9158-FACEE9AC3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97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ext Slide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1143000"/>
          </a:xfrm>
          <a:prstGeom prst="rect">
            <a:avLst/>
          </a:prstGeom>
          <a:gradFill flip="none" rotWithShape="1">
            <a:gsLst>
              <a:gs pos="10000">
                <a:srgbClr val="AF0041"/>
              </a:gs>
              <a:gs pos="100000">
                <a:srgbClr val="FA505F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358727"/>
            <a:ext cx="7987685" cy="443198"/>
          </a:xfrm>
        </p:spPr>
        <p:txBody>
          <a:bodyPr wrap="square" lIns="0" tIns="0" rIns="0" bIns="0" anchor="ctr" anchorCtr="0">
            <a:spAutoFit/>
          </a:bodyPr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4"/>
          </p:nvPr>
        </p:nvSpPr>
        <p:spPr>
          <a:xfrm>
            <a:off x="831850" y="1501727"/>
            <a:ext cx="10521950" cy="4610142"/>
          </a:xfrm>
        </p:spPr>
        <p:txBody>
          <a:bodyPr/>
          <a:lstStyle>
            <a:lvl1pPr>
              <a:defRPr sz="2400" baseline="0">
                <a:solidFill>
                  <a:srgbClr val="231932"/>
                </a:solidFill>
              </a:defRPr>
            </a:lvl1pPr>
            <a:lvl2pPr>
              <a:defRPr sz="2000" baseline="0">
                <a:solidFill>
                  <a:srgbClr val="231932"/>
                </a:solidFill>
              </a:defRPr>
            </a:lvl2pPr>
            <a:lvl3pPr>
              <a:defRPr sz="1800" baseline="0">
                <a:solidFill>
                  <a:srgbClr val="231932"/>
                </a:solidFill>
              </a:defRPr>
            </a:lvl3pPr>
            <a:lvl4pPr>
              <a:defRPr sz="1600" baseline="0">
                <a:solidFill>
                  <a:srgbClr val="231932"/>
                </a:solidFill>
              </a:defRPr>
            </a:lvl4pPr>
            <a:lvl5pPr>
              <a:defRPr sz="1400" baseline="0">
                <a:solidFill>
                  <a:srgbClr val="231932"/>
                </a:solidFill>
              </a:defRPr>
            </a:lvl5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469353"/>
            <a:ext cx="2743200" cy="365125"/>
          </a:xfrm>
        </p:spPr>
        <p:txBody>
          <a:bodyPr/>
          <a:lstStyle>
            <a:lvl1pPr>
              <a:defRPr>
                <a:solidFill>
                  <a:srgbClr val="241E29">
                    <a:alpha val="50000"/>
                  </a:srgbClr>
                </a:solidFill>
              </a:defRPr>
            </a:lvl1pPr>
          </a:lstStyle>
          <a:p>
            <a:fld id="{7CA73DD0-19D6-424E-9AA7-4D3BC77EFA56}" type="datetime1">
              <a:rPr lang="en-US" smtClean="0"/>
              <a:t>8/23/2019</a:t>
            </a:fld>
            <a:endParaRPr lang="en-US"/>
          </a:p>
        </p:txBody>
      </p:sp>
      <p:sp>
        <p:nvSpPr>
          <p:cNvPr id="14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610600" y="6469353"/>
            <a:ext cx="2743200" cy="365125"/>
          </a:xfrm>
        </p:spPr>
        <p:txBody>
          <a:bodyPr/>
          <a:lstStyle>
            <a:lvl1pPr>
              <a:defRPr>
                <a:solidFill>
                  <a:srgbClr val="241E29">
                    <a:alpha val="50000"/>
                  </a:srgbClr>
                </a:solidFill>
              </a:defRPr>
            </a:lvl1pPr>
          </a:lstStyle>
          <a:p>
            <a:fld id="{0BF9CEBF-66DF-3848-8984-13BBF9FFC1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4038600" y="6469353"/>
            <a:ext cx="4114800" cy="365125"/>
          </a:xfrm>
        </p:spPr>
        <p:txBody>
          <a:bodyPr/>
          <a:lstStyle>
            <a:lvl1pPr>
              <a:defRPr>
                <a:solidFill>
                  <a:srgbClr val="241E29">
                    <a:alpha val="50000"/>
                  </a:srgbClr>
                </a:solidFill>
              </a:defRPr>
            </a:lvl1pPr>
          </a:lstStyle>
          <a:p>
            <a:r>
              <a:rPr lang="en-US"/>
              <a:t>©Appriss Retail.  Proprietary and Confidential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71" r="3333" b="29546"/>
          <a:stretch/>
        </p:blipFill>
        <p:spPr>
          <a:xfrm>
            <a:off x="9515857" y="364045"/>
            <a:ext cx="1837943" cy="43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45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DF931-F70F-4D6B-9408-F0FC3E03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0758D-EB82-40D7-B8BF-E77B630BB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CA3ED-6F31-4A59-9117-56EF86DCD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3C4BB-860B-4F8B-98C0-E6DAFECE9D62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97B37-F9BC-4CF9-BD75-930FD210F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53C77-6183-4249-9E62-05B2B21CB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BA160-2757-4B2B-A41B-17FCD37F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8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642213-887C-4080-BABA-93059768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Agenda: Secure Store Scoping and </a:t>
            </a:r>
            <a:r>
              <a:rPr lang="en-GB" dirty="0" err="1"/>
              <a:t>Requirments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FD44DB-6F0A-4ED5-875E-8678F93C577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08364" y="1313411"/>
            <a:ext cx="10245436" cy="510955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u="sng" dirty="0"/>
              <a:t>Tuesday September 3</a:t>
            </a:r>
            <a:r>
              <a:rPr lang="en-GB" u="sng" baseline="30000" dirty="0"/>
              <a:t>rd</a:t>
            </a:r>
            <a:br>
              <a:rPr lang="en-GB" u="sng" baseline="30000" dirty="0"/>
            </a:br>
            <a:endParaRPr lang="en-GB" u="sng" dirty="0"/>
          </a:p>
          <a:p>
            <a:pPr lvl="1"/>
            <a:r>
              <a:rPr lang="en-GB" dirty="0"/>
              <a:t>1:00  – 1:15pm:  Introductions and expectations</a:t>
            </a:r>
          </a:p>
          <a:p>
            <a:pPr lvl="1"/>
            <a:r>
              <a:rPr lang="en-GB" dirty="0"/>
              <a:t>1:15  – 2:30pm:  Secure 5.2 Demo</a:t>
            </a:r>
          </a:p>
          <a:p>
            <a:pPr lvl="1"/>
            <a:r>
              <a:rPr lang="en-GB" dirty="0"/>
              <a:t>2:30 –  4:00pm:  Secure 5.2 Workflow and Scoping</a:t>
            </a:r>
          </a:p>
          <a:p>
            <a:pPr lvl="2"/>
            <a:r>
              <a:rPr lang="en-GB" dirty="0"/>
              <a:t>High Level Data Flow discussion and scoping</a:t>
            </a:r>
          </a:p>
          <a:p>
            <a:pPr lvl="2"/>
            <a:r>
              <a:rPr lang="en-GB" dirty="0"/>
              <a:t>Point of sale data sources </a:t>
            </a:r>
          </a:p>
          <a:p>
            <a:pPr lvl="2"/>
            <a:r>
              <a:rPr lang="en-GB" dirty="0"/>
              <a:t>Reference Data</a:t>
            </a:r>
          </a:p>
          <a:p>
            <a:pPr lvl="3"/>
            <a:r>
              <a:rPr lang="en-GB" dirty="0"/>
              <a:t>Business Calendar </a:t>
            </a:r>
          </a:p>
          <a:p>
            <a:pPr lvl="3"/>
            <a:r>
              <a:rPr lang="en-GB" dirty="0"/>
              <a:t>Location Master</a:t>
            </a:r>
          </a:p>
          <a:p>
            <a:pPr lvl="3"/>
            <a:r>
              <a:rPr lang="en-GB" dirty="0"/>
              <a:t>Employee Master</a:t>
            </a:r>
          </a:p>
          <a:p>
            <a:pPr lvl="3"/>
            <a:r>
              <a:rPr lang="en-GB" dirty="0"/>
              <a:t>Product Master</a:t>
            </a:r>
          </a:p>
          <a:p>
            <a:pPr lvl="2"/>
            <a:r>
              <a:rPr lang="en-GB" dirty="0"/>
              <a:t>Hierarchy and Alignment </a:t>
            </a:r>
          </a:p>
          <a:p>
            <a:pPr lvl="2"/>
            <a:r>
              <a:rPr lang="en-GB" dirty="0"/>
              <a:t>User Groups and Data Policies </a:t>
            </a:r>
          </a:p>
          <a:p>
            <a:pPr lvl="1"/>
            <a:r>
              <a:rPr lang="en-GB" dirty="0"/>
              <a:t>4:00 – 5:00pm: Outbound Integration from Secure</a:t>
            </a:r>
          </a:p>
          <a:p>
            <a:pPr lvl="2"/>
            <a:r>
              <a:rPr lang="en-GB" dirty="0"/>
              <a:t>Case Management workflow and Archer Integration</a:t>
            </a:r>
          </a:p>
          <a:p>
            <a:pPr lvl="2"/>
            <a:r>
              <a:rPr lang="en-GB" dirty="0"/>
              <a:t>Secure logging and usage metrics outbound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u="sng" dirty="0"/>
              <a:t>Wednesday September 4</a:t>
            </a:r>
            <a:r>
              <a:rPr lang="en-GB" u="sng" baseline="30000" dirty="0"/>
              <a:t>th</a:t>
            </a:r>
            <a:br>
              <a:rPr lang="en-GB" u="sng" dirty="0"/>
            </a:br>
            <a:endParaRPr lang="en-GB" u="sng" dirty="0"/>
          </a:p>
          <a:p>
            <a:pPr lvl="1"/>
            <a:r>
              <a:rPr lang="en-GB" dirty="0"/>
              <a:t>8:30 – 3:00pm:  Deep Dive POS data specification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1026" name="Picture 2" descr="Image result for starbucks">
            <a:extLst>
              <a:ext uri="{FF2B5EF4-FFF2-40B4-BE49-F238E27FC236}">
                <a16:creationId xmlns:a16="http://schemas.microsoft.com/office/drawing/2014/main" id="{E959C331-5A7D-4F20-8E47-D349A5286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343" y="2012819"/>
            <a:ext cx="3521457" cy="356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87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70D3FA05C6B04F8967672E0E55D9BB" ma:contentTypeVersion="13" ma:contentTypeDescription="Create a new document." ma:contentTypeScope="" ma:versionID="32e87e4166b03fcdfb8dca797f12ff6c">
  <xsd:schema xmlns:xsd="http://www.w3.org/2001/XMLSchema" xmlns:xs="http://www.w3.org/2001/XMLSchema" xmlns:p="http://schemas.microsoft.com/office/2006/metadata/properties" xmlns:ns3="3b21fc70-17c6-4d6b-b0ac-807e2d1a9e70" xmlns:ns4="2d33dca9-e17b-469f-ad8e-d054f50fce8b" xmlns:ns5="8e8d9b75-bc99-48c6-9df8-760e1bbe11b9" targetNamespace="http://schemas.microsoft.com/office/2006/metadata/properties" ma:root="true" ma:fieldsID="a89a912ecf19816d1dc203a0b8656aaa" ns3:_="" ns4:_="" ns5:_="">
    <xsd:import namespace="3b21fc70-17c6-4d6b-b0ac-807e2d1a9e70"/>
    <xsd:import namespace="2d33dca9-e17b-469f-ad8e-d054f50fce8b"/>
    <xsd:import namespace="8e8d9b75-bc99-48c6-9df8-760e1bbe11b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4:MediaServiceMetadata" minOccurs="0"/>
                <xsd:element ref="ns4:MediaServiceFastMetadata" minOccurs="0"/>
                <xsd:element ref="ns5:SharedWithDetails" minOccurs="0"/>
                <xsd:element ref="ns5:SharingHintHash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fc70-17c6-4d6b-b0ac-807e2d1a9e7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33dca9-e17b-469f-ad8e-d054f50f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d9b75-bc99-48c6-9df8-760e1bbe11b9" elementFormDefault="qualified">
    <xsd:import namespace="http://schemas.microsoft.com/office/2006/documentManagement/types"/>
    <xsd:import namespace="http://schemas.microsoft.com/office/infopath/2007/PartnerControls"/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F0FC83-DE9F-4E12-96CC-BF449876ED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fc70-17c6-4d6b-b0ac-807e2d1a9e70"/>
    <ds:schemaRef ds:uri="2d33dca9-e17b-469f-ad8e-d054f50fce8b"/>
    <ds:schemaRef ds:uri="8e8d9b75-bc99-48c6-9df8-760e1bbe11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B73654-F5B4-4585-A87A-018CC6FC80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666E3F-C9B5-4343-BE72-B3F4C41CB204}">
  <ds:schemaRefs>
    <ds:schemaRef ds:uri="http://schemas.microsoft.com/office/infopath/2007/PartnerControls"/>
    <ds:schemaRef ds:uri="8e8d9b75-bc99-48c6-9df8-760e1bbe11b9"/>
    <ds:schemaRef ds:uri="http://purl.org/dc/elements/1.1/"/>
    <ds:schemaRef ds:uri="http://schemas.microsoft.com/office/2006/metadata/properties"/>
    <ds:schemaRef ds:uri="http://purl.org/dc/terms/"/>
    <ds:schemaRef ds:uri="3b21fc70-17c6-4d6b-b0ac-807e2d1a9e70"/>
    <ds:schemaRef ds:uri="http://schemas.openxmlformats.org/package/2006/metadata/core-properties"/>
    <ds:schemaRef ds:uri="http://schemas.microsoft.com/office/2006/documentManagement/types"/>
    <ds:schemaRef ds:uri="2d33dca9-e17b-469f-ad8e-d054f50fce8b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Agenda: Secure Store Scoping and Requirments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Agenda: Secure Store Scoping and Requirments</dc:title>
  <dc:creator>Geoff Lyle</dc:creator>
  <cp:lastModifiedBy>Geoff Lyle</cp:lastModifiedBy>
  <cp:revision>1</cp:revision>
  <dcterms:created xsi:type="dcterms:W3CDTF">2019-08-23T08:27:12Z</dcterms:created>
  <dcterms:modified xsi:type="dcterms:W3CDTF">2019-08-23T08:29:15Z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0x0101006070D3FA05C6B04F8967672E0E55D9BB</vt:lpwstr>
  </property>
</Properties>
</file>