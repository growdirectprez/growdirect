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83</c:v>
                </c:pt>
                <c:pt idx="2">
                  <c:v>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43</c:v>
                </c:pt>
                <c:pt idx="2">
                  <c:v>133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B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23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23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640080"/>
            <a:ext cx="2194560" cy="219456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GrowDirect DAO LLC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Loss Prevention for Small Retailers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&amp; Execution Roadmap  |  February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77440" y="4663440"/>
            <a:ext cx="1554480" cy="274320"/>
          </a:xfrm>
          <a:prstGeom prst="roundedRect">
            <a:avLst>
              <a:gd name="adj" fmla="val 26667"/>
            </a:avLst>
          </a:prstGeom>
          <a:solidFill>
            <a:srgbClr val="1A2B3D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4663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DAO LLC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69080" y="4663440"/>
            <a:ext cx="1371600" cy="274320"/>
          </a:xfrm>
          <a:prstGeom prst="roundedRect">
            <a:avLst>
              <a:gd name="adj" fmla="val 26667"/>
            </a:avLst>
          </a:prstGeom>
          <a:solidFill>
            <a:srgbClr val="1A2B3D"/>
          </a:solidFill>
          <a:ln/>
        </p:spPr>
      </p:sp>
      <p:sp>
        <p:nvSpPr>
          <p:cNvPr id="11" name="Text 8"/>
          <p:cNvSpPr/>
          <p:nvPr/>
        </p:nvSpPr>
        <p:spPr>
          <a:xfrm>
            <a:off x="406908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Treasury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77840" y="4663440"/>
            <a:ext cx="1371600" cy="274320"/>
          </a:xfrm>
          <a:prstGeom prst="roundedRect">
            <a:avLst>
              <a:gd name="adj" fmla="val 26667"/>
            </a:avLst>
          </a:prstGeom>
          <a:solidFill>
            <a:srgbClr val="1A2B3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Native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SMB retailers are flying blind on loss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20116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$112B+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retail shrinkage in the U.S.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(National Retail Federation)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4206240" cy="914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37160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087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LP tools cost $100K+/year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737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Appriss Retail, Agilence, and others serve Fortune 500. Small retailers get nothing.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2468880"/>
            <a:ext cx="4206240" cy="914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46888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6060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2560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 Square merchants have zero LP tooling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2920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abuse, void manipulation, discount fraud — they don't see it until it's too late.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missing: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analysis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tracking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abuse detection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reconciliation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benchmarking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LP, packaged for SMB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560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554480"/>
            <a:ext cx="640080" cy="640080"/>
          </a:xfrm>
          <a:prstGeom prst="oval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POS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into Square, Shopify, or Clover. Under 2 minutes. No hardware.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560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554480"/>
            <a:ext cx="640080" cy="640080"/>
          </a:xfrm>
          <a:prstGeom prst="oval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3774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 Everything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6616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refunds, voids, discounts, cash drawers — all scanned for anomalies.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78040" y="1554480"/>
            <a:ext cx="640080" cy="640080"/>
          </a:xfrm>
          <a:prstGeom prst="oval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71780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3774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Actionable Alerts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email, SMS. Weekly digests with loss exposure estimates. Signal, not noise.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and forget it. You run your store — we watch the data.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this exact product for Fortune 500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572000" cy="3200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Geoffrey C. Lyle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President, GrowDirect DAO LLC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Sysrepublic — scaled to $175M ARR serving 75+ Fortune 500 retailers. Platform became Appriss Retail (acquired).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post-acquisition integration as VP of Delivery &amp; Product Management. Directed 75-person team across three continents.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Retail Specialist at Deloitte Consulting. Advises Fortune 100 on data architecture, blockchain, and API management.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B.S. Management Information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1508760" cy="1417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0" y="2194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at Exit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78040" y="1371600"/>
            <a:ext cx="1508760" cy="1417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78040" y="1600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78040" y="2194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Clients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063240"/>
            <a:ext cx="1508760" cy="1417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0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Identified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3063240"/>
            <a:ext cx="1508760" cy="14173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78040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Retail Tech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TREASURY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capital: ~$160K in crypto assets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2860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(BTC)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93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 BTC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~$134,000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BTC → Lightning channels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BTC → Cold reserve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840480" cy="22860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Avalanche (AVAX)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 AVAX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502920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~$26,100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AVAX → Validator staking (7-9% APY)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AVAX → Liquid reserve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22960" y="3977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seed treasury: </a:t>
            </a:r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~$160,100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growdirect.io domain  •  working LP prototype  •  industry network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BTC-native revenue streams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30175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301752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Fees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755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20116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~$49/mo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~$99/mo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~$199/mo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BTC over Lightning via BTCPay Server. Zero processing fees.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1371600"/>
            <a:ext cx="2743200" cy="30175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371600"/>
            <a:ext cx="54864" cy="3017520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08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Fees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94760" y="201168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BTC deployed across 12-15 Lightning channels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0.5-1% APY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1-3% APY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2-5% APY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Self-reinforcing: our SaaS customers route through our node.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1371600"/>
            <a:ext cx="2194560" cy="301752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371600"/>
            <a:ext cx="54864" cy="30175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087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AVAX Staking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766560" y="228600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AVAX staked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7-9% APY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~$1,400/yr yield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Passive. Compounds to DAO treasury.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 to $300K+ ARR in three years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371600"/>
            <a:ext cx="2834640" cy="914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37160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444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1444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~$9K rev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719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 customers  |  Net: -$20K to +$3K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year. File DAO. Launch MVP.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2468880"/>
            <a:ext cx="2834640" cy="914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468880"/>
            <a:ext cx="54864" cy="9144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~$83K rev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2816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75-100 customers  |  Net: +$18K to +$62K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26480" y="3035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economics kick in. Add Shopify.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3566160"/>
            <a:ext cx="2834640" cy="91440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52160" y="3566160"/>
            <a:ext cx="54864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23760" y="3639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~$334K rev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0" y="39136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200-400 customers  |  Net: +$138K to +$263K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26480" y="41330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Scale. First hire. Multi-POS.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" y="4617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 Net:  </a:t>
            </a:r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$136K – $328K</a:t>
            </a:r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BTC Treasury Growth:  </a:t>
            </a:r>
            <a:pPr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 – 5.0 BTC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steps to launch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32918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Foundation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name ($50)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WY registered agent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2044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operating agreement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620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EIN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560320" y="1371600"/>
            <a:ext cx="1965960" cy="32918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2560320" y="1371600"/>
            <a:ext cx="19659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0" name="Text 13"/>
          <p:cNvSpPr/>
          <p:nvPr/>
        </p:nvSpPr>
        <p:spPr>
          <a:xfrm>
            <a:off x="256032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187452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69748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278892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92608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BTCPay Server + LND node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315468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92608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Lightning channels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7480" y="352044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292608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2,000 AVAX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480" y="38862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29260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developer account</a:t>
            </a:r>
            <a:endParaRPr lang="en-US" sz="1000" dirty="0"/>
          </a:p>
        </p:txBody>
      </p:sp>
      <p:sp>
        <p:nvSpPr>
          <p:cNvPr id="31" name="Shape 19"/>
          <p:cNvSpPr/>
          <p:nvPr/>
        </p:nvSpPr>
        <p:spPr>
          <a:xfrm>
            <a:off x="4709160" y="1371600"/>
            <a:ext cx="1965960" cy="32918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0"/>
          <p:cNvSpPr/>
          <p:nvPr/>
        </p:nvSpPr>
        <p:spPr>
          <a:xfrm>
            <a:off x="4709160" y="1371600"/>
            <a:ext cx="196596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Text 21"/>
          <p:cNvSpPr/>
          <p:nvPr/>
        </p:nvSpPr>
        <p:spPr>
          <a:xfrm>
            <a:off x="470916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4-6</a:t>
            </a:r>
            <a:endParaRPr lang="en-US" sz="10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0680" y="1874520"/>
            <a:ext cx="411480" cy="4114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84632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Filing</a:t>
            </a:r>
            <a:endParaRPr lang="en-US" sz="13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788920"/>
            <a:ext cx="182880" cy="18288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07492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DAO LLC ($100)</a:t>
            </a:r>
            <a:endParaRPr lang="en-US" sz="10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154680"/>
            <a:ext cx="182880" cy="18288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07492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smart contract ID</a:t>
            </a:r>
            <a:endParaRPr lang="en-US" sz="100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6320" y="3520440"/>
            <a:ext cx="182880" cy="18288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07492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amendment if needed</a:t>
            </a:r>
            <a:endParaRPr lang="en-US" sz="10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3886200"/>
            <a:ext cx="182880" cy="18288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0749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bank account</a:t>
            </a:r>
            <a:endParaRPr lang="en-US" sz="1000" dirty="0"/>
          </a:p>
        </p:txBody>
      </p:sp>
      <p:sp>
        <p:nvSpPr>
          <p:cNvPr id="44" name="Shape 27"/>
          <p:cNvSpPr/>
          <p:nvPr/>
        </p:nvSpPr>
        <p:spPr>
          <a:xfrm>
            <a:off x="6858000" y="1371600"/>
            <a:ext cx="1965960" cy="3291840"/>
          </a:xfrm>
          <a:prstGeom prst="rect">
            <a:avLst/>
          </a:prstGeom>
          <a:solidFill>
            <a:srgbClr val="16223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28"/>
          <p:cNvSpPr/>
          <p:nvPr/>
        </p:nvSpPr>
        <p:spPr>
          <a:xfrm>
            <a:off x="6858000" y="137160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6" name="Text 29"/>
          <p:cNvSpPr/>
          <p:nvPr/>
        </p:nvSpPr>
        <p:spPr>
          <a:xfrm>
            <a:off x="6858000" y="1554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6-12</a:t>
            </a:r>
            <a:endParaRPr lang="en-US" sz="1000" dirty="0"/>
          </a:p>
        </p:txBody>
      </p:sp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9520" y="1874520"/>
            <a:ext cx="411480" cy="411480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6995160" y="2377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Beta</a:t>
            </a:r>
            <a:endParaRPr lang="en-US" sz="1300" dirty="0"/>
          </a:p>
        </p:txBody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95160" y="2788920"/>
            <a:ext cx="182880" cy="182880"/>
          </a:xfrm>
          <a:prstGeom prst="rect">
            <a:avLst/>
          </a:prstGeom>
        </p:spPr>
      </p:pic>
      <p:sp>
        <p:nvSpPr>
          <p:cNvPr id="50" name="Text 31"/>
          <p:cNvSpPr/>
          <p:nvPr/>
        </p:nvSpPr>
        <p:spPr>
          <a:xfrm>
            <a:off x="72237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Square API</a:t>
            </a:r>
            <a:endParaRPr lang="en-US" sz="1000" dirty="0"/>
          </a:p>
        </p:txBody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95160" y="3154680"/>
            <a:ext cx="182880" cy="182880"/>
          </a:xfrm>
          <a:prstGeom prst="rect">
            <a:avLst/>
          </a:prstGeom>
        </p:spPr>
      </p:pic>
      <p:sp>
        <p:nvSpPr>
          <p:cNvPr id="52" name="Text 32"/>
          <p:cNvSpPr/>
          <p:nvPr/>
        </p:nvSpPr>
        <p:spPr>
          <a:xfrm>
            <a:off x="722376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 data pipeline</a:t>
            </a:r>
            <a:endParaRPr lang="en-US" sz="1000" dirty="0"/>
          </a:p>
        </p:txBody>
      </p:sp>
      <p:pic>
        <p:nvPicPr>
          <p:cNvPr id="5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95160" y="3520440"/>
            <a:ext cx="182880" cy="182880"/>
          </a:xfrm>
          <a:prstGeom prst="rect">
            <a:avLst/>
          </a:prstGeom>
        </p:spPr>
      </p:pic>
      <p:sp>
        <p:nvSpPr>
          <p:cNvPr id="54" name="Text 33"/>
          <p:cNvSpPr/>
          <p:nvPr/>
        </p:nvSpPr>
        <p:spPr>
          <a:xfrm>
            <a:off x="7223760" y="3474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3-5 pilot retailers</a:t>
            </a:r>
            <a:endParaRPr lang="en-US" sz="100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5160" y="3886200"/>
            <a:ext cx="182880" cy="182880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722376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detection rules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365760"/>
            <a:ext cx="1645920" cy="16459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GrowDirect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built this exact product at $175M ARR scale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2724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860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BTC-native: revenue, treasury, and payments in Bitcoin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51129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86000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Wyoming DAO LLC: compliant crypto-native structure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895344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286000" y="38953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$150/mo infrastructure — no VC needed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279392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28600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4M+ Square merchants can now accept Lightning — perfect timing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gclyle@growdirect.io  |  growdirect.io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GrowDirect DAO LLC — Business Plan</dc:title>
  <dc:subject>PptxGenJS Presentation</dc:subject>
  <dc:creator>Geoffrey C. Lyle</dc:creator>
  <cp:lastModifiedBy>Geoffrey C. Lyle</cp:lastModifiedBy>
  <cp:revision>1</cp:revision>
  <dcterms:created xsi:type="dcterms:W3CDTF">2026-02-12T22:45:56Z</dcterms:created>
  <dcterms:modified xsi:type="dcterms:W3CDTF">2026-02-12T22:45:56Z</dcterms:modified>
</cp:coreProperties>
</file>