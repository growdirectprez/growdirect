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1A2744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0"/>
            <a:ext cx="2286000" cy="2286000"/>
          </a:xfrm>
          <a:prstGeom prst="ellipse">
            <a:avLst/>
          </a:prstGeom>
          <a:solidFill>
            <a:srgbClr val="2A4365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457200"/>
            <a:ext cx="1097280" cy="1097280"/>
          </a:xfrm>
          <a:prstGeom prst="ellipse">
            <a:avLst/>
          </a:prstGeom>
          <a:solidFill>
            <a:srgbClr val="F6AD55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0" y="4572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F1B2D"/>
                </a:solidFill>
              </a:rPr>
              <a:t>⚠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5486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CANARY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Early Warning System for Retail Threats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2743200" cy="45720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A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Like canaries in coal mines, </a:t>
            </a:r>
            <a:pPr indent="0" marL="0">
              <a:buNone/>
            </a:pPr>
            <a:r>
              <a:rPr lang="en-US" sz="1500" b="1" dirty="0">
                <a:solidFill>
                  <a:srgbClr val="F6E0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Canary detects danger early.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AI-powered loss prevention and fraud detection built for the 3.6 million SMB retailers on Square POS who have never had access to enterprise-grade tools.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429000"/>
            <a:ext cx="237744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3429000"/>
            <a:ext cx="54864" cy="11887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$112B+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6868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US Retail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Shrinkage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383280" y="3429000"/>
            <a:ext cx="237744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83280" y="3429000"/>
            <a:ext cx="54864" cy="11887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7" name="Text 15"/>
          <p:cNvSpPr/>
          <p:nvPr/>
        </p:nvSpPr>
        <p:spPr>
          <a:xfrm>
            <a:off x="361188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68%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61188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Shrink Rate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SMBs vs Enterprise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3429000"/>
            <a:ext cx="2377440" cy="11887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26480" y="3429000"/>
            <a:ext cx="54864" cy="1188720"/>
          </a:xfrm>
          <a:prstGeom prst="rect">
            <a:avLst/>
          </a:prstGeom>
          <a:solidFill>
            <a:srgbClr val="38A16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35661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$49/mo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55080" y="4069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 LP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Price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DAO LLC  |  growdirect.io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HOW CANARY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Square POS to Actionable Alerts in Minutes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280160"/>
            <a:ext cx="1828800" cy="64008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7" name="Shape 5"/>
          <p:cNvSpPr/>
          <p:nvPr/>
        </p:nvSpPr>
        <p:spPr>
          <a:xfrm>
            <a:off x="1280160" y="1463040"/>
            <a:ext cx="548640" cy="548640"/>
          </a:xfrm>
          <a:prstGeom prst="ellipse">
            <a:avLst/>
          </a:prstGeom>
          <a:solidFill>
            <a:srgbClr val="319795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CONNECT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7240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OAuth to your Square POS. No hardware, no IT team. Setup in under 5 minutes.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87168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D55"/>
                </a:solidFill>
              </a:rPr>
              <a:t>▶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788920" y="128016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88920" y="1280160"/>
            <a:ext cx="1828800" cy="64008"/>
          </a:xfrm>
          <a:prstGeom prst="rect">
            <a:avLst/>
          </a:prstGeom>
          <a:solidFill>
            <a:srgbClr val="2A4365"/>
          </a:solidFill>
          <a:ln/>
        </p:spPr>
      </p:sp>
      <p:sp>
        <p:nvSpPr>
          <p:cNvPr id="14" name="Shape 12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2A4365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92608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INGEST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926080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Canary pulls transaction data via Square APIs: payments, refunds, voids, discounts, employees.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6008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D55"/>
                </a:solidFill>
              </a:rPr>
              <a:t>▶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128016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1280160"/>
            <a:ext cx="1828800" cy="64008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0" y="1463040"/>
            <a:ext cx="548640" cy="548640"/>
          </a:xfrm>
          <a:prstGeom prst="ellipse">
            <a:avLst/>
          </a:prstGeom>
          <a:solidFill>
            <a:srgbClr val="1A2744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7492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ANALYZE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074920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proprietary risk metrics score every transaction across 5 threat domains using Poisson models.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84848" y="21945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6AD55"/>
                </a:solidFill>
              </a:rPr>
              <a:t>▶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086600" y="1280160"/>
            <a:ext cx="18288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086600" y="1280160"/>
            <a:ext cx="1828800" cy="64008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28" name="Shape 26"/>
          <p:cNvSpPr/>
          <p:nvPr/>
        </p:nvSpPr>
        <p:spPr>
          <a:xfrm>
            <a:off x="7726680" y="1463040"/>
            <a:ext cx="548640" cy="548640"/>
          </a:xfrm>
          <a:prstGeom prst="ellipse">
            <a:avLst/>
          </a:prstGeom>
          <a:solidFill>
            <a:srgbClr val="ED8936"/>
          </a:solidFill>
          <a:ln/>
        </p:spPr>
      </p:sp>
      <p:sp>
        <p:nvSpPr>
          <p:cNvPr id="29" name="Text 27"/>
          <p:cNvSpPr/>
          <p:nvPr/>
        </p:nvSpPr>
        <p:spPr>
          <a:xfrm>
            <a:off x="77266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223760" y="219456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ALERT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23760" y="25603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alerts via dashboard, email, SMS. KAP risk scores (0-100) for employees and stores.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" y="38404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 THREAT DETECTION DOMAINS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0080" y="4160520"/>
            <a:ext cx="1536192" cy="5029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1605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Abuse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286000" y="4160520"/>
            <a:ext cx="1536192" cy="5029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0" y="41605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Void Monitoring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931920" y="4160520"/>
            <a:ext cx="1536192" cy="50292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8" name="Text 36"/>
          <p:cNvSpPr/>
          <p:nvPr/>
        </p:nvSpPr>
        <p:spPr>
          <a:xfrm>
            <a:off x="3931920" y="41605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Fraud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4160520"/>
            <a:ext cx="1536192" cy="502920"/>
          </a:xfrm>
          <a:prstGeom prst="rect">
            <a:avLst/>
          </a:prstGeom>
          <a:solidFill>
            <a:srgbClr val="2A4365"/>
          </a:solidFill>
          <a:ln/>
        </p:spPr>
      </p:sp>
      <p:sp>
        <p:nvSpPr>
          <p:cNvPr id="40" name="Text 38"/>
          <p:cNvSpPr/>
          <p:nvPr/>
        </p:nvSpPr>
        <p:spPr>
          <a:xfrm>
            <a:off x="5577840" y="41605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Variance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23760" y="4160520"/>
            <a:ext cx="1536192" cy="50292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42" name="Text 40"/>
          <p:cNvSpPr/>
          <p:nvPr/>
        </p:nvSpPr>
        <p:spPr>
          <a:xfrm>
            <a:off x="7223760" y="4160520"/>
            <a:ext cx="15361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 Risk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" y="48006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DAO LLC  |  growdirect.io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CANARY IS FOR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Giving Small Retailers Enterprise-Grade Protection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286000" cy="36576"/>
          </a:xfrm>
          <a:prstGeom prst="rect">
            <a:avLst/>
          </a:prstGeom>
          <a:solidFill>
            <a:srgbClr val="F6AD55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554480"/>
            <a:ext cx="4389120" cy="9601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54480"/>
            <a:ext cx="54864" cy="960120"/>
          </a:xfrm>
          <a:prstGeom prst="rect">
            <a:avLst/>
          </a:prstGeom>
          <a:solidFill>
            <a:srgbClr val="E53E3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45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Detect Refund Fraud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96596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employees gaming the refund system before losses mount. Poisson-based frequency analysis flags anomalies.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4389120" cy="9601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651760"/>
            <a:ext cx="54864" cy="960120"/>
          </a:xfrm>
          <a:prstGeom prst="rect">
            <a:avLst/>
          </a:prstGeom>
          <a:solidFill>
            <a:srgbClr val="ED893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7432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Prevent Shrinkage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30632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27+ risk metrics catch theft, errors, and operational waste across 5 threat domains in real-time.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4389120" cy="96012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3749040"/>
            <a:ext cx="54864" cy="960120"/>
          </a:xfrm>
          <a:prstGeom prst="rect">
            <a:avLst/>
          </a:prstGeom>
          <a:solidFill>
            <a:srgbClr val="319795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840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Benchmark Employees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1440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 scores (0-100) rank every team member against statistical peers. Objective, data-driven oversight.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303520" y="1554480"/>
            <a:ext cx="3383280" cy="182880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6916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A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IT'S FOR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01168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grocers &amp; specialty shops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1–10 locations on Square POS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$500K–$10M annual revenue per store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shrink, zero LP tools today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03520" y="3566160"/>
            <a:ext cx="3383280" cy="1417320"/>
          </a:xfrm>
          <a:prstGeom prst="rect">
            <a:avLst/>
          </a:prstGeom>
          <a:solidFill>
            <a:srgbClr val="2A436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48640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6AD5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ROI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6E0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10:1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858000" y="3840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BD5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43891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grocer loses $60K/yr to shrink. At $99/mo, Canary pays for itself 10x over.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466344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GrowDirect DAO LLC  |  growdirect.io  |  Built on 25 Years of Fortune 500 Retail IP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Canary: Early Warning for Retail</dc:title>
  <dc:subject>PptxGenJS Presentation</dc:subject>
  <dc:creator>Tom — Retail Systems Architect</dc:creator>
  <cp:lastModifiedBy>Tom — Retail Systems Architect</cp:lastModifiedBy>
  <cp:revision>1</cp:revision>
  <dcterms:created xsi:type="dcterms:W3CDTF">2026-02-14T20:40:44Z</dcterms:created>
  <dcterms:modified xsi:type="dcterms:W3CDTF">2026-02-14T20:40:44Z</dcterms:modified>
</cp:coreProperties>
</file>