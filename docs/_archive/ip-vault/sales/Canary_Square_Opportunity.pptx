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
<Relationships xmlns="http://schemas.openxmlformats.org/package/2006/relationships">
  
		
  <Relationship Id="rId1" Type="http://schemas.openxmlformats.org/officeDocument/2006/relationships/extended-properties" Target="docProps/app.xml"/>
  
		
  <Relationship Id="rId2" Type="http://schemas.openxmlformats.org/package/2006/relationships/metadata/core-properties" Target="docProps/core.xml"/>
  
		
  <Relationship Id="rId3" Type="http://schemas.openxmlformats.org/officeDocument/2006/relationships/officeDocument" Target="ppt/presentation.xml"/>
  
		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5"/>
    <p:sldId id="258" r:id="rId4"/>
    <p:sldId id="263" r:id="rId14"/>
    <p:sldId id="264" r:id="rId16"/>
    <p:sldId id="265" r:id="rId17"/>
    <p:sldId id="266" r:id="rId18"/>
    <p:sldId id="267" r:id="rId19"/>
    <p:sldId id="268" r:id="rId20"/>
    <p:sldId id="269" r:id="rId15"/>
    <p:sldId id="270" r:id="rId22"/>
    <p:sldId id="271" r:id="rId23"/>
    <p:sldId id="272" r:id="rId24"/>
    <p:sldId id="273" r:id="rId25"/>
    <p:sldId id="274" r:id="rId26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
  
  <Relationship Id="rId8" Type="http://schemas.openxmlformats.org/officeDocument/2006/relationships/slide" Target="slides/slide7.xml"/>
  <Relationship Id="rId9" Type="http://schemas.openxmlformats.org/officeDocument/2006/relationships/notesMaster" Target="notesMasters/notesMaster1.xml"/>
  <Relationship Id="rId10" Type="http://schemas.openxmlformats.org/officeDocument/2006/relationships/presProps" Target="presProps.xml"/>
  <Relationship Id="rId11" Type="http://schemas.openxmlformats.org/officeDocument/2006/relationships/viewProps" Target="viewProps.xml"/>
  <Relationship Id="rId12" Type="http://schemas.openxmlformats.org/officeDocument/2006/relationships/theme" Target="theme/theme1.xml"/>
  <Relationship Id="rId13" Type="http://schemas.openxmlformats.org/officeDocument/2006/relationships/tableStyles" Target="tableStyles.xml"/>
  <Relationship Id="rId14" Type="http://schemas.openxmlformats.org/officeDocument/2006/relationships/slide" Target="slides/slide8.xml"/>
  <Relationship Id="rId15" Type="http://schemas.openxmlformats.org/officeDocument/2006/relationships/slide" Target="slides/slide9.xml"/>
  <Relationship Id="rId16" Type="http://schemas.openxmlformats.org/officeDocument/2006/relationships/slide" Target="slides/slide10.xml"/>
  <Relationship Id="rId17" Type="http://schemas.openxmlformats.org/officeDocument/2006/relationships/slide" Target="slides/slide11.xml"/>
  <Relationship Id="rId18" Type="http://schemas.openxmlformats.org/officeDocument/2006/relationships/slide" Target="slides/slide12.xml"/>
  <Relationship Id="rId19" Type="http://schemas.openxmlformats.org/officeDocument/2006/relationships/slide" Target="slides/slide13.xml"/>
  <Relationship Id="rId20" Type="http://schemas.openxmlformats.org/officeDocument/2006/relationships/slide" Target="slides/slide14.xml"/>
  
  <Relationship Id="rId22" Type="http://schemas.openxmlformats.org/officeDocument/2006/relationships/slide" Target="slides/slide15.xml"/>
  <Relationship Id="rId23" Type="http://schemas.openxmlformats.org/officeDocument/2006/relationships/slide" Target="slides/slide16.xml"/>
  <Relationship Id="rId24" Type="http://schemas.openxmlformats.org/officeDocument/2006/relationships/slide" Target="slides/slide17.xml"/>
  <Relationship Id="rId25" Type="http://schemas.openxmlformats.org/officeDocument/2006/relationships/slide" Target="slides/slide18.xml"/>
  <Relationship Id="rId26" Type="http://schemas.openxmlformats.org/officeDocument/2006/relationships/slide" Target="slides/slide19.xml"/>
</Relationships>
</file>

<file path=ppt/notesMasters/_rels/notesMaster1.xml.rels><?xml version="1.0" encoding="utf-8"?>
<Relationships xmlns="http://schemas.openxmlformats.org/package/2006/relationships">
  
		
  <Relationship Id="rId1" Type="http://schemas.openxmlformats.org/officeDocument/2006/relationships/theme" Target="../theme/theme1.xml"/>
  
		
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.xml"/>
  
		
</Relationships>

</file>

<file path=ppt/notesSlides/_rels/notesSlide2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2.xml"/>
  
		
</Relationships>

</file>

<file path=ppt/notesSlides/_rels/notesSlide3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3.xml"/>
  
		
</Relationships>

</file>

<file path=ppt/notesSlides/_rels/notesSlide4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4.xml"/>
  
		
</Relationships>

</file>

<file path=ppt/notesSlides/_rels/notesSlide7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7.xml"/>
  
		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
</file>

<file path=ppt/slides/_rels/slide2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
</file>

<file path=ppt/slides/_rels/slide3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
</file>

<file path=ppt/slides/_rels/slide4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
</file>

<file path=ppt/slides/_rels/slide7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
</file>

<file path=ppt/slides/_rels/slide8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2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3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4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5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spc="12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8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LP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331720"/>
            <a:ext cx="1828800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6517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Market Opportunity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Loss Prevention for 4M+ Merchants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  |  CEO Briefing  |  Confidential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BBF2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2011680"/>
            <a:ext cx="1371600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$132B annual retail shrinkage. 4M Square merchants. Zero LP tools on the marketplace.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Product-Market Fit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6576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Canary Detects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92024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refund fraud, void/cancel abuse, discount manipulation, cash handling anomalies, and after-hours activity. Bayesian adaptive baselines calibrated per merchant replace static thresholds.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detection domains, 27+ risk metrics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 scoring across employees, consumers, locations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Self-calibrating: no manual tuning required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6576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Square First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92024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4M active merchants, 80-90% single-location SMBs. Restaurants (30-40%), Retail (25-35%), Beauty (10-15%). No competing LP app on the Square Marketplace today. OAuth read-only integration: zero friction to onboard.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4754880"/>
            <a:ext cx="768096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8006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2377440" cy="256032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237744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4M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Merchants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1188720"/>
            <a:ext cx="2377440" cy="256032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0" y="1188720"/>
            <a:ext cx="23774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645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$132B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474720" y="2743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Shrinkage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188720"/>
            <a:ext cx="2377440" cy="256032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188720"/>
            <a:ext cx="237744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645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$4.7B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217920" y="2743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POS TAM 2026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GPV growing 12% YoY. Mid-market sellers (&gt;$125K GPV) growing 20% YoY. Zero loss prevention apps in the marketplace.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10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148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6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LP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86200" y="2788920"/>
            <a:ext cx="1371600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it.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canary@growdirect.com  |  Confidential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BBF24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2011680"/>
            <a:ext cx="1371600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is live. RefundRadar engine running. Dashboard deployed. All 8 known bugs resolved.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2377440" cy="256032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237744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$15K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Marketplace Launch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1188720"/>
            <a:ext cx="2377440" cy="256032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0" y="1188720"/>
            <a:ext cx="23774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645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474720" y="2743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188720"/>
            <a:ext cx="2377440" cy="256032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188720"/>
            <a:ext cx="237744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645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217920" y="2743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 to Break Even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$160K BTC treasury = 8-12 year runway. 200 merchants at $99/mo = $19,800/mo recurring (0.2 BTC). Network effect compounds with every new merchant.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Status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6576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Built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92024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refund scanning via Square webhooks. Responsive Tailwind dashboard with natural language query. Receipt detail viewer. SSE-powered live alerts. Running against Square Sandbox environment.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SQLite (migrating to PostgreSQL)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with read-only scopes implemented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PhD-validated quantitative framework ready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6576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Next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92024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 on Railway ($17-32/mo). Bayesian RefundRadar upgrade (scipy). PostgreSQL migration + Redis cache. Webhook signature verification. 5 beta merchants for Square certification gate. BTCPay Lightning billing integration.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4754880"/>
            <a:ext cx="768096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8006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2011680"/>
            <a:ext cx="1371600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phases. Pre-Alpha to Marketplace Launch in 9 months. $15K total capital to launch.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to Marketplace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6576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92024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Pre-Alpha (Now-Mar 2026): Bayesian engine, PostgreSQL, KAP scoring, legal docs. Alpha (Apr-Jun 2026): 5 beta merchants, webhook hardening, demo video. Beta (Jul-Sep 2026): Square Marketplace submission, XGBoost classifier, BTCPay live.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(Oct-Dec 2026): Marketplace live, 200 merchants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(2027): Federated learning, 500+ merchants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at just 15 paying merchants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6576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Focus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92024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target: Restaurants and retail (65% of Square base). Single-location merchants first: lowest friction, highest pain. Organic discovery via Square Marketplace: CAC under $200. Network effect moat: every merchant makes detection smarter for all. First-mover advantage: no LP app exists on Square today.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4754880"/>
            <a:ext cx="768096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8006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2011680"/>
            <a:ext cx="1371600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LP tools exist but none serve SMBs through POS marketplaces. We own the gap.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Analysis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6576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Incumbents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92024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Appriss Retail (now Sysrepublic): Enterprise EBR, $50K+ annual contracts, 6-month deployments. Requires dedicated LP teams. Agilence: Cloud analytics for mid-to-large retailers, $25K+/year minimum. Not available on POS marketplaces.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legacy tools require 50+ locations to justify ROI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integrate natively with Square, Shopify, or Clover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marketplace-native LP apps exist today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6576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Advantage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92024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Marketplace-native: install in 2 clicks, no IT team needed. $49-199/mo vs $25K-50K/yr enterprise pricing. Adaptive Bayesian detection vs static enterprise rules. Network intelligence: cross-merchant anonymized benchmarks. Bitcoin-native billing: zero payment processing fees. First and only LP app on Square Marketplace.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4754880"/>
            <a:ext cx="768096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8006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2011680"/>
            <a:ext cx="1371600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" name="Number"/>
          <p:cNvSpPr/>
          <p:nvPr/>
        </p:nvSpPr>
        <p:spPr>
          <a:xfrm>
            <a:off x="731520" y="1188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600" dirty="0"/>
          </a:p>
        </p:txBody>
      </p:sp>
      <p:sp>
        <p:nvSpPr>
          <p:cNvPr id="5" name="Title"/>
          <p:cNvSpPr/>
          <p:nvPr/>
        </p:nvSpPr>
        <p:spPr>
          <a:xfrm>
            <a:off x="731520" y="22860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 Roadshow</a:t>
            </a:r>
            <a:endParaRPr lang="en-US" sz="3600" dirty="0"/>
          </a:p>
        </p:txBody>
      </p:sp>
      <p:sp>
        <p:nvSpPr>
          <p:cNvPr id="6" name="Desc"/>
          <p:cNvSpPr/>
          <p:nvPr/>
        </p:nvSpPr>
        <p:spPr>
          <a:xfrm>
            <a:off x="731520" y="32004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events in 2026. LP, retail tech, and SMB commerce. Build pipeline face-to-face.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Title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Conference Calendar</a:t>
            </a:r>
            <a:endParaRPr lang="en-US" sz="2400" dirty="0"/>
          </a:p>
        </p:txBody>
      </p:sp>
      <p:sp>
        <p:nvSpPr>
          <p:cNvPr id="4" name="DateLabel"/>
          <p:cNvSpPr/>
          <p:nvPr/>
        </p:nvSpPr>
        <p:spPr>
          <a:xfrm>
            <a:off x="731520" y="900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00" dirty="0"/>
          </a:p>
        </p:txBody>
      </p:sp>
      <p:sp>
        <p:nvSpPr>
          <p:cNvPr id="5" name="EventLabel"/>
          <p:cNvSpPr/>
          <p:nvPr/>
        </p:nvSpPr>
        <p:spPr>
          <a:xfrm>
            <a:off x="3017520" y="900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900" dirty="0"/>
          </a:p>
        </p:txBody>
      </p:sp>
      <p:sp>
        <p:nvSpPr>
          <p:cNvPr id="6" name="DetailLabel"/>
          <p:cNvSpPr/>
          <p:nvPr/>
        </p:nvSpPr>
        <p:spPr>
          <a:xfrm>
            <a:off x="5760720" y="900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/ FOCUS</a:t>
            </a:r>
            <a:endParaRPr lang="en-US" sz="900" dirty="0"/>
          </a:p>
        </p:txBody>
      </p:sp>
      <p:sp>
        <p:nvSpPr>
          <p:cNvPr id="7" name="Sep"/>
          <p:cNvSpPr/>
          <p:nvPr/>
        </p:nvSpPr>
        <p:spPr>
          <a:xfrm>
            <a:off x="731520" y="1188720"/>
            <a:ext cx="768096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8" name="Date 8"/>
          <p:cNvSpPr/>
          <p:nvPr/>
        </p:nvSpPr>
        <p:spPr>
          <a:xfrm>
            <a:off x="731520" y="1280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</a:rPr>
              <a:t>Jan 11-13</a:t>
            </a:r>
          </a:p>
        </p:txBody>
      </p:sp>
      <p:sp>
        <p:nvSpPr>
          <p:cNvPr id="9" name="Event 9"/>
          <p:cNvSpPr/>
          <p:nvPr/>
        </p:nvSpPr>
        <p:spPr>
          <a:xfrm>
            <a:off x="3017520" y="1280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NRF Big Show 2026</a:t>
            </a:r>
          </a:p>
        </p:txBody>
      </p:sp>
      <p:sp>
        <p:nvSpPr>
          <p:cNvPr id="10" name="Details 10"/>
          <p:cNvSpPr/>
          <p:nvPr/>
        </p:nvSpPr>
        <p:spPr>
          <a:xfrm>
            <a:off x="5760720" y="1280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</a:rPr>
              <a:t>NYC  |  Retail tech ecosystem</a:t>
            </a:r>
          </a:p>
        </p:txBody>
      </p:sp>
      <p:sp>
        <p:nvSpPr>
          <p:cNvPr id="11" name="Sep"/>
          <p:cNvSpPr/>
          <p:nvPr/>
        </p:nvSpPr>
        <p:spPr>
          <a:xfrm>
            <a:off x="731520" y="1620000"/>
            <a:ext cx="768096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12" name="Date 12"/>
          <p:cNvSpPr/>
          <p:nvPr/>
        </p:nvSpPr>
        <p:spPr>
          <a:xfrm>
            <a:off x="731520" y="1650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</a:rPr>
              <a:t>Apr 19-22</a:t>
            </a:r>
          </a:p>
        </p:txBody>
      </p:sp>
      <p:sp>
        <p:nvSpPr>
          <p:cNvPr id="13" name="Event 13"/>
          <p:cNvSpPr/>
          <p:nvPr/>
        </p:nvSpPr>
        <p:spPr>
          <a:xfrm>
            <a:off x="3017520" y="1650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RILA Asset Protection</a:t>
            </a:r>
          </a:p>
        </p:txBody>
      </p:sp>
      <p:sp>
        <p:nvSpPr>
          <p:cNvPr id="14" name="Details 14"/>
          <p:cNvSpPr/>
          <p:nvPr/>
        </p:nvSpPr>
        <p:spPr>
          <a:xfrm>
            <a:off x="5760720" y="1650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</a:rPr>
              <a:t>TBD  |  LP + shrinkage leaders</a:t>
            </a:r>
          </a:p>
        </p:txBody>
      </p:sp>
      <p:sp>
        <p:nvSpPr>
          <p:cNvPr id="15" name="Sep"/>
          <p:cNvSpPr/>
          <p:nvPr/>
        </p:nvSpPr>
        <p:spPr>
          <a:xfrm>
            <a:off x="731520" y="1990000"/>
            <a:ext cx="768096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16" name="Date 16"/>
          <p:cNvSpPr/>
          <p:nvPr/>
        </p:nvSpPr>
        <p:spPr>
          <a:xfrm>
            <a:off x="731520" y="2020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</a:rPr>
              <a:t>Jun 8-10</a:t>
            </a:r>
          </a:p>
        </p:txBody>
      </p:sp>
      <p:sp>
        <p:nvSpPr>
          <p:cNvPr id="17" name="Event 17"/>
          <p:cNvSpPr/>
          <p:nvPr/>
        </p:nvSpPr>
        <p:spPr>
          <a:xfrm>
            <a:off x="3017520" y="2020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NRF PROTECT 2026</a:t>
            </a:r>
          </a:p>
        </p:txBody>
      </p:sp>
      <p:sp>
        <p:nvSpPr>
          <p:cNvPr id="18" name="Details 18"/>
          <p:cNvSpPr/>
          <p:nvPr/>
        </p:nvSpPr>
        <p:spPr>
          <a:xfrm>
            <a:off x="5760720" y="2020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</a:rPr>
              <a:t>Grapevine, TX  |  LP decision-makers</a:t>
            </a:r>
          </a:p>
        </p:txBody>
      </p:sp>
      <p:sp>
        <p:nvSpPr>
          <p:cNvPr id="19" name="Sep"/>
          <p:cNvSpPr/>
          <p:nvPr/>
        </p:nvSpPr>
        <p:spPr>
          <a:xfrm>
            <a:off x="731520" y="2360000"/>
            <a:ext cx="768096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20" name="Date 20"/>
          <p:cNvSpPr/>
          <p:nvPr/>
        </p:nvSpPr>
        <p:spPr>
          <a:xfrm>
            <a:off x="731520" y="2390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</a:rPr>
              <a:t>Jun 23-24</a:t>
            </a:r>
          </a:p>
        </p:txBody>
      </p:sp>
      <p:sp>
        <p:nvSpPr>
          <p:cNvPr id="21" name="Event 21"/>
          <p:cNvSpPr/>
          <p:nvPr/>
        </p:nvSpPr>
        <p:spPr>
          <a:xfrm>
            <a:off x="3017520" y="2390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CommerceNext GrowthShow</a:t>
            </a:r>
          </a:p>
        </p:txBody>
      </p:sp>
      <p:sp>
        <p:nvSpPr>
          <p:cNvPr id="22" name="Details 22"/>
          <p:cNvSpPr/>
          <p:nvPr/>
        </p:nvSpPr>
        <p:spPr>
          <a:xfrm>
            <a:off x="5760720" y="2390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</a:rPr>
              <a:t>NYC  |  eCommerce + retail growth</a:t>
            </a:r>
          </a:p>
        </p:txBody>
      </p:sp>
      <p:sp>
        <p:nvSpPr>
          <p:cNvPr id="23" name="Sep"/>
          <p:cNvSpPr/>
          <p:nvPr/>
        </p:nvSpPr>
        <p:spPr>
          <a:xfrm>
            <a:off x="731520" y="2730000"/>
            <a:ext cx="768096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24" name="Date 24"/>
          <p:cNvSpPr/>
          <p:nvPr/>
        </p:nvSpPr>
        <p:spPr>
          <a:xfrm>
            <a:off x="731520" y="2760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</a:rPr>
              <a:t>Sep 14-16</a:t>
            </a:r>
          </a:p>
        </p:txBody>
      </p:sp>
      <p:sp>
        <p:nvSpPr>
          <p:cNvPr id="25" name="Event 25"/>
          <p:cNvSpPr/>
          <p:nvPr/>
        </p:nvSpPr>
        <p:spPr>
          <a:xfrm>
            <a:off x="3017520" y="2760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Shoptalk Fall 2026</a:t>
            </a:r>
          </a:p>
        </p:txBody>
      </p:sp>
      <p:sp>
        <p:nvSpPr>
          <p:cNvPr id="26" name="Details 26"/>
          <p:cNvSpPr/>
          <p:nvPr/>
        </p:nvSpPr>
        <p:spPr>
          <a:xfrm>
            <a:off x="5760720" y="2760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</a:rPr>
              <a:t>Nashville  |  Retail innovation</a:t>
            </a:r>
          </a:p>
        </p:txBody>
      </p:sp>
      <p:sp>
        <p:nvSpPr>
          <p:cNvPr id="27" name="Sep"/>
          <p:cNvSpPr/>
          <p:nvPr/>
        </p:nvSpPr>
        <p:spPr>
          <a:xfrm>
            <a:off x="731520" y="3100000"/>
            <a:ext cx="768096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28" name="Date 28"/>
          <p:cNvSpPr/>
          <p:nvPr/>
        </p:nvSpPr>
        <p:spPr>
          <a:xfrm>
            <a:off x="731520" y="3130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</a:rPr>
              <a:t>Oct (TBD)</a:t>
            </a:r>
          </a:p>
        </p:txBody>
      </p:sp>
      <p:sp>
        <p:nvSpPr>
          <p:cNvPr id="29" name="Event 29"/>
          <p:cNvSpPr/>
          <p:nvPr/>
        </p:nvSpPr>
        <p:spPr>
          <a:xfrm>
            <a:off x="3017520" y="3130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Money 20/20 USA</a:t>
            </a:r>
          </a:p>
        </p:txBody>
      </p:sp>
      <p:sp>
        <p:nvSpPr>
          <p:cNvPr id="30" name="Details 30"/>
          <p:cNvSpPr/>
          <p:nvPr/>
        </p:nvSpPr>
        <p:spPr>
          <a:xfrm>
            <a:off x="5760720" y="3130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</a:rPr>
              <a:t>Las Vegas  |  Payments + fintech</a:t>
            </a:r>
          </a:p>
        </p:txBody>
      </p:sp>
      <p:sp>
        <p:nvSpPr>
          <p:cNvPr id="31" name="Strategy"/>
          <p:cNvSpPr/>
          <p:nvPr/>
        </p:nvSpPr>
        <p:spPr>
          <a:xfrm>
            <a:off x="731520" y="4400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targets: RILA AP + NRF PROTECT (LP buyers). Booth not required — demo from tablet + swag.</a:t>
            </a:r>
            <a:endParaRPr lang="en-US" sz="1000" dirty="0"/>
          </a:p>
        </p:txBody>
      </p:sp>
      <p:sp>
        <p:nvSpPr>
          <p:cNvPr id="32" name="Footer Line"/>
          <p:cNvSpPr/>
          <p:nvPr/>
        </p:nvSpPr>
        <p:spPr>
          <a:xfrm>
            <a:off x="731520" y="4754880"/>
            <a:ext cx="768096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33" name="Footer Text"/>
          <p:cNvSpPr/>
          <p:nvPr/>
        </p:nvSpPr>
        <p:spPr>
          <a:xfrm>
            <a:off x="731520" y="48006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Title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 Concepts</a:t>
            </a:r>
            <a:endParaRPr lang="en-US" sz="2400" dirty="0"/>
          </a:p>
        </p:txBody>
      </p:sp>
      <p:sp>
        <p:nvSpPr>
          <p:cNvPr id="4" name="Card 4"/>
          <p:cNvSpPr/>
          <p:nvPr/>
        </p:nvSpPr>
        <p:spPr>
          <a:xfrm>
            <a:off x="731520" y="1097280"/>
            <a:ext cx="3657600" cy="329184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LeftHead"/>
          <p:cNvSpPr/>
          <p:nvPr/>
        </p:nvSpPr>
        <p:spPr>
          <a:xfrm>
            <a:off x="1005840" y="1234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Apparel</a:t>
            </a:r>
            <a:endParaRPr lang="en-US" sz="1600" dirty="0"/>
          </a:p>
        </p:txBody>
      </p:sp>
      <p:sp>
        <p:nvSpPr>
          <p:cNvPr id="6" name="LeftContent"/>
          <p:cNvSpPr/>
          <p:nvPr/>
        </p:nvSpPr>
        <p:spPr>
          <a:xfrm>
            <a:off x="1005840" y="1691640"/>
            <a:ext cx="310896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Black Polo Shirt</a:t>
            </a: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</a:rPr>
              <a:t>Left chest: Canary wordmark (gold embroidered)</a:t>
            </a: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</a:rPr>
              <a:t>Moisture-wicking performance fabric</a:t>
            </a: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</a:rPr>
              <a:t>Conference booth and team uniform</a:t>
            </a:r>
          </a:p>
          <a:p>
            <a:pPr indent="0" marL="0">
              <a:buNone/>
            </a:pPr>
            <a:endParaRPr lang="en-US" sz="6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Black Long-Sleeve Button-Down</a:t>
            </a: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</a:rPr>
              <a:t>Left chest: Canary wordmark (gold embroidered)</a:t>
            </a: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</a:rPr>
              <a:t>Wrinkle-free stretch cotton blend</a:t>
            </a: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</a:rPr>
              <a:t>Executive meetings and demo days</a:t>
            </a:r>
          </a:p>
        </p:txBody>
      </p:sp>
      <p:sp>
        <p:nvSpPr>
          <p:cNvPr id="7" name="Card 7"/>
          <p:cNvSpPr/>
          <p:nvPr/>
        </p:nvSpPr>
        <p:spPr>
          <a:xfrm>
            <a:off x="4754880" y="1097280"/>
            <a:ext cx="3657600" cy="329184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RightHead"/>
          <p:cNvSpPr/>
          <p:nvPr/>
        </p:nvSpPr>
        <p:spPr>
          <a:xfrm>
            <a:off x="5029200" y="1234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</a:t>
            </a:r>
            <a:endParaRPr lang="en-US" sz="1600" dirty="0"/>
          </a:p>
        </p:txBody>
      </p:sp>
      <p:sp>
        <p:nvSpPr>
          <p:cNvPr id="9" name="RightContent"/>
          <p:cNvSpPr/>
          <p:nvPr/>
        </p:nvSpPr>
        <p:spPr>
          <a:xfrm>
            <a:off x="5029200" y="1691640"/>
            <a:ext cx="310896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Matte Black Coffee Mug</a:t>
            </a: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</a:rPr>
              <a:t>Gold Canary logo + "Early Warning LP" tagline</a:t>
            </a: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</a:rPr>
              <a:t>15 oz ceramic, dishwasher safe</a:t>
            </a: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</a:rPr>
              <a:t>Giveaway at booth / demo meetings</a:t>
            </a:r>
          </a:p>
          <a:p>
            <a:pPr indent="0" marL="0">
              <a:buNone/>
            </a:pPr>
            <a:endParaRPr lang="en-US" sz="6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Brand Guidelines</a:t>
            </a: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</a:rPr>
              <a:t>Logo: Gold #FBBF24 on matte black</a:t>
            </a: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</a:rPr>
              <a:t>Wordmark: "CANARY" letter-spaced Calibri</a:t>
            </a: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</a:rPr>
              <a:t>Tagline: "Early Warning LP" in gray</a:t>
            </a: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</a:rPr>
              <a:t>Minimal aesthetic. No QR codes or URLs on merch.</a:t>
            </a:r>
          </a:p>
        </p:txBody>
      </p:sp>
      <p:sp>
        <p:nvSpPr>
          <p:cNvPr id="10" name="Footer Line"/>
          <p:cNvSpPr/>
          <p:nvPr/>
        </p:nvSpPr>
        <p:spPr>
          <a:xfrm>
            <a:off x="731520" y="4754880"/>
            <a:ext cx="768096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11" name="Footer Text"/>
          <p:cNvSpPr/>
          <p:nvPr/>
        </p:nvSpPr>
        <p:spPr>
          <a:xfrm>
            <a:off x="731520" y="48006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Accent"/>
          <p:cNvSpPr/>
          <p:nvPr/>
        </p:nvSpPr>
        <p:spPr>
          <a:xfrm>
            <a:off x="731520" y="2011680"/>
            <a:ext cx="1371600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" name="Number"/>
          <p:cNvSpPr/>
          <p:nvPr/>
        </p:nvSpPr>
        <p:spPr>
          <a:xfrm>
            <a:off x="731520" y="1188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BBF24"/>
                </a:solidFill>
                <a:latin typeface="Calibri" pitchFamily="34" charset="0"/>
              </a:rPr>
              <a:t>06</a:t>
            </a:r>
          </a:p>
        </p:txBody>
      </p:sp>
      <p:sp>
        <p:nvSpPr>
          <p:cNvPr id="5" name="Title"/>
          <p:cNvSpPr/>
          <p:nvPr/>
        </p:nvSpPr>
        <p:spPr>
          <a:xfrm>
            <a:off x="731520" y="22860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</a:rPr>
              <a:t>Franchise Channel</a:t>
            </a:r>
          </a:p>
        </p:txBody>
      </p:sp>
      <p:sp>
        <p:nvSpPr>
          <p:cNvPr id="6" name="Desc"/>
          <p:cNvSpPr/>
          <p:nvPr/>
        </p:nvSpPr>
        <p:spPr>
          <a:xfrm>
            <a:off x="731520" y="32004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</a:rPr>
              <a:t>One corporate deal. Hundreds of locations. The multiplier play.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Title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</a:rPr>
              <a:t>Franchise Channel Strategy</a:t>
            </a:r>
          </a:p>
        </p:txBody>
      </p:sp>
      <!-- LEFT CARD: The Model -->
      <p:sp>
        <p:nvSpPr>
          <p:cNvPr id="4" name="LeftCard"/>
          <p:cNvSpPr/>
          <p:nvPr/>
        </p:nvSpPr>
        <p:spPr>
          <a:xfrm>
            <a:off x="731520" y="1097280"/>
            <a:ext cx="3657600" cy="329184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LeftHead"/>
          <p:cNvSpPr/>
          <p:nvPr/>
        </p:nvSpPr>
        <p:spPr>
          <a:xfrm>
            <a:off x="1005840" y="1234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</a:rPr>
              <a:t>Corporate-to-Franchisee Model</a:t>
            </a:r>
          </a:p>
        </p:txBody>
      </p:sp>
      <p:sp>
        <p:nvSpPr>
          <p:cNvPr id="6" name="LeftContent"/>
          <p:cNvSpPr/>
          <p:nvPr/>
        </p:nvSpPr>
        <p:spPr>
          <a:xfrm>
            <a:off x="1005840" y="1691640"/>
            <a:ext cx="310896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</a:rPr>
              <a:t>Square for Franchises gives corporate HQ a centralized dashboard over all franchisee POS terminals. Canary plugs into that same architecture:</a:t>
            </a:r>
          </a:p>
          <a:p>
            <a:pPr indent="0" marL="0">
              <a:buNone/>
            </a:pPr>
            <a:endParaRPr lang="en-US" sz="400" dirty="0"/>
          </a:p>
          <a:p>
            <a:pPr marL="342900" indent="-342900">
              <a:buSzPct val="100000"/>
              <a:buChar char="1."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Corporate signs one deal</a:t>
            </a: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</a:rPr>
              <a:t>Adds Canary to approved vendor list</a:t>
            </a:r>
          </a:p>
          <a:p>
            <a:pPr indent="0" marL="0">
              <a:buNone/>
            </a:pPr>
            <a:endParaRPr lang="en-US" sz="400" dirty="0"/>
          </a:p>
          <a:p>
            <a:pPr marL="342900" indent="-342900">
              <a:buSzPct val="100000"/>
              <a:buChar char="2."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Franchisees self-onboard via Marketplace</a:t>
            </a: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</a:rPr>
              <a:t>OAuth read-only, zero friction install</a:t>
            </a:r>
          </a:p>
          <a:p>
            <a:pPr indent="0" marL="0">
              <a:buNone/>
            </a:pPr>
            <a:endParaRPr lang="en-US" sz="400" dirty="0"/>
          </a:p>
          <a:p>
            <a:pPr marL="342900" indent="-342900">
              <a:buSzPct val="100000"/>
              <a:buChar char="3."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Corporate sees cross-location rollup</a:t>
            </a: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</a:rPr>
              <a:t>Anonymized benchmarks across the network</a:t>
            </a:r>
          </a:p>
          <a:p>
            <a:pPr indent="0" marL="0">
              <a:buNone/>
            </a:pPr>
            <a:endParaRPr lang="en-US" sz="400" dirty="0"/>
          </a:p>
          <a:p>
            <a:pPr marL="342900" indent="-342900">
              <a:buSzPct val="100000"/>
              <a:buChar char="4."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Network effect compounds</a:t>
            </a: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</a:rPr>
              <a:t>More locations = smarter detection models</a:t>
            </a:r>
          </a:p>
        </p:txBody>
      </p:sp>
      <!-- RIGHT CARD: The Opportunity -->
      <p:sp>
        <p:nvSpPr>
          <p:cNvPr id="7" name="RightCard"/>
          <p:cNvSpPr/>
          <p:nvPr/>
        </p:nvSpPr>
        <p:spPr>
          <a:xfrm>
            <a:off x="4754880" y="1097280"/>
            <a:ext cx="3657600" cy="329184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RightHead"/>
          <p:cNvSpPr/>
          <p:nvPr/>
        </p:nvSpPr>
        <p:spPr>
          <a:xfrm>
            <a:off x="5029200" y="1234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</a:rPr>
              <a:t>Why This Works</a:t>
            </a:r>
          </a:p>
        </p:txBody>
      </p:sp>
      <p:sp>
        <p:nvSpPr>
          <p:cNvPr id="9" name="RightContent"/>
          <p:cNvSpPr/>
          <p:nvPr/>
        </p:nvSpPr>
        <p:spPr>
          <a:xfrm>
            <a:off x="5029200" y="1691640"/>
            <a:ext cx="310896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The Problem at Scale</a:t>
            </a: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</a:rPr>
              <a:t>75% of QSR employees steal at least once</a:t>
            </a: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</a:rPr>
              <a:t>QSRs lose 4-7% of sales to internal theft</a:t>
            </a: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</a:rPr>
              <a:t>$3-6B lost annually to restaurant theft</a:t>
            </a: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</a:rPr>
              <a:t>Most franchises have zero LP plan</a:t>
            </a:r>
          </a:p>
          <a:p>
            <a:pPr indent="0" marL="0">
              <a:buNone/>
            </a:pPr>
            <a:endParaRPr lang="en-US" sz="6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Target Franchise Segments</a:t>
            </a: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</a:rPr>
              <a:t>QSR / fast-casual (10-100 locations)</a:t>
            </a: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</a:rPr>
              <a:t>Bakeries and specialty food concepts</a:t>
            </a: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</a:rPr>
              <a:t>Multi-location retail and services</a:t>
            </a:r>
          </a:p>
          <a:p>
            <a:pPr indent="0" marL="0">
              <a:buNone/>
            </a:pPr>
            <a:endParaRPr lang="en-US" sz="6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Math</a:t>
            </a: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</a:rPr>
              <a:t>1 franchise deal @ 30 locations = $4.5K MRR</a:t>
            </a: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</a:rPr>
              <a:t>5 franchise brands = 150+ merchants fast</a:t>
            </a: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</a:rPr>
              <a:t>Bypasses 1-by-1 SMB sales grind entirely</a:t>
            </a:r>
          </a:p>
        </p:txBody>
      </p:sp>
      <!-- Footer -->
      <p:sp>
        <p:nvSpPr>
          <p:cNvPr id="10" name="FooterLine"/>
          <p:cNvSpPr/>
          <p:nvPr/>
        </p:nvSpPr>
        <p:spPr>
          <a:xfrm>
            <a:off x="731520" y="4754880"/>
            <a:ext cx="768096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11" name="FooterText"/>
          <p:cNvSpPr/>
          <p:nvPr/>
        </p:nvSpPr>
        <p:spPr>
          <a:xfrm>
            <a:off x="731520" y="48006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</a:rPr>
              <a:t>CANARY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Canary Brand Presentation Template</dc:title>
  <dc:subject>PptxGenJS Presentation</dc:subject>
  <dc:creator>Canary — GrowDirect</dc:creator>
  <cp:lastModifiedBy>Canary — GrowDirect</cp:lastModifiedBy>
  <cp:revision>1</cp:revision>
  <dcterms:created xsi:type="dcterms:W3CDTF">2026-02-15T04:19:06Z</dcterms:created>
  <dcterms:modified xsi:type="dcterms:W3CDTF">2026-02-15T04:19:06Z</dcterms:modified>
</cp:coreProperties>
</file>