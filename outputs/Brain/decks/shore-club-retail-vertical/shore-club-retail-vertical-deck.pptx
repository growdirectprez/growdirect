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6446520"/>
            <a:ext cx="5486400" cy="274320"/>
          </a:xfrm>
          <a:prstGeom prst="rect">
            <a:avLst/>
          </a:prstGeom>
          <a:noFill/>
          <a:ln/>
        </p:spPr>
        <p:txBody>
          <a:bodyPr wrap="square" rtlCol="0" anchor="ctr"/>
          <a:lstStyle/>
          <a:p>
            <a:pPr indent="0" marL="0">
              <a:buNone/>
            </a:pPr>
            <a:r>
              <a:rPr lang="en-US" sz="900" i="1" dirty="0">
                <a:solidFill>
                  <a:srgbClr val="36454F"/>
                </a:solidFill>
                <a:latin typeface="Calibri" pitchFamily="34" charset="0"/>
                <a:ea typeface="Calibri" pitchFamily="34" charset="-122"/>
                <a:cs typeface="Calibri" pitchFamily="34" charset="-120"/>
              </a:rPr>
              <a:t>King Harbor — Redondo Beach — pier</a:t>
            </a:r>
            <a:endParaRPr lang="en-US" sz="900" dirty="0"/>
          </a:p>
        </p:txBody>
      </p:sp>
      <p:sp>
        <p:nvSpPr>
          <p:cNvPr id="3" name="Text 1"/>
          <p:cNvSpPr/>
          <p:nvPr/>
        </p:nvSpPr>
        <p:spPr>
          <a:xfrm>
            <a:off x="6400800" y="6446520"/>
            <a:ext cx="5486400" cy="274320"/>
          </a:xfrm>
          <a:prstGeom prst="rect">
            <a:avLst/>
          </a:prstGeom>
          <a:noFill/>
          <a:ln/>
        </p:spPr>
        <p:txBody>
          <a:bodyPr wrap="square" rtlCol="0" anchor="ctr"/>
          <a:lstStyle/>
          <a:p>
            <a:pPr algn="r" indent="0" marL="0">
              <a:buNone/>
            </a:pPr>
            <a:r>
              <a:rPr lang="en-US" sz="900" dirty="0">
                <a:solidFill>
                  <a:srgbClr val="36454F"/>
                </a:solidFill>
                <a:latin typeface="Calibri" pitchFamily="34" charset="0"/>
                <a:ea typeface="Calibri" pitchFamily="34" charset="-122"/>
                <a:cs typeface="Calibri" pitchFamily="34" charset="-120"/>
              </a:rPr>
              <a:t>eljeffe Hash and Seal Protocol</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365760" y="6446520"/>
            <a:ext cx="5486400" cy="274320"/>
          </a:xfrm>
          <a:prstGeom prst="rect">
            <a:avLst/>
          </a:prstGeom>
          <a:noFill/>
          <a:ln/>
        </p:spPr>
        <p:txBody>
          <a:bodyPr wrap="square" rtlCol="0" anchor="ctr"/>
          <a:lstStyle/>
          <a:p>
            <a:pPr indent="0" marL="0">
              <a:buNone/>
            </a:pPr>
            <a:r>
              <a:rPr lang="en-US" sz="900" i="1" dirty="0">
                <a:solidFill>
                  <a:srgbClr val="ECE2D0"/>
                </a:solidFill>
                <a:latin typeface="Calibri" pitchFamily="34" charset="0"/>
                <a:ea typeface="Calibri" pitchFamily="34" charset="-122"/>
                <a:cs typeface="Calibri" pitchFamily="34" charset="-120"/>
              </a:rPr>
              <a:t>King Harbor — Redondo Beach — pier</a:t>
            </a:r>
            <a:endParaRPr lang="en-US" sz="900" dirty="0"/>
          </a:p>
        </p:txBody>
      </p:sp>
      <p:sp>
        <p:nvSpPr>
          <p:cNvPr id="3" name="Text 1"/>
          <p:cNvSpPr/>
          <p:nvPr/>
        </p:nvSpPr>
        <p:spPr>
          <a:xfrm>
            <a:off x="6400800" y="6446520"/>
            <a:ext cx="5486400" cy="274320"/>
          </a:xfrm>
          <a:prstGeom prst="rect">
            <a:avLst/>
          </a:prstGeom>
          <a:noFill/>
          <a:ln/>
        </p:spPr>
        <p:txBody>
          <a:bodyPr wrap="square" rtlCol="0" anchor="ctr"/>
          <a:lstStyle/>
          <a:p>
            <a:pPr algn="r" indent="0" marL="0">
              <a:buNone/>
            </a:pPr>
            <a:r>
              <a:rPr lang="en-US" sz="900" dirty="0">
                <a:solidFill>
                  <a:srgbClr val="ECE2D0"/>
                </a:solidFill>
                <a:latin typeface="Calibri" pitchFamily="34" charset="0"/>
                <a:ea typeface="Calibri" pitchFamily="34" charset="-122"/>
                <a:cs typeface="Calibri" pitchFamily="34" charset="-120"/>
              </a:rPr>
              <a:t>eljeffe Hash and Seal Protocol</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1097280"/>
            <a:ext cx="10972800" cy="640080"/>
          </a:xfrm>
          <a:prstGeom prst="rect">
            <a:avLst/>
          </a:prstGeom>
          <a:noFill/>
          <a:ln/>
        </p:spPr>
        <p:txBody>
          <a:bodyPr wrap="square" rtlCol="0" anchor="ctr"/>
          <a:lstStyle/>
          <a:p>
            <a:pPr indent="0" marL="0">
              <a:buNone/>
            </a:pPr>
            <a:r>
              <a:rPr lang="en-US" sz="2800" i="1" dirty="0">
                <a:solidFill>
                  <a:srgbClr val="ECE2D0"/>
                </a:solidFill>
                <a:latin typeface="Georgia" pitchFamily="34" charset="0"/>
                <a:ea typeface="Georgia" pitchFamily="34" charset="-122"/>
                <a:cs typeface="Georgia" pitchFamily="34" charset="-120"/>
              </a:rPr>
              <a:t>Retail vertical</a:t>
            </a:r>
            <a:endParaRPr lang="en-US" sz="2800" dirty="0"/>
          </a:p>
        </p:txBody>
      </p:sp>
      <p:sp>
        <p:nvSpPr>
          <p:cNvPr id="3" name="Text 1"/>
          <p:cNvSpPr/>
          <p:nvPr/>
        </p:nvSpPr>
        <p:spPr>
          <a:xfrm>
            <a:off x="640080" y="1737360"/>
            <a:ext cx="10972800" cy="914400"/>
          </a:xfrm>
          <a:prstGeom prst="rect">
            <a:avLst/>
          </a:prstGeom>
          <a:noFill/>
          <a:ln/>
        </p:spPr>
        <p:txBody>
          <a:bodyPr wrap="square"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Proposed approach, structure, and 100-day plan</a:t>
            </a:r>
            <a:endParaRPr lang="en-US" sz="4400" dirty="0"/>
          </a:p>
        </p:txBody>
      </p:sp>
      <p:sp>
        <p:nvSpPr>
          <p:cNvPr id="4" name="Text 2"/>
          <p:cNvSpPr/>
          <p:nvPr/>
        </p:nvSpPr>
        <p:spPr>
          <a:xfrm>
            <a:off x="640080" y="3017520"/>
            <a:ext cx="10972800" cy="457200"/>
          </a:xfrm>
          <a:prstGeom prst="rect">
            <a:avLst/>
          </a:prstGeom>
          <a:noFill/>
          <a:ln/>
        </p:spPr>
        <p:txBody>
          <a:bodyPr wrap="square" rtlCol="0" anchor="ctr"/>
          <a:lstStyle/>
          <a:p>
            <a:pPr indent="0" marL="0">
              <a:buNone/>
            </a:pPr>
            <a:r>
              <a:rPr lang="en-US" sz="1800" dirty="0">
                <a:solidFill>
                  <a:srgbClr val="ECE2D0"/>
                </a:solidFill>
                <a:latin typeface="Calibri" pitchFamily="34" charset="0"/>
                <a:ea typeface="Calibri" pitchFamily="34" charset="-122"/>
                <a:cs typeface="Calibri" pitchFamily="34" charset="-120"/>
              </a:rPr>
              <a:t>A proposal to the principals.</a:t>
            </a:r>
            <a:endParaRPr lang="en-US" sz="1800" dirty="0"/>
          </a:p>
        </p:txBody>
      </p:sp>
      <p:sp>
        <p:nvSpPr>
          <p:cNvPr id="5" name="Text 3"/>
          <p:cNvSpPr/>
          <p:nvPr/>
        </p:nvSpPr>
        <p:spPr>
          <a:xfrm>
            <a:off x="640080" y="3566160"/>
            <a:ext cx="10972800" cy="457200"/>
          </a:xfrm>
          <a:prstGeom prst="rect">
            <a:avLst/>
          </a:prstGeom>
          <a:noFill/>
          <a:ln/>
        </p:spPr>
        <p:txBody>
          <a:bodyPr wrap="square" rtlCol="0" anchor="ctr"/>
          <a:lstStyle/>
          <a:p>
            <a:pPr indent="0" marL="0">
              <a:buNone/>
            </a:pPr>
            <a:r>
              <a:rPr lang="en-US" sz="1400" i="1" dirty="0">
                <a:solidFill>
                  <a:srgbClr val="ECE2D0"/>
                </a:solidFill>
                <a:latin typeface="Calibri" pitchFamily="34" charset="0"/>
                <a:ea typeface="Calibri" pitchFamily="34" charset="-122"/>
                <a:cs typeface="Calibri" pitchFamily="34" charset="-120"/>
              </a:rPr>
              <a:t>eljeffe Hash and Seal Protocol — Wyoming-anchored. BTC-native. Anti-extraction by construction.</a:t>
            </a:r>
            <a:endParaRPr lang="en-US" sz="1400" dirty="0"/>
          </a:p>
        </p:txBody>
      </p:sp>
      <p:sp>
        <p:nvSpPr>
          <p:cNvPr id="6" name="Text 4"/>
          <p:cNvSpPr/>
          <p:nvPr/>
        </p:nvSpPr>
        <p:spPr>
          <a:xfrm>
            <a:off x="640080" y="5303520"/>
            <a:ext cx="3657600" cy="274320"/>
          </a:xfrm>
          <a:prstGeom prst="rect">
            <a:avLst/>
          </a:prstGeom>
          <a:noFill/>
          <a:ln/>
        </p:spPr>
        <p:txBody>
          <a:bodyPr wrap="square" rtlCol="0" anchor="ctr"/>
          <a:lstStyle/>
          <a:p>
            <a:pPr indent="0" marL="0">
              <a:buNone/>
            </a:pPr>
            <a:r>
              <a:rPr lang="en-US" sz="1200" dirty="0">
                <a:solidFill>
                  <a:srgbClr val="ECE2D0"/>
                </a:solidFill>
                <a:latin typeface="Calibri" pitchFamily="34" charset="0"/>
                <a:ea typeface="Calibri" pitchFamily="34" charset="-122"/>
                <a:cs typeface="Calibri" pitchFamily="34" charset="-120"/>
              </a:rPr>
              <a:t>2026-05-03</a:t>
            </a:r>
            <a:endParaRPr lang="en-US" sz="1200" dirty="0"/>
          </a:p>
        </p:txBody>
      </p:sp>
      <p:sp>
        <p:nvSpPr>
          <p:cNvPr id="7" name="Text 5"/>
          <p:cNvSpPr/>
          <p:nvPr/>
        </p:nvSpPr>
        <p:spPr>
          <a:xfrm>
            <a:off x="640080" y="5577840"/>
            <a:ext cx="10972800" cy="274320"/>
          </a:xfrm>
          <a:prstGeom prst="rect">
            <a:avLst/>
          </a:prstGeom>
          <a:noFill/>
          <a:ln/>
        </p:spPr>
        <p:txBody>
          <a:bodyPr wrap="square" rtlCol="0" anchor="ctr"/>
          <a:lstStyle/>
          <a:p>
            <a:pPr indent="0" marL="0">
              <a:buNone/>
            </a:pPr>
            <a:r>
              <a:rPr lang="en-US" sz="1200" i="1" dirty="0">
                <a:solidFill>
                  <a:srgbClr val="ECE2D0"/>
                </a:solidFill>
                <a:latin typeface="Calibri" pitchFamily="34" charset="0"/>
                <a:ea typeface="Calibri" pitchFamily="34" charset="-122"/>
                <a:cs typeface="Calibri" pitchFamily="34" charset="-120"/>
              </a:rPr>
              <a:t>Tell me where I'm wrong.</a:t>
            </a:r>
            <a:endParaRPr lang="en-US" sz="1200" dirty="0"/>
          </a:p>
        </p:txBody>
      </p:sp>
      <p:sp>
        <p:nvSpPr>
          <p:cNvPr id="8" name="Shape 6"/>
          <p:cNvSpPr/>
          <p:nvPr/>
        </p:nvSpPr>
        <p:spPr>
          <a:xfrm>
            <a:off x="365760" y="1097280"/>
            <a:ext cx="36576" cy="4572000"/>
          </a:xfrm>
          <a:prstGeom prst="rect">
            <a:avLst/>
          </a:prstGeom>
          <a:solidFill>
            <a:srgbClr val="ECE2D0"/>
          </a:solidFill>
          <a:ln w="12700">
            <a:solidFill>
              <a:srgbClr val="ECE2D0"/>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rtlCol="0" anchor="ctr"/>
          <a:lstStyle/>
          <a:p>
            <a:pPr indent="0" marL="0">
              <a:buNone/>
            </a:pPr>
            <a:r>
              <a:rPr lang="en-US" sz="3800" b="1" dirty="0">
                <a:solidFill>
                  <a:srgbClr val="21295C"/>
                </a:solidFill>
                <a:latin typeface="Georgia" pitchFamily="34" charset="0"/>
                <a:ea typeface="Georgia" pitchFamily="34" charset="-122"/>
                <a:cs typeface="Georgia" pitchFamily="34" charset="-120"/>
              </a:rPr>
              <a:t>The moment</a:t>
            </a:r>
            <a:endParaRPr lang="en-US" sz="3800" dirty="0"/>
          </a:p>
        </p:txBody>
      </p:sp>
      <p:sp>
        <p:nvSpPr>
          <p:cNvPr id="3" name="Text 1"/>
          <p:cNvSpPr/>
          <p:nvPr/>
        </p:nvSpPr>
        <p:spPr>
          <a:xfrm>
            <a:off x="640080" y="1188720"/>
            <a:ext cx="10972800" cy="457200"/>
          </a:xfrm>
          <a:prstGeom prst="rect">
            <a:avLst/>
          </a:prstGeom>
          <a:noFill/>
          <a:ln/>
        </p:spPr>
        <p:txBody>
          <a:bodyPr wrap="square" rtlCol="0" anchor="ctr"/>
          <a:lstStyle/>
          <a:p>
            <a:pPr indent="0" marL="0">
              <a:buNone/>
            </a:pPr>
            <a:r>
              <a:rPr lang="en-US" sz="1800" i="1" dirty="0">
                <a:solidFill>
                  <a:srgbClr val="1C7293"/>
                </a:solidFill>
                <a:latin typeface="Calibri" pitchFamily="34" charset="0"/>
                <a:ea typeface="Calibri" pitchFamily="34" charset="-122"/>
                <a:cs typeface="Calibri" pitchFamily="34" charset="-120"/>
              </a:rPr>
              <a:t>A once-in-a-decade inflection.</a:t>
            </a:r>
            <a:endParaRPr lang="en-US" sz="1800" dirty="0"/>
          </a:p>
        </p:txBody>
      </p:sp>
      <p:sp>
        <p:nvSpPr>
          <p:cNvPr id="4" name="Shape 2"/>
          <p:cNvSpPr/>
          <p:nvPr/>
        </p:nvSpPr>
        <p:spPr>
          <a:xfrm>
            <a:off x="640080" y="2011680"/>
            <a:ext cx="2606040" cy="4023360"/>
          </a:xfrm>
          <a:prstGeom prst="rect">
            <a:avLst/>
          </a:prstGeom>
          <a:solidFill>
            <a:srgbClr val="F5F1E8"/>
          </a:solidFill>
          <a:ln w="6350">
            <a:solidFill>
              <a:srgbClr val="1C7293"/>
            </a:solidFill>
            <a:prstDash val="solid"/>
          </a:ln>
        </p:spPr>
      </p:sp>
      <p:sp>
        <p:nvSpPr>
          <p:cNvPr id="5" name="Text 3"/>
          <p:cNvSpPr/>
          <p:nvPr/>
        </p:nvSpPr>
        <p:spPr>
          <a:xfrm>
            <a:off x="822960" y="2194560"/>
            <a:ext cx="2286000" cy="548640"/>
          </a:xfrm>
          <a:prstGeom prst="rect">
            <a:avLst/>
          </a:prstGeom>
          <a:noFill/>
          <a:ln/>
        </p:spPr>
        <p:txBody>
          <a:bodyPr wrap="square" rtlCol="0" anchor="ctr"/>
          <a:lstStyle/>
          <a:p>
            <a:pPr indent="0" marL="0">
              <a:buNone/>
            </a:pPr>
            <a:r>
              <a:rPr lang="en-US" sz="1600" b="1" dirty="0">
                <a:solidFill>
                  <a:srgbClr val="21295C"/>
                </a:solidFill>
                <a:latin typeface="Georgia" pitchFamily="34" charset="0"/>
                <a:ea typeface="Georgia" pitchFamily="34" charset="-122"/>
                <a:cs typeface="Georgia" pitchFamily="34" charset="-120"/>
              </a:rPr>
              <a:t>Square pushes BTC</a:t>
            </a:r>
            <a:endParaRPr lang="en-US" sz="1600" dirty="0"/>
          </a:p>
        </p:txBody>
      </p:sp>
      <p:sp>
        <p:nvSpPr>
          <p:cNvPr id="6" name="Text 4"/>
          <p:cNvSpPr/>
          <p:nvPr/>
        </p:nvSpPr>
        <p:spPr>
          <a:xfrm>
            <a:off x="822960" y="2834640"/>
            <a:ext cx="2286000" cy="3108960"/>
          </a:xfrm>
          <a:prstGeom prst="rect">
            <a:avLst/>
          </a:prstGeom>
          <a:noFill/>
          <a:ln/>
        </p:spPr>
        <p:txBody>
          <a:bodyPr wrap="square" rtlCol="0" anchor="t"/>
          <a:lstStyle/>
          <a:p>
            <a:pPr indent="0" marL="0">
              <a:spcAft>
                <a:spcPts val="400"/>
              </a:spcAft>
              <a:buNone/>
            </a:pPr>
            <a:r>
              <a:rPr lang="en-US" sz="1200" dirty="0">
                <a:solidFill>
                  <a:srgbClr val="36454F"/>
                </a:solidFill>
                <a:latin typeface="Calibri" pitchFamily="34" charset="0"/>
                <a:ea typeface="Calibri" pitchFamily="34" charset="-122"/>
                <a:cs typeface="Calibri" pitchFamily="34" charset="-120"/>
              </a:rPr>
              <a:t>Bitcoin functionality reaching the merchant. The back-end question — where do my numbers live, what does my P&amp;L denominate in — has exactly one answer.</a:t>
            </a:r>
            <a:endParaRPr lang="en-US" sz="1200" dirty="0"/>
          </a:p>
        </p:txBody>
      </p:sp>
      <p:sp>
        <p:nvSpPr>
          <p:cNvPr id="7" name="Shape 5"/>
          <p:cNvSpPr/>
          <p:nvPr/>
        </p:nvSpPr>
        <p:spPr>
          <a:xfrm>
            <a:off x="3429000" y="2011680"/>
            <a:ext cx="2606040" cy="4023360"/>
          </a:xfrm>
          <a:prstGeom prst="rect">
            <a:avLst/>
          </a:prstGeom>
          <a:solidFill>
            <a:srgbClr val="F5F1E8"/>
          </a:solidFill>
          <a:ln w="6350">
            <a:solidFill>
              <a:srgbClr val="1C7293"/>
            </a:solidFill>
            <a:prstDash val="solid"/>
          </a:ln>
        </p:spPr>
      </p:sp>
      <p:sp>
        <p:nvSpPr>
          <p:cNvPr id="8" name="Text 6"/>
          <p:cNvSpPr/>
          <p:nvPr/>
        </p:nvSpPr>
        <p:spPr>
          <a:xfrm>
            <a:off x="3611880" y="2194560"/>
            <a:ext cx="2286000" cy="548640"/>
          </a:xfrm>
          <a:prstGeom prst="rect">
            <a:avLst/>
          </a:prstGeom>
          <a:noFill/>
          <a:ln/>
        </p:spPr>
        <p:txBody>
          <a:bodyPr wrap="square" rtlCol="0" anchor="ctr"/>
          <a:lstStyle/>
          <a:p>
            <a:pPr indent="0" marL="0">
              <a:buNone/>
            </a:pPr>
            <a:r>
              <a:rPr lang="en-US" sz="1600" b="1" dirty="0">
                <a:solidFill>
                  <a:srgbClr val="21295C"/>
                </a:solidFill>
                <a:latin typeface="Georgia" pitchFamily="34" charset="0"/>
                <a:ea typeface="Georgia" pitchFamily="34" charset="-122"/>
                <a:cs typeface="Georgia" pitchFamily="34" charset="-120"/>
              </a:rPr>
              <a:t>Counterpoint VARs aging out</a:t>
            </a:r>
            <a:endParaRPr lang="en-US" sz="1600" dirty="0"/>
          </a:p>
        </p:txBody>
      </p:sp>
      <p:sp>
        <p:nvSpPr>
          <p:cNvPr id="9" name="Text 7"/>
          <p:cNvSpPr/>
          <p:nvPr/>
        </p:nvSpPr>
        <p:spPr>
          <a:xfrm>
            <a:off x="3611880" y="2834640"/>
            <a:ext cx="2286000" cy="3108960"/>
          </a:xfrm>
          <a:prstGeom prst="rect">
            <a:avLst/>
          </a:prstGeom>
          <a:noFill/>
          <a:ln/>
        </p:spPr>
        <p:txBody>
          <a:bodyPr wrap="square" rtlCol="0" anchor="t"/>
          <a:lstStyle/>
          <a:p>
            <a:pPr indent="0" marL="0">
              <a:spcAft>
                <a:spcPts val="400"/>
              </a:spcAft>
              <a:buNone/>
            </a:pPr>
            <a:r>
              <a:rPr lang="en-US" sz="1200" dirty="0">
                <a:solidFill>
                  <a:srgbClr val="36454F"/>
                </a:solidFill>
                <a:latin typeface="Calibri" pitchFamily="34" charset="0"/>
                <a:ea typeface="Calibri" pitchFamily="34" charset="-122"/>
                <a:cs typeface="Calibri" pitchFamily="34" charset="-120"/>
              </a:rPr>
              <a:t>RapidPOS and the broader cohort. 2015 architecture. 20-year owners looking to exit clean. Channel partnership beats acquisition.</a:t>
            </a:r>
            <a:endParaRPr lang="en-US" sz="1200" dirty="0"/>
          </a:p>
        </p:txBody>
      </p:sp>
      <p:sp>
        <p:nvSpPr>
          <p:cNvPr id="10" name="Shape 8"/>
          <p:cNvSpPr/>
          <p:nvPr/>
        </p:nvSpPr>
        <p:spPr>
          <a:xfrm>
            <a:off x="6217920" y="2011680"/>
            <a:ext cx="2606040" cy="4023360"/>
          </a:xfrm>
          <a:prstGeom prst="rect">
            <a:avLst/>
          </a:prstGeom>
          <a:solidFill>
            <a:srgbClr val="F5F1E8"/>
          </a:solidFill>
          <a:ln w="6350">
            <a:solidFill>
              <a:srgbClr val="1C7293"/>
            </a:solidFill>
            <a:prstDash val="solid"/>
          </a:ln>
        </p:spPr>
      </p:sp>
      <p:sp>
        <p:nvSpPr>
          <p:cNvPr id="11" name="Text 9"/>
          <p:cNvSpPr/>
          <p:nvPr/>
        </p:nvSpPr>
        <p:spPr>
          <a:xfrm>
            <a:off x="6400800" y="2194560"/>
            <a:ext cx="2286000" cy="548640"/>
          </a:xfrm>
          <a:prstGeom prst="rect">
            <a:avLst/>
          </a:prstGeom>
          <a:noFill/>
          <a:ln/>
        </p:spPr>
        <p:txBody>
          <a:bodyPr wrap="square" rtlCol="0" anchor="ctr"/>
          <a:lstStyle/>
          <a:p>
            <a:pPr indent="0" marL="0">
              <a:buNone/>
            </a:pPr>
            <a:r>
              <a:rPr lang="en-US" sz="1600" b="1" dirty="0">
                <a:solidFill>
                  <a:srgbClr val="21295C"/>
                </a:solidFill>
                <a:latin typeface="Georgia" pitchFamily="34" charset="0"/>
                <a:ea typeface="Georgia" pitchFamily="34" charset="-122"/>
                <a:cs typeface="Georgia" pitchFamily="34" charset="-120"/>
              </a:rPr>
              <a:t>Compliance fragmenting</a:t>
            </a:r>
            <a:endParaRPr lang="en-US" sz="1600" dirty="0"/>
          </a:p>
        </p:txBody>
      </p:sp>
      <p:sp>
        <p:nvSpPr>
          <p:cNvPr id="12" name="Text 10"/>
          <p:cNvSpPr/>
          <p:nvPr/>
        </p:nvSpPr>
        <p:spPr>
          <a:xfrm>
            <a:off x="6400800" y="2834640"/>
            <a:ext cx="2286000" cy="3108960"/>
          </a:xfrm>
          <a:prstGeom prst="rect">
            <a:avLst/>
          </a:prstGeom>
          <a:noFill/>
          <a:ln/>
        </p:spPr>
        <p:txBody>
          <a:bodyPr wrap="square" rtlCol="0" anchor="t"/>
          <a:lstStyle/>
          <a:p>
            <a:pPr indent="0" marL="0">
              <a:spcAft>
                <a:spcPts val="400"/>
              </a:spcAft>
              <a:buNone/>
            </a:pPr>
            <a:r>
              <a:rPr lang="en-US" sz="1200" dirty="0">
                <a:solidFill>
                  <a:srgbClr val="36454F"/>
                </a:solidFill>
                <a:latin typeface="Calibri" pitchFamily="34" charset="0"/>
                <a:ea typeface="Calibri" pitchFamily="34" charset="-122"/>
                <a:cs typeface="Calibri" pitchFamily="34" charset="-120"/>
              </a:rPr>
              <a:t>State-by-state privacy laws. ATF, NICS, alcohol direct-shipping, age-verification. Compliance-by-architecture is the differentiator.</a:t>
            </a:r>
            <a:endParaRPr lang="en-US" sz="1200" dirty="0"/>
          </a:p>
        </p:txBody>
      </p:sp>
      <p:sp>
        <p:nvSpPr>
          <p:cNvPr id="13" name="Shape 11"/>
          <p:cNvSpPr/>
          <p:nvPr/>
        </p:nvSpPr>
        <p:spPr>
          <a:xfrm>
            <a:off x="9006840" y="2011680"/>
            <a:ext cx="2606040" cy="4023360"/>
          </a:xfrm>
          <a:prstGeom prst="rect">
            <a:avLst/>
          </a:prstGeom>
          <a:solidFill>
            <a:srgbClr val="F5F1E8"/>
          </a:solidFill>
          <a:ln w="6350">
            <a:solidFill>
              <a:srgbClr val="1C7293"/>
            </a:solidFill>
            <a:prstDash val="solid"/>
          </a:ln>
        </p:spPr>
      </p:sp>
      <p:sp>
        <p:nvSpPr>
          <p:cNvPr id="14" name="Text 12"/>
          <p:cNvSpPr/>
          <p:nvPr/>
        </p:nvSpPr>
        <p:spPr>
          <a:xfrm>
            <a:off x="9189720" y="2194560"/>
            <a:ext cx="2286000" cy="548640"/>
          </a:xfrm>
          <a:prstGeom prst="rect">
            <a:avLst/>
          </a:prstGeom>
          <a:noFill/>
          <a:ln/>
        </p:spPr>
        <p:txBody>
          <a:bodyPr wrap="square" rtlCol="0" anchor="ctr"/>
          <a:lstStyle/>
          <a:p>
            <a:pPr indent="0" marL="0">
              <a:buNone/>
            </a:pPr>
            <a:r>
              <a:rPr lang="en-US" sz="1600" b="1" dirty="0">
                <a:solidFill>
                  <a:srgbClr val="21295C"/>
                </a:solidFill>
                <a:latin typeface="Georgia" pitchFamily="34" charset="0"/>
                <a:ea typeface="Georgia" pitchFamily="34" charset="-122"/>
                <a:cs typeface="Georgia" pitchFamily="34" charset="-120"/>
              </a:rPr>
              <a:t>Operators want sovereignty</a:t>
            </a:r>
            <a:endParaRPr lang="en-US" sz="1600" dirty="0"/>
          </a:p>
        </p:txBody>
      </p:sp>
      <p:sp>
        <p:nvSpPr>
          <p:cNvPr id="15" name="Text 13"/>
          <p:cNvSpPr/>
          <p:nvPr/>
        </p:nvSpPr>
        <p:spPr>
          <a:xfrm>
            <a:off x="9189720" y="2834640"/>
            <a:ext cx="2286000" cy="3108960"/>
          </a:xfrm>
          <a:prstGeom prst="rect">
            <a:avLst/>
          </a:prstGeom>
          <a:noFill/>
          <a:ln/>
        </p:spPr>
        <p:txBody>
          <a:bodyPr wrap="square" rtlCol="0" anchor="t"/>
          <a:lstStyle/>
          <a:p>
            <a:pPr indent="0" marL="0">
              <a:spcAft>
                <a:spcPts val="400"/>
              </a:spcAft>
              <a:buNone/>
            </a:pPr>
            <a:r>
              <a:rPr lang="en-US" sz="1200" dirty="0">
                <a:solidFill>
                  <a:srgbClr val="36454F"/>
                </a:solidFill>
                <a:latin typeface="Calibri" pitchFamily="34" charset="0"/>
                <a:ea typeface="Calibri" pitchFamily="34" charset="-122"/>
                <a:cs typeface="Calibri" pitchFamily="34" charset="-120"/>
              </a:rPr>
              <a:t>Gun-store owners, ranchers, wine retailers, garden centers, multi-generational family operators. Same values stack. Nobody is building for them.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rtlCol="0" anchor="ctr"/>
          <a:lstStyle/>
          <a:p>
            <a:pPr indent="0" marL="0">
              <a:buNone/>
            </a:pPr>
            <a:r>
              <a:rPr lang="en-US" sz="3600" b="1" dirty="0">
                <a:solidFill>
                  <a:srgbClr val="21295C"/>
                </a:solidFill>
                <a:latin typeface="Georgia" pitchFamily="34" charset="0"/>
                <a:ea typeface="Georgia" pitchFamily="34" charset="-122"/>
                <a:cs typeface="Georgia" pitchFamily="34" charset="-120"/>
              </a:rPr>
              <a:t>What the substrate does</a:t>
            </a:r>
            <a:endParaRPr lang="en-US" sz="3600" dirty="0"/>
          </a:p>
        </p:txBody>
      </p:sp>
      <p:sp>
        <p:nvSpPr>
          <p:cNvPr id="3" name="Text 1"/>
          <p:cNvSpPr/>
          <p:nvPr/>
        </p:nvSpPr>
        <p:spPr>
          <a:xfrm>
            <a:off x="640080" y="1188720"/>
            <a:ext cx="10972800" cy="365760"/>
          </a:xfrm>
          <a:prstGeom prst="rect">
            <a:avLst/>
          </a:prstGeom>
          <a:noFill/>
          <a:ln/>
        </p:spPr>
        <p:txBody>
          <a:bodyPr wrap="square"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Four operations. The proof is the proof.</a:t>
            </a:r>
            <a:endParaRPr lang="en-US" sz="1400" dirty="0"/>
          </a:p>
        </p:txBody>
      </p:sp>
      <p:sp>
        <p:nvSpPr>
          <p:cNvPr id="4" name="Shape 2"/>
          <p:cNvSpPr/>
          <p:nvPr/>
        </p:nvSpPr>
        <p:spPr>
          <a:xfrm>
            <a:off x="640080" y="2011680"/>
            <a:ext cx="2606040" cy="4023360"/>
          </a:xfrm>
          <a:prstGeom prst="rect">
            <a:avLst/>
          </a:prstGeom>
          <a:solidFill>
            <a:srgbClr val="F5F1E8"/>
          </a:solidFill>
          <a:ln w="6350">
            <a:solidFill>
              <a:srgbClr val="1C7293"/>
            </a:solidFill>
            <a:prstDash val="solid"/>
          </a:ln>
        </p:spPr>
      </p:sp>
      <p:sp>
        <p:nvSpPr>
          <p:cNvPr id="5" name="Text 3"/>
          <p:cNvSpPr/>
          <p:nvPr/>
        </p:nvSpPr>
        <p:spPr>
          <a:xfrm>
            <a:off x="822960" y="2194560"/>
            <a:ext cx="2286000" cy="457200"/>
          </a:xfrm>
          <a:prstGeom prst="rect">
            <a:avLst/>
          </a:prstGeom>
          <a:noFill/>
          <a:ln/>
        </p:spPr>
        <p:txBody>
          <a:bodyPr wrap="square" rtlCol="0" anchor="ctr"/>
          <a:lstStyle/>
          <a:p>
            <a:pPr indent="0" marL="0">
              <a:buNone/>
            </a:pPr>
            <a:r>
              <a:rPr lang="en-US" sz="1400" i="1" dirty="0">
                <a:solidFill>
                  <a:srgbClr val="1C7293"/>
                </a:solidFill>
                <a:latin typeface="Georgia" pitchFamily="34" charset="0"/>
                <a:ea typeface="Georgia" pitchFamily="34" charset="-122"/>
                <a:cs typeface="Georgia" pitchFamily="34" charset="-120"/>
              </a:rPr>
              <a:t>01</a:t>
            </a:r>
            <a:endParaRPr lang="en-US" sz="1400" dirty="0"/>
          </a:p>
        </p:txBody>
      </p:sp>
      <p:sp>
        <p:nvSpPr>
          <p:cNvPr id="6" name="Text 4"/>
          <p:cNvSpPr/>
          <p:nvPr/>
        </p:nvSpPr>
        <p:spPr>
          <a:xfrm>
            <a:off x="822960" y="2606040"/>
            <a:ext cx="2286000" cy="548640"/>
          </a:xfrm>
          <a:prstGeom prst="rect">
            <a:avLst/>
          </a:prstGeom>
          <a:noFill/>
          <a:ln/>
        </p:spPr>
        <p:txBody>
          <a:bodyPr wrap="square" rtlCol="0" anchor="ctr"/>
          <a:lstStyle/>
          <a:p>
            <a:pPr indent="0" marL="0">
              <a:buNone/>
            </a:pPr>
            <a:r>
              <a:rPr lang="en-US" sz="2200" b="1" dirty="0">
                <a:solidFill>
                  <a:srgbClr val="21295C"/>
                </a:solidFill>
                <a:latin typeface="Georgia" pitchFamily="34" charset="0"/>
                <a:ea typeface="Georgia" pitchFamily="34" charset="-122"/>
                <a:cs typeface="Georgia" pitchFamily="34" charset="-120"/>
              </a:rPr>
              <a:t>Hash</a:t>
            </a:r>
            <a:endParaRPr lang="en-US" sz="2200" dirty="0"/>
          </a:p>
        </p:txBody>
      </p:sp>
      <p:sp>
        <p:nvSpPr>
          <p:cNvPr id="7" name="Text 5"/>
          <p:cNvSpPr/>
          <p:nvPr/>
        </p:nvSpPr>
        <p:spPr>
          <a:xfrm>
            <a:off x="822960" y="3246120"/>
            <a:ext cx="2286000" cy="2651760"/>
          </a:xfrm>
          <a:prstGeom prst="rect">
            <a:avLst/>
          </a:prstGeom>
          <a:noFill/>
          <a:ln/>
        </p:spPr>
        <p:txBody>
          <a:bodyPr wrap="square" rtlCol="0" anchor="t"/>
          <a:lstStyle/>
          <a:p>
            <a:pPr indent="0" marL="0">
              <a:spcAft>
                <a:spcPts val="400"/>
              </a:spcAft>
              <a:buNone/>
            </a:pPr>
            <a:r>
              <a:rPr lang="en-US" sz="1200" dirty="0">
                <a:solidFill>
                  <a:srgbClr val="36454F"/>
                </a:solidFill>
                <a:latin typeface="Calibri" pitchFamily="34" charset="0"/>
                <a:ea typeface="Calibri" pitchFamily="34" charset="-122"/>
                <a:cs typeface="Calibri" pitchFamily="34" charset="-120"/>
              </a:rPr>
              <a:t>Every consequential event — sale, transfer, vote, license, attestation — hashed cryptographically. Deterministic. Irreversible.</a:t>
            </a:r>
            <a:endParaRPr lang="en-US" sz="1200" dirty="0"/>
          </a:p>
        </p:txBody>
      </p:sp>
      <p:sp>
        <p:nvSpPr>
          <p:cNvPr id="8" name="Shape 6"/>
          <p:cNvSpPr/>
          <p:nvPr/>
        </p:nvSpPr>
        <p:spPr>
          <a:xfrm>
            <a:off x="3429000" y="2011680"/>
            <a:ext cx="2606040" cy="4023360"/>
          </a:xfrm>
          <a:prstGeom prst="rect">
            <a:avLst/>
          </a:prstGeom>
          <a:solidFill>
            <a:srgbClr val="F5F1E8"/>
          </a:solidFill>
          <a:ln w="6350">
            <a:solidFill>
              <a:srgbClr val="1C7293"/>
            </a:solidFill>
            <a:prstDash val="solid"/>
          </a:ln>
        </p:spPr>
      </p:sp>
      <p:sp>
        <p:nvSpPr>
          <p:cNvPr id="9" name="Text 7"/>
          <p:cNvSpPr/>
          <p:nvPr/>
        </p:nvSpPr>
        <p:spPr>
          <a:xfrm>
            <a:off x="3611880" y="2194560"/>
            <a:ext cx="2286000" cy="457200"/>
          </a:xfrm>
          <a:prstGeom prst="rect">
            <a:avLst/>
          </a:prstGeom>
          <a:noFill/>
          <a:ln/>
        </p:spPr>
        <p:txBody>
          <a:bodyPr wrap="square" rtlCol="0" anchor="ctr"/>
          <a:lstStyle/>
          <a:p>
            <a:pPr indent="0" marL="0">
              <a:buNone/>
            </a:pPr>
            <a:r>
              <a:rPr lang="en-US" sz="1400" i="1" dirty="0">
                <a:solidFill>
                  <a:srgbClr val="1C7293"/>
                </a:solidFill>
                <a:latin typeface="Georgia" pitchFamily="34" charset="0"/>
                <a:ea typeface="Georgia" pitchFamily="34" charset="-122"/>
                <a:cs typeface="Georgia" pitchFamily="34" charset="-120"/>
              </a:rPr>
              <a:t>02</a:t>
            </a:r>
            <a:endParaRPr lang="en-US" sz="1400" dirty="0"/>
          </a:p>
        </p:txBody>
      </p:sp>
      <p:sp>
        <p:nvSpPr>
          <p:cNvPr id="10" name="Text 8"/>
          <p:cNvSpPr/>
          <p:nvPr/>
        </p:nvSpPr>
        <p:spPr>
          <a:xfrm>
            <a:off x="3611880" y="2606040"/>
            <a:ext cx="2286000" cy="548640"/>
          </a:xfrm>
          <a:prstGeom prst="rect">
            <a:avLst/>
          </a:prstGeom>
          <a:noFill/>
          <a:ln/>
        </p:spPr>
        <p:txBody>
          <a:bodyPr wrap="square" rtlCol="0" anchor="ctr"/>
          <a:lstStyle/>
          <a:p>
            <a:pPr indent="0" marL="0">
              <a:buNone/>
            </a:pPr>
            <a:r>
              <a:rPr lang="en-US" sz="2200" b="1" dirty="0">
                <a:solidFill>
                  <a:srgbClr val="21295C"/>
                </a:solidFill>
                <a:latin typeface="Georgia" pitchFamily="34" charset="0"/>
                <a:ea typeface="Georgia" pitchFamily="34" charset="-122"/>
                <a:cs typeface="Georgia" pitchFamily="34" charset="-120"/>
              </a:rPr>
              <a:t>Batch</a:t>
            </a:r>
            <a:endParaRPr lang="en-US" sz="2200" dirty="0"/>
          </a:p>
        </p:txBody>
      </p:sp>
      <p:sp>
        <p:nvSpPr>
          <p:cNvPr id="11" name="Text 9"/>
          <p:cNvSpPr/>
          <p:nvPr/>
        </p:nvSpPr>
        <p:spPr>
          <a:xfrm>
            <a:off x="3611880" y="3246120"/>
            <a:ext cx="2286000" cy="2651760"/>
          </a:xfrm>
          <a:prstGeom prst="rect">
            <a:avLst/>
          </a:prstGeom>
          <a:noFill/>
          <a:ln/>
        </p:spPr>
        <p:txBody>
          <a:bodyPr wrap="square" rtlCol="0" anchor="t"/>
          <a:lstStyle/>
          <a:p>
            <a:pPr indent="0" marL="0">
              <a:spcAft>
                <a:spcPts val="400"/>
              </a:spcAft>
              <a:buNone/>
            </a:pPr>
            <a:r>
              <a:rPr lang="en-US" sz="1200" dirty="0">
                <a:solidFill>
                  <a:srgbClr val="36454F"/>
                </a:solidFill>
                <a:latin typeface="Calibri" pitchFamily="34" charset="0"/>
                <a:ea typeface="Calibri" pitchFamily="34" charset="-122"/>
                <a:cs typeface="Calibri" pitchFamily="34" charset="-120"/>
              </a:rPr>
              <a:t>Hashes assembled into a Merkle tree. The root represents every event in the batch with a single cryptographic fingerprint.</a:t>
            </a:r>
            <a:endParaRPr lang="en-US" sz="1200" dirty="0"/>
          </a:p>
        </p:txBody>
      </p:sp>
      <p:sp>
        <p:nvSpPr>
          <p:cNvPr id="12" name="Shape 10"/>
          <p:cNvSpPr/>
          <p:nvPr/>
        </p:nvSpPr>
        <p:spPr>
          <a:xfrm>
            <a:off x="6217920" y="2011680"/>
            <a:ext cx="2606040" cy="4023360"/>
          </a:xfrm>
          <a:prstGeom prst="rect">
            <a:avLst/>
          </a:prstGeom>
          <a:solidFill>
            <a:srgbClr val="F5F1E8"/>
          </a:solidFill>
          <a:ln w="6350">
            <a:solidFill>
              <a:srgbClr val="1C7293"/>
            </a:solidFill>
            <a:prstDash val="solid"/>
          </a:ln>
        </p:spPr>
      </p:sp>
      <p:sp>
        <p:nvSpPr>
          <p:cNvPr id="13" name="Text 11"/>
          <p:cNvSpPr/>
          <p:nvPr/>
        </p:nvSpPr>
        <p:spPr>
          <a:xfrm>
            <a:off x="6400800" y="2194560"/>
            <a:ext cx="2286000" cy="457200"/>
          </a:xfrm>
          <a:prstGeom prst="rect">
            <a:avLst/>
          </a:prstGeom>
          <a:noFill/>
          <a:ln/>
        </p:spPr>
        <p:txBody>
          <a:bodyPr wrap="square" rtlCol="0" anchor="ctr"/>
          <a:lstStyle/>
          <a:p>
            <a:pPr indent="0" marL="0">
              <a:buNone/>
            </a:pPr>
            <a:r>
              <a:rPr lang="en-US" sz="1400" i="1" dirty="0">
                <a:solidFill>
                  <a:srgbClr val="1C7293"/>
                </a:solidFill>
                <a:latin typeface="Georgia" pitchFamily="34" charset="0"/>
                <a:ea typeface="Georgia" pitchFamily="34" charset="-122"/>
                <a:cs typeface="Georgia" pitchFamily="34" charset="-120"/>
              </a:rPr>
              <a:t>03</a:t>
            </a:r>
            <a:endParaRPr lang="en-US" sz="1400" dirty="0"/>
          </a:p>
        </p:txBody>
      </p:sp>
      <p:sp>
        <p:nvSpPr>
          <p:cNvPr id="14" name="Text 12"/>
          <p:cNvSpPr/>
          <p:nvPr/>
        </p:nvSpPr>
        <p:spPr>
          <a:xfrm>
            <a:off x="6400800" y="2606040"/>
            <a:ext cx="2286000" cy="548640"/>
          </a:xfrm>
          <a:prstGeom prst="rect">
            <a:avLst/>
          </a:prstGeom>
          <a:noFill/>
          <a:ln/>
        </p:spPr>
        <p:txBody>
          <a:bodyPr wrap="square" rtlCol="0" anchor="ctr"/>
          <a:lstStyle/>
          <a:p>
            <a:pPr indent="0" marL="0">
              <a:buNone/>
            </a:pPr>
            <a:r>
              <a:rPr lang="en-US" sz="2200" b="1" dirty="0">
                <a:solidFill>
                  <a:srgbClr val="21295C"/>
                </a:solidFill>
                <a:latin typeface="Georgia" pitchFamily="34" charset="0"/>
                <a:ea typeface="Georgia" pitchFamily="34" charset="-122"/>
                <a:cs typeface="Georgia" pitchFamily="34" charset="-120"/>
              </a:rPr>
              <a:t>Inscribe</a:t>
            </a:r>
            <a:endParaRPr lang="en-US" sz="2200" dirty="0"/>
          </a:p>
        </p:txBody>
      </p:sp>
      <p:sp>
        <p:nvSpPr>
          <p:cNvPr id="15" name="Text 13"/>
          <p:cNvSpPr/>
          <p:nvPr/>
        </p:nvSpPr>
        <p:spPr>
          <a:xfrm>
            <a:off x="6400800" y="3246120"/>
            <a:ext cx="2286000" cy="2651760"/>
          </a:xfrm>
          <a:prstGeom prst="rect">
            <a:avLst/>
          </a:prstGeom>
          <a:noFill/>
          <a:ln/>
        </p:spPr>
        <p:txBody>
          <a:bodyPr wrap="square" rtlCol="0" anchor="t"/>
          <a:lstStyle/>
          <a:p>
            <a:pPr indent="0" marL="0">
              <a:spcAft>
                <a:spcPts val="400"/>
              </a:spcAft>
              <a:buNone/>
            </a:pPr>
            <a:r>
              <a:rPr lang="en-US" sz="1200" dirty="0">
                <a:solidFill>
                  <a:srgbClr val="36454F"/>
                </a:solidFill>
                <a:latin typeface="Calibri" pitchFamily="34" charset="0"/>
                <a:ea typeface="Calibri" pitchFamily="34" charset="-122"/>
                <a:cs typeface="Calibri" pitchFamily="34" charset="-120"/>
              </a:rPr>
              <a:t>Merkle root sealed onto a Bitcoin satoshi as an Ordinal at a specific block height. Permanent. No re-issuance possible.</a:t>
            </a:r>
            <a:endParaRPr lang="en-US" sz="1200" dirty="0"/>
          </a:p>
        </p:txBody>
      </p:sp>
      <p:sp>
        <p:nvSpPr>
          <p:cNvPr id="16" name="Shape 14"/>
          <p:cNvSpPr/>
          <p:nvPr/>
        </p:nvSpPr>
        <p:spPr>
          <a:xfrm>
            <a:off x="9006840" y="2011680"/>
            <a:ext cx="2606040" cy="4023360"/>
          </a:xfrm>
          <a:prstGeom prst="rect">
            <a:avLst/>
          </a:prstGeom>
          <a:solidFill>
            <a:srgbClr val="F5F1E8"/>
          </a:solidFill>
          <a:ln w="6350">
            <a:solidFill>
              <a:srgbClr val="1C7293"/>
            </a:solidFill>
            <a:prstDash val="solid"/>
          </a:ln>
        </p:spPr>
      </p:sp>
      <p:sp>
        <p:nvSpPr>
          <p:cNvPr id="17" name="Text 15"/>
          <p:cNvSpPr/>
          <p:nvPr/>
        </p:nvSpPr>
        <p:spPr>
          <a:xfrm>
            <a:off x="9189720" y="2194560"/>
            <a:ext cx="2286000" cy="457200"/>
          </a:xfrm>
          <a:prstGeom prst="rect">
            <a:avLst/>
          </a:prstGeom>
          <a:noFill/>
          <a:ln/>
        </p:spPr>
        <p:txBody>
          <a:bodyPr wrap="square" rtlCol="0" anchor="ctr"/>
          <a:lstStyle/>
          <a:p>
            <a:pPr indent="0" marL="0">
              <a:buNone/>
            </a:pPr>
            <a:r>
              <a:rPr lang="en-US" sz="1400" i="1" dirty="0">
                <a:solidFill>
                  <a:srgbClr val="1C7293"/>
                </a:solidFill>
                <a:latin typeface="Georgia" pitchFamily="34" charset="0"/>
                <a:ea typeface="Georgia" pitchFamily="34" charset="-122"/>
                <a:cs typeface="Georgia" pitchFamily="34" charset="-120"/>
              </a:rPr>
              <a:t>04</a:t>
            </a:r>
            <a:endParaRPr lang="en-US" sz="1400" dirty="0"/>
          </a:p>
        </p:txBody>
      </p:sp>
      <p:sp>
        <p:nvSpPr>
          <p:cNvPr id="18" name="Text 16"/>
          <p:cNvSpPr/>
          <p:nvPr/>
        </p:nvSpPr>
        <p:spPr>
          <a:xfrm>
            <a:off x="9189720" y="2606040"/>
            <a:ext cx="2286000" cy="548640"/>
          </a:xfrm>
          <a:prstGeom prst="rect">
            <a:avLst/>
          </a:prstGeom>
          <a:noFill/>
          <a:ln/>
        </p:spPr>
        <p:txBody>
          <a:bodyPr wrap="square" rtlCol="0" anchor="ctr"/>
          <a:lstStyle/>
          <a:p>
            <a:pPr indent="0" marL="0">
              <a:buNone/>
            </a:pPr>
            <a:r>
              <a:rPr lang="en-US" sz="2200" b="1" dirty="0">
                <a:solidFill>
                  <a:srgbClr val="21295C"/>
                </a:solidFill>
                <a:latin typeface="Georgia" pitchFamily="34" charset="0"/>
                <a:ea typeface="Georgia" pitchFamily="34" charset="-122"/>
                <a:cs typeface="Georgia" pitchFamily="34" charset="-120"/>
              </a:rPr>
              <a:t>Verify</a:t>
            </a:r>
            <a:endParaRPr lang="en-US" sz="2200" dirty="0"/>
          </a:p>
        </p:txBody>
      </p:sp>
      <p:sp>
        <p:nvSpPr>
          <p:cNvPr id="19" name="Text 17"/>
          <p:cNvSpPr/>
          <p:nvPr/>
        </p:nvSpPr>
        <p:spPr>
          <a:xfrm>
            <a:off x="9189720" y="3246120"/>
            <a:ext cx="2286000" cy="2651760"/>
          </a:xfrm>
          <a:prstGeom prst="rect">
            <a:avLst/>
          </a:prstGeom>
          <a:noFill/>
          <a:ln/>
        </p:spPr>
        <p:txBody>
          <a:bodyPr wrap="square" rtlCol="0" anchor="t"/>
          <a:lstStyle/>
          <a:p>
            <a:pPr indent="0" marL="0">
              <a:spcAft>
                <a:spcPts val="400"/>
              </a:spcAft>
              <a:buNone/>
            </a:pPr>
            <a:r>
              <a:rPr lang="en-US" sz="1200" dirty="0">
                <a:solidFill>
                  <a:srgbClr val="36454F"/>
                </a:solidFill>
                <a:latin typeface="Calibri" pitchFamily="34" charset="0"/>
                <a:ea typeface="Calibri" pitchFamily="34" charset="-122"/>
                <a:cs typeface="Calibri" pitchFamily="34" charset="-120"/>
              </a:rPr>
              <a:t>Anyone with a Bitcoin node verifies existence + ordering + integrity by Merkle proof against the immutable chain. No notary, no clerk, no goodwill.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rtlCol="0" anchor="ctr"/>
          <a:lstStyle/>
          <a:p>
            <a:pPr indent="0" marL="0">
              <a:buNone/>
            </a:pPr>
            <a:r>
              <a:rPr lang="en-US" sz="3600" b="1" dirty="0">
                <a:solidFill>
                  <a:srgbClr val="21295C"/>
                </a:solidFill>
                <a:latin typeface="Georgia" pitchFamily="34" charset="0"/>
                <a:ea typeface="Georgia" pitchFamily="34" charset="-122"/>
                <a:cs typeface="Georgia" pitchFamily="34" charset="-120"/>
              </a:rPr>
              <a:t>The structure</a:t>
            </a:r>
            <a:endParaRPr lang="en-US" sz="3600" dirty="0"/>
          </a:p>
        </p:txBody>
      </p:sp>
      <p:sp>
        <p:nvSpPr>
          <p:cNvPr id="3" name="Text 1"/>
          <p:cNvSpPr/>
          <p:nvPr/>
        </p:nvSpPr>
        <p:spPr>
          <a:xfrm>
            <a:off x="640080" y="1188720"/>
            <a:ext cx="10972800" cy="365760"/>
          </a:xfrm>
          <a:prstGeom prst="rect">
            <a:avLst/>
          </a:prstGeom>
          <a:noFill/>
          <a:ln/>
        </p:spPr>
        <p:txBody>
          <a:bodyPr wrap="square"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Parent → GrowDirect → IP → RapidPOS license. Substrate underneath.</a:t>
            </a:r>
            <a:endParaRPr lang="en-US" sz="1400" dirty="0"/>
          </a:p>
        </p:txBody>
      </p:sp>
      <p:sp>
        <p:nvSpPr>
          <p:cNvPr id="4" name="Shape 2"/>
          <p:cNvSpPr/>
          <p:nvPr/>
        </p:nvSpPr>
        <p:spPr>
          <a:xfrm>
            <a:off x="640080" y="1737360"/>
            <a:ext cx="10972800" cy="914400"/>
          </a:xfrm>
          <a:prstGeom prst="rect">
            <a:avLst/>
          </a:prstGeom>
          <a:solidFill>
            <a:srgbClr val="21295C"/>
          </a:solidFill>
          <a:ln w="12700">
            <a:solidFill>
              <a:srgbClr val="21295C"/>
            </a:solidFill>
            <a:prstDash val="solid"/>
          </a:ln>
        </p:spPr>
      </p:sp>
      <p:sp>
        <p:nvSpPr>
          <p:cNvPr id="5" name="Text 3"/>
          <p:cNvSpPr/>
          <p:nvPr/>
        </p:nvSpPr>
        <p:spPr>
          <a:xfrm>
            <a:off x="822960" y="1783080"/>
            <a:ext cx="10607040" cy="365760"/>
          </a:xfrm>
          <a:prstGeom prst="rect">
            <a:avLst/>
          </a:prstGeom>
          <a:noFill/>
          <a:ln/>
        </p:spPr>
        <p:txBody>
          <a:bodyPr wrap="square"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Parent operating company</a:t>
            </a:r>
            <a:endParaRPr lang="en-US" sz="1600" dirty="0"/>
          </a:p>
        </p:txBody>
      </p:sp>
      <p:sp>
        <p:nvSpPr>
          <p:cNvPr id="6" name="Text 4"/>
          <p:cNvSpPr/>
          <p:nvPr/>
        </p:nvSpPr>
        <p:spPr>
          <a:xfrm>
            <a:off x="822960" y="2148840"/>
            <a:ext cx="10607040" cy="5029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Three principals at genesis tier — Governance, Domain, Ops/Cloud. Holds equity in GrowDirect.</a:t>
            </a:r>
            <a:endParaRPr lang="en-US" sz="1200" dirty="0"/>
          </a:p>
        </p:txBody>
      </p:sp>
      <p:sp>
        <p:nvSpPr>
          <p:cNvPr id="7" name="Shape 5"/>
          <p:cNvSpPr/>
          <p:nvPr/>
        </p:nvSpPr>
        <p:spPr>
          <a:xfrm>
            <a:off x="640080" y="2834640"/>
            <a:ext cx="10972800" cy="914400"/>
          </a:xfrm>
          <a:prstGeom prst="rect">
            <a:avLst/>
          </a:prstGeom>
          <a:solidFill>
            <a:srgbClr val="065A82"/>
          </a:solidFill>
          <a:ln w="12700">
            <a:solidFill>
              <a:srgbClr val="065A82"/>
            </a:solidFill>
            <a:prstDash val="solid"/>
          </a:ln>
        </p:spPr>
      </p:sp>
      <p:sp>
        <p:nvSpPr>
          <p:cNvPr id="8" name="Text 6"/>
          <p:cNvSpPr/>
          <p:nvPr/>
        </p:nvSpPr>
        <p:spPr>
          <a:xfrm>
            <a:off x="822960" y="2880360"/>
            <a:ext cx="10607040" cy="365760"/>
          </a:xfrm>
          <a:prstGeom prst="rect">
            <a:avLst/>
          </a:prstGeom>
          <a:noFill/>
          <a:ln/>
        </p:spPr>
        <p:txBody>
          <a:bodyPr wrap="square"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GrowDirect</a:t>
            </a:r>
            <a:endParaRPr lang="en-US" sz="1600" dirty="0"/>
          </a:p>
        </p:txBody>
      </p:sp>
      <p:sp>
        <p:nvSpPr>
          <p:cNvPr id="9" name="Text 7"/>
          <p:cNvSpPr/>
          <p:nvPr/>
        </p:nvSpPr>
        <p:spPr>
          <a:xfrm>
            <a:off x="822960" y="3246120"/>
            <a:ext cx="10607040" cy="5029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Owns the Canary IP stack (ILDWAC #63/991,596 + methodology + codebase). Founder serves as President of Retail.</a:t>
            </a:r>
            <a:endParaRPr lang="en-US" sz="1200" dirty="0"/>
          </a:p>
        </p:txBody>
      </p:sp>
      <p:sp>
        <p:nvSpPr>
          <p:cNvPr id="10" name="Shape 8"/>
          <p:cNvSpPr/>
          <p:nvPr/>
        </p:nvSpPr>
        <p:spPr>
          <a:xfrm>
            <a:off x="640080" y="3931920"/>
            <a:ext cx="10972800" cy="914400"/>
          </a:xfrm>
          <a:prstGeom prst="rect">
            <a:avLst/>
          </a:prstGeom>
          <a:solidFill>
            <a:srgbClr val="1C7293"/>
          </a:solidFill>
          <a:ln w="12700">
            <a:solidFill>
              <a:srgbClr val="1C7293"/>
            </a:solidFill>
            <a:prstDash val="solid"/>
          </a:ln>
        </p:spPr>
      </p:sp>
      <p:sp>
        <p:nvSpPr>
          <p:cNvPr id="11" name="Text 9"/>
          <p:cNvSpPr/>
          <p:nvPr/>
        </p:nvSpPr>
        <p:spPr>
          <a:xfrm>
            <a:off x="822960" y="3977640"/>
            <a:ext cx="10607040" cy="365760"/>
          </a:xfrm>
          <a:prstGeom prst="rect">
            <a:avLst/>
          </a:prstGeom>
          <a:noFill/>
          <a:ln/>
        </p:spPr>
        <p:txBody>
          <a:bodyPr wrap="square"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RapidPOS — channel partner</a:t>
            </a:r>
            <a:endParaRPr lang="en-US" sz="1600" dirty="0"/>
          </a:p>
        </p:txBody>
      </p:sp>
      <p:sp>
        <p:nvSpPr>
          <p:cNvPr id="12" name="Text 10"/>
          <p:cNvSpPr/>
          <p:nvPr/>
        </p:nvSpPr>
        <p:spPr>
          <a:xfrm>
            <a:off x="822960" y="4343400"/>
            <a:ext cx="10607040" cy="5029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Licenses Canary from GrowDirect. Customer base flows onto the platform via partnership, not acquisition. Founder serves concurrently as CTO.</a:t>
            </a:r>
            <a:endParaRPr lang="en-US" sz="1200" dirty="0"/>
          </a:p>
        </p:txBody>
      </p:sp>
      <p:sp>
        <p:nvSpPr>
          <p:cNvPr id="13" name="Shape 11"/>
          <p:cNvSpPr/>
          <p:nvPr/>
        </p:nvSpPr>
        <p:spPr>
          <a:xfrm>
            <a:off x="640080" y="5029200"/>
            <a:ext cx="10972800" cy="914400"/>
          </a:xfrm>
          <a:prstGeom prst="rect">
            <a:avLst/>
          </a:prstGeom>
          <a:solidFill>
            <a:srgbClr val="ECE2D0"/>
          </a:solidFill>
          <a:ln w="12700">
            <a:solidFill>
              <a:srgbClr val="ECE2D0"/>
            </a:solidFill>
            <a:prstDash val="solid"/>
          </a:ln>
        </p:spPr>
      </p:sp>
      <p:sp>
        <p:nvSpPr>
          <p:cNvPr id="14" name="Text 12"/>
          <p:cNvSpPr/>
          <p:nvPr/>
        </p:nvSpPr>
        <p:spPr>
          <a:xfrm>
            <a:off x="822960" y="5074920"/>
            <a:ext cx="10607040" cy="365760"/>
          </a:xfrm>
          <a:prstGeom prst="rect">
            <a:avLst/>
          </a:prstGeom>
          <a:noFill/>
          <a:ln/>
        </p:spPr>
        <p:txBody>
          <a:bodyPr wrap="square" rtlCol="0" anchor="ctr"/>
          <a:lstStyle/>
          <a:p>
            <a:pPr indent="0" marL="0">
              <a:buNone/>
            </a:pPr>
            <a:r>
              <a:rPr lang="en-US" sz="1600" b="1" dirty="0">
                <a:solidFill>
                  <a:srgbClr val="21295C"/>
                </a:solidFill>
                <a:latin typeface="Georgia" pitchFamily="34" charset="0"/>
                <a:ea typeface="Georgia" pitchFamily="34" charset="-122"/>
                <a:cs typeface="Georgia" pitchFamily="34" charset="-120"/>
              </a:rPr>
              <a:t>eljeffe Hash and Seal Protocol — substrate</a:t>
            </a:r>
            <a:endParaRPr lang="en-US" sz="1600" dirty="0"/>
          </a:p>
        </p:txBody>
      </p:sp>
      <p:sp>
        <p:nvSpPr>
          <p:cNvPr id="15" name="Text 13"/>
          <p:cNvSpPr/>
          <p:nvPr/>
        </p:nvSpPr>
        <p:spPr>
          <a:xfrm>
            <a:off x="822960" y="5440680"/>
            <a:ext cx="10607040" cy="502920"/>
          </a:xfrm>
          <a:prstGeom prst="rect">
            <a:avLst/>
          </a:prstGeom>
          <a:noFill/>
          <a:ln/>
        </p:spPr>
        <p:txBody>
          <a:bodyPr wrap="square" rtlCol="0" anchor="ctr"/>
          <a:lstStyle/>
          <a:p>
            <a:pPr indent="0" marL="0">
              <a:buNone/>
            </a:pPr>
            <a:r>
              <a:rPr lang="en-US" sz="1200" dirty="0">
                <a:solidFill>
                  <a:srgbClr val="21295C"/>
                </a:solidFill>
                <a:latin typeface="Calibri" pitchFamily="34" charset="0"/>
                <a:ea typeface="Calibri" pitchFamily="34" charset="-122"/>
                <a:cs typeface="Calibri" pitchFamily="34" charset="-120"/>
              </a:rPr>
              <a:t>Wyoming LLC + DAO LLC. Smart contracts, lineage-weighted ordinals, L402 micropayments, customer-owned data with DAO governance, BTC-denominated cost basis. Anti-extraction by construction.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rtlCol="0" anchor="ctr"/>
          <a:lstStyle/>
          <a:p>
            <a:pPr indent="0" marL="0">
              <a:buNone/>
            </a:pPr>
            <a:r>
              <a:rPr lang="en-US" sz="3600" b="1" dirty="0">
                <a:solidFill>
                  <a:srgbClr val="21295C"/>
                </a:solidFill>
                <a:latin typeface="Georgia" pitchFamily="34" charset="0"/>
                <a:ea typeface="Georgia" pitchFamily="34" charset="-122"/>
                <a:cs typeface="Georgia" pitchFamily="34" charset="-120"/>
              </a:rPr>
              <a:t>Three-pillar genesis</a:t>
            </a:r>
            <a:endParaRPr lang="en-US" sz="3600" dirty="0"/>
          </a:p>
        </p:txBody>
      </p:sp>
      <p:sp>
        <p:nvSpPr>
          <p:cNvPr id="3" name="Text 1"/>
          <p:cNvSpPr/>
          <p:nvPr/>
        </p:nvSpPr>
        <p:spPr>
          <a:xfrm>
            <a:off x="640080" y="1188720"/>
            <a:ext cx="10972800" cy="365760"/>
          </a:xfrm>
          <a:prstGeom prst="rect">
            <a:avLst/>
          </a:prstGeom>
          <a:noFill/>
          <a:ln/>
        </p:spPr>
        <p:txBody>
          <a:bodyPr wrap="square"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Roles, not names. Each pillar carries a specific kind of authority.</a:t>
            </a:r>
            <a:endParaRPr lang="en-US" sz="1400" dirty="0"/>
          </a:p>
        </p:txBody>
      </p:sp>
      <p:sp>
        <p:nvSpPr>
          <p:cNvPr id="4" name="Shape 2"/>
          <p:cNvSpPr/>
          <p:nvPr/>
        </p:nvSpPr>
        <p:spPr>
          <a:xfrm>
            <a:off x="640080" y="1828800"/>
            <a:ext cx="3520440" cy="4206240"/>
          </a:xfrm>
          <a:prstGeom prst="rect">
            <a:avLst/>
          </a:prstGeom>
          <a:solidFill>
            <a:srgbClr val="FFFFFF"/>
          </a:solidFill>
          <a:ln w="19050">
            <a:solidFill>
              <a:srgbClr val="21295C"/>
            </a:solidFill>
            <a:prstDash val="solid"/>
          </a:ln>
        </p:spPr>
      </p:sp>
      <p:sp>
        <p:nvSpPr>
          <p:cNvPr id="5" name="Text 3"/>
          <p:cNvSpPr/>
          <p:nvPr/>
        </p:nvSpPr>
        <p:spPr>
          <a:xfrm>
            <a:off x="868680" y="1965960"/>
            <a:ext cx="3200400" cy="365760"/>
          </a:xfrm>
          <a:prstGeom prst="rect">
            <a:avLst/>
          </a:prstGeom>
          <a:noFill/>
          <a:ln/>
        </p:spPr>
        <p:txBody>
          <a:bodyPr wrap="square"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DOMAIN</a:t>
            </a:r>
            <a:endParaRPr lang="en-US" sz="1100" dirty="0"/>
          </a:p>
        </p:txBody>
      </p:sp>
      <p:sp>
        <p:nvSpPr>
          <p:cNvPr id="6" name="Text 4"/>
          <p:cNvSpPr/>
          <p:nvPr/>
        </p:nvSpPr>
        <p:spPr>
          <a:xfrm>
            <a:off x="868680" y="2331720"/>
            <a:ext cx="3200400" cy="548640"/>
          </a:xfrm>
          <a:prstGeom prst="rect">
            <a:avLst/>
          </a:prstGeom>
          <a:noFill/>
          <a:ln/>
        </p:spPr>
        <p:txBody>
          <a:bodyPr wrap="square" rtlCol="0" anchor="ctr"/>
          <a:lstStyle/>
          <a:p>
            <a:pPr indent="0" marL="0">
              <a:buNone/>
            </a:pPr>
            <a:r>
              <a:rPr lang="en-US" sz="2200" b="1" dirty="0">
                <a:solidFill>
                  <a:srgbClr val="21295C"/>
                </a:solidFill>
                <a:latin typeface="Georgia" pitchFamily="34" charset="0"/>
                <a:ea typeface="Georgia" pitchFamily="34" charset="-122"/>
                <a:cs typeface="Georgia" pitchFamily="34" charset="-120"/>
              </a:rPr>
              <a:t>Domain principal</a:t>
            </a:r>
            <a:endParaRPr lang="en-US" sz="2200" dirty="0"/>
          </a:p>
        </p:txBody>
      </p:sp>
      <p:sp>
        <p:nvSpPr>
          <p:cNvPr id="7" name="Text 5"/>
          <p:cNvSpPr/>
          <p:nvPr/>
        </p:nvSpPr>
        <p:spPr>
          <a:xfrm>
            <a:off x="868680" y="2926080"/>
            <a:ext cx="3200400" cy="365760"/>
          </a:xfrm>
          <a:prstGeom prst="rect">
            <a:avLst/>
          </a:prstGeom>
          <a:noFill/>
          <a:ln/>
        </p:spPr>
        <p:txBody>
          <a:bodyPr wrap="square" rtlCol="0" anchor="ctr"/>
          <a:lstStyle/>
          <a:p>
            <a:pPr indent="0" marL="0">
              <a:buNone/>
            </a:pPr>
            <a:r>
              <a:rPr lang="en-US" sz="1600" i="1" dirty="0">
                <a:solidFill>
                  <a:srgbClr val="065A82"/>
                </a:solidFill>
                <a:latin typeface="Georgia" pitchFamily="34" charset="0"/>
                <a:ea typeface="Georgia" pitchFamily="34" charset="-122"/>
                <a:cs typeface="Georgia" pitchFamily="34" charset="-120"/>
              </a:rPr>
              <a:t>You.</a:t>
            </a:r>
            <a:endParaRPr lang="en-US" sz="1600" dirty="0"/>
          </a:p>
        </p:txBody>
      </p:sp>
      <p:sp>
        <p:nvSpPr>
          <p:cNvPr id="8" name="Text 6"/>
          <p:cNvSpPr/>
          <p:nvPr/>
        </p:nvSpPr>
        <p:spPr>
          <a:xfrm>
            <a:off x="868680" y="3383280"/>
            <a:ext cx="3200400" cy="2468880"/>
          </a:xfrm>
          <a:prstGeom prst="rect">
            <a:avLst/>
          </a:prstGeom>
          <a:noFill/>
          <a:ln/>
        </p:spPr>
        <p:txBody>
          <a:bodyPr wrap="square" rtlCol="0" anchor="t"/>
          <a:lstStyle/>
          <a:p>
            <a:pPr indent="0" marL="0">
              <a:buNone/>
            </a:pPr>
            <a:r>
              <a:rPr lang="en-US" sz="1200" dirty="0">
                <a:solidFill>
                  <a:srgbClr val="36454F"/>
                </a:solidFill>
                <a:latin typeface="Calibri" pitchFamily="34" charset="0"/>
                <a:ea typeface="Calibri" pitchFamily="34" charset="-122"/>
                <a:cs typeface="Calibri" pitchFamily="34" charset="-120"/>
              </a:rPr>
              <a:t>25+ years retail-tech expertise. Canary IP stack contribution. Strategic leadership of the retail vertical. President of Retail at GrowDirect; CTO of RapidPOS during transition. The dual role keeps strategy and operations in the same hands.</a:t>
            </a:r>
            <a:endParaRPr lang="en-US" sz="1200" dirty="0"/>
          </a:p>
        </p:txBody>
      </p:sp>
      <p:sp>
        <p:nvSpPr>
          <p:cNvPr id="9" name="Shape 7"/>
          <p:cNvSpPr/>
          <p:nvPr/>
        </p:nvSpPr>
        <p:spPr>
          <a:xfrm>
            <a:off x="4389120" y="1828800"/>
            <a:ext cx="3520440" cy="4206240"/>
          </a:xfrm>
          <a:prstGeom prst="rect">
            <a:avLst/>
          </a:prstGeom>
          <a:solidFill>
            <a:srgbClr val="FFFFFF"/>
          </a:solidFill>
          <a:ln w="19050">
            <a:solidFill>
              <a:srgbClr val="21295C"/>
            </a:solidFill>
            <a:prstDash val="solid"/>
          </a:ln>
        </p:spPr>
      </p:sp>
      <p:sp>
        <p:nvSpPr>
          <p:cNvPr id="10" name="Text 8"/>
          <p:cNvSpPr/>
          <p:nvPr/>
        </p:nvSpPr>
        <p:spPr>
          <a:xfrm>
            <a:off x="4617720" y="1965960"/>
            <a:ext cx="3200400" cy="365760"/>
          </a:xfrm>
          <a:prstGeom prst="rect">
            <a:avLst/>
          </a:prstGeom>
          <a:noFill/>
          <a:ln/>
        </p:spPr>
        <p:txBody>
          <a:bodyPr wrap="square"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GOVERNANCE</a:t>
            </a:r>
            <a:endParaRPr lang="en-US" sz="1100" dirty="0"/>
          </a:p>
        </p:txBody>
      </p:sp>
      <p:sp>
        <p:nvSpPr>
          <p:cNvPr id="11" name="Text 9"/>
          <p:cNvSpPr/>
          <p:nvPr/>
        </p:nvSpPr>
        <p:spPr>
          <a:xfrm>
            <a:off x="4617720" y="2331720"/>
            <a:ext cx="3200400" cy="548640"/>
          </a:xfrm>
          <a:prstGeom prst="rect">
            <a:avLst/>
          </a:prstGeom>
          <a:noFill/>
          <a:ln/>
        </p:spPr>
        <p:txBody>
          <a:bodyPr wrap="square" rtlCol="0" anchor="ctr"/>
          <a:lstStyle/>
          <a:p>
            <a:pPr indent="0" marL="0">
              <a:buNone/>
            </a:pPr>
            <a:r>
              <a:rPr lang="en-US" sz="2200" b="1" dirty="0">
                <a:solidFill>
                  <a:srgbClr val="21295C"/>
                </a:solidFill>
                <a:latin typeface="Georgia" pitchFamily="34" charset="0"/>
                <a:ea typeface="Georgia" pitchFamily="34" charset="-122"/>
                <a:cs typeface="Georgia" pitchFamily="34" charset="-120"/>
              </a:rPr>
              <a:t>Governance principal</a:t>
            </a:r>
            <a:endParaRPr lang="en-US" sz="2200" dirty="0"/>
          </a:p>
        </p:txBody>
      </p:sp>
      <p:sp>
        <p:nvSpPr>
          <p:cNvPr id="12" name="Text 10"/>
          <p:cNvSpPr/>
          <p:nvPr/>
        </p:nvSpPr>
        <p:spPr>
          <a:xfrm>
            <a:off x="4617720" y="2926080"/>
            <a:ext cx="3200400" cy="365760"/>
          </a:xfrm>
          <a:prstGeom prst="rect">
            <a:avLst/>
          </a:prstGeom>
          <a:noFill/>
          <a:ln/>
        </p:spPr>
        <p:txBody>
          <a:bodyPr wrap="square" rtlCol="0" anchor="ctr"/>
          <a:lstStyle/>
          <a:p>
            <a:pPr indent="0" marL="0">
              <a:buNone/>
            </a:pPr>
            <a:r>
              <a:rPr lang="en-US" sz="1600" i="1" dirty="0">
                <a:solidFill>
                  <a:srgbClr val="065A82"/>
                </a:solidFill>
                <a:latin typeface="Georgia" pitchFamily="34" charset="0"/>
                <a:ea typeface="Georgia" pitchFamily="34" charset="-122"/>
                <a:cs typeface="Georgia" pitchFamily="34" charset="-120"/>
              </a:rPr>
              <a:t>Tim.</a:t>
            </a:r>
            <a:endParaRPr lang="en-US" sz="1600" dirty="0"/>
          </a:p>
        </p:txBody>
      </p:sp>
      <p:sp>
        <p:nvSpPr>
          <p:cNvPr id="13" name="Text 11"/>
          <p:cNvSpPr/>
          <p:nvPr/>
        </p:nvSpPr>
        <p:spPr>
          <a:xfrm>
            <a:off x="4617720" y="3383280"/>
            <a:ext cx="3200400" cy="2468880"/>
          </a:xfrm>
          <a:prstGeom prst="rect">
            <a:avLst/>
          </a:prstGeom>
          <a:noFill/>
          <a:ln/>
        </p:spPr>
        <p:txBody>
          <a:bodyPr wrap="square" rtlCol="0" anchor="t"/>
          <a:lstStyle/>
          <a:p>
            <a:pPr indent="0" marL="0">
              <a:buNone/>
            </a:pPr>
            <a:r>
              <a:rPr lang="en-US" sz="1200" dirty="0">
                <a:solidFill>
                  <a:srgbClr val="36454F"/>
                </a:solidFill>
                <a:latin typeface="Calibri" pitchFamily="34" charset="0"/>
                <a:ea typeface="Calibri" pitchFamily="34" charset="-122"/>
                <a:cs typeface="Calibri" pitchFamily="34" charset="-120"/>
              </a:rPr>
              <a:t>Bylaws stewardship. DAO-process oversight. Compliance-architecture sign-off at the principal level. Co-founder of the parent operating company. The long-term governance signal.</a:t>
            </a:r>
            <a:endParaRPr lang="en-US" sz="1200" dirty="0"/>
          </a:p>
        </p:txBody>
      </p:sp>
      <p:sp>
        <p:nvSpPr>
          <p:cNvPr id="14" name="Shape 12"/>
          <p:cNvSpPr/>
          <p:nvPr/>
        </p:nvSpPr>
        <p:spPr>
          <a:xfrm>
            <a:off x="8138160" y="1828800"/>
            <a:ext cx="3520440" cy="4206240"/>
          </a:xfrm>
          <a:prstGeom prst="rect">
            <a:avLst/>
          </a:prstGeom>
          <a:solidFill>
            <a:srgbClr val="FFFFFF"/>
          </a:solidFill>
          <a:ln w="19050">
            <a:solidFill>
              <a:srgbClr val="21295C"/>
            </a:solidFill>
            <a:prstDash val="solid"/>
          </a:ln>
        </p:spPr>
      </p:sp>
      <p:sp>
        <p:nvSpPr>
          <p:cNvPr id="15" name="Text 13"/>
          <p:cNvSpPr/>
          <p:nvPr/>
        </p:nvSpPr>
        <p:spPr>
          <a:xfrm>
            <a:off x="8366760" y="1965960"/>
            <a:ext cx="3200400" cy="365760"/>
          </a:xfrm>
          <a:prstGeom prst="rect">
            <a:avLst/>
          </a:prstGeom>
          <a:noFill/>
          <a:ln/>
        </p:spPr>
        <p:txBody>
          <a:bodyPr wrap="square"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OPS / CLOUD</a:t>
            </a:r>
            <a:endParaRPr lang="en-US" sz="1100" dirty="0"/>
          </a:p>
        </p:txBody>
      </p:sp>
      <p:sp>
        <p:nvSpPr>
          <p:cNvPr id="16" name="Text 14"/>
          <p:cNvSpPr/>
          <p:nvPr/>
        </p:nvSpPr>
        <p:spPr>
          <a:xfrm>
            <a:off x="8366760" y="2331720"/>
            <a:ext cx="3200400" cy="548640"/>
          </a:xfrm>
          <a:prstGeom prst="rect">
            <a:avLst/>
          </a:prstGeom>
          <a:noFill/>
          <a:ln/>
        </p:spPr>
        <p:txBody>
          <a:bodyPr wrap="square" rtlCol="0" anchor="ctr"/>
          <a:lstStyle/>
          <a:p>
            <a:pPr indent="0" marL="0">
              <a:buNone/>
            </a:pPr>
            <a:r>
              <a:rPr lang="en-US" sz="2200" b="1" dirty="0">
                <a:solidFill>
                  <a:srgbClr val="21295C"/>
                </a:solidFill>
                <a:latin typeface="Georgia" pitchFamily="34" charset="0"/>
                <a:ea typeface="Georgia" pitchFamily="34" charset="-122"/>
                <a:cs typeface="Georgia" pitchFamily="34" charset="-120"/>
              </a:rPr>
              <a:t>Ops principal</a:t>
            </a:r>
            <a:endParaRPr lang="en-US" sz="2200" dirty="0"/>
          </a:p>
        </p:txBody>
      </p:sp>
      <p:sp>
        <p:nvSpPr>
          <p:cNvPr id="17" name="Text 15"/>
          <p:cNvSpPr/>
          <p:nvPr/>
        </p:nvSpPr>
        <p:spPr>
          <a:xfrm>
            <a:off x="8366760" y="2926080"/>
            <a:ext cx="3200400" cy="365760"/>
          </a:xfrm>
          <a:prstGeom prst="rect">
            <a:avLst/>
          </a:prstGeom>
          <a:noFill/>
          <a:ln/>
        </p:spPr>
        <p:txBody>
          <a:bodyPr wrap="square" rtlCol="0" anchor="ctr"/>
          <a:lstStyle/>
          <a:p>
            <a:pPr indent="0" marL="0">
              <a:buNone/>
            </a:pPr>
            <a:r>
              <a:rPr lang="en-US" sz="1600" i="1" dirty="0">
                <a:solidFill>
                  <a:srgbClr val="065A82"/>
                </a:solidFill>
                <a:latin typeface="Georgia" pitchFamily="34" charset="0"/>
                <a:ea typeface="Georgia" pitchFamily="34" charset="-122"/>
                <a:cs typeface="Georgia" pitchFamily="34" charset="-120"/>
              </a:rPr>
              <a:t>Third — TBD.</a:t>
            </a:r>
            <a:endParaRPr lang="en-US" sz="1600" dirty="0"/>
          </a:p>
        </p:txBody>
      </p:sp>
      <p:sp>
        <p:nvSpPr>
          <p:cNvPr id="18" name="Text 16"/>
          <p:cNvSpPr/>
          <p:nvPr/>
        </p:nvSpPr>
        <p:spPr>
          <a:xfrm>
            <a:off x="8366760" y="3383280"/>
            <a:ext cx="3200400" cy="2468880"/>
          </a:xfrm>
          <a:prstGeom prst="rect">
            <a:avLst/>
          </a:prstGeom>
          <a:noFill/>
          <a:ln/>
        </p:spPr>
        <p:txBody>
          <a:bodyPr wrap="square" rtlCol="0" anchor="t"/>
          <a:lstStyle/>
          <a:p>
            <a:pPr indent="0" marL="0">
              <a:buNone/>
            </a:pPr>
            <a:r>
              <a:rPr lang="en-US" sz="1200" dirty="0">
                <a:solidFill>
                  <a:srgbClr val="36454F"/>
                </a:solidFill>
                <a:latin typeface="Calibri" pitchFamily="34" charset="0"/>
                <a:ea typeface="Calibri" pitchFamily="34" charset="-122"/>
                <a:cs typeface="Calibri" pitchFamily="34" charset="-120"/>
              </a:rPr>
              <a:t>GCP architecture. Substrate operation. The infrastructure layer that runs the protocol. Tim's existing partner, a separately-recruited cloud-architecture lead, or the compliance-architecture lead elevated. Founder + Tim alignment to name.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rtlCol="0" anchor="ctr"/>
          <a:lstStyle/>
          <a:p>
            <a:pPr indent="0" marL="0">
              <a:buNone/>
            </a:pPr>
            <a:r>
              <a:rPr lang="en-US" sz="3600" b="1" dirty="0">
                <a:solidFill>
                  <a:srgbClr val="21295C"/>
                </a:solidFill>
                <a:latin typeface="Georgia" pitchFamily="34" charset="0"/>
                <a:ea typeface="Georgia" pitchFamily="34" charset="-122"/>
                <a:cs typeface="Georgia" pitchFamily="34" charset="-120"/>
              </a:rPr>
              <a:t>Economics in shape</a:t>
            </a:r>
            <a:endParaRPr lang="en-US" sz="3600" dirty="0"/>
          </a:p>
        </p:txBody>
      </p:sp>
      <p:sp>
        <p:nvSpPr>
          <p:cNvPr id="3" name="Text 1"/>
          <p:cNvSpPr/>
          <p:nvPr/>
        </p:nvSpPr>
        <p:spPr>
          <a:xfrm>
            <a:off x="640080" y="1188720"/>
            <a:ext cx="10972800" cy="365760"/>
          </a:xfrm>
          <a:prstGeom prst="rect">
            <a:avLst/>
          </a:prstGeom>
          <a:noFill/>
          <a:ln/>
        </p:spPr>
        <p:txBody>
          <a:bodyPr wrap="square"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Three-year sketch. Illustrative ranges. Why the numbers work.</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6858000" cy="914400"/>
        </p:xfrm>
        <a:graphic>
          <a:graphicData uri="http://schemas.openxmlformats.org/drawingml/2006/table">
            <a:tbl>
              <a:tblPr/>
              <a:tblGrid>
                <a:gridCol w="548640"/>
                <a:gridCol w="1280160"/>
                <a:gridCol w="1554480"/>
                <a:gridCol w="3474720"/>
              </a:tblGrid>
              <a:tr h="0">
                <a:tc>
                  <a:txBody>
                    <a:bodyPr/>
                    <a:lstStyle/>
                    <a:p>
                      <a:pPr indent="0" marL="0">
                        <a:buNone/>
                      </a:pPr>
                      <a:r>
                        <a:rPr lang="en-US" sz="1200" b="1" dirty="0">
                          <a:solidFill>
                            <a:srgbClr val="FFFFFF"/>
                          </a:solidFill>
                          <a:latin typeface="Georgia" pitchFamily="34" charset="0"/>
                          <a:ea typeface="Georgia" pitchFamily="34" charset="-122"/>
                          <a:cs typeface="Georgia" pitchFamily="34" charset="-120"/>
                        </a:rPr>
                        <a:t>Year</a:t>
                      </a:r>
                      <a:endParaRPr lang="en-US" sz="1200" dirty="0">
                        <a:latin typeface="Georgia" charset="0"/>
                        <a:ea typeface="Georgia" charset="0"/>
                        <a:cs typeface="Georgia"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Georgia" pitchFamily="34" charset="0"/>
                          <a:ea typeface="Georgia" pitchFamily="34" charset="-122"/>
                          <a:cs typeface="Georgia" pitchFamily="34" charset="-120"/>
                        </a:rPr>
                        <a:t>Revenue</a:t>
                      </a:r>
                      <a:endParaRPr lang="en-US" sz="1200" dirty="0">
                        <a:latin typeface="Georgia" charset="0"/>
                        <a:ea typeface="Georgia" charset="0"/>
                        <a:cs typeface="Georgia"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Georgia" pitchFamily="34" charset="0"/>
                          <a:ea typeface="Georgia" pitchFamily="34" charset="-122"/>
                          <a:cs typeface="Georgia" pitchFamily="34" charset="-120"/>
                        </a:rPr>
                        <a:t>Net</a:t>
                      </a:r>
                      <a:endParaRPr lang="en-US" sz="1200" dirty="0">
                        <a:latin typeface="Georgia" charset="0"/>
                        <a:ea typeface="Georgia" charset="0"/>
                        <a:cs typeface="Georgia"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Georgia" pitchFamily="34" charset="0"/>
                          <a:ea typeface="Georgia" pitchFamily="34" charset="-122"/>
                          <a:cs typeface="Georgia" pitchFamily="34" charset="-120"/>
                        </a:rPr>
                        <a:t>What's happening</a:t>
                      </a:r>
                      <a:endParaRPr lang="en-US" sz="1200" dirty="0">
                        <a:latin typeface="Georgia" charset="0"/>
                        <a:ea typeface="Georgia" charset="0"/>
                        <a:cs typeface="Georgia"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21295C"/>
                    </a:solidFill>
                  </a:tcPr>
                </a:tc>
              </a:tr>
              <a:tr h="0">
                <a:tc>
                  <a:txBody>
                    <a:bodyPr/>
                    <a:lstStyle/>
                    <a:p>
                      <a:pPr indent="0" marL="0">
                        <a:buNone/>
                      </a:pPr>
                      <a:r>
                        <a:rPr lang="en-US" sz="1100" dirty="0">
                          <a:solidFill>
                            <a:srgbClr val="36454F"/>
                          </a:solidFill>
                          <a:latin typeface="Calibri" pitchFamily="34" charset="0"/>
                          <a:ea typeface="Calibri" pitchFamily="34" charset="-122"/>
                          <a:cs typeface="Calibri" pitchFamily="34" charset="-120"/>
                        </a:rPr>
                        <a:t>Y1</a:t>
                      </a:r>
                      <a:endParaRPr lang="en-US" sz="11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100" dirty="0">
                          <a:solidFill>
                            <a:srgbClr val="36454F"/>
                          </a:solidFill>
                          <a:latin typeface="Calibri" pitchFamily="34" charset="0"/>
                          <a:ea typeface="Calibri" pitchFamily="34" charset="-122"/>
                          <a:cs typeface="Calibri" pitchFamily="34" charset="-120"/>
                        </a:rPr>
                        <a:t>$1-2M</a:t>
                      </a:r>
                      <a:endParaRPr lang="en-US" sz="11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100" dirty="0">
                          <a:solidFill>
                            <a:srgbClr val="36454F"/>
                          </a:solidFill>
                          <a:latin typeface="Calibri" pitchFamily="34" charset="0"/>
                          <a:ea typeface="Calibri" pitchFamily="34" charset="-122"/>
                          <a:cs typeface="Calibri" pitchFamily="34" charset="-120"/>
                        </a:rPr>
                        <a:t>~breakeven</a:t>
                      </a:r>
                      <a:endParaRPr lang="en-US" sz="11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100" dirty="0">
                          <a:solidFill>
                            <a:srgbClr val="36454F"/>
                          </a:solidFill>
                          <a:latin typeface="Calibri" pitchFamily="34" charset="0"/>
                          <a:ea typeface="Calibri" pitchFamily="34" charset="-122"/>
                          <a:cs typeface="Calibri" pitchFamily="34" charset="-120"/>
                        </a:rPr>
                        <a:t>Eager-cohort migrating; first Square-BTC merchants; foundation built</a:t>
                      </a:r>
                      <a:endParaRPr lang="en-US" sz="11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36454F"/>
                          </a:solidFill>
                          <a:latin typeface="Calibri" pitchFamily="34" charset="0"/>
                          <a:ea typeface="Calibri" pitchFamily="34" charset="-122"/>
                          <a:cs typeface="Calibri" pitchFamily="34" charset="-120"/>
                        </a:rPr>
                        <a:t>Y2</a:t>
                      </a:r>
                      <a:endParaRPr lang="en-US" sz="11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1E8"/>
                    </a:solidFill>
                  </a:tcPr>
                </a:tc>
                <a:tc>
                  <a:txBody>
                    <a:bodyPr/>
                    <a:lstStyle/>
                    <a:p>
                      <a:pPr indent="0" marL="0">
                        <a:buNone/>
                      </a:pPr>
                      <a:r>
                        <a:rPr lang="en-US" sz="1100" dirty="0">
                          <a:solidFill>
                            <a:srgbClr val="36454F"/>
                          </a:solidFill>
                          <a:latin typeface="Calibri" pitchFamily="34" charset="0"/>
                          <a:ea typeface="Calibri" pitchFamily="34" charset="-122"/>
                          <a:cs typeface="Calibri" pitchFamily="34" charset="-120"/>
                        </a:rPr>
                        <a:t>$5-10M</a:t>
                      </a:r>
                      <a:endParaRPr lang="en-US" sz="11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1E8"/>
                    </a:solidFill>
                  </a:tcPr>
                </a:tc>
                <a:tc>
                  <a:txBody>
                    <a:bodyPr/>
                    <a:lstStyle/>
                    <a:p>
                      <a:pPr indent="0" marL="0">
                        <a:buNone/>
                      </a:pPr>
                      <a:r>
                        <a:rPr lang="en-US" sz="1100" dirty="0">
                          <a:solidFill>
                            <a:srgbClr val="36454F"/>
                          </a:solidFill>
                          <a:latin typeface="Calibri" pitchFamily="34" charset="0"/>
                          <a:ea typeface="Calibri" pitchFamily="34" charset="-122"/>
                          <a:cs typeface="Calibri" pitchFamily="34" charset="-120"/>
                        </a:rPr>
                        <a:t>$1-4M positive</a:t>
                      </a:r>
                      <a:endParaRPr lang="en-US" sz="11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1E8"/>
                    </a:solidFill>
                  </a:tcPr>
                </a:tc>
                <a:tc>
                  <a:txBody>
                    <a:bodyPr/>
                    <a:lstStyle/>
                    <a:p>
                      <a:pPr indent="0" marL="0">
                        <a:buNone/>
                      </a:pPr>
                      <a:r>
                        <a:rPr lang="en-US" sz="1100" dirty="0">
                          <a:solidFill>
                            <a:srgbClr val="36454F"/>
                          </a:solidFill>
                          <a:latin typeface="Calibri" pitchFamily="34" charset="0"/>
                          <a:ea typeface="Calibri" pitchFamily="34" charset="-122"/>
                          <a:cs typeface="Calibri" pitchFamily="34" charset="-120"/>
                        </a:rPr>
                        <a:t>Steady cohort migrating; ISO 27001 cert; DriftPOS GA; new-logo wins</a:t>
                      </a:r>
                      <a:endParaRPr lang="en-US" sz="11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5F1E8"/>
                    </a:solidFill>
                  </a:tcPr>
                </a:tc>
              </a:tr>
              <a:tr h="0">
                <a:tc>
                  <a:txBody>
                    <a:bodyPr/>
                    <a:lstStyle/>
                    <a:p>
                      <a:pPr indent="0" marL="0">
                        <a:buNone/>
                      </a:pPr>
                      <a:r>
                        <a:rPr lang="en-US" sz="1100" dirty="0">
                          <a:solidFill>
                            <a:srgbClr val="36454F"/>
                          </a:solidFill>
                          <a:latin typeface="Calibri" pitchFamily="34" charset="0"/>
                          <a:ea typeface="Calibri" pitchFamily="34" charset="-122"/>
                          <a:cs typeface="Calibri" pitchFamily="34" charset="-120"/>
                        </a:rPr>
                        <a:t>Y3</a:t>
                      </a:r>
                      <a:endParaRPr lang="en-US" sz="11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100" dirty="0">
                          <a:solidFill>
                            <a:srgbClr val="36454F"/>
                          </a:solidFill>
                          <a:latin typeface="Calibri" pitchFamily="34" charset="0"/>
                          <a:ea typeface="Calibri" pitchFamily="34" charset="-122"/>
                          <a:cs typeface="Calibri" pitchFamily="34" charset="-120"/>
                        </a:rPr>
                        <a:t>$15-40M</a:t>
                      </a:r>
                      <a:endParaRPr lang="en-US" sz="11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100" dirty="0">
                          <a:solidFill>
                            <a:srgbClr val="36454F"/>
                          </a:solidFill>
                          <a:latin typeface="Calibri" pitchFamily="34" charset="0"/>
                          <a:ea typeface="Calibri" pitchFamily="34" charset="-122"/>
                          <a:cs typeface="Calibri" pitchFamily="34" charset="-120"/>
                        </a:rPr>
                        <a:t>$7-22M positive</a:t>
                      </a:r>
                      <a:endParaRPr lang="en-US" sz="11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c>
                  <a:txBody>
                    <a:bodyPr/>
                    <a:lstStyle/>
                    <a:p>
                      <a:pPr indent="0" marL="0">
                        <a:buNone/>
                      </a:pPr>
                      <a:r>
                        <a:rPr lang="en-US" sz="1100" dirty="0">
                          <a:solidFill>
                            <a:srgbClr val="36454F"/>
                          </a:solidFill>
                          <a:latin typeface="Calibri" pitchFamily="34" charset="0"/>
                          <a:ea typeface="Calibri" pitchFamily="34" charset="-122"/>
                          <a:cs typeface="Calibri" pitchFamily="34" charset="-120"/>
                        </a:rPr>
                        <a:t>Full cohort migration; possible first anchor; channel-partner momentum</a:t>
                      </a:r>
                      <a:endParaRPr lang="en-US" sz="1100" dirty="0">
                        <a:latin typeface="Calibri" charset="0"/>
                        <a:ea typeface="Calibri" charset="0"/>
                        <a:cs typeface="Calibri" charset="0"/>
                      </a:endParaRPr>
                    </a:p>
                  </a:txBody>
                  <a:tcPr marL="91440" marR="91440" marT="45720" marB="45720" anchor="ctr">
                    <a:lnL w="6350" cap="flat" cmpd="sng" algn="ctr">
                      <a:solidFill>
                        <a:srgbClr val="D0D0D0"/>
                      </a:solidFill>
                      <a:prstDash val="solid"/>
                      <a:round/>
                      <a:headEnd type="none" w="med" len="med"/>
                      <a:tailEnd type="none" w="med" len="med"/>
                    </a:lnL>
                    <a:lnR w="6350" cap="flat" cmpd="sng" algn="ctr">
                      <a:solidFill>
                        <a:srgbClr val="D0D0D0"/>
                      </a:solidFill>
                      <a:prstDash val="solid"/>
                      <a:round/>
                      <a:headEnd type="none" w="med" len="med"/>
                      <a:tailEnd type="none" w="med" len="med"/>
                    </a:lnR>
                    <a:lnT w="6350" cap="flat" cmpd="sng" algn="ctr">
                      <a:solidFill>
                        <a:srgbClr val="D0D0D0"/>
                      </a:solidFill>
                      <a:prstDash val="solid"/>
                      <a:round/>
                      <a:headEnd type="none" w="med" len="med"/>
                      <a:tailEnd type="none" w="med" len="med"/>
                    </a:lnT>
                    <a:lnB w="6350" cap="flat" cmpd="sng" algn="ctr">
                      <a:solidFill>
                        <a:srgbClr val="D0D0D0"/>
                      </a:solidFill>
                      <a:prstDash val="solid"/>
                      <a:round/>
                      <a:headEnd type="none" w="med" len="med"/>
                      <a:tailEnd type="none" w="med" len="med"/>
                    </a:lnB>
                    <a:solidFill>
                      <a:srgbClr val="FFFFFF"/>
                    </a:solidFill>
                  </a:tcPr>
                </a:tc>
              </a:tr>
            </a:tbl>
          </a:graphicData>
        </a:graphic>
      </p:graphicFrame>
      <p:sp>
        <p:nvSpPr>
          <p:cNvPr id="5" name="Text 2"/>
          <p:cNvSpPr/>
          <p:nvPr/>
        </p:nvSpPr>
        <p:spPr>
          <a:xfrm>
            <a:off x="7863840" y="1828800"/>
            <a:ext cx="4023360" cy="365760"/>
          </a:xfrm>
          <a:prstGeom prst="rect">
            <a:avLst/>
          </a:prstGeom>
          <a:noFill/>
          <a:ln/>
        </p:spPr>
        <p:txBody>
          <a:bodyPr wrap="square" rtlCol="0" anchor="ctr"/>
          <a:lstStyle/>
          <a:p>
            <a:pPr indent="0" marL="0">
              <a:buNone/>
            </a:pPr>
            <a:r>
              <a:rPr lang="en-US" sz="1300" b="1" dirty="0">
                <a:solidFill>
                  <a:srgbClr val="21295C"/>
                </a:solidFill>
                <a:latin typeface="Georgia" pitchFamily="34" charset="0"/>
                <a:ea typeface="Georgia" pitchFamily="34" charset="-122"/>
                <a:cs typeface="Georgia" pitchFamily="34" charset="-120"/>
              </a:rPr>
              <a:t>Why this works where typical SaaS doesn't:</a:t>
            </a:r>
            <a:endParaRPr lang="en-US" sz="1300" dirty="0"/>
          </a:p>
        </p:txBody>
      </p:sp>
      <p:sp>
        <p:nvSpPr>
          <p:cNvPr id="6" name="Text 3"/>
          <p:cNvSpPr/>
          <p:nvPr/>
        </p:nvSpPr>
        <p:spPr>
          <a:xfrm>
            <a:off x="7863840" y="2286000"/>
            <a:ext cx="4023360" cy="3657600"/>
          </a:xfrm>
          <a:prstGeom prst="rect">
            <a:avLst/>
          </a:prstGeom>
          <a:noFill/>
          <a:ln/>
        </p:spPr>
        <p:txBody>
          <a:bodyPr wrap="square" rtlCol="0" anchor="t"/>
          <a:lstStyle/>
          <a:p>
            <a:pPr indent="0" marL="0">
              <a:spcAft>
                <a:spcPts val="400"/>
              </a:spcAft>
              <a:buNone/>
            </a:pPr>
            <a:r>
              <a:rPr lang="en-US" sz="1100" b="1" dirty="0">
                <a:solidFill>
                  <a:srgbClr val="36454F"/>
                </a:solidFill>
                <a:latin typeface="Calibri" pitchFamily="34" charset="0"/>
                <a:ea typeface="Calibri" pitchFamily="34" charset="-122"/>
                <a:cs typeface="Calibri" pitchFamily="34" charset="-120"/>
              </a:rPr>
              <a:t>• No acquisition cost. </a:t>
            </a:r>
            <a:pPr indent="0" marL="0">
              <a:spcAft>
                <a:spcPts val="400"/>
              </a:spcAft>
              <a:buNone/>
            </a:pPr>
            <a:r>
              <a:rPr lang="en-US" sz="1100" dirty="0">
                <a:solidFill>
                  <a:srgbClr val="36454F"/>
                </a:solidFill>
                <a:latin typeface="Calibri" pitchFamily="34" charset="0"/>
                <a:ea typeface="Calibri" pitchFamily="34" charset="-122"/>
                <a:cs typeface="Calibri" pitchFamily="34" charset="-120"/>
              </a:rPr>
              <a:t>RapidPOS is a channel partner; ~$2-3M not paid.
</a:t>
            </a:r>
            <a:pPr indent="0" marL="0">
              <a:spcAft>
                <a:spcPts val="400"/>
              </a:spcAft>
              <a:buNone/>
            </a:pPr>
            <a:r>
              <a:rPr lang="en-US" sz="1100" b="1" dirty="0">
                <a:solidFill>
                  <a:srgbClr val="36454F"/>
                </a:solidFill>
                <a:latin typeface="Calibri" pitchFamily="34" charset="0"/>
                <a:ea typeface="Calibri" pitchFamily="34" charset="-122"/>
                <a:cs typeface="Calibri" pitchFamily="34" charset="-120"/>
              </a:rPr>
              <a:t>• No HR overhead. </a:t>
            </a:r>
            <a:pPr indent="0" marL="0">
              <a:spcAft>
                <a:spcPts val="400"/>
              </a:spcAft>
              <a:buNone/>
            </a:pPr>
            <a:r>
              <a:rPr lang="en-US" sz="1100" dirty="0">
                <a:solidFill>
                  <a:srgbClr val="36454F"/>
                </a:solidFill>
                <a:latin typeface="Calibri" pitchFamily="34" charset="0"/>
                <a:ea typeface="Calibri" pitchFamily="34" charset="-122"/>
                <a:cs typeface="Calibri" pitchFamily="34" charset="-120"/>
              </a:rPr>
              <a:t>~$1M+/year structurally avoided.
</a:t>
            </a:r>
            <a:pPr indent="0" marL="0">
              <a:spcAft>
                <a:spcPts val="400"/>
              </a:spcAft>
              <a:buNone/>
            </a:pPr>
            <a:r>
              <a:rPr lang="en-US" sz="1100" b="1" dirty="0">
                <a:solidFill>
                  <a:srgbClr val="36454F"/>
                </a:solidFill>
                <a:latin typeface="Calibri" pitchFamily="34" charset="0"/>
                <a:ea typeface="Calibri" pitchFamily="34" charset="-122"/>
                <a:cs typeface="Calibri" pitchFamily="34" charset="-120"/>
              </a:rPr>
              <a:t>• Variable contributor comp. </a:t>
            </a:r>
            <a:pPr indent="0" marL="0">
              <a:spcAft>
                <a:spcPts val="400"/>
              </a:spcAft>
              <a:buNone/>
            </a:pPr>
            <a:r>
              <a:rPr lang="en-US" sz="1100" dirty="0">
                <a:solidFill>
                  <a:srgbClr val="36454F"/>
                </a:solidFill>
                <a:latin typeface="Calibri" pitchFamily="34" charset="0"/>
                <a:ea typeface="Calibri" pitchFamily="34" charset="-122"/>
                <a:cs typeface="Calibri" pitchFamily="34" charset="-120"/>
              </a:rPr>
              <a:t>L402 pay-per-use; low-rev periods don't burn fixed payroll.
</a:t>
            </a:r>
            <a:pPr indent="0" marL="0">
              <a:spcAft>
                <a:spcPts val="400"/>
              </a:spcAft>
              <a:buNone/>
            </a:pPr>
            <a:r>
              <a:rPr lang="en-US" sz="1100" b="1" dirty="0">
                <a:solidFill>
                  <a:srgbClr val="36454F"/>
                </a:solidFill>
                <a:latin typeface="Calibri" pitchFamily="34" charset="0"/>
                <a:ea typeface="Calibri" pitchFamily="34" charset="-122"/>
                <a:cs typeface="Calibri" pitchFamily="34" charset="-120"/>
              </a:rPr>
              <a:t>• No T3 forced ramp. </a:t>
            </a:r>
            <a:pPr indent="0" marL="0">
              <a:spcAft>
                <a:spcPts val="400"/>
              </a:spcAft>
              <a:buNone/>
            </a:pPr>
            <a:r>
              <a:rPr lang="en-US" sz="1100" dirty="0">
                <a:solidFill>
                  <a:srgbClr val="36454F"/>
                </a:solidFill>
                <a:latin typeface="Calibri" pitchFamily="34" charset="0"/>
                <a:ea typeface="Calibri" pitchFamily="34" charset="-122"/>
                <a:cs typeface="Calibri" pitchFamily="34" charset="-120"/>
              </a:rPr>
              <a:t>GCP scales with revenue.
</a:t>
            </a:r>
            <a:pPr indent="0" marL="0">
              <a:spcAft>
                <a:spcPts val="400"/>
              </a:spcAft>
              <a:buNone/>
            </a:pPr>
            <a:r>
              <a:rPr lang="en-US" sz="1100" b="1" dirty="0">
                <a:solidFill>
                  <a:srgbClr val="36454F"/>
                </a:solidFill>
                <a:latin typeface="Calibri" pitchFamily="34" charset="0"/>
                <a:ea typeface="Calibri" pitchFamily="34" charset="-122"/>
                <a:cs typeface="Calibri" pitchFamily="34" charset="-120"/>
              </a:rPr>
              <a:t>• Five customer cohorts. </a:t>
            </a:r>
            <a:pPr indent="0" marL="0">
              <a:spcAft>
                <a:spcPts val="400"/>
              </a:spcAft>
              <a:buNone/>
            </a:pPr>
            <a:r>
              <a:rPr lang="en-US" sz="1100" dirty="0">
                <a:solidFill>
                  <a:srgbClr val="36454F"/>
                </a:solidFill>
                <a:latin typeface="Calibri" pitchFamily="34" charset="0"/>
                <a:ea typeface="Calibri" pitchFamily="34" charset="-122"/>
                <a:cs typeface="Calibri" pitchFamily="34" charset="-120"/>
              </a:rPr>
              <a:t>VAR roll-up, DriftPOS pilots, Square BTC, future channel partners, direct independent retail. Diversified.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rtlCol="0" anchor="ctr"/>
          <a:lstStyle/>
          <a:p>
            <a:pPr indent="0" marL="0">
              <a:buNone/>
            </a:pPr>
            <a:r>
              <a:rPr lang="en-US" sz="3600" b="1" dirty="0">
                <a:solidFill>
                  <a:srgbClr val="21295C"/>
                </a:solidFill>
                <a:latin typeface="Georgia" pitchFamily="34" charset="0"/>
                <a:ea typeface="Georgia" pitchFamily="34" charset="-122"/>
                <a:cs typeface="Georgia" pitchFamily="34" charset="-120"/>
              </a:rPr>
              <a:t>Compliance-by-architecture</a:t>
            </a:r>
            <a:endParaRPr lang="en-US" sz="3600" dirty="0"/>
          </a:p>
        </p:txBody>
      </p:sp>
      <p:sp>
        <p:nvSpPr>
          <p:cNvPr id="3" name="Text 1"/>
          <p:cNvSpPr/>
          <p:nvPr/>
        </p:nvSpPr>
        <p:spPr>
          <a:xfrm>
            <a:off x="640080" y="1188720"/>
            <a:ext cx="10972800" cy="365760"/>
          </a:xfrm>
          <a:prstGeom prst="rect">
            <a:avLst/>
          </a:prstGeom>
          <a:noFill/>
          <a:ln/>
        </p:spPr>
        <p:txBody>
          <a:bodyPr wrap="square"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The substrate produces audit-defensible evidence by construction.</a:t>
            </a:r>
            <a:endParaRPr lang="en-US" sz="1400" dirty="0"/>
          </a:p>
        </p:txBody>
      </p:sp>
      <p:sp>
        <p:nvSpPr>
          <p:cNvPr id="4" name="Shape 2"/>
          <p:cNvSpPr/>
          <p:nvPr/>
        </p:nvSpPr>
        <p:spPr>
          <a:xfrm>
            <a:off x="640080" y="1828800"/>
            <a:ext cx="5394960" cy="4206240"/>
          </a:xfrm>
          <a:prstGeom prst="rect">
            <a:avLst/>
          </a:prstGeom>
          <a:solidFill>
            <a:srgbClr val="F5F1E8"/>
          </a:solidFill>
          <a:ln w="6350">
            <a:solidFill>
              <a:srgbClr val="1C7293"/>
            </a:solidFill>
            <a:prstDash val="solid"/>
          </a:ln>
        </p:spPr>
      </p:sp>
      <p:sp>
        <p:nvSpPr>
          <p:cNvPr id="5" name="Text 3"/>
          <p:cNvSpPr/>
          <p:nvPr/>
        </p:nvSpPr>
        <p:spPr>
          <a:xfrm>
            <a:off x="868680" y="1965960"/>
            <a:ext cx="5029200" cy="457200"/>
          </a:xfrm>
          <a:prstGeom prst="rect">
            <a:avLst/>
          </a:prstGeom>
          <a:noFill/>
          <a:ln/>
        </p:spPr>
        <p:txBody>
          <a:bodyPr wrap="square" rtlCol="0" anchor="ctr"/>
          <a:lstStyle/>
          <a:p>
            <a:pPr indent="0" marL="0">
              <a:buNone/>
            </a:pPr>
            <a:r>
              <a:rPr lang="en-US" sz="1600" b="1" dirty="0">
                <a:solidFill>
                  <a:srgbClr val="21295C"/>
                </a:solidFill>
                <a:latin typeface="Georgia" pitchFamily="34" charset="0"/>
                <a:ea typeface="Georgia" pitchFamily="34" charset="-122"/>
                <a:cs typeface="Georgia" pitchFamily="34" charset="-120"/>
              </a:rPr>
              <a:t>What the substrate does</a:t>
            </a:r>
            <a:endParaRPr lang="en-US" sz="1600" dirty="0"/>
          </a:p>
        </p:txBody>
      </p:sp>
      <p:sp>
        <p:nvSpPr>
          <p:cNvPr id="6" name="Text 4"/>
          <p:cNvSpPr/>
          <p:nvPr/>
        </p:nvSpPr>
        <p:spPr>
          <a:xfrm>
            <a:off x="868680" y="2468880"/>
            <a:ext cx="5029200" cy="3383280"/>
          </a:xfrm>
          <a:prstGeom prst="rect">
            <a:avLst/>
          </a:prstGeom>
          <a:noFill/>
          <a:ln/>
        </p:spPr>
        <p:txBody>
          <a:bodyPr wrap="square" rtlCol="0" anchor="t"/>
          <a:lstStyle/>
          <a:p>
            <a:pPr indent="0" marL="0">
              <a:spcAft>
                <a:spcPts val="400"/>
              </a:spcAft>
              <a:buNone/>
            </a:pPr>
            <a:r>
              <a:rPr lang="en-US" sz="1100" b="1" dirty="0">
                <a:solidFill>
                  <a:srgbClr val="36454F"/>
                </a:solidFill>
                <a:latin typeface="Calibri" pitchFamily="34" charset="0"/>
                <a:ea typeface="Calibri" pitchFamily="34" charset="-122"/>
                <a:cs typeface="Calibri" pitchFamily="34" charset="-120"/>
              </a:rPr>
              <a:t>Hash. </a:t>
            </a:r>
            <a:pPr indent="0" marL="0">
              <a:spcAft>
                <a:spcPts val="400"/>
              </a:spcAft>
              <a:buNone/>
            </a:pPr>
            <a:r>
              <a:rPr lang="en-US" sz="1100" dirty="0">
                <a:solidFill>
                  <a:srgbClr val="36454F"/>
                </a:solidFill>
                <a:latin typeface="Calibri" pitchFamily="34" charset="0"/>
                <a:ea typeface="Calibri" pitchFamily="34" charset="-122"/>
                <a:cs typeface="Calibri" pitchFamily="34" charset="-120"/>
              </a:rPr>
              <a:t>Every consequential event hashed cryptographically.
</a:t>
            </a:r>
            <a:pPr indent="0" marL="0">
              <a:spcAft>
                <a:spcPts val="400"/>
              </a:spcAft>
              <a:buNone/>
            </a:pPr>
            <a:r>
              <a:rPr lang="en-US" sz="1100" b="1" dirty="0">
                <a:solidFill>
                  <a:srgbClr val="36454F"/>
                </a:solidFill>
                <a:latin typeface="Calibri" pitchFamily="34" charset="0"/>
                <a:ea typeface="Calibri" pitchFamily="34" charset="-122"/>
                <a:cs typeface="Calibri" pitchFamily="34" charset="-120"/>
              </a:rPr>
              <a:t>Batch. </a:t>
            </a:r>
            <a:pPr indent="0" marL="0">
              <a:spcAft>
                <a:spcPts val="400"/>
              </a:spcAft>
              <a:buNone/>
            </a:pPr>
            <a:r>
              <a:rPr lang="en-US" sz="1100" dirty="0">
                <a:solidFill>
                  <a:srgbClr val="36454F"/>
                </a:solidFill>
                <a:latin typeface="Calibri" pitchFamily="34" charset="0"/>
                <a:ea typeface="Calibri" pitchFamily="34" charset="-122"/>
                <a:cs typeface="Calibri" pitchFamily="34" charset="-120"/>
              </a:rPr>
              <a:t>Hashes assembled into a Merkle tree.
</a:t>
            </a:r>
            <a:pPr indent="0" marL="0">
              <a:spcAft>
                <a:spcPts val="400"/>
              </a:spcAft>
              <a:buNone/>
            </a:pPr>
            <a:r>
              <a:rPr lang="en-US" sz="1100" b="1" dirty="0">
                <a:solidFill>
                  <a:srgbClr val="36454F"/>
                </a:solidFill>
                <a:latin typeface="Calibri" pitchFamily="34" charset="0"/>
                <a:ea typeface="Calibri" pitchFamily="34" charset="-122"/>
                <a:cs typeface="Calibri" pitchFamily="34" charset="-120"/>
              </a:rPr>
              <a:t>Inscribe. </a:t>
            </a:r>
            <a:pPr indent="0" marL="0">
              <a:spcAft>
                <a:spcPts val="400"/>
              </a:spcAft>
              <a:buNone/>
            </a:pPr>
            <a:r>
              <a:rPr lang="en-US" sz="1100" dirty="0">
                <a:solidFill>
                  <a:srgbClr val="36454F"/>
                </a:solidFill>
                <a:latin typeface="Calibri" pitchFamily="34" charset="0"/>
                <a:ea typeface="Calibri" pitchFamily="34" charset="-122"/>
                <a:cs typeface="Calibri" pitchFamily="34" charset="-120"/>
              </a:rPr>
              <a:t>Merkle root sealed onto a Bitcoin sat as an Ordinal at a specific block height.
</a:t>
            </a:r>
            <a:pPr indent="0" marL="0">
              <a:spcAft>
                <a:spcPts val="400"/>
              </a:spcAft>
              <a:buNone/>
            </a:pPr>
            <a:r>
              <a:rPr lang="en-US" sz="1100" b="1" dirty="0">
                <a:solidFill>
                  <a:srgbClr val="36454F"/>
                </a:solidFill>
                <a:latin typeface="Calibri" pitchFamily="34" charset="0"/>
                <a:ea typeface="Calibri" pitchFamily="34" charset="-122"/>
                <a:cs typeface="Calibri" pitchFamily="34" charset="-120"/>
              </a:rPr>
              <a:t>Verify. </a:t>
            </a:r>
            <a:pPr indent="0" marL="0">
              <a:spcAft>
                <a:spcPts val="400"/>
              </a:spcAft>
              <a:buNone/>
            </a:pPr>
            <a:r>
              <a:rPr lang="en-US" sz="1100" dirty="0">
                <a:solidFill>
                  <a:srgbClr val="36454F"/>
                </a:solidFill>
                <a:latin typeface="Calibri" pitchFamily="34" charset="0"/>
                <a:ea typeface="Calibri" pitchFamily="34" charset="-122"/>
                <a:cs typeface="Calibri" pitchFamily="34" charset="-120"/>
              </a:rPr>
              <a:t>Existence + ordering + integrity, by Merkle proof, against the immutable chain.
</a:t>
            </a:r>
            <a:pPr indent="0" marL="0">
              <a:spcAft>
                <a:spcPts val="400"/>
              </a:spcAft>
              <a:buNone/>
            </a:pPr>
            <a:r>
              <a:rPr lang="en-US" sz="1100" dirty="0">
                <a:solidFill>
                  <a:srgbClr val="36454F"/>
                </a:solidFill>
                <a:latin typeface="Calibri" pitchFamily="34" charset="0"/>
                <a:ea typeface="Calibri" pitchFamily="34" charset="-122"/>
                <a:cs typeface="Calibri" pitchFamily="34" charset="-120"/>
              </a:rPr>
              <a:t>
</a:t>
            </a:r>
            <a:pPr indent="0" marL="0">
              <a:spcAft>
                <a:spcPts val="400"/>
              </a:spcAft>
              <a:buNone/>
            </a:pPr>
            <a:r>
              <a:rPr lang="en-US" sz="1100" dirty="0">
                <a:solidFill>
                  <a:srgbClr val="36454F"/>
                </a:solidFill>
                <a:latin typeface="Calibri" pitchFamily="34" charset="0"/>
                <a:ea typeface="Calibri" pitchFamily="34" charset="-122"/>
                <a:cs typeface="Calibri" pitchFamily="34" charset="-120"/>
              </a:rPr>
              <a:t>ISO 27001:2022 — substrate-to-auditor translation per the compliance-architecture role.
</a:t>
            </a:r>
            <a:pPr indent="0" marL="0">
              <a:spcAft>
                <a:spcPts val="400"/>
              </a:spcAft>
              <a:buNone/>
            </a:pPr>
            <a:r>
              <a:rPr lang="en-US" sz="1100" dirty="0">
                <a:solidFill>
                  <a:srgbClr val="36454F"/>
                </a:solidFill>
                <a:latin typeface="Calibri" pitchFamily="34" charset="0"/>
                <a:ea typeface="Calibri" pitchFamily="34" charset="-122"/>
                <a:cs typeface="Calibri" pitchFamily="34" charset="-120"/>
              </a:rPr>
              <a:t>PCI-DSS — Ingenico tokenization keeps cardholder data out of substrate scope.
</a:t>
            </a:r>
            <a:pPr indent="0" marL="0">
              <a:spcAft>
                <a:spcPts val="400"/>
              </a:spcAft>
              <a:buNone/>
            </a:pPr>
            <a:r>
              <a:rPr lang="en-US" sz="1100" dirty="0">
                <a:solidFill>
                  <a:srgbClr val="36454F"/>
                </a:solidFill>
                <a:latin typeface="Calibri" pitchFamily="34" charset="0"/>
                <a:ea typeface="Calibri" pitchFamily="34" charset="-122"/>
                <a:cs typeface="Calibri" pitchFamily="34" charset="-120"/>
              </a:rPr>
              <a:t>SOC 2 Type II — observation period start month 18.
</a:t>
            </a:r>
            <a:endParaRPr lang="en-US" sz="1100" dirty="0"/>
          </a:p>
        </p:txBody>
      </p:sp>
      <p:sp>
        <p:nvSpPr>
          <p:cNvPr id="7" name="Shape 5"/>
          <p:cNvSpPr/>
          <p:nvPr/>
        </p:nvSpPr>
        <p:spPr>
          <a:xfrm>
            <a:off x="6400800" y="1828800"/>
            <a:ext cx="5394960" cy="4206240"/>
          </a:xfrm>
          <a:prstGeom prst="rect">
            <a:avLst/>
          </a:prstGeom>
          <a:solidFill>
            <a:srgbClr val="21295C"/>
          </a:solidFill>
          <a:ln w="12700">
            <a:solidFill>
              <a:srgbClr val="21295C"/>
            </a:solidFill>
            <a:prstDash val="solid"/>
          </a:ln>
        </p:spPr>
      </p:sp>
      <p:sp>
        <p:nvSpPr>
          <p:cNvPr id="8" name="Text 6"/>
          <p:cNvSpPr/>
          <p:nvPr/>
        </p:nvSpPr>
        <p:spPr>
          <a:xfrm>
            <a:off x="6629400" y="1965960"/>
            <a:ext cx="5029200" cy="457200"/>
          </a:xfrm>
          <a:prstGeom prst="rect">
            <a:avLst/>
          </a:prstGeom>
          <a:noFill/>
          <a:ln/>
        </p:spPr>
        <p:txBody>
          <a:bodyPr wrap="square"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Concrete: NICS attestation</a:t>
            </a:r>
            <a:endParaRPr lang="en-US" sz="1600" dirty="0"/>
          </a:p>
        </p:txBody>
      </p:sp>
      <p:sp>
        <p:nvSpPr>
          <p:cNvPr id="9" name="Text 7"/>
          <p:cNvSpPr/>
          <p:nvPr/>
        </p:nvSpPr>
        <p:spPr>
          <a:xfrm>
            <a:off x="6629400" y="2468880"/>
            <a:ext cx="5029200" cy="3383280"/>
          </a:xfrm>
          <a:prstGeom prst="rect">
            <a:avLst/>
          </a:prstGeom>
          <a:noFill/>
          <a:ln/>
        </p:spPr>
        <p:txBody>
          <a:bodyPr wrap="square" rtlCol="0" anchor="t"/>
          <a:lstStyle/>
          <a:p>
            <a:pPr indent="0" marL="0">
              <a:spcAft>
                <a:spcPts val="400"/>
              </a:spcAft>
              <a:buNone/>
            </a:pPr>
            <a:r>
              <a:rPr lang="en-US" sz="1100" dirty="0">
                <a:solidFill>
                  <a:srgbClr val="ECE2D0"/>
                </a:solidFill>
                <a:latin typeface="Calibri" pitchFamily="34" charset="0"/>
                <a:ea typeface="Calibri" pitchFamily="34" charset="-122"/>
                <a:cs typeface="Calibri" pitchFamily="34" charset="-120"/>
              </a:rPr>
              <a:t>A buyer wants to purchase a firearm. Federal law requires a NICS background check.
</a:t>
            </a:r>
            <a:pPr indent="0" marL="0">
              <a:spcAft>
                <a:spcPts val="400"/>
              </a:spcAft>
              <a:buNone/>
            </a:pPr>
            <a:r>
              <a:rPr lang="en-US" sz="1100" b="1" dirty="0">
                <a:solidFill>
                  <a:srgbClr val="ECE2D0"/>
                </a:solidFill>
                <a:latin typeface="Calibri" pitchFamily="34" charset="0"/>
                <a:ea typeface="Calibri" pitchFamily="34" charset="-122"/>
                <a:cs typeface="Calibri" pitchFamily="34" charset="-120"/>
              </a:rPr>
              <a:t>Today: </a:t>
            </a:r>
            <a:pPr indent="0" marL="0">
              <a:spcAft>
                <a:spcPts val="400"/>
              </a:spcAft>
              <a:buNone/>
            </a:pPr>
            <a:r>
              <a:rPr lang="en-US" sz="1100" dirty="0">
                <a:solidFill>
                  <a:srgbClr val="ECE2D0"/>
                </a:solidFill>
                <a:latin typeface="Calibri" pitchFamily="34" charset="0"/>
                <a:ea typeface="Calibri" pitchFamily="34" charset="-122"/>
                <a:cs typeface="Calibri" pitchFamily="34" charset="-120"/>
              </a:rPr>
              <a:t>Paper Form 4473. Twenty-year binder. PII sitting in the dealer's basement.
</a:t>
            </a:r>
            <a:pPr indent="0" marL="0">
              <a:spcAft>
                <a:spcPts val="400"/>
              </a:spcAft>
              <a:buNone/>
            </a:pPr>
            <a:r>
              <a:rPr lang="en-US" sz="1100" b="1" dirty="0">
                <a:solidFill>
                  <a:srgbClr val="ECE2D0"/>
                </a:solidFill>
                <a:latin typeface="Calibri" pitchFamily="34" charset="0"/>
                <a:ea typeface="Calibri" pitchFamily="34" charset="-122"/>
                <a:cs typeface="Calibri" pitchFamily="34" charset="-120"/>
              </a:rPr>
              <a:t>On the substrate: </a:t>
            </a:r>
            <a:pPr indent="0" marL="0">
              <a:spcAft>
                <a:spcPts val="400"/>
              </a:spcAft>
              <a:buNone/>
            </a:pPr>
            <a:r>
              <a:rPr lang="en-US" sz="1100" dirty="0">
                <a:solidFill>
                  <a:srgbClr val="ECE2D0"/>
                </a:solidFill>
                <a:latin typeface="Calibri" pitchFamily="34" charset="0"/>
                <a:ea typeface="Calibri" pitchFamily="34" charset="-122"/>
                <a:cs typeface="Calibri" pitchFamily="34" charset="-120"/>
              </a:rPr>
              <a:t>Cryptographic proof of clearance, sealed onto the chain. Dealer receives confirmation; PII never leaves the buyer. ATF-defensible. Customer-privacy-preserving.
</a:t>
            </a:r>
            <a:pPr indent="0" marL="0">
              <a:spcAft>
                <a:spcPts val="400"/>
              </a:spcAft>
              <a:buNone/>
            </a:pPr>
            <a:r>
              <a:rPr lang="en-US" sz="1100" i="1" dirty="0">
                <a:solidFill>
                  <a:srgbClr val="ECE2D0"/>
                </a:solidFill>
                <a:latin typeface="Calibri" pitchFamily="34" charset="0"/>
                <a:ea typeface="Calibri" pitchFamily="34" charset="-122"/>
                <a:cs typeface="Calibri" pitchFamily="34" charset="-120"/>
              </a:rPr>
              <a:t>Same architecture extends: alcohol direct-shipping, age-verification, controlled substances, regulated gaming.</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rtlCol="0" anchor="ctr"/>
          <a:lstStyle/>
          <a:p>
            <a:pPr indent="0" marL="0">
              <a:buNone/>
            </a:pPr>
            <a:r>
              <a:rPr lang="en-US" sz="3600" b="1" dirty="0">
                <a:solidFill>
                  <a:srgbClr val="21295C"/>
                </a:solidFill>
                <a:latin typeface="Georgia" pitchFamily="34" charset="0"/>
                <a:ea typeface="Georgia" pitchFamily="34" charset="-122"/>
                <a:cs typeface="Georgia" pitchFamily="34" charset="-120"/>
              </a:rPr>
              <a:t>How we recruit and operate</a:t>
            </a:r>
            <a:endParaRPr lang="en-US" sz="3600" dirty="0"/>
          </a:p>
        </p:txBody>
      </p:sp>
      <p:sp>
        <p:nvSpPr>
          <p:cNvPr id="3" name="Text 1"/>
          <p:cNvSpPr/>
          <p:nvPr/>
        </p:nvSpPr>
        <p:spPr>
          <a:xfrm>
            <a:off x="640080" y="1188720"/>
            <a:ext cx="10972800" cy="365760"/>
          </a:xfrm>
          <a:prstGeom prst="rect">
            <a:avLst/>
          </a:prstGeom>
          <a:noFill/>
          <a:ln/>
        </p:spPr>
        <p:txBody>
          <a:bodyPr wrap="square"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No HR. No finance department. No legal department. Substrate handles what each function used to do.</a:t>
            </a:r>
            <a:endParaRPr lang="en-US" sz="1400" dirty="0"/>
          </a:p>
        </p:txBody>
      </p:sp>
      <p:sp>
        <p:nvSpPr>
          <p:cNvPr id="4" name="Text 2"/>
          <p:cNvSpPr/>
          <p:nvPr/>
        </p:nvSpPr>
        <p:spPr>
          <a:xfrm>
            <a:off x="640080" y="1828800"/>
            <a:ext cx="10972800" cy="4297680"/>
          </a:xfrm>
          <a:prstGeom prst="rect">
            <a:avLst/>
          </a:prstGeom>
          <a:noFill/>
          <a:ln/>
        </p:spPr>
        <p:txBody>
          <a:bodyPr wrap="square" rtlCol="0" anchor="t"/>
          <a:lstStyle/>
          <a:p>
            <a:pPr indent="0" marL="0">
              <a:spcAft>
                <a:spcPts val="400"/>
              </a:spcAft>
              <a:buNone/>
            </a:pPr>
            <a:r>
              <a:rPr lang="en-US" sz="1250" b="1" dirty="0">
                <a:solidFill>
                  <a:srgbClr val="21295C"/>
                </a:solidFill>
                <a:latin typeface="Calibri" pitchFamily="34" charset="0"/>
                <a:ea typeface="Calibri" pitchFamily="34" charset="-122"/>
                <a:cs typeface="Calibri" pitchFamily="34" charset="-120"/>
              </a:rPr>
              <a:t>No resumes. Ever. </a:t>
            </a:r>
            <a:pPr indent="0" marL="0">
              <a:spcAft>
                <a:spcPts val="400"/>
              </a:spcAft>
              <a:buNone/>
            </a:pPr>
            <a:r>
              <a:rPr lang="en-US" sz="1250" dirty="0">
                <a:solidFill>
                  <a:srgbClr val="36454F"/>
                </a:solidFill>
                <a:latin typeface="Calibri" pitchFamily="34" charset="0"/>
                <a:ea typeface="Calibri" pitchFamily="34" charset="-122"/>
                <a:cs typeface="Calibri" pitchFamily="34" charset="-120"/>
              </a:rPr>
              <a:t>Read the wiki, pick up a ticket, demonstrate fit by doing the work. Smart contract auto-issues. Token-earn begins. Self-selection is the primary filter.
</a:t>
            </a:r>
            <a:pPr indent="0" marL="0">
              <a:spcAft>
                <a:spcPts val="400"/>
              </a:spcAft>
              <a:buNone/>
            </a:pPr>
            <a:r>
              <a:rPr lang="en-US" sz="1250" b="1" dirty="0">
                <a:solidFill>
                  <a:srgbClr val="21295C"/>
                </a:solidFill>
                <a:latin typeface="Calibri" pitchFamily="34" charset="0"/>
                <a:ea typeface="Calibri" pitchFamily="34" charset="-122"/>
                <a:cs typeface="Calibri" pitchFamily="34" charset="-120"/>
              </a:rPr>
              <a:t>Trusted-network model. </a:t>
            </a:r>
            <a:pPr indent="0" marL="0">
              <a:spcAft>
                <a:spcPts val="400"/>
              </a:spcAft>
              <a:buNone/>
            </a:pPr>
            <a:r>
              <a:rPr lang="en-US" sz="1250" dirty="0">
                <a:solidFill>
                  <a:srgbClr val="36454F"/>
                </a:solidFill>
                <a:latin typeface="Calibri" pitchFamily="34" charset="0"/>
                <a:ea typeface="Calibri" pitchFamily="34" charset="-122"/>
                <a:cs typeface="Calibri" pitchFamily="34" charset="-120"/>
              </a:rPr>
              <a:t>Founders invite their trusted core; the core invites their networks. Each invitation is a stake — bringing someone in poorly hurts the inviter's standing. The trust filter is structural, not procedural.
</a:t>
            </a:r>
            <a:pPr indent="0" marL="0">
              <a:spcAft>
                <a:spcPts val="400"/>
              </a:spcAft>
              <a:buNone/>
            </a:pPr>
            <a:r>
              <a:rPr lang="en-US" sz="1250" b="1" dirty="0">
                <a:solidFill>
                  <a:srgbClr val="21295C"/>
                </a:solidFill>
                <a:latin typeface="Calibri" pitchFamily="34" charset="0"/>
                <a:ea typeface="Calibri" pitchFamily="34" charset="-122"/>
                <a:cs typeface="Calibri" pitchFamily="34" charset="-120"/>
              </a:rPr>
              <a:t>Two contributor segments. </a:t>
            </a:r>
            <a:pPr indent="0" marL="0">
              <a:spcAft>
                <a:spcPts val="400"/>
              </a:spcAft>
              <a:buNone/>
            </a:pPr>
            <a:r>
              <a:rPr lang="en-US" sz="1250" dirty="0">
                <a:solidFill>
                  <a:srgbClr val="36454F"/>
                </a:solidFill>
                <a:latin typeface="Calibri" pitchFamily="34" charset="0"/>
                <a:ea typeface="Calibri" pitchFamily="34" charset="-122"/>
                <a:cs typeface="Calibri" pitchFamily="34" charset="-120"/>
              </a:rPr>
              <a:t>Young go-getters (early-career, hungry, values-aligned). 45+ second/third-career professionals (ex-devs stuck in middle management or out of work despite huge talent). New AI tools let that 45+ segment earn equity bit by byte.
</a:t>
            </a:r>
            <a:pPr indent="0" marL="0">
              <a:spcAft>
                <a:spcPts val="400"/>
              </a:spcAft>
              <a:buNone/>
            </a:pPr>
            <a:r>
              <a:rPr lang="en-US" sz="1250" b="1" dirty="0">
                <a:solidFill>
                  <a:srgbClr val="21295C"/>
                </a:solidFill>
                <a:latin typeface="Calibri" pitchFamily="34" charset="0"/>
                <a:ea typeface="Calibri" pitchFamily="34" charset="-122"/>
                <a:cs typeface="Calibri" pitchFamily="34" charset="-120"/>
              </a:rPr>
              <a:t>Sales: public highscore leaderboard. </a:t>
            </a:r>
            <a:pPr indent="0" marL="0">
              <a:spcAft>
                <a:spcPts val="400"/>
              </a:spcAft>
              <a:buNone/>
            </a:pPr>
            <a:r>
              <a:rPr lang="en-US" sz="1250" dirty="0">
                <a:solidFill>
                  <a:srgbClr val="36454F"/>
                </a:solidFill>
                <a:latin typeface="Calibri" pitchFamily="34" charset="0"/>
                <a:ea typeface="Calibri" pitchFamily="34" charset="-122"/>
                <a:cs typeface="Calibri" pitchFamily="34" charset="-120"/>
              </a:rPr>
              <a:t>Token-generating value to the ecosystem — L402 throughput, retention, network effects — not just bookings revenue. Aligns the sales motion with ecosystem health, not gross-revenue-at-any-cost.
</a:t>
            </a:r>
            <a:pPr indent="0" marL="0">
              <a:spcAft>
                <a:spcPts val="400"/>
              </a:spcAft>
              <a:buNone/>
            </a:pPr>
            <a:r>
              <a:rPr lang="en-US" sz="1250" b="1" dirty="0">
                <a:solidFill>
                  <a:srgbClr val="21295C"/>
                </a:solidFill>
                <a:latin typeface="Calibri" pitchFamily="34" charset="0"/>
                <a:ea typeface="Calibri" pitchFamily="34" charset="-122"/>
                <a:cs typeface="Calibri" pitchFamily="34" charset="-120"/>
              </a:rPr>
              <a:t>Office: King Harbor / Redondo Beach / pier. </a:t>
            </a:r>
            <a:pPr indent="0" marL="0">
              <a:spcAft>
                <a:spcPts val="400"/>
              </a:spcAft>
              <a:buNone/>
            </a:pPr>
            <a:r>
              <a:rPr lang="en-US" sz="1250" dirty="0">
                <a:solidFill>
                  <a:srgbClr val="36454F"/>
                </a:solidFill>
                <a:latin typeface="Calibri" pitchFamily="34" charset="0"/>
                <a:ea typeface="Calibri" pitchFamily="34" charset="-122"/>
                <a:cs typeface="Calibri" pitchFamily="34" charset="-120"/>
              </a:rPr>
              <a:t>Gold's Gym private membership; nodes wherever a trusted contributor is; remote-friendly; in-person when it makes sense. The architecture is distributed; the culture is in-person-when-possible.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457200"/>
            <a:ext cx="10972800" cy="640080"/>
          </a:xfrm>
          <a:prstGeom prst="rect">
            <a:avLst/>
          </a:prstGeom>
          <a:noFill/>
          <a:ln/>
        </p:spPr>
        <p:txBody>
          <a:bodyPr wrap="square" rtlCol="0" anchor="ctr"/>
          <a:lstStyle/>
          <a:p>
            <a:pPr indent="0" marL="0">
              <a:buNone/>
            </a:pPr>
            <a:r>
              <a:rPr lang="en-US" sz="2400" i="1" dirty="0">
                <a:solidFill>
                  <a:srgbClr val="ECE2D0"/>
                </a:solidFill>
                <a:latin typeface="Georgia" pitchFamily="34" charset="0"/>
                <a:ea typeface="Georgia" pitchFamily="34" charset="-122"/>
                <a:cs typeface="Georgia" pitchFamily="34" charset="-120"/>
              </a:rPr>
              <a:t>What this protects.</a:t>
            </a:r>
            <a:endParaRPr lang="en-US" sz="2400" dirty="0"/>
          </a:p>
        </p:txBody>
      </p:sp>
      <p:sp>
        <p:nvSpPr>
          <p:cNvPr id="3" name="Text 1"/>
          <p:cNvSpPr/>
          <p:nvPr/>
        </p:nvSpPr>
        <p:spPr>
          <a:xfrm>
            <a:off x="640080" y="1188720"/>
            <a:ext cx="10972800" cy="914400"/>
          </a:xfrm>
          <a:prstGeom prst="rect">
            <a:avLst/>
          </a:prstGeom>
          <a:noFill/>
          <a:ln/>
        </p:spPr>
        <p:txBody>
          <a:bodyPr wrap="square"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Customer · Contributor · Operator</a:t>
            </a:r>
            <a:endParaRPr lang="en-US" sz="3800" dirty="0"/>
          </a:p>
        </p:txBody>
      </p:sp>
      <p:sp>
        <p:nvSpPr>
          <p:cNvPr id="4" name="Text 2"/>
          <p:cNvSpPr/>
          <p:nvPr/>
        </p:nvSpPr>
        <p:spPr>
          <a:xfrm>
            <a:off x="640080" y="3017520"/>
            <a:ext cx="3474720" cy="457200"/>
          </a:xfrm>
          <a:prstGeom prst="rect">
            <a:avLst/>
          </a:prstGeom>
          <a:noFill/>
          <a:ln/>
        </p:spPr>
        <p:txBody>
          <a:bodyPr wrap="square" rtlCol="0" anchor="ctr"/>
          <a:lstStyle/>
          <a:p>
            <a:pPr indent="0" marL="0">
              <a:buNone/>
            </a:pPr>
            <a:r>
              <a:rPr lang="en-US" sz="1400" b="1" dirty="0">
                <a:solidFill>
                  <a:srgbClr val="ECE2D0"/>
                </a:solidFill>
                <a:latin typeface="Georgia" pitchFamily="34" charset="0"/>
                <a:ea typeface="Georgia" pitchFamily="34" charset="-122"/>
                <a:cs typeface="Georgia" pitchFamily="34" charset="-120"/>
              </a:rPr>
              <a:t>CUSTOMER</a:t>
            </a:r>
            <a:endParaRPr lang="en-US" sz="1400" dirty="0"/>
          </a:p>
        </p:txBody>
      </p:sp>
      <p:sp>
        <p:nvSpPr>
          <p:cNvPr id="5" name="Text 3"/>
          <p:cNvSpPr/>
          <p:nvPr/>
        </p:nvSpPr>
        <p:spPr>
          <a:xfrm>
            <a:off x="640080" y="3520440"/>
            <a:ext cx="3474720" cy="246888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Their data is theirs. The substrate doesn't hold it; doesn't see it; doesn't broker it. Cross-customer use requires their explicit, on-chain ratification. Withdrawal works cleanly.</a:t>
            </a:r>
            <a:endParaRPr lang="en-US" sz="1200" dirty="0"/>
          </a:p>
        </p:txBody>
      </p:sp>
      <p:sp>
        <p:nvSpPr>
          <p:cNvPr id="6" name="Text 4"/>
          <p:cNvSpPr/>
          <p:nvPr/>
        </p:nvSpPr>
        <p:spPr>
          <a:xfrm>
            <a:off x="4389120" y="3017520"/>
            <a:ext cx="3474720" cy="457200"/>
          </a:xfrm>
          <a:prstGeom prst="rect">
            <a:avLst/>
          </a:prstGeom>
          <a:noFill/>
          <a:ln/>
        </p:spPr>
        <p:txBody>
          <a:bodyPr wrap="square" rtlCol="0" anchor="ctr"/>
          <a:lstStyle/>
          <a:p>
            <a:pPr indent="0" marL="0">
              <a:buNone/>
            </a:pPr>
            <a:r>
              <a:rPr lang="en-US" sz="1400" b="1" dirty="0">
                <a:solidFill>
                  <a:srgbClr val="ECE2D0"/>
                </a:solidFill>
                <a:latin typeface="Georgia" pitchFamily="34" charset="0"/>
                <a:ea typeface="Georgia" pitchFamily="34" charset="-122"/>
                <a:cs typeface="Georgia" pitchFamily="34" charset="-120"/>
              </a:rPr>
              <a:t>CONTRIBUTOR</a:t>
            </a:r>
            <a:endParaRPr lang="en-US" sz="1400" dirty="0"/>
          </a:p>
        </p:txBody>
      </p:sp>
      <p:sp>
        <p:nvSpPr>
          <p:cNvPr id="7" name="Text 5"/>
          <p:cNvSpPr/>
          <p:nvPr/>
        </p:nvSpPr>
        <p:spPr>
          <a:xfrm>
            <a:off x="4389120" y="3520440"/>
            <a:ext cx="3474720" cy="246888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Their work earns continuously and permanently. No vesting cliff. No clawback. No off-chain reputation score that can be re-keyed by a sponsor. What they earned is what they hold.</a:t>
            </a:r>
            <a:endParaRPr lang="en-US" sz="1200" dirty="0"/>
          </a:p>
        </p:txBody>
      </p:sp>
      <p:sp>
        <p:nvSpPr>
          <p:cNvPr id="8" name="Text 6"/>
          <p:cNvSpPr/>
          <p:nvPr/>
        </p:nvSpPr>
        <p:spPr>
          <a:xfrm>
            <a:off x="8138160" y="3017520"/>
            <a:ext cx="3474720" cy="457200"/>
          </a:xfrm>
          <a:prstGeom prst="rect">
            <a:avLst/>
          </a:prstGeom>
          <a:noFill/>
          <a:ln/>
        </p:spPr>
        <p:txBody>
          <a:bodyPr wrap="square" rtlCol="0" anchor="ctr"/>
          <a:lstStyle/>
          <a:p>
            <a:pPr indent="0" marL="0">
              <a:buNone/>
            </a:pPr>
            <a:r>
              <a:rPr lang="en-US" sz="1400" b="1" dirty="0">
                <a:solidFill>
                  <a:srgbClr val="ECE2D0"/>
                </a:solidFill>
                <a:latin typeface="Georgia" pitchFamily="34" charset="0"/>
                <a:ea typeface="Georgia" pitchFamily="34" charset="-122"/>
                <a:cs typeface="Georgia" pitchFamily="34" charset="-120"/>
              </a:rPr>
              <a:t>OPERATOR</a:t>
            </a:r>
            <a:endParaRPr lang="en-US" sz="1400" dirty="0"/>
          </a:p>
        </p:txBody>
      </p:sp>
      <p:sp>
        <p:nvSpPr>
          <p:cNvPr id="9" name="Text 7"/>
          <p:cNvSpPr/>
          <p:nvPr/>
        </p:nvSpPr>
        <p:spPr>
          <a:xfrm>
            <a:off x="8138160" y="3520440"/>
            <a:ext cx="3474720" cy="2468880"/>
          </a:xfrm>
          <a:prstGeom prst="rect">
            <a:avLst/>
          </a:prstGeom>
          <a:noFill/>
          <a:ln/>
        </p:spPr>
        <p:txBody>
          <a:bodyPr wrap="square"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Their stake at genesis cannot be diluted by issuing new tokens. Their authority sunsets gracefully when the substrate matures, but their position in the chain is permanent. They cannot be culled.</a:t>
            </a:r>
            <a:endParaRPr lang="en-US" sz="1200" dirty="0"/>
          </a:p>
        </p:txBody>
      </p:sp>
      <p:sp>
        <p:nvSpPr>
          <p:cNvPr id="10" name="Text 8"/>
          <p:cNvSpPr/>
          <p:nvPr/>
        </p:nvSpPr>
        <p:spPr>
          <a:xfrm>
            <a:off x="640080" y="6035040"/>
            <a:ext cx="10972800" cy="365760"/>
          </a:xfrm>
          <a:prstGeom prst="rect">
            <a:avLst/>
          </a:prstGeom>
          <a:noFill/>
          <a:ln/>
        </p:spPr>
        <p:txBody>
          <a:bodyPr wrap="square" rtlCol="0" anchor="ctr"/>
          <a:lstStyle/>
          <a:p>
            <a:pPr algn="ctr" indent="0" marL="0">
              <a:buNone/>
            </a:pPr>
            <a:r>
              <a:rPr lang="en-US" sz="1400" i="1" dirty="0">
                <a:solidFill>
                  <a:srgbClr val="ECE2D0"/>
                </a:solidFill>
                <a:latin typeface="Georgia" pitchFamily="34" charset="0"/>
                <a:ea typeface="Georgia" pitchFamily="34" charset="-122"/>
                <a:cs typeface="Georgia" pitchFamily="34" charset="-120"/>
              </a:rPr>
              <a:t>Tell me where I'm wrong. Let's align.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457200"/>
            <a:ext cx="10972800" cy="457200"/>
          </a:xfrm>
          <a:prstGeom prst="rect">
            <a:avLst/>
          </a:prstGeom>
          <a:noFill/>
          <a:ln/>
        </p:spPr>
        <p:txBody>
          <a:bodyPr wrap="square"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Appendix A</a:t>
            </a:r>
            <a:endParaRPr lang="en-US" sz="1300" dirty="0"/>
          </a:p>
        </p:txBody>
      </p:sp>
      <p:sp>
        <p:nvSpPr>
          <p:cNvPr id="3" name="Text 1"/>
          <p:cNvSpPr/>
          <p:nvPr/>
        </p:nvSpPr>
        <p:spPr>
          <a:xfrm>
            <a:off x="640080" y="914400"/>
            <a:ext cx="10972800" cy="731520"/>
          </a:xfrm>
          <a:prstGeom prst="rect">
            <a:avLst/>
          </a:prstGeom>
          <a:noFill/>
          <a:ln/>
        </p:spPr>
        <p:txBody>
          <a:bodyPr wrap="square"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Throwaway-key / agent-mediated interaction</a:t>
            </a:r>
            <a:endParaRPr lang="en-US" sz="3000" dirty="0"/>
          </a:p>
        </p:txBody>
      </p:sp>
      <p:sp>
        <p:nvSpPr>
          <p:cNvPr id="4" name="Text 2"/>
          <p:cNvSpPr/>
          <p:nvPr/>
        </p:nvSpPr>
        <p:spPr>
          <a:xfrm>
            <a:off x="640080" y="1691640"/>
            <a:ext cx="10972800" cy="365760"/>
          </a:xfrm>
          <a:prstGeom prst="rect">
            <a:avLst/>
          </a:prstGeom>
          <a:noFill/>
          <a:ln/>
        </p:spPr>
        <p:txBody>
          <a:bodyPr wrap="square" rtlCol="0" anchor="ctr"/>
          <a:lstStyle/>
          <a:p>
            <a:pPr indent="0" marL="0">
              <a:buNone/>
            </a:pPr>
            <a:r>
              <a:rPr lang="en-US" sz="1200" i="1" dirty="0">
                <a:solidFill>
                  <a:srgbClr val="36454F"/>
                </a:solidFill>
                <a:latin typeface="Calibri" pitchFamily="34" charset="0"/>
                <a:ea typeface="Calibri" pitchFamily="34" charset="-122"/>
                <a:cs typeface="Calibri" pitchFamily="34" charset="-120"/>
              </a:rPr>
              <a:t>Forward optionality. Not part of the 100-day ask. Surfacing here so the strategic shape is visible.</a:t>
            </a:r>
            <a:endParaRPr lang="en-US" sz="1200" dirty="0"/>
          </a:p>
        </p:txBody>
      </p:sp>
      <p:sp>
        <p:nvSpPr>
          <p:cNvPr id="5" name="Text 3"/>
          <p:cNvSpPr/>
          <p:nvPr/>
        </p:nvSpPr>
        <p:spPr>
          <a:xfrm>
            <a:off x="640080" y="2194560"/>
            <a:ext cx="10972800" cy="4023360"/>
          </a:xfrm>
          <a:prstGeom prst="rect">
            <a:avLst/>
          </a:prstGeom>
          <a:noFill/>
          <a:ln/>
        </p:spPr>
        <p:txBody>
          <a:bodyPr wrap="square" rtlCol="0" anchor="t"/>
          <a:lstStyle/>
          <a:p>
            <a:pPr indent="0" marL="0">
              <a:spcAft>
                <a:spcPts val="600"/>
              </a:spcAft>
              <a:buNone/>
            </a:pPr>
            <a:r>
              <a:rPr lang="en-US" sz="1400" i="1" dirty="0">
                <a:solidFill>
                  <a:srgbClr val="21295C"/>
                </a:solidFill>
                <a:latin typeface="Calibri" pitchFamily="34" charset="0"/>
                <a:ea typeface="Calibri" pitchFamily="34" charset="-122"/>
                <a:cs typeface="Calibri" pitchFamily="34" charset="-120"/>
              </a:rPr>
              <a:t>A name is permanent. A pen is borrowed for an afternoon.
</a:t>
            </a:r>
            <a:pPr indent="0" marL="0">
              <a:spcAft>
                <a:spcPts val="600"/>
              </a:spcAft>
              <a:buNone/>
            </a:pPr>
            <a:r>
              <a:rPr lang="en-US" sz="1200" b="1" dirty="0">
                <a:solidFill>
                  <a:srgbClr val="36454F"/>
                </a:solidFill>
                <a:latin typeface="Calibri" pitchFamily="34" charset="0"/>
                <a:ea typeface="Calibri" pitchFamily="34" charset="-122"/>
                <a:cs typeface="Calibri" pitchFamily="34" charset="-120"/>
              </a:rPr>
              <a:t>Satoshi-as-key. </a:t>
            </a:r>
            <a:pPr indent="0" marL="0">
              <a:spcAft>
                <a:spcPts val="600"/>
              </a:spcAft>
              <a:buNone/>
            </a:pPr>
            <a:r>
              <a:rPr lang="en-US" sz="1200" dirty="0">
                <a:solidFill>
                  <a:srgbClr val="36454F"/>
                </a:solidFill>
                <a:latin typeface="Calibri" pitchFamily="34" charset="0"/>
                <a:ea typeface="Calibri" pitchFamily="34" charset="-122"/>
                <a:cs typeface="Calibri" pitchFamily="34" charset="-120"/>
              </a:rPr>
              <a:t>The satoshi an operator holds is their identity in the namespace, permanently. Lineage on chain. History stamped into the ordinal — every vote cast, every proposal submitted, every transfer signed. Reading the ordinal tells you who its holder is and what they have done. Reputation is the substrate, not a separate score.
</a:t>
            </a:r>
            <a:pPr indent="0" marL="0">
              <a:spcAft>
                <a:spcPts val="600"/>
              </a:spcAft>
              <a:buNone/>
            </a:pPr>
            <a:r>
              <a:rPr lang="en-US" sz="1200" b="1" dirty="0">
                <a:solidFill>
                  <a:srgbClr val="36454F"/>
                </a:solidFill>
                <a:latin typeface="Calibri" pitchFamily="34" charset="0"/>
                <a:ea typeface="Calibri" pitchFamily="34" charset="-122"/>
                <a:cs typeface="Calibri" pitchFamily="34" charset="-120"/>
              </a:rPr>
              <a:t>Serialization-as-throwaway. </a:t>
            </a:r>
            <a:pPr indent="0" marL="0">
              <a:spcAft>
                <a:spcPts val="600"/>
              </a:spcAft>
              <a:buNone/>
            </a:pPr>
            <a:r>
              <a:rPr lang="en-US" sz="1200" dirty="0">
                <a:solidFill>
                  <a:srgbClr val="36454F"/>
                </a:solidFill>
                <a:latin typeface="Calibri" pitchFamily="34" charset="0"/>
                <a:ea typeface="Calibri" pitchFamily="34" charset="-122"/>
                <a:cs typeface="Calibri" pitchFamily="34" charset="-120"/>
              </a:rPr>
              <a:t>A specific interaction (a single payment, a single attestation, a single document signature) uses a leased key that exists only for that interaction. DHCP-style: bounded, scoped, expires when the work is done. The persistent identity authorizes the lease; the lease does the work; the lease cannot reach beyond its scope.
</a:t>
            </a:r>
            <a:pPr indent="0" marL="0">
              <a:spcAft>
                <a:spcPts val="600"/>
              </a:spcAft>
              <a:buNone/>
            </a:pPr>
            <a:r>
              <a:rPr lang="en-US" sz="1200" b="1" dirty="0">
                <a:solidFill>
                  <a:srgbClr val="36454F"/>
                </a:solidFill>
                <a:latin typeface="Calibri" pitchFamily="34" charset="0"/>
                <a:ea typeface="Calibri" pitchFamily="34" charset="-122"/>
                <a:cs typeface="Calibri" pitchFamily="34" charset="-120"/>
              </a:rPr>
              <a:t>Architectural answer to: </a:t>
            </a:r>
            <a:pPr indent="0" marL="0">
              <a:spcAft>
                <a:spcPts val="600"/>
              </a:spcAft>
              <a:buNone/>
            </a:pPr>
            <a:r>
              <a:rPr lang="en-US" sz="1200" dirty="0">
                <a:solidFill>
                  <a:srgbClr val="36454F"/>
                </a:solidFill>
                <a:latin typeface="Calibri" pitchFamily="34" charset="0"/>
                <a:ea typeface="Calibri" pitchFamily="34" charset="-122"/>
                <a:cs typeface="Calibri" pitchFamily="34" charset="-120"/>
              </a:rPr>
              <a:t>"How does a person prove they are who they say they are without handing over a copy of their driver's license at every step?" The ordinal proves the person. The lease does the transaction. The two are connected and the connection is inspectable, but the lease doesn't carry the driver's license.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457200"/>
            <a:ext cx="10972800" cy="457200"/>
          </a:xfrm>
          <a:prstGeom prst="rect">
            <a:avLst/>
          </a:prstGeom>
          <a:noFill/>
          <a:ln/>
        </p:spPr>
        <p:txBody>
          <a:bodyPr wrap="square"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Appendix B</a:t>
            </a:r>
            <a:endParaRPr lang="en-US" sz="1300" dirty="0"/>
          </a:p>
        </p:txBody>
      </p:sp>
      <p:sp>
        <p:nvSpPr>
          <p:cNvPr id="3" name="Text 1"/>
          <p:cNvSpPr/>
          <p:nvPr/>
        </p:nvSpPr>
        <p:spPr>
          <a:xfrm>
            <a:off x="640080" y="914400"/>
            <a:ext cx="10972800" cy="731520"/>
          </a:xfrm>
          <a:prstGeom prst="rect">
            <a:avLst/>
          </a:prstGeom>
          <a:noFill/>
          <a:ln/>
        </p:spPr>
        <p:txBody>
          <a:bodyPr wrap="square" rtlCol="0" anchor="ctr"/>
          <a:lstStyle/>
          <a:p>
            <a:pPr indent="0" marL="0">
              <a:buNone/>
            </a:pPr>
            <a:r>
              <a:rPr lang="en-US" sz="3000" b="1" dirty="0">
                <a:solidFill>
                  <a:srgbClr val="21295C"/>
                </a:solidFill>
                <a:latin typeface="Georgia" pitchFamily="34" charset="0"/>
                <a:ea typeface="Georgia" pitchFamily="34" charset="-122"/>
                <a:cs typeface="Georgia" pitchFamily="34" charset="-120"/>
              </a:rPr>
              <a:t>Lightning operator — forward path</a:t>
            </a:r>
            <a:endParaRPr lang="en-US" sz="3000" dirty="0"/>
          </a:p>
        </p:txBody>
      </p:sp>
      <p:sp>
        <p:nvSpPr>
          <p:cNvPr id="4" name="Text 2"/>
          <p:cNvSpPr/>
          <p:nvPr/>
        </p:nvSpPr>
        <p:spPr>
          <a:xfrm>
            <a:off x="640080" y="1691640"/>
            <a:ext cx="10972800" cy="365760"/>
          </a:xfrm>
          <a:prstGeom prst="rect">
            <a:avLst/>
          </a:prstGeom>
          <a:noFill/>
          <a:ln/>
        </p:spPr>
        <p:txBody>
          <a:bodyPr wrap="square" rtlCol="0" anchor="ctr"/>
          <a:lstStyle/>
          <a:p>
            <a:pPr indent="0" marL="0">
              <a:buNone/>
            </a:pPr>
            <a:r>
              <a:rPr lang="en-US" sz="1200" i="1" dirty="0">
                <a:solidFill>
                  <a:srgbClr val="36454F"/>
                </a:solidFill>
                <a:latin typeface="Calibri" pitchFamily="34" charset="0"/>
                <a:ea typeface="Calibri" pitchFamily="34" charset="-122"/>
                <a:cs typeface="Calibri" pitchFamily="34" charset="-120"/>
              </a:rPr>
              <a:t>Three-phase progression. Same arc the Wyoming mining-mini-op partnership gives us for chain writes.</a:t>
            </a:r>
            <a:endParaRPr lang="en-US" sz="1200" dirty="0"/>
          </a:p>
        </p:txBody>
      </p:sp>
      <p:sp>
        <p:nvSpPr>
          <p:cNvPr id="5" name="Shape 3"/>
          <p:cNvSpPr/>
          <p:nvPr/>
        </p:nvSpPr>
        <p:spPr>
          <a:xfrm>
            <a:off x="640080" y="2286000"/>
            <a:ext cx="3520440" cy="3657600"/>
          </a:xfrm>
          <a:prstGeom prst="rect">
            <a:avLst/>
          </a:prstGeom>
          <a:solidFill>
            <a:srgbClr val="FFFFFF"/>
          </a:solidFill>
          <a:ln w="12700">
            <a:solidFill>
              <a:srgbClr val="1C7293"/>
            </a:solidFill>
            <a:prstDash val="solid"/>
          </a:ln>
        </p:spPr>
      </p:sp>
      <p:sp>
        <p:nvSpPr>
          <p:cNvPr id="6" name="Text 4"/>
          <p:cNvSpPr/>
          <p:nvPr/>
        </p:nvSpPr>
        <p:spPr>
          <a:xfrm>
            <a:off x="868680" y="2423160"/>
            <a:ext cx="3200400" cy="365760"/>
          </a:xfrm>
          <a:prstGeom prst="rect">
            <a:avLst/>
          </a:prstGeom>
          <a:noFill/>
          <a:ln/>
        </p:spPr>
        <p:txBody>
          <a:bodyPr wrap="square"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PHASE 0</a:t>
            </a:r>
            <a:endParaRPr lang="en-US" sz="1100" dirty="0"/>
          </a:p>
        </p:txBody>
      </p:sp>
      <p:sp>
        <p:nvSpPr>
          <p:cNvPr id="7" name="Text 5"/>
          <p:cNvSpPr/>
          <p:nvPr/>
        </p:nvSpPr>
        <p:spPr>
          <a:xfrm>
            <a:off x="868680" y="2788920"/>
            <a:ext cx="3200400" cy="548640"/>
          </a:xfrm>
          <a:prstGeom prst="rect">
            <a:avLst/>
          </a:prstGeom>
          <a:noFill/>
          <a:ln/>
        </p:spPr>
        <p:txBody>
          <a:bodyPr wrap="square" rtlCol="0" anchor="ctr"/>
          <a:lstStyle/>
          <a:p>
            <a:pPr indent="0" marL="0">
              <a:buNone/>
            </a:pPr>
            <a:r>
              <a:rPr lang="en-US" sz="2200" b="1" dirty="0">
                <a:solidFill>
                  <a:srgbClr val="21295C"/>
                </a:solidFill>
                <a:latin typeface="Georgia" pitchFamily="34" charset="0"/>
                <a:ea typeface="Georgia" pitchFamily="34" charset="-122"/>
                <a:cs typeface="Georgia" pitchFamily="34" charset="-120"/>
              </a:rPr>
              <a:t>Consume</a:t>
            </a:r>
            <a:endParaRPr lang="en-US" sz="2200" dirty="0"/>
          </a:p>
        </p:txBody>
      </p:sp>
      <p:sp>
        <p:nvSpPr>
          <p:cNvPr id="8" name="Text 6"/>
          <p:cNvSpPr/>
          <p:nvPr/>
        </p:nvSpPr>
        <p:spPr>
          <a:xfrm>
            <a:off x="868680" y="3383280"/>
            <a:ext cx="3200400" cy="365760"/>
          </a:xfrm>
          <a:prstGeom prst="rect">
            <a:avLst/>
          </a:prstGeom>
          <a:noFill/>
          <a:ln/>
        </p:spPr>
        <p:txBody>
          <a:bodyPr wrap="square" rtlCol="0" anchor="ctr"/>
          <a:lstStyle/>
          <a:p>
            <a:pPr indent="0" marL="0">
              <a:buNone/>
            </a:pPr>
            <a:r>
              <a:rPr lang="en-US" sz="1200" i="1" dirty="0">
                <a:solidFill>
                  <a:srgbClr val="065A82"/>
                </a:solidFill>
                <a:latin typeface="Calibri" pitchFamily="34" charset="0"/>
                <a:ea typeface="Calibri" pitchFamily="34" charset="-122"/>
                <a:cs typeface="Calibri" pitchFamily="34" charset="-120"/>
              </a:rPr>
              <a:t>Now → Phase A</a:t>
            </a:r>
            <a:endParaRPr lang="en-US" sz="1200" dirty="0"/>
          </a:p>
        </p:txBody>
      </p:sp>
      <p:sp>
        <p:nvSpPr>
          <p:cNvPr id="9" name="Text 7"/>
          <p:cNvSpPr/>
          <p:nvPr/>
        </p:nvSpPr>
        <p:spPr>
          <a:xfrm>
            <a:off x="868680" y="3840480"/>
            <a:ext cx="3200400" cy="2011680"/>
          </a:xfrm>
          <a:prstGeom prst="rect">
            <a:avLst/>
          </a:prstGeom>
          <a:noFill/>
          <a:ln/>
        </p:spPr>
        <p:txBody>
          <a:bodyPr wrap="square" rtlCol="0" anchor="t"/>
          <a:lstStyle/>
          <a:p>
            <a:pPr indent="0" marL="0">
              <a:buNone/>
            </a:pPr>
            <a:r>
              <a:rPr lang="en-US" sz="1150" dirty="0">
                <a:solidFill>
                  <a:srgbClr val="36454F"/>
                </a:solidFill>
                <a:latin typeface="Calibri" pitchFamily="34" charset="0"/>
                <a:ea typeface="Calibri" pitchFamily="34" charset="-122"/>
                <a:cs typeface="Calibri" pitchFamily="34" charset="-120"/>
              </a:rPr>
              <a:t>Lightning rails for L402 micropayments. Someone else operates the nodes; we are a customer. LND or Voltage as the rails. Sufficient channel capacity for 100-day Phase A traffic.</a:t>
            </a:r>
            <a:endParaRPr lang="en-US" sz="1150" dirty="0"/>
          </a:p>
        </p:txBody>
      </p:sp>
      <p:sp>
        <p:nvSpPr>
          <p:cNvPr id="10" name="Shape 8"/>
          <p:cNvSpPr/>
          <p:nvPr/>
        </p:nvSpPr>
        <p:spPr>
          <a:xfrm>
            <a:off x="4389120" y="2286000"/>
            <a:ext cx="3520440" cy="3657600"/>
          </a:xfrm>
          <a:prstGeom prst="rect">
            <a:avLst/>
          </a:prstGeom>
          <a:solidFill>
            <a:srgbClr val="FFFFFF"/>
          </a:solidFill>
          <a:ln w="12700">
            <a:solidFill>
              <a:srgbClr val="1C7293"/>
            </a:solidFill>
            <a:prstDash val="solid"/>
          </a:ln>
        </p:spPr>
      </p:sp>
      <p:sp>
        <p:nvSpPr>
          <p:cNvPr id="11" name="Text 9"/>
          <p:cNvSpPr/>
          <p:nvPr/>
        </p:nvSpPr>
        <p:spPr>
          <a:xfrm>
            <a:off x="4617720" y="2423160"/>
            <a:ext cx="3200400" cy="365760"/>
          </a:xfrm>
          <a:prstGeom prst="rect">
            <a:avLst/>
          </a:prstGeom>
          <a:noFill/>
          <a:ln/>
        </p:spPr>
        <p:txBody>
          <a:bodyPr wrap="square"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PHASE 1</a:t>
            </a:r>
            <a:endParaRPr lang="en-US" sz="1100" dirty="0"/>
          </a:p>
        </p:txBody>
      </p:sp>
      <p:sp>
        <p:nvSpPr>
          <p:cNvPr id="12" name="Text 10"/>
          <p:cNvSpPr/>
          <p:nvPr/>
        </p:nvSpPr>
        <p:spPr>
          <a:xfrm>
            <a:off x="4617720" y="2788920"/>
            <a:ext cx="3200400" cy="548640"/>
          </a:xfrm>
          <a:prstGeom prst="rect">
            <a:avLst/>
          </a:prstGeom>
          <a:noFill/>
          <a:ln/>
        </p:spPr>
        <p:txBody>
          <a:bodyPr wrap="square" rtlCol="0" anchor="ctr"/>
          <a:lstStyle/>
          <a:p>
            <a:pPr indent="0" marL="0">
              <a:buNone/>
            </a:pPr>
            <a:r>
              <a:rPr lang="en-US" sz="2200" b="1" dirty="0">
                <a:solidFill>
                  <a:srgbClr val="21295C"/>
                </a:solidFill>
                <a:latin typeface="Georgia" pitchFamily="34" charset="0"/>
                <a:ea typeface="Georgia" pitchFamily="34" charset="-122"/>
                <a:cs typeface="Georgia" pitchFamily="34" charset="-120"/>
              </a:rPr>
              <a:t>Internal</a:t>
            </a:r>
            <a:endParaRPr lang="en-US" sz="2200" dirty="0"/>
          </a:p>
        </p:txBody>
      </p:sp>
      <p:sp>
        <p:nvSpPr>
          <p:cNvPr id="13" name="Text 11"/>
          <p:cNvSpPr/>
          <p:nvPr/>
        </p:nvSpPr>
        <p:spPr>
          <a:xfrm>
            <a:off x="4617720" y="3383280"/>
            <a:ext cx="3200400" cy="365760"/>
          </a:xfrm>
          <a:prstGeom prst="rect">
            <a:avLst/>
          </a:prstGeom>
          <a:noFill/>
          <a:ln/>
        </p:spPr>
        <p:txBody>
          <a:bodyPr wrap="square" rtlCol="0" anchor="ctr"/>
          <a:lstStyle/>
          <a:p>
            <a:pPr indent="0" marL="0">
              <a:buNone/>
            </a:pPr>
            <a:r>
              <a:rPr lang="en-US" sz="1200" i="1" dirty="0">
                <a:solidFill>
                  <a:srgbClr val="065A82"/>
                </a:solidFill>
                <a:latin typeface="Calibri" pitchFamily="34" charset="0"/>
                <a:ea typeface="Calibri" pitchFamily="34" charset="-122"/>
                <a:cs typeface="Calibri" pitchFamily="34" charset="-120"/>
              </a:rPr>
              <a:t>Month 12+</a:t>
            </a:r>
            <a:endParaRPr lang="en-US" sz="1200" dirty="0"/>
          </a:p>
        </p:txBody>
      </p:sp>
      <p:sp>
        <p:nvSpPr>
          <p:cNvPr id="14" name="Text 12"/>
          <p:cNvSpPr/>
          <p:nvPr/>
        </p:nvSpPr>
        <p:spPr>
          <a:xfrm>
            <a:off x="4617720" y="3840480"/>
            <a:ext cx="3200400" cy="2011680"/>
          </a:xfrm>
          <a:prstGeom prst="rect">
            <a:avLst/>
          </a:prstGeom>
          <a:noFill/>
          <a:ln/>
        </p:spPr>
        <p:txBody>
          <a:bodyPr wrap="square" rtlCol="0" anchor="t"/>
          <a:lstStyle/>
          <a:p>
            <a:pPr indent="0" marL="0">
              <a:buNone/>
            </a:pPr>
            <a:r>
              <a:rPr lang="en-US" sz="1150" dirty="0">
                <a:solidFill>
                  <a:srgbClr val="36454F"/>
                </a:solidFill>
                <a:latin typeface="Calibri" pitchFamily="34" charset="0"/>
                <a:ea typeface="Calibri" pitchFamily="34" charset="-122"/>
                <a:cs typeface="Calibri" pitchFamily="34" charset="-120"/>
              </a:rPr>
              <a:t>Stand up our own nodes for internal traffic. Contributor-cohort-only. Our sat-flow stays on our infrastructure. Begin running routes for the namespace's own L402 payments.</a:t>
            </a:r>
            <a:endParaRPr lang="en-US" sz="1150" dirty="0"/>
          </a:p>
        </p:txBody>
      </p:sp>
      <p:sp>
        <p:nvSpPr>
          <p:cNvPr id="15" name="Shape 13"/>
          <p:cNvSpPr/>
          <p:nvPr/>
        </p:nvSpPr>
        <p:spPr>
          <a:xfrm>
            <a:off x="8138160" y="2286000"/>
            <a:ext cx="3520440" cy="3657600"/>
          </a:xfrm>
          <a:prstGeom prst="rect">
            <a:avLst/>
          </a:prstGeom>
          <a:solidFill>
            <a:srgbClr val="FFFFFF"/>
          </a:solidFill>
          <a:ln w="12700">
            <a:solidFill>
              <a:srgbClr val="1C7293"/>
            </a:solidFill>
            <a:prstDash val="solid"/>
          </a:ln>
        </p:spPr>
      </p:sp>
      <p:sp>
        <p:nvSpPr>
          <p:cNvPr id="16" name="Text 14"/>
          <p:cNvSpPr/>
          <p:nvPr/>
        </p:nvSpPr>
        <p:spPr>
          <a:xfrm>
            <a:off x="8366760" y="2423160"/>
            <a:ext cx="3200400" cy="365760"/>
          </a:xfrm>
          <a:prstGeom prst="rect">
            <a:avLst/>
          </a:prstGeom>
          <a:noFill/>
          <a:ln/>
        </p:spPr>
        <p:txBody>
          <a:bodyPr wrap="square"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PHASE 2</a:t>
            </a:r>
            <a:endParaRPr lang="en-US" sz="1100" dirty="0"/>
          </a:p>
        </p:txBody>
      </p:sp>
      <p:sp>
        <p:nvSpPr>
          <p:cNvPr id="17" name="Text 15"/>
          <p:cNvSpPr/>
          <p:nvPr/>
        </p:nvSpPr>
        <p:spPr>
          <a:xfrm>
            <a:off x="8366760" y="2788920"/>
            <a:ext cx="3200400" cy="548640"/>
          </a:xfrm>
          <a:prstGeom prst="rect">
            <a:avLst/>
          </a:prstGeom>
          <a:noFill/>
          <a:ln/>
        </p:spPr>
        <p:txBody>
          <a:bodyPr wrap="square" rtlCol="0" anchor="ctr"/>
          <a:lstStyle/>
          <a:p>
            <a:pPr indent="0" marL="0">
              <a:buNone/>
            </a:pPr>
            <a:r>
              <a:rPr lang="en-US" sz="2200" b="1" dirty="0">
                <a:solidFill>
                  <a:srgbClr val="21295C"/>
                </a:solidFill>
                <a:latin typeface="Georgia" pitchFamily="34" charset="0"/>
                <a:ea typeface="Georgia" pitchFamily="34" charset="-122"/>
                <a:cs typeface="Georgia" pitchFamily="34" charset="-120"/>
              </a:rPr>
              <a:t>External</a:t>
            </a:r>
            <a:endParaRPr lang="en-US" sz="2200" dirty="0"/>
          </a:p>
        </p:txBody>
      </p:sp>
      <p:sp>
        <p:nvSpPr>
          <p:cNvPr id="18" name="Text 16"/>
          <p:cNvSpPr/>
          <p:nvPr/>
        </p:nvSpPr>
        <p:spPr>
          <a:xfrm>
            <a:off x="8366760" y="3383280"/>
            <a:ext cx="3200400" cy="365760"/>
          </a:xfrm>
          <a:prstGeom prst="rect">
            <a:avLst/>
          </a:prstGeom>
          <a:noFill/>
          <a:ln/>
        </p:spPr>
        <p:txBody>
          <a:bodyPr wrap="square" rtlCol="0" anchor="ctr"/>
          <a:lstStyle/>
          <a:p>
            <a:pPr indent="0" marL="0">
              <a:buNone/>
            </a:pPr>
            <a:r>
              <a:rPr lang="en-US" sz="1200" i="1" dirty="0">
                <a:solidFill>
                  <a:srgbClr val="065A82"/>
                </a:solidFill>
                <a:latin typeface="Calibri" pitchFamily="34" charset="0"/>
                <a:ea typeface="Calibri" pitchFamily="34" charset="-122"/>
                <a:cs typeface="Calibri" pitchFamily="34" charset="-120"/>
              </a:rPr>
              <a:t>Month 24+</a:t>
            </a:r>
            <a:endParaRPr lang="en-US" sz="1200" dirty="0"/>
          </a:p>
        </p:txBody>
      </p:sp>
      <p:sp>
        <p:nvSpPr>
          <p:cNvPr id="19" name="Text 17"/>
          <p:cNvSpPr/>
          <p:nvPr/>
        </p:nvSpPr>
        <p:spPr>
          <a:xfrm>
            <a:off x="8366760" y="3840480"/>
            <a:ext cx="3200400" cy="2011680"/>
          </a:xfrm>
          <a:prstGeom prst="rect">
            <a:avLst/>
          </a:prstGeom>
          <a:noFill/>
          <a:ln/>
        </p:spPr>
        <p:txBody>
          <a:bodyPr wrap="square" rtlCol="0" anchor="t"/>
          <a:lstStyle/>
          <a:p>
            <a:pPr indent="0" marL="0">
              <a:buNone/>
            </a:pPr>
            <a:r>
              <a:rPr lang="en-US" sz="1150" dirty="0">
                <a:solidFill>
                  <a:srgbClr val="36454F"/>
                </a:solidFill>
                <a:latin typeface="Calibri" pitchFamily="34" charset="0"/>
                <a:ea typeface="Calibri" pitchFamily="34" charset="-122"/>
                <a:cs typeface="Calibri" pitchFamily="34" charset="-120"/>
              </a:rPr>
              <a:t>Serve external customers as a Lightning operator at scale. Routing fee revenue. Substrate sovereignty across the routing layer. US state money-transmission licensing per the regulatory analysis.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2026-05-03T23:04:14Z</dcterms:created>
  <dcterms:modified xsi:type="dcterms:W3CDTF">2026-05-03T23:04:14Z</dcterms:modified>
</cp:coreProperties>
</file>